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media/image114.jpg" ContentType="image/png"/>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handoutMasterIdLst>
    <p:handoutMasterId r:id="rId84"/>
  </p:handoutMasterIdLst>
  <p:sldIdLst>
    <p:sldId id="696" r:id="rId2"/>
    <p:sldId id="1026" r:id="rId3"/>
    <p:sldId id="1043" r:id="rId4"/>
    <p:sldId id="1748" r:id="rId5"/>
    <p:sldId id="1052" r:id="rId6"/>
    <p:sldId id="1749" r:id="rId7"/>
    <p:sldId id="1750" r:id="rId8"/>
    <p:sldId id="1053" r:id="rId9"/>
    <p:sldId id="1727" r:id="rId10"/>
    <p:sldId id="1726" r:id="rId11"/>
    <p:sldId id="1721" r:id="rId12"/>
    <p:sldId id="1028" r:id="rId13"/>
    <p:sldId id="1031" r:id="rId14"/>
    <p:sldId id="1032" r:id="rId15"/>
    <p:sldId id="1724" r:id="rId16"/>
    <p:sldId id="1752" r:id="rId17"/>
    <p:sldId id="1753" r:id="rId18"/>
    <p:sldId id="1754" r:id="rId19"/>
    <p:sldId id="1755" r:id="rId20"/>
    <p:sldId id="1034" r:id="rId21"/>
    <p:sldId id="1035" r:id="rId22"/>
    <p:sldId id="1757" r:id="rId23"/>
    <p:sldId id="1047" r:id="rId24"/>
    <p:sldId id="1054" r:id="rId25"/>
    <p:sldId id="1045" r:id="rId26"/>
    <p:sldId id="1758" r:id="rId27"/>
    <p:sldId id="1760" r:id="rId28"/>
    <p:sldId id="1759" r:id="rId29"/>
    <p:sldId id="1761" r:id="rId30"/>
    <p:sldId id="1762" r:id="rId31"/>
    <p:sldId id="1763" r:id="rId32"/>
    <p:sldId id="1764" r:id="rId33"/>
    <p:sldId id="1739" r:id="rId34"/>
    <p:sldId id="1740" r:id="rId35"/>
    <p:sldId id="1741" r:id="rId36"/>
    <p:sldId id="1742" r:id="rId37"/>
    <p:sldId id="1732" r:id="rId38"/>
    <p:sldId id="1744" r:id="rId39"/>
    <p:sldId id="1040" r:id="rId40"/>
    <p:sldId id="1055" r:id="rId41"/>
    <p:sldId id="374" r:id="rId42"/>
    <p:sldId id="375" r:id="rId43"/>
    <p:sldId id="1038" r:id="rId44"/>
    <p:sldId id="1746" r:id="rId45"/>
    <p:sldId id="1765" r:id="rId46"/>
    <p:sldId id="380" r:id="rId47"/>
    <p:sldId id="376" r:id="rId48"/>
    <p:sldId id="377" r:id="rId49"/>
    <p:sldId id="1735" r:id="rId50"/>
    <p:sldId id="1743" r:id="rId51"/>
    <p:sldId id="1734" r:id="rId52"/>
    <p:sldId id="378" r:id="rId53"/>
    <p:sldId id="1074" r:id="rId54"/>
    <p:sldId id="1767" r:id="rId55"/>
    <p:sldId id="1768" r:id="rId56"/>
    <p:sldId id="1769" r:id="rId57"/>
    <p:sldId id="1771" r:id="rId58"/>
    <p:sldId id="1770" r:id="rId59"/>
    <p:sldId id="1722" r:id="rId60"/>
    <p:sldId id="381" r:id="rId61"/>
    <p:sldId id="1725" r:id="rId62"/>
    <p:sldId id="382" r:id="rId63"/>
    <p:sldId id="1056" r:id="rId64"/>
    <p:sldId id="383" r:id="rId65"/>
    <p:sldId id="384" r:id="rId66"/>
    <p:sldId id="385" r:id="rId67"/>
    <p:sldId id="1024" r:id="rId68"/>
    <p:sldId id="1065" r:id="rId69"/>
    <p:sldId id="1723" r:id="rId70"/>
    <p:sldId id="1048" r:id="rId71"/>
    <p:sldId id="1049" r:id="rId72"/>
    <p:sldId id="1050" r:id="rId73"/>
    <p:sldId id="1064" r:id="rId74"/>
    <p:sldId id="1069" r:id="rId75"/>
    <p:sldId id="1066" r:id="rId76"/>
    <p:sldId id="1070" r:id="rId77"/>
    <p:sldId id="1060" r:id="rId78"/>
    <p:sldId id="1068" r:id="rId79"/>
    <p:sldId id="1061" r:id="rId80"/>
    <p:sldId id="1072" r:id="rId81"/>
    <p:sldId id="1059" r:id="rId82"/>
  </p:sldIdLst>
  <p:sldSz cx="12192000" cy="6858000"/>
  <p:notesSz cx="6811963" cy="9945688"/>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266">
          <p15:clr>
            <a:srgbClr val="A4A3A4"/>
          </p15:clr>
        </p15:guide>
        <p15:guide id="2" pos="38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9900"/>
    <a:srgbClr val="A3D6D9"/>
    <a:srgbClr val="004586"/>
    <a:srgbClr val="00B0F0"/>
    <a:srgbClr val="0066CC"/>
    <a:srgbClr val="0070C0"/>
    <a:srgbClr val="DFF1F2"/>
    <a:srgbClr val="1C2948"/>
    <a:srgbClr val="FBBC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테마 스타일 1 - 강조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46" autoAdjust="0"/>
    <p:restoredTop sz="84547" autoAdjust="0"/>
  </p:normalViewPr>
  <p:slideViewPr>
    <p:cSldViewPr snapToGrid="0">
      <p:cViewPr varScale="1">
        <p:scale>
          <a:sx n="77" d="100"/>
          <a:sy n="77" d="100"/>
        </p:scale>
        <p:origin x="120" y="366"/>
      </p:cViewPr>
      <p:guideLst>
        <p:guide orient="horz" pos="2266"/>
        <p:guide pos="3814"/>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t>2025/11/18</a:t>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anose="02010600030101010101" pitchFamily="2" charset="-122"/>
              </a:defRPr>
            </a:lvl1pPr>
          </a:lstStyle>
          <a:p>
            <a:pPr>
              <a:defRPr/>
            </a:pPr>
            <a:fld id="{6020F7E6-B6AB-4685-9920-66673A4976C0}"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2</a:t>
            </a:fld>
            <a:endParaRPr lang="en-US" altLang="zh-CN"/>
          </a:p>
        </p:txBody>
      </p:sp>
    </p:spTree>
    <p:extLst>
      <p:ext uri="{BB962C8B-B14F-4D97-AF65-F5344CB8AC3E}">
        <p14:creationId xmlns:p14="http://schemas.microsoft.com/office/powerpoint/2010/main" val="437479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3</a:t>
            </a:fld>
            <a:endParaRPr lang="en-US" altLang="zh-CN"/>
          </a:p>
        </p:txBody>
      </p:sp>
    </p:spTree>
    <p:extLst>
      <p:ext uri="{BB962C8B-B14F-4D97-AF65-F5344CB8AC3E}">
        <p14:creationId xmlns:p14="http://schemas.microsoft.com/office/powerpoint/2010/main" val="508335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a:t>
            </a:fld>
            <a:endParaRPr lang="en-US" altLang="zh-CN"/>
          </a:p>
        </p:txBody>
      </p:sp>
    </p:spTree>
    <p:extLst>
      <p:ext uri="{BB962C8B-B14F-4D97-AF65-F5344CB8AC3E}">
        <p14:creationId xmlns:p14="http://schemas.microsoft.com/office/powerpoint/2010/main" val="1966536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5</a:t>
            </a:fld>
            <a:endParaRPr lang="zh-CN" altLang="en-US"/>
          </a:p>
        </p:txBody>
      </p:sp>
    </p:spTree>
    <p:extLst>
      <p:ext uri="{BB962C8B-B14F-4D97-AF65-F5344CB8AC3E}">
        <p14:creationId xmlns:p14="http://schemas.microsoft.com/office/powerpoint/2010/main" val="2736582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6</a:t>
            </a:fld>
            <a:endParaRPr lang="zh-CN" altLang="en-US"/>
          </a:p>
        </p:txBody>
      </p:sp>
    </p:spTree>
    <p:extLst>
      <p:ext uri="{BB962C8B-B14F-4D97-AF65-F5344CB8AC3E}">
        <p14:creationId xmlns:p14="http://schemas.microsoft.com/office/powerpoint/2010/main" val="912362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7</a:t>
            </a:fld>
            <a:endParaRPr lang="zh-CN" altLang="en-US"/>
          </a:p>
        </p:txBody>
      </p:sp>
    </p:spTree>
    <p:extLst>
      <p:ext uri="{BB962C8B-B14F-4D97-AF65-F5344CB8AC3E}">
        <p14:creationId xmlns:p14="http://schemas.microsoft.com/office/powerpoint/2010/main" val="51141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8</a:t>
            </a:fld>
            <a:endParaRPr lang="zh-CN" altLang="en-US"/>
          </a:p>
        </p:txBody>
      </p:sp>
    </p:spTree>
    <p:extLst>
      <p:ext uri="{BB962C8B-B14F-4D97-AF65-F5344CB8AC3E}">
        <p14:creationId xmlns:p14="http://schemas.microsoft.com/office/powerpoint/2010/main" val="1574913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9</a:t>
            </a:fld>
            <a:endParaRPr lang="zh-CN" altLang="en-US"/>
          </a:p>
        </p:txBody>
      </p:sp>
    </p:spTree>
    <p:extLst>
      <p:ext uri="{BB962C8B-B14F-4D97-AF65-F5344CB8AC3E}">
        <p14:creationId xmlns:p14="http://schemas.microsoft.com/office/powerpoint/2010/main" val="1974764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7E068-BED7-3108-0142-107381FB02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32068C-F27A-F8FB-1AC8-DB2FAF5071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3FC996-E217-B0A7-0038-F446963A6D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AB635B2-2893-C35F-C06F-77A6AC62CAE4}"/>
              </a:ext>
            </a:extLst>
          </p:cNvPr>
          <p:cNvSpPr>
            <a:spLocks noGrp="1"/>
          </p:cNvSpPr>
          <p:nvPr>
            <p:ph type="sldNum" sz="quarter" idx="10"/>
          </p:nvPr>
        </p:nvSpPr>
        <p:spPr/>
        <p:txBody>
          <a:bodyPr/>
          <a:lstStyle/>
          <a:p>
            <a:pPr>
              <a:defRPr/>
            </a:pPr>
            <a:fld id="{6020F7E6-B6AB-4685-9920-66673A4976C0}" type="slidenum">
              <a:rPr lang="en-US" altLang="zh-CN" smtClean="0"/>
              <a:t>11</a:t>
            </a:fld>
            <a:endParaRPr lang="en-US" altLang="zh-CN"/>
          </a:p>
        </p:txBody>
      </p:sp>
    </p:spTree>
    <p:extLst>
      <p:ext uri="{BB962C8B-B14F-4D97-AF65-F5344CB8AC3E}">
        <p14:creationId xmlns:p14="http://schemas.microsoft.com/office/powerpoint/2010/main" val="3037928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12</a:t>
            </a:fld>
            <a:endParaRPr lang="zh-CN" altLang="en-US"/>
          </a:p>
        </p:txBody>
      </p:sp>
    </p:spTree>
    <p:extLst>
      <p:ext uri="{BB962C8B-B14F-4D97-AF65-F5344CB8AC3E}">
        <p14:creationId xmlns:p14="http://schemas.microsoft.com/office/powerpoint/2010/main" val="3520766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13</a:t>
            </a:fld>
            <a:endParaRPr lang="zh-CN" altLang="en-US"/>
          </a:p>
        </p:txBody>
      </p:sp>
    </p:spTree>
    <p:extLst>
      <p:ext uri="{BB962C8B-B14F-4D97-AF65-F5344CB8AC3E}">
        <p14:creationId xmlns:p14="http://schemas.microsoft.com/office/powerpoint/2010/main" val="3793608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14</a:t>
            </a:fld>
            <a:endParaRPr lang="zh-CN" altLang="en-US"/>
          </a:p>
        </p:txBody>
      </p:sp>
    </p:spTree>
    <p:extLst>
      <p:ext uri="{BB962C8B-B14F-4D97-AF65-F5344CB8AC3E}">
        <p14:creationId xmlns:p14="http://schemas.microsoft.com/office/powerpoint/2010/main" val="2315789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323DA-D170-2FF1-8FF9-C5A3FA308A8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000626-1CD8-EB48-42FC-AB2CA702E2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88510C-44C0-B8C7-62F7-85C746A869D3}"/>
              </a:ext>
            </a:extLst>
          </p:cNvPr>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a:extLst>
              <a:ext uri="{FF2B5EF4-FFF2-40B4-BE49-F238E27FC236}">
                <a16:creationId xmlns:a16="http://schemas.microsoft.com/office/drawing/2014/main" id="{0F82DFF8-254A-60BB-E10A-B5A2B9641623}"/>
              </a:ext>
            </a:extLst>
          </p:cNvPr>
          <p:cNvSpPr>
            <a:spLocks noGrp="1"/>
          </p:cNvSpPr>
          <p:nvPr>
            <p:ph type="sldNum" sz="quarter" idx="10"/>
          </p:nvPr>
        </p:nvSpPr>
        <p:spPr/>
        <p:txBody>
          <a:bodyPr/>
          <a:lstStyle/>
          <a:p>
            <a:fld id="{6FC0DBDB-E30A-40E1-A4A7-5E70B39F2178}" type="slidenum">
              <a:rPr lang="zh-CN" altLang="en-US" smtClean="0"/>
              <a:t>15</a:t>
            </a:fld>
            <a:endParaRPr lang="zh-CN" altLang="en-US"/>
          </a:p>
        </p:txBody>
      </p:sp>
    </p:spTree>
    <p:extLst>
      <p:ext uri="{BB962C8B-B14F-4D97-AF65-F5344CB8AC3E}">
        <p14:creationId xmlns:p14="http://schemas.microsoft.com/office/powerpoint/2010/main" val="12405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pPr>
              <a:defRPr/>
            </a:pPr>
            <a:fld id="{6020F7E6-B6AB-4685-9920-66673A4976C0}" type="slidenum">
              <a:rPr lang="en-US" altLang="zh-CN"/>
              <a:t>16</a:t>
            </a:fld>
            <a:endParaRPr lang="en-US" altLang="zh-CN"/>
          </a:p>
        </p:txBody>
      </p:sp>
    </p:spTree>
    <p:extLst>
      <p:ext uri="{BB962C8B-B14F-4D97-AF65-F5344CB8AC3E}">
        <p14:creationId xmlns:p14="http://schemas.microsoft.com/office/powerpoint/2010/main" val="497653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pPr>
              <a:defRPr/>
            </a:pPr>
            <a:fld id="{6020F7E6-B6AB-4685-9920-66673A4976C0}" type="slidenum">
              <a:rPr lang="en-US" altLang="zh-CN"/>
              <a:t>19</a:t>
            </a:fld>
            <a:endParaRPr lang="en-US" altLang="zh-CN"/>
          </a:p>
        </p:txBody>
      </p:sp>
    </p:spTree>
    <p:extLst>
      <p:ext uri="{BB962C8B-B14F-4D97-AF65-F5344CB8AC3E}">
        <p14:creationId xmlns:p14="http://schemas.microsoft.com/office/powerpoint/2010/main" val="2696541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20</a:t>
            </a:fld>
            <a:endParaRPr lang="en-US" altLang="zh-CN"/>
          </a:p>
        </p:txBody>
      </p:sp>
    </p:spTree>
    <p:extLst>
      <p:ext uri="{BB962C8B-B14F-4D97-AF65-F5344CB8AC3E}">
        <p14:creationId xmlns:p14="http://schemas.microsoft.com/office/powerpoint/2010/main" val="4016653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21</a:t>
            </a:fld>
            <a:endParaRPr lang="en-US" altLang="zh-CN"/>
          </a:p>
        </p:txBody>
      </p:sp>
    </p:spTree>
    <p:extLst>
      <p:ext uri="{BB962C8B-B14F-4D97-AF65-F5344CB8AC3E}">
        <p14:creationId xmlns:p14="http://schemas.microsoft.com/office/powerpoint/2010/main" val="35277513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22</a:t>
            </a:fld>
            <a:endParaRPr lang="en-US" altLang="zh-CN"/>
          </a:p>
        </p:txBody>
      </p:sp>
    </p:spTree>
    <p:extLst>
      <p:ext uri="{BB962C8B-B14F-4D97-AF65-F5344CB8AC3E}">
        <p14:creationId xmlns:p14="http://schemas.microsoft.com/office/powerpoint/2010/main" val="968953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23</a:t>
            </a:fld>
            <a:endParaRPr lang="en-US" altLang="zh-CN"/>
          </a:p>
        </p:txBody>
      </p:sp>
    </p:spTree>
    <p:extLst>
      <p:ext uri="{BB962C8B-B14F-4D97-AF65-F5344CB8AC3E}">
        <p14:creationId xmlns:p14="http://schemas.microsoft.com/office/powerpoint/2010/main" val="1876750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24</a:t>
            </a:fld>
            <a:endParaRPr lang="en-US" altLang="zh-CN"/>
          </a:p>
        </p:txBody>
      </p:sp>
    </p:spTree>
    <p:extLst>
      <p:ext uri="{BB962C8B-B14F-4D97-AF65-F5344CB8AC3E}">
        <p14:creationId xmlns:p14="http://schemas.microsoft.com/office/powerpoint/2010/main" val="3080747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25</a:t>
            </a:fld>
            <a:endParaRPr lang="en-US" altLang="zh-CN"/>
          </a:p>
        </p:txBody>
      </p:sp>
    </p:spTree>
    <p:extLst>
      <p:ext uri="{BB962C8B-B14F-4D97-AF65-F5344CB8AC3E}">
        <p14:creationId xmlns:p14="http://schemas.microsoft.com/office/powerpoint/2010/main" val="1412025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26</a:t>
            </a:fld>
            <a:endParaRPr lang="en-US" altLang="zh-CN"/>
          </a:p>
        </p:txBody>
      </p:sp>
    </p:spTree>
    <p:extLst>
      <p:ext uri="{BB962C8B-B14F-4D97-AF65-F5344CB8AC3E}">
        <p14:creationId xmlns:p14="http://schemas.microsoft.com/office/powerpoint/2010/main" val="3931867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ko-KR" altLang="en-US"/>
                  <a:t>更新后的权重必须满足：</a:t>
                </a:r>
                <a14:m>
                  <m:oMath xmlns:m="http://schemas.openxmlformats.org/officeDocument/2006/math">
                    <m:nary>
                      <m:naryPr>
                        <m:chr m:val="∑"/>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𝑖</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=1</m:t>
                        </m:r>
                      </m:sub>
                      <m:sup>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𝑚</m:t>
                        </m:r>
                      </m:sup>
                      <m:e>
                        <m:sSubSup>
                          <m:sSubSup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𝐷</m:t>
                            </m:r>
                          </m:e>
                          <m:sub>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𝑖</m:t>
                            </m:r>
                          </m:sub>
                          <m:sup>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𝑡</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+1</m:t>
                                </m:r>
                              </m:e>
                            </m:d>
                          </m:sup>
                        </m:sSubSup>
                      </m:e>
                    </m:nary>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=1</m:t>
                    </m:r>
                  </m:oMath>
                </a14:m>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ko-KR" altLang="en-US"/>
                  <a:t>更新后的权重必须满足：</a:t>
                </a:r>
                <a:r>
                  <a:rPr lang="ko-Kore-KR" altLang="ko-Kore-KR" sz="1800" i="0" kern="100">
                    <a:effectLst/>
                    <a:latin typeface="Cambria Math" panose="02040503050406030204" pitchFamily="18" charset="0"/>
                    <a:cs typeface="Times New Roman" panose="02020603050405020304" pitchFamily="18" charset="0"/>
                  </a:rPr>
                  <a:t>∑</a:t>
                </a:r>
                <a:r>
                  <a:rPr lang="en-US" altLang="ko-Kore-KR" sz="1800" i="0" kern="100">
                    <a:effectLst/>
                    <a:latin typeface="Cambria Math" panose="02040503050406030204" pitchFamily="18" charset="0"/>
                    <a:cs typeface="Times New Roman" panose="02020603050405020304" pitchFamily="18" charset="0"/>
                  </a:rPr>
                  <a:t>_</a:t>
                </a:r>
                <a:r>
                  <a:rPr lang="ko-Kore-KR" altLang="ko-Kore-KR" sz="1800" i="0" kern="100">
                    <a:effectLst/>
                    <a:latin typeface="Cambria Math" panose="02040503050406030204" pitchFamily="18" charset="0"/>
                    <a:cs typeface="Times New Roman" panose="02020603050405020304" pitchFamily="18" charset="0"/>
                  </a:rPr>
                  <a:t>(</a:t>
                </a:r>
                <a:r>
                  <a:rPr lang="en-US" altLang="ko-Kore-KR" sz="1800" i="0" kern="100">
                    <a:effectLst/>
                    <a:latin typeface="Cambria Math" panose="02040503050406030204" pitchFamily="18" charset="0"/>
                    <a:ea typeface="KaiTi" panose="02010609060101010101" pitchFamily="49" charset="-122"/>
                    <a:cs typeface="Times New Roman" panose="02020603050405020304" pitchFamily="18" charset="0"/>
                  </a:rPr>
                  <a:t>𝑖=1</a:t>
                </a:r>
                <a:r>
                  <a:rPr lang="ko-Kore-KR" altLang="ko-Kore-KR" sz="1800" i="0" kern="100">
                    <a:effectLst/>
                    <a:latin typeface="Cambria Math" panose="02040503050406030204" pitchFamily="18" charset="0"/>
                    <a:ea typeface="KaiTi" panose="02010609060101010101" pitchFamily="49" charset="-122"/>
                    <a:cs typeface="Times New Roman" panose="02020603050405020304" pitchFamily="18" charset="0"/>
                  </a:rPr>
                  <a:t>)</a:t>
                </a:r>
                <a:r>
                  <a:rPr lang="en-US" altLang="ko-Kore-KR" sz="1800" i="0" kern="100">
                    <a:effectLst/>
                    <a:latin typeface="Cambria Math" panose="02040503050406030204" pitchFamily="18" charset="0"/>
                    <a:ea typeface="KaiTi" panose="02010609060101010101" pitchFamily="49" charset="-122"/>
                    <a:cs typeface="Times New Roman" panose="02020603050405020304" pitchFamily="18" charset="0"/>
                  </a:rPr>
                  <a:t>^𝑚▒𝐷</a:t>
                </a:r>
                <a:r>
                  <a:rPr lang="ko-Kore-KR" altLang="ko-Kore-KR" sz="1800" i="0" kern="100">
                    <a:effectLst/>
                    <a:latin typeface="Cambria Math" panose="02040503050406030204" pitchFamily="18" charset="0"/>
                    <a:ea typeface="KaiTi" panose="02010609060101010101" pitchFamily="49" charset="-122"/>
                    <a:cs typeface="Times New Roman" panose="02020603050405020304" pitchFamily="18" charset="0"/>
                  </a:rPr>
                  <a:t>_</a:t>
                </a:r>
                <a:r>
                  <a:rPr lang="en-US" altLang="ko-Kore-KR" sz="1800" i="0" kern="100">
                    <a:effectLst/>
                    <a:latin typeface="Cambria Math" panose="02040503050406030204" pitchFamily="18" charset="0"/>
                    <a:ea typeface="KaiTi" panose="02010609060101010101" pitchFamily="49" charset="-122"/>
                    <a:cs typeface="Times New Roman" panose="02020603050405020304" pitchFamily="18" charset="0"/>
                  </a:rPr>
                  <a:t>𝑖^</a:t>
                </a:r>
                <a:r>
                  <a:rPr lang="ko-Kore-KR" altLang="ko-Kore-KR" sz="1800" i="0" kern="100">
                    <a:effectLst/>
                    <a:latin typeface="Cambria Math" panose="02040503050406030204" pitchFamily="18" charset="0"/>
                    <a:ea typeface="KaiTi" panose="02010609060101010101" pitchFamily="49" charset="-122"/>
                    <a:cs typeface="Times New Roman" panose="02020603050405020304" pitchFamily="18" charset="0"/>
                  </a:rPr>
                  <a:t>((</a:t>
                </a:r>
                <a:r>
                  <a:rPr lang="en-US" altLang="ko-Kore-KR" sz="1800" i="0" kern="100">
                    <a:effectLst/>
                    <a:latin typeface="Cambria Math" panose="02040503050406030204" pitchFamily="18" charset="0"/>
                    <a:ea typeface="KaiTi" panose="02010609060101010101" pitchFamily="49" charset="-122"/>
                    <a:cs typeface="Times New Roman" panose="02020603050405020304" pitchFamily="18" charset="0"/>
                  </a:rPr>
                  <a:t>𝑡+1) </a:t>
                </a:r>
                <a:r>
                  <a:rPr lang="ko-Kore-KR" altLang="ko-Kore-KR" sz="1800" i="0" kern="100">
                    <a:effectLst/>
                    <a:latin typeface="Cambria Math" panose="02040503050406030204" pitchFamily="18" charset="0"/>
                    <a:ea typeface="KaiTi" panose="02010609060101010101" pitchFamily="49" charset="-122"/>
                    <a:cs typeface="Times New Roman" panose="02020603050405020304" pitchFamily="18" charset="0"/>
                  </a:rPr>
                  <a:t>)</a:t>
                </a:r>
                <a:r>
                  <a:rPr lang="en-US" altLang="ko-Kore-KR" sz="1800" i="0" kern="100">
                    <a:effectLst/>
                    <a:latin typeface="Cambria Math" panose="02040503050406030204" pitchFamily="18" charset="0"/>
                    <a:ea typeface="KaiTi" panose="02010609060101010101" pitchFamily="49" charset="-122"/>
                    <a:cs typeface="Times New Roman" panose="02020603050405020304" pitchFamily="18" charset="0"/>
                  </a:rPr>
                  <a:t> =1</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endParaRPr lang="zh-CN" altLang="en-US" dirty="0"/>
              </a:p>
            </p:txBody>
          </p:sp>
        </mc:Fallback>
      </mc:AlternateContent>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27</a:t>
            </a:fld>
            <a:endParaRPr lang="en-US" altLang="zh-CN"/>
          </a:p>
        </p:txBody>
      </p:sp>
    </p:spTree>
    <p:extLst>
      <p:ext uri="{BB962C8B-B14F-4D97-AF65-F5344CB8AC3E}">
        <p14:creationId xmlns:p14="http://schemas.microsoft.com/office/powerpoint/2010/main" val="5927068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28</a:t>
            </a:fld>
            <a:endParaRPr lang="en-US" altLang="zh-CN"/>
          </a:p>
        </p:txBody>
      </p:sp>
    </p:spTree>
    <p:extLst>
      <p:ext uri="{BB962C8B-B14F-4D97-AF65-F5344CB8AC3E}">
        <p14:creationId xmlns:p14="http://schemas.microsoft.com/office/powerpoint/2010/main" val="26314436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29</a:t>
            </a:fld>
            <a:endParaRPr lang="en-US" altLang="zh-CN"/>
          </a:p>
        </p:txBody>
      </p:sp>
    </p:spTree>
    <p:extLst>
      <p:ext uri="{BB962C8B-B14F-4D97-AF65-F5344CB8AC3E}">
        <p14:creationId xmlns:p14="http://schemas.microsoft.com/office/powerpoint/2010/main" val="4152704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33</a:t>
            </a:fld>
            <a:endParaRPr lang="zh-CN" altLang="en-US"/>
          </a:p>
        </p:txBody>
      </p:sp>
    </p:spTree>
    <p:extLst>
      <p:ext uri="{BB962C8B-B14F-4D97-AF65-F5344CB8AC3E}">
        <p14:creationId xmlns:p14="http://schemas.microsoft.com/office/powerpoint/2010/main" val="29874845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34</a:t>
            </a:fld>
            <a:endParaRPr lang="zh-CN" altLang="en-US"/>
          </a:p>
        </p:txBody>
      </p:sp>
    </p:spTree>
    <p:extLst>
      <p:ext uri="{BB962C8B-B14F-4D97-AF65-F5344CB8AC3E}">
        <p14:creationId xmlns:p14="http://schemas.microsoft.com/office/powerpoint/2010/main" val="11093547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35</a:t>
            </a:fld>
            <a:endParaRPr lang="zh-CN" altLang="en-US"/>
          </a:p>
        </p:txBody>
      </p:sp>
    </p:spTree>
    <p:extLst>
      <p:ext uri="{BB962C8B-B14F-4D97-AF65-F5344CB8AC3E}">
        <p14:creationId xmlns:p14="http://schemas.microsoft.com/office/powerpoint/2010/main" val="11931563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P71 </a:t>
            </a:r>
            <a:r>
              <a:rPr lang="zh-CN" altLang="en-US" dirty="0"/>
              <a:t>例</a:t>
            </a:r>
            <a:r>
              <a:rPr lang="en-US" altLang="zh-CN" dirty="0"/>
              <a:t>5.4</a:t>
            </a:r>
            <a:endParaRPr lang="zh-CN" altLang="en-US" dirty="0"/>
          </a:p>
        </p:txBody>
      </p:sp>
      <p:sp>
        <p:nvSpPr>
          <p:cNvPr id="4" name="灯片编号占位符 3"/>
          <p:cNvSpPr>
            <a:spLocks noGrp="1"/>
          </p:cNvSpPr>
          <p:nvPr>
            <p:ph type="sldNum" sz="quarter" idx="10"/>
          </p:nvPr>
        </p:nvSpPr>
        <p:spPr/>
        <p:txBody>
          <a:bodyPr/>
          <a:lstStyle/>
          <a:p>
            <a:fld id="{6FC0DBDB-E30A-40E1-A4A7-5E70B39F2178}" type="slidenum">
              <a:rPr lang="zh-CN" altLang="en-US" smtClean="0"/>
              <a:t>36</a:t>
            </a:fld>
            <a:endParaRPr lang="zh-CN" altLang="en-US"/>
          </a:p>
        </p:txBody>
      </p:sp>
    </p:spTree>
    <p:extLst>
      <p:ext uri="{BB962C8B-B14F-4D97-AF65-F5344CB8AC3E}">
        <p14:creationId xmlns:p14="http://schemas.microsoft.com/office/powerpoint/2010/main" val="24407266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a:p>
        </p:txBody>
      </p:sp>
      <p:sp>
        <p:nvSpPr>
          <p:cNvPr id="4" name="슬라이드 번호 개체 틀 3"/>
          <p:cNvSpPr>
            <a:spLocks noGrp="1"/>
          </p:cNvSpPr>
          <p:nvPr>
            <p:ph type="sldNum" sz="quarter" idx="5"/>
          </p:nvPr>
        </p:nvSpPr>
        <p:spPr/>
        <p:txBody>
          <a:bodyPr/>
          <a:lstStyle/>
          <a:p>
            <a:pPr>
              <a:defRPr/>
            </a:pPr>
            <a:fld id="{6020F7E6-B6AB-4685-9920-66673A4976C0}" type="slidenum">
              <a:rPr lang="en-US" altLang="zh-CN"/>
              <a:t>37</a:t>
            </a:fld>
            <a:endParaRPr lang="en-US" altLang="zh-CN"/>
          </a:p>
        </p:txBody>
      </p:sp>
    </p:spTree>
    <p:extLst>
      <p:ext uri="{BB962C8B-B14F-4D97-AF65-F5344CB8AC3E}">
        <p14:creationId xmlns:p14="http://schemas.microsoft.com/office/powerpoint/2010/main" val="15365572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40</a:t>
            </a:fld>
            <a:endParaRPr lang="en-US" altLang="zh-CN"/>
          </a:p>
        </p:txBody>
      </p:sp>
    </p:spTree>
    <p:extLst>
      <p:ext uri="{BB962C8B-B14F-4D97-AF65-F5344CB8AC3E}">
        <p14:creationId xmlns:p14="http://schemas.microsoft.com/office/powerpoint/2010/main" val="41592587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42</a:t>
            </a:fld>
            <a:endParaRPr lang="en-US" altLang="zh-CN"/>
          </a:p>
        </p:txBody>
      </p:sp>
    </p:spTree>
    <p:extLst>
      <p:ext uri="{BB962C8B-B14F-4D97-AF65-F5344CB8AC3E}">
        <p14:creationId xmlns:p14="http://schemas.microsoft.com/office/powerpoint/2010/main" val="25882373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43</a:t>
            </a:fld>
            <a:endParaRPr lang="en-US" altLang="zh-CN"/>
          </a:p>
        </p:txBody>
      </p:sp>
    </p:spTree>
    <p:extLst>
      <p:ext uri="{BB962C8B-B14F-4D97-AF65-F5344CB8AC3E}">
        <p14:creationId xmlns:p14="http://schemas.microsoft.com/office/powerpoint/2010/main" val="3480934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44</a:t>
            </a:fld>
            <a:endParaRPr lang="en-US" altLang="zh-CN"/>
          </a:p>
        </p:txBody>
      </p:sp>
    </p:spTree>
    <p:extLst>
      <p:ext uri="{BB962C8B-B14F-4D97-AF65-F5344CB8AC3E}">
        <p14:creationId xmlns:p14="http://schemas.microsoft.com/office/powerpoint/2010/main" val="40194979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45</a:t>
            </a:fld>
            <a:endParaRPr lang="en-US" altLang="zh-CN"/>
          </a:p>
        </p:txBody>
      </p:sp>
    </p:spTree>
    <p:extLst>
      <p:ext uri="{BB962C8B-B14F-4D97-AF65-F5344CB8AC3E}">
        <p14:creationId xmlns:p14="http://schemas.microsoft.com/office/powerpoint/2010/main" val="40094862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46</a:t>
            </a:fld>
            <a:endParaRPr lang="en-US" altLang="zh-CN"/>
          </a:p>
        </p:txBody>
      </p:sp>
    </p:spTree>
    <p:extLst>
      <p:ext uri="{BB962C8B-B14F-4D97-AF65-F5344CB8AC3E}">
        <p14:creationId xmlns:p14="http://schemas.microsoft.com/office/powerpoint/2010/main" val="22214962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48</a:t>
            </a:fld>
            <a:endParaRPr lang="en-US" altLang="zh-CN"/>
          </a:p>
        </p:txBody>
      </p:sp>
    </p:spTree>
    <p:extLst>
      <p:ext uri="{BB962C8B-B14F-4D97-AF65-F5344CB8AC3E}">
        <p14:creationId xmlns:p14="http://schemas.microsoft.com/office/powerpoint/2010/main" val="26946009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49</a:t>
            </a:fld>
            <a:endParaRPr lang="en-US" altLang="zh-CN"/>
          </a:p>
        </p:txBody>
      </p:sp>
    </p:spTree>
    <p:extLst>
      <p:ext uri="{BB962C8B-B14F-4D97-AF65-F5344CB8AC3E}">
        <p14:creationId xmlns:p14="http://schemas.microsoft.com/office/powerpoint/2010/main" val="6796275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50</a:t>
            </a:fld>
            <a:endParaRPr lang="en-US" altLang="zh-CN"/>
          </a:p>
        </p:txBody>
      </p:sp>
    </p:spTree>
    <p:extLst>
      <p:ext uri="{BB962C8B-B14F-4D97-AF65-F5344CB8AC3E}">
        <p14:creationId xmlns:p14="http://schemas.microsoft.com/office/powerpoint/2010/main" val="7339978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51</a:t>
            </a:fld>
            <a:endParaRPr lang="en-US" altLang="zh-CN"/>
          </a:p>
        </p:txBody>
      </p:sp>
    </p:spTree>
    <p:extLst>
      <p:ext uri="{BB962C8B-B14F-4D97-AF65-F5344CB8AC3E}">
        <p14:creationId xmlns:p14="http://schemas.microsoft.com/office/powerpoint/2010/main" val="11429181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52</a:t>
            </a:fld>
            <a:endParaRPr lang="en-US" altLang="zh-CN"/>
          </a:p>
        </p:txBody>
      </p:sp>
    </p:spTree>
    <p:extLst>
      <p:ext uri="{BB962C8B-B14F-4D97-AF65-F5344CB8AC3E}">
        <p14:creationId xmlns:p14="http://schemas.microsoft.com/office/powerpoint/2010/main" val="26062516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59F67-8172-844D-F847-549EB422A9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75A9F7-EC3A-EED7-39CB-1D6A663B67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760D71-F518-66CE-F111-22BE25159EB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FBA0B03-4732-DDC7-EA93-748D21E9E1E4}"/>
              </a:ext>
            </a:extLst>
          </p:cNvPr>
          <p:cNvSpPr>
            <a:spLocks noGrp="1"/>
          </p:cNvSpPr>
          <p:nvPr>
            <p:ph type="sldNum" sz="quarter" idx="5"/>
          </p:nvPr>
        </p:nvSpPr>
        <p:spPr/>
        <p:txBody>
          <a:bodyPr/>
          <a:lstStyle/>
          <a:p>
            <a:pPr>
              <a:defRPr/>
            </a:pPr>
            <a:fld id="{6020F7E6-B6AB-4685-9920-66673A4976C0}" type="slidenum">
              <a:rPr lang="en-US" altLang="zh-CN" smtClean="0"/>
              <a:t>53</a:t>
            </a:fld>
            <a:endParaRPr lang="en-US" altLang="zh-CN"/>
          </a:p>
        </p:txBody>
      </p:sp>
    </p:spTree>
    <p:extLst>
      <p:ext uri="{BB962C8B-B14F-4D97-AF65-F5344CB8AC3E}">
        <p14:creationId xmlns:p14="http://schemas.microsoft.com/office/powerpoint/2010/main" val="692292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B7ECB-E275-7B36-1C45-2502D9B6D0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FF84F6-12B3-E9E1-5C1D-5797B9E028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FDD1F0-9E90-6E4B-CD82-EEA42341492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0AD004-9F5D-F456-118C-C046ACC402D1}"/>
              </a:ext>
            </a:extLst>
          </p:cNvPr>
          <p:cNvSpPr>
            <a:spLocks noGrp="1"/>
          </p:cNvSpPr>
          <p:nvPr>
            <p:ph type="sldNum" sz="quarter" idx="10"/>
          </p:nvPr>
        </p:nvSpPr>
        <p:spPr/>
        <p:txBody>
          <a:bodyPr/>
          <a:lstStyle/>
          <a:p>
            <a:pPr>
              <a:defRPr/>
            </a:pPr>
            <a:fld id="{6020F7E6-B6AB-4685-9920-66673A4976C0}" type="slidenum">
              <a:rPr lang="en-US" altLang="zh-CN" smtClean="0"/>
              <a:t>59</a:t>
            </a:fld>
            <a:endParaRPr lang="en-US" altLang="zh-CN"/>
          </a:p>
        </p:txBody>
      </p:sp>
    </p:spTree>
    <p:extLst>
      <p:ext uri="{BB962C8B-B14F-4D97-AF65-F5344CB8AC3E}">
        <p14:creationId xmlns:p14="http://schemas.microsoft.com/office/powerpoint/2010/main" val="28485666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61</a:t>
            </a:fld>
            <a:endParaRPr lang="en-US" altLang="zh-CN"/>
          </a:p>
        </p:txBody>
      </p:sp>
    </p:spTree>
    <p:extLst>
      <p:ext uri="{BB962C8B-B14F-4D97-AF65-F5344CB8AC3E}">
        <p14:creationId xmlns:p14="http://schemas.microsoft.com/office/powerpoint/2010/main" val="29457561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63</a:t>
            </a:fld>
            <a:endParaRPr lang="en-US" altLang="zh-CN"/>
          </a:p>
        </p:txBody>
      </p:sp>
    </p:spTree>
    <p:extLst>
      <p:ext uri="{BB962C8B-B14F-4D97-AF65-F5344CB8AC3E}">
        <p14:creationId xmlns:p14="http://schemas.microsoft.com/office/powerpoint/2010/main" val="13379211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64</a:t>
            </a:fld>
            <a:endParaRPr lang="en-US" altLang="zh-CN"/>
          </a:p>
        </p:txBody>
      </p:sp>
    </p:spTree>
    <p:extLst>
      <p:ext uri="{BB962C8B-B14F-4D97-AF65-F5344CB8AC3E}">
        <p14:creationId xmlns:p14="http://schemas.microsoft.com/office/powerpoint/2010/main" val="14917287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705BD-10DE-742F-C854-6F666D22D4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C4A8D0-5C9C-E39A-9742-A08193E39A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701200-0733-A5CE-538E-E87872DF611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0DB13C8-603E-263E-14FF-ACD8FAF9CA7E}"/>
              </a:ext>
            </a:extLst>
          </p:cNvPr>
          <p:cNvSpPr>
            <a:spLocks noGrp="1"/>
          </p:cNvSpPr>
          <p:nvPr>
            <p:ph type="sldNum" sz="quarter" idx="10"/>
          </p:nvPr>
        </p:nvSpPr>
        <p:spPr/>
        <p:txBody>
          <a:bodyPr/>
          <a:lstStyle/>
          <a:p>
            <a:pPr>
              <a:defRPr/>
            </a:pPr>
            <a:fld id="{6020F7E6-B6AB-4685-9920-66673A4976C0}" type="slidenum">
              <a:rPr lang="en-US" altLang="zh-CN" smtClean="0"/>
              <a:t>69</a:t>
            </a:fld>
            <a:endParaRPr lang="en-US" altLang="zh-CN"/>
          </a:p>
        </p:txBody>
      </p:sp>
    </p:spTree>
    <p:extLst>
      <p:ext uri="{BB962C8B-B14F-4D97-AF65-F5344CB8AC3E}">
        <p14:creationId xmlns:p14="http://schemas.microsoft.com/office/powerpoint/2010/main" val="35110595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70</a:t>
            </a:fld>
            <a:endParaRPr lang="en-US" altLang="zh-CN"/>
          </a:p>
        </p:txBody>
      </p:sp>
    </p:spTree>
    <p:extLst>
      <p:ext uri="{BB962C8B-B14F-4D97-AF65-F5344CB8AC3E}">
        <p14:creationId xmlns:p14="http://schemas.microsoft.com/office/powerpoint/2010/main" val="21735499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71</a:t>
            </a:fld>
            <a:endParaRPr lang="en-US" altLang="zh-CN"/>
          </a:p>
        </p:txBody>
      </p:sp>
    </p:spTree>
    <p:extLst>
      <p:ext uri="{BB962C8B-B14F-4D97-AF65-F5344CB8AC3E}">
        <p14:creationId xmlns:p14="http://schemas.microsoft.com/office/powerpoint/2010/main" val="29540391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72</a:t>
            </a:fld>
            <a:endParaRPr lang="en-US" altLang="zh-CN"/>
          </a:p>
        </p:txBody>
      </p:sp>
    </p:spTree>
    <p:extLst>
      <p:ext uri="{BB962C8B-B14F-4D97-AF65-F5344CB8AC3E}">
        <p14:creationId xmlns:p14="http://schemas.microsoft.com/office/powerpoint/2010/main" val="34508439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73</a:t>
            </a:fld>
            <a:endParaRPr lang="en-US" altLang="zh-CN"/>
          </a:p>
        </p:txBody>
      </p:sp>
    </p:spTree>
    <p:extLst>
      <p:ext uri="{BB962C8B-B14F-4D97-AF65-F5344CB8AC3E}">
        <p14:creationId xmlns:p14="http://schemas.microsoft.com/office/powerpoint/2010/main" val="34396480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https://zhuanlan.zhihu.com/p/149522630</a:t>
            </a:r>
          </a:p>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74</a:t>
            </a:fld>
            <a:endParaRPr lang="en-US" altLang="zh-CN"/>
          </a:p>
        </p:txBody>
      </p:sp>
    </p:spTree>
    <p:extLst>
      <p:ext uri="{BB962C8B-B14F-4D97-AF65-F5344CB8AC3E}">
        <p14:creationId xmlns:p14="http://schemas.microsoft.com/office/powerpoint/2010/main" val="15779623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75</a:t>
            </a:fld>
            <a:endParaRPr lang="en-US" altLang="zh-CN"/>
          </a:p>
        </p:txBody>
      </p:sp>
    </p:spTree>
    <p:extLst>
      <p:ext uri="{BB962C8B-B14F-4D97-AF65-F5344CB8AC3E}">
        <p14:creationId xmlns:p14="http://schemas.microsoft.com/office/powerpoint/2010/main" val="21755245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76</a:t>
            </a:fld>
            <a:endParaRPr lang="en-US" altLang="zh-CN"/>
          </a:p>
        </p:txBody>
      </p:sp>
    </p:spTree>
    <p:extLst>
      <p:ext uri="{BB962C8B-B14F-4D97-AF65-F5344CB8AC3E}">
        <p14:creationId xmlns:p14="http://schemas.microsoft.com/office/powerpoint/2010/main" val="30014106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77</a:t>
            </a:fld>
            <a:endParaRPr lang="en-US" altLang="zh-CN"/>
          </a:p>
        </p:txBody>
      </p:sp>
    </p:spTree>
    <p:extLst>
      <p:ext uri="{BB962C8B-B14F-4D97-AF65-F5344CB8AC3E}">
        <p14:creationId xmlns:p14="http://schemas.microsoft.com/office/powerpoint/2010/main" val="36040617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这里为了对比的更加清楚，我们先来看一下 </a:t>
            </a:r>
            <a:r>
              <a:rPr lang="en-US" altLang="zh-CN" dirty="0" err="1"/>
              <a:t>xgboost</a:t>
            </a:r>
            <a:r>
              <a:rPr lang="zh-CN" altLang="en-US" dirty="0"/>
              <a:t>的预排序算法那是怎么确定候选分裂点的，首先是按照特征的大小进行从小到大排序，然后在每个不同值的地方画一个分裂点，看下图</a:t>
            </a:r>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78</a:t>
            </a:fld>
            <a:endParaRPr lang="en-US" altLang="zh-CN"/>
          </a:p>
        </p:txBody>
      </p:sp>
    </p:spTree>
    <p:extLst>
      <p:ext uri="{BB962C8B-B14F-4D97-AF65-F5344CB8AC3E}">
        <p14:creationId xmlns:p14="http://schemas.microsoft.com/office/powerpoint/2010/main" val="73252351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79</a:t>
            </a:fld>
            <a:endParaRPr lang="en-US" altLang="zh-CN"/>
          </a:p>
        </p:txBody>
      </p:sp>
    </p:spTree>
    <p:extLst>
      <p:ext uri="{BB962C8B-B14F-4D97-AF65-F5344CB8AC3E}">
        <p14:creationId xmlns:p14="http://schemas.microsoft.com/office/powerpoint/2010/main" val="31836072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80</a:t>
            </a:fld>
            <a:endParaRPr lang="en-US" altLang="zh-CN"/>
          </a:p>
        </p:txBody>
      </p:sp>
    </p:spTree>
    <p:extLst>
      <p:ext uri="{BB962C8B-B14F-4D97-AF65-F5344CB8AC3E}">
        <p14:creationId xmlns:p14="http://schemas.microsoft.com/office/powerpoint/2010/main" val="25628289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81</a:t>
            </a:fld>
            <a:endParaRPr lang="en-US" altLang="zh-CN"/>
          </a:p>
        </p:txBody>
      </p:sp>
    </p:spTree>
    <p:extLst>
      <p:ext uri="{BB962C8B-B14F-4D97-AF65-F5344CB8AC3E}">
        <p14:creationId xmlns:p14="http://schemas.microsoft.com/office/powerpoint/2010/main" val="3130048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anose="02010600030101010101" pitchFamily="2" charset="-122"/>
              </a:rPr>
              <a:t>‹#›</a:t>
            </a:fld>
            <a:endParaRPr lang="en-US" altLang="zh-CN" sz="140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15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8.png"/><Relationship Id="rId4" Type="http://schemas.openxmlformats.org/officeDocument/2006/relationships/image" Target="../media/image1211.png"/></Relationships>
</file>

<file path=ppt/slides/_rels/slide3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7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0.png"/><Relationship Id="rId7" Type="http://schemas.openxmlformats.org/officeDocument/2006/relationships/image" Target="../media/image36.png"/><Relationship Id="rId2" Type="http://schemas.openxmlformats.org/officeDocument/2006/relationships/image" Target="../media/image280.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0.png"/><Relationship Id="rId9" Type="http://schemas.openxmlformats.org/officeDocument/2006/relationships/image" Target="../media/image38.png"/></Relationships>
</file>

<file path=ppt/slides/_rels/slide40.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4.jp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32.xml"/><Relationship Id="rId16"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hyperlink" Target="https://www.hippopx.com/zh/golfer-golfing-golf-swing-lefty-left-handed-man-golf-ball-350675" TargetMode="External"/><Relationship Id="rId9" Type="http://schemas.openxmlformats.org/officeDocument/2006/relationships/image" Target="../media/image45.png"/><Relationship Id="rId14" Type="http://schemas.openxmlformats.org/officeDocument/2006/relationships/image" Target="../media/image50.png"/></Relationships>
</file>

<file path=ppt/slides/_rels/slide4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5.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46.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47.xml.rels><?xml version="1.0" encoding="UTF-8" standalone="yes"?>
<Relationships xmlns="http://schemas.openxmlformats.org/package/2006/relationships"><Relationship Id="rId3" Type="http://schemas.openxmlformats.org/officeDocument/2006/relationships/image" Target="../media/image681.png"/><Relationship Id="rId7" Type="http://schemas.openxmlformats.org/officeDocument/2006/relationships/image" Target="../media/image721.png"/><Relationship Id="rId2" Type="http://schemas.openxmlformats.org/officeDocument/2006/relationships/image" Target="../media/image670.png"/><Relationship Id="rId1" Type="http://schemas.openxmlformats.org/officeDocument/2006/relationships/slideLayout" Target="../slideLayouts/slideLayout2.xml"/><Relationship Id="rId6" Type="http://schemas.openxmlformats.org/officeDocument/2006/relationships/image" Target="../media/image711.png"/><Relationship Id="rId5" Type="http://schemas.openxmlformats.org/officeDocument/2006/relationships/image" Target="../media/image701.png"/><Relationship Id="rId4" Type="http://schemas.openxmlformats.org/officeDocument/2006/relationships/image" Target="../media/image690.png"/></Relationships>
</file>

<file path=ppt/slides/_rels/slide48.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590.png"/><Relationship Id="rId7" Type="http://schemas.openxmlformats.org/officeDocument/2006/relationships/image" Target="../media/image570.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60.png"/><Relationship Id="rId5" Type="http://schemas.openxmlformats.org/officeDocument/2006/relationships/image" Target="../media/image550.png"/><Relationship Id="rId9" Type="http://schemas.openxmlformats.org/officeDocument/2006/relationships/image" Target="../media/image591.png"/></Relationships>
</file>

<file path=ppt/slides/_rels/slide49.xml.rels><?xml version="1.0" encoding="UTF-8" standalone="yes"?>
<Relationships xmlns="http://schemas.openxmlformats.org/package/2006/relationships"><Relationship Id="rId8" Type="http://schemas.openxmlformats.org/officeDocument/2006/relationships/image" Target="../media/image781.png"/><Relationship Id="rId3" Type="http://schemas.openxmlformats.org/officeDocument/2006/relationships/image" Target="../media/image730.png"/><Relationship Id="rId7" Type="http://schemas.openxmlformats.org/officeDocument/2006/relationships/image" Target="../media/image77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760.png"/><Relationship Id="rId5" Type="http://schemas.openxmlformats.org/officeDocument/2006/relationships/image" Target="../media/image750.png"/><Relationship Id="rId4" Type="http://schemas.openxmlformats.org/officeDocument/2006/relationships/image" Target="../media/image741.png"/></Relationships>
</file>

<file path=ppt/slides/_rels/slide5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0.png"/><Relationship Id="rId7" Type="http://schemas.openxmlformats.org/officeDocument/2006/relationships/image" Target="../media/image83.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821.png"/><Relationship Id="rId5" Type="http://schemas.openxmlformats.org/officeDocument/2006/relationships/image" Target="../media/image811.png"/><Relationship Id="rId4" Type="http://schemas.openxmlformats.org/officeDocument/2006/relationships/image" Target="../media/image801.png"/><Relationship Id="rId9" Type="http://schemas.openxmlformats.org/officeDocument/2006/relationships/image" Target="../media/image85.png"/></Relationships>
</file>

<file path=ppt/slides/_rels/slide5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10" Type="http://schemas.openxmlformats.org/officeDocument/2006/relationships/image" Target="../media/image93.png"/><Relationship Id="rId4" Type="http://schemas.openxmlformats.org/officeDocument/2006/relationships/image" Target="../media/image87.png"/><Relationship Id="rId9" Type="http://schemas.openxmlformats.org/officeDocument/2006/relationships/image" Target="../media/image92.png"/></Relationships>
</file>

<file path=ppt/slides/_rels/slide52.xml.rels><?xml version="1.0" encoding="UTF-8" standalone="yes"?>
<Relationships xmlns="http://schemas.openxmlformats.org/package/2006/relationships"><Relationship Id="rId8" Type="http://schemas.openxmlformats.org/officeDocument/2006/relationships/image" Target="../media/image710.png"/><Relationship Id="rId3" Type="http://schemas.openxmlformats.org/officeDocument/2006/relationships/image" Target="../media/image420.png"/><Relationship Id="rId7" Type="http://schemas.openxmlformats.org/officeDocument/2006/relationships/image" Target="../media/image70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50.png"/><Relationship Id="rId11" Type="http://schemas.openxmlformats.org/officeDocument/2006/relationships/image" Target="../media/image740.png"/><Relationship Id="rId5" Type="http://schemas.openxmlformats.org/officeDocument/2006/relationships/image" Target="../media/image440.png"/><Relationship Id="rId4" Type="http://schemas.openxmlformats.org/officeDocument/2006/relationships/image" Target="../media/image430.png"/><Relationship Id="rId9" Type="http://schemas.openxmlformats.org/officeDocument/2006/relationships/image" Target="../media/image720.png"/></Relationships>
</file>

<file path=ppt/slides/_rels/slide53.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97.png"/><Relationship Id="rId11" Type="http://schemas.openxmlformats.org/officeDocument/2006/relationships/image" Target="../media/image641.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s>
</file>

<file path=ppt/slides/_rels/slide5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3.png"/><Relationship Id="rId2"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112.png"/><Relationship Id="rId5" Type="http://schemas.microsoft.com/office/2007/relationships/hdphoto" Target="../media/hdphoto1.wdp"/><Relationship Id="rId4" Type="http://schemas.openxmlformats.org/officeDocument/2006/relationships/image" Target="../media/image109.jpeg"/></Relationships>
</file>

<file path=ppt/slides/_rels/slide63.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0" Type="http://schemas.openxmlformats.org/officeDocument/2006/relationships/image" Target="../media/image121.png"/><Relationship Id="rId4" Type="http://schemas.openxmlformats.org/officeDocument/2006/relationships/image" Target="../media/image115.png"/><Relationship Id="rId9" Type="http://schemas.openxmlformats.org/officeDocument/2006/relationships/image" Target="../media/image120.png"/></Relationships>
</file>

<file path=ppt/slides/_rels/slide64.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3.png"/><Relationship Id="rId3" Type="http://schemas.openxmlformats.org/officeDocument/2006/relationships/image" Target="../media/image124.png"/><Relationship Id="rId7" Type="http://schemas.openxmlformats.org/officeDocument/2006/relationships/image" Target="../media/image128.png"/><Relationship Id="rId12" Type="http://schemas.openxmlformats.org/officeDocument/2006/relationships/image" Target="../media/image132.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27.png"/><Relationship Id="rId11" Type="http://schemas.openxmlformats.org/officeDocument/2006/relationships/image" Target="../media/image780.png"/><Relationship Id="rId5" Type="http://schemas.openxmlformats.org/officeDocument/2006/relationships/image" Target="../media/image126.png"/><Relationship Id="rId10" Type="http://schemas.openxmlformats.org/officeDocument/2006/relationships/image" Target="../media/image131.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4.png"/></Relationships>
</file>

<file path=ppt/slides/_rels/slide65.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6.png"/><Relationship Id="rId7" Type="http://schemas.openxmlformats.org/officeDocument/2006/relationships/image" Target="../media/image142.png"/><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39.png"/><Relationship Id="rId4" Type="http://schemas.openxmlformats.org/officeDocument/2006/relationships/image" Target="../media/image137.png"/><Relationship Id="rId9" Type="http://schemas.openxmlformats.org/officeDocument/2006/relationships/image" Target="../media/image144.png"/></Relationships>
</file>

<file path=ppt/slides/_rels/slide66.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10.jpeg"/><Relationship Id="rId7" Type="http://schemas.openxmlformats.org/officeDocument/2006/relationships/image" Target="../media/image112.jpeg"/><Relationship Id="rId2" Type="http://schemas.openxmlformats.org/officeDocument/2006/relationships/image" Target="../media/image145.png"/><Relationship Id="rId1" Type="http://schemas.openxmlformats.org/officeDocument/2006/relationships/slideLayout" Target="../slideLayouts/slideLayout2.xml"/><Relationship Id="rId6" Type="http://schemas.microsoft.com/office/2007/relationships/hdphoto" Target="../media/hdphoto3.wdp"/><Relationship Id="rId11" Type="http://schemas.openxmlformats.org/officeDocument/2006/relationships/image" Target="../media/image151.png"/><Relationship Id="rId5" Type="http://schemas.openxmlformats.org/officeDocument/2006/relationships/image" Target="../media/image111.jpeg"/><Relationship Id="rId10" Type="http://schemas.microsoft.com/office/2007/relationships/hdphoto" Target="../media/hdphoto5.wdp"/><Relationship Id="rId4" Type="http://schemas.microsoft.com/office/2007/relationships/hdphoto" Target="../media/hdphoto2.wdp"/><Relationship Id="rId9" Type="http://schemas.openxmlformats.org/officeDocument/2006/relationships/image" Target="../media/image113.jpeg"/></Relationships>
</file>

<file path=ppt/slides/_rels/slide67.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6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161.png"/><Relationship Id="rId4" Type="http://schemas.openxmlformats.org/officeDocument/2006/relationships/image" Target="../media/image159.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990.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1040.png"/><Relationship Id="rId4" Type="http://schemas.openxmlformats.org/officeDocument/2006/relationships/image" Target="../media/image1030.png"/></Relationships>
</file>

<file path=ppt/slides/_rels/slide7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14.jpg"/></Relationships>
</file>

<file path=ppt/slides/_rels/slide7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166.png"/><Relationship Id="rId4" Type="http://schemas.openxmlformats.org/officeDocument/2006/relationships/image" Target="../media/image165.png"/></Relationships>
</file>

<file path=ppt/slides/_rels/slide7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8.png"/><Relationship Id="rId18" Type="http://schemas.openxmlformats.org/officeDocument/2006/relationships/image" Target="../media/image184.png"/><Relationship Id="rId3" Type="http://schemas.openxmlformats.org/officeDocument/2006/relationships/image" Target="../media/image1010.png"/><Relationship Id="rId21" Type="http://schemas.openxmlformats.org/officeDocument/2006/relationships/image" Target="../media/image187.png"/><Relationship Id="rId7" Type="http://schemas.openxmlformats.org/officeDocument/2006/relationships/image" Target="../media/image172.png"/><Relationship Id="rId12" Type="http://schemas.openxmlformats.org/officeDocument/2006/relationships/image" Target="../media/image177.png"/><Relationship Id="rId17" Type="http://schemas.openxmlformats.org/officeDocument/2006/relationships/image" Target="../media/image183.png"/><Relationship Id="rId2" Type="http://schemas.openxmlformats.org/officeDocument/2006/relationships/notesSlide" Target="../notesSlides/notesSlide59.xml"/><Relationship Id="rId16" Type="http://schemas.openxmlformats.org/officeDocument/2006/relationships/image" Target="../media/image182.png"/><Relationship Id="rId20"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69.png"/><Relationship Id="rId15" Type="http://schemas.openxmlformats.org/officeDocument/2006/relationships/image" Target="../media/image181.png"/><Relationship Id="rId10" Type="http://schemas.openxmlformats.org/officeDocument/2006/relationships/image" Target="../media/image175.png"/><Relationship Id="rId19" Type="http://schemas.openxmlformats.org/officeDocument/2006/relationships/image" Target="../media/image185.png"/><Relationship Id="rId4" Type="http://schemas.openxmlformats.org/officeDocument/2006/relationships/image" Target="../media/image168.png"/><Relationship Id="rId9" Type="http://schemas.openxmlformats.org/officeDocument/2006/relationships/image" Target="../media/image174.png"/><Relationship Id="rId14" Type="http://schemas.openxmlformats.org/officeDocument/2006/relationships/image" Target="../media/image179.png"/><Relationship Id="rId22" Type="http://schemas.openxmlformats.org/officeDocument/2006/relationships/image" Target="../media/image188.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904" y="2668905"/>
            <a:ext cx="12199426" cy="2234691"/>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dirty="0">
                <a:solidFill>
                  <a:schemeClr val="bg1"/>
                </a:solidFill>
                <a:latin typeface="微软雅黑" panose="020B0503020204020204" pitchFamily="34" charset="-122"/>
                <a:ea typeface="微软雅黑" panose="020B0503020204020204" pitchFamily="34" charset="-122"/>
                <a:sym typeface="+mn-ea"/>
              </a:rPr>
              <a:t>-</a:t>
            </a:r>
            <a:r>
              <a:rPr lang="zh-CN" altLang="en-US" sz="4800" dirty="0">
                <a:solidFill>
                  <a:schemeClr val="bg1"/>
                </a:solidFill>
                <a:latin typeface="微软雅黑" panose="020B0503020204020204" pitchFamily="34" charset="-122"/>
                <a:ea typeface="微软雅黑" panose="020B0503020204020204" pitchFamily="34" charset="-122"/>
                <a:sym typeface="+mn-ea"/>
              </a:rPr>
              <a:t>集成学习</a:t>
            </a:r>
            <a:endParaRPr lang="zh-CN" altLang="en-US" sz="2400" dirty="0">
              <a:solidFill>
                <a:schemeClr val="bg1"/>
              </a:solidFill>
              <a:latin typeface="+mj-ea"/>
            </a:endParaRPr>
          </a:p>
        </p:txBody>
      </p:sp>
    </p:spTree>
  </p:cSld>
  <p:clrMapOvr>
    <a:masterClrMapping/>
  </p:clrMapOvr>
  <mc:AlternateContent xmlns:mc="http://schemas.openxmlformats.org/markup-compatibility/2006" xmlns:p14="http://schemas.microsoft.com/office/powerpoint/2010/main">
    <mc:Choice Requires="p14">
      <p:transition spd="slow" p14:dur="999" advTm="7175"/>
    </mc:Choice>
    <mc:Fallback xmlns="">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a:extLst>
              <a:ext uri="{FF2B5EF4-FFF2-40B4-BE49-F238E27FC236}">
                <a16:creationId xmlns:a16="http://schemas.microsoft.com/office/drawing/2014/main" id="{CAE08E35-DEC9-4689-915B-1B27E7F9279D}"/>
              </a:ext>
            </a:extLst>
          </p:cNvPr>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集成学习方法概述</a:t>
            </a: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01 </a:t>
            </a:r>
            <a:r>
              <a:rPr lang="en-US" altLang="zh-CN" sz="4000" dirty="0">
                <a:solidFill>
                  <a:schemeClr val="bg1"/>
                </a:solidFill>
                <a:latin typeface="Impact" pitchFamily="34" charset="0"/>
                <a:ea typeface="微软雅黑" pitchFamily="34" charset="-122"/>
              </a:rPr>
              <a:t> </a:t>
            </a:r>
            <a:r>
              <a:rPr lang="en-US" altLang="zh-CN" sz="3600" dirty="0">
                <a:solidFill>
                  <a:schemeClr val="bg1"/>
                </a:solidFill>
                <a:latin typeface="Impact" pitchFamily="34" charset="0"/>
                <a:ea typeface="微软雅黑" pitchFamily="34" charset="-122"/>
              </a:rPr>
              <a:t>  </a:t>
            </a:r>
            <a:r>
              <a:rPr lang="zh-CN" altLang="en-US" sz="3600" dirty="0">
                <a:solidFill>
                  <a:schemeClr val="bg1"/>
                </a:solidFill>
                <a:latin typeface="Impact" pitchFamily="34" charset="0"/>
                <a:ea typeface="微软雅黑" pitchFamily="34" charset="-122"/>
              </a:rPr>
              <a:t>集成学习方法概述</a:t>
            </a:r>
            <a:endParaRPr lang="en-US" altLang="zh-CN" sz="3600" dirty="0">
              <a:solidFill>
                <a:schemeClr val="bg1"/>
              </a:solidFill>
              <a:latin typeface="Impact" pitchFamily="34" charset="0"/>
              <a:ea typeface="微软雅黑" pitchFamily="34" charset="-122"/>
            </a:endParaRPr>
          </a:p>
        </p:txBody>
      </p:sp>
      <p:sp>
        <p:nvSpPr>
          <p:cNvPr id="2" name="TextBox 10">
            <a:extLst>
              <a:ext uri="{FF2B5EF4-FFF2-40B4-BE49-F238E27FC236}">
                <a16:creationId xmlns:a16="http://schemas.microsoft.com/office/drawing/2014/main" id="{78108EC3-FD7A-472F-1FBA-CA9BC43EDD9D}"/>
              </a:ext>
            </a:extLst>
          </p:cNvPr>
          <p:cNvSpPr txBox="1">
            <a:spLocks noChangeArrowheads="1"/>
          </p:cNvSpPr>
          <p:nvPr/>
        </p:nvSpPr>
        <p:spPr bwMode="auto">
          <a:xfrm>
            <a:off x="3002508" y="2683725"/>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t>
            </a:r>
            <a:r>
              <a:rPr lang="zh-CN" altLang="en-US" sz="3600" dirty="0">
                <a:latin typeface="Impact" pitchFamily="34" charset="0"/>
                <a:ea typeface="微软雅黑" pitchFamily="34" charset="-122"/>
              </a:rPr>
              <a:t>随机森林算法</a:t>
            </a:r>
          </a:p>
        </p:txBody>
      </p:sp>
      <p:sp>
        <p:nvSpPr>
          <p:cNvPr id="3" name="TextBox 11">
            <a:extLst>
              <a:ext uri="{FF2B5EF4-FFF2-40B4-BE49-F238E27FC236}">
                <a16:creationId xmlns:a16="http://schemas.microsoft.com/office/drawing/2014/main" id="{C7CCB016-A8F5-14E7-0714-C2E3F9DBBF6C}"/>
              </a:ext>
            </a:extLst>
          </p:cNvPr>
          <p:cNvSpPr txBox="1">
            <a:spLocks noChangeArrowheads="1"/>
          </p:cNvSpPr>
          <p:nvPr/>
        </p:nvSpPr>
        <p:spPr bwMode="auto">
          <a:xfrm>
            <a:off x="3002507" y="4238911"/>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XGBoost</a:t>
            </a:r>
            <a:endParaRPr lang="zh-CN" altLang="en-US" sz="3600" dirty="0">
              <a:latin typeface="Impact" pitchFamily="34" charset="0"/>
              <a:ea typeface="微软雅黑" pitchFamily="34" charset="-122"/>
            </a:endParaRPr>
          </a:p>
        </p:txBody>
      </p:sp>
      <p:sp>
        <p:nvSpPr>
          <p:cNvPr id="4" name="TextBox 10">
            <a:extLst>
              <a:ext uri="{FF2B5EF4-FFF2-40B4-BE49-F238E27FC236}">
                <a16:creationId xmlns:a16="http://schemas.microsoft.com/office/drawing/2014/main" id="{F69DC467-C892-CFDE-BE59-FFBBBA445C7C}"/>
              </a:ext>
            </a:extLst>
          </p:cNvPr>
          <p:cNvSpPr txBox="1">
            <a:spLocks noChangeArrowheads="1"/>
          </p:cNvSpPr>
          <p:nvPr/>
        </p:nvSpPr>
        <p:spPr bwMode="auto">
          <a:xfrm>
            <a:off x="3002507" y="5054092"/>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05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
        <p:nvSpPr>
          <p:cNvPr id="5" name="TextBox 10">
            <a:extLst>
              <a:ext uri="{FF2B5EF4-FFF2-40B4-BE49-F238E27FC236}">
                <a16:creationId xmlns:a16="http://schemas.microsoft.com/office/drawing/2014/main" id="{C6701A0E-1888-BD36-3CF9-F1783BD654C4}"/>
              </a:ext>
            </a:extLst>
          </p:cNvPr>
          <p:cNvSpPr txBox="1">
            <a:spLocks noChangeArrowheads="1"/>
          </p:cNvSpPr>
          <p:nvPr/>
        </p:nvSpPr>
        <p:spPr bwMode="auto">
          <a:xfrm>
            <a:off x="3002507" y="3423730"/>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Tree>
    <p:extLst>
      <p:ext uri="{BB962C8B-B14F-4D97-AF65-F5344CB8AC3E}">
        <p14:creationId xmlns:p14="http://schemas.microsoft.com/office/powerpoint/2010/main" val="3159294296"/>
      </p:ext>
    </p:extLst>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77">
            <a:extLst>
              <a:ext uri="{FF2B5EF4-FFF2-40B4-BE49-F238E27FC236}">
                <a16:creationId xmlns:a16="http://schemas.microsoft.com/office/drawing/2014/main" id="{606F0487-E08F-4D0D-875F-870EBC03E770}"/>
              </a:ext>
            </a:extLst>
          </p:cNvPr>
          <p:cNvSpPr txBox="1"/>
          <p:nvPr/>
        </p:nvSpPr>
        <p:spPr>
          <a:xfrm>
            <a:off x="504824" y="1291223"/>
            <a:ext cx="10887075" cy="1866858"/>
          </a:xfrm>
          <a:prstGeom prst="rect">
            <a:avLst/>
          </a:prstGeom>
          <a:noFill/>
        </p:spPr>
        <p:txBody>
          <a:bodyPr wrap="square">
            <a:spAutoFit/>
          </a:bodyPr>
          <a:lstStyle/>
          <a:p>
            <a:pPr lvl="0" algn="just">
              <a:lnSpc>
                <a:spcPct val="150000"/>
              </a:lnSpc>
            </a:pPr>
            <a:r>
              <a:rPr lang="zh-CN" altLang="en-US" sz="2000" dirty="0">
                <a:latin typeface="KaiTi" panose="02010609060101010101" pitchFamily="49" charset="-122"/>
                <a:ea typeface="KaiTi" panose="02010609060101010101" pitchFamily="49" charset="-122"/>
              </a:rPr>
              <a:t>集成学习就是将若干个弱分类器通过一定的策略组合之后产生一个强分类器。 弱分类器（</a:t>
            </a:r>
            <a:r>
              <a:rPr lang="en" altLang="zh-CN" sz="2000" dirty="0">
                <a:latin typeface="KaiTi" panose="02010609060101010101" pitchFamily="49" charset="-122"/>
                <a:ea typeface="KaiTi" panose="02010609060101010101" pitchFamily="49" charset="-122"/>
              </a:rPr>
              <a:t>Weak Classifier</a:t>
            </a:r>
            <a:r>
              <a:rPr lang="zh-CN" altLang="e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指的就是那些分类准确率只比随机猜测略好一点的分类器，而强分类器（ </a:t>
            </a:r>
            <a:r>
              <a:rPr lang="en" altLang="zh-CN" sz="2000" dirty="0">
                <a:latin typeface="KaiTi" panose="02010609060101010101" pitchFamily="49" charset="-122"/>
                <a:ea typeface="KaiTi" panose="02010609060101010101" pitchFamily="49" charset="-122"/>
              </a:rPr>
              <a:t>Strong Classifier</a:t>
            </a:r>
            <a:r>
              <a:rPr lang="zh-CN" altLang="e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的分类准确率会高很多。这里的</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强</a:t>
            </a:r>
            <a:r>
              <a:rPr lang="en-US" altLang="zh-CN" sz="2000" dirty="0">
                <a:latin typeface="KaiTi" panose="02010609060101010101" pitchFamily="49" charset="-122"/>
                <a:ea typeface="KaiTi" panose="02010609060101010101" pitchFamily="49" charset="-122"/>
              </a:rPr>
              <a:t>”&amp;“</a:t>
            </a:r>
            <a:r>
              <a:rPr lang="zh-CN" altLang="en-US" sz="2000" dirty="0">
                <a:latin typeface="KaiTi" panose="02010609060101010101" pitchFamily="49" charset="-122"/>
                <a:ea typeface="KaiTi" panose="02010609060101010101" pitchFamily="49" charset="-122"/>
              </a:rPr>
              <a:t>弱</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是相对的。某些书中也会把弱分类器称 为“基分类器”。目前集成学习算法的主要有两种：</a:t>
            </a:r>
            <a:r>
              <a:rPr lang="en-US" altLang="zh-CN" sz="2000" dirty="0">
                <a:latin typeface="KaiTi" panose="02010609060101010101" pitchFamily="49" charset="-122"/>
                <a:ea typeface="KaiTi" panose="02010609060101010101" pitchFamily="49" charset="-122"/>
              </a:rPr>
              <a:t>Bagging</a:t>
            </a:r>
            <a:r>
              <a:rPr lang="zh-CN" altLang="en-US" sz="2000" dirty="0">
                <a:latin typeface="KaiTi" panose="02010609060101010101" pitchFamily="49" charset="-122"/>
                <a:ea typeface="KaiTi" panose="02010609060101010101" pitchFamily="49" charset="-122"/>
              </a:rPr>
              <a:t>，</a:t>
            </a:r>
            <a:r>
              <a:rPr lang="en-US" altLang="zh-CN" sz="2000" dirty="0">
                <a:latin typeface="KaiTi" panose="02010609060101010101" pitchFamily="49" charset="-122"/>
                <a:ea typeface="KaiTi" panose="02010609060101010101" pitchFamily="49" charset="-122"/>
              </a:rPr>
              <a:t>Boosting</a:t>
            </a:r>
            <a:endParaRPr lang="zh-CN" altLang="en-US" sz="2000" dirty="0">
              <a:latin typeface="KaiTi" panose="02010609060101010101" pitchFamily="49" charset="-122"/>
              <a:ea typeface="KaiTi" panose="02010609060101010101" pitchFamily="49" charset="-122"/>
            </a:endParaRPr>
          </a:p>
        </p:txBody>
      </p:sp>
      <p:sp>
        <p:nvSpPr>
          <p:cNvPr id="79" name="文本框 22">
            <a:extLst>
              <a:ext uri="{FF2B5EF4-FFF2-40B4-BE49-F238E27FC236}">
                <a16:creationId xmlns:a16="http://schemas.microsoft.com/office/drawing/2014/main" id="{B49822C0-349E-41E2-A52F-3441437179A8}"/>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r>
              <a:rPr lang="zh-CN" altLang="en-US" sz="3600" dirty="0">
                <a:latin typeface="KaiTi" panose="02010609060101010101" pitchFamily="49" charset="-122"/>
                <a:ea typeface="KaiTi" panose="02010609060101010101" pitchFamily="49" charset="-122"/>
              </a:rPr>
              <a:t>（</a:t>
            </a:r>
            <a:r>
              <a:rPr lang="en" altLang="zh-CN" sz="3600" dirty="0">
                <a:latin typeface="KaiTi" panose="02010609060101010101" pitchFamily="49" charset="-122"/>
                <a:ea typeface="KaiTi" panose="02010609060101010101" pitchFamily="49" charset="-122"/>
              </a:rPr>
              <a:t>Ensemble learning</a:t>
            </a:r>
            <a:r>
              <a:rPr lang="zh-CN" altLang="en" sz="360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pic>
        <p:nvPicPr>
          <p:cNvPr id="1026" name="Picture 2" descr="image-20230217113940835">
            <a:extLst>
              <a:ext uri="{FF2B5EF4-FFF2-40B4-BE49-F238E27FC236}">
                <a16:creationId xmlns:a16="http://schemas.microsoft.com/office/drawing/2014/main" id="{708E2743-E3BF-D0E0-BDBD-697D5BDE9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6902" y="3240802"/>
            <a:ext cx="5891513" cy="3371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830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文本框 77">
            <a:extLst>
              <a:ext uri="{FF2B5EF4-FFF2-40B4-BE49-F238E27FC236}">
                <a16:creationId xmlns:a16="http://schemas.microsoft.com/office/drawing/2014/main" id="{606F0487-E08F-4D0D-875F-870EBC03E770}"/>
              </a:ext>
            </a:extLst>
          </p:cNvPr>
          <p:cNvSpPr txBox="1"/>
          <p:nvPr/>
        </p:nvSpPr>
        <p:spPr>
          <a:xfrm>
            <a:off x="504824" y="1198625"/>
            <a:ext cx="10887075" cy="2328523"/>
          </a:xfrm>
          <a:prstGeom prst="rect">
            <a:avLst/>
          </a:prstGeom>
          <a:noFill/>
        </p:spPr>
        <p:txBody>
          <a:bodyPr wrap="square">
            <a:spAutoFit/>
          </a:bodyPr>
          <a:lstStyle/>
          <a:p>
            <a:pPr lvl="0" algn="just">
              <a:lnSpc>
                <a:spcPct val="150000"/>
              </a:lnSpc>
            </a:pPr>
            <a:r>
              <a:rPr lang="zh-CN" altLang="zh-CN" sz="2000" b="1" dirty="0">
                <a:latin typeface="KaiTi" panose="02010609060101010101" pitchFamily="49" charset="-122"/>
                <a:ea typeface="KaiTi" panose="02010609060101010101" pitchFamily="49" charset="-122"/>
              </a:rPr>
              <a:t>Bagging</a:t>
            </a:r>
          </a:p>
          <a:p>
            <a:pPr lvl="0" algn="just">
              <a:lnSpc>
                <a:spcPct val="150000"/>
              </a:lnSpc>
            </a:pPr>
            <a:r>
              <a:rPr lang="zh-CN" altLang="en-US" sz="2000" dirty="0">
                <a:latin typeface="KaiTi" panose="02010609060101010101" pitchFamily="49" charset="-122"/>
                <a:ea typeface="KaiTi" panose="02010609060101010101" pitchFamily="49" charset="-122"/>
              </a:rPr>
              <a:t>装袋（</a:t>
            </a:r>
            <a:r>
              <a:rPr lang="en" altLang="zh-CN" sz="2000" dirty="0">
                <a:latin typeface="KaiTi" panose="02010609060101010101" pitchFamily="49" charset="-122"/>
                <a:ea typeface="KaiTi" panose="02010609060101010101" pitchFamily="49" charset="-122"/>
              </a:rPr>
              <a:t>bagging</a:t>
            </a:r>
            <a:r>
              <a:rPr lang="zh-CN" altLang="e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又称自主聚集（</a:t>
            </a:r>
            <a:r>
              <a:rPr lang="en" altLang="zh-CN" sz="2000" dirty="0">
                <a:latin typeface="KaiTi" panose="02010609060101010101" pitchFamily="49" charset="-122"/>
                <a:ea typeface="KaiTi" panose="02010609060101010101" pitchFamily="49" charset="-122"/>
              </a:rPr>
              <a:t>bootstrap aggregating</a:t>
            </a:r>
            <a:r>
              <a:rPr lang="zh-CN" altLang="e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是一种根据均匀概率分布从数据集中重复抽样（有放回的）的技术。每个新数据集和原始数据集的大小相等。由于新数据集中的每个样本都是从原始数据集中有放回的随机抽样出来的，所以新数据集中可能有重复的值，而原始数据集中的某些样本可能根本就没出现在新数据集中。</a:t>
            </a:r>
            <a:r>
              <a:rPr lang="en" altLang="zh-CN" sz="2000" dirty="0">
                <a:latin typeface="KaiTi" panose="02010609060101010101" pitchFamily="49" charset="-122"/>
                <a:ea typeface="KaiTi" panose="02010609060101010101" pitchFamily="49" charset="-122"/>
              </a:rPr>
              <a:t>Bagging</a:t>
            </a:r>
            <a:r>
              <a:rPr lang="zh-CN" altLang="en-US" sz="2000" dirty="0">
                <a:latin typeface="KaiTi" panose="02010609060101010101" pitchFamily="49" charset="-122"/>
                <a:ea typeface="KaiTi" panose="02010609060101010101" pitchFamily="49" charset="-122"/>
              </a:rPr>
              <a:t>方法的代表算法是随机森林。</a:t>
            </a:r>
          </a:p>
        </p:txBody>
      </p:sp>
      <p:pic>
        <p:nvPicPr>
          <p:cNvPr id="6146" name="Picture 2" descr="bagging">
            <a:extLst>
              <a:ext uri="{FF2B5EF4-FFF2-40B4-BE49-F238E27FC236}">
                <a16:creationId xmlns:a16="http://schemas.microsoft.com/office/drawing/2014/main" id="{0848A634-DD70-C5D9-ECF0-2E674359D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891" y="3712477"/>
            <a:ext cx="9851265" cy="287456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22">
            <a:extLst>
              <a:ext uri="{FF2B5EF4-FFF2-40B4-BE49-F238E27FC236}">
                <a16:creationId xmlns:a16="http://schemas.microsoft.com/office/drawing/2014/main" id="{5273F0C4-90B7-9042-FDE5-910EA0FB4DEC}"/>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r>
              <a:rPr lang="zh-CN" altLang="en-US" sz="3600" dirty="0">
                <a:latin typeface="KaiTi" panose="02010609060101010101" pitchFamily="49" charset="-122"/>
                <a:ea typeface="KaiTi" panose="02010609060101010101" pitchFamily="49" charset="-122"/>
              </a:rPr>
              <a:t>（</a:t>
            </a:r>
            <a:r>
              <a:rPr lang="en" altLang="zh-CN" sz="3600" dirty="0">
                <a:latin typeface="KaiTi" panose="02010609060101010101" pitchFamily="49" charset="-122"/>
                <a:ea typeface="KaiTi" panose="02010609060101010101" pitchFamily="49" charset="-122"/>
              </a:rPr>
              <a:t>Ensemble learning</a:t>
            </a:r>
            <a:r>
              <a:rPr lang="zh-CN" altLang="en" sz="360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59779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4" name="文本框 3"/>
          <p:cNvSpPr txBox="1"/>
          <p:nvPr/>
        </p:nvSpPr>
        <p:spPr>
          <a:xfrm>
            <a:off x="460375" y="1459085"/>
            <a:ext cx="11341197" cy="1774525"/>
          </a:xfrm>
          <a:prstGeom prst="rect">
            <a:avLst/>
          </a:prstGeom>
          <a:noFill/>
        </p:spPr>
        <p:txBody>
          <a:bodyPr wrap="square" rtlCol="0">
            <a:spAutoFit/>
          </a:bodyPr>
          <a:lstStyle/>
          <a:p>
            <a:pPr lvl="0"/>
            <a:r>
              <a:rPr lang="zh-CN" altLang="zh-CN" sz="2400" b="1" dirty="0">
                <a:latin typeface="KaiTi" panose="02010609060101010101" pitchFamily="49" charset="-122"/>
                <a:ea typeface="KaiTi" panose="02010609060101010101" pitchFamily="49" charset="-122"/>
              </a:rPr>
              <a:t>Boosting</a:t>
            </a:r>
          </a:p>
          <a:p>
            <a:pPr lvl="0">
              <a:lnSpc>
                <a:spcPct val="150000"/>
              </a:lnSpc>
            </a:pPr>
            <a:r>
              <a:rPr lang="en" altLang="zh-CN" sz="2000" dirty="0">
                <a:latin typeface="KaiTi" panose="02010609060101010101" pitchFamily="49" charset="-122"/>
                <a:ea typeface="KaiTi" panose="02010609060101010101" pitchFamily="49" charset="-122"/>
              </a:rPr>
              <a:t>boosting</a:t>
            </a:r>
            <a:r>
              <a:rPr lang="zh-CN" altLang="en-US" sz="2000" dirty="0">
                <a:latin typeface="KaiTi" panose="02010609060101010101" pitchFamily="49" charset="-122"/>
                <a:ea typeface="KaiTi" panose="02010609060101010101" pitchFamily="49" charset="-122"/>
              </a:rPr>
              <a:t>是一个迭代的过程，用来自适应地改变训练样本的分布，使得弱分类器聚焦到那些很难分类的样本上。它的做法是给每一个训练样本赋予一个权重，在每一轮训练结束时自动地调整权重。</a:t>
            </a:r>
            <a:r>
              <a:rPr lang="en" altLang="zh-CN" sz="2000" dirty="0">
                <a:latin typeface="KaiTi" panose="02010609060101010101" pitchFamily="49" charset="-122"/>
                <a:ea typeface="KaiTi" panose="02010609060101010101" pitchFamily="49" charset="-122"/>
              </a:rPr>
              <a:t>boosting</a:t>
            </a:r>
            <a:r>
              <a:rPr lang="zh-CN" altLang="en-US" sz="2000" dirty="0">
                <a:latin typeface="KaiTi" panose="02010609060101010101" pitchFamily="49" charset="-122"/>
                <a:ea typeface="KaiTi" panose="02010609060101010101" pitchFamily="49" charset="-122"/>
              </a:rPr>
              <a:t>方法的代表算法有</a:t>
            </a:r>
            <a:r>
              <a:rPr lang="en" altLang="zh-CN" sz="2000" dirty="0">
                <a:latin typeface="KaiTi" panose="02010609060101010101" pitchFamily="49" charset="-122"/>
                <a:ea typeface="KaiTi" panose="02010609060101010101" pitchFamily="49" charset="-122"/>
              </a:rPr>
              <a:t>Adaboost</a:t>
            </a:r>
            <a:r>
              <a:rPr lang="zh-CN" altLang="en" sz="2000" dirty="0">
                <a:latin typeface="KaiTi" panose="02010609060101010101" pitchFamily="49" charset="-122"/>
                <a:ea typeface="KaiTi" panose="02010609060101010101" pitchFamily="49" charset="-122"/>
              </a:rPr>
              <a:t>、</a:t>
            </a:r>
            <a:r>
              <a:rPr lang="en" altLang="zh-CN" sz="2000" dirty="0">
                <a:latin typeface="KaiTi" panose="02010609060101010101" pitchFamily="49" charset="-122"/>
                <a:ea typeface="KaiTi" panose="02010609060101010101" pitchFamily="49" charset="-122"/>
              </a:rPr>
              <a:t>GBDT</a:t>
            </a:r>
            <a:r>
              <a:rPr lang="zh-CN" altLang="en" sz="2000" dirty="0">
                <a:latin typeface="KaiTi" panose="02010609060101010101" pitchFamily="49" charset="-122"/>
                <a:ea typeface="KaiTi" panose="02010609060101010101" pitchFamily="49" charset="-122"/>
              </a:rPr>
              <a:t>、</a:t>
            </a:r>
            <a:r>
              <a:rPr lang="en" altLang="zh-CN" sz="2000" dirty="0">
                <a:latin typeface="KaiTi" panose="02010609060101010101" pitchFamily="49" charset="-122"/>
                <a:ea typeface="KaiTi" panose="02010609060101010101" pitchFamily="49" charset="-122"/>
              </a:rPr>
              <a:t>XGBoost</a:t>
            </a:r>
            <a:r>
              <a:rPr lang="zh-CN" altLang="en-US" sz="2000" dirty="0">
                <a:latin typeface="KaiTi" panose="02010609060101010101" pitchFamily="49" charset="-122"/>
                <a:ea typeface="KaiTi" panose="02010609060101010101" pitchFamily="49" charset="-122"/>
              </a:rPr>
              <a:t>算法。</a:t>
            </a:r>
            <a:endParaRPr lang="zh-CN" altLang="zh-CN" sz="1100" dirty="0">
              <a:latin typeface="KaiTi" panose="02010609060101010101" pitchFamily="49" charset="-122"/>
              <a:ea typeface="KaiTi" panose="02010609060101010101" pitchFamily="49" charset="-122"/>
            </a:endParaRPr>
          </a:p>
        </p:txBody>
      </p:sp>
      <p:pic>
        <p:nvPicPr>
          <p:cNvPr id="7170" name="Picture 2" descr="boosting">
            <a:extLst>
              <a:ext uri="{FF2B5EF4-FFF2-40B4-BE49-F238E27FC236}">
                <a16:creationId xmlns:a16="http://schemas.microsoft.com/office/drawing/2014/main" id="{4B23F4DC-BB32-8740-EE9C-F45809D9F6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896" y="3415943"/>
            <a:ext cx="8281816" cy="3196263"/>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22">
            <a:extLst>
              <a:ext uri="{FF2B5EF4-FFF2-40B4-BE49-F238E27FC236}">
                <a16:creationId xmlns:a16="http://schemas.microsoft.com/office/drawing/2014/main" id="{C596C7BD-A846-0445-9A20-B765A9481032}"/>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r>
              <a:rPr lang="zh-CN" altLang="en-US" sz="3600" dirty="0">
                <a:latin typeface="KaiTi" panose="02010609060101010101" pitchFamily="49" charset="-122"/>
                <a:ea typeface="KaiTi" panose="02010609060101010101" pitchFamily="49" charset="-122"/>
              </a:rPr>
              <a:t>（</a:t>
            </a:r>
            <a:r>
              <a:rPr lang="en" altLang="zh-CN" sz="3600" dirty="0">
                <a:latin typeface="KaiTi" panose="02010609060101010101" pitchFamily="49" charset="-122"/>
                <a:ea typeface="KaiTi" panose="02010609060101010101" pitchFamily="49" charset="-122"/>
              </a:rPr>
              <a:t>Ensemble learning</a:t>
            </a:r>
            <a:r>
              <a:rPr lang="zh-CN" altLang="en" sz="360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422758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4" name="文本框 3"/>
              <p:cNvSpPr txBox="1"/>
              <p:nvPr/>
            </p:nvSpPr>
            <p:spPr>
              <a:xfrm>
                <a:off x="460375" y="1459085"/>
                <a:ext cx="11341197" cy="4775025"/>
              </a:xfrm>
              <a:prstGeom prst="rect">
                <a:avLst/>
              </a:prstGeom>
              <a:noFill/>
            </p:spPr>
            <p:txBody>
              <a:bodyPr wrap="square" rtlCol="0">
                <a:spAutoFit/>
              </a:bodyPr>
              <a:lstStyle/>
              <a:p>
                <a:pPr lvl="0"/>
                <a:r>
                  <a:rPr lang="zh-CN" altLang="en-US" sz="2400" b="1" dirty="0">
                    <a:latin typeface="KaiTi" panose="02010609060101010101" pitchFamily="49" charset="-122"/>
                    <a:ea typeface="KaiTi" panose="02010609060101010101" pitchFamily="49" charset="-122"/>
                  </a:rPr>
                  <a:t>结合策略</a:t>
                </a:r>
                <a:r>
                  <a:rPr lang="ko-KR" altLang="en-US" b="1" dirty="0">
                    <a:latin typeface="KaiTi" panose="02010609060101010101" pitchFamily="49" charset="-122"/>
                    <a:ea typeface="KaiTi" panose="02010609060101010101" pitchFamily="49" charset="-122"/>
                  </a:rPr>
                  <a:t> </a:t>
                </a:r>
                <a:r>
                  <a:rPr lang="en-US" altLang="ko-KR" b="1" dirty="0">
                    <a:latin typeface="KaiTi" panose="02010609060101010101" pitchFamily="49" charset="-122"/>
                    <a:ea typeface="KaiTi" panose="02010609060101010101" pitchFamily="49" charset="-122"/>
                  </a:rPr>
                  <a:t>-</a:t>
                </a:r>
                <a:r>
                  <a:rPr lang="ko-KR" altLang="en-US" b="1" dirty="0">
                    <a:latin typeface="KaiTi" panose="02010609060101010101" pitchFamily="49" charset="-122"/>
                    <a:ea typeface="KaiTi" panose="02010609060101010101" pitchFamily="49" charset="-122"/>
                  </a:rPr>
                  <a:t> </a:t>
                </a:r>
                <a:r>
                  <a:rPr lang="ko-KR" altLang="en-US" sz="2400" b="1" dirty="0">
                    <a:latin typeface="KaiTi" panose="02010609060101010101" pitchFamily="49" charset="-122"/>
                    <a:ea typeface="KaiTi" panose="02010609060101010101" pitchFamily="49" charset="-122"/>
                  </a:rPr>
                  <a:t>平均法</a:t>
                </a:r>
                <a:endParaRPr lang="en-US" altLang="ko-KR" sz="2400" b="1" dirty="0">
                  <a:latin typeface="KaiTi" panose="02010609060101010101" pitchFamily="49" charset="-122"/>
                  <a:ea typeface="KaiTi" panose="02010609060101010101" pitchFamily="49" charset="-122"/>
                </a:endParaRPr>
              </a:p>
              <a:p>
                <a:pPr lvl="0"/>
                <a:endParaRPr lang="en-US" altLang="zh-CN" sz="2400" b="1" dirty="0">
                  <a:latin typeface="KaiTi" panose="02010609060101010101" pitchFamily="49" charset="-122"/>
                  <a:ea typeface="KaiTi" panose="02010609060101010101" pitchFamily="49" charset="-122"/>
                </a:endParaRPr>
              </a:p>
              <a:p>
                <a:pPr lvl="0"/>
                <a:r>
                  <a:rPr lang="zh-CN" altLang="en-US" sz="2000" dirty="0">
                    <a:latin typeface="KaiTi" panose="02010609060101010101" pitchFamily="49" charset="-122"/>
                    <a:ea typeface="KaiTi" panose="02010609060101010101" pitchFamily="49" charset="-122"/>
                  </a:rPr>
                  <a:t>对于数值类的回归预测问题，通常使用的结合策略是平均法，也就是说，对于若干个弱学习器的输出进 行平均得到最终的预测输出。</a:t>
                </a:r>
                <a:endParaRPr lang="en-US" altLang="zh-CN" sz="2000" dirty="0">
                  <a:latin typeface="KaiTi" panose="02010609060101010101" pitchFamily="49" charset="-122"/>
                  <a:ea typeface="KaiTi" panose="02010609060101010101" pitchFamily="49" charset="-122"/>
                </a:endParaRPr>
              </a:p>
              <a:p>
                <a:pPr lvl="0"/>
                <a:endParaRPr lang="en-US" altLang="zh-CN" sz="2000" dirty="0">
                  <a:latin typeface="KaiTi" panose="02010609060101010101" pitchFamily="49" charset="-122"/>
                  <a:ea typeface="KaiTi" panose="02010609060101010101" pitchFamily="49" charset="-122"/>
                </a:endParaRPr>
              </a:p>
              <a:p>
                <a:pPr lvl="0"/>
                <a:r>
                  <a:rPr lang="ko-KR" altLang="en-US" sz="2000" dirty="0">
                    <a:latin typeface="KaiTi" panose="02010609060101010101" pitchFamily="49" charset="-122"/>
                    <a:ea typeface="KaiTi" panose="02010609060101010101" pitchFamily="49" charset="-122"/>
                  </a:rPr>
                  <a:t>假设我们最终得到的</a:t>
                </a:r>
                <a:r>
                  <a:rPr lang="en-US" altLang="zh-CN" sz="2000" dirty="0">
                    <a:latin typeface="KaiTi" panose="02010609060101010101" pitchFamily="49" charset="-122"/>
                    <a:ea typeface="KaiTi" panose="02010609060101010101" pitchFamily="49" charset="-122"/>
                  </a:rPr>
                  <a:t>n</a:t>
                </a:r>
                <a:r>
                  <a:rPr lang="ko-KR" altLang="en-US" sz="2000" dirty="0">
                    <a:latin typeface="KaiTi" panose="02010609060101010101" pitchFamily="49" charset="-122"/>
                    <a:ea typeface="KaiTi" panose="02010609060101010101" pitchFamily="49" charset="-122"/>
                  </a:rPr>
                  <a:t>个弱分类器为</a:t>
                </a:r>
                <a14:m>
                  <m:oMath xmlns:m="http://schemas.openxmlformats.org/officeDocument/2006/math">
                    <m:d>
                      <m:dPr>
                        <m:begChr m:val="{"/>
                        <m:endChr m:val=""/>
                        <m:ctrlPr>
                          <a:rPr lang="en-US" altLang="ko-KR" sz="2000" i="1" dirty="0">
                            <a:latin typeface="Cambria Math" panose="02040503050406030204" pitchFamily="18" charset="0"/>
                            <a:ea typeface="KaiTi" panose="02010609060101010101" pitchFamily="49" charset="-122"/>
                          </a:rPr>
                        </m:ctrlPr>
                      </m:dPr>
                      <m:e>
                        <m:sSub>
                          <m:sSubPr>
                            <m:ctrlPr>
                              <a:rPr lang="en-US" altLang="ko-KR" sz="2000" i="1" dirty="0">
                                <a:latin typeface="Cambria Math" panose="02040503050406030204" pitchFamily="18" charset="0"/>
                                <a:ea typeface="KaiTi" panose="02010609060101010101" pitchFamily="49" charset="-122"/>
                              </a:rPr>
                            </m:ctrlPr>
                          </m:sSubPr>
                          <m:e>
                            <m:r>
                              <a:rPr lang="en-US" altLang="ko-KR" sz="2000" b="0" i="1" dirty="0">
                                <a:latin typeface="Cambria Math" panose="02040503050406030204" pitchFamily="18" charset="0"/>
                                <a:ea typeface="KaiTi" panose="02010609060101010101" pitchFamily="49" charset="-122"/>
                              </a:rPr>
                              <m:t>h</m:t>
                            </m:r>
                          </m:e>
                          <m:sub>
                            <m:r>
                              <a:rPr lang="en-US" altLang="ko-KR" sz="2000" b="0" i="1" dirty="0">
                                <a:latin typeface="Cambria Math" panose="02040503050406030204" pitchFamily="18" charset="0"/>
                                <a:ea typeface="KaiTi" panose="02010609060101010101" pitchFamily="49" charset="-122"/>
                              </a:rPr>
                              <m:t>1</m:t>
                            </m:r>
                          </m:sub>
                        </m:sSub>
                      </m:e>
                    </m:d>
                    <m:r>
                      <a:rPr lang="en-US" altLang="ko-KR" sz="2000" b="0" i="1" dirty="0">
                        <a:latin typeface="Cambria Math" panose="02040503050406030204" pitchFamily="18" charset="0"/>
                        <a:ea typeface="KaiTi" panose="02010609060101010101" pitchFamily="49" charset="-122"/>
                      </a:rPr>
                      <m:t>,</m:t>
                    </m:r>
                    <m:sSub>
                      <m:sSubPr>
                        <m:ctrlPr>
                          <a:rPr lang="en-US" altLang="zh-CN" sz="2000" b="0" i="1" dirty="0">
                            <a:latin typeface="Cambria Math" panose="02040503050406030204" pitchFamily="18" charset="0"/>
                            <a:ea typeface="KaiTi" panose="02010609060101010101" pitchFamily="49" charset="-122"/>
                          </a:rPr>
                        </m:ctrlPr>
                      </m:sSubPr>
                      <m:e>
                        <m:r>
                          <a:rPr lang="en-US" altLang="zh-CN" sz="2000" b="0" i="1" dirty="0">
                            <a:latin typeface="Cambria Math" panose="02040503050406030204" pitchFamily="18" charset="0"/>
                            <a:ea typeface="KaiTi" panose="02010609060101010101" pitchFamily="49" charset="-122"/>
                          </a:rPr>
                          <m:t>h</m:t>
                        </m:r>
                      </m:e>
                      <m:sub>
                        <m:r>
                          <a:rPr lang="en-US" altLang="zh-CN" sz="2000" b="0" i="1" dirty="0">
                            <a:latin typeface="Cambria Math" panose="02040503050406030204" pitchFamily="18" charset="0"/>
                            <a:ea typeface="KaiTi" panose="02010609060101010101" pitchFamily="49" charset="-122"/>
                          </a:rPr>
                          <m:t>2</m:t>
                        </m:r>
                      </m:sub>
                    </m:sSub>
                    <m:r>
                      <a:rPr lang="en-US" altLang="zh-CN" sz="2000" b="0" i="1" dirty="0">
                        <a:latin typeface="Cambria Math" panose="02040503050406030204" pitchFamily="18" charset="0"/>
                        <a:ea typeface="KaiTi" panose="02010609060101010101" pitchFamily="49" charset="-122"/>
                      </a:rPr>
                      <m:t>,</m:t>
                    </m:r>
                    <m:sSub>
                      <m:sSubPr>
                        <m:ctrlPr>
                          <a:rPr lang="en-US" altLang="zh-CN" sz="2000" b="0" i="1" dirty="0">
                            <a:latin typeface="Cambria Math" panose="02040503050406030204" pitchFamily="18" charset="0"/>
                            <a:ea typeface="KaiTi" panose="02010609060101010101" pitchFamily="49" charset="-122"/>
                          </a:rPr>
                        </m:ctrlPr>
                      </m:sSubPr>
                      <m:e>
                        <m:r>
                          <a:rPr lang="en-US" altLang="zh-CN" sz="2000" b="0" i="1" dirty="0">
                            <a:latin typeface="Cambria Math" panose="02040503050406030204" pitchFamily="18" charset="0"/>
                            <a:ea typeface="KaiTi" panose="02010609060101010101" pitchFamily="49" charset="-122"/>
                          </a:rPr>
                          <m:t>h</m:t>
                        </m:r>
                      </m:e>
                      <m:sub>
                        <m:r>
                          <a:rPr lang="en-US" altLang="zh-CN" sz="2000" b="0" i="1" dirty="0">
                            <a:latin typeface="Cambria Math" panose="02040503050406030204" pitchFamily="18" charset="0"/>
                            <a:ea typeface="KaiTi" panose="02010609060101010101" pitchFamily="49" charset="-122"/>
                          </a:rPr>
                          <m:t>3</m:t>
                        </m:r>
                      </m:sub>
                    </m:sSub>
                    <m:r>
                      <a:rPr lang="en-US" altLang="zh-CN" sz="2000" b="0" i="1" dirty="0">
                        <a:latin typeface="Cambria Math" panose="02040503050406030204" pitchFamily="18" charset="0"/>
                        <a:ea typeface="KaiTi" panose="02010609060101010101" pitchFamily="49" charset="-122"/>
                      </a:rPr>
                      <m:t>…</m:t>
                    </m:r>
                    <m:d>
                      <m:dPr>
                        <m:begChr m:val=""/>
                        <m:endChr m:val="}"/>
                        <m:ctrlPr>
                          <a:rPr lang="en-US" altLang="zh-CN" sz="2000" b="0" i="1" dirty="0">
                            <a:latin typeface="Cambria Math" panose="02040503050406030204" pitchFamily="18" charset="0"/>
                            <a:ea typeface="KaiTi" panose="02010609060101010101" pitchFamily="49" charset="-122"/>
                          </a:rPr>
                        </m:ctrlPr>
                      </m:dPr>
                      <m:e>
                        <m:sSub>
                          <m:sSubPr>
                            <m:ctrlPr>
                              <a:rPr lang="en-US" altLang="zh-CN" sz="2000" b="0" i="1" dirty="0">
                                <a:latin typeface="Cambria Math" panose="02040503050406030204" pitchFamily="18" charset="0"/>
                                <a:ea typeface="KaiTi" panose="02010609060101010101" pitchFamily="49" charset="-122"/>
                              </a:rPr>
                            </m:ctrlPr>
                          </m:sSubPr>
                          <m:e>
                            <m:r>
                              <a:rPr lang="en-US" altLang="zh-CN" sz="2000" b="0" i="1" dirty="0">
                                <a:latin typeface="Cambria Math" panose="02040503050406030204" pitchFamily="18" charset="0"/>
                                <a:ea typeface="KaiTi" panose="02010609060101010101" pitchFamily="49" charset="-122"/>
                              </a:rPr>
                              <m:t>h</m:t>
                            </m:r>
                          </m:e>
                          <m:sub>
                            <m:r>
                              <a:rPr lang="en-US" altLang="zh-CN" sz="2000" b="0" i="1" dirty="0">
                                <a:latin typeface="Cambria Math" panose="02040503050406030204" pitchFamily="18" charset="0"/>
                                <a:ea typeface="KaiTi" panose="02010609060101010101" pitchFamily="49" charset="-122"/>
                              </a:rPr>
                              <m:t>𝑛</m:t>
                            </m:r>
                          </m:sub>
                        </m:sSub>
                      </m:e>
                    </m:d>
                  </m:oMath>
                </a14:m>
                <a:r>
                  <a:rPr lang="en-US" altLang="ko-KR" sz="2000" dirty="0">
                    <a:latin typeface="KaiTi" panose="02010609060101010101" pitchFamily="49" charset="-122"/>
                    <a:ea typeface="KaiTi" panose="02010609060101010101" pitchFamily="49" charset="-122"/>
                  </a:rPr>
                  <a:t> </a:t>
                </a:r>
                <a:r>
                  <a:rPr lang="ko-KR" altLang="en-US" sz="2000" dirty="0">
                    <a:latin typeface="KaiTi" panose="02010609060101010101" pitchFamily="49" charset="-122"/>
                    <a:ea typeface="KaiTi" panose="02010609060101010101" pitchFamily="49" charset="-122"/>
                  </a:rPr>
                  <a:t>最简单的平均是算术平均，也就是说最终预测是</a:t>
                </a:r>
              </a:p>
              <a:p>
                <a:pPr/>
                <a14:m>
                  <m:oMathPara xmlns:m="http://schemas.openxmlformats.org/officeDocument/2006/math">
                    <m:oMathParaPr>
                      <m:jc m:val="centerGroup"/>
                    </m:oMathParaPr>
                    <m:oMath xmlns:m="http://schemas.openxmlformats.org/officeDocument/2006/math">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𝐻</m:t>
                      </m:r>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d>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m:t>
                      </m:r>
                      <m:f>
                        <m:f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1</m:t>
                          </m:r>
                        </m:num>
                        <m:den>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𝑛</m:t>
                          </m:r>
                        </m:den>
                      </m:f>
                      <m:nary>
                        <m:naryPr>
                          <m:chr m:val="∑"/>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𝑖</m:t>
                          </m:r>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=1</m:t>
                          </m:r>
                        </m:sub>
                        <m:sup>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𝑛</m:t>
                          </m:r>
                        </m:sup>
                        <m:e>
                          <m:sSub>
                            <m:sSub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h</m:t>
                              </m:r>
                            </m:e>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𝑖</m:t>
                              </m:r>
                            </m:sub>
                          </m:sSub>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d>
                        </m:e>
                      </m:nary>
                    </m:oMath>
                  </m:oMathPara>
                </a14:m>
                <a:endParaRPr lang="ko-KR" altLang="en-US" sz="2000" dirty="0">
                  <a:latin typeface="KaiTi" panose="02010609060101010101" pitchFamily="49" charset="-122"/>
                  <a:ea typeface="KaiTi" panose="02010609060101010101" pitchFamily="49" charset="-122"/>
                </a:endParaRPr>
              </a:p>
              <a:p>
                <a:pPr lvl="0"/>
                <a:r>
                  <a:rPr lang="ko-KR" altLang="en-US" sz="2000" dirty="0">
                    <a:latin typeface="KaiTi" panose="02010609060101010101" pitchFamily="49" charset="-122"/>
                    <a:ea typeface="KaiTi" panose="02010609060101010101" pitchFamily="49" charset="-122"/>
                  </a:rPr>
                  <a:t>如果每个弱分类器有一个权重</a:t>
                </a:r>
                <a:r>
                  <a:rPr lang="en-US" altLang="zh-CN" sz="2000" dirty="0">
                    <a:latin typeface="KaiTi" panose="02010609060101010101" pitchFamily="49" charset="-122"/>
                    <a:ea typeface="KaiTi" panose="02010609060101010101" pitchFamily="49" charset="-122"/>
                  </a:rPr>
                  <a:t>w</a:t>
                </a:r>
                <a:r>
                  <a:rPr lang="zh-CN" altLang="en-US" sz="2000" dirty="0">
                    <a:latin typeface="KaiTi" panose="02010609060101010101" pitchFamily="49" charset="-122"/>
                    <a:ea typeface="KaiTi" panose="02010609060101010101" pitchFamily="49" charset="-122"/>
                  </a:rPr>
                  <a:t>，</a:t>
                </a:r>
                <a:r>
                  <a:rPr lang="ko-KR" altLang="en-US" sz="2000" dirty="0">
                    <a:latin typeface="KaiTi" panose="02010609060101010101" pitchFamily="49" charset="-122"/>
                    <a:ea typeface="KaiTi" panose="02010609060101010101" pitchFamily="49" charset="-122"/>
                  </a:rPr>
                  <a:t>则最终预测是</a:t>
                </a:r>
                <a14:m>
                  <m:oMath xmlns:m="http://schemas.openxmlformats.org/officeDocument/2006/math">
                    <m:r>
                      <m:rPr>
                        <m:nor/>
                      </m:rPr>
                      <a:rPr lang="en-US" altLang="ko-Kore-KR"/>
                      <m:t> </m:t>
                    </m:r>
                  </m:oMath>
                </a14:m>
                <a:endParaRPr lang="ko-Kore-KR" altLang="ko-Kore-KR"/>
              </a:p>
              <a:p>
                <a:pPr latinLnBrk="1"/>
                <a14:m>
                  <m:oMathPara xmlns:m="http://schemas.openxmlformats.org/officeDocument/2006/math">
                    <m:oMathParaPr>
                      <m:jc m:val="centerGroup"/>
                    </m:oMathParaPr>
                    <m:oMath xmlns:m="http://schemas.openxmlformats.org/officeDocument/2006/math">
                      <m:r>
                        <a:rPr lang="en-US" altLang="ko-Kore-KR" sz="1800" i="1">
                          <a:latin typeface="Cambria Math" panose="02040503050406030204" pitchFamily="18" charset="0"/>
                        </a:rPr>
                        <m:t>𝐻</m:t>
                      </m:r>
                      <m:d>
                        <m:dPr>
                          <m:ctrlPr>
                            <a:rPr lang="ko-Kore-KR" altLang="ko-Kore-KR" sz="1800" i="1">
                              <a:latin typeface="Cambria Math" panose="02040503050406030204" pitchFamily="18" charset="0"/>
                            </a:rPr>
                          </m:ctrlPr>
                        </m:dPr>
                        <m:e>
                          <m:r>
                            <a:rPr lang="en-US" altLang="ko-Kore-KR" sz="1800" i="1">
                              <a:latin typeface="Cambria Math" panose="02040503050406030204" pitchFamily="18" charset="0"/>
                            </a:rPr>
                            <m:t>𝑥</m:t>
                          </m:r>
                        </m:e>
                      </m:d>
                      <m:r>
                        <a:rPr lang="en-US" altLang="ko-Kore-KR" sz="1800" i="1">
                          <a:latin typeface="Cambria Math" panose="02040503050406030204" pitchFamily="18" charset="0"/>
                        </a:rPr>
                        <m:t>=</m:t>
                      </m:r>
                      <m:f>
                        <m:fPr>
                          <m:ctrlPr>
                            <a:rPr lang="ko-Kore-KR" altLang="ko-Kore-KR" sz="1800" i="1">
                              <a:latin typeface="Cambria Math" panose="02040503050406030204" pitchFamily="18" charset="0"/>
                            </a:rPr>
                          </m:ctrlPr>
                        </m:fPr>
                        <m:num>
                          <m:r>
                            <a:rPr lang="en-US" altLang="ko-Kore-KR" sz="1800" i="1">
                              <a:latin typeface="Cambria Math" panose="02040503050406030204" pitchFamily="18" charset="0"/>
                            </a:rPr>
                            <m:t>1</m:t>
                          </m:r>
                        </m:num>
                        <m:den>
                          <m:r>
                            <a:rPr lang="en-US" altLang="ko-Kore-KR" sz="1800" i="1">
                              <a:latin typeface="Cambria Math" panose="02040503050406030204" pitchFamily="18" charset="0"/>
                            </a:rPr>
                            <m:t>𝑛</m:t>
                          </m:r>
                        </m:den>
                      </m:f>
                      <m:nary>
                        <m:naryPr>
                          <m:chr m:val="∑"/>
                          <m:ctrlPr>
                            <a:rPr lang="ko-Kore-KR" altLang="ko-Kore-KR" sz="1800" i="1">
                              <a:latin typeface="Cambria Math" panose="02040503050406030204" pitchFamily="18" charset="0"/>
                            </a:rPr>
                          </m:ctrlPr>
                        </m:naryPr>
                        <m:sub>
                          <m:r>
                            <a:rPr lang="en-US" altLang="ko-Kore-KR" sz="1800" i="1">
                              <a:latin typeface="Cambria Math" panose="02040503050406030204" pitchFamily="18" charset="0"/>
                            </a:rPr>
                            <m:t>𝑖</m:t>
                          </m:r>
                          <m:r>
                            <a:rPr lang="en-US" altLang="ko-Kore-KR" sz="1800" i="1">
                              <a:latin typeface="Cambria Math" panose="02040503050406030204" pitchFamily="18" charset="0"/>
                            </a:rPr>
                            <m:t>=1</m:t>
                          </m:r>
                        </m:sub>
                        <m:sup>
                          <m:r>
                            <a:rPr lang="en-US" altLang="ko-Kore-KR" sz="1800" i="1">
                              <a:latin typeface="Cambria Math" panose="02040503050406030204" pitchFamily="18" charset="0"/>
                            </a:rPr>
                            <m:t>𝑛</m:t>
                          </m:r>
                        </m:sup>
                        <m:e>
                          <m:sSub>
                            <m:sSubPr>
                              <m:ctrlPr>
                                <a:rPr lang="ko-Kore-KR" altLang="ko-Kore-KR" sz="1800" i="1">
                                  <a:latin typeface="Cambria Math" panose="02040503050406030204" pitchFamily="18" charset="0"/>
                                </a:rPr>
                              </m:ctrlPr>
                            </m:sSubPr>
                            <m:e>
                              <m:r>
                                <a:rPr lang="en-US" altLang="ko-Kore-KR" sz="1800" i="1">
                                  <a:latin typeface="Cambria Math" panose="02040503050406030204" pitchFamily="18" charset="0"/>
                                </a:rPr>
                                <m:t>𝑤</m:t>
                              </m:r>
                            </m:e>
                            <m:sub>
                              <m:r>
                                <a:rPr lang="en-US" altLang="ko-Kore-KR" sz="1800" i="1">
                                  <a:latin typeface="Cambria Math" panose="02040503050406030204" pitchFamily="18" charset="0"/>
                                </a:rPr>
                                <m:t>𝑖</m:t>
                              </m:r>
                            </m:sub>
                          </m:sSub>
                        </m:e>
                      </m:nary>
                      <m:r>
                        <a:rPr lang="en-US" altLang="ko-Kore-KR" sz="1800" i="1">
                          <a:latin typeface="Cambria Math" panose="02040503050406030204" pitchFamily="18" charset="0"/>
                        </a:rPr>
                        <m:t> </m:t>
                      </m:r>
                      <m:sSub>
                        <m:sSubPr>
                          <m:ctrlPr>
                            <a:rPr lang="ko-Kore-KR" altLang="ko-Kore-KR" sz="1800" i="1">
                              <a:latin typeface="Cambria Math" panose="02040503050406030204" pitchFamily="18" charset="0"/>
                            </a:rPr>
                          </m:ctrlPr>
                        </m:sSubPr>
                        <m:e>
                          <m:r>
                            <a:rPr lang="en-US" altLang="ko-Kore-KR" sz="1800" i="1">
                              <a:latin typeface="Cambria Math" panose="02040503050406030204" pitchFamily="18" charset="0"/>
                            </a:rPr>
                            <m:t>h</m:t>
                          </m:r>
                        </m:e>
                        <m:sub>
                          <m:r>
                            <a:rPr lang="en-US" altLang="ko-Kore-KR" sz="1800" i="1">
                              <a:latin typeface="Cambria Math" panose="02040503050406030204" pitchFamily="18" charset="0"/>
                            </a:rPr>
                            <m:t>𝑖</m:t>
                          </m:r>
                        </m:sub>
                      </m:sSub>
                      <m:d>
                        <m:dPr>
                          <m:ctrlPr>
                            <a:rPr lang="ko-Kore-KR" altLang="ko-Kore-KR" sz="1800" i="1">
                              <a:latin typeface="Cambria Math" panose="02040503050406030204" pitchFamily="18" charset="0"/>
                            </a:rPr>
                          </m:ctrlPr>
                        </m:dPr>
                        <m:e>
                          <m:r>
                            <a:rPr lang="en-US" altLang="ko-Kore-KR" sz="1800" i="1">
                              <a:latin typeface="Cambria Math" panose="02040503050406030204" pitchFamily="18" charset="0"/>
                            </a:rPr>
                            <m:t>𝑥</m:t>
                          </m:r>
                        </m:e>
                      </m:d>
                      <m:r>
                        <m:rPr>
                          <m:nor/>
                        </m:rPr>
                        <a:rPr lang="en-US" altLang="ko-Kore-KR" sz="1800"/>
                        <m:t> </m:t>
                      </m:r>
                    </m:oMath>
                  </m:oMathPara>
                </a14:m>
                <a:endParaRPr lang="ko-Kore-KR" altLang="ko-Kore-KR" sz="1800"/>
              </a:p>
              <a:p>
                <a:pPr latinLnBrk="1"/>
                <a14:m>
                  <m:oMathPara xmlns:m="http://schemas.openxmlformats.org/officeDocument/2006/math">
                    <m:oMathParaPr>
                      <m:jc m:val="centerGroup"/>
                    </m:oMathParaPr>
                    <m:oMath xmlns:m="http://schemas.openxmlformats.org/officeDocument/2006/math">
                      <m:r>
                        <m:rPr>
                          <m:nor/>
                        </m:rPr>
                        <a:rPr lang="en-US" altLang="ko-Kore-KR" sz="1800"/>
                        <m:t>s</m:t>
                      </m:r>
                      <m:r>
                        <m:rPr>
                          <m:nor/>
                        </m:rPr>
                        <a:rPr lang="en-US" altLang="ko-Kore-KR" sz="1800"/>
                        <m:t>.</m:t>
                      </m:r>
                      <m:r>
                        <m:rPr>
                          <m:nor/>
                        </m:rPr>
                        <a:rPr lang="en-US" altLang="ko-Kore-KR" sz="1800"/>
                        <m:t>t</m:t>
                      </m:r>
                      <m:r>
                        <m:rPr>
                          <m:nor/>
                        </m:rPr>
                        <a:rPr lang="en-US" altLang="ko-Kore-KR" sz="1800"/>
                        <m:t>. </m:t>
                      </m:r>
                      <m:r>
                        <a:rPr lang="en-US" altLang="ko-Kore-KR" sz="1800" i="1">
                          <a:latin typeface="Cambria Math" panose="02040503050406030204" pitchFamily="18" charset="0"/>
                        </a:rPr>
                        <m:t> </m:t>
                      </m:r>
                      <m:sSub>
                        <m:sSubPr>
                          <m:ctrlPr>
                            <a:rPr lang="ko-Kore-KR" altLang="ko-Kore-KR" sz="1800" i="1">
                              <a:latin typeface="Cambria Math" panose="02040503050406030204" pitchFamily="18" charset="0"/>
                            </a:rPr>
                          </m:ctrlPr>
                        </m:sSubPr>
                        <m:e>
                          <m:r>
                            <a:rPr lang="en-US" altLang="ko-Kore-KR" sz="1800" i="1">
                              <a:latin typeface="Cambria Math" panose="02040503050406030204" pitchFamily="18" charset="0"/>
                            </a:rPr>
                            <m:t>𝑤</m:t>
                          </m:r>
                        </m:e>
                        <m:sub>
                          <m:r>
                            <a:rPr lang="en-US" altLang="ko-Kore-KR" sz="1800" i="1">
                              <a:latin typeface="Cambria Math" panose="02040503050406030204" pitchFamily="18" charset="0"/>
                            </a:rPr>
                            <m:t>𝑖</m:t>
                          </m:r>
                        </m:sub>
                      </m:sSub>
                      <m:r>
                        <a:rPr lang="ko-KR" altLang="ko-Kore-KR" sz="1800">
                          <a:latin typeface="Cambria Math" panose="02040503050406030204" pitchFamily="18" charset="0"/>
                        </a:rPr>
                        <m:t>≥</m:t>
                      </m:r>
                      <m:r>
                        <a:rPr lang="en-US" altLang="ko-Kore-KR" sz="1800" i="1">
                          <a:latin typeface="Cambria Math" panose="02040503050406030204" pitchFamily="18" charset="0"/>
                        </a:rPr>
                        <m:t>0,</m:t>
                      </m:r>
                      <m:r>
                        <a:rPr lang="en-US" altLang="ko-Kore-KR" sz="1800">
                          <a:latin typeface="Cambria Math" panose="02040503050406030204" pitchFamily="18" charset="0"/>
                        </a:rPr>
                        <m:t> </m:t>
                      </m:r>
                      <m:nary>
                        <m:naryPr>
                          <m:chr m:val="∑"/>
                          <m:ctrlPr>
                            <a:rPr lang="ko-Kore-KR" altLang="ko-Kore-KR" sz="1800" i="1">
                              <a:latin typeface="Cambria Math" panose="02040503050406030204" pitchFamily="18" charset="0"/>
                            </a:rPr>
                          </m:ctrlPr>
                        </m:naryPr>
                        <m:sub>
                          <m:r>
                            <a:rPr lang="en-US" altLang="ko-Kore-KR" sz="1800" i="1">
                              <a:latin typeface="Cambria Math" panose="02040503050406030204" pitchFamily="18" charset="0"/>
                            </a:rPr>
                            <m:t>𝑖</m:t>
                          </m:r>
                          <m:r>
                            <a:rPr lang="en-US" altLang="ko-Kore-KR" sz="1800" i="1">
                              <a:latin typeface="Cambria Math" panose="02040503050406030204" pitchFamily="18" charset="0"/>
                            </a:rPr>
                            <m:t>=1</m:t>
                          </m:r>
                        </m:sub>
                        <m:sup>
                          <m:r>
                            <a:rPr lang="en-US" altLang="ko-Kore-KR" sz="1800" i="1">
                              <a:latin typeface="Cambria Math" panose="02040503050406030204" pitchFamily="18" charset="0"/>
                            </a:rPr>
                            <m:t>𝑛</m:t>
                          </m:r>
                        </m:sup>
                        <m:e>
                          <m:sSub>
                            <m:sSubPr>
                              <m:ctrlPr>
                                <a:rPr lang="ko-Kore-KR" altLang="ko-Kore-KR" sz="1800" i="1">
                                  <a:latin typeface="Cambria Math" panose="02040503050406030204" pitchFamily="18" charset="0"/>
                                </a:rPr>
                              </m:ctrlPr>
                            </m:sSubPr>
                            <m:e>
                              <m:r>
                                <a:rPr lang="en-US" altLang="ko-Kore-KR" sz="1800" i="1">
                                  <a:latin typeface="Cambria Math" panose="02040503050406030204" pitchFamily="18" charset="0"/>
                                </a:rPr>
                                <m:t>𝑤</m:t>
                              </m:r>
                            </m:e>
                            <m:sub>
                              <m:r>
                                <a:rPr lang="en-US" altLang="ko-Kore-KR" sz="1800" i="1">
                                  <a:latin typeface="Cambria Math" panose="02040503050406030204" pitchFamily="18" charset="0"/>
                                </a:rPr>
                                <m:t>𝑖</m:t>
                              </m:r>
                            </m:sub>
                          </m:sSub>
                        </m:e>
                      </m:nary>
                      <m:r>
                        <a:rPr lang="en-US" altLang="ko-Kore-KR" sz="1800" i="1">
                          <a:latin typeface="Cambria Math" panose="02040503050406030204" pitchFamily="18" charset="0"/>
                        </a:rPr>
                        <m:t>=1</m:t>
                      </m:r>
                    </m:oMath>
                  </m:oMathPara>
                </a14:m>
                <a:endParaRPr lang="ko-Kore-KR" altLang="ko-Kore-KR" sz="1800"/>
              </a:p>
            </p:txBody>
          </p:sp>
        </mc:Choice>
        <mc:Fallback xmlns="">
          <p:sp>
            <p:nvSpPr>
              <p:cNvPr id="4" name="文本框 3"/>
              <p:cNvSpPr txBox="1">
                <a:spLocks noRot="1" noChangeAspect="1" noMove="1" noResize="1" noEditPoints="1" noAdjustHandles="1" noChangeArrowheads="1" noChangeShapeType="1" noTextEdit="1"/>
              </p:cNvSpPr>
              <p:nvPr/>
            </p:nvSpPr>
            <p:spPr>
              <a:xfrm>
                <a:off x="460375" y="1459085"/>
                <a:ext cx="11341197" cy="4775025"/>
              </a:xfrm>
              <a:prstGeom prst="rect">
                <a:avLst/>
              </a:prstGeom>
              <a:blipFill>
                <a:blip r:embed="rId3"/>
                <a:stretch>
                  <a:fillRect l="-895" t="-1058" r="-112" b="-26455"/>
                </a:stretch>
              </a:blipFill>
            </p:spPr>
            <p:txBody>
              <a:bodyPr/>
              <a:lstStyle/>
              <a:p>
                <a:r>
                  <a:rPr lang="ko-Kore-KR" altLang="en-US">
                    <a:noFill/>
                  </a:rPr>
                  <a:t> </a:t>
                </a:r>
              </a:p>
            </p:txBody>
          </p:sp>
        </mc:Fallback>
      </mc:AlternateContent>
      <p:sp>
        <p:nvSpPr>
          <p:cNvPr id="2" name="文本框 22">
            <a:extLst>
              <a:ext uri="{FF2B5EF4-FFF2-40B4-BE49-F238E27FC236}">
                <a16:creationId xmlns:a16="http://schemas.microsoft.com/office/drawing/2014/main" id="{C596C7BD-A846-0445-9A20-B765A9481032}"/>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r>
              <a:rPr lang="zh-CN" altLang="en-US" sz="3600" dirty="0">
                <a:latin typeface="KaiTi" panose="02010609060101010101" pitchFamily="49" charset="-122"/>
                <a:ea typeface="KaiTi" panose="02010609060101010101" pitchFamily="49" charset="-122"/>
              </a:rPr>
              <a:t>（</a:t>
            </a:r>
            <a:r>
              <a:rPr lang="en" altLang="zh-CN" sz="3600" dirty="0">
                <a:latin typeface="KaiTi" panose="02010609060101010101" pitchFamily="49" charset="-122"/>
                <a:ea typeface="KaiTi" panose="02010609060101010101" pitchFamily="49" charset="-122"/>
              </a:rPr>
              <a:t>Ensemble learning</a:t>
            </a:r>
            <a:r>
              <a:rPr lang="zh-CN" altLang="en" sz="360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179553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4" name="文本框 3"/>
              <p:cNvSpPr txBox="1"/>
              <p:nvPr/>
            </p:nvSpPr>
            <p:spPr>
              <a:xfrm>
                <a:off x="460375" y="1459085"/>
                <a:ext cx="11341197" cy="1697644"/>
              </a:xfrm>
              <a:prstGeom prst="rect">
                <a:avLst/>
              </a:prstGeom>
              <a:noFill/>
            </p:spPr>
            <p:txBody>
              <a:bodyPr wrap="square" rtlCol="0">
                <a:spAutoFit/>
              </a:bodyPr>
              <a:lstStyle/>
              <a:p>
                <a:pPr lvl="0"/>
                <a:r>
                  <a:rPr lang="zh-CN" altLang="en-US" sz="2400" b="1" dirty="0">
                    <a:latin typeface="KaiTi" panose="02010609060101010101" pitchFamily="49" charset="-122"/>
                    <a:ea typeface="KaiTi" panose="02010609060101010101" pitchFamily="49" charset="-122"/>
                  </a:rPr>
                  <a:t>结合策略</a:t>
                </a:r>
                <a:r>
                  <a:rPr lang="ko-KR" altLang="en-US" b="1" dirty="0">
                    <a:latin typeface="KaiTi" panose="02010609060101010101" pitchFamily="49" charset="-122"/>
                    <a:ea typeface="KaiTi" panose="02010609060101010101" pitchFamily="49" charset="-122"/>
                  </a:rPr>
                  <a:t> </a:t>
                </a:r>
                <a:r>
                  <a:rPr lang="en-US" altLang="ko-KR" b="1" dirty="0">
                    <a:latin typeface="KaiTi" panose="02010609060101010101" pitchFamily="49" charset="-122"/>
                    <a:ea typeface="KaiTi" panose="02010609060101010101" pitchFamily="49" charset="-122"/>
                  </a:rPr>
                  <a:t>–</a:t>
                </a:r>
                <a:r>
                  <a:rPr lang="ko-KR" altLang="en-US" b="1" dirty="0">
                    <a:latin typeface="KaiTi" panose="02010609060101010101" pitchFamily="49" charset="-122"/>
                    <a:ea typeface="KaiTi" panose="02010609060101010101" pitchFamily="49" charset="-122"/>
                  </a:rPr>
                  <a:t> 投票法</a:t>
                </a:r>
                <a:endParaRPr lang="en-US" altLang="zh-CN" sz="2400" b="1" dirty="0">
                  <a:latin typeface="KaiTi" panose="02010609060101010101" pitchFamily="49" charset="-122"/>
                  <a:ea typeface="KaiTi" panose="02010609060101010101" pitchFamily="49" charset="-122"/>
                </a:endParaRPr>
              </a:p>
              <a:p>
                <a:pPr lvl="0"/>
                <a:endParaRPr lang="en-US" altLang="zh-CN" sz="2000" dirty="0">
                  <a:latin typeface="KaiTi" panose="02010609060101010101" pitchFamily="49" charset="-122"/>
                  <a:ea typeface="KaiTi" panose="02010609060101010101" pitchFamily="49" charset="-122"/>
                </a:endParaRPr>
              </a:p>
              <a:p>
                <a:pPr lvl="0"/>
                <a:r>
                  <a:rPr lang="ko-KR" altLang="en-US" sz="2000" dirty="0">
                    <a:latin typeface="KaiTi" panose="02010609060101010101" pitchFamily="49" charset="-122"/>
                    <a:ea typeface="KaiTi" panose="02010609060101010101" pitchFamily="49" charset="-122"/>
                  </a:rPr>
                  <a:t>对于分类问题的预测，我们通常使用的是投票法。假设我们的预测类别是</a:t>
                </a:r>
                <a:r>
                  <a:rPr lang="zh-CN" altLang="en-US" sz="2000" dirty="0">
                    <a:latin typeface="KaiTi" panose="02010609060101010101" pitchFamily="49" charset="-122"/>
                    <a:ea typeface="KaiTi" panose="02010609060101010101" pitchFamily="49" charset="-122"/>
                  </a:rPr>
                  <a:t> </a:t>
                </a:r>
                <a14:m>
                  <m:oMath xmlns:m="http://schemas.openxmlformats.org/officeDocument/2006/math">
                    <m:r>
                      <m:rPr>
                        <m:lit/>
                      </m:rP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m:t>
                    </m:r>
                    <m:sSub>
                      <m:sSub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𝑐</m:t>
                        </m:r>
                      </m:e>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1</m:t>
                        </m:r>
                      </m:sub>
                    </m:s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m:t>
                    </m:r>
                    <m:sSub>
                      <m:sSub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𝑐</m:t>
                        </m:r>
                      </m:e>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2</m:t>
                        </m:r>
                      </m:sub>
                    </m:s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m:t>
                    </m:r>
                    <m:r>
                      <a:rPr lang="zh-CN" altLang="ko-Kore-KR" sz="1800" kern="1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m:t>
                    </m:r>
                    <m:sSub>
                      <m:sSub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𝑐</m:t>
                        </m:r>
                      </m:e>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𝐾</m:t>
                        </m:r>
                      </m:sub>
                    </m:sSub>
                    <m:r>
                      <m:rPr>
                        <m:lit/>
                      </m:rP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m:t>
                    </m:r>
                  </m:oMath>
                </a14:m>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a:p>
                <a:pPr lvl="0"/>
                <a:endParaRPr lang="en-US" altLang="zh-CN" sz="2000" dirty="0">
                  <a:latin typeface="KaiTi" panose="02010609060101010101" pitchFamily="49" charset="-122"/>
                  <a:ea typeface="KaiTi" panose="02010609060101010101" pitchFamily="49" charset="-122"/>
                </a:endParaRPr>
              </a:p>
              <a:p>
                <a:r>
                  <a:rPr lang="ko-KR" altLang="en-US" sz="2000" dirty="0">
                    <a:latin typeface="KaiTi" panose="02010609060101010101" pitchFamily="49" charset="-122"/>
                    <a:ea typeface="KaiTi" panose="02010609060101010101" pitchFamily="49" charset="-122"/>
                  </a:rPr>
                  <a:t>对于任意一个预测样本</a:t>
                </a:r>
                <a:r>
                  <a:rPr lang="en" altLang="ko-KR" sz="2000" dirty="0">
                    <a:latin typeface="KaiTi" panose="02010609060101010101" pitchFamily="49" charset="-122"/>
                    <a:ea typeface="KaiTi" panose="02010609060101010101" pitchFamily="49" charset="-122"/>
                  </a:rPr>
                  <a:t>x</a:t>
                </a:r>
                <a:r>
                  <a:rPr lang="ko-KR" altLang="en" sz="2000" dirty="0">
                    <a:latin typeface="KaiTi" panose="02010609060101010101" pitchFamily="49" charset="-122"/>
                    <a:ea typeface="KaiTi" panose="02010609060101010101" pitchFamily="49" charset="-122"/>
                  </a:rPr>
                  <a:t>，</a:t>
                </a:r>
                <a:r>
                  <a:rPr lang="ko-KR" altLang="en-US" sz="2000" dirty="0">
                    <a:latin typeface="KaiTi" panose="02010609060101010101" pitchFamily="49" charset="-122"/>
                    <a:ea typeface="KaiTi" panose="02010609060101010101" pitchFamily="49" charset="-122"/>
                  </a:rPr>
                  <a:t>我们的</a:t>
                </a:r>
                <a:r>
                  <a:rPr lang="en" altLang="ko-KR" sz="2000" dirty="0">
                    <a:latin typeface="KaiTi" panose="02010609060101010101" pitchFamily="49" charset="-122"/>
                    <a:ea typeface="KaiTi" panose="02010609060101010101" pitchFamily="49" charset="-122"/>
                  </a:rPr>
                  <a:t>n</a:t>
                </a:r>
                <a:r>
                  <a:rPr lang="ko-KR" altLang="en-US" sz="2000" dirty="0">
                    <a:latin typeface="KaiTi" panose="02010609060101010101" pitchFamily="49" charset="-122"/>
                    <a:ea typeface="KaiTi" panose="02010609060101010101" pitchFamily="49" charset="-122"/>
                  </a:rPr>
                  <a:t>个弱学习器的预测结果分别是</a:t>
                </a:r>
                <a14:m>
                  <m:oMath xmlns:m="http://schemas.openxmlformats.org/officeDocument/2006/math">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h</m:t>
                            </m:r>
                          </m:e>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1</m:t>
                            </m:r>
                          </m:sub>
                        </m:sSub>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d>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 </m:t>
                        </m:r>
                        <m:sSub>
                          <m:sSub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h</m:t>
                            </m:r>
                          </m:e>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2</m:t>
                            </m:r>
                          </m:sub>
                        </m:sSub>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d>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 </m:t>
                        </m:r>
                        <m:r>
                          <a:rPr lang="zh-CN" altLang="ko-Kore-KR" sz="1800" kern="1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 </m:t>
                        </m:r>
                        <m:sSub>
                          <m:sSub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h</m:t>
                            </m:r>
                          </m:e>
                          <m:sub>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𝑛</m:t>
                            </m:r>
                          </m:sub>
                        </m:sSub>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8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d>
                      </m:e>
                    </m:d>
                  </m:oMath>
                </a14:m>
                <a:endParaRPr lang="en-US" altLang="ko-Kore-KR" sz="1800" kern="100">
                  <a:effectLst/>
                  <a:latin typeface="KaiTi" panose="02010609060101010101" pitchFamily="49" charset="-122"/>
                  <a:ea typeface="맑은 고딕" panose="020B0503020000020004" pitchFamily="34" charset="-127"/>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460375" y="1459085"/>
                <a:ext cx="11341197" cy="1697644"/>
              </a:xfrm>
              <a:prstGeom prst="rect">
                <a:avLst/>
              </a:prstGeom>
              <a:blipFill>
                <a:blip r:embed="rId3"/>
                <a:stretch>
                  <a:fillRect l="-895" t="-2963" b="-3704"/>
                </a:stretch>
              </a:blipFill>
            </p:spPr>
            <p:txBody>
              <a:bodyPr/>
              <a:lstStyle/>
              <a:p>
                <a:r>
                  <a:rPr lang="ko-Kore-KR" altLang="en-US">
                    <a:noFill/>
                  </a:rPr>
                  <a:t> </a:t>
                </a:r>
              </a:p>
            </p:txBody>
          </p:sp>
        </mc:Fallback>
      </mc:AlternateContent>
      <p:sp>
        <p:nvSpPr>
          <p:cNvPr id="2" name="文本框 22">
            <a:extLst>
              <a:ext uri="{FF2B5EF4-FFF2-40B4-BE49-F238E27FC236}">
                <a16:creationId xmlns:a16="http://schemas.microsoft.com/office/drawing/2014/main" id="{C596C7BD-A846-0445-9A20-B765A9481032}"/>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r>
              <a:rPr lang="zh-CN" altLang="en-US" sz="3600" dirty="0">
                <a:latin typeface="KaiTi" panose="02010609060101010101" pitchFamily="49" charset="-122"/>
                <a:ea typeface="KaiTi" panose="02010609060101010101" pitchFamily="49" charset="-122"/>
              </a:rPr>
              <a:t>（</a:t>
            </a:r>
            <a:r>
              <a:rPr lang="en" altLang="zh-CN" sz="3600" dirty="0">
                <a:latin typeface="KaiTi" panose="02010609060101010101" pitchFamily="49" charset="-122"/>
                <a:ea typeface="KaiTi" panose="02010609060101010101" pitchFamily="49" charset="-122"/>
              </a:rPr>
              <a:t>Ensemble learning</a:t>
            </a:r>
            <a:r>
              <a:rPr lang="zh-CN" altLang="en" sz="3600"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
        <p:nvSpPr>
          <p:cNvPr id="3" name="文本框 3">
            <a:extLst>
              <a:ext uri="{FF2B5EF4-FFF2-40B4-BE49-F238E27FC236}">
                <a16:creationId xmlns:a16="http://schemas.microsoft.com/office/drawing/2014/main" id="{ADBDB065-7C3D-281B-B80D-C5EDA1B5E729}"/>
              </a:ext>
            </a:extLst>
          </p:cNvPr>
          <p:cNvSpPr txBox="1"/>
          <p:nvPr/>
        </p:nvSpPr>
        <p:spPr>
          <a:xfrm>
            <a:off x="425401" y="3429000"/>
            <a:ext cx="11341197" cy="1405193"/>
          </a:xfrm>
          <a:prstGeom prst="rect">
            <a:avLst/>
          </a:prstGeom>
          <a:noFill/>
        </p:spPr>
        <p:txBody>
          <a:bodyPr wrap="square" rtlCol="0">
            <a:spAutoFit/>
          </a:bodyPr>
          <a:lstStyle/>
          <a:p>
            <a:pPr lvl="0">
              <a:lnSpc>
                <a:spcPct val="150000"/>
              </a:lnSpc>
            </a:pPr>
            <a:r>
              <a:rPr lang="ko-KR" altLang="en-US" sz="2000" dirty="0">
                <a:latin typeface="KaiTi" panose="02010609060101010101" pitchFamily="49" charset="-122"/>
                <a:ea typeface="KaiTi" panose="02010609060101010101" pitchFamily="49" charset="-122"/>
              </a:rPr>
              <a:t>投票法最简单的投票法是相对多数投票法，也就是我们常说的少数服从多数，也就是</a:t>
            </a:r>
            <a:r>
              <a:rPr lang="en" altLang="ko-KR" sz="2000" dirty="0">
                <a:latin typeface="KaiTi" panose="02010609060101010101" pitchFamily="49" charset="-122"/>
                <a:ea typeface="KaiTi" panose="02010609060101010101" pitchFamily="49" charset="-122"/>
              </a:rPr>
              <a:t>n</a:t>
            </a:r>
            <a:r>
              <a:rPr lang="ko-KR" altLang="en-US" sz="2000" dirty="0">
                <a:latin typeface="KaiTi" panose="02010609060101010101" pitchFamily="49" charset="-122"/>
                <a:ea typeface="KaiTi" panose="02010609060101010101" pitchFamily="49" charset="-122"/>
              </a:rPr>
              <a:t>个弱学习器的对样本</a:t>
            </a:r>
            <a:r>
              <a:rPr lang="en" altLang="ko-KR" sz="2000" dirty="0">
                <a:latin typeface="KaiTi" panose="02010609060101010101" pitchFamily="49" charset="-122"/>
                <a:ea typeface="KaiTi" panose="02010609060101010101" pitchFamily="49" charset="-122"/>
              </a:rPr>
              <a:t>x</a:t>
            </a:r>
            <a:r>
              <a:rPr lang="ko-KR" altLang="en-US" sz="2000" dirty="0">
                <a:latin typeface="KaiTi" panose="02010609060101010101" pitchFamily="49" charset="-122"/>
                <a:ea typeface="KaiTi" panose="02010609060101010101" pitchFamily="49" charset="-122"/>
              </a:rPr>
              <a:t>的预测结果中，数量最多的类别为最终的分类类别。如果不止一个类别获得最高票，则随机选择一个做 最终类别</a:t>
            </a:r>
            <a:endParaRPr lang="en-US" altLang="zh-CN" sz="20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167448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6" name="文本框 22">
            <a:extLst>
              <a:ext uri="{FF2B5EF4-FFF2-40B4-BE49-F238E27FC236}">
                <a16:creationId xmlns:a16="http://schemas.microsoft.com/office/drawing/2014/main" id="{52B707EB-3944-480A-BCD3-A2B1DBF1D951}"/>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p>
        </p:txBody>
      </p:sp>
      <p:grpSp>
        <p:nvGrpSpPr>
          <p:cNvPr id="43" name="组合 42">
            <a:extLst>
              <a:ext uri="{FF2B5EF4-FFF2-40B4-BE49-F238E27FC236}">
                <a16:creationId xmlns:a16="http://schemas.microsoft.com/office/drawing/2014/main" id="{CBB45656-FBD6-4A60-8D6D-A3E4250E973C}"/>
              </a:ext>
            </a:extLst>
          </p:cNvPr>
          <p:cNvGrpSpPr/>
          <p:nvPr/>
        </p:nvGrpSpPr>
        <p:grpSpPr>
          <a:xfrm>
            <a:off x="995363" y="3767138"/>
            <a:ext cx="9560745" cy="2608275"/>
            <a:chOff x="349144" y="2713049"/>
            <a:chExt cx="11516704" cy="3843339"/>
          </a:xfrm>
        </p:grpSpPr>
        <p:sp>
          <p:nvSpPr>
            <p:cNvPr id="7" name="矩形: 圆角 6">
              <a:extLst>
                <a:ext uri="{FF2B5EF4-FFF2-40B4-BE49-F238E27FC236}">
                  <a16:creationId xmlns:a16="http://schemas.microsoft.com/office/drawing/2014/main" id="{ACA19187-D32B-46C0-9A45-09051BED9F22}"/>
                </a:ext>
              </a:extLst>
            </p:cNvPr>
            <p:cNvSpPr/>
            <p:nvPr/>
          </p:nvSpPr>
          <p:spPr>
            <a:xfrm>
              <a:off x="4489278" y="2713049"/>
              <a:ext cx="1905000" cy="38433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p:sp>
          <p:nvSpPr>
            <p:cNvPr id="8" name="Google Shape;3379;p54">
              <a:extLst>
                <a:ext uri="{FF2B5EF4-FFF2-40B4-BE49-F238E27FC236}">
                  <a16:creationId xmlns:a16="http://schemas.microsoft.com/office/drawing/2014/main" id="{5C92145B-91A3-4302-997D-3C95D929B680}"/>
                </a:ext>
              </a:extLst>
            </p:cNvPr>
            <p:cNvSpPr/>
            <p:nvPr/>
          </p:nvSpPr>
          <p:spPr>
            <a:xfrm>
              <a:off x="2303478" y="57561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模型</a:t>
              </a:r>
              <a:r>
                <a:rPr lang="en-US" altLang="zh-CN" sz="2000" dirty="0">
                  <a:latin typeface="KaiTi" panose="02010609060101010101" pitchFamily="49" charset="-122"/>
                  <a:ea typeface="KaiTi" panose="02010609060101010101" pitchFamily="49" charset="-122"/>
                </a:rPr>
                <a:t>n</a:t>
              </a:r>
              <a:endParaRPr sz="2000" dirty="0">
                <a:latin typeface="KaiTi" panose="02010609060101010101" pitchFamily="49" charset="-122"/>
                <a:ea typeface="KaiTi" panose="02010609060101010101" pitchFamily="49" charset="-122"/>
              </a:endParaRPr>
            </a:p>
          </p:txBody>
        </p:sp>
        <p:sp>
          <p:nvSpPr>
            <p:cNvPr id="9" name="Google Shape;3381;p54">
              <a:extLst>
                <a:ext uri="{FF2B5EF4-FFF2-40B4-BE49-F238E27FC236}">
                  <a16:creationId xmlns:a16="http://schemas.microsoft.com/office/drawing/2014/main" id="{5860F1BE-6A6C-47C3-9673-59F731A9D049}"/>
                </a:ext>
              </a:extLst>
            </p:cNvPr>
            <p:cNvSpPr/>
            <p:nvPr/>
          </p:nvSpPr>
          <p:spPr>
            <a:xfrm>
              <a:off x="2303478" y="4778274"/>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000" dirty="0">
                  <a:latin typeface="KaiTi" panose="02010609060101010101" pitchFamily="49" charset="-122"/>
                  <a:ea typeface="KaiTi" panose="02010609060101010101" pitchFamily="49" charset="-122"/>
                </a:rPr>
                <a:t>……</a:t>
              </a:r>
              <a:endParaRPr sz="2000" dirty="0">
                <a:latin typeface="KaiTi" panose="02010609060101010101" pitchFamily="49" charset="-122"/>
                <a:ea typeface="KaiTi" panose="02010609060101010101" pitchFamily="49" charset="-122"/>
              </a:endParaRPr>
            </a:p>
          </p:txBody>
        </p:sp>
        <p:sp>
          <p:nvSpPr>
            <p:cNvPr id="10" name="Google Shape;3382;p54">
              <a:extLst>
                <a:ext uri="{FF2B5EF4-FFF2-40B4-BE49-F238E27FC236}">
                  <a16:creationId xmlns:a16="http://schemas.microsoft.com/office/drawing/2014/main" id="{1136C683-BAF9-4224-ADA9-C24B7096DC00}"/>
                </a:ext>
              </a:extLst>
            </p:cNvPr>
            <p:cNvSpPr/>
            <p:nvPr/>
          </p:nvSpPr>
          <p:spPr>
            <a:xfrm>
              <a:off x="2303478" y="290096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模型</a:t>
              </a:r>
              <a:r>
                <a:rPr lang="en-US" altLang="zh-CN" sz="2000" dirty="0">
                  <a:latin typeface="KaiTi" panose="02010609060101010101" pitchFamily="49" charset="-122"/>
                  <a:ea typeface="KaiTi" panose="02010609060101010101" pitchFamily="49" charset="-122"/>
                </a:rPr>
                <a:t>1</a:t>
              </a:r>
              <a:endParaRPr sz="2000" dirty="0">
                <a:latin typeface="KaiTi" panose="02010609060101010101" pitchFamily="49" charset="-122"/>
                <a:ea typeface="KaiTi" panose="02010609060101010101" pitchFamily="49" charset="-122"/>
              </a:endParaRPr>
            </a:p>
          </p:txBody>
        </p:sp>
        <p:sp>
          <p:nvSpPr>
            <p:cNvPr id="11" name="Google Shape;3383;p54">
              <a:extLst>
                <a:ext uri="{FF2B5EF4-FFF2-40B4-BE49-F238E27FC236}">
                  <a16:creationId xmlns:a16="http://schemas.microsoft.com/office/drawing/2014/main" id="{9496869B-43EC-4532-92E9-2DEB33124ED3}"/>
                </a:ext>
              </a:extLst>
            </p:cNvPr>
            <p:cNvSpPr/>
            <p:nvPr/>
          </p:nvSpPr>
          <p:spPr>
            <a:xfrm>
              <a:off x="2303478" y="38465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模型</a:t>
              </a:r>
              <a:r>
                <a:rPr lang="en-US" altLang="zh-CN" sz="2000" dirty="0">
                  <a:latin typeface="KaiTi" panose="02010609060101010101" pitchFamily="49" charset="-122"/>
                  <a:ea typeface="KaiTi" panose="02010609060101010101" pitchFamily="49" charset="-122"/>
                </a:rPr>
                <a:t>2</a:t>
              </a:r>
              <a:endParaRPr sz="2000" dirty="0">
                <a:latin typeface="KaiTi" panose="02010609060101010101" pitchFamily="49" charset="-122"/>
                <a:ea typeface="KaiTi" panose="02010609060101010101" pitchFamily="49" charset="-122"/>
              </a:endParaRPr>
            </a:p>
          </p:txBody>
        </p:sp>
        <p:cxnSp>
          <p:nvCxnSpPr>
            <p:cNvPr id="12" name="Google Shape;3386;p54">
              <a:extLst>
                <a:ext uri="{FF2B5EF4-FFF2-40B4-BE49-F238E27FC236}">
                  <a16:creationId xmlns:a16="http://schemas.microsoft.com/office/drawing/2014/main" id="{CEFDA0E0-56E0-4886-9292-1D95D25DB343}"/>
                </a:ext>
              </a:extLst>
            </p:cNvPr>
            <p:cNvCxnSpPr>
              <a:cxnSpLocks/>
              <a:endCxn id="9" idx="1"/>
            </p:cNvCxnSpPr>
            <p:nvPr/>
          </p:nvCxnSpPr>
          <p:spPr>
            <a:xfrm>
              <a:off x="1198757" y="4453248"/>
              <a:ext cx="1104721" cy="651426"/>
            </a:xfrm>
            <a:prstGeom prst="straightConnector1">
              <a:avLst/>
            </a:prstGeom>
            <a:noFill/>
            <a:ln w="19050" cap="flat" cmpd="sng">
              <a:solidFill>
                <a:schemeClr val="dk2"/>
              </a:solidFill>
              <a:prstDash val="solid"/>
              <a:round/>
              <a:headEnd type="none" w="med" len="med"/>
              <a:tailEnd type="triangle" w="med" len="med"/>
            </a:ln>
          </p:spPr>
        </p:cxnSp>
        <p:cxnSp>
          <p:nvCxnSpPr>
            <p:cNvPr id="13" name="Google Shape;3387;p54">
              <a:extLst>
                <a:ext uri="{FF2B5EF4-FFF2-40B4-BE49-F238E27FC236}">
                  <a16:creationId xmlns:a16="http://schemas.microsoft.com/office/drawing/2014/main" id="{64C7C5C0-E3A6-4ABE-BA9E-E0E02782C35D}"/>
                </a:ext>
              </a:extLst>
            </p:cNvPr>
            <p:cNvCxnSpPr>
              <a:cxnSpLocks/>
              <a:endCxn id="10" idx="1"/>
            </p:cNvCxnSpPr>
            <p:nvPr/>
          </p:nvCxnSpPr>
          <p:spPr>
            <a:xfrm flipV="1">
              <a:off x="1198757" y="3227363"/>
              <a:ext cx="1104721" cy="1225885"/>
            </a:xfrm>
            <a:prstGeom prst="straightConnector1">
              <a:avLst/>
            </a:prstGeom>
            <a:noFill/>
            <a:ln w="19050" cap="flat" cmpd="sng">
              <a:solidFill>
                <a:schemeClr val="dk2"/>
              </a:solidFill>
              <a:prstDash val="solid"/>
              <a:round/>
              <a:headEnd type="none" w="med" len="med"/>
              <a:tailEnd type="triangle" w="med" len="med"/>
            </a:ln>
          </p:spPr>
        </p:cxnSp>
        <p:cxnSp>
          <p:nvCxnSpPr>
            <p:cNvPr id="14" name="Google Shape;3388;p54">
              <a:extLst>
                <a:ext uri="{FF2B5EF4-FFF2-40B4-BE49-F238E27FC236}">
                  <a16:creationId xmlns:a16="http://schemas.microsoft.com/office/drawing/2014/main" id="{6E039011-2F31-47AD-B6ED-FF2E1EB58D75}"/>
                </a:ext>
              </a:extLst>
            </p:cNvPr>
            <p:cNvCxnSpPr>
              <a:cxnSpLocks/>
              <a:endCxn id="8" idx="1"/>
            </p:cNvCxnSpPr>
            <p:nvPr/>
          </p:nvCxnSpPr>
          <p:spPr>
            <a:xfrm>
              <a:off x="1198757" y="4453248"/>
              <a:ext cx="1104721" cy="1629252"/>
            </a:xfrm>
            <a:prstGeom prst="straightConnector1">
              <a:avLst/>
            </a:prstGeom>
            <a:noFill/>
            <a:ln w="19050" cap="flat" cmpd="sng">
              <a:solidFill>
                <a:schemeClr val="dk2"/>
              </a:solidFill>
              <a:prstDash val="solid"/>
              <a:round/>
              <a:headEnd type="none" w="med" len="med"/>
              <a:tailEnd type="triangle" w="med" len="med"/>
            </a:ln>
          </p:spPr>
        </p:cxnSp>
        <p:cxnSp>
          <p:nvCxnSpPr>
            <p:cNvPr id="15" name="Google Shape;3386;p54">
              <a:extLst>
                <a:ext uri="{FF2B5EF4-FFF2-40B4-BE49-F238E27FC236}">
                  <a16:creationId xmlns:a16="http://schemas.microsoft.com/office/drawing/2014/main" id="{288FA462-93E7-430B-908A-16D362C9B9C6}"/>
                </a:ext>
              </a:extLst>
            </p:cNvPr>
            <p:cNvCxnSpPr>
              <a:cxnSpLocks/>
            </p:cNvCxnSpPr>
            <p:nvPr/>
          </p:nvCxnSpPr>
          <p:spPr>
            <a:xfrm flipV="1">
              <a:off x="1198757" y="4228003"/>
              <a:ext cx="1108926" cy="228702"/>
            </a:xfrm>
            <a:prstGeom prst="straightConnector1">
              <a:avLst/>
            </a:prstGeom>
            <a:noFill/>
            <a:ln w="19050" cap="flat" cmpd="sng">
              <a:solidFill>
                <a:schemeClr val="dk2"/>
              </a:solidFill>
              <a:prstDash val="solid"/>
              <a:round/>
              <a:headEnd type="none" w="med" len="med"/>
              <a:tailEnd type="triangle" w="med" len="med"/>
            </a:ln>
          </p:spPr>
        </p:cxnSp>
        <p:sp>
          <p:nvSpPr>
            <p:cNvPr id="16" name="Google Shape;3379;p54">
              <a:extLst>
                <a:ext uri="{FF2B5EF4-FFF2-40B4-BE49-F238E27FC236}">
                  <a16:creationId xmlns:a16="http://schemas.microsoft.com/office/drawing/2014/main" id="{261BF695-2F2C-4656-839E-8E9AB1AC663A}"/>
                </a:ext>
              </a:extLst>
            </p:cNvPr>
            <p:cNvSpPr/>
            <p:nvPr/>
          </p:nvSpPr>
          <p:spPr>
            <a:xfrm>
              <a:off x="4694253" y="5756100"/>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预测</a:t>
              </a:r>
              <a:r>
                <a:rPr lang="en-US" altLang="zh-CN" sz="2000" dirty="0">
                  <a:latin typeface="KaiTi" panose="02010609060101010101" pitchFamily="49" charset="-122"/>
                  <a:ea typeface="KaiTi" panose="02010609060101010101" pitchFamily="49" charset="-122"/>
                </a:rPr>
                <a:t>n</a:t>
              </a:r>
              <a:endParaRPr sz="2000" dirty="0">
                <a:latin typeface="KaiTi" panose="02010609060101010101" pitchFamily="49" charset="-122"/>
                <a:ea typeface="KaiTi" panose="02010609060101010101" pitchFamily="49" charset="-122"/>
              </a:endParaRPr>
            </a:p>
          </p:txBody>
        </p:sp>
        <p:sp>
          <p:nvSpPr>
            <p:cNvPr id="17" name="Google Shape;3381;p54">
              <a:extLst>
                <a:ext uri="{FF2B5EF4-FFF2-40B4-BE49-F238E27FC236}">
                  <a16:creationId xmlns:a16="http://schemas.microsoft.com/office/drawing/2014/main" id="{36C11119-DF8E-4AA9-A25A-9FF7A1675202}"/>
                </a:ext>
              </a:extLst>
            </p:cNvPr>
            <p:cNvSpPr/>
            <p:nvPr/>
          </p:nvSpPr>
          <p:spPr>
            <a:xfrm>
              <a:off x="4694253" y="4778274"/>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2000" dirty="0">
                  <a:latin typeface="KaiTi" panose="02010609060101010101" pitchFamily="49" charset="-122"/>
                  <a:ea typeface="KaiTi" panose="02010609060101010101" pitchFamily="49" charset="-122"/>
                </a:rPr>
                <a:t>……</a:t>
              </a:r>
              <a:endParaRPr sz="2000" dirty="0">
                <a:latin typeface="KaiTi" panose="02010609060101010101" pitchFamily="49" charset="-122"/>
                <a:ea typeface="KaiTi" panose="02010609060101010101" pitchFamily="49" charset="-122"/>
              </a:endParaRPr>
            </a:p>
          </p:txBody>
        </p:sp>
        <p:sp>
          <p:nvSpPr>
            <p:cNvPr id="18" name="Google Shape;3382;p54">
              <a:extLst>
                <a:ext uri="{FF2B5EF4-FFF2-40B4-BE49-F238E27FC236}">
                  <a16:creationId xmlns:a16="http://schemas.microsoft.com/office/drawing/2014/main" id="{6010C701-6A2B-4906-B55C-5F9580053C8D}"/>
                </a:ext>
              </a:extLst>
            </p:cNvPr>
            <p:cNvSpPr/>
            <p:nvPr/>
          </p:nvSpPr>
          <p:spPr>
            <a:xfrm>
              <a:off x="4694253" y="2900963"/>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预测</a:t>
              </a:r>
              <a:r>
                <a:rPr lang="en-US" altLang="zh-CN" sz="2000" dirty="0">
                  <a:latin typeface="KaiTi" panose="02010609060101010101" pitchFamily="49" charset="-122"/>
                  <a:ea typeface="KaiTi" panose="02010609060101010101" pitchFamily="49" charset="-122"/>
                </a:rPr>
                <a:t>1</a:t>
              </a:r>
              <a:endParaRPr sz="2000" dirty="0">
                <a:latin typeface="KaiTi" panose="02010609060101010101" pitchFamily="49" charset="-122"/>
                <a:ea typeface="KaiTi" panose="02010609060101010101" pitchFamily="49" charset="-122"/>
              </a:endParaRPr>
            </a:p>
          </p:txBody>
        </p:sp>
        <p:sp>
          <p:nvSpPr>
            <p:cNvPr id="19" name="Google Shape;3383;p54">
              <a:extLst>
                <a:ext uri="{FF2B5EF4-FFF2-40B4-BE49-F238E27FC236}">
                  <a16:creationId xmlns:a16="http://schemas.microsoft.com/office/drawing/2014/main" id="{68380E85-B309-432F-8C41-3C9A059726AA}"/>
                </a:ext>
              </a:extLst>
            </p:cNvPr>
            <p:cNvSpPr/>
            <p:nvPr/>
          </p:nvSpPr>
          <p:spPr>
            <a:xfrm>
              <a:off x="4694253" y="3846525"/>
              <a:ext cx="1496400" cy="6528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预测</a:t>
              </a:r>
              <a:r>
                <a:rPr lang="en-US" altLang="zh-CN" sz="2000" dirty="0">
                  <a:latin typeface="KaiTi" panose="02010609060101010101" pitchFamily="49" charset="-122"/>
                  <a:ea typeface="KaiTi" panose="02010609060101010101" pitchFamily="49" charset="-122"/>
                </a:rPr>
                <a:t>2</a:t>
              </a:r>
              <a:endParaRPr sz="2000" dirty="0">
                <a:latin typeface="KaiTi" panose="02010609060101010101" pitchFamily="49" charset="-122"/>
                <a:ea typeface="KaiTi" panose="02010609060101010101" pitchFamily="49" charset="-122"/>
              </a:endParaRPr>
            </a:p>
          </p:txBody>
        </p:sp>
        <p:cxnSp>
          <p:nvCxnSpPr>
            <p:cNvPr id="20" name="Google Shape;3386;p54">
              <a:extLst>
                <a:ext uri="{FF2B5EF4-FFF2-40B4-BE49-F238E27FC236}">
                  <a16:creationId xmlns:a16="http://schemas.microsoft.com/office/drawing/2014/main" id="{BF5C5D19-07CF-48C1-9B28-B369073FC0DF}"/>
                </a:ext>
              </a:extLst>
            </p:cNvPr>
            <p:cNvCxnSpPr>
              <a:cxnSpLocks/>
              <a:stCxn id="10" idx="3"/>
              <a:endCxn id="18" idx="1"/>
            </p:cNvCxnSpPr>
            <p:nvPr/>
          </p:nvCxnSpPr>
          <p:spPr>
            <a:xfrm>
              <a:off x="3799878" y="3227363"/>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1" name="Google Shape;3386;p54">
              <a:extLst>
                <a:ext uri="{FF2B5EF4-FFF2-40B4-BE49-F238E27FC236}">
                  <a16:creationId xmlns:a16="http://schemas.microsoft.com/office/drawing/2014/main" id="{57A10467-6E2A-4198-BC5F-B0F734A4C5D5}"/>
                </a:ext>
              </a:extLst>
            </p:cNvPr>
            <p:cNvCxnSpPr>
              <a:cxnSpLocks/>
            </p:cNvCxnSpPr>
            <p:nvPr/>
          </p:nvCxnSpPr>
          <p:spPr>
            <a:xfrm>
              <a:off x="3799877" y="6082463"/>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2" name="Google Shape;3386;p54">
              <a:extLst>
                <a:ext uri="{FF2B5EF4-FFF2-40B4-BE49-F238E27FC236}">
                  <a16:creationId xmlns:a16="http://schemas.microsoft.com/office/drawing/2014/main" id="{646FD0AD-1ED4-4BCB-B79A-BA4A3414DC1A}"/>
                </a:ext>
              </a:extLst>
            </p:cNvPr>
            <p:cNvCxnSpPr>
              <a:cxnSpLocks/>
            </p:cNvCxnSpPr>
            <p:nvPr/>
          </p:nvCxnSpPr>
          <p:spPr>
            <a:xfrm>
              <a:off x="3799878" y="5104637"/>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3" name="Google Shape;3386;p54">
              <a:extLst>
                <a:ext uri="{FF2B5EF4-FFF2-40B4-BE49-F238E27FC236}">
                  <a16:creationId xmlns:a16="http://schemas.microsoft.com/office/drawing/2014/main" id="{9BE84FEA-75F1-4D3C-8FAB-E0D1E2258872}"/>
                </a:ext>
              </a:extLst>
            </p:cNvPr>
            <p:cNvCxnSpPr>
              <a:cxnSpLocks/>
            </p:cNvCxnSpPr>
            <p:nvPr/>
          </p:nvCxnSpPr>
          <p:spPr>
            <a:xfrm>
              <a:off x="3799878" y="4172888"/>
              <a:ext cx="894375" cy="0"/>
            </a:xfrm>
            <a:prstGeom prst="straightConnector1">
              <a:avLst/>
            </a:prstGeom>
            <a:noFill/>
            <a:ln w="19050" cap="flat" cmpd="sng">
              <a:solidFill>
                <a:schemeClr val="dk2"/>
              </a:solidFill>
              <a:prstDash val="solid"/>
              <a:round/>
              <a:headEnd type="none" w="med" len="med"/>
              <a:tailEnd type="triangle" w="med" len="med"/>
            </a:ln>
          </p:spPr>
        </p:cxnSp>
        <p:cxnSp>
          <p:nvCxnSpPr>
            <p:cNvPr id="24" name="Google Shape;3386;p54">
              <a:extLst>
                <a:ext uri="{FF2B5EF4-FFF2-40B4-BE49-F238E27FC236}">
                  <a16:creationId xmlns:a16="http://schemas.microsoft.com/office/drawing/2014/main" id="{02B605FF-FF7D-4CF1-B4A7-DDC660D69ECD}"/>
                </a:ext>
              </a:extLst>
            </p:cNvPr>
            <p:cNvCxnSpPr>
              <a:cxnSpLocks/>
              <a:stCxn id="18" idx="3"/>
            </p:cNvCxnSpPr>
            <p:nvPr/>
          </p:nvCxnSpPr>
          <p:spPr>
            <a:xfrm>
              <a:off x="6190653" y="3227363"/>
              <a:ext cx="1389581" cy="1108762"/>
            </a:xfrm>
            <a:prstGeom prst="straightConnector1">
              <a:avLst/>
            </a:prstGeom>
            <a:noFill/>
            <a:ln w="19050" cap="flat" cmpd="sng">
              <a:solidFill>
                <a:schemeClr val="dk2"/>
              </a:solidFill>
              <a:prstDash val="solid"/>
              <a:round/>
              <a:headEnd type="none" w="med" len="med"/>
              <a:tailEnd type="triangle" w="med" len="med"/>
            </a:ln>
          </p:spPr>
        </p:cxnSp>
        <p:cxnSp>
          <p:nvCxnSpPr>
            <p:cNvPr id="25" name="Google Shape;3386;p54">
              <a:extLst>
                <a:ext uri="{FF2B5EF4-FFF2-40B4-BE49-F238E27FC236}">
                  <a16:creationId xmlns:a16="http://schemas.microsoft.com/office/drawing/2014/main" id="{238BB844-8392-4FC3-B5F1-F91029934F1D}"/>
                </a:ext>
              </a:extLst>
            </p:cNvPr>
            <p:cNvCxnSpPr>
              <a:cxnSpLocks/>
              <a:stCxn id="19" idx="3"/>
            </p:cNvCxnSpPr>
            <p:nvPr/>
          </p:nvCxnSpPr>
          <p:spPr>
            <a:xfrm>
              <a:off x="6190653" y="4172925"/>
              <a:ext cx="1389581" cy="326400"/>
            </a:xfrm>
            <a:prstGeom prst="straightConnector1">
              <a:avLst/>
            </a:prstGeom>
            <a:noFill/>
            <a:ln w="19050" cap="flat" cmpd="sng">
              <a:solidFill>
                <a:schemeClr val="dk2"/>
              </a:solidFill>
              <a:prstDash val="solid"/>
              <a:round/>
              <a:headEnd type="none" w="med" len="med"/>
              <a:tailEnd type="triangle" w="med" len="med"/>
            </a:ln>
          </p:spPr>
        </p:cxnSp>
        <p:cxnSp>
          <p:nvCxnSpPr>
            <p:cNvPr id="26" name="Google Shape;3386;p54">
              <a:extLst>
                <a:ext uri="{FF2B5EF4-FFF2-40B4-BE49-F238E27FC236}">
                  <a16:creationId xmlns:a16="http://schemas.microsoft.com/office/drawing/2014/main" id="{E4359A8B-21FB-49E6-8FDB-ECF61B047E1C}"/>
                </a:ext>
              </a:extLst>
            </p:cNvPr>
            <p:cNvCxnSpPr>
              <a:cxnSpLocks/>
            </p:cNvCxnSpPr>
            <p:nvPr/>
          </p:nvCxnSpPr>
          <p:spPr>
            <a:xfrm flipV="1">
              <a:off x="6190653" y="4563883"/>
              <a:ext cx="1389581" cy="514470"/>
            </a:xfrm>
            <a:prstGeom prst="straightConnector1">
              <a:avLst/>
            </a:prstGeom>
            <a:noFill/>
            <a:ln w="19050" cap="flat" cmpd="sng">
              <a:solidFill>
                <a:schemeClr val="dk2"/>
              </a:solidFill>
              <a:prstDash val="solid"/>
              <a:round/>
              <a:headEnd type="none" w="med" len="med"/>
              <a:tailEnd type="triangle" w="med" len="med"/>
            </a:ln>
          </p:spPr>
        </p:cxnSp>
        <p:cxnSp>
          <p:nvCxnSpPr>
            <p:cNvPr id="27" name="Google Shape;3386;p54">
              <a:extLst>
                <a:ext uri="{FF2B5EF4-FFF2-40B4-BE49-F238E27FC236}">
                  <a16:creationId xmlns:a16="http://schemas.microsoft.com/office/drawing/2014/main" id="{94933542-4306-4148-8AD9-A80F4F4ADB0F}"/>
                </a:ext>
              </a:extLst>
            </p:cNvPr>
            <p:cNvCxnSpPr>
              <a:cxnSpLocks/>
              <a:stCxn id="16" idx="3"/>
            </p:cNvCxnSpPr>
            <p:nvPr/>
          </p:nvCxnSpPr>
          <p:spPr>
            <a:xfrm flipV="1">
              <a:off x="6190653" y="4673539"/>
              <a:ext cx="1389581" cy="1408961"/>
            </a:xfrm>
            <a:prstGeom prst="straightConnector1">
              <a:avLst/>
            </a:prstGeom>
            <a:noFill/>
            <a:ln w="19050" cap="flat" cmpd="sng">
              <a:solidFill>
                <a:schemeClr val="dk2"/>
              </a:solidFill>
              <a:prstDash val="solid"/>
              <a:round/>
              <a:headEnd type="none" w="med" len="med"/>
              <a:tailEnd type="triangle" w="med" len="med"/>
            </a:ln>
          </p:spPr>
        </p:cxnSp>
        <p:sp>
          <p:nvSpPr>
            <p:cNvPr id="28" name="矩形: 圆角 27">
              <a:extLst>
                <a:ext uri="{FF2B5EF4-FFF2-40B4-BE49-F238E27FC236}">
                  <a16:creationId xmlns:a16="http://schemas.microsoft.com/office/drawing/2014/main" id="{F6CD5C09-3F5B-4384-A89C-8BF4CF5444A2}"/>
                </a:ext>
              </a:extLst>
            </p:cNvPr>
            <p:cNvSpPr/>
            <p:nvPr/>
          </p:nvSpPr>
          <p:spPr>
            <a:xfrm>
              <a:off x="349144" y="3553763"/>
              <a:ext cx="915868" cy="166491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训练数据</a:t>
              </a:r>
            </a:p>
          </p:txBody>
        </p:sp>
        <p:sp>
          <p:nvSpPr>
            <p:cNvPr id="29" name="Google Shape;3380;p54">
              <a:extLst>
                <a:ext uri="{FF2B5EF4-FFF2-40B4-BE49-F238E27FC236}">
                  <a16:creationId xmlns:a16="http://schemas.microsoft.com/office/drawing/2014/main" id="{761A7A8A-B88E-48CA-92E5-4531DBA28A62}"/>
                </a:ext>
              </a:extLst>
            </p:cNvPr>
            <p:cNvSpPr/>
            <p:nvPr/>
          </p:nvSpPr>
          <p:spPr>
            <a:xfrm>
              <a:off x="7580234" y="3632462"/>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第二层数据</a:t>
              </a:r>
              <a:endParaRPr sz="1600" dirty="0">
                <a:latin typeface="KaiTi" panose="02010609060101010101" pitchFamily="49" charset="-122"/>
                <a:ea typeface="KaiTi" panose="02010609060101010101" pitchFamily="49" charset="-122"/>
              </a:endParaRPr>
            </a:p>
          </p:txBody>
        </p:sp>
        <p:sp>
          <p:nvSpPr>
            <p:cNvPr id="30" name="Google Shape;3380;p54">
              <a:extLst>
                <a:ext uri="{FF2B5EF4-FFF2-40B4-BE49-F238E27FC236}">
                  <a16:creationId xmlns:a16="http://schemas.microsoft.com/office/drawing/2014/main" id="{46C3B524-6334-4EB4-AFCA-2A8E5FD484E5}"/>
                </a:ext>
              </a:extLst>
            </p:cNvPr>
            <p:cNvSpPr/>
            <p:nvPr/>
          </p:nvSpPr>
          <p:spPr>
            <a:xfrm>
              <a:off x="9054905" y="3635499"/>
              <a:ext cx="1336272" cy="1469138"/>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latin typeface="KaiTi" panose="02010609060101010101" pitchFamily="49" charset="-122"/>
                  <a:ea typeface="KaiTi" panose="02010609060101010101" pitchFamily="49" charset="-122"/>
                </a:rPr>
                <a:t>Stacking</a:t>
              </a:r>
              <a:endParaRPr sz="1600" dirty="0">
                <a:latin typeface="KaiTi" panose="02010609060101010101" pitchFamily="49" charset="-122"/>
                <a:ea typeface="KaiTi" panose="02010609060101010101" pitchFamily="49" charset="-122"/>
              </a:endParaRPr>
            </a:p>
          </p:txBody>
        </p:sp>
        <p:cxnSp>
          <p:nvCxnSpPr>
            <p:cNvPr id="31" name="Google Shape;3386;p54">
              <a:extLst>
                <a:ext uri="{FF2B5EF4-FFF2-40B4-BE49-F238E27FC236}">
                  <a16:creationId xmlns:a16="http://schemas.microsoft.com/office/drawing/2014/main" id="{71568AD0-A12F-4670-A1AB-BB1CF25C9E96}"/>
                </a:ext>
              </a:extLst>
            </p:cNvPr>
            <p:cNvCxnSpPr>
              <a:cxnSpLocks/>
            </p:cNvCxnSpPr>
            <p:nvPr/>
          </p:nvCxnSpPr>
          <p:spPr>
            <a:xfrm>
              <a:off x="8328074" y="4453248"/>
              <a:ext cx="726831" cy="0"/>
            </a:xfrm>
            <a:prstGeom prst="straightConnector1">
              <a:avLst/>
            </a:prstGeom>
            <a:noFill/>
            <a:ln w="19050" cap="flat" cmpd="sng">
              <a:solidFill>
                <a:schemeClr val="dk2"/>
              </a:solidFill>
              <a:prstDash val="solid"/>
              <a:round/>
              <a:headEnd type="none" w="med" len="med"/>
              <a:tailEnd type="triangle" w="med" len="med"/>
            </a:ln>
          </p:spPr>
        </p:cxnSp>
        <p:sp>
          <p:nvSpPr>
            <p:cNvPr id="32" name="Google Shape;3380;p54">
              <a:extLst>
                <a:ext uri="{FF2B5EF4-FFF2-40B4-BE49-F238E27FC236}">
                  <a16:creationId xmlns:a16="http://schemas.microsoft.com/office/drawing/2014/main" id="{CBCA174B-93C6-4266-A5FF-F607B73949BB}"/>
                </a:ext>
              </a:extLst>
            </p:cNvPr>
            <p:cNvSpPr/>
            <p:nvPr/>
          </p:nvSpPr>
          <p:spPr>
            <a:xfrm>
              <a:off x="11118008" y="3629984"/>
              <a:ext cx="747840" cy="1583175"/>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最终预测结果</a:t>
              </a:r>
              <a:endParaRPr sz="1600" dirty="0">
                <a:latin typeface="KaiTi" panose="02010609060101010101" pitchFamily="49" charset="-122"/>
                <a:ea typeface="KaiTi" panose="02010609060101010101" pitchFamily="49" charset="-122"/>
              </a:endParaRPr>
            </a:p>
          </p:txBody>
        </p:sp>
        <p:cxnSp>
          <p:nvCxnSpPr>
            <p:cNvPr id="33" name="Google Shape;3386;p54">
              <a:extLst>
                <a:ext uri="{FF2B5EF4-FFF2-40B4-BE49-F238E27FC236}">
                  <a16:creationId xmlns:a16="http://schemas.microsoft.com/office/drawing/2014/main" id="{85A964FF-213A-443E-A75B-130652478E50}"/>
                </a:ext>
              </a:extLst>
            </p:cNvPr>
            <p:cNvCxnSpPr>
              <a:cxnSpLocks/>
            </p:cNvCxnSpPr>
            <p:nvPr/>
          </p:nvCxnSpPr>
          <p:spPr>
            <a:xfrm>
              <a:off x="10391177" y="4403614"/>
              <a:ext cx="726830" cy="0"/>
            </a:xfrm>
            <a:prstGeom prst="straightConnector1">
              <a:avLst/>
            </a:prstGeom>
            <a:noFill/>
            <a:ln w="19050" cap="flat" cmpd="sng">
              <a:solidFill>
                <a:schemeClr val="dk2"/>
              </a:solidFill>
              <a:prstDash val="solid"/>
              <a:round/>
              <a:headEnd type="none" w="med" len="med"/>
              <a:tailEnd type="triangle" w="med" len="med"/>
            </a:ln>
          </p:spPr>
        </p:cxnSp>
      </p:grpSp>
      <p:sp>
        <p:nvSpPr>
          <p:cNvPr id="36" name="文本框 35">
            <a:extLst>
              <a:ext uri="{FF2B5EF4-FFF2-40B4-BE49-F238E27FC236}">
                <a16:creationId xmlns:a16="http://schemas.microsoft.com/office/drawing/2014/main" id="{3A5BE2C6-2796-42BB-AD7B-6AB8D6F5BFCC}"/>
              </a:ext>
            </a:extLst>
          </p:cNvPr>
          <p:cNvSpPr txBox="1"/>
          <p:nvPr/>
        </p:nvSpPr>
        <p:spPr>
          <a:xfrm>
            <a:off x="620873" y="1394167"/>
            <a:ext cx="10950254" cy="1959191"/>
          </a:xfrm>
          <a:prstGeom prst="rect">
            <a:avLst/>
          </a:prstGeom>
          <a:noFill/>
        </p:spPr>
        <p:txBody>
          <a:bodyPr wrap="square" rtlCol="0">
            <a:spAutoFit/>
          </a:bodyPr>
          <a:lstStyle/>
          <a:p>
            <a:pPr>
              <a:lnSpc>
                <a:spcPct val="150000"/>
              </a:lnSpc>
            </a:pPr>
            <a:r>
              <a:rPr lang="zh-CN" altLang="en-US" sz="2400" b="1" dirty="0">
                <a:latin typeface="KaiTi" panose="02010609060101010101" pitchFamily="49" charset="-122"/>
                <a:ea typeface="KaiTi" panose="02010609060101010101" pitchFamily="49" charset="-122"/>
              </a:rPr>
              <a:t>结合策略</a:t>
            </a:r>
            <a:r>
              <a:rPr lang="ko-KR" altLang="en-US" b="1" dirty="0">
                <a:latin typeface="KaiTi" panose="02010609060101010101" pitchFamily="49" charset="-122"/>
                <a:ea typeface="KaiTi" panose="02010609060101010101" pitchFamily="49" charset="-122"/>
              </a:rPr>
              <a:t> </a:t>
            </a:r>
            <a:r>
              <a:rPr lang="en-US" altLang="ko-KR" b="1" dirty="0">
                <a:latin typeface="KaiTi" panose="02010609060101010101" pitchFamily="49" charset="-122"/>
                <a:ea typeface="KaiTi" panose="02010609060101010101" pitchFamily="49" charset="-122"/>
              </a:rPr>
              <a:t>–</a:t>
            </a:r>
            <a:r>
              <a:rPr lang="ko-KR" altLang="en-US" b="1" dirty="0">
                <a:latin typeface="KaiTi" panose="02010609060101010101" pitchFamily="49" charset="-122"/>
                <a:ea typeface="KaiTi" panose="02010609060101010101" pitchFamily="49" charset="-122"/>
              </a:rPr>
              <a:t> </a:t>
            </a:r>
            <a:r>
              <a:rPr lang="en-US" altLang="zh-CN" sz="2400" b="1" dirty="0">
                <a:latin typeface="KaiTi" panose="02010609060101010101" pitchFamily="49" charset="-122"/>
                <a:ea typeface="KaiTi" panose="02010609060101010101" pitchFamily="49" charset="-122"/>
              </a:rPr>
              <a:t>Stacking</a:t>
            </a:r>
          </a:p>
          <a:p>
            <a:pPr>
              <a:lnSpc>
                <a:spcPct val="150000"/>
              </a:lnSpc>
            </a:pPr>
            <a:r>
              <a:rPr lang="zh-CN" altLang="en-US" sz="2000" dirty="0">
                <a:latin typeface="KaiTi" panose="02010609060101010101" pitchFamily="49" charset="-122"/>
                <a:ea typeface="KaiTi" panose="02010609060101010101" pitchFamily="49" charset="-122"/>
              </a:rPr>
              <a:t>将训练好的所有基模型对训练基进行预测，第</a:t>
            </a:r>
            <a:r>
              <a:rPr lang="en-US" altLang="zh-CN" sz="2000" dirty="0">
                <a:latin typeface="KaiTi" panose="02010609060101010101" pitchFamily="49" charset="-122"/>
                <a:ea typeface="KaiTi" panose="02010609060101010101" pitchFamily="49" charset="-122"/>
              </a:rPr>
              <a:t>j</a:t>
            </a:r>
            <a:r>
              <a:rPr lang="zh-CN" altLang="en-US" sz="2000" dirty="0">
                <a:latin typeface="KaiTi" panose="02010609060101010101" pitchFamily="49" charset="-122"/>
                <a:ea typeface="KaiTi" panose="02010609060101010101" pitchFamily="49" charset="-122"/>
              </a:rPr>
              <a:t>个基模型对第</a:t>
            </a:r>
            <a:r>
              <a:rPr lang="en-US" altLang="zh-CN" sz="2000" dirty="0" err="1">
                <a:latin typeface="KaiTi" panose="02010609060101010101" pitchFamily="49" charset="-122"/>
                <a:ea typeface="KaiTi" panose="02010609060101010101" pitchFamily="49" charset="-122"/>
              </a:rPr>
              <a:t>i</a:t>
            </a:r>
            <a:r>
              <a:rPr lang="zh-CN" altLang="en-US" sz="2000" dirty="0">
                <a:latin typeface="KaiTi" panose="02010609060101010101" pitchFamily="49" charset="-122"/>
                <a:ea typeface="KaiTi" panose="02010609060101010101" pitchFamily="49" charset="-122"/>
              </a:rPr>
              <a:t>个训练样本的预测值将作为新的训练集中第</a:t>
            </a:r>
            <a:r>
              <a:rPr lang="en-US" altLang="zh-CN" sz="2000" dirty="0" err="1">
                <a:latin typeface="KaiTi" panose="02010609060101010101" pitchFamily="49" charset="-122"/>
                <a:ea typeface="KaiTi" panose="02010609060101010101" pitchFamily="49" charset="-122"/>
              </a:rPr>
              <a:t>i</a:t>
            </a:r>
            <a:r>
              <a:rPr lang="zh-CN" altLang="en-US" sz="2000" dirty="0">
                <a:latin typeface="KaiTi" panose="02010609060101010101" pitchFamily="49" charset="-122"/>
                <a:ea typeface="KaiTi" panose="02010609060101010101" pitchFamily="49" charset="-122"/>
              </a:rPr>
              <a:t>个样本的第</a:t>
            </a:r>
            <a:r>
              <a:rPr lang="en-US" altLang="zh-CN" sz="2000" dirty="0">
                <a:latin typeface="KaiTi" panose="02010609060101010101" pitchFamily="49" charset="-122"/>
                <a:ea typeface="KaiTi" panose="02010609060101010101" pitchFamily="49" charset="-122"/>
              </a:rPr>
              <a:t>j</a:t>
            </a:r>
            <a:r>
              <a:rPr lang="zh-CN" altLang="en-US" sz="2000" dirty="0">
                <a:latin typeface="KaiTi" panose="02010609060101010101" pitchFamily="49" charset="-122"/>
                <a:ea typeface="KaiTi" panose="02010609060101010101" pitchFamily="49" charset="-122"/>
              </a:rPr>
              <a:t>个特征值，最后基于新的训练集进行训练。同理，预测的过程也要先经过所有基模型的预测形成新的测试集，最后再对测试集进行预测。</a:t>
            </a:r>
            <a:endParaRPr lang="zh-CN" altLang="en-US" sz="1600" dirty="0">
              <a:latin typeface="KaiTi" panose="02010609060101010101" pitchFamily="49" charset="-122"/>
              <a:ea typeface="KaiTi" panose="02010609060101010101" pitchFamily="49" charset="-122"/>
            </a:endParaRPr>
          </a:p>
        </p:txBody>
      </p:sp>
      <p:sp>
        <p:nvSpPr>
          <p:cNvPr id="45" name="矩形: 圆角 44">
            <a:extLst>
              <a:ext uri="{FF2B5EF4-FFF2-40B4-BE49-F238E27FC236}">
                <a16:creationId xmlns:a16="http://schemas.microsoft.com/office/drawing/2014/main" id="{7BF8E9FE-608D-4EB1-BD8A-64CEBBB9A395}"/>
              </a:ext>
            </a:extLst>
          </p:cNvPr>
          <p:cNvSpPr/>
          <p:nvPr/>
        </p:nvSpPr>
        <p:spPr>
          <a:xfrm>
            <a:off x="6417082" y="5740435"/>
            <a:ext cx="791266" cy="77413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测试数据</a:t>
            </a:r>
          </a:p>
        </p:txBody>
      </p:sp>
      <p:cxnSp>
        <p:nvCxnSpPr>
          <p:cNvPr id="47" name="Google Shape;3386;p54">
            <a:extLst>
              <a:ext uri="{FF2B5EF4-FFF2-40B4-BE49-F238E27FC236}">
                <a16:creationId xmlns:a16="http://schemas.microsoft.com/office/drawing/2014/main" id="{12675D5B-87DC-4812-9E51-3495A3B1A33E}"/>
              </a:ext>
            </a:extLst>
          </p:cNvPr>
          <p:cNvCxnSpPr>
            <a:cxnSpLocks/>
          </p:cNvCxnSpPr>
          <p:nvPr/>
        </p:nvCxnSpPr>
        <p:spPr>
          <a:xfrm flipH="1">
            <a:off x="6021216" y="6128380"/>
            <a:ext cx="395866" cy="0"/>
          </a:xfrm>
          <a:prstGeom prst="straightConnector1">
            <a:avLst/>
          </a:prstGeom>
          <a:noFill/>
          <a:ln w="19050" cap="flat" cmpd="sng">
            <a:solidFill>
              <a:schemeClr val="tx1"/>
            </a:solidFill>
            <a:prstDash val="solid"/>
            <a:round/>
            <a:headEnd type="none" w="med" len="med"/>
            <a:tailEnd type="triangle" w="med" len="med"/>
          </a:ln>
        </p:spPr>
      </p:cxnSp>
      <p:cxnSp>
        <p:nvCxnSpPr>
          <p:cNvPr id="49" name="Google Shape;3386;p54">
            <a:extLst>
              <a:ext uri="{FF2B5EF4-FFF2-40B4-BE49-F238E27FC236}">
                <a16:creationId xmlns:a16="http://schemas.microsoft.com/office/drawing/2014/main" id="{C7BFAAD0-E0C4-49A5-8217-04FB044FDA22}"/>
              </a:ext>
            </a:extLst>
          </p:cNvPr>
          <p:cNvCxnSpPr>
            <a:cxnSpLocks/>
            <a:stCxn id="45" idx="3"/>
          </p:cNvCxnSpPr>
          <p:nvPr/>
        </p:nvCxnSpPr>
        <p:spPr>
          <a:xfrm flipV="1">
            <a:off x="7208348" y="5124882"/>
            <a:ext cx="1014217" cy="1002618"/>
          </a:xfrm>
          <a:prstGeom prst="straightConnector1">
            <a:avLst/>
          </a:prstGeom>
          <a:noFill/>
          <a:ln w="19050"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1891521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6" name="文本框 22">
            <a:extLst>
              <a:ext uri="{FF2B5EF4-FFF2-40B4-BE49-F238E27FC236}">
                <a16:creationId xmlns:a16="http://schemas.microsoft.com/office/drawing/2014/main" id="{52B707EB-3944-480A-BCD3-A2B1DBF1D951}"/>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p>
        </p:txBody>
      </p:sp>
      <p:pic>
        <p:nvPicPr>
          <p:cNvPr id="3074" name="Picture 2" descr="StackingCVClassifier: Stacking with cross-validation - mlxtend">
            <a:extLst>
              <a:ext uri="{FF2B5EF4-FFF2-40B4-BE49-F238E27FC236}">
                <a16:creationId xmlns:a16="http://schemas.microsoft.com/office/drawing/2014/main" id="{6CAE9A04-97CF-AF97-E2B3-A283071D2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3350" y="-57882"/>
            <a:ext cx="5708650"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표 1">
            <a:extLst>
              <a:ext uri="{FF2B5EF4-FFF2-40B4-BE49-F238E27FC236}">
                <a16:creationId xmlns:a16="http://schemas.microsoft.com/office/drawing/2014/main" id="{3792D5FF-53D2-6510-2BCC-C18F52751303}"/>
              </a:ext>
            </a:extLst>
          </p:cNvPr>
          <p:cNvGraphicFramePr>
            <a:graphicFrameLocks noGrp="1"/>
          </p:cNvGraphicFramePr>
          <p:nvPr>
            <p:extLst>
              <p:ext uri="{D42A27DB-BD31-4B8C-83A1-F6EECF244321}">
                <p14:modId xmlns:p14="http://schemas.microsoft.com/office/powerpoint/2010/main" val="2319188806"/>
              </p:ext>
            </p:extLst>
          </p:nvPr>
        </p:nvGraphicFramePr>
        <p:xfrm>
          <a:off x="346302" y="2063209"/>
          <a:ext cx="5708650" cy="2225335"/>
        </p:xfrm>
        <a:graphic>
          <a:graphicData uri="http://schemas.openxmlformats.org/drawingml/2006/table">
            <a:tbl>
              <a:tblPr>
                <a:tableStyleId>{5940675A-B579-460E-94D1-54222C63F5DA}</a:tableStyleId>
              </a:tblPr>
              <a:tblGrid>
                <a:gridCol w="1141730">
                  <a:extLst>
                    <a:ext uri="{9D8B030D-6E8A-4147-A177-3AD203B41FA5}">
                      <a16:colId xmlns:a16="http://schemas.microsoft.com/office/drawing/2014/main" val="1288208508"/>
                    </a:ext>
                  </a:extLst>
                </a:gridCol>
                <a:gridCol w="1141730">
                  <a:extLst>
                    <a:ext uri="{9D8B030D-6E8A-4147-A177-3AD203B41FA5}">
                      <a16:colId xmlns:a16="http://schemas.microsoft.com/office/drawing/2014/main" val="420768192"/>
                    </a:ext>
                  </a:extLst>
                </a:gridCol>
                <a:gridCol w="1141730">
                  <a:extLst>
                    <a:ext uri="{9D8B030D-6E8A-4147-A177-3AD203B41FA5}">
                      <a16:colId xmlns:a16="http://schemas.microsoft.com/office/drawing/2014/main" val="1942341749"/>
                    </a:ext>
                  </a:extLst>
                </a:gridCol>
                <a:gridCol w="1141730">
                  <a:extLst>
                    <a:ext uri="{9D8B030D-6E8A-4147-A177-3AD203B41FA5}">
                      <a16:colId xmlns:a16="http://schemas.microsoft.com/office/drawing/2014/main" val="2414901945"/>
                    </a:ext>
                  </a:extLst>
                </a:gridCol>
                <a:gridCol w="1141730">
                  <a:extLst>
                    <a:ext uri="{9D8B030D-6E8A-4147-A177-3AD203B41FA5}">
                      <a16:colId xmlns:a16="http://schemas.microsoft.com/office/drawing/2014/main" val="3999400484"/>
                    </a:ext>
                  </a:extLst>
                </a:gridCol>
              </a:tblGrid>
              <a:tr h="445067">
                <a:tc>
                  <a:txBody>
                    <a:bodyPr/>
                    <a:lstStyle/>
                    <a:p>
                      <a:pPr algn="ctr"/>
                      <a:r>
                        <a:rPr lang="ko-KR" altLang="en-US">
                          <a:latin typeface="KaiTi" panose="02010609060101010101" pitchFamily="49" charset="-122"/>
                        </a:rPr>
                        <a:t>样本</a:t>
                      </a:r>
                    </a:p>
                  </a:txBody>
                  <a:tcPr anchor="ctr"/>
                </a:tc>
                <a:tc>
                  <a:txBody>
                    <a:bodyPr/>
                    <a:lstStyle/>
                    <a:p>
                      <a:pPr algn="ctr"/>
                      <a:r>
                        <a:rPr lang="en" dirty="0">
                          <a:latin typeface="KaiTi" panose="02010609060101010101" pitchFamily="49" charset="-122"/>
                          <a:ea typeface="KaiTi" panose="02010609060101010101" pitchFamily="49" charset="-122"/>
                        </a:rPr>
                        <a:t>C1</a:t>
                      </a:r>
                      <a:r>
                        <a:rPr lang="ko-KR" altLang="en-US" dirty="0">
                          <a:latin typeface="KaiTi" panose="02010609060101010101" pitchFamily="49" charset="-122"/>
                        </a:rPr>
                        <a:t>预测</a:t>
                      </a:r>
                    </a:p>
                  </a:txBody>
                  <a:tcPr anchor="ctr"/>
                </a:tc>
                <a:tc>
                  <a:txBody>
                    <a:bodyPr/>
                    <a:lstStyle/>
                    <a:p>
                      <a:pPr algn="ctr"/>
                      <a:r>
                        <a:rPr lang="en" dirty="0">
                          <a:latin typeface="KaiTi" panose="02010609060101010101" pitchFamily="49" charset="-122"/>
                          <a:ea typeface="KaiTi" panose="02010609060101010101" pitchFamily="49" charset="-122"/>
                        </a:rPr>
                        <a:t>C2</a:t>
                      </a:r>
                      <a:r>
                        <a:rPr lang="ko-KR" altLang="en-US" dirty="0">
                          <a:latin typeface="KaiTi" panose="02010609060101010101" pitchFamily="49" charset="-122"/>
                        </a:rPr>
                        <a:t>预测</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 dirty="0">
                          <a:latin typeface="KaiTi" panose="02010609060101010101" pitchFamily="49" charset="-122"/>
                          <a:ea typeface="KaiTi" panose="02010609060101010101" pitchFamily="49" charset="-122"/>
                        </a:rPr>
                        <a:t>Cm</a:t>
                      </a:r>
                      <a:r>
                        <a:rPr lang="ko-KR" altLang="en-US" dirty="0">
                          <a:latin typeface="KaiTi" panose="02010609060101010101" pitchFamily="49" charset="-122"/>
                        </a:rPr>
                        <a:t>预测</a:t>
                      </a:r>
                    </a:p>
                  </a:txBody>
                  <a:tcPr anchor="ctr"/>
                </a:tc>
                <a:extLst>
                  <a:ext uri="{0D108BD9-81ED-4DB2-BD59-A6C34878D82A}">
                    <a16:rowId xmlns:a16="http://schemas.microsoft.com/office/drawing/2014/main" val="835602145"/>
                  </a:ext>
                </a:extLst>
              </a:tr>
              <a:tr h="445067">
                <a:tc>
                  <a:txBody>
                    <a:bodyPr/>
                    <a:lstStyle/>
                    <a:p>
                      <a:pPr algn="ctr"/>
                      <a:r>
                        <a:rPr lang="en">
                          <a:latin typeface="KaiTi" panose="02010609060101010101" pitchFamily="49" charset="-122"/>
                          <a:ea typeface="KaiTi" panose="02010609060101010101" pitchFamily="49" charset="-122"/>
                        </a:rPr>
                        <a:t>x1</a:t>
                      </a:r>
                    </a:p>
                  </a:txBody>
                  <a:tcPr anchor="ctr"/>
                </a:tc>
                <a:tc>
                  <a:txBody>
                    <a:bodyPr/>
                    <a:lstStyle/>
                    <a:p>
                      <a:pPr algn="ctr"/>
                      <a:r>
                        <a:rPr lang="en">
                          <a:latin typeface="KaiTi" panose="02010609060101010101" pitchFamily="49" charset="-122"/>
                          <a:ea typeface="KaiTi" panose="02010609060101010101" pitchFamily="49" charset="-122"/>
                        </a:rPr>
                        <a:t>p11</a:t>
                      </a:r>
                    </a:p>
                  </a:txBody>
                  <a:tcPr anchor="ctr"/>
                </a:tc>
                <a:tc>
                  <a:txBody>
                    <a:bodyPr/>
                    <a:lstStyle/>
                    <a:p>
                      <a:pPr algn="ctr"/>
                      <a:r>
                        <a:rPr lang="en">
                          <a:latin typeface="KaiTi" panose="02010609060101010101" pitchFamily="49" charset="-122"/>
                          <a:ea typeface="KaiTi" panose="02010609060101010101" pitchFamily="49" charset="-122"/>
                        </a:rPr>
                        <a:t>p21</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
                          <a:latin typeface="KaiTi" panose="02010609060101010101" pitchFamily="49" charset="-122"/>
                          <a:ea typeface="KaiTi" panose="02010609060101010101" pitchFamily="49" charset="-122"/>
                        </a:rPr>
                        <a:t>pm1</a:t>
                      </a:r>
                    </a:p>
                  </a:txBody>
                  <a:tcPr anchor="ctr"/>
                </a:tc>
                <a:extLst>
                  <a:ext uri="{0D108BD9-81ED-4DB2-BD59-A6C34878D82A}">
                    <a16:rowId xmlns:a16="http://schemas.microsoft.com/office/drawing/2014/main" val="738541283"/>
                  </a:ext>
                </a:extLst>
              </a:tr>
              <a:tr h="445067">
                <a:tc>
                  <a:txBody>
                    <a:bodyPr/>
                    <a:lstStyle/>
                    <a:p>
                      <a:pPr algn="ctr"/>
                      <a:r>
                        <a:rPr lang="en">
                          <a:latin typeface="KaiTi" panose="02010609060101010101" pitchFamily="49" charset="-122"/>
                          <a:ea typeface="KaiTi" panose="02010609060101010101" pitchFamily="49" charset="-122"/>
                        </a:rPr>
                        <a:t>x2</a:t>
                      </a:r>
                    </a:p>
                  </a:txBody>
                  <a:tcPr anchor="ctr"/>
                </a:tc>
                <a:tc>
                  <a:txBody>
                    <a:bodyPr/>
                    <a:lstStyle/>
                    <a:p>
                      <a:pPr algn="ctr"/>
                      <a:r>
                        <a:rPr lang="en">
                          <a:latin typeface="KaiTi" panose="02010609060101010101" pitchFamily="49" charset="-122"/>
                          <a:ea typeface="KaiTi" panose="02010609060101010101" pitchFamily="49" charset="-122"/>
                        </a:rPr>
                        <a:t>p12</a:t>
                      </a:r>
                    </a:p>
                  </a:txBody>
                  <a:tcPr anchor="ctr"/>
                </a:tc>
                <a:tc>
                  <a:txBody>
                    <a:bodyPr/>
                    <a:lstStyle/>
                    <a:p>
                      <a:pPr algn="ctr"/>
                      <a:r>
                        <a:rPr lang="en">
                          <a:latin typeface="KaiTi" panose="02010609060101010101" pitchFamily="49" charset="-122"/>
                          <a:ea typeface="KaiTi" panose="02010609060101010101" pitchFamily="49" charset="-122"/>
                        </a:rPr>
                        <a:t>p22</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
                          <a:latin typeface="KaiTi" panose="02010609060101010101" pitchFamily="49" charset="-122"/>
                          <a:ea typeface="KaiTi" panose="02010609060101010101" pitchFamily="49" charset="-122"/>
                        </a:rPr>
                        <a:t>pm2</a:t>
                      </a:r>
                    </a:p>
                  </a:txBody>
                  <a:tcPr anchor="ctr"/>
                </a:tc>
                <a:extLst>
                  <a:ext uri="{0D108BD9-81ED-4DB2-BD59-A6C34878D82A}">
                    <a16:rowId xmlns:a16="http://schemas.microsoft.com/office/drawing/2014/main" val="3125670484"/>
                  </a:ext>
                </a:extLst>
              </a:tr>
              <a:tr h="445067">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extLst>
                  <a:ext uri="{0D108BD9-81ED-4DB2-BD59-A6C34878D82A}">
                    <a16:rowId xmlns:a16="http://schemas.microsoft.com/office/drawing/2014/main" val="4091935647"/>
                  </a:ext>
                </a:extLst>
              </a:tr>
              <a:tr h="445067">
                <a:tc>
                  <a:txBody>
                    <a:bodyPr/>
                    <a:lstStyle/>
                    <a:p>
                      <a:pPr algn="ctr"/>
                      <a:r>
                        <a:rPr lang="en">
                          <a:latin typeface="KaiTi" panose="02010609060101010101" pitchFamily="49" charset="-122"/>
                          <a:ea typeface="KaiTi" panose="02010609060101010101" pitchFamily="49" charset="-122"/>
                        </a:rPr>
                        <a:t>xn</a:t>
                      </a:r>
                    </a:p>
                  </a:txBody>
                  <a:tcPr anchor="ctr"/>
                </a:tc>
                <a:tc>
                  <a:txBody>
                    <a:bodyPr/>
                    <a:lstStyle/>
                    <a:p>
                      <a:pPr algn="ctr"/>
                      <a:r>
                        <a:rPr lang="en">
                          <a:latin typeface="KaiTi" panose="02010609060101010101" pitchFamily="49" charset="-122"/>
                          <a:ea typeface="KaiTi" panose="02010609060101010101" pitchFamily="49" charset="-122"/>
                        </a:rPr>
                        <a:t>p1n</a:t>
                      </a:r>
                    </a:p>
                  </a:txBody>
                  <a:tcPr anchor="ctr"/>
                </a:tc>
                <a:tc>
                  <a:txBody>
                    <a:bodyPr/>
                    <a:lstStyle/>
                    <a:p>
                      <a:pPr algn="ctr"/>
                      <a:r>
                        <a:rPr lang="en">
                          <a:latin typeface="KaiTi" panose="02010609060101010101" pitchFamily="49" charset="-122"/>
                          <a:ea typeface="KaiTi" panose="02010609060101010101" pitchFamily="49" charset="-122"/>
                        </a:rPr>
                        <a:t>p2n</a:t>
                      </a:r>
                    </a:p>
                  </a:txBody>
                  <a:tcPr anchor="ctr"/>
                </a:tc>
                <a:tc>
                  <a:txBody>
                    <a:bodyPr/>
                    <a:lstStyle/>
                    <a:p>
                      <a:pPr algn="ctr"/>
                      <a:r>
                        <a:rPr lang="en-US" altLang="ko-Kore-KR">
                          <a:latin typeface="KaiTi" panose="02010609060101010101" pitchFamily="49" charset="-122"/>
                          <a:ea typeface="KaiTi" panose="02010609060101010101" pitchFamily="49" charset="-122"/>
                        </a:rPr>
                        <a:t>…</a:t>
                      </a:r>
                    </a:p>
                  </a:txBody>
                  <a:tcPr anchor="ctr"/>
                </a:tc>
                <a:tc>
                  <a:txBody>
                    <a:bodyPr/>
                    <a:lstStyle/>
                    <a:p>
                      <a:pPr algn="ctr"/>
                      <a:r>
                        <a:rPr lang="en" dirty="0">
                          <a:latin typeface="KaiTi" panose="02010609060101010101" pitchFamily="49" charset="-122"/>
                          <a:ea typeface="KaiTi" panose="02010609060101010101" pitchFamily="49" charset="-122"/>
                        </a:rPr>
                        <a:t>pmn</a:t>
                      </a:r>
                    </a:p>
                  </a:txBody>
                  <a:tcPr anchor="ctr"/>
                </a:tc>
                <a:extLst>
                  <a:ext uri="{0D108BD9-81ED-4DB2-BD59-A6C34878D82A}">
                    <a16:rowId xmlns:a16="http://schemas.microsoft.com/office/drawing/2014/main" val="2803577279"/>
                  </a:ext>
                </a:extLst>
              </a:tr>
            </a:tbl>
          </a:graphicData>
        </a:graphic>
      </p:graphicFrame>
      <p:sp>
        <p:nvSpPr>
          <p:cNvPr id="3" name="왼쪽 화살표[L] 2">
            <a:extLst>
              <a:ext uri="{FF2B5EF4-FFF2-40B4-BE49-F238E27FC236}">
                <a16:creationId xmlns:a16="http://schemas.microsoft.com/office/drawing/2014/main" id="{72BAAC37-0EAC-B8A9-AED7-40D649FF6C78}"/>
              </a:ext>
            </a:extLst>
          </p:cNvPr>
          <p:cNvSpPr/>
          <p:nvPr/>
        </p:nvSpPr>
        <p:spPr>
          <a:xfrm rot="1575057">
            <a:off x="6243427" y="3912003"/>
            <a:ext cx="1166781" cy="7530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latin typeface="KaiTi" panose="02010609060101010101" pitchFamily="49" charset="-122"/>
            </a:endParaRPr>
          </a:p>
        </p:txBody>
      </p:sp>
      <p:sp>
        <p:nvSpPr>
          <p:cNvPr id="4" name="왼쪽 화살표[L] 2">
            <a:extLst>
              <a:ext uri="{FF2B5EF4-FFF2-40B4-BE49-F238E27FC236}">
                <a16:creationId xmlns:a16="http://schemas.microsoft.com/office/drawing/2014/main" id="{FBC7B999-A290-73A7-76BF-78D2C9021025}"/>
              </a:ext>
            </a:extLst>
          </p:cNvPr>
          <p:cNvSpPr/>
          <p:nvPr/>
        </p:nvSpPr>
        <p:spPr>
          <a:xfrm>
            <a:off x="6212114" y="5089120"/>
            <a:ext cx="1166781" cy="75308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latin typeface="KaiTi" panose="02010609060101010101" pitchFamily="49" charset="-122"/>
            </a:endParaRPr>
          </a:p>
        </p:txBody>
      </p:sp>
      <p:sp>
        <p:nvSpPr>
          <p:cNvPr id="8" name="TextBox 7">
            <a:extLst>
              <a:ext uri="{FF2B5EF4-FFF2-40B4-BE49-F238E27FC236}">
                <a16:creationId xmlns:a16="http://schemas.microsoft.com/office/drawing/2014/main" id="{79206AEA-ADCB-B594-8B0D-D19599B24A90}"/>
              </a:ext>
            </a:extLst>
          </p:cNvPr>
          <p:cNvSpPr txBox="1"/>
          <p:nvPr/>
        </p:nvSpPr>
        <p:spPr>
          <a:xfrm>
            <a:off x="3828933" y="4673214"/>
            <a:ext cx="2134965" cy="1938992"/>
          </a:xfrm>
          <a:prstGeom prst="rect">
            <a:avLst/>
          </a:prstGeom>
          <a:solidFill>
            <a:schemeClr val="bg1">
              <a:lumMod val="85000"/>
            </a:schemeClr>
          </a:solidFill>
        </p:spPr>
        <p:txBody>
          <a:bodyPr wrap="square">
            <a:spAutoFit/>
          </a:bodyPr>
          <a:lstStyle/>
          <a:p>
            <a:r>
              <a:rPr lang="en-US" altLang="ko-KR" dirty="0">
                <a:latin typeface="KaiTi" panose="02010609060101010101" pitchFamily="49" charset="-122"/>
                <a:ea typeface="KaiTi" panose="02010609060101010101" pitchFamily="49" charset="-122"/>
              </a:rPr>
              <a:t>Logistic Regression</a:t>
            </a:r>
          </a:p>
          <a:p>
            <a:r>
              <a:rPr lang="en-US" altLang="ko-KR" dirty="0" err="1">
                <a:latin typeface="KaiTi" panose="02010609060101010101" pitchFamily="49" charset="-122"/>
                <a:ea typeface="KaiTi" panose="02010609060101010101" pitchFamily="49" charset="-122"/>
              </a:rPr>
              <a:t>XGBoost</a:t>
            </a:r>
            <a:endParaRPr lang="en-US" altLang="ko-KR" dirty="0">
              <a:latin typeface="KaiTi" panose="02010609060101010101" pitchFamily="49" charset="-122"/>
              <a:ea typeface="KaiTi" panose="02010609060101010101" pitchFamily="49" charset="-122"/>
            </a:endParaRPr>
          </a:p>
          <a:p>
            <a:r>
              <a:rPr lang="en-US" altLang="ko-KR" dirty="0" err="1">
                <a:latin typeface="KaiTi" panose="02010609060101010101" pitchFamily="49" charset="-122"/>
                <a:ea typeface="KaiTi" panose="02010609060101010101" pitchFamily="49" charset="-122"/>
              </a:rPr>
              <a:t>LightGBM</a:t>
            </a:r>
            <a:endParaRPr lang="en-US" altLang="ko-KR" dirty="0">
              <a:latin typeface="KaiTi" panose="02010609060101010101" pitchFamily="49" charset="-122"/>
              <a:ea typeface="KaiTi" panose="02010609060101010101" pitchFamily="49" charset="-122"/>
            </a:endParaRPr>
          </a:p>
          <a:p>
            <a:r>
              <a:rPr lang="en-US" altLang="ko-KR" dirty="0" err="1">
                <a:latin typeface="KaiTi" panose="02010609060101010101" pitchFamily="49" charset="-122"/>
                <a:ea typeface="KaiTi" panose="02010609060101010101" pitchFamily="49" charset="-122"/>
              </a:rPr>
              <a:t>RandomForest</a:t>
            </a:r>
            <a:endParaRPr lang="ko-KR" altLang="en-US" dirty="0">
              <a:latin typeface="KaiTi" panose="02010609060101010101" pitchFamily="49" charset="-122"/>
            </a:endParaRPr>
          </a:p>
        </p:txBody>
      </p:sp>
    </p:spTree>
    <p:extLst>
      <p:ext uri="{BB962C8B-B14F-4D97-AF65-F5344CB8AC3E}">
        <p14:creationId xmlns:p14="http://schemas.microsoft.com/office/powerpoint/2010/main" val="1643918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nsemble Stacking for Machine Learning and Deep Learning">
            <a:extLst>
              <a:ext uri="{FF2B5EF4-FFF2-40B4-BE49-F238E27FC236}">
                <a16:creationId xmlns:a16="http://schemas.microsoft.com/office/drawing/2014/main" id="{86EC54CC-B7D5-2841-2070-6C29907C4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1459026"/>
            <a:ext cx="10305143" cy="5176724"/>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2">
            <a:extLst>
              <a:ext uri="{FF2B5EF4-FFF2-40B4-BE49-F238E27FC236}">
                <a16:creationId xmlns:a16="http://schemas.microsoft.com/office/drawing/2014/main" id="{E472E035-C471-36B4-6622-0EEC964E57FC}"/>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集成学习</a:t>
            </a:r>
          </a:p>
        </p:txBody>
      </p:sp>
    </p:spTree>
    <p:extLst>
      <p:ext uri="{BB962C8B-B14F-4D97-AF65-F5344CB8AC3E}">
        <p14:creationId xmlns:p14="http://schemas.microsoft.com/office/powerpoint/2010/main" val="2125814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7515-252F-A5C9-D64E-2E3F05DC6BFC}"/>
            </a:ext>
          </a:extLst>
        </p:cNvPr>
        <p:cNvGrpSpPr/>
        <p:nvPr/>
      </p:nvGrpSpPr>
      <p:grpSpPr>
        <a:xfrm>
          <a:off x="0" y="0"/>
          <a:ext cx="0" cy="0"/>
          <a:chOff x="0" y="0"/>
          <a:chExt cx="0" cy="0"/>
        </a:xfrm>
      </p:grpSpPr>
      <p:sp>
        <p:nvSpPr>
          <p:cNvPr id="7" name="对角圆角矩形 8">
            <a:extLst>
              <a:ext uri="{FF2B5EF4-FFF2-40B4-BE49-F238E27FC236}">
                <a16:creationId xmlns:a16="http://schemas.microsoft.com/office/drawing/2014/main" id="{6488DA12-99AF-72D0-ECBA-BB88A546ECF0}"/>
              </a:ext>
            </a:extLst>
          </p:cNvPr>
          <p:cNvSpPr/>
          <p:nvPr/>
        </p:nvSpPr>
        <p:spPr>
          <a:xfrm>
            <a:off x="2587664" y="2632279"/>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a:extLst>
              <a:ext uri="{FF2B5EF4-FFF2-40B4-BE49-F238E27FC236}">
                <a16:creationId xmlns:a16="http://schemas.microsoft.com/office/drawing/2014/main" id="{81CF10AF-BDB6-FC83-6F47-C996740B3C71}"/>
              </a:ext>
            </a:extLst>
          </p:cNvPr>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随机森林算法</a:t>
            </a:r>
          </a:p>
        </p:txBody>
      </p:sp>
      <p:sp>
        <p:nvSpPr>
          <p:cNvPr id="44" name="TextBox 6">
            <a:extLst>
              <a:ext uri="{FF2B5EF4-FFF2-40B4-BE49-F238E27FC236}">
                <a16:creationId xmlns:a16="http://schemas.microsoft.com/office/drawing/2014/main" id="{2B68F148-DA47-A9A5-3E69-8F308271A3FC}"/>
              </a:ext>
            </a:extLst>
          </p:cNvPr>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2" name="TextBox 10">
            <a:extLst>
              <a:ext uri="{FF2B5EF4-FFF2-40B4-BE49-F238E27FC236}">
                <a16:creationId xmlns:a16="http://schemas.microsoft.com/office/drawing/2014/main" id="{7D2DA851-FE82-19DB-48A9-10BBEB3B437E}"/>
              </a:ext>
            </a:extLst>
          </p:cNvPr>
          <p:cNvSpPr txBox="1">
            <a:spLocks noChangeArrowheads="1"/>
          </p:cNvSpPr>
          <p:nvPr/>
        </p:nvSpPr>
        <p:spPr bwMode="auto">
          <a:xfrm>
            <a:off x="3002508" y="2683725"/>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02    </a:t>
            </a:r>
            <a:r>
              <a:rPr lang="zh-CN" altLang="en-US" sz="3600" dirty="0">
                <a:solidFill>
                  <a:schemeClr val="bg1"/>
                </a:solidFill>
                <a:latin typeface="Impact" pitchFamily="34" charset="0"/>
                <a:ea typeface="微软雅黑" pitchFamily="34" charset="-122"/>
              </a:rPr>
              <a:t>随机森林算法</a:t>
            </a:r>
          </a:p>
        </p:txBody>
      </p:sp>
      <p:sp>
        <p:nvSpPr>
          <p:cNvPr id="3" name="TextBox 11">
            <a:extLst>
              <a:ext uri="{FF2B5EF4-FFF2-40B4-BE49-F238E27FC236}">
                <a16:creationId xmlns:a16="http://schemas.microsoft.com/office/drawing/2014/main" id="{842C69B7-0395-CD54-C0E5-5C9E9F3D2771}"/>
              </a:ext>
            </a:extLst>
          </p:cNvPr>
          <p:cNvSpPr txBox="1">
            <a:spLocks noChangeArrowheads="1"/>
          </p:cNvSpPr>
          <p:nvPr/>
        </p:nvSpPr>
        <p:spPr bwMode="auto">
          <a:xfrm>
            <a:off x="3002507" y="4238911"/>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XGBoost</a:t>
            </a:r>
            <a:endParaRPr lang="zh-CN" altLang="en-US" sz="3600" dirty="0">
              <a:latin typeface="Impact" pitchFamily="34" charset="0"/>
              <a:ea typeface="微软雅黑" pitchFamily="34" charset="-122"/>
            </a:endParaRPr>
          </a:p>
        </p:txBody>
      </p:sp>
      <p:sp>
        <p:nvSpPr>
          <p:cNvPr id="4" name="TextBox 10">
            <a:extLst>
              <a:ext uri="{FF2B5EF4-FFF2-40B4-BE49-F238E27FC236}">
                <a16:creationId xmlns:a16="http://schemas.microsoft.com/office/drawing/2014/main" id="{02ADCFBE-CCB3-11A0-AA9D-21DFD3A4C870}"/>
              </a:ext>
            </a:extLst>
          </p:cNvPr>
          <p:cNvSpPr txBox="1">
            <a:spLocks noChangeArrowheads="1"/>
          </p:cNvSpPr>
          <p:nvPr/>
        </p:nvSpPr>
        <p:spPr bwMode="auto">
          <a:xfrm>
            <a:off x="3002507" y="5054092"/>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05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
        <p:nvSpPr>
          <p:cNvPr id="5" name="TextBox 10">
            <a:extLst>
              <a:ext uri="{FF2B5EF4-FFF2-40B4-BE49-F238E27FC236}">
                <a16:creationId xmlns:a16="http://schemas.microsoft.com/office/drawing/2014/main" id="{C89EF24E-8D47-B989-392C-F88E11A5CDAB}"/>
              </a:ext>
            </a:extLst>
          </p:cNvPr>
          <p:cNvSpPr txBox="1">
            <a:spLocks noChangeArrowheads="1"/>
          </p:cNvSpPr>
          <p:nvPr/>
        </p:nvSpPr>
        <p:spPr bwMode="auto">
          <a:xfrm>
            <a:off x="3002507" y="3423730"/>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Tree>
    <p:extLst>
      <p:ext uri="{BB962C8B-B14F-4D97-AF65-F5344CB8AC3E}">
        <p14:creationId xmlns:p14="http://schemas.microsoft.com/office/powerpoint/2010/main" val="2162905130"/>
      </p:ext>
    </p:extLst>
  </p:cSld>
  <p:clrMapOvr>
    <a:masterClrMapping/>
  </p:clrMapOvr>
  <p:transition advTm="800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4B2AC396-7C1E-453D-8208-84A7162B0A6F}"/>
              </a:ext>
            </a:extLst>
          </p:cNvPr>
          <p:cNvSpPr txBox="1"/>
          <p:nvPr/>
        </p:nvSpPr>
        <p:spPr>
          <a:xfrm>
            <a:off x="588037" y="1440123"/>
            <a:ext cx="10975071" cy="5351593"/>
          </a:xfrm>
          <a:prstGeom prst="rect">
            <a:avLst/>
          </a:prstGeom>
          <a:noFill/>
        </p:spPr>
        <p:txBody>
          <a:bodyPr wrap="square">
            <a:spAutoFit/>
          </a:bodyPr>
          <a:lstStyle/>
          <a:p>
            <a:pPr>
              <a:lnSpc>
                <a:spcPct val="150000"/>
              </a:lnSpc>
              <a:spcBef>
                <a:spcPts val="900"/>
              </a:spcBef>
              <a:spcAft>
                <a:spcPts val="900"/>
              </a:spcAft>
            </a:pPr>
            <a:r>
              <a:rPr lang="en-US" altLang="zh-CN" sz="2400" b="1" dirty="0">
                <a:effectLst/>
                <a:latin typeface="KaiTi" panose="02010609060101010101" pitchFamily="49" charset="-122"/>
                <a:ea typeface="KaiTi" panose="02010609060101010101" pitchFamily="49" charset="-122"/>
                <a:cs typeface="Times New Roman" panose="02020603050405020304" pitchFamily="18" charset="0"/>
              </a:rPr>
              <a:t>Random </a:t>
            </a:r>
            <a:r>
              <a:rPr lang="en-US" altLang="zh-CN" sz="2400" b="1" dirty="0" err="1">
                <a:effectLst/>
                <a:latin typeface="KaiTi" panose="02010609060101010101" pitchFamily="49" charset="-122"/>
                <a:ea typeface="KaiTi" panose="02010609060101010101" pitchFamily="49" charset="-122"/>
                <a:cs typeface="Times New Roman" panose="02020603050405020304" pitchFamily="18" charset="0"/>
              </a:rPr>
              <a:t>Forest（随机森林</a:t>
            </a:r>
            <a:r>
              <a:rPr lang="en-US" altLang="zh-CN" sz="2400" b="1" dirty="0">
                <a:effectLst/>
                <a:latin typeface="KaiTi" panose="02010609060101010101" pitchFamily="49" charset="-122"/>
                <a:ea typeface="KaiTi" panose="02010609060101010101" pitchFamily="49" charset="-122"/>
                <a:cs typeface="Times New Roman" panose="02020603050405020304" pitchFamily="18" charset="0"/>
              </a:rPr>
              <a:t>）</a:t>
            </a:r>
          </a:p>
          <a:p>
            <a:pPr>
              <a:lnSpc>
                <a:spcPct val="150000"/>
              </a:lnSpc>
              <a:spcBef>
                <a:spcPts val="900"/>
              </a:spcBef>
              <a:spcAft>
                <a:spcPts val="900"/>
              </a:spcAft>
            </a:pPr>
            <a:r>
              <a:rPr lang="en-US" altLang="zh-CN" sz="2400" dirty="0" err="1">
                <a:effectLst/>
                <a:latin typeface="KaiTi" panose="02010609060101010101" pitchFamily="49" charset="-122"/>
                <a:ea typeface="KaiTi" panose="02010609060101010101" pitchFamily="49" charset="-122"/>
                <a:cs typeface="Times New Roman" panose="02020603050405020304" pitchFamily="18" charset="0"/>
              </a:rPr>
              <a:t>用随机的方式建立一个森林</a:t>
            </a:r>
            <a:r>
              <a:rPr lang="en-US" altLang="zh-CN" sz="2400" dirty="0">
                <a:effectLst/>
                <a:latin typeface="KaiTi" panose="02010609060101010101" pitchFamily="49" charset="-122"/>
                <a:ea typeface="KaiTi" panose="02010609060101010101" pitchFamily="49" charset="-122"/>
                <a:cs typeface="Times New Roman" panose="02020603050405020304" pitchFamily="18" charset="0"/>
              </a:rPr>
              <a:t>。</a:t>
            </a:r>
            <a:r>
              <a:rPr lang="zh-CN" altLang="en-US" dirty="0">
                <a:latin typeface="KaiTi" panose="02010609060101010101" pitchFamily="49" charset="-122"/>
                <a:ea typeface="KaiTi" panose="02010609060101010101" pitchFamily="49" charset="-122"/>
                <a:cs typeface="Times New Roman" panose="02020603050405020304" pitchFamily="18" charset="0"/>
              </a:rPr>
              <a:t>随机森林</a:t>
            </a:r>
            <a:r>
              <a:rPr lang="en-US" altLang="zh-CN" sz="2400" dirty="0">
                <a:effectLst/>
                <a:latin typeface="KaiTi" panose="02010609060101010101" pitchFamily="49" charset="-122"/>
                <a:ea typeface="KaiTi" panose="02010609060101010101" pitchFamily="49" charset="-122"/>
                <a:cs typeface="Times New Roman" panose="02020603050405020304" pitchFamily="18" charset="0"/>
              </a:rPr>
              <a:t>算法由很多决策树组成，每一棵决策树之间没有关联。建立完森林后，当有新样本进入时，每棵决策树都会分别进行判断，然后基于投票法给出分类结果。</a:t>
            </a:r>
          </a:p>
          <a:p>
            <a:pPr>
              <a:spcBef>
                <a:spcPts val="900"/>
              </a:spcBef>
              <a:spcAft>
                <a:spcPts val="900"/>
              </a:spcAft>
            </a:pPr>
            <a:r>
              <a:rPr lang="en-US" altLang="zh-CN" dirty="0" err="1">
                <a:latin typeface="KaiTi" panose="02010609060101010101" pitchFamily="49" charset="-122"/>
                <a:ea typeface="KaiTi" panose="02010609060101010101" pitchFamily="49" charset="-122"/>
                <a:cs typeface="Times New Roman" panose="02020603050405020304" pitchFamily="18" charset="0"/>
              </a:rPr>
              <a:t>优点</a:t>
            </a:r>
            <a:endParaRPr lang="zh-CN" altLang="zh-CN" dirty="0">
              <a:latin typeface="KaiTi" panose="02010609060101010101" pitchFamily="49" charset="-122"/>
              <a:ea typeface="KaiTi" panose="02010609060101010101" pitchFamily="49" charset="-122"/>
              <a:cs typeface="Times New Roman" panose="02020603050405020304" pitchFamily="18" charset="0"/>
            </a:endParaRPr>
          </a:p>
          <a:p>
            <a:pPr marL="342900" lvl="0" indent="-342900">
              <a:spcAft>
                <a:spcPts val="1000"/>
              </a:spcAft>
              <a:buFont typeface="+mj-lt"/>
              <a:buAutoNum type="arabicPeriod"/>
            </a:pPr>
            <a:r>
              <a:rPr lang="en-US" altLang="zh-CN" dirty="0" err="1">
                <a:latin typeface="KaiTi" panose="02010609060101010101" pitchFamily="49" charset="-122"/>
                <a:ea typeface="KaiTi" panose="02010609060101010101" pitchFamily="49" charset="-122"/>
                <a:cs typeface="Times New Roman" panose="02020603050405020304" pitchFamily="18" charset="0"/>
              </a:rPr>
              <a:t>在数据集上表现良好，相对于其他算法有较大的优势</a:t>
            </a:r>
            <a:endParaRPr lang="zh-CN" altLang="zh-CN" dirty="0">
              <a:latin typeface="KaiTi" panose="02010609060101010101" pitchFamily="49" charset="-122"/>
              <a:ea typeface="KaiTi" panose="02010609060101010101" pitchFamily="49" charset="-122"/>
              <a:cs typeface="Times New Roman" panose="02020603050405020304" pitchFamily="18" charset="0"/>
            </a:endParaRPr>
          </a:p>
          <a:p>
            <a:pPr marL="342900" lvl="0" indent="-342900">
              <a:spcAft>
                <a:spcPts val="1000"/>
              </a:spcAft>
              <a:buFont typeface="+mj-lt"/>
              <a:buAutoNum type="arabicPeriod"/>
            </a:pPr>
            <a:r>
              <a:rPr lang="en-US" altLang="zh-CN" dirty="0" err="1">
                <a:latin typeface="KaiTi" panose="02010609060101010101" pitchFamily="49" charset="-122"/>
                <a:ea typeface="KaiTi" panose="02010609060101010101" pitchFamily="49" charset="-122"/>
                <a:cs typeface="Times New Roman" panose="02020603050405020304" pitchFamily="18" charset="0"/>
              </a:rPr>
              <a:t>易于并行化，在大数据集上有很大的优势</a:t>
            </a:r>
            <a:r>
              <a:rPr lang="en-US" altLang="zh-CN" dirty="0">
                <a:latin typeface="KaiTi" panose="02010609060101010101" pitchFamily="49" charset="-122"/>
                <a:ea typeface="KaiTi" panose="02010609060101010101" pitchFamily="49" charset="-122"/>
                <a:cs typeface="Times New Roman" panose="02020603050405020304" pitchFamily="18" charset="0"/>
              </a:rPr>
              <a:t>；</a:t>
            </a:r>
            <a:endParaRPr lang="zh-CN" altLang="zh-CN" dirty="0">
              <a:latin typeface="KaiTi" panose="02010609060101010101" pitchFamily="49" charset="-122"/>
              <a:ea typeface="KaiTi" panose="02010609060101010101" pitchFamily="49" charset="-122"/>
              <a:cs typeface="Times New Roman" panose="02020603050405020304" pitchFamily="18" charset="0"/>
            </a:endParaRPr>
          </a:p>
          <a:p>
            <a:pPr marL="342900" lvl="0" indent="-342900">
              <a:spcAft>
                <a:spcPts val="1000"/>
              </a:spcAft>
              <a:buFont typeface="+mj-lt"/>
              <a:buAutoNum type="arabicPeriod"/>
            </a:pPr>
            <a:r>
              <a:rPr lang="en-US" altLang="zh-CN" dirty="0" err="1">
                <a:latin typeface="KaiTi" panose="02010609060101010101" pitchFamily="49" charset="-122"/>
                <a:ea typeface="KaiTi" panose="02010609060101010101" pitchFamily="49" charset="-122"/>
                <a:cs typeface="Times New Roman" panose="02020603050405020304" pitchFamily="18" charset="0"/>
              </a:rPr>
              <a:t>能够处理高维度数据，不用做特征选择</a:t>
            </a:r>
            <a:r>
              <a:rPr lang="en-US" altLang="zh-CN" dirty="0">
                <a:latin typeface="KaiTi" panose="02010609060101010101" pitchFamily="49" charset="-122"/>
                <a:ea typeface="KaiTi" panose="02010609060101010101" pitchFamily="49" charset="-122"/>
                <a:cs typeface="Times New Roman" panose="02020603050405020304" pitchFamily="18" charset="0"/>
              </a:rPr>
              <a:t>。</a:t>
            </a:r>
            <a:endParaRPr lang="zh-CN" altLang="zh-CN" dirty="0">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endParaRPr lang="zh-CN" altLang="zh-CN" sz="2400" dirty="0">
              <a:effectLst/>
              <a:latin typeface="KaiTi" panose="02010609060101010101" pitchFamily="49" charset="-122"/>
              <a:ea typeface="KaiTi" panose="02010609060101010101" pitchFamily="49" charset="-122"/>
              <a:cs typeface="Times New Roman" panose="02020603050405020304" pitchFamily="18" charset="0"/>
            </a:endParaRPr>
          </a:p>
        </p:txBody>
      </p:sp>
      <p:sp>
        <p:nvSpPr>
          <p:cNvPr id="5" name="文本框 22">
            <a:extLst>
              <a:ext uri="{FF2B5EF4-FFF2-40B4-BE49-F238E27FC236}">
                <a16:creationId xmlns:a16="http://schemas.microsoft.com/office/drawing/2014/main" id="{5D796D6F-5E60-4C2E-9EE2-34E8E7C5567D}"/>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a:t>
            </a:r>
          </a:p>
        </p:txBody>
      </p:sp>
    </p:spTree>
    <p:extLst>
      <p:ext uri="{BB962C8B-B14F-4D97-AF65-F5344CB8AC3E}">
        <p14:creationId xmlns:p14="http://schemas.microsoft.com/office/powerpoint/2010/main" val="2606674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4B2AC396-7C1E-453D-8208-84A7162B0A6F}"/>
              </a:ext>
            </a:extLst>
          </p:cNvPr>
          <p:cNvSpPr txBox="1"/>
          <p:nvPr/>
        </p:nvSpPr>
        <p:spPr>
          <a:xfrm>
            <a:off x="588038" y="1440123"/>
            <a:ext cx="6117562" cy="4231415"/>
          </a:xfrm>
          <a:prstGeom prst="rect">
            <a:avLst/>
          </a:prstGeom>
          <a:noFill/>
        </p:spPr>
        <p:txBody>
          <a:bodyPr wrap="square">
            <a:spAutoFit/>
          </a:bodyPr>
          <a:lstStyle/>
          <a:p>
            <a:pPr>
              <a:lnSpc>
                <a:spcPct val="150000"/>
              </a:lnSpc>
              <a:spcBef>
                <a:spcPts val="900"/>
              </a:spcBef>
              <a:spcAft>
                <a:spcPts val="900"/>
              </a:spcAft>
            </a:pPr>
            <a:r>
              <a:rPr lang="en-US" altLang="zh-CN" sz="2000" b="1" dirty="0">
                <a:effectLst/>
                <a:latin typeface="KaiTi" panose="02010609060101010101" pitchFamily="49" charset="-122"/>
                <a:ea typeface="KaiTi" panose="02010609060101010101" pitchFamily="49" charset="-122"/>
                <a:cs typeface="Times New Roman" panose="02020603050405020304" pitchFamily="18" charset="0"/>
              </a:rPr>
              <a:t>Random </a:t>
            </a:r>
            <a:r>
              <a:rPr lang="en-US" altLang="zh-CN" sz="2000" b="1" dirty="0" err="1">
                <a:effectLst/>
                <a:latin typeface="KaiTi" panose="02010609060101010101" pitchFamily="49" charset="-122"/>
                <a:ea typeface="KaiTi" panose="02010609060101010101" pitchFamily="49" charset="-122"/>
                <a:cs typeface="Times New Roman" panose="02020603050405020304" pitchFamily="18" charset="0"/>
              </a:rPr>
              <a:t>Forest（随机森林）</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是</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 Bagging </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的扩展变体，它在以决策树为基学习器构建</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 Bagging </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集成的基础上，进一步在决策树的训练过程中引入了随机特征选择，因此可以概括</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 </a:t>
            </a:r>
            <a:r>
              <a:rPr lang="zh-CN" altLang="en-US" sz="2000" dirty="0">
                <a:effectLst/>
                <a:latin typeface="KaiTi" panose="02010609060101010101" pitchFamily="49" charset="-122"/>
                <a:ea typeface="KaiTi" panose="02010609060101010101" pitchFamily="49" charset="-122"/>
                <a:cs typeface="Times New Roman" panose="02020603050405020304" pitchFamily="18" charset="0"/>
              </a:rPr>
              <a:t>随机森林</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包括四个部分</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dirty="0">
              <a:effectLst/>
              <a:latin typeface="KaiTi" panose="02010609060101010101" pitchFamily="49" charset="-122"/>
              <a:ea typeface="KaiTi" panose="02010609060101010101" pitchFamily="49" charset="-122"/>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随机选择样本（放回抽样</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dirty="0">
              <a:effectLst/>
              <a:latin typeface="KaiTi" panose="02010609060101010101" pitchFamily="49" charset="-122"/>
              <a:ea typeface="KaiTi" panose="02010609060101010101" pitchFamily="49" charset="-122"/>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随机选择特征</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dirty="0">
              <a:effectLst/>
              <a:latin typeface="KaiTi" panose="02010609060101010101" pitchFamily="49" charset="-122"/>
              <a:ea typeface="KaiTi" panose="02010609060101010101" pitchFamily="49" charset="-122"/>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构建决策树</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dirty="0">
              <a:effectLst/>
              <a:latin typeface="KaiTi" panose="02010609060101010101" pitchFamily="49" charset="-122"/>
              <a:ea typeface="KaiTi" panose="02010609060101010101" pitchFamily="49" charset="-122"/>
              <a:cs typeface="Times New Roman" panose="02020603050405020304" pitchFamily="18" charset="0"/>
            </a:endParaRPr>
          </a:p>
          <a:p>
            <a:pPr marL="342900" lvl="0" indent="-342900">
              <a:lnSpc>
                <a:spcPct val="150000"/>
              </a:lnSpc>
              <a:spcAft>
                <a:spcPts val="1000"/>
              </a:spcAft>
              <a:buFont typeface="+mj-lt"/>
              <a:buAutoNum type="arabicPeriod"/>
            </a:pP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随机森林投票（平均</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dirty="0">
              <a:effectLst/>
              <a:latin typeface="KaiTi" panose="02010609060101010101" pitchFamily="49" charset="-122"/>
              <a:ea typeface="KaiTi" panose="02010609060101010101" pitchFamily="49" charset="-122"/>
              <a:cs typeface="Times New Roman" panose="02020603050405020304" pitchFamily="18" charset="0"/>
            </a:endParaRPr>
          </a:p>
        </p:txBody>
      </p:sp>
      <p:sp>
        <p:nvSpPr>
          <p:cNvPr id="5" name="文本框 22">
            <a:extLst>
              <a:ext uri="{FF2B5EF4-FFF2-40B4-BE49-F238E27FC236}">
                <a16:creationId xmlns:a16="http://schemas.microsoft.com/office/drawing/2014/main" id="{5D796D6F-5E60-4C2E-9EE2-34E8E7C5567D}"/>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a:t>
            </a:r>
          </a:p>
        </p:txBody>
      </p:sp>
      <p:grpSp>
        <p:nvGrpSpPr>
          <p:cNvPr id="6" name="组合 5">
            <a:extLst>
              <a:ext uri="{FF2B5EF4-FFF2-40B4-BE49-F238E27FC236}">
                <a16:creationId xmlns:a16="http://schemas.microsoft.com/office/drawing/2014/main" id="{8BDDBB74-806E-4D7E-B32F-01A588A7B45C}"/>
              </a:ext>
            </a:extLst>
          </p:cNvPr>
          <p:cNvGrpSpPr/>
          <p:nvPr/>
        </p:nvGrpSpPr>
        <p:grpSpPr>
          <a:xfrm>
            <a:off x="6776882" y="1525020"/>
            <a:ext cx="4692976" cy="4275668"/>
            <a:chOff x="6776882" y="1525020"/>
            <a:chExt cx="4692976" cy="4275668"/>
          </a:xfrm>
        </p:grpSpPr>
        <p:sp>
          <p:nvSpPr>
            <p:cNvPr id="7" name="矩形: 圆角 6">
              <a:extLst>
                <a:ext uri="{FF2B5EF4-FFF2-40B4-BE49-F238E27FC236}">
                  <a16:creationId xmlns:a16="http://schemas.microsoft.com/office/drawing/2014/main" id="{D920D8C9-28FB-4EDD-B44F-8FB888FA14DA}"/>
                </a:ext>
              </a:extLst>
            </p:cNvPr>
            <p:cNvSpPr/>
            <p:nvPr/>
          </p:nvSpPr>
          <p:spPr>
            <a:xfrm>
              <a:off x="8479288" y="1525020"/>
              <a:ext cx="1277381" cy="498654"/>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训练数据</a:t>
              </a:r>
            </a:p>
          </p:txBody>
        </p:sp>
        <p:sp>
          <p:nvSpPr>
            <p:cNvPr id="9" name="矩形: 圆角 8">
              <a:extLst>
                <a:ext uri="{FF2B5EF4-FFF2-40B4-BE49-F238E27FC236}">
                  <a16:creationId xmlns:a16="http://schemas.microsoft.com/office/drawing/2014/main" id="{836491EC-C035-409E-A8E1-0E22D9321A2E}"/>
                </a:ext>
              </a:extLst>
            </p:cNvPr>
            <p:cNvSpPr/>
            <p:nvPr/>
          </p:nvSpPr>
          <p:spPr>
            <a:xfrm>
              <a:off x="6799385" y="3870193"/>
              <a:ext cx="4670473" cy="8893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0" name="Google Shape;3382;p54">
              <a:extLst>
                <a:ext uri="{FF2B5EF4-FFF2-40B4-BE49-F238E27FC236}">
                  <a16:creationId xmlns:a16="http://schemas.microsoft.com/office/drawing/2014/main" id="{9A85ADB7-7575-465D-ADAB-6D549F288B8A}"/>
                </a:ext>
              </a:extLst>
            </p:cNvPr>
            <p:cNvSpPr/>
            <p:nvPr/>
          </p:nvSpPr>
          <p:spPr>
            <a:xfrm>
              <a:off x="8147272" y="2386818"/>
              <a:ext cx="2025830" cy="449196"/>
            </a:xfrm>
            <a:prstGeom prst="rect">
              <a:avLst/>
            </a:prstGeom>
            <a:solidFill>
              <a:srgbClr val="F3F3F3"/>
            </a:solidFill>
            <a:ln w="19050" cap="flat" cmpd="sng">
              <a:solidFill>
                <a:srgbClr val="00458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latin typeface="KaiTi" panose="02010609060101010101" pitchFamily="49" charset="-122"/>
                  <a:ea typeface="KaiTi" panose="02010609060101010101" pitchFamily="49" charset="-122"/>
                </a:rPr>
                <a:t>Bootstrap</a:t>
              </a:r>
              <a:r>
                <a:rPr lang="zh-CN" altLang="en-US" sz="1600" dirty="0">
                  <a:latin typeface="KaiTi" panose="02010609060101010101" pitchFamily="49" charset="-122"/>
                  <a:ea typeface="KaiTi" panose="02010609060101010101" pitchFamily="49" charset="-122"/>
                </a:rPr>
                <a:t>随机抽取</a:t>
              </a:r>
              <a:endParaRPr sz="1600" dirty="0">
                <a:latin typeface="KaiTi" panose="02010609060101010101" pitchFamily="49" charset="-122"/>
                <a:ea typeface="KaiTi" panose="02010609060101010101" pitchFamily="49" charset="-122"/>
              </a:endParaRPr>
            </a:p>
          </p:txBody>
        </p:sp>
        <p:cxnSp>
          <p:nvCxnSpPr>
            <p:cNvPr id="11" name="Google Shape;3386;p54">
              <a:extLst>
                <a:ext uri="{FF2B5EF4-FFF2-40B4-BE49-F238E27FC236}">
                  <a16:creationId xmlns:a16="http://schemas.microsoft.com/office/drawing/2014/main" id="{3C9A4443-DBD3-483C-8C97-88077AC50D47}"/>
                </a:ext>
              </a:extLst>
            </p:cNvPr>
            <p:cNvCxnSpPr>
              <a:cxnSpLocks/>
              <a:stCxn id="23" idx="2"/>
            </p:cNvCxnSpPr>
            <p:nvPr/>
          </p:nvCxnSpPr>
          <p:spPr>
            <a:xfrm flipH="1">
              <a:off x="9397218" y="4495464"/>
              <a:ext cx="306327" cy="671968"/>
            </a:xfrm>
            <a:prstGeom prst="straightConnector1">
              <a:avLst/>
            </a:prstGeom>
            <a:noFill/>
            <a:ln w="19050" cap="flat" cmpd="sng">
              <a:solidFill>
                <a:schemeClr val="dk2"/>
              </a:solidFill>
              <a:prstDash val="solid"/>
              <a:round/>
              <a:headEnd type="none" w="med" len="med"/>
              <a:tailEnd type="triangle" w="med" len="med"/>
            </a:ln>
          </p:spPr>
        </p:cxnSp>
        <p:cxnSp>
          <p:nvCxnSpPr>
            <p:cNvPr id="12" name="Google Shape;3388;p54">
              <a:extLst>
                <a:ext uri="{FF2B5EF4-FFF2-40B4-BE49-F238E27FC236}">
                  <a16:creationId xmlns:a16="http://schemas.microsoft.com/office/drawing/2014/main" id="{422063D0-C728-4D7A-84B1-F48220E110C9}"/>
                </a:ext>
              </a:extLst>
            </p:cNvPr>
            <p:cNvCxnSpPr>
              <a:cxnSpLocks/>
            </p:cNvCxnSpPr>
            <p:nvPr/>
          </p:nvCxnSpPr>
          <p:spPr>
            <a:xfrm>
              <a:off x="7390581" y="3593606"/>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13" name="Google Shape;3386;p54">
              <a:extLst>
                <a:ext uri="{FF2B5EF4-FFF2-40B4-BE49-F238E27FC236}">
                  <a16:creationId xmlns:a16="http://schemas.microsoft.com/office/drawing/2014/main" id="{E3DD10D1-67C2-4F5D-982A-3EB393039EC3}"/>
                </a:ext>
              </a:extLst>
            </p:cNvPr>
            <p:cNvCxnSpPr>
              <a:cxnSpLocks/>
            </p:cNvCxnSpPr>
            <p:nvPr/>
          </p:nvCxnSpPr>
          <p:spPr>
            <a:xfrm>
              <a:off x="9491003" y="2835885"/>
              <a:ext cx="204240" cy="388274"/>
            </a:xfrm>
            <a:prstGeom prst="straightConnector1">
              <a:avLst/>
            </a:prstGeom>
            <a:noFill/>
            <a:ln w="19050" cap="flat" cmpd="sng">
              <a:solidFill>
                <a:schemeClr val="dk2"/>
              </a:solidFill>
              <a:prstDash val="solid"/>
              <a:round/>
              <a:headEnd type="none" w="med" len="med"/>
              <a:tailEnd type="triangle" w="med" len="med"/>
            </a:ln>
          </p:spPr>
        </p:cxnSp>
        <p:sp>
          <p:nvSpPr>
            <p:cNvPr id="14" name="Google Shape;3382;p54">
              <a:extLst>
                <a:ext uri="{FF2B5EF4-FFF2-40B4-BE49-F238E27FC236}">
                  <a16:creationId xmlns:a16="http://schemas.microsoft.com/office/drawing/2014/main" id="{A6889AE9-82F6-466C-8EDD-E6403B0EC449}"/>
                </a:ext>
              </a:extLst>
            </p:cNvPr>
            <p:cNvSpPr/>
            <p:nvPr/>
          </p:nvSpPr>
          <p:spPr>
            <a:xfrm>
              <a:off x="6910505" y="3224160"/>
              <a:ext cx="936780" cy="384494"/>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决策树</a:t>
              </a:r>
              <a:r>
                <a:rPr lang="en-US" altLang="zh-CN" sz="1600" dirty="0">
                  <a:latin typeface="KaiTi" panose="02010609060101010101" pitchFamily="49" charset="-122"/>
                  <a:ea typeface="KaiTi" panose="02010609060101010101" pitchFamily="49" charset="-122"/>
                </a:rPr>
                <a:t>1</a:t>
              </a:r>
              <a:endParaRPr sz="1600" dirty="0">
                <a:latin typeface="KaiTi" panose="02010609060101010101" pitchFamily="49" charset="-122"/>
                <a:ea typeface="KaiTi" panose="02010609060101010101" pitchFamily="49" charset="-122"/>
              </a:endParaRPr>
            </a:p>
          </p:txBody>
        </p:sp>
        <p:sp>
          <p:nvSpPr>
            <p:cNvPr id="15" name="Google Shape;3380;p54">
              <a:extLst>
                <a:ext uri="{FF2B5EF4-FFF2-40B4-BE49-F238E27FC236}">
                  <a16:creationId xmlns:a16="http://schemas.microsoft.com/office/drawing/2014/main" id="{3E76E8A2-6937-4DB5-BD5F-2857577409DC}"/>
                </a:ext>
              </a:extLst>
            </p:cNvPr>
            <p:cNvSpPr/>
            <p:nvPr/>
          </p:nvSpPr>
          <p:spPr>
            <a:xfrm>
              <a:off x="8323576" y="5167432"/>
              <a:ext cx="1848359" cy="633256"/>
            </a:xfrm>
            <a:prstGeom prst="rect">
              <a:avLst/>
            </a:prstGeom>
            <a:ln>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最终预测结果</a:t>
              </a:r>
              <a:endParaRPr sz="2000" dirty="0">
                <a:latin typeface="KaiTi" panose="02010609060101010101" pitchFamily="49" charset="-122"/>
                <a:ea typeface="KaiTi" panose="02010609060101010101" pitchFamily="49" charset="-122"/>
              </a:endParaRPr>
            </a:p>
          </p:txBody>
        </p:sp>
        <p:sp>
          <p:nvSpPr>
            <p:cNvPr id="16" name="矩形: 圆角 15">
              <a:extLst>
                <a:ext uri="{FF2B5EF4-FFF2-40B4-BE49-F238E27FC236}">
                  <a16:creationId xmlns:a16="http://schemas.microsoft.com/office/drawing/2014/main" id="{261E0019-3501-47D1-9D76-2B9C24CFDCFA}"/>
                </a:ext>
              </a:extLst>
            </p:cNvPr>
            <p:cNvSpPr/>
            <p:nvPr/>
          </p:nvSpPr>
          <p:spPr>
            <a:xfrm>
              <a:off x="6776882" y="4998326"/>
              <a:ext cx="763390" cy="714638"/>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测试数据</a:t>
              </a:r>
            </a:p>
          </p:txBody>
        </p:sp>
        <p:cxnSp>
          <p:nvCxnSpPr>
            <p:cNvPr id="17" name="Google Shape;3386;p54">
              <a:extLst>
                <a:ext uri="{FF2B5EF4-FFF2-40B4-BE49-F238E27FC236}">
                  <a16:creationId xmlns:a16="http://schemas.microsoft.com/office/drawing/2014/main" id="{4D0D38F8-608C-4937-AB71-DAB007DF4220}"/>
                </a:ext>
              </a:extLst>
            </p:cNvPr>
            <p:cNvCxnSpPr>
              <a:cxnSpLocks/>
              <a:stCxn id="16" idx="0"/>
            </p:cNvCxnSpPr>
            <p:nvPr/>
          </p:nvCxnSpPr>
          <p:spPr>
            <a:xfrm flipV="1">
              <a:off x="7158577" y="4746686"/>
              <a:ext cx="456734" cy="251640"/>
            </a:xfrm>
            <a:prstGeom prst="straightConnector1">
              <a:avLst/>
            </a:prstGeom>
            <a:noFill/>
            <a:ln w="19050" cap="flat" cmpd="sng">
              <a:solidFill>
                <a:schemeClr val="dk2"/>
              </a:solidFill>
              <a:prstDash val="solid"/>
              <a:round/>
              <a:headEnd type="none" w="med" len="med"/>
              <a:tailEnd type="triangle" w="med" len="med"/>
            </a:ln>
          </p:spPr>
        </p:cxnSp>
        <p:sp>
          <p:nvSpPr>
            <p:cNvPr id="18" name="Google Shape;3382;p54">
              <a:extLst>
                <a:ext uri="{FF2B5EF4-FFF2-40B4-BE49-F238E27FC236}">
                  <a16:creationId xmlns:a16="http://schemas.microsoft.com/office/drawing/2014/main" id="{ED214AD8-BF92-468A-878C-D37B4F31037E}"/>
                </a:ext>
              </a:extLst>
            </p:cNvPr>
            <p:cNvSpPr/>
            <p:nvPr/>
          </p:nvSpPr>
          <p:spPr>
            <a:xfrm>
              <a:off x="10335674" y="3224160"/>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决策树</a:t>
              </a:r>
              <a:r>
                <a:rPr lang="en-US" altLang="zh-CN" sz="1600" dirty="0">
                  <a:latin typeface="KaiTi" panose="02010609060101010101" pitchFamily="49" charset="-122"/>
                  <a:ea typeface="KaiTi" panose="02010609060101010101" pitchFamily="49" charset="-122"/>
                </a:rPr>
                <a:t>n</a:t>
              </a:r>
              <a:endParaRPr sz="1600" dirty="0">
                <a:latin typeface="KaiTi" panose="02010609060101010101" pitchFamily="49" charset="-122"/>
                <a:ea typeface="KaiTi" panose="02010609060101010101" pitchFamily="49" charset="-122"/>
              </a:endParaRPr>
            </a:p>
          </p:txBody>
        </p:sp>
        <p:sp>
          <p:nvSpPr>
            <p:cNvPr id="19" name="Google Shape;3382;p54">
              <a:extLst>
                <a:ext uri="{FF2B5EF4-FFF2-40B4-BE49-F238E27FC236}">
                  <a16:creationId xmlns:a16="http://schemas.microsoft.com/office/drawing/2014/main" id="{A0123744-D4C8-4EFF-A07A-911F89EA6F90}"/>
                </a:ext>
              </a:extLst>
            </p:cNvPr>
            <p:cNvSpPr/>
            <p:nvPr/>
          </p:nvSpPr>
          <p:spPr>
            <a:xfrm>
              <a:off x="9236321" y="3225078"/>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latin typeface="KaiTi" panose="02010609060101010101" pitchFamily="49" charset="-122"/>
                  <a:ea typeface="KaiTi" panose="02010609060101010101" pitchFamily="49" charset="-122"/>
                </a:rPr>
                <a:t>……</a:t>
              </a:r>
              <a:endParaRPr sz="1600" dirty="0">
                <a:latin typeface="KaiTi" panose="02010609060101010101" pitchFamily="49" charset="-122"/>
                <a:ea typeface="KaiTi" panose="02010609060101010101" pitchFamily="49" charset="-122"/>
              </a:endParaRPr>
            </a:p>
          </p:txBody>
        </p:sp>
        <p:sp>
          <p:nvSpPr>
            <p:cNvPr id="20" name="Google Shape;3382;p54">
              <a:extLst>
                <a:ext uri="{FF2B5EF4-FFF2-40B4-BE49-F238E27FC236}">
                  <a16:creationId xmlns:a16="http://schemas.microsoft.com/office/drawing/2014/main" id="{BE51E732-F507-4670-AFCE-A0452493A381}"/>
                </a:ext>
              </a:extLst>
            </p:cNvPr>
            <p:cNvSpPr/>
            <p:nvPr/>
          </p:nvSpPr>
          <p:spPr>
            <a:xfrm>
              <a:off x="8118032" y="3224159"/>
              <a:ext cx="936780" cy="38542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决策树</a:t>
              </a:r>
              <a:r>
                <a:rPr lang="en-US" altLang="zh-CN" sz="1600" dirty="0">
                  <a:latin typeface="KaiTi" panose="02010609060101010101" pitchFamily="49" charset="-122"/>
                  <a:ea typeface="KaiTi" panose="02010609060101010101" pitchFamily="49" charset="-122"/>
                </a:rPr>
                <a:t>2</a:t>
              </a:r>
              <a:endParaRPr sz="1600" dirty="0">
                <a:latin typeface="KaiTi" panose="02010609060101010101" pitchFamily="49" charset="-122"/>
                <a:ea typeface="KaiTi" panose="02010609060101010101" pitchFamily="49" charset="-122"/>
              </a:endParaRPr>
            </a:p>
          </p:txBody>
        </p:sp>
        <p:sp>
          <p:nvSpPr>
            <p:cNvPr id="21" name="Google Shape;3382;p54">
              <a:extLst>
                <a:ext uri="{FF2B5EF4-FFF2-40B4-BE49-F238E27FC236}">
                  <a16:creationId xmlns:a16="http://schemas.microsoft.com/office/drawing/2014/main" id="{34CFD69C-828A-4721-8426-9BDFB6E373CD}"/>
                </a:ext>
              </a:extLst>
            </p:cNvPr>
            <p:cNvSpPr/>
            <p:nvPr/>
          </p:nvSpPr>
          <p:spPr>
            <a:xfrm>
              <a:off x="6979728" y="4108950"/>
              <a:ext cx="936780" cy="384494"/>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预测</a:t>
              </a:r>
              <a:r>
                <a:rPr lang="en-US" altLang="zh-CN" sz="1600" dirty="0">
                  <a:latin typeface="KaiTi" panose="02010609060101010101" pitchFamily="49" charset="-122"/>
                  <a:ea typeface="KaiTi" panose="02010609060101010101" pitchFamily="49" charset="-122"/>
                </a:rPr>
                <a:t>1</a:t>
              </a:r>
              <a:endParaRPr sz="1600" dirty="0">
                <a:latin typeface="KaiTi" panose="02010609060101010101" pitchFamily="49" charset="-122"/>
                <a:ea typeface="KaiTi" panose="02010609060101010101" pitchFamily="49" charset="-122"/>
              </a:endParaRPr>
            </a:p>
          </p:txBody>
        </p:sp>
        <p:sp>
          <p:nvSpPr>
            <p:cNvPr id="22" name="Google Shape;3382;p54">
              <a:extLst>
                <a:ext uri="{FF2B5EF4-FFF2-40B4-BE49-F238E27FC236}">
                  <a16:creationId xmlns:a16="http://schemas.microsoft.com/office/drawing/2014/main" id="{BBB35EEB-D425-45B5-839A-97A5B898E93B}"/>
                </a:ext>
              </a:extLst>
            </p:cNvPr>
            <p:cNvSpPr/>
            <p:nvPr/>
          </p:nvSpPr>
          <p:spPr>
            <a:xfrm>
              <a:off x="10335674" y="4108950"/>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预测</a:t>
              </a:r>
              <a:r>
                <a:rPr lang="en-US" altLang="zh-CN" sz="1600" dirty="0">
                  <a:latin typeface="KaiTi" panose="02010609060101010101" pitchFamily="49" charset="-122"/>
                  <a:ea typeface="KaiTi" panose="02010609060101010101" pitchFamily="49" charset="-122"/>
                </a:rPr>
                <a:t>n</a:t>
              </a:r>
              <a:endParaRPr sz="1600" dirty="0">
                <a:latin typeface="KaiTi" panose="02010609060101010101" pitchFamily="49" charset="-122"/>
                <a:ea typeface="KaiTi" panose="02010609060101010101" pitchFamily="49" charset="-122"/>
              </a:endParaRPr>
            </a:p>
          </p:txBody>
        </p:sp>
        <p:sp>
          <p:nvSpPr>
            <p:cNvPr id="23" name="Google Shape;3382;p54">
              <a:extLst>
                <a:ext uri="{FF2B5EF4-FFF2-40B4-BE49-F238E27FC236}">
                  <a16:creationId xmlns:a16="http://schemas.microsoft.com/office/drawing/2014/main" id="{73A29D97-60FF-4683-9E09-31C27F22E06D}"/>
                </a:ext>
              </a:extLst>
            </p:cNvPr>
            <p:cNvSpPr/>
            <p:nvPr/>
          </p:nvSpPr>
          <p:spPr>
            <a:xfrm>
              <a:off x="9235155" y="4111888"/>
              <a:ext cx="936780" cy="383576"/>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CN" sz="1600" dirty="0">
                  <a:latin typeface="KaiTi" panose="02010609060101010101" pitchFamily="49" charset="-122"/>
                  <a:ea typeface="KaiTi" panose="02010609060101010101" pitchFamily="49" charset="-122"/>
                </a:rPr>
                <a:t>……</a:t>
              </a:r>
              <a:endParaRPr sz="1600" dirty="0">
                <a:latin typeface="KaiTi" panose="02010609060101010101" pitchFamily="49" charset="-122"/>
                <a:ea typeface="KaiTi" panose="02010609060101010101" pitchFamily="49" charset="-122"/>
              </a:endParaRPr>
            </a:p>
          </p:txBody>
        </p:sp>
        <p:sp>
          <p:nvSpPr>
            <p:cNvPr id="24" name="Google Shape;3382;p54">
              <a:extLst>
                <a:ext uri="{FF2B5EF4-FFF2-40B4-BE49-F238E27FC236}">
                  <a16:creationId xmlns:a16="http://schemas.microsoft.com/office/drawing/2014/main" id="{3476A54F-B539-44DF-ABF5-A0B94B88A229}"/>
                </a:ext>
              </a:extLst>
            </p:cNvPr>
            <p:cNvSpPr/>
            <p:nvPr/>
          </p:nvSpPr>
          <p:spPr>
            <a:xfrm>
              <a:off x="8118032" y="4107105"/>
              <a:ext cx="936780" cy="385421"/>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预测</a:t>
              </a:r>
              <a:r>
                <a:rPr lang="en-US" altLang="zh-CN" sz="1600" dirty="0">
                  <a:latin typeface="KaiTi" panose="02010609060101010101" pitchFamily="49" charset="-122"/>
                  <a:ea typeface="KaiTi" panose="02010609060101010101" pitchFamily="49" charset="-122"/>
                </a:rPr>
                <a:t>2</a:t>
              </a:r>
              <a:endParaRPr sz="1600" dirty="0">
                <a:latin typeface="KaiTi" panose="02010609060101010101" pitchFamily="49" charset="-122"/>
                <a:ea typeface="KaiTi" panose="02010609060101010101" pitchFamily="49" charset="-122"/>
              </a:endParaRPr>
            </a:p>
          </p:txBody>
        </p:sp>
        <p:cxnSp>
          <p:nvCxnSpPr>
            <p:cNvPr id="25" name="Google Shape;3386;p54">
              <a:extLst>
                <a:ext uri="{FF2B5EF4-FFF2-40B4-BE49-F238E27FC236}">
                  <a16:creationId xmlns:a16="http://schemas.microsoft.com/office/drawing/2014/main" id="{900C38D7-0119-45AE-9387-3C8243485947}"/>
                </a:ext>
              </a:extLst>
            </p:cNvPr>
            <p:cNvCxnSpPr>
              <a:cxnSpLocks/>
            </p:cNvCxnSpPr>
            <p:nvPr/>
          </p:nvCxnSpPr>
          <p:spPr>
            <a:xfrm flipH="1">
              <a:off x="7394476" y="2842338"/>
              <a:ext cx="1074326" cy="388274"/>
            </a:xfrm>
            <a:prstGeom prst="straightConnector1">
              <a:avLst/>
            </a:prstGeom>
            <a:noFill/>
            <a:ln w="19050" cap="flat" cmpd="sng">
              <a:solidFill>
                <a:schemeClr val="dk2"/>
              </a:solidFill>
              <a:prstDash val="solid"/>
              <a:round/>
              <a:headEnd type="none" w="med" len="med"/>
              <a:tailEnd type="triangle" w="med" len="med"/>
            </a:ln>
          </p:spPr>
        </p:cxnSp>
        <p:cxnSp>
          <p:nvCxnSpPr>
            <p:cNvPr id="26" name="Google Shape;3386;p54">
              <a:extLst>
                <a:ext uri="{FF2B5EF4-FFF2-40B4-BE49-F238E27FC236}">
                  <a16:creationId xmlns:a16="http://schemas.microsoft.com/office/drawing/2014/main" id="{FD38170F-16BA-4410-8778-EC8E7C60B122}"/>
                </a:ext>
              </a:extLst>
            </p:cNvPr>
            <p:cNvCxnSpPr>
              <a:cxnSpLocks/>
              <a:endCxn id="20" idx="0"/>
            </p:cNvCxnSpPr>
            <p:nvPr/>
          </p:nvCxnSpPr>
          <p:spPr>
            <a:xfrm flipH="1">
              <a:off x="8586422" y="2833092"/>
              <a:ext cx="301978" cy="391067"/>
            </a:xfrm>
            <a:prstGeom prst="straightConnector1">
              <a:avLst/>
            </a:prstGeom>
            <a:noFill/>
            <a:ln w="19050" cap="flat" cmpd="sng">
              <a:solidFill>
                <a:schemeClr val="dk2"/>
              </a:solidFill>
              <a:prstDash val="solid"/>
              <a:round/>
              <a:headEnd type="none" w="med" len="med"/>
              <a:tailEnd type="triangle" w="med" len="med"/>
            </a:ln>
          </p:spPr>
        </p:cxnSp>
        <p:cxnSp>
          <p:nvCxnSpPr>
            <p:cNvPr id="27" name="Google Shape;3386;p54">
              <a:extLst>
                <a:ext uri="{FF2B5EF4-FFF2-40B4-BE49-F238E27FC236}">
                  <a16:creationId xmlns:a16="http://schemas.microsoft.com/office/drawing/2014/main" id="{1CB8FB52-8FA1-45BD-9DBB-DCB0A1A543A3}"/>
                </a:ext>
              </a:extLst>
            </p:cNvPr>
            <p:cNvCxnSpPr>
              <a:cxnSpLocks/>
              <a:endCxn id="18" idx="0"/>
            </p:cNvCxnSpPr>
            <p:nvPr/>
          </p:nvCxnSpPr>
          <p:spPr>
            <a:xfrm>
              <a:off x="9778368" y="2842338"/>
              <a:ext cx="1025696" cy="381822"/>
            </a:xfrm>
            <a:prstGeom prst="straightConnector1">
              <a:avLst/>
            </a:prstGeom>
            <a:noFill/>
            <a:ln w="19050" cap="flat" cmpd="sng">
              <a:solidFill>
                <a:schemeClr val="dk2"/>
              </a:solidFill>
              <a:prstDash val="solid"/>
              <a:round/>
              <a:headEnd type="none" w="med" len="med"/>
              <a:tailEnd type="triangle" w="med" len="med"/>
            </a:ln>
          </p:spPr>
        </p:cxnSp>
        <p:cxnSp>
          <p:nvCxnSpPr>
            <p:cNvPr id="28" name="Google Shape;3388;p54">
              <a:extLst>
                <a:ext uri="{FF2B5EF4-FFF2-40B4-BE49-F238E27FC236}">
                  <a16:creationId xmlns:a16="http://schemas.microsoft.com/office/drawing/2014/main" id="{B0DBFE18-3A4F-4196-8AEC-51005F0732C9}"/>
                </a:ext>
              </a:extLst>
            </p:cNvPr>
            <p:cNvCxnSpPr>
              <a:cxnSpLocks/>
            </p:cNvCxnSpPr>
            <p:nvPr/>
          </p:nvCxnSpPr>
          <p:spPr>
            <a:xfrm>
              <a:off x="8571111" y="3607736"/>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29" name="Google Shape;3388;p54">
              <a:extLst>
                <a:ext uri="{FF2B5EF4-FFF2-40B4-BE49-F238E27FC236}">
                  <a16:creationId xmlns:a16="http://schemas.microsoft.com/office/drawing/2014/main" id="{D632E175-AD2F-4051-A608-63FEA19B187B}"/>
                </a:ext>
              </a:extLst>
            </p:cNvPr>
            <p:cNvCxnSpPr>
              <a:cxnSpLocks/>
            </p:cNvCxnSpPr>
            <p:nvPr/>
          </p:nvCxnSpPr>
          <p:spPr>
            <a:xfrm>
              <a:off x="10804576" y="3607736"/>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30" name="Google Shape;3388;p54">
              <a:extLst>
                <a:ext uri="{FF2B5EF4-FFF2-40B4-BE49-F238E27FC236}">
                  <a16:creationId xmlns:a16="http://schemas.microsoft.com/office/drawing/2014/main" id="{785E1F56-8C20-435F-8948-5C6964D3C38D}"/>
                </a:ext>
              </a:extLst>
            </p:cNvPr>
            <p:cNvCxnSpPr>
              <a:cxnSpLocks/>
            </p:cNvCxnSpPr>
            <p:nvPr/>
          </p:nvCxnSpPr>
          <p:spPr>
            <a:xfrm>
              <a:off x="9696391" y="3613442"/>
              <a:ext cx="7790" cy="513499"/>
            </a:xfrm>
            <a:prstGeom prst="straightConnector1">
              <a:avLst/>
            </a:prstGeom>
            <a:noFill/>
            <a:ln w="19050" cap="flat" cmpd="sng">
              <a:solidFill>
                <a:schemeClr val="dk2"/>
              </a:solidFill>
              <a:prstDash val="solid"/>
              <a:round/>
              <a:headEnd type="none" w="med" len="med"/>
              <a:tailEnd type="triangle" w="med" len="med"/>
            </a:ln>
          </p:spPr>
        </p:cxnSp>
        <p:cxnSp>
          <p:nvCxnSpPr>
            <p:cNvPr id="31" name="Google Shape;3386;p54">
              <a:extLst>
                <a:ext uri="{FF2B5EF4-FFF2-40B4-BE49-F238E27FC236}">
                  <a16:creationId xmlns:a16="http://schemas.microsoft.com/office/drawing/2014/main" id="{D252A9DA-0D00-4E04-B221-D16FE5151314}"/>
                </a:ext>
              </a:extLst>
            </p:cNvPr>
            <p:cNvCxnSpPr>
              <a:cxnSpLocks/>
              <a:stCxn id="24" idx="2"/>
            </p:cNvCxnSpPr>
            <p:nvPr/>
          </p:nvCxnSpPr>
          <p:spPr>
            <a:xfrm>
              <a:off x="8586422" y="4492526"/>
              <a:ext cx="451329" cy="674906"/>
            </a:xfrm>
            <a:prstGeom prst="straightConnector1">
              <a:avLst/>
            </a:prstGeom>
            <a:noFill/>
            <a:ln w="19050" cap="flat" cmpd="sng">
              <a:solidFill>
                <a:schemeClr val="dk2"/>
              </a:solidFill>
              <a:prstDash val="solid"/>
              <a:round/>
              <a:headEnd type="none" w="med" len="med"/>
              <a:tailEnd type="triangle" w="med" len="med"/>
            </a:ln>
          </p:spPr>
        </p:cxnSp>
        <p:cxnSp>
          <p:nvCxnSpPr>
            <p:cNvPr id="32" name="Google Shape;3386;p54">
              <a:extLst>
                <a:ext uri="{FF2B5EF4-FFF2-40B4-BE49-F238E27FC236}">
                  <a16:creationId xmlns:a16="http://schemas.microsoft.com/office/drawing/2014/main" id="{BBCF14BF-AF1A-4CDD-BD4D-6D59957E4386}"/>
                </a:ext>
              </a:extLst>
            </p:cNvPr>
            <p:cNvCxnSpPr>
              <a:cxnSpLocks/>
              <a:stCxn id="22" idx="2"/>
            </p:cNvCxnSpPr>
            <p:nvPr/>
          </p:nvCxnSpPr>
          <p:spPr>
            <a:xfrm flipH="1">
              <a:off x="9703546" y="4492526"/>
              <a:ext cx="1100518" cy="662888"/>
            </a:xfrm>
            <a:prstGeom prst="straightConnector1">
              <a:avLst/>
            </a:prstGeom>
            <a:noFill/>
            <a:ln w="19050" cap="flat" cmpd="sng">
              <a:solidFill>
                <a:schemeClr val="dk2"/>
              </a:solidFill>
              <a:prstDash val="solid"/>
              <a:round/>
              <a:headEnd type="none" w="med" len="med"/>
              <a:tailEnd type="triangle" w="med" len="med"/>
            </a:ln>
          </p:spPr>
        </p:cxnSp>
        <p:cxnSp>
          <p:nvCxnSpPr>
            <p:cNvPr id="33" name="Google Shape;3386;p54">
              <a:extLst>
                <a:ext uri="{FF2B5EF4-FFF2-40B4-BE49-F238E27FC236}">
                  <a16:creationId xmlns:a16="http://schemas.microsoft.com/office/drawing/2014/main" id="{62BFAB12-1EA6-46E3-A06E-AB32039D0C31}"/>
                </a:ext>
              </a:extLst>
            </p:cNvPr>
            <p:cNvCxnSpPr>
              <a:cxnSpLocks/>
            </p:cNvCxnSpPr>
            <p:nvPr/>
          </p:nvCxnSpPr>
          <p:spPr>
            <a:xfrm>
              <a:off x="7481701" y="4497336"/>
              <a:ext cx="1323759" cy="670096"/>
            </a:xfrm>
            <a:prstGeom prst="straightConnector1">
              <a:avLst/>
            </a:prstGeom>
            <a:noFill/>
            <a:ln w="19050" cap="flat" cmpd="sng">
              <a:solidFill>
                <a:schemeClr val="dk2"/>
              </a:solidFill>
              <a:prstDash val="solid"/>
              <a:round/>
              <a:headEnd type="none" w="med" len="med"/>
              <a:tailEnd type="triangle" w="med" len="med"/>
            </a:ln>
          </p:spPr>
        </p:cxnSp>
        <p:sp>
          <p:nvSpPr>
            <p:cNvPr id="34" name="箭头: 下 33">
              <a:extLst>
                <a:ext uri="{FF2B5EF4-FFF2-40B4-BE49-F238E27FC236}">
                  <a16:creationId xmlns:a16="http://schemas.microsoft.com/office/drawing/2014/main" id="{621412B0-0295-48CF-95A9-2F6DC43F844F}"/>
                </a:ext>
              </a:extLst>
            </p:cNvPr>
            <p:cNvSpPr/>
            <p:nvPr/>
          </p:nvSpPr>
          <p:spPr>
            <a:xfrm>
              <a:off x="9110671" y="2035692"/>
              <a:ext cx="49516" cy="344802"/>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ysClr val="windowText" lastClr="000000"/>
                  </a:solidFill>
                </a:ln>
                <a:solidFill>
                  <a:sysClr val="windowText" lastClr="000000"/>
                </a:solidFill>
                <a:latin typeface="KaiTi" panose="02010609060101010101" pitchFamily="49" charset="-122"/>
                <a:ea typeface="KaiTi" panose="02010609060101010101" pitchFamily="49" charset="-122"/>
              </a:endParaRPr>
            </a:p>
          </p:txBody>
        </p:sp>
      </p:grpSp>
    </p:spTree>
    <p:extLst>
      <p:ext uri="{BB962C8B-B14F-4D97-AF65-F5344CB8AC3E}">
        <p14:creationId xmlns:p14="http://schemas.microsoft.com/office/powerpoint/2010/main" val="1100494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4B2AC396-7C1E-453D-8208-84A7162B0A6F}"/>
              </a:ext>
            </a:extLst>
          </p:cNvPr>
          <p:cNvSpPr txBox="1"/>
          <p:nvPr/>
        </p:nvSpPr>
        <p:spPr>
          <a:xfrm>
            <a:off x="588039" y="1440123"/>
            <a:ext cx="5212539" cy="4423775"/>
          </a:xfrm>
          <a:prstGeom prst="rect">
            <a:avLst/>
          </a:prstGeom>
          <a:noFill/>
        </p:spPr>
        <p:txBody>
          <a:bodyPr wrap="square">
            <a:spAutoFit/>
          </a:bodyPr>
          <a:lstStyle/>
          <a:p>
            <a:pPr>
              <a:lnSpc>
                <a:spcPct val="150000"/>
              </a:lnSpc>
              <a:spcBef>
                <a:spcPts val="900"/>
              </a:spcBef>
              <a:spcAft>
                <a:spcPts val="900"/>
              </a:spcAft>
            </a:pP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随机选择样本和</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 Bagging </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相同，采用的是</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 </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Bootstraping</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 </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自助采样法；</a:t>
            </a:r>
            <a:r>
              <a:rPr lang="en-US" altLang="zh-CN" sz="2000" dirty="0" err="1">
                <a:solidFill>
                  <a:srgbClr val="FF0000"/>
                </a:solidFill>
                <a:effectLst/>
                <a:latin typeface="KaiTi" panose="02010609060101010101" pitchFamily="49" charset="-122"/>
                <a:ea typeface="KaiTi" panose="02010609060101010101" pitchFamily="49" charset="-122"/>
                <a:cs typeface="Times New Roman" panose="02020603050405020304" pitchFamily="18" charset="0"/>
              </a:rPr>
              <a:t>随机选择</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特征是指在每个节点在分裂过程中都是随机选择特征的（区别与每棵树随机选择一批特征</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dirty="0">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这种随机性导致随机森林的偏差会有稍微的增加（相比于单棵不随机树</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r>
              <a:rPr lang="en-US" altLang="zh-CN" sz="2000" dirty="0" err="1">
                <a:effectLst/>
                <a:latin typeface="KaiTi" panose="02010609060101010101" pitchFamily="49" charset="-122"/>
                <a:ea typeface="KaiTi" panose="02010609060101010101" pitchFamily="49" charset="-122"/>
                <a:cs typeface="Times New Roman" panose="02020603050405020304" pitchFamily="18" charset="0"/>
              </a:rPr>
              <a:t>但是由于随机森林的“平均”特性，会使得它的方差减小，而且方差的减小补偿了偏差的增大，因此总体而言是更好的模型</a:t>
            </a:r>
            <a:r>
              <a:rPr lang="en-US" altLang="zh-CN" sz="20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dirty="0">
              <a:effectLst/>
              <a:latin typeface="KaiTi" panose="02010609060101010101" pitchFamily="49" charset="-122"/>
              <a:ea typeface="KaiTi" panose="02010609060101010101" pitchFamily="49" charset="-122"/>
              <a:cs typeface="Times New Roman" panose="02020603050405020304" pitchFamily="18" charset="0"/>
            </a:endParaRPr>
          </a:p>
        </p:txBody>
      </p:sp>
      <p:sp>
        <p:nvSpPr>
          <p:cNvPr id="5" name="文本框 22">
            <a:extLst>
              <a:ext uri="{FF2B5EF4-FFF2-40B4-BE49-F238E27FC236}">
                <a16:creationId xmlns:a16="http://schemas.microsoft.com/office/drawing/2014/main" id="{5D796D6F-5E60-4C2E-9EE2-34E8E7C5567D}"/>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a:t>
            </a:r>
          </a:p>
        </p:txBody>
      </p:sp>
      <p:grpSp>
        <p:nvGrpSpPr>
          <p:cNvPr id="79" name="组合 78">
            <a:extLst>
              <a:ext uri="{FF2B5EF4-FFF2-40B4-BE49-F238E27FC236}">
                <a16:creationId xmlns:a16="http://schemas.microsoft.com/office/drawing/2014/main" id="{AFD39D3C-EC7B-442F-9756-348342524903}"/>
              </a:ext>
            </a:extLst>
          </p:cNvPr>
          <p:cNvGrpSpPr/>
          <p:nvPr/>
        </p:nvGrpSpPr>
        <p:grpSpPr>
          <a:xfrm>
            <a:off x="6550360" y="1821924"/>
            <a:ext cx="4567234" cy="3449503"/>
            <a:chOff x="7427246" y="1324866"/>
            <a:chExt cx="4567234" cy="3449503"/>
          </a:xfrm>
        </p:grpSpPr>
        <p:sp>
          <p:nvSpPr>
            <p:cNvPr id="6" name="Google Shape;99;p18">
              <a:extLst>
                <a:ext uri="{FF2B5EF4-FFF2-40B4-BE49-F238E27FC236}">
                  <a16:creationId xmlns:a16="http://schemas.microsoft.com/office/drawing/2014/main" id="{A7F36F2F-4A38-4576-A0E5-26099F28FB90}"/>
                </a:ext>
              </a:extLst>
            </p:cNvPr>
            <p:cNvSpPr/>
            <p:nvPr/>
          </p:nvSpPr>
          <p:spPr>
            <a:xfrm>
              <a:off x="7427246" y="1849323"/>
              <a:ext cx="1646416" cy="1644154"/>
            </a:xfrm>
            <a:prstGeom prst="ellipse">
              <a:avLst/>
            </a:prstGeom>
            <a:gradFill>
              <a:gsLst>
                <a:gs pos="0">
                  <a:srgbClr val="69D4F4">
                    <a:alpha val="26274"/>
                  </a:srgbClr>
                </a:gs>
                <a:gs pos="100000">
                  <a:srgbClr val="9F39D5">
                    <a:alpha val="16862"/>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latin typeface="KaiTi" panose="02010609060101010101" pitchFamily="49" charset="-122"/>
                <a:ea typeface="KaiTi" panose="02010609060101010101" pitchFamily="49" charset="-122"/>
              </a:endParaRPr>
            </a:p>
          </p:txBody>
        </p:sp>
        <p:sp>
          <p:nvSpPr>
            <p:cNvPr id="2" name="等腰三角形 1">
              <a:extLst>
                <a:ext uri="{FF2B5EF4-FFF2-40B4-BE49-F238E27FC236}">
                  <a16:creationId xmlns:a16="http://schemas.microsoft.com/office/drawing/2014/main" id="{F2A22B6D-F741-478C-8695-4FE2EC2D7D37}"/>
                </a:ext>
              </a:extLst>
            </p:cNvPr>
            <p:cNvSpPr/>
            <p:nvPr/>
          </p:nvSpPr>
          <p:spPr>
            <a:xfrm>
              <a:off x="8123349" y="2213318"/>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 name="矩形 2">
              <a:extLst>
                <a:ext uri="{FF2B5EF4-FFF2-40B4-BE49-F238E27FC236}">
                  <a16:creationId xmlns:a16="http://schemas.microsoft.com/office/drawing/2014/main" id="{59AB4FC8-AB83-4F07-BA28-5141B208DA44}"/>
                </a:ext>
              </a:extLst>
            </p:cNvPr>
            <p:cNvSpPr/>
            <p:nvPr/>
          </p:nvSpPr>
          <p:spPr>
            <a:xfrm>
              <a:off x="8154325" y="2900217"/>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4" name="椭圆 3">
              <a:extLst>
                <a:ext uri="{FF2B5EF4-FFF2-40B4-BE49-F238E27FC236}">
                  <a16:creationId xmlns:a16="http://schemas.microsoft.com/office/drawing/2014/main" id="{395CD6A5-BED5-40CE-B70B-9F3256E71236}"/>
                </a:ext>
              </a:extLst>
            </p:cNvPr>
            <p:cNvSpPr/>
            <p:nvPr/>
          </p:nvSpPr>
          <p:spPr>
            <a:xfrm>
              <a:off x="8531063" y="2766177"/>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0" name="等腰三角形 9">
              <a:extLst>
                <a:ext uri="{FF2B5EF4-FFF2-40B4-BE49-F238E27FC236}">
                  <a16:creationId xmlns:a16="http://schemas.microsoft.com/office/drawing/2014/main" id="{99724211-4CEA-48FE-BA10-9203883CE757}"/>
                </a:ext>
              </a:extLst>
            </p:cNvPr>
            <p:cNvSpPr/>
            <p:nvPr/>
          </p:nvSpPr>
          <p:spPr>
            <a:xfrm>
              <a:off x="8182212" y="3091267"/>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1" name="矩形 10">
              <a:extLst>
                <a:ext uri="{FF2B5EF4-FFF2-40B4-BE49-F238E27FC236}">
                  <a16:creationId xmlns:a16="http://schemas.microsoft.com/office/drawing/2014/main" id="{E11FCB36-1F47-45B2-AA88-12317A2ECDAC}"/>
                </a:ext>
              </a:extLst>
            </p:cNvPr>
            <p:cNvSpPr/>
            <p:nvPr/>
          </p:nvSpPr>
          <p:spPr>
            <a:xfrm>
              <a:off x="8456036" y="2201595"/>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2" name="椭圆 11">
              <a:extLst>
                <a:ext uri="{FF2B5EF4-FFF2-40B4-BE49-F238E27FC236}">
                  <a16:creationId xmlns:a16="http://schemas.microsoft.com/office/drawing/2014/main" id="{F794008A-73CF-4C8C-9FBA-384A81A27EAA}"/>
                </a:ext>
              </a:extLst>
            </p:cNvPr>
            <p:cNvSpPr/>
            <p:nvPr/>
          </p:nvSpPr>
          <p:spPr>
            <a:xfrm>
              <a:off x="8378663" y="2414954"/>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3" name="等腰三角形 12">
              <a:extLst>
                <a:ext uri="{FF2B5EF4-FFF2-40B4-BE49-F238E27FC236}">
                  <a16:creationId xmlns:a16="http://schemas.microsoft.com/office/drawing/2014/main" id="{18EFB742-71EA-4453-AC1D-C9A06DF23B7E}"/>
                </a:ext>
              </a:extLst>
            </p:cNvPr>
            <p:cNvSpPr/>
            <p:nvPr/>
          </p:nvSpPr>
          <p:spPr>
            <a:xfrm>
              <a:off x="8012407" y="2567354"/>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4" name="矩形 13">
              <a:extLst>
                <a:ext uri="{FF2B5EF4-FFF2-40B4-BE49-F238E27FC236}">
                  <a16:creationId xmlns:a16="http://schemas.microsoft.com/office/drawing/2014/main" id="{E7796389-A97C-4A7B-974D-FEF2DFBB8088}"/>
                </a:ext>
              </a:extLst>
            </p:cNvPr>
            <p:cNvSpPr/>
            <p:nvPr/>
          </p:nvSpPr>
          <p:spPr>
            <a:xfrm>
              <a:off x="8467940" y="2032497"/>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5" name="椭圆 14">
              <a:extLst>
                <a:ext uri="{FF2B5EF4-FFF2-40B4-BE49-F238E27FC236}">
                  <a16:creationId xmlns:a16="http://schemas.microsoft.com/office/drawing/2014/main" id="{7B9ACA60-9F9B-44D1-86ED-02479F02C0DC}"/>
                </a:ext>
              </a:extLst>
            </p:cNvPr>
            <p:cNvSpPr/>
            <p:nvPr/>
          </p:nvSpPr>
          <p:spPr>
            <a:xfrm>
              <a:off x="7740321" y="2826361"/>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6" name="等腰三角形 15">
              <a:extLst>
                <a:ext uri="{FF2B5EF4-FFF2-40B4-BE49-F238E27FC236}">
                  <a16:creationId xmlns:a16="http://schemas.microsoft.com/office/drawing/2014/main" id="{AEDF87FF-C37D-49A9-9609-3D4BC423CE06}"/>
                </a:ext>
              </a:extLst>
            </p:cNvPr>
            <p:cNvSpPr/>
            <p:nvPr/>
          </p:nvSpPr>
          <p:spPr>
            <a:xfrm>
              <a:off x="8568329" y="2963522"/>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7" name="矩形 16">
              <a:extLst>
                <a:ext uri="{FF2B5EF4-FFF2-40B4-BE49-F238E27FC236}">
                  <a16:creationId xmlns:a16="http://schemas.microsoft.com/office/drawing/2014/main" id="{E9011783-B1DC-4927-B7A0-AB1AD1D683BC}"/>
                </a:ext>
              </a:extLst>
            </p:cNvPr>
            <p:cNvSpPr/>
            <p:nvPr/>
          </p:nvSpPr>
          <p:spPr>
            <a:xfrm>
              <a:off x="8715612" y="2740749"/>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4" name="等腰三角形 23">
              <a:extLst>
                <a:ext uri="{FF2B5EF4-FFF2-40B4-BE49-F238E27FC236}">
                  <a16:creationId xmlns:a16="http://schemas.microsoft.com/office/drawing/2014/main" id="{B1F2AC41-AF17-4100-BCEC-6D5BCB29AF6B}"/>
                </a:ext>
              </a:extLst>
            </p:cNvPr>
            <p:cNvSpPr/>
            <p:nvPr/>
          </p:nvSpPr>
          <p:spPr>
            <a:xfrm>
              <a:off x="7743060" y="2186319"/>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5" name="矩形 24">
              <a:extLst>
                <a:ext uri="{FF2B5EF4-FFF2-40B4-BE49-F238E27FC236}">
                  <a16:creationId xmlns:a16="http://schemas.microsoft.com/office/drawing/2014/main" id="{9A52A4BD-F8EB-46EA-8D38-4EB928465B47}"/>
                </a:ext>
              </a:extLst>
            </p:cNvPr>
            <p:cNvSpPr/>
            <p:nvPr/>
          </p:nvSpPr>
          <p:spPr>
            <a:xfrm>
              <a:off x="7980080" y="3261889"/>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6" name="椭圆 25">
              <a:extLst>
                <a:ext uri="{FF2B5EF4-FFF2-40B4-BE49-F238E27FC236}">
                  <a16:creationId xmlns:a16="http://schemas.microsoft.com/office/drawing/2014/main" id="{5A276AFF-649B-4B86-87E3-F34B00A90D05}"/>
                </a:ext>
              </a:extLst>
            </p:cNvPr>
            <p:cNvSpPr/>
            <p:nvPr/>
          </p:nvSpPr>
          <p:spPr>
            <a:xfrm>
              <a:off x="8092304" y="2762987"/>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7" name="等腰三角形 26">
              <a:extLst>
                <a:ext uri="{FF2B5EF4-FFF2-40B4-BE49-F238E27FC236}">
                  <a16:creationId xmlns:a16="http://schemas.microsoft.com/office/drawing/2014/main" id="{E90F121D-0E78-4CE2-B7B8-04B4104CBF76}"/>
                </a:ext>
              </a:extLst>
            </p:cNvPr>
            <p:cNvSpPr/>
            <p:nvPr/>
          </p:nvSpPr>
          <p:spPr>
            <a:xfrm>
              <a:off x="7801923" y="3064268"/>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8" name="矩形 27">
              <a:extLst>
                <a:ext uri="{FF2B5EF4-FFF2-40B4-BE49-F238E27FC236}">
                  <a16:creationId xmlns:a16="http://schemas.microsoft.com/office/drawing/2014/main" id="{3E4CAE18-D7A8-450A-BB6A-92EEB7370FBD}"/>
                </a:ext>
              </a:extLst>
            </p:cNvPr>
            <p:cNvSpPr/>
            <p:nvPr/>
          </p:nvSpPr>
          <p:spPr>
            <a:xfrm>
              <a:off x="8033261" y="2006992"/>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9" name="椭圆 28">
              <a:extLst>
                <a:ext uri="{FF2B5EF4-FFF2-40B4-BE49-F238E27FC236}">
                  <a16:creationId xmlns:a16="http://schemas.microsoft.com/office/drawing/2014/main" id="{9E5F7BB9-2E24-40F1-ABF1-47AD1B87DC40}"/>
                </a:ext>
              </a:extLst>
            </p:cNvPr>
            <p:cNvSpPr/>
            <p:nvPr/>
          </p:nvSpPr>
          <p:spPr>
            <a:xfrm>
              <a:off x="7998374" y="2387955"/>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0" name="等腰三角形 29">
              <a:extLst>
                <a:ext uri="{FF2B5EF4-FFF2-40B4-BE49-F238E27FC236}">
                  <a16:creationId xmlns:a16="http://schemas.microsoft.com/office/drawing/2014/main" id="{527AE03F-C401-4A05-B193-20AA89F5C5F4}"/>
                </a:ext>
              </a:extLst>
            </p:cNvPr>
            <p:cNvSpPr/>
            <p:nvPr/>
          </p:nvSpPr>
          <p:spPr>
            <a:xfrm>
              <a:off x="7632118" y="2540355"/>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1" name="矩形 30">
              <a:extLst>
                <a:ext uri="{FF2B5EF4-FFF2-40B4-BE49-F238E27FC236}">
                  <a16:creationId xmlns:a16="http://schemas.microsoft.com/office/drawing/2014/main" id="{EA835193-20FD-4CAF-ABEA-F1F565E99315}"/>
                </a:ext>
              </a:extLst>
            </p:cNvPr>
            <p:cNvSpPr/>
            <p:nvPr/>
          </p:nvSpPr>
          <p:spPr>
            <a:xfrm>
              <a:off x="7602949" y="2368028"/>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2" name="椭圆 31">
              <a:extLst>
                <a:ext uri="{FF2B5EF4-FFF2-40B4-BE49-F238E27FC236}">
                  <a16:creationId xmlns:a16="http://schemas.microsoft.com/office/drawing/2014/main" id="{BA1D55E1-8DF7-4307-930C-71E84C6A1143}"/>
                </a:ext>
              </a:extLst>
            </p:cNvPr>
            <p:cNvSpPr/>
            <p:nvPr/>
          </p:nvSpPr>
          <p:spPr>
            <a:xfrm>
              <a:off x="8486800" y="3189740"/>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3" name="等腰三角形 32">
              <a:extLst>
                <a:ext uri="{FF2B5EF4-FFF2-40B4-BE49-F238E27FC236}">
                  <a16:creationId xmlns:a16="http://schemas.microsoft.com/office/drawing/2014/main" id="{F57F0D4D-46E9-4ED8-9A7F-550BA6F032D4}"/>
                </a:ext>
              </a:extLst>
            </p:cNvPr>
            <p:cNvSpPr/>
            <p:nvPr/>
          </p:nvSpPr>
          <p:spPr>
            <a:xfrm>
              <a:off x="8604423" y="2321098"/>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4" name="矩形 33">
              <a:extLst>
                <a:ext uri="{FF2B5EF4-FFF2-40B4-BE49-F238E27FC236}">
                  <a16:creationId xmlns:a16="http://schemas.microsoft.com/office/drawing/2014/main" id="{0BC10CCE-3FD2-4C6B-90ED-2AFB756B2BD3}"/>
                </a:ext>
              </a:extLst>
            </p:cNvPr>
            <p:cNvSpPr/>
            <p:nvPr/>
          </p:nvSpPr>
          <p:spPr>
            <a:xfrm>
              <a:off x="8335323" y="2713750"/>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5" name="椭圆 34">
              <a:extLst>
                <a:ext uri="{FF2B5EF4-FFF2-40B4-BE49-F238E27FC236}">
                  <a16:creationId xmlns:a16="http://schemas.microsoft.com/office/drawing/2014/main" id="{1521CC67-EC8C-408B-8CF3-8B64D587B243}"/>
                </a:ext>
              </a:extLst>
            </p:cNvPr>
            <p:cNvSpPr/>
            <p:nvPr/>
          </p:nvSpPr>
          <p:spPr>
            <a:xfrm>
              <a:off x="8210843" y="1957755"/>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6" name="Google Shape;108;p18">
              <a:extLst>
                <a:ext uri="{FF2B5EF4-FFF2-40B4-BE49-F238E27FC236}">
                  <a16:creationId xmlns:a16="http://schemas.microsoft.com/office/drawing/2014/main" id="{D4C81A60-6219-406D-8194-0CC2213E192B}"/>
                </a:ext>
              </a:extLst>
            </p:cNvPr>
            <p:cNvSpPr/>
            <p:nvPr/>
          </p:nvSpPr>
          <p:spPr>
            <a:xfrm>
              <a:off x="10063808" y="1324866"/>
              <a:ext cx="811500" cy="780600"/>
            </a:xfrm>
            <a:prstGeom prst="ellipse">
              <a:avLst/>
            </a:prstGeom>
            <a:gradFill>
              <a:gsLst>
                <a:gs pos="0">
                  <a:srgbClr val="E0EDBA">
                    <a:alpha val="79215"/>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latin typeface="KaiTi" panose="02010609060101010101" pitchFamily="49" charset="-122"/>
                <a:ea typeface="KaiTi" panose="02010609060101010101" pitchFamily="49" charset="-122"/>
              </a:endParaRPr>
            </a:p>
          </p:txBody>
        </p:sp>
        <p:sp>
          <p:nvSpPr>
            <p:cNvPr id="37" name="Google Shape;108;p18">
              <a:extLst>
                <a:ext uri="{FF2B5EF4-FFF2-40B4-BE49-F238E27FC236}">
                  <a16:creationId xmlns:a16="http://schemas.microsoft.com/office/drawing/2014/main" id="{C13A42A4-CD83-4493-B9E6-15B06D1C84E5}"/>
                </a:ext>
              </a:extLst>
            </p:cNvPr>
            <p:cNvSpPr/>
            <p:nvPr/>
          </p:nvSpPr>
          <p:spPr>
            <a:xfrm>
              <a:off x="10102452" y="2414954"/>
              <a:ext cx="811500" cy="780600"/>
            </a:xfrm>
            <a:prstGeom prst="ellipse">
              <a:avLst/>
            </a:prstGeom>
            <a:gradFill>
              <a:gsLst>
                <a:gs pos="0">
                  <a:srgbClr val="E0EDBA">
                    <a:alpha val="79215"/>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latin typeface="KaiTi" panose="02010609060101010101" pitchFamily="49" charset="-122"/>
                <a:ea typeface="KaiTi" panose="02010609060101010101" pitchFamily="49" charset="-122"/>
              </a:endParaRPr>
            </a:p>
          </p:txBody>
        </p:sp>
        <p:sp>
          <p:nvSpPr>
            <p:cNvPr id="38" name="Google Shape;108;p18">
              <a:extLst>
                <a:ext uri="{FF2B5EF4-FFF2-40B4-BE49-F238E27FC236}">
                  <a16:creationId xmlns:a16="http://schemas.microsoft.com/office/drawing/2014/main" id="{9A07FB5E-DBA3-41A4-A010-AA67A8A1150D}"/>
                </a:ext>
              </a:extLst>
            </p:cNvPr>
            <p:cNvSpPr/>
            <p:nvPr/>
          </p:nvSpPr>
          <p:spPr>
            <a:xfrm>
              <a:off x="10102452" y="3493027"/>
              <a:ext cx="811500" cy="780600"/>
            </a:xfrm>
            <a:prstGeom prst="ellipse">
              <a:avLst/>
            </a:prstGeom>
            <a:gradFill>
              <a:gsLst>
                <a:gs pos="0">
                  <a:srgbClr val="E0EDBA">
                    <a:alpha val="79215"/>
                  </a:srgbClr>
                </a:gs>
                <a:gs pos="100000">
                  <a:srgbClr val="DE87F1">
                    <a:alpha val="48235"/>
                  </a:srgbClr>
                </a:gs>
              </a:gsLst>
              <a:lin ang="13500032" scaled="0"/>
            </a:gra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endParaRPr>
                <a:solidFill>
                  <a:srgbClr val="666666"/>
                </a:solidFill>
                <a:latin typeface="KaiTi" panose="02010609060101010101" pitchFamily="49" charset="-122"/>
                <a:ea typeface="KaiTi" panose="02010609060101010101" pitchFamily="49" charset="-122"/>
              </a:endParaRPr>
            </a:p>
          </p:txBody>
        </p:sp>
        <p:cxnSp>
          <p:nvCxnSpPr>
            <p:cNvPr id="9" name="连接符: 曲线 8">
              <a:extLst>
                <a:ext uri="{FF2B5EF4-FFF2-40B4-BE49-F238E27FC236}">
                  <a16:creationId xmlns:a16="http://schemas.microsoft.com/office/drawing/2014/main" id="{8B6E8480-5623-458A-B525-E00F9F21963E}"/>
                </a:ext>
              </a:extLst>
            </p:cNvPr>
            <p:cNvCxnSpPr>
              <a:cxnSpLocks/>
              <a:stCxn id="6" idx="7"/>
            </p:cNvCxnSpPr>
            <p:nvPr/>
          </p:nvCxnSpPr>
          <p:spPr>
            <a:xfrm rot="5400000" flipH="1" flipV="1">
              <a:off x="9193828" y="1181480"/>
              <a:ext cx="547347" cy="1269902"/>
            </a:xfrm>
            <a:prstGeom prst="curved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3" name="连接符: 曲线 42">
              <a:extLst>
                <a:ext uri="{FF2B5EF4-FFF2-40B4-BE49-F238E27FC236}">
                  <a16:creationId xmlns:a16="http://schemas.microsoft.com/office/drawing/2014/main" id="{AD454C40-F8C1-45B0-821C-E6E556633875}"/>
                </a:ext>
              </a:extLst>
            </p:cNvPr>
            <p:cNvCxnSpPr>
              <a:cxnSpLocks/>
              <a:endCxn id="38" idx="2"/>
            </p:cNvCxnSpPr>
            <p:nvPr/>
          </p:nvCxnSpPr>
          <p:spPr>
            <a:xfrm>
              <a:off x="8995547" y="3033776"/>
              <a:ext cx="1106905" cy="849551"/>
            </a:xfrm>
            <a:prstGeom prst="curvedConnector3">
              <a:avLst>
                <a:gd name="adj1" fmla="val 5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4" name="连接符: 曲线 43">
              <a:extLst>
                <a:ext uri="{FF2B5EF4-FFF2-40B4-BE49-F238E27FC236}">
                  <a16:creationId xmlns:a16="http://schemas.microsoft.com/office/drawing/2014/main" id="{B5F83DA4-E852-4BED-923A-3DB4C8FB7EAF}"/>
                </a:ext>
              </a:extLst>
            </p:cNvPr>
            <p:cNvCxnSpPr>
              <a:cxnSpLocks/>
            </p:cNvCxnSpPr>
            <p:nvPr/>
          </p:nvCxnSpPr>
          <p:spPr>
            <a:xfrm>
              <a:off x="9062266" y="2745440"/>
              <a:ext cx="1067688" cy="218082"/>
            </a:xfrm>
            <a:prstGeom prst="curvedConnector3">
              <a:avLst>
                <a:gd name="adj1" fmla="val 5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7" name="连接符: 曲线 46">
              <a:extLst>
                <a:ext uri="{FF2B5EF4-FFF2-40B4-BE49-F238E27FC236}">
                  <a16:creationId xmlns:a16="http://schemas.microsoft.com/office/drawing/2014/main" id="{1B66AAB9-52A9-4736-BE0C-7592CE946239}"/>
                </a:ext>
              </a:extLst>
            </p:cNvPr>
            <p:cNvCxnSpPr>
              <a:cxnSpLocks/>
              <a:stCxn id="37" idx="1"/>
              <a:endCxn id="6" idx="6"/>
            </p:cNvCxnSpPr>
            <p:nvPr/>
          </p:nvCxnSpPr>
          <p:spPr>
            <a:xfrm rot="16200000" flipH="1" flipV="1">
              <a:off x="9576413" y="2026519"/>
              <a:ext cx="142130" cy="1147631"/>
            </a:xfrm>
            <a:prstGeom prst="curvedConnector4">
              <a:avLst>
                <a:gd name="adj1" fmla="val -55262"/>
                <a:gd name="adj2" fmla="val 55178"/>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3" name="连接符: 曲线 52">
              <a:extLst>
                <a:ext uri="{FF2B5EF4-FFF2-40B4-BE49-F238E27FC236}">
                  <a16:creationId xmlns:a16="http://schemas.microsoft.com/office/drawing/2014/main" id="{9F17B4DB-04BB-4C40-8FFC-2A628F9D834A}"/>
                </a:ext>
              </a:extLst>
            </p:cNvPr>
            <p:cNvCxnSpPr>
              <a:cxnSpLocks/>
              <a:stCxn id="36" idx="3"/>
            </p:cNvCxnSpPr>
            <p:nvPr/>
          </p:nvCxnSpPr>
          <p:spPr>
            <a:xfrm rot="5400000">
              <a:off x="9433193" y="1460578"/>
              <a:ext cx="218884" cy="1280029"/>
            </a:xfrm>
            <a:prstGeom prst="curvedConnector2">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5" name="连接符: 曲线 54">
              <a:extLst>
                <a:ext uri="{FF2B5EF4-FFF2-40B4-BE49-F238E27FC236}">
                  <a16:creationId xmlns:a16="http://schemas.microsoft.com/office/drawing/2014/main" id="{F90A152E-CBD4-4E0A-965B-1382010E7672}"/>
                </a:ext>
              </a:extLst>
            </p:cNvPr>
            <p:cNvCxnSpPr>
              <a:cxnSpLocks/>
              <a:endCxn id="6" idx="5"/>
            </p:cNvCxnSpPr>
            <p:nvPr/>
          </p:nvCxnSpPr>
          <p:spPr>
            <a:xfrm rot="10800000">
              <a:off x="8832550" y="3252697"/>
              <a:ext cx="1269902" cy="689177"/>
            </a:xfrm>
            <a:prstGeom prst="curvedConnector2">
              <a:avLst/>
            </a:prstGeom>
            <a:ln>
              <a:tailEnd type="triangle"/>
            </a:ln>
          </p:spPr>
          <p:style>
            <a:lnRef idx="1">
              <a:schemeClr val="accent6"/>
            </a:lnRef>
            <a:fillRef idx="0">
              <a:schemeClr val="accent6"/>
            </a:fillRef>
            <a:effectRef idx="0">
              <a:schemeClr val="accent6"/>
            </a:effectRef>
            <a:fontRef idx="minor">
              <a:schemeClr val="tx1"/>
            </a:fontRef>
          </p:style>
        </p:cxnSp>
        <p:sp>
          <p:nvSpPr>
            <p:cNvPr id="61" name="矩形 60">
              <a:extLst>
                <a:ext uri="{FF2B5EF4-FFF2-40B4-BE49-F238E27FC236}">
                  <a16:creationId xmlns:a16="http://schemas.microsoft.com/office/drawing/2014/main" id="{B8E48C90-1381-4D21-A9BC-AFA256703B6B}"/>
                </a:ext>
              </a:extLst>
            </p:cNvPr>
            <p:cNvSpPr/>
            <p:nvPr/>
          </p:nvSpPr>
          <p:spPr>
            <a:xfrm>
              <a:off x="10422244" y="2650154"/>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2" name="椭圆 61">
              <a:extLst>
                <a:ext uri="{FF2B5EF4-FFF2-40B4-BE49-F238E27FC236}">
                  <a16:creationId xmlns:a16="http://schemas.microsoft.com/office/drawing/2014/main" id="{222C2B1C-8A17-4CAA-9ED2-D247DE212428}"/>
                </a:ext>
              </a:extLst>
            </p:cNvPr>
            <p:cNvSpPr/>
            <p:nvPr/>
          </p:nvSpPr>
          <p:spPr>
            <a:xfrm>
              <a:off x="10344871" y="2863513"/>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3" name="等腰三角形 62">
              <a:extLst>
                <a:ext uri="{FF2B5EF4-FFF2-40B4-BE49-F238E27FC236}">
                  <a16:creationId xmlns:a16="http://schemas.microsoft.com/office/drawing/2014/main" id="{29646932-C9D4-4BD6-85DE-0B5981DFCF63}"/>
                </a:ext>
              </a:extLst>
            </p:cNvPr>
            <p:cNvSpPr/>
            <p:nvPr/>
          </p:nvSpPr>
          <p:spPr>
            <a:xfrm>
              <a:off x="10543186" y="1648873"/>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4" name="等腰三角形 63">
              <a:extLst>
                <a:ext uri="{FF2B5EF4-FFF2-40B4-BE49-F238E27FC236}">
                  <a16:creationId xmlns:a16="http://schemas.microsoft.com/office/drawing/2014/main" id="{D6368D78-E94E-4227-A2EC-5C114C7B6D1E}"/>
                </a:ext>
              </a:extLst>
            </p:cNvPr>
            <p:cNvSpPr/>
            <p:nvPr/>
          </p:nvSpPr>
          <p:spPr>
            <a:xfrm>
              <a:off x="10658262" y="2819185"/>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5" name="等腰三角形 64">
              <a:extLst>
                <a:ext uri="{FF2B5EF4-FFF2-40B4-BE49-F238E27FC236}">
                  <a16:creationId xmlns:a16="http://schemas.microsoft.com/office/drawing/2014/main" id="{99ADB177-87E8-4DCA-B8FD-424E23389D36}"/>
                </a:ext>
              </a:extLst>
            </p:cNvPr>
            <p:cNvSpPr/>
            <p:nvPr/>
          </p:nvSpPr>
          <p:spPr>
            <a:xfrm>
              <a:off x="10490005" y="1437633"/>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6" name="矩形 65">
              <a:extLst>
                <a:ext uri="{FF2B5EF4-FFF2-40B4-BE49-F238E27FC236}">
                  <a16:creationId xmlns:a16="http://schemas.microsoft.com/office/drawing/2014/main" id="{2713066D-2BFB-45A5-A602-B030389921F0}"/>
                </a:ext>
              </a:extLst>
            </p:cNvPr>
            <p:cNvSpPr/>
            <p:nvPr/>
          </p:nvSpPr>
          <p:spPr>
            <a:xfrm>
              <a:off x="10267900" y="1599635"/>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7" name="矩形 66">
              <a:extLst>
                <a:ext uri="{FF2B5EF4-FFF2-40B4-BE49-F238E27FC236}">
                  <a16:creationId xmlns:a16="http://schemas.microsoft.com/office/drawing/2014/main" id="{CEB69F18-B59B-4A05-90C2-025CF0D22267}"/>
                </a:ext>
              </a:extLst>
            </p:cNvPr>
            <p:cNvSpPr/>
            <p:nvPr/>
          </p:nvSpPr>
          <p:spPr>
            <a:xfrm>
              <a:off x="8760836" y="2506395"/>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8" name="椭圆 67">
              <a:extLst>
                <a:ext uri="{FF2B5EF4-FFF2-40B4-BE49-F238E27FC236}">
                  <a16:creationId xmlns:a16="http://schemas.microsoft.com/office/drawing/2014/main" id="{891F835A-2919-4F0B-A04B-F9BA15421EBD}"/>
                </a:ext>
              </a:extLst>
            </p:cNvPr>
            <p:cNvSpPr/>
            <p:nvPr/>
          </p:nvSpPr>
          <p:spPr>
            <a:xfrm>
              <a:off x="8531063" y="2567354"/>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9" name="椭圆 68">
              <a:extLst>
                <a:ext uri="{FF2B5EF4-FFF2-40B4-BE49-F238E27FC236}">
                  <a16:creationId xmlns:a16="http://schemas.microsoft.com/office/drawing/2014/main" id="{7DEE3B61-C671-4C44-998F-004CEF617870}"/>
                </a:ext>
              </a:extLst>
            </p:cNvPr>
            <p:cNvSpPr/>
            <p:nvPr/>
          </p:nvSpPr>
          <p:spPr>
            <a:xfrm>
              <a:off x="10381845" y="1845594"/>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1" name="椭圆 70">
              <a:extLst>
                <a:ext uri="{FF2B5EF4-FFF2-40B4-BE49-F238E27FC236}">
                  <a16:creationId xmlns:a16="http://schemas.microsoft.com/office/drawing/2014/main" id="{EF8E576C-AE27-4911-A82D-0B566A8A47C7}"/>
                </a:ext>
              </a:extLst>
            </p:cNvPr>
            <p:cNvSpPr/>
            <p:nvPr/>
          </p:nvSpPr>
          <p:spPr>
            <a:xfrm>
              <a:off x="10448595" y="3644113"/>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2" name="椭圆 71">
              <a:extLst>
                <a:ext uri="{FF2B5EF4-FFF2-40B4-BE49-F238E27FC236}">
                  <a16:creationId xmlns:a16="http://schemas.microsoft.com/office/drawing/2014/main" id="{03F4DF90-0327-426C-A3F3-3B1EA0FF00E0}"/>
                </a:ext>
              </a:extLst>
            </p:cNvPr>
            <p:cNvSpPr/>
            <p:nvPr/>
          </p:nvSpPr>
          <p:spPr>
            <a:xfrm>
              <a:off x="10407930" y="3834090"/>
              <a:ext cx="98474" cy="9847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3" name="矩形 72">
              <a:extLst>
                <a:ext uri="{FF2B5EF4-FFF2-40B4-BE49-F238E27FC236}">
                  <a16:creationId xmlns:a16="http://schemas.microsoft.com/office/drawing/2014/main" id="{A2341E13-8884-41E7-B2DB-A569EAEC47CF}"/>
                </a:ext>
              </a:extLst>
            </p:cNvPr>
            <p:cNvSpPr/>
            <p:nvPr/>
          </p:nvSpPr>
          <p:spPr>
            <a:xfrm>
              <a:off x="10246397" y="3693350"/>
              <a:ext cx="98474" cy="9847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4" name="等腰三角形 73">
              <a:extLst>
                <a:ext uri="{FF2B5EF4-FFF2-40B4-BE49-F238E27FC236}">
                  <a16:creationId xmlns:a16="http://schemas.microsoft.com/office/drawing/2014/main" id="{598A3F54-9059-4124-A73D-A742E43BBBB1}"/>
                </a:ext>
              </a:extLst>
            </p:cNvPr>
            <p:cNvSpPr/>
            <p:nvPr/>
          </p:nvSpPr>
          <p:spPr>
            <a:xfrm>
              <a:off x="10520718" y="4005753"/>
              <a:ext cx="127105" cy="98473"/>
            </a:xfrm>
            <a:prstGeom prst="triangle">
              <a:avLst/>
            </a:prstGeom>
            <a:solidFill>
              <a:schemeClr val="accent2"/>
            </a:solidFill>
            <a:ln>
              <a:solidFill>
                <a:srgbClr val="00458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5" name="Google Shape;1532;p43">
              <a:extLst>
                <a:ext uri="{FF2B5EF4-FFF2-40B4-BE49-F238E27FC236}">
                  <a16:creationId xmlns:a16="http://schemas.microsoft.com/office/drawing/2014/main" id="{BB91CBD6-3B1B-43DE-B9E7-4832296FB6F2}"/>
                </a:ext>
              </a:extLst>
            </p:cNvPr>
            <p:cNvSpPr txBox="1"/>
            <p:nvPr/>
          </p:nvSpPr>
          <p:spPr>
            <a:xfrm>
              <a:off x="7714814" y="3613303"/>
              <a:ext cx="912600" cy="376200"/>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1400" dirty="0">
                  <a:latin typeface="KaiTi" panose="02010609060101010101" pitchFamily="49" charset="-122"/>
                  <a:ea typeface="KaiTi" panose="02010609060101010101" pitchFamily="49" charset="-122"/>
                  <a:cs typeface="Consolas"/>
                  <a:sym typeface="Consolas"/>
                </a:rPr>
                <a:t>数据集</a:t>
              </a:r>
              <a:endParaRPr sz="1400" baseline="30000" dirty="0">
                <a:latin typeface="KaiTi" panose="02010609060101010101" pitchFamily="49" charset="-122"/>
                <a:ea typeface="KaiTi" panose="02010609060101010101" pitchFamily="49" charset="-122"/>
                <a:cs typeface="Consolas"/>
                <a:sym typeface="Consolas"/>
              </a:endParaRPr>
            </a:p>
          </p:txBody>
        </p:sp>
        <p:sp>
          <p:nvSpPr>
            <p:cNvPr id="76" name="Google Shape;1532;p43">
              <a:extLst>
                <a:ext uri="{FF2B5EF4-FFF2-40B4-BE49-F238E27FC236}">
                  <a16:creationId xmlns:a16="http://schemas.microsoft.com/office/drawing/2014/main" id="{8782E692-BAD9-4FEE-8862-E10F60BD1C41}"/>
                </a:ext>
              </a:extLst>
            </p:cNvPr>
            <p:cNvSpPr txBox="1"/>
            <p:nvPr/>
          </p:nvSpPr>
          <p:spPr>
            <a:xfrm>
              <a:off x="11040755" y="1527066"/>
              <a:ext cx="912600"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latin typeface="KaiTi" panose="02010609060101010101" pitchFamily="49" charset="-122"/>
                  <a:ea typeface="KaiTi" panose="02010609060101010101" pitchFamily="49" charset="-122"/>
                  <a:cs typeface="Consolas"/>
                  <a:sym typeface="Consolas"/>
                </a:rPr>
                <a:t>自助采样</a:t>
              </a:r>
              <a:endParaRPr sz="2000" baseline="30000" dirty="0">
                <a:latin typeface="KaiTi" panose="02010609060101010101" pitchFamily="49" charset="-122"/>
                <a:ea typeface="KaiTi" panose="02010609060101010101" pitchFamily="49" charset="-122"/>
                <a:cs typeface="Consolas"/>
                <a:sym typeface="Consolas"/>
              </a:endParaRPr>
            </a:p>
          </p:txBody>
        </p:sp>
        <p:sp>
          <p:nvSpPr>
            <p:cNvPr id="77" name="Google Shape;1532;p43">
              <a:extLst>
                <a:ext uri="{FF2B5EF4-FFF2-40B4-BE49-F238E27FC236}">
                  <a16:creationId xmlns:a16="http://schemas.microsoft.com/office/drawing/2014/main" id="{2E488D2F-338B-45B3-ABF5-78835C909A79}"/>
                </a:ext>
              </a:extLst>
            </p:cNvPr>
            <p:cNvSpPr txBox="1"/>
            <p:nvPr/>
          </p:nvSpPr>
          <p:spPr>
            <a:xfrm>
              <a:off x="11040755" y="2616590"/>
              <a:ext cx="912600"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latin typeface="KaiTi" panose="02010609060101010101" pitchFamily="49" charset="-122"/>
                  <a:ea typeface="KaiTi" panose="02010609060101010101" pitchFamily="49" charset="-122"/>
                  <a:cs typeface="Consolas"/>
                  <a:sym typeface="Consolas"/>
                </a:rPr>
                <a:t>自助采样</a:t>
              </a:r>
              <a:endParaRPr sz="2000" baseline="30000" dirty="0">
                <a:latin typeface="KaiTi" panose="02010609060101010101" pitchFamily="49" charset="-122"/>
                <a:ea typeface="KaiTi" panose="02010609060101010101" pitchFamily="49" charset="-122"/>
                <a:cs typeface="Consolas"/>
                <a:sym typeface="Consolas"/>
              </a:endParaRPr>
            </a:p>
          </p:txBody>
        </p:sp>
        <p:sp>
          <p:nvSpPr>
            <p:cNvPr id="78" name="Google Shape;1532;p43">
              <a:extLst>
                <a:ext uri="{FF2B5EF4-FFF2-40B4-BE49-F238E27FC236}">
                  <a16:creationId xmlns:a16="http://schemas.microsoft.com/office/drawing/2014/main" id="{F12AB565-73C2-4ECF-88C3-6B7763472F36}"/>
                </a:ext>
              </a:extLst>
            </p:cNvPr>
            <p:cNvSpPr txBox="1"/>
            <p:nvPr/>
          </p:nvSpPr>
          <p:spPr>
            <a:xfrm>
              <a:off x="11081880" y="3672966"/>
              <a:ext cx="912600"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latin typeface="KaiTi" panose="02010609060101010101" pitchFamily="49" charset="-122"/>
                  <a:ea typeface="KaiTi" panose="02010609060101010101" pitchFamily="49" charset="-122"/>
                  <a:cs typeface="Consolas"/>
                  <a:sym typeface="Consolas"/>
                </a:rPr>
                <a:t>自助采样</a:t>
              </a:r>
              <a:endParaRPr sz="2000" baseline="30000" dirty="0">
                <a:latin typeface="KaiTi" panose="02010609060101010101" pitchFamily="49" charset="-122"/>
                <a:ea typeface="KaiTi" panose="02010609060101010101" pitchFamily="49" charset="-122"/>
                <a:cs typeface="Consolas"/>
                <a:sym typeface="Consolas"/>
              </a:endParaRPr>
            </a:p>
          </p:txBody>
        </p:sp>
        <p:sp>
          <p:nvSpPr>
            <p:cNvPr id="80" name="文本框 79">
              <a:extLst>
                <a:ext uri="{FF2B5EF4-FFF2-40B4-BE49-F238E27FC236}">
                  <a16:creationId xmlns:a16="http://schemas.microsoft.com/office/drawing/2014/main" id="{F1C21CF2-52D8-4E12-901D-70CA3CE8947A}"/>
                </a:ext>
              </a:extLst>
            </p:cNvPr>
            <p:cNvSpPr txBox="1"/>
            <p:nvPr/>
          </p:nvSpPr>
          <p:spPr>
            <a:xfrm>
              <a:off x="9003255" y="4405037"/>
              <a:ext cx="2880180" cy="369332"/>
            </a:xfrm>
            <a:prstGeom prst="rect">
              <a:avLst/>
            </a:prstGeom>
            <a:noFill/>
          </p:spPr>
          <p:txBody>
            <a:bodyPr wrap="square">
              <a:spAutoFit/>
            </a:bodyPr>
            <a:lstStyle/>
            <a:p>
              <a:r>
                <a:rPr lang="en-US" altLang="zh-CN" sz="1800" dirty="0" err="1">
                  <a:effectLst/>
                  <a:latin typeface="KaiTi" panose="02010609060101010101" pitchFamily="49" charset="-122"/>
                  <a:ea typeface="KaiTi" panose="02010609060101010101" pitchFamily="49" charset="-122"/>
                  <a:cs typeface="Times New Roman" panose="02020603050405020304" pitchFamily="18" charset="0"/>
                </a:rPr>
                <a:t>Bootstraping</a:t>
              </a:r>
              <a:endParaRPr lang="zh-CN" altLang="en-US" sz="1800" dirty="0">
                <a:latin typeface="KaiTi" panose="02010609060101010101" pitchFamily="49" charset="-122"/>
                <a:ea typeface="KaiTi" panose="02010609060101010101" pitchFamily="49" charset="-122"/>
              </a:endParaRPr>
            </a:p>
          </p:txBody>
        </p:sp>
      </p:grpSp>
    </p:spTree>
    <p:extLst>
      <p:ext uri="{BB962C8B-B14F-4D97-AF65-F5344CB8AC3E}">
        <p14:creationId xmlns:p14="http://schemas.microsoft.com/office/powerpoint/2010/main" val="3410305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0DC0-F00F-4004-9B31-14FB5B2D0AF1}"/>
            </a:ext>
          </a:extLst>
        </p:cNvPr>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a:extLst>
              <a:ext uri="{FF2B5EF4-FFF2-40B4-BE49-F238E27FC236}">
                <a16:creationId xmlns:a16="http://schemas.microsoft.com/office/drawing/2014/main" id="{F82FD617-942C-34DB-F99B-99850DA764E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5" name="文本框 22">
            <a:extLst>
              <a:ext uri="{FF2B5EF4-FFF2-40B4-BE49-F238E27FC236}">
                <a16:creationId xmlns:a16="http://schemas.microsoft.com/office/drawing/2014/main" id="{CA7FBA2A-4387-6454-516E-9B91F55C734B}"/>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a:t>
            </a:r>
          </a:p>
        </p:txBody>
      </p:sp>
      <p:sp>
        <p:nvSpPr>
          <p:cNvPr id="19" name="文本框 18">
            <a:extLst>
              <a:ext uri="{FF2B5EF4-FFF2-40B4-BE49-F238E27FC236}">
                <a16:creationId xmlns:a16="http://schemas.microsoft.com/office/drawing/2014/main" id="{73B40E0D-9631-742C-4539-F08CB5FD3E60}"/>
              </a:ext>
            </a:extLst>
          </p:cNvPr>
          <p:cNvSpPr txBox="1"/>
          <p:nvPr/>
        </p:nvSpPr>
        <p:spPr>
          <a:xfrm>
            <a:off x="652658" y="1616789"/>
            <a:ext cx="10419124" cy="3894208"/>
          </a:xfrm>
          <a:prstGeom prst="rect">
            <a:avLst/>
          </a:prstGeom>
          <a:noFill/>
        </p:spPr>
        <p:txBody>
          <a:bodyPr wrap="square">
            <a:spAutoFit/>
          </a:bodyPr>
          <a:lstStyle/>
          <a:p>
            <a:pPr indent="266700" algn="just">
              <a:lnSpc>
                <a:spcPct val="150000"/>
              </a:lnSpc>
            </a:pPr>
            <a:r>
              <a:rPr lang="zh-CN" altLang="zh-CN" sz="2800" kern="100" dirty="0">
                <a:effectLst/>
                <a:latin typeface="KaiTi" panose="02010609060101010101" pitchFamily="49" charset="-122"/>
                <a:ea typeface="KaiTi" panose="02010609060101010101" pitchFamily="49" charset="-122"/>
              </a:rPr>
              <a:t>随机森林也存在以下缺点：</a:t>
            </a:r>
          </a:p>
          <a:p>
            <a:pPr indent="266700" algn="just">
              <a:lnSpc>
                <a:spcPct val="150000"/>
              </a:lnSpc>
            </a:pPr>
            <a:r>
              <a:rPr lang="en-US" altLang="zh-CN" sz="2800" kern="100" dirty="0">
                <a:effectLst/>
                <a:latin typeface="KaiTi" panose="02010609060101010101" pitchFamily="49" charset="-122"/>
                <a:ea typeface="KaiTi" panose="02010609060101010101" pitchFamily="49" charset="-122"/>
              </a:rPr>
              <a:t>(1) </a:t>
            </a:r>
            <a:r>
              <a:rPr lang="zh-CN" altLang="zh-CN" sz="2800" kern="100" dirty="0">
                <a:effectLst/>
                <a:latin typeface="KaiTi" panose="02010609060101010101" pitchFamily="49" charset="-122"/>
                <a:ea typeface="KaiTi" panose="02010609060101010101" pitchFamily="49" charset="-122"/>
              </a:rPr>
              <a:t>如果训练数据中存在噪音，随机森林中的数据集会出现过拟合的现象。</a:t>
            </a:r>
          </a:p>
          <a:p>
            <a:pPr indent="266700" algn="just">
              <a:lnSpc>
                <a:spcPct val="150000"/>
              </a:lnSpc>
            </a:pPr>
            <a:r>
              <a:rPr lang="en-US" altLang="zh-CN" sz="2800" kern="100" dirty="0">
                <a:effectLst/>
                <a:latin typeface="KaiTi" panose="02010609060101010101" pitchFamily="49" charset="-122"/>
                <a:ea typeface="KaiTi" panose="02010609060101010101" pitchFamily="49" charset="-122"/>
              </a:rPr>
              <a:t>(2) </a:t>
            </a:r>
            <a:r>
              <a:rPr lang="zh-CN" altLang="zh-CN" sz="2800" kern="100" dirty="0">
                <a:effectLst/>
                <a:latin typeface="KaiTi" panose="02010609060101010101" pitchFamily="49" charset="-122"/>
                <a:ea typeface="KaiTi" panose="02010609060101010101" pitchFamily="49" charset="-122"/>
              </a:rPr>
              <a:t>比决策树算法更复杂，计算成本更高。</a:t>
            </a:r>
          </a:p>
          <a:p>
            <a:pPr indent="266700" algn="just">
              <a:lnSpc>
                <a:spcPct val="150000"/>
              </a:lnSpc>
            </a:pPr>
            <a:r>
              <a:rPr lang="en-US" altLang="zh-CN" sz="2800" kern="100" dirty="0">
                <a:effectLst/>
                <a:latin typeface="KaiTi" panose="02010609060101010101" pitchFamily="49" charset="-122"/>
                <a:ea typeface="KaiTi" panose="02010609060101010101" pitchFamily="49" charset="-122"/>
              </a:rPr>
              <a:t>(3) </a:t>
            </a:r>
            <a:r>
              <a:rPr lang="zh-CN" altLang="zh-CN" sz="2800" kern="100" dirty="0">
                <a:effectLst/>
                <a:latin typeface="KaiTi" panose="02010609060101010101" pitchFamily="49" charset="-122"/>
                <a:ea typeface="KaiTi" panose="02010609060101010101" pitchFamily="49" charset="-122"/>
              </a:rPr>
              <a:t>由于其本身的复杂性，它们比其他类似的算法需要更多的时间来训练。</a:t>
            </a:r>
          </a:p>
        </p:txBody>
      </p:sp>
    </p:spTree>
    <p:extLst>
      <p:ext uri="{BB962C8B-B14F-4D97-AF65-F5344CB8AC3E}">
        <p14:creationId xmlns:p14="http://schemas.microsoft.com/office/powerpoint/2010/main" val="4026909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5AE3452F-F287-46E9-F572-DAF49F2E5F0F}"/>
              </a:ext>
            </a:extLst>
          </p:cNvPr>
          <p:cNvPicPr>
            <a:picLocks noChangeAspect="1"/>
          </p:cNvPicPr>
          <p:nvPr/>
        </p:nvPicPr>
        <p:blipFill>
          <a:blip r:embed="rId3"/>
          <a:stretch>
            <a:fillRect/>
          </a:stretch>
        </p:blipFill>
        <p:spPr>
          <a:xfrm>
            <a:off x="362688" y="1427648"/>
            <a:ext cx="7772400" cy="4619445"/>
          </a:xfrm>
          <a:prstGeom prst="rect">
            <a:avLst/>
          </a:prstGeom>
        </p:spPr>
      </p:pic>
      <p:sp>
        <p:nvSpPr>
          <p:cNvPr id="6" name="文本框 22">
            <a:extLst>
              <a:ext uri="{FF2B5EF4-FFF2-40B4-BE49-F238E27FC236}">
                <a16:creationId xmlns:a16="http://schemas.microsoft.com/office/drawing/2014/main" id="{6B56B441-E8E8-4713-4322-79F2ED1F8F82}"/>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 </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 代码</a:t>
            </a:r>
          </a:p>
        </p:txBody>
      </p:sp>
      <p:pic>
        <p:nvPicPr>
          <p:cNvPr id="8" name="그림 7">
            <a:extLst>
              <a:ext uri="{FF2B5EF4-FFF2-40B4-BE49-F238E27FC236}">
                <a16:creationId xmlns:a16="http://schemas.microsoft.com/office/drawing/2014/main" id="{4C20CEA4-779B-2D70-CB30-4DFF85ECB5C4}"/>
              </a:ext>
            </a:extLst>
          </p:cNvPr>
          <p:cNvPicPr>
            <a:picLocks noChangeAspect="1"/>
          </p:cNvPicPr>
          <p:nvPr/>
        </p:nvPicPr>
        <p:blipFill>
          <a:blip r:embed="rId4"/>
          <a:stretch>
            <a:fillRect/>
          </a:stretch>
        </p:blipFill>
        <p:spPr>
          <a:xfrm>
            <a:off x="5905954" y="1737149"/>
            <a:ext cx="5817473" cy="1691851"/>
          </a:xfrm>
          <a:prstGeom prst="rect">
            <a:avLst/>
          </a:prstGeom>
        </p:spPr>
      </p:pic>
      <p:pic>
        <p:nvPicPr>
          <p:cNvPr id="9" name="그림 8">
            <a:extLst>
              <a:ext uri="{FF2B5EF4-FFF2-40B4-BE49-F238E27FC236}">
                <a16:creationId xmlns:a16="http://schemas.microsoft.com/office/drawing/2014/main" id="{FF92620E-04F9-9DA9-54AD-DBA42438B66A}"/>
              </a:ext>
            </a:extLst>
          </p:cNvPr>
          <p:cNvPicPr>
            <a:picLocks noChangeAspect="1"/>
          </p:cNvPicPr>
          <p:nvPr/>
        </p:nvPicPr>
        <p:blipFill>
          <a:blip r:embed="rId5"/>
          <a:stretch>
            <a:fillRect/>
          </a:stretch>
        </p:blipFill>
        <p:spPr>
          <a:xfrm>
            <a:off x="5906312" y="4724211"/>
            <a:ext cx="5817115" cy="1842888"/>
          </a:xfrm>
          <a:prstGeom prst="rect">
            <a:avLst/>
          </a:prstGeom>
        </p:spPr>
      </p:pic>
    </p:spTree>
    <p:extLst>
      <p:ext uri="{BB962C8B-B14F-4D97-AF65-F5344CB8AC3E}">
        <p14:creationId xmlns:p14="http://schemas.microsoft.com/office/powerpoint/2010/main" val="3662502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EC809B34-B054-8CA8-06E4-4C82E48BF02C}"/>
              </a:ext>
            </a:extLst>
          </p:cNvPr>
          <p:cNvPicPr>
            <a:picLocks noChangeAspect="1"/>
          </p:cNvPicPr>
          <p:nvPr/>
        </p:nvPicPr>
        <p:blipFill>
          <a:blip r:embed="rId2"/>
          <a:stretch>
            <a:fillRect/>
          </a:stretch>
        </p:blipFill>
        <p:spPr>
          <a:xfrm>
            <a:off x="3907972" y="1313974"/>
            <a:ext cx="7772400" cy="2562904"/>
          </a:xfrm>
          <a:prstGeom prst="rect">
            <a:avLst/>
          </a:prstGeom>
        </p:spPr>
      </p:pic>
      <p:pic>
        <p:nvPicPr>
          <p:cNvPr id="7170" name="Picture 2">
            <a:extLst>
              <a:ext uri="{FF2B5EF4-FFF2-40B4-BE49-F238E27FC236}">
                <a16:creationId xmlns:a16="http://schemas.microsoft.com/office/drawing/2014/main" id="{C2DC10A3-0C08-B87D-0FEF-BB5B86D9DE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3688" y="3876878"/>
            <a:ext cx="5568269" cy="287983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22">
            <a:extLst>
              <a:ext uri="{FF2B5EF4-FFF2-40B4-BE49-F238E27FC236}">
                <a16:creationId xmlns:a16="http://schemas.microsoft.com/office/drawing/2014/main" id="{8519E468-5285-AE1B-49D4-47741B5B7BCE}"/>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 </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 代码</a:t>
            </a:r>
          </a:p>
        </p:txBody>
      </p:sp>
    </p:spTree>
    <p:extLst>
      <p:ext uri="{BB962C8B-B14F-4D97-AF65-F5344CB8AC3E}">
        <p14:creationId xmlns:p14="http://schemas.microsoft.com/office/powerpoint/2010/main" val="3086068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AF64405B-3764-A43C-C062-8A1C666C872B}"/>
              </a:ext>
            </a:extLst>
          </p:cNvPr>
          <p:cNvPicPr>
            <a:picLocks noChangeAspect="1"/>
          </p:cNvPicPr>
          <p:nvPr/>
        </p:nvPicPr>
        <p:blipFill>
          <a:blip r:embed="rId2"/>
          <a:stretch>
            <a:fillRect/>
          </a:stretch>
        </p:blipFill>
        <p:spPr>
          <a:xfrm>
            <a:off x="1572984" y="1592973"/>
            <a:ext cx="8570533" cy="4481255"/>
          </a:xfrm>
          <a:prstGeom prst="rect">
            <a:avLst/>
          </a:prstGeom>
        </p:spPr>
      </p:pic>
      <p:sp>
        <p:nvSpPr>
          <p:cNvPr id="5" name="文本框 22">
            <a:extLst>
              <a:ext uri="{FF2B5EF4-FFF2-40B4-BE49-F238E27FC236}">
                <a16:creationId xmlns:a16="http://schemas.microsoft.com/office/drawing/2014/main" id="{961F49FA-F322-2F56-6C5B-C753CBB3B402}"/>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 </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 代码</a:t>
            </a:r>
          </a:p>
        </p:txBody>
      </p:sp>
    </p:spTree>
    <p:extLst>
      <p:ext uri="{BB962C8B-B14F-4D97-AF65-F5344CB8AC3E}">
        <p14:creationId xmlns:p14="http://schemas.microsoft.com/office/powerpoint/2010/main" val="4233755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9210CD7A-9071-3CFD-5851-76CC79609DF7}"/>
              </a:ext>
            </a:extLst>
          </p:cNvPr>
          <p:cNvPicPr>
            <a:picLocks noChangeAspect="1"/>
          </p:cNvPicPr>
          <p:nvPr/>
        </p:nvPicPr>
        <p:blipFill>
          <a:blip r:embed="rId3"/>
          <a:stretch>
            <a:fillRect/>
          </a:stretch>
        </p:blipFill>
        <p:spPr>
          <a:xfrm>
            <a:off x="293688" y="1518557"/>
            <a:ext cx="7444704" cy="4754788"/>
          </a:xfrm>
          <a:prstGeom prst="rect">
            <a:avLst/>
          </a:prstGeom>
        </p:spPr>
      </p:pic>
      <p:pic>
        <p:nvPicPr>
          <p:cNvPr id="8196" name="Picture 4">
            <a:extLst>
              <a:ext uri="{FF2B5EF4-FFF2-40B4-BE49-F238E27FC236}">
                <a16:creationId xmlns:a16="http://schemas.microsoft.com/office/drawing/2014/main" id="{0CC05FF9-7169-0EE8-C27F-C3369D4E22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5406" y="1266628"/>
            <a:ext cx="5156594" cy="5369122"/>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22">
            <a:extLst>
              <a:ext uri="{FF2B5EF4-FFF2-40B4-BE49-F238E27FC236}">
                <a16:creationId xmlns:a16="http://schemas.microsoft.com/office/drawing/2014/main" id="{D559774F-BE32-AC49-EC59-8EFF586DD859}"/>
              </a:ext>
            </a:extLst>
          </p:cNvPr>
          <p:cNvSpPr txBox="1">
            <a:spLocks noChangeArrowheads="1"/>
          </p:cNvSpPr>
          <p:nvPr/>
        </p:nvSpPr>
        <p:spPr bwMode="auto">
          <a:xfrm>
            <a:off x="652658" y="245794"/>
            <a:ext cx="6726237" cy="6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latin typeface="KaiTi" panose="02010609060101010101" pitchFamily="49" charset="-122"/>
                <a:ea typeface="KaiTi" panose="02010609060101010101" pitchFamily="49" charset="-122"/>
              </a:rPr>
              <a:t>随机森林 </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 代码</a:t>
            </a:r>
          </a:p>
        </p:txBody>
      </p:sp>
    </p:spTree>
    <p:extLst>
      <p:ext uri="{BB962C8B-B14F-4D97-AF65-F5344CB8AC3E}">
        <p14:creationId xmlns:p14="http://schemas.microsoft.com/office/powerpoint/2010/main" val="4026811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3.AdaBoost</a:t>
            </a:r>
            <a:r>
              <a:rPr lang="zh-CN" altLang="en-US" dirty="0">
                <a:solidFill>
                  <a:schemeClr val="tx1"/>
                </a:solidFill>
              </a:rPr>
              <a:t>和</a:t>
            </a:r>
            <a:r>
              <a:rPr lang="en-US" altLang="zh-CN" dirty="0">
                <a:solidFill>
                  <a:schemeClr val="tx1"/>
                </a:solidFill>
              </a:rPr>
              <a:t>GBDT</a:t>
            </a:r>
            <a:r>
              <a:rPr lang="zh-CN" altLang="en-US" dirty="0">
                <a:solidFill>
                  <a:schemeClr val="tx1"/>
                </a:solidFill>
              </a:rPr>
              <a:t>算法</a:t>
            </a:r>
          </a:p>
        </p:txBody>
      </p:sp>
      <p:sp>
        <p:nvSpPr>
          <p:cNvPr id="2" name="对角圆角矩形 8">
            <a:extLst>
              <a:ext uri="{FF2B5EF4-FFF2-40B4-BE49-F238E27FC236}">
                <a16:creationId xmlns:a16="http://schemas.microsoft.com/office/drawing/2014/main" id="{33961E9C-1800-BBFF-D089-8E2FDCA3B27F}"/>
              </a:ext>
            </a:extLst>
          </p:cNvPr>
          <p:cNvSpPr/>
          <p:nvPr/>
        </p:nvSpPr>
        <p:spPr>
          <a:xfrm>
            <a:off x="2469689" y="3376879"/>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3" name="TextBox 6">
            <a:extLst>
              <a:ext uri="{FF2B5EF4-FFF2-40B4-BE49-F238E27FC236}">
                <a16:creationId xmlns:a16="http://schemas.microsoft.com/office/drawing/2014/main" id="{5AA34F88-C831-A07D-E0CE-02AB342FF22D}"/>
              </a:ext>
            </a:extLst>
          </p:cNvPr>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4" name="TextBox 10">
            <a:extLst>
              <a:ext uri="{FF2B5EF4-FFF2-40B4-BE49-F238E27FC236}">
                <a16:creationId xmlns:a16="http://schemas.microsoft.com/office/drawing/2014/main" id="{2674D6C9-2596-284D-7B13-16A90DA5E9EB}"/>
              </a:ext>
            </a:extLst>
          </p:cNvPr>
          <p:cNvSpPr txBox="1">
            <a:spLocks noChangeArrowheads="1"/>
          </p:cNvSpPr>
          <p:nvPr/>
        </p:nvSpPr>
        <p:spPr bwMode="auto">
          <a:xfrm>
            <a:off x="3002508" y="2683725"/>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t>
            </a:r>
            <a:r>
              <a:rPr lang="zh-CN" altLang="en-US" sz="3600" dirty="0">
                <a:latin typeface="Impact" pitchFamily="34" charset="0"/>
                <a:ea typeface="微软雅黑" pitchFamily="34" charset="-122"/>
              </a:rPr>
              <a:t>随机森林算法</a:t>
            </a:r>
          </a:p>
        </p:txBody>
      </p:sp>
      <p:sp>
        <p:nvSpPr>
          <p:cNvPr id="5" name="TextBox 11">
            <a:extLst>
              <a:ext uri="{FF2B5EF4-FFF2-40B4-BE49-F238E27FC236}">
                <a16:creationId xmlns:a16="http://schemas.microsoft.com/office/drawing/2014/main" id="{005DF576-B875-F7FD-8BB0-4B6F1F7AA0C8}"/>
              </a:ext>
            </a:extLst>
          </p:cNvPr>
          <p:cNvSpPr txBox="1">
            <a:spLocks noChangeArrowheads="1"/>
          </p:cNvSpPr>
          <p:nvPr/>
        </p:nvSpPr>
        <p:spPr bwMode="auto">
          <a:xfrm>
            <a:off x="3002507" y="4238911"/>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XGBoost</a:t>
            </a:r>
            <a:endParaRPr lang="zh-CN" altLang="en-US" sz="3600" dirty="0">
              <a:latin typeface="Impact" pitchFamily="34" charset="0"/>
              <a:ea typeface="微软雅黑" pitchFamily="34" charset="-122"/>
            </a:endParaRPr>
          </a:p>
        </p:txBody>
      </p:sp>
      <p:sp>
        <p:nvSpPr>
          <p:cNvPr id="6" name="TextBox 10">
            <a:extLst>
              <a:ext uri="{FF2B5EF4-FFF2-40B4-BE49-F238E27FC236}">
                <a16:creationId xmlns:a16="http://schemas.microsoft.com/office/drawing/2014/main" id="{0DD02629-E0CD-DD3E-E778-4D84B5A2D3E6}"/>
              </a:ext>
            </a:extLst>
          </p:cNvPr>
          <p:cNvSpPr txBox="1">
            <a:spLocks noChangeArrowheads="1"/>
          </p:cNvSpPr>
          <p:nvPr/>
        </p:nvSpPr>
        <p:spPr bwMode="auto">
          <a:xfrm>
            <a:off x="3002507" y="5054092"/>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05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
        <p:nvSpPr>
          <p:cNvPr id="11" name="TextBox 10">
            <a:extLst>
              <a:ext uri="{FF2B5EF4-FFF2-40B4-BE49-F238E27FC236}">
                <a16:creationId xmlns:a16="http://schemas.microsoft.com/office/drawing/2014/main" id="{618E63B7-E8D1-7987-8D53-63B236565B10}"/>
              </a:ext>
            </a:extLst>
          </p:cNvPr>
          <p:cNvSpPr txBox="1">
            <a:spLocks noChangeArrowheads="1"/>
          </p:cNvSpPr>
          <p:nvPr/>
        </p:nvSpPr>
        <p:spPr bwMode="auto">
          <a:xfrm>
            <a:off x="3002507" y="3423730"/>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03    AdaBoost</a:t>
            </a:r>
            <a:r>
              <a:rPr lang="zh-CN" altLang="en-US" sz="3600" dirty="0">
                <a:solidFill>
                  <a:schemeClr val="bg1"/>
                </a:solidFill>
                <a:latin typeface="Impact" pitchFamily="34" charset="0"/>
                <a:ea typeface="微软雅黑" pitchFamily="34" charset="-122"/>
              </a:rPr>
              <a:t>和</a:t>
            </a:r>
            <a:r>
              <a:rPr lang="en-US" altLang="zh-CN" sz="3600" dirty="0">
                <a:solidFill>
                  <a:schemeClr val="bg1"/>
                </a:solidFill>
                <a:latin typeface="Impact" pitchFamily="34" charset="0"/>
                <a:ea typeface="微软雅黑" pitchFamily="34" charset="-122"/>
              </a:rPr>
              <a:t>GBDT</a:t>
            </a:r>
            <a:r>
              <a:rPr lang="zh-CN" altLang="en-US" sz="3600" dirty="0">
                <a:solidFill>
                  <a:schemeClr val="bg1"/>
                </a:solidFill>
                <a:latin typeface="Impact" pitchFamily="34" charset="0"/>
                <a:ea typeface="微软雅黑" pitchFamily="34" charset="-122"/>
              </a:rPr>
              <a:t>算法</a:t>
            </a:r>
          </a:p>
        </p:txBody>
      </p:sp>
    </p:spTree>
    <p:extLst>
      <p:ext uri="{BB962C8B-B14F-4D97-AF65-F5344CB8AC3E}">
        <p14:creationId xmlns:p14="http://schemas.microsoft.com/office/powerpoint/2010/main" val="1308370198"/>
      </p:ext>
    </p:extLst>
  </p:cSld>
  <p:clrMapOvr>
    <a:masterClrMapping/>
  </p:clrMapOvr>
  <p:transition advTm="800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p:sp>
        <p:nvSpPr>
          <p:cNvPr id="18" name="文本框 17">
            <a:extLst>
              <a:ext uri="{FF2B5EF4-FFF2-40B4-BE49-F238E27FC236}">
                <a16:creationId xmlns:a16="http://schemas.microsoft.com/office/drawing/2014/main" id="{19662088-E42C-4208-9C1C-4C24610E9639}"/>
              </a:ext>
            </a:extLst>
          </p:cNvPr>
          <p:cNvSpPr txBox="1"/>
          <p:nvPr/>
        </p:nvSpPr>
        <p:spPr>
          <a:xfrm>
            <a:off x="668337" y="1414346"/>
            <a:ext cx="10754839" cy="2243050"/>
          </a:xfrm>
          <a:prstGeom prst="rect">
            <a:avLst/>
          </a:prstGeom>
          <a:noFill/>
        </p:spPr>
        <p:txBody>
          <a:bodyPr wrap="square">
            <a:spAutoFit/>
          </a:bodyPr>
          <a:lstStyle/>
          <a:p>
            <a:pPr algn="just">
              <a:lnSpc>
                <a:spcPct val="150000"/>
              </a:lnSpc>
            </a:pPr>
            <a:r>
              <a:rPr lang="en-US" altLang="zh-CN" b="1" kern="100" dirty="0">
                <a:effectLst/>
                <a:latin typeface="KaiTi" panose="02010609060101010101" pitchFamily="49" charset="-122"/>
                <a:ea typeface="KaiTi" panose="02010609060101010101" pitchFamily="49" charset="-122"/>
              </a:rPr>
              <a:t>AdaBoost</a:t>
            </a:r>
            <a:r>
              <a:rPr lang="zh-CN" altLang="zh-CN" kern="100" dirty="0">
                <a:effectLst/>
                <a:latin typeface="KaiTi" panose="02010609060101010101" pitchFamily="49" charset="-122"/>
                <a:ea typeface="KaiTi" panose="02010609060101010101" pitchFamily="49" charset="-122"/>
              </a:rPr>
              <a:t>（</a:t>
            </a:r>
            <a:r>
              <a:rPr lang="en-US" altLang="zh-CN" kern="100" dirty="0">
                <a:effectLst/>
                <a:latin typeface="KaiTi" panose="02010609060101010101" pitchFamily="49" charset="-122"/>
                <a:ea typeface="KaiTi" panose="02010609060101010101" pitchFamily="49" charset="-122"/>
              </a:rPr>
              <a:t>Adaptive Boosting</a:t>
            </a:r>
            <a:r>
              <a:rPr lang="zh-CN" altLang="zh-CN" kern="100" dirty="0">
                <a:effectLst/>
                <a:latin typeface="KaiTi" panose="02010609060101010101" pitchFamily="49" charset="-122"/>
                <a:ea typeface="KaiTi" panose="02010609060101010101" pitchFamily="49" charset="-122"/>
              </a:rPr>
              <a:t>，自适应</a:t>
            </a:r>
            <a:r>
              <a:rPr lang="zh-CN" altLang="en-US" kern="100" dirty="0">
                <a:effectLst/>
                <a:latin typeface="KaiTi" panose="02010609060101010101" pitchFamily="49" charset="-122"/>
                <a:ea typeface="KaiTi" panose="02010609060101010101" pitchFamily="49" charset="-122"/>
              </a:rPr>
              <a:t>增强</a:t>
            </a:r>
            <a:r>
              <a:rPr lang="zh-CN" altLang="zh-CN" kern="100" dirty="0">
                <a:effectLst/>
                <a:latin typeface="KaiTi" panose="02010609060101010101" pitchFamily="49" charset="-122"/>
                <a:ea typeface="KaiTi" panose="02010609060101010101" pitchFamily="49" charset="-122"/>
              </a:rPr>
              <a:t>），其自适应在于：前一个基本分类器分错的样本会得到加强，加权后的全体样本再次被用来训练下一个基本分类器。同时，在每一轮中加入一个新的弱分类器，直到达到某个预定的足够小的错误率或达到预先指定的最大迭代次数。</a:t>
            </a:r>
          </a:p>
        </p:txBody>
      </p:sp>
      <p:sp>
        <p:nvSpPr>
          <p:cNvPr id="21" name="文本框 20">
            <a:extLst>
              <a:ext uri="{FF2B5EF4-FFF2-40B4-BE49-F238E27FC236}">
                <a16:creationId xmlns:a16="http://schemas.microsoft.com/office/drawing/2014/main" id="{D8DBE70F-0B1C-4722-966B-4E8E411874AF}"/>
              </a:ext>
            </a:extLst>
          </p:cNvPr>
          <p:cNvSpPr txBox="1"/>
          <p:nvPr/>
        </p:nvSpPr>
        <p:spPr>
          <a:xfrm>
            <a:off x="668337" y="4079578"/>
            <a:ext cx="10190562" cy="584775"/>
          </a:xfrm>
          <a:prstGeom prst="rect">
            <a:avLst/>
          </a:prstGeom>
          <a:noFill/>
        </p:spPr>
        <p:txBody>
          <a:bodyPr wrap="square">
            <a:spAutoFit/>
          </a:bodyPr>
          <a:lstStyle/>
          <a:p>
            <a:pPr algn="ctr"/>
            <a:r>
              <a:rPr lang="zh-CN" altLang="en-US" sz="3200" b="1" dirty="0">
                <a:latin typeface="KaiTi" panose="02010609060101010101" pitchFamily="49" charset="-122"/>
                <a:ea typeface="KaiTi" panose="02010609060101010101" pitchFamily="49" charset="-122"/>
              </a:rPr>
              <a:t>后一个模型的训练永远是在前一个模型的基础上完成！</a:t>
            </a:r>
          </a:p>
        </p:txBody>
      </p:sp>
      <p:sp>
        <p:nvSpPr>
          <p:cNvPr id="3" name="TextBox 2">
            <a:extLst>
              <a:ext uri="{FF2B5EF4-FFF2-40B4-BE49-F238E27FC236}">
                <a16:creationId xmlns:a16="http://schemas.microsoft.com/office/drawing/2014/main" id="{71892D97-C6FB-AB91-0EF7-BC520BAE8596}"/>
              </a:ext>
            </a:extLst>
          </p:cNvPr>
          <p:cNvSpPr txBox="1"/>
          <p:nvPr/>
        </p:nvSpPr>
        <p:spPr>
          <a:xfrm>
            <a:off x="668337" y="6256085"/>
            <a:ext cx="10868334" cy="523220"/>
          </a:xfrm>
          <a:prstGeom prst="rect">
            <a:avLst/>
          </a:prstGeom>
          <a:noFill/>
        </p:spPr>
        <p:txBody>
          <a:bodyPr wrap="square">
            <a:spAutoFit/>
          </a:bodyPr>
          <a:lstStyle/>
          <a:p>
            <a:r>
              <a:rPr lang="en" altLang="ko-Kore-KR" sz="1400" b="0" i="0">
                <a:solidFill>
                  <a:srgbClr val="222222"/>
                </a:solidFill>
                <a:effectLst/>
                <a:latin typeface="Arial" panose="020B0604020202020204" pitchFamily="34" charset="0"/>
              </a:rPr>
              <a:t>Freund, Y., &amp; Schapire, R. E. (1997). A decision-theoretic generalization of on-line learning and an application to boosting. </a:t>
            </a:r>
            <a:r>
              <a:rPr lang="en" altLang="ko-Kore-KR" sz="1400" b="0" i="1">
                <a:solidFill>
                  <a:srgbClr val="222222"/>
                </a:solidFill>
                <a:effectLst/>
                <a:latin typeface="Arial" panose="020B0604020202020204" pitchFamily="34" charset="0"/>
              </a:rPr>
              <a:t>Journal of computer and system sciences</a:t>
            </a:r>
            <a:r>
              <a:rPr lang="en" altLang="ko-Kore-KR" sz="1400" b="0" i="0">
                <a:solidFill>
                  <a:srgbClr val="222222"/>
                </a:solidFill>
                <a:effectLst/>
                <a:latin typeface="Arial" panose="020B0604020202020204" pitchFamily="34" charset="0"/>
              </a:rPr>
              <a:t>, </a:t>
            </a:r>
            <a:r>
              <a:rPr lang="en" altLang="ko-Kore-KR" sz="1400" b="0" i="1">
                <a:solidFill>
                  <a:srgbClr val="222222"/>
                </a:solidFill>
                <a:effectLst/>
                <a:latin typeface="Arial" panose="020B0604020202020204" pitchFamily="34" charset="0"/>
              </a:rPr>
              <a:t>55</a:t>
            </a:r>
            <a:r>
              <a:rPr lang="en" altLang="ko-Kore-KR" sz="1400" b="0" i="0">
                <a:solidFill>
                  <a:srgbClr val="222222"/>
                </a:solidFill>
                <a:effectLst/>
                <a:latin typeface="Arial" panose="020B0604020202020204" pitchFamily="34" charset="0"/>
              </a:rPr>
              <a:t>(1), 119-139.</a:t>
            </a:r>
            <a:endParaRPr lang="ko-Kore-KR" altLang="en-US" sz="1400"/>
          </a:p>
        </p:txBody>
      </p:sp>
    </p:spTree>
    <p:extLst>
      <p:ext uri="{BB962C8B-B14F-4D97-AF65-F5344CB8AC3E}">
        <p14:creationId xmlns:p14="http://schemas.microsoft.com/office/powerpoint/2010/main" val="3303510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p:sp>
        <p:nvSpPr>
          <p:cNvPr id="19" name="文本框 18">
            <a:extLst>
              <a:ext uri="{FF2B5EF4-FFF2-40B4-BE49-F238E27FC236}">
                <a16:creationId xmlns:a16="http://schemas.microsoft.com/office/drawing/2014/main" id="{95134A67-FE35-44B3-A10D-3D98F05F38CB}"/>
              </a:ext>
            </a:extLst>
          </p:cNvPr>
          <p:cNvSpPr txBox="1"/>
          <p:nvPr/>
        </p:nvSpPr>
        <p:spPr>
          <a:xfrm>
            <a:off x="668338" y="1567529"/>
            <a:ext cx="10448841" cy="3722942"/>
          </a:xfrm>
          <a:prstGeom prst="rect">
            <a:avLst/>
          </a:prstGeom>
          <a:noFill/>
        </p:spPr>
        <p:txBody>
          <a:bodyPr wrap="square">
            <a:spAutoFit/>
          </a:bodyPr>
          <a:lstStyle/>
          <a:p>
            <a:pPr>
              <a:lnSpc>
                <a:spcPct val="150000"/>
              </a:lnSpc>
              <a:spcBef>
                <a:spcPts val="900"/>
              </a:spcBef>
              <a:spcAft>
                <a:spcPts val="900"/>
              </a:spcAft>
            </a:pPr>
            <a:r>
              <a:rPr lang="zh-CN" altLang="en-US" b="1" kern="100" dirty="0">
                <a:effectLst/>
                <a:latin typeface="KaiTi" panose="02010609060101010101" pitchFamily="49" charset="-122"/>
                <a:ea typeface="KaiTi" panose="02010609060101010101" pitchFamily="49" charset="-122"/>
                <a:cs typeface="Times New Roman" panose="02020603050405020304" pitchFamily="18" charset="0"/>
              </a:rPr>
              <a:t>算法思想</a:t>
            </a:r>
            <a:endParaRPr lang="zh-CN"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marL="342900" lvl="0" indent="-342900" algn="l">
              <a:lnSpc>
                <a:spcPct val="150000"/>
              </a:lnSpc>
              <a:spcAft>
                <a:spcPts val="1000"/>
              </a:spcAft>
              <a:buFont typeface="Arial" panose="020B0604020202020204" pitchFamily="34" charset="0"/>
              <a:buChar char="•"/>
            </a:pPr>
            <a:r>
              <a:rPr lang="zh-CN" altLang="zh-CN" kern="100" dirty="0">
                <a:effectLst/>
                <a:latin typeface="KaiTi" panose="02010609060101010101" pitchFamily="49" charset="-122"/>
                <a:ea typeface="KaiTi" panose="02010609060101010101" pitchFamily="49" charset="-122"/>
                <a:cs typeface="Times New Roman" panose="02020603050405020304" pitchFamily="18" charset="0"/>
              </a:rPr>
              <a:t>初始化训练样本的权值分布，每个样本具有相同权重；</a:t>
            </a:r>
          </a:p>
          <a:p>
            <a:pPr marL="342900" lvl="0" indent="-342900" algn="l">
              <a:lnSpc>
                <a:spcPct val="150000"/>
              </a:lnSpc>
              <a:spcAft>
                <a:spcPts val="1000"/>
              </a:spcAft>
              <a:buFont typeface="Arial" panose="020B0604020202020204" pitchFamily="34" charset="0"/>
              <a:buChar char="•"/>
            </a:pPr>
            <a:r>
              <a:rPr lang="zh-CN" altLang="zh-CN" kern="100" dirty="0">
                <a:effectLst/>
                <a:latin typeface="KaiTi" panose="02010609060101010101" pitchFamily="49" charset="-122"/>
                <a:ea typeface="KaiTi" panose="02010609060101010101" pitchFamily="49" charset="-122"/>
                <a:cs typeface="Times New Roman" panose="02020603050405020304" pitchFamily="18" charset="0"/>
              </a:rPr>
              <a:t>训练弱分类器，如果样本分类正确，则在构造下一个训练集中，它的权值就会被降低；反之提高。用更新过的样本集去训练下一个分类器；</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marL="342900" lvl="0" indent="-342900" algn="l">
              <a:lnSpc>
                <a:spcPct val="150000"/>
              </a:lnSpc>
              <a:spcAft>
                <a:spcPts val="1000"/>
              </a:spcAft>
              <a:buFont typeface="Arial" panose="020B0604020202020204" pitchFamily="34" charset="0"/>
              <a:buChar char="•"/>
            </a:pPr>
            <a:r>
              <a:rPr lang="zh-CN" altLang="zh-CN" kern="100" dirty="0">
                <a:effectLst/>
                <a:latin typeface="KaiTi" panose="02010609060101010101" pitchFamily="49" charset="-122"/>
                <a:ea typeface="KaiTi" panose="02010609060101010101" pitchFamily="49" charset="-122"/>
                <a:cs typeface="Times New Roman" panose="02020603050405020304" pitchFamily="18" charset="0"/>
              </a:rPr>
              <a:t>将所有弱分类组合成强分类器，各个弱分类器的训练过程结束后，加大分类误差率小的弱分类器的权重，降低分类误差率大的弱分类器的权重。</a:t>
            </a:r>
          </a:p>
        </p:txBody>
      </p:sp>
    </p:spTree>
    <p:extLst>
      <p:ext uri="{BB962C8B-B14F-4D97-AF65-F5344CB8AC3E}">
        <p14:creationId xmlns:p14="http://schemas.microsoft.com/office/powerpoint/2010/main" val="3158046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6F052DA-B44B-45A4-BB89-B175AA597DAE}"/>
              </a:ext>
            </a:extLst>
          </p:cNvPr>
          <p:cNvSpPr/>
          <p:nvPr/>
        </p:nvSpPr>
        <p:spPr>
          <a:xfrm>
            <a:off x="1833341" y="1517552"/>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 name="Rectangle 2">
            <a:extLst>
              <a:ext uri="{FF2B5EF4-FFF2-40B4-BE49-F238E27FC236}">
                <a16:creationId xmlns:a16="http://schemas.microsoft.com/office/drawing/2014/main" id="{820BD018-A389-4103-8DE3-ADC7FA20D05F}"/>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p:sp>
        <p:nvSpPr>
          <p:cNvPr id="2" name="椭圆 1">
            <a:extLst>
              <a:ext uri="{FF2B5EF4-FFF2-40B4-BE49-F238E27FC236}">
                <a16:creationId xmlns:a16="http://schemas.microsoft.com/office/drawing/2014/main" id="{C9C6F9CF-9AFB-40D7-92A6-3AC8BC48DC7D}"/>
              </a:ext>
            </a:extLst>
          </p:cNvPr>
          <p:cNvSpPr/>
          <p:nvPr/>
        </p:nvSpPr>
        <p:spPr>
          <a:xfrm>
            <a:off x="2245720" y="181378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 name="椭圆 5">
            <a:extLst>
              <a:ext uri="{FF2B5EF4-FFF2-40B4-BE49-F238E27FC236}">
                <a16:creationId xmlns:a16="http://schemas.microsoft.com/office/drawing/2014/main" id="{AA54ECEE-9B3E-457B-A73B-5149F5D56709}"/>
              </a:ext>
            </a:extLst>
          </p:cNvPr>
          <p:cNvSpPr/>
          <p:nvPr/>
        </p:nvSpPr>
        <p:spPr>
          <a:xfrm>
            <a:off x="2045713" y="253746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 name="椭圆 6">
            <a:extLst>
              <a:ext uri="{FF2B5EF4-FFF2-40B4-BE49-F238E27FC236}">
                <a16:creationId xmlns:a16="http://schemas.microsoft.com/office/drawing/2014/main" id="{C616DF77-3515-47D6-B11C-C0A2FBDBE062}"/>
              </a:ext>
            </a:extLst>
          </p:cNvPr>
          <p:cNvSpPr/>
          <p:nvPr/>
        </p:nvSpPr>
        <p:spPr>
          <a:xfrm>
            <a:off x="2755325" y="204238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8" name="椭圆 7">
            <a:extLst>
              <a:ext uri="{FF2B5EF4-FFF2-40B4-BE49-F238E27FC236}">
                <a16:creationId xmlns:a16="http://schemas.microsoft.com/office/drawing/2014/main" id="{9FEDF4E7-F6C5-4C57-A6F3-89146255A680}"/>
              </a:ext>
            </a:extLst>
          </p:cNvPr>
          <p:cNvSpPr/>
          <p:nvPr/>
        </p:nvSpPr>
        <p:spPr>
          <a:xfrm>
            <a:off x="2405282" y="319944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9" name="椭圆 8">
            <a:extLst>
              <a:ext uri="{FF2B5EF4-FFF2-40B4-BE49-F238E27FC236}">
                <a16:creationId xmlns:a16="http://schemas.microsoft.com/office/drawing/2014/main" id="{C66B7F79-847D-445B-8DAC-5498C07B6043}"/>
              </a:ext>
            </a:extLst>
          </p:cNvPr>
          <p:cNvSpPr/>
          <p:nvPr/>
        </p:nvSpPr>
        <p:spPr>
          <a:xfrm>
            <a:off x="3060126" y="1717990"/>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0" name="椭圆 9">
            <a:extLst>
              <a:ext uri="{FF2B5EF4-FFF2-40B4-BE49-F238E27FC236}">
                <a16:creationId xmlns:a16="http://schemas.microsoft.com/office/drawing/2014/main" id="{644AB305-0830-4B6D-967A-8447EFA28411}"/>
              </a:ext>
            </a:extLst>
          </p:cNvPr>
          <p:cNvSpPr/>
          <p:nvPr/>
        </p:nvSpPr>
        <p:spPr>
          <a:xfrm>
            <a:off x="3562571" y="207549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1" name="椭圆 10">
            <a:extLst>
              <a:ext uri="{FF2B5EF4-FFF2-40B4-BE49-F238E27FC236}">
                <a16:creationId xmlns:a16="http://schemas.microsoft.com/office/drawing/2014/main" id="{0850728F-C0D8-46A5-AF14-885F444C02CF}"/>
              </a:ext>
            </a:extLst>
          </p:cNvPr>
          <p:cNvSpPr/>
          <p:nvPr/>
        </p:nvSpPr>
        <p:spPr>
          <a:xfrm>
            <a:off x="2755326" y="278311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2" name="椭圆 11">
            <a:extLst>
              <a:ext uri="{FF2B5EF4-FFF2-40B4-BE49-F238E27FC236}">
                <a16:creationId xmlns:a16="http://schemas.microsoft.com/office/drawing/2014/main" id="{56ADB051-41E5-44F3-BB67-FAD5C636088A}"/>
              </a:ext>
            </a:extLst>
          </p:cNvPr>
          <p:cNvSpPr/>
          <p:nvPr/>
        </p:nvSpPr>
        <p:spPr>
          <a:xfrm>
            <a:off x="3422460" y="2773589"/>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3" name="椭圆 12">
            <a:extLst>
              <a:ext uri="{FF2B5EF4-FFF2-40B4-BE49-F238E27FC236}">
                <a16:creationId xmlns:a16="http://schemas.microsoft.com/office/drawing/2014/main" id="{A963D79E-25A7-4C84-92A4-2868402D0932}"/>
              </a:ext>
            </a:extLst>
          </p:cNvPr>
          <p:cNvSpPr/>
          <p:nvPr/>
        </p:nvSpPr>
        <p:spPr>
          <a:xfrm>
            <a:off x="2943444" y="319944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15" name="直接连接符 14">
            <a:extLst>
              <a:ext uri="{FF2B5EF4-FFF2-40B4-BE49-F238E27FC236}">
                <a16:creationId xmlns:a16="http://schemas.microsoft.com/office/drawing/2014/main" id="{D6A6C7B7-6CB3-4D38-BE05-C08F513C11EA}"/>
              </a:ext>
            </a:extLst>
          </p:cNvPr>
          <p:cNvCxnSpPr>
            <a:cxnSpLocks/>
          </p:cNvCxnSpPr>
          <p:nvPr/>
        </p:nvCxnSpPr>
        <p:spPr>
          <a:xfrm flipV="1">
            <a:off x="1908517" y="2405575"/>
            <a:ext cx="1922585" cy="596614"/>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18" name="矩形 17">
            <a:extLst>
              <a:ext uri="{FF2B5EF4-FFF2-40B4-BE49-F238E27FC236}">
                <a16:creationId xmlns:a16="http://schemas.microsoft.com/office/drawing/2014/main" id="{6A925D96-CF2A-48F5-85B2-7AA96181981A}"/>
              </a:ext>
            </a:extLst>
          </p:cNvPr>
          <p:cNvSpPr/>
          <p:nvPr/>
        </p:nvSpPr>
        <p:spPr>
          <a:xfrm>
            <a:off x="5424614" y="1505216"/>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9" name="椭圆 18">
            <a:extLst>
              <a:ext uri="{FF2B5EF4-FFF2-40B4-BE49-F238E27FC236}">
                <a16:creationId xmlns:a16="http://schemas.microsoft.com/office/drawing/2014/main" id="{5380C5ED-EA3B-4E16-843E-BD599B8B6D11}"/>
              </a:ext>
            </a:extLst>
          </p:cNvPr>
          <p:cNvSpPr/>
          <p:nvPr/>
        </p:nvSpPr>
        <p:spPr>
          <a:xfrm>
            <a:off x="5836993" y="18014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0" name="椭圆 19">
            <a:extLst>
              <a:ext uri="{FF2B5EF4-FFF2-40B4-BE49-F238E27FC236}">
                <a16:creationId xmlns:a16="http://schemas.microsoft.com/office/drawing/2014/main" id="{CB42AAAC-6CFE-4037-891A-C4B5ACBE17AA}"/>
              </a:ext>
            </a:extLst>
          </p:cNvPr>
          <p:cNvSpPr/>
          <p:nvPr/>
        </p:nvSpPr>
        <p:spPr>
          <a:xfrm>
            <a:off x="5636986" y="252512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1" name="椭圆 20">
            <a:extLst>
              <a:ext uri="{FF2B5EF4-FFF2-40B4-BE49-F238E27FC236}">
                <a16:creationId xmlns:a16="http://schemas.microsoft.com/office/drawing/2014/main" id="{BA0BCF26-E2AF-4141-B922-7E5FBAAE73E3}"/>
              </a:ext>
            </a:extLst>
          </p:cNvPr>
          <p:cNvSpPr/>
          <p:nvPr/>
        </p:nvSpPr>
        <p:spPr>
          <a:xfrm>
            <a:off x="6346598" y="20300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2" name="椭圆 21">
            <a:extLst>
              <a:ext uri="{FF2B5EF4-FFF2-40B4-BE49-F238E27FC236}">
                <a16:creationId xmlns:a16="http://schemas.microsoft.com/office/drawing/2014/main" id="{011C271D-52F4-49C2-83C3-4433E00E2F64}"/>
              </a:ext>
            </a:extLst>
          </p:cNvPr>
          <p:cNvSpPr/>
          <p:nvPr/>
        </p:nvSpPr>
        <p:spPr>
          <a:xfrm>
            <a:off x="5996555" y="3187111"/>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3" name="椭圆 22">
            <a:extLst>
              <a:ext uri="{FF2B5EF4-FFF2-40B4-BE49-F238E27FC236}">
                <a16:creationId xmlns:a16="http://schemas.microsoft.com/office/drawing/2014/main" id="{D269F871-39F8-4E28-8533-CBBB24D11632}"/>
              </a:ext>
            </a:extLst>
          </p:cNvPr>
          <p:cNvSpPr/>
          <p:nvPr/>
        </p:nvSpPr>
        <p:spPr>
          <a:xfrm>
            <a:off x="6651399" y="170565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24" name="椭圆 23">
            <a:extLst>
              <a:ext uri="{FF2B5EF4-FFF2-40B4-BE49-F238E27FC236}">
                <a16:creationId xmlns:a16="http://schemas.microsoft.com/office/drawing/2014/main" id="{1309D0FD-300B-45D2-A5AF-480941ED7B70}"/>
              </a:ext>
            </a:extLst>
          </p:cNvPr>
          <p:cNvSpPr/>
          <p:nvPr/>
        </p:nvSpPr>
        <p:spPr>
          <a:xfrm>
            <a:off x="7153844" y="2063162"/>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5" name="椭圆 24">
            <a:extLst>
              <a:ext uri="{FF2B5EF4-FFF2-40B4-BE49-F238E27FC236}">
                <a16:creationId xmlns:a16="http://schemas.microsoft.com/office/drawing/2014/main" id="{571B8762-9030-41F1-B8EB-1413B95AA36F}"/>
              </a:ext>
            </a:extLst>
          </p:cNvPr>
          <p:cNvSpPr/>
          <p:nvPr/>
        </p:nvSpPr>
        <p:spPr>
          <a:xfrm>
            <a:off x="6346599" y="277077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6" name="椭圆 25">
            <a:extLst>
              <a:ext uri="{FF2B5EF4-FFF2-40B4-BE49-F238E27FC236}">
                <a16:creationId xmlns:a16="http://schemas.microsoft.com/office/drawing/2014/main" id="{A8F03EA7-1D0D-456B-A5D8-7516AB7D7DC1}"/>
              </a:ext>
            </a:extLst>
          </p:cNvPr>
          <p:cNvSpPr/>
          <p:nvPr/>
        </p:nvSpPr>
        <p:spPr>
          <a:xfrm>
            <a:off x="7013733" y="2761253"/>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7" name="椭圆 26">
            <a:extLst>
              <a:ext uri="{FF2B5EF4-FFF2-40B4-BE49-F238E27FC236}">
                <a16:creationId xmlns:a16="http://schemas.microsoft.com/office/drawing/2014/main" id="{45A978C7-17D2-4ED0-ADEE-69F0089894C7}"/>
              </a:ext>
            </a:extLst>
          </p:cNvPr>
          <p:cNvSpPr/>
          <p:nvPr/>
        </p:nvSpPr>
        <p:spPr>
          <a:xfrm>
            <a:off x="6534717" y="318711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28" name="直接连接符 27">
            <a:extLst>
              <a:ext uri="{FF2B5EF4-FFF2-40B4-BE49-F238E27FC236}">
                <a16:creationId xmlns:a16="http://schemas.microsoft.com/office/drawing/2014/main" id="{97B123DC-F7BA-4794-9F6C-EE155BDA9206}"/>
              </a:ext>
            </a:extLst>
          </p:cNvPr>
          <p:cNvCxnSpPr>
            <a:cxnSpLocks/>
          </p:cNvCxnSpPr>
          <p:nvPr/>
        </p:nvCxnSpPr>
        <p:spPr>
          <a:xfrm flipV="1">
            <a:off x="5499790" y="2393239"/>
            <a:ext cx="1922585" cy="596614"/>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29" name="椭圆 28">
            <a:extLst>
              <a:ext uri="{FF2B5EF4-FFF2-40B4-BE49-F238E27FC236}">
                <a16:creationId xmlns:a16="http://schemas.microsoft.com/office/drawing/2014/main" id="{F7E36BF6-D3B7-4407-B0B3-5B465E84147D}"/>
              </a:ext>
            </a:extLst>
          </p:cNvPr>
          <p:cNvSpPr/>
          <p:nvPr/>
        </p:nvSpPr>
        <p:spPr>
          <a:xfrm>
            <a:off x="5915740" y="3107658"/>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1" name="椭圆 30">
            <a:extLst>
              <a:ext uri="{FF2B5EF4-FFF2-40B4-BE49-F238E27FC236}">
                <a16:creationId xmlns:a16="http://schemas.microsoft.com/office/drawing/2014/main" id="{E55717CD-2F9D-4777-B381-F370CC7CC7CD}"/>
              </a:ext>
            </a:extLst>
          </p:cNvPr>
          <p:cNvSpPr/>
          <p:nvPr/>
        </p:nvSpPr>
        <p:spPr>
          <a:xfrm>
            <a:off x="7090265" y="1973911"/>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32" name="椭圆 31">
            <a:extLst>
              <a:ext uri="{FF2B5EF4-FFF2-40B4-BE49-F238E27FC236}">
                <a16:creationId xmlns:a16="http://schemas.microsoft.com/office/drawing/2014/main" id="{51E4FAA3-DE73-42D3-A8C0-C6D775D9C926}"/>
              </a:ext>
            </a:extLst>
          </p:cNvPr>
          <p:cNvSpPr/>
          <p:nvPr/>
        </p:nvSpPr>
        <p:spPr>
          <a:xfrm>
            <a:off x="6579961" y="16330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33" name="矩形 32">
            <a:extLst>
              <a:ext uri="{FF2B5EF4-FFF2-40B4-BE49-F238E27FC236}">
                <a16:creationId xmlns:a16="http://schemas.microsoft.com/office/drawing/2014/main" id="{048FE5AB-734D-4147-8AC2-E2C8103F1C65}"/>
              </a:ext>
            </a:extLst>
          </p:cNvPr>
          <p:cNvSpPr/>
          <p:nvPr/>
        </p:nvSpPr>
        <p:spPr>
          <a:xfrm>
            <a:off x="9015887" y="1505216"/>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4" name="椭圆 33">
            <a:extLst>
              <a:ext uri="{FF2B5EF4-FFF2-40B4-BE49-F238E27FC236}">
                <a16:creationId xmlns:a16="http://schemas.microsoft.com/office/drawing/2014/main" id="{0F9317EE-AA0A-44D1-B20B-80248345A6F7}"/>
              </a:ext>
            </a:extLst>
          </p:cNvPr>
          <p:cNvSpPr/>
          <p:nvPr/>
        </p:nvSpPr>
        <p:spPr>
          <a:xfrm>
            <a:off x="9428266" y="18014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5" name="椭圆 34">
            <a:extLst>
              <a:ext uri="{FF2B5EF4-FFF2-40B4-BE49-F238E27FC236}">
                <a16:creationId xmlns:a16="http://schemas.microsoft.com/office/drawing/2014/main" id="{640BE6DE-1FC4-47DF-AA71-FBCD10D6E14C}"/>
              </a:ext>
            </a:extLst>
          </p:cNvPr>
          <p:cNvSpPr/>
          <p:nvPr/>
        </p:nvSpPr>
        <p:spPr>
          <a:xfrm>
            <a:off x="9228259" y="252512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6" name="椭圆 35">
            <a:extLst>
              <a:ext uri="{FF2B5EF4-FFF2-40B4-BE49-F238E27FC236}">
                <a16:creationId xmlns:a16="http://schemas.microsoft.com/office/drawing/2014/main" id="{4C0FC4FF-B5BC-4655-A927-7A32A1238C77}"/>
              </a:ext>
            </a:extLst>
          </p:cNvPr>
          <p:cNvSpPr/>
          <p:nvPr/>
        </p:nvSpPr>
        <p:spPr>
          <a:xfrm>
            <a:off x="9937871" y="203005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7" name="椭圆 36">
            <a:extLst>
              <a:ext uri="{FF2B5EF4-FFF2-40B4-BE49-F238E27FC236}">
                <a16:creationId xmlns:a16="http://schemas.microsoft.com/office/drawing/2014/main" id="{F3DC0FB0-C456-461B-86D0-A93D74C9F734}"/>
              </a:ext>
            </a:extLst>
          </p:cNvPr>
          <p:cNvSpPr/>
          <p:nvPr/>
        </p:nvSpPr>
        <p:spPr>
          <a:xfrm>
            <a:off x="9587828" y="3187111"/>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8" name="椭圆 37">
            <a:extLst>
              <a:ext uri="{FF2B5EF4-FFF2-40B4-BE49-F238E27FC236}">
                <a16:creationId xmlns:a16="http://schemas.microsoft.com/office/drawing/2014/main" id="{F8FC4F82-9303-4539-81E1-FFC7A96E5619}"/>
              </a:ext>
            </a:extLst>
          </p:cNvPr>
          <p:cNvSpPr/>
          <p:nvPr/>
        </p:nvSpPr>
        <p:spPr>
          <a:xfrm>
            <a:off x="10242672" y="170565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39" name="椭圆 38">
            <a:extLst>
              <a:ext uri="{FF2B5EF4-FFF2-40B4-BE49-F238E27FC236}">
                <a16:creationId xmlns:a16="http://schemas.microsoft.com/office/drawing/2014/main" id="{0EB04ECA-0756-4CAE-83B5-F10CCB27F635}"/>
              </a:ext>
            </a:extLst>
          </p:cNvPr>
          <p:cNvSpPr/>
          <p:nvPr/>
        </p:nvSpPr>
        <p:spPr>
          <a:xfrm>
            <a:off x="10745117" y="2063162"/>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40" name="椭圆 39">
            <a:extLst>
              <a:ext uri="{FF2B5EF4-FFF2-40B4-BE49-F238E27FC236}">
                <a16:creationId xmlns:a16="http://schemas.microsoft.com/office/drawing/2014/main" id="{5528C075-9B3C-4D39-8AA0-C381C96B4404}"/>
              </a:ext>
            </a:extLst>
          </p:cNvPr>
          <p:cNvSpPr/>
          <p:nvPr/>
        </p:nvSpPr>
        <p:spPr>
          <a:xfrm>
            <a:off x="9937872" y="277077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41" name="椭圆 40">
            <a:extLst>
              <a:ext uri="{FF2B5EF4-FFF2-40B4-BE49-F238E27FC236}">
                <a16:creationId xmlns:a16="http://schemas.microsoft.com/office/drawing/2014/main" id="{92CBC8DA-C709-4D08-A41B-9A0E7259BDBD}"/>
              </a:ext>
            </a:extLst>
          </p:cNvPr>
          <p:cNvSpPr/>
          <p:nvPr/>
        </p:nvSpPr>
        <p:spPr>
          <a:xfrm>
            <a:off x="10605006" y="2761253"/>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42" name="椭圆 41">
            <a:extLst>
              <a:ext uri="{FF2B5EF4-FFF2-40B4-BE49-F238E27FC236}">
                <a16:creationId xmlns:a16="http://schemas.microsoft.com/office/drawing/2014/main" id="{63993771-DDBC-4DC4-A343-A3624E4DFA4E}"/>
              </a:ext>
            </a:extLst>
          </p:cNvPr>
          <p:cNvSpPr/>
          <p:nvPr/>
        </p:nvSpPr>
        <p:spPr>
          <a:xfrm>
            <a:off x="10125990" y="318711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43" name="直接连接符 42">
            <a:extLst>
              <a:ext uri="{FF2B5EF4-FFF2-40B4-BE49-F238E27FC236}">
                <a16:creationId xmlns:a16="http://schemas.microsoft.com/office/drawing/2014/main" id="{FDFBD612-593B-4E5F-9FDC-2088E03CC8BF}"/>
              </a:ext>
            </a:extLst>
          </p:cNvPr>
          <p:cNvCxnSpPr>
            <a:cxnSpLocks/>
          </p:cNvCxnSpPr>
          <p:nvPr/>
        </p:nvCxnSpPr>
        <p:spPr>
          <a:xfrm>
            <a:off x="10074008" y="1633034"/>
            <a:ext cx="556371" cy="1815501"/>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44" name="椭圆 43">
            <a:extLst>
              <a:ext uri="{FF2B5EF4-FFF2-40B4-BE49-F238E27FC236}">
                <a16:creationId xmlns:a16="http://schemas.microsoft.com/office/drawing/2014/main" id="{910CF649-7F12-4D25-8288-E4223E5A90A9}"/>
              </a:ext>
            </a:extLst>
          </p:cNvPr>
          <p:cNvSpPr/>
          <p:nvPr/>
        </p:nvSpPr>
        <p:spPr>
          <a:xfrm>
            <a:off x="9507013" y="3107658"/>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45" name="椭圆 44">
            <a:extLst>
              <a:ext uri="{FF2B5EF4-FFF2-40B4-BE49-F238E27FC236}">
                <a16:creationId xmlns:a16="http://schemas.microsoft.com/office/drawing/2014/main" id="{7F3C9166-C58F-4D5A-9719-8DE34C6CA3DC}"/>
              </a:ext>
            </a:extLst>
          </p:cNvPr>
          <p:cNvSpPr/>
          <p:nvPr/>
        </p:nvSpPr>
        <p:spPr>
          <a:xfrm>
            <a:off x="10681538" y="1973911"/>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46" name="椭圆 45">
            <a:extLst>
              <a:ext uri="{FF2B5EF4-FFF2-40B4-BE49-F238E27FC236}">
                <a16:creationId xmlns:a16="http://schemas.microsoft.com/office/drawing/2014/main" id="{424A55DA-B6A4-489F-A64A-0CE6B5E30840}"/>
              </a:ext>
            </a:extLst>
          </p:cNvPr>
          <p:cNvSpPr/>
          <p:nvPr/>
        </p:nvSpPr>
        <p:spPr>
          <a:xfrm>
            <a:off x="10171234" y="16330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51" name="矩形 50">
            <a:extLst>
              <a:ext uri="{FF2B5EF4-FFF2-40B4-BE49-F238E27FC236}">
                <a16:creationId xmlns:a16="http://schemas.microsoft.com/office/drawing/2014/main" id="{BB0A54EA-7E51-46A6-B4C7-90861028A86E}"/>
              </a:ext>
            </a:extLst>
          </p:cNvPr>
          <p:cNvSpPr/>
          <p:nvPr/>
        </p:nvSpPr>
        <p:spPr>
          <a:xfrm>
            <a:off x="1833341" y="4097739"/>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2" name="椭圆 51">
            <a:extLst>
              <a:ext uri="{FF2B5EF4-FFF2-40B4-BE49-F238E27FC236}">
                <a16:creationId xmlns:a16="http://schemas.microsoft.com/office/drawing/2014/main" id="{9760A034-3ACD-4D68-A135-84D324E690F3}"/>
              </a:ext>
            </a:extLst>
          </p:cNvPr>
          <p:cNvSpPr/>
          <p:nvPr/>
        </p:nvSpPr>
        <p:spPr>
          <a:xfrm>
            <a:off x="2245720" y="43939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3" name="椭圆 52">
            <a:extLst>
              <a:ext uri="{FF2B5EF4-FFF2-40B4-BE49-F238E27FC236}">
                <a16:creationId xmlns:a16="http://schemas.microsoft.com/office/drawing/2014/main" id="{7B630062-9DBB-4B3C-AC7D-233F61A43683}"/>
              </a:ext>
            </a:extLst>
          </p:cNvPr>
          <p:cNvSpPr/>
          <p:nvPr/>
        </p:nvSpPr>
        <p:spPr>
          <a:xfrm>
            <a:off x="2045713" y="511764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4" name="椭圆 53">
            <a:extLst>
              <a:ext uri="{FF2B5EF4-FFF2-40B4-BE49-F238E27FC236}">
                <a16:creationId xmlns:a16="http://schemas.microsoft.com/office/drawing/2014/main" id="{1863B2C6-805B-4DD9-9E20-ABFCA00C76D4}"/>
              </a:ext>
            </a:extLst>
          </p:cNvPr>
          <p:cNvSpPr/>
          <p:nvPr/>
        </p:nvSpPr>
        <p:spPr>
          <a:xfrm>
            <a:off x="2755325" y="46225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5" name="椭圆 54">
            <a:extLst>
              <a:ext uri="{FF2B5EF4-FFF2-40B4-BE49-F238E27FC236}">
                <a16:creationId xmlns:a16="http://schemas.microsoft.com/office/drawing/2014/main" id="{4C2DE5BC-0BB4-41BC-8874-A65C6514BF4A}"/>
              </a:ext>
            </a:extLst>
          </p:cNvPr>
          <p:cNvSpPr/>
          <p:nvPr/>
        </p:nvSpPr>
        <p:spPr>
          <a:xfrm>
            <a:off x="2405282" y="577963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6" name="椭圆 55">
            <a:extLst>
              <a:ext uri="{FF2B5EF4-FFF2-40B4-BE49-F238E27FC236}">
                <a16:creationId xmlns:a16="http://schemas.microsoft.com/office/drawing/2014/main" id="{A9FDF808-6B6B-4C48-ABB1-81CBF8442325}"/>
              </a:ext>
            </a:extLst>
          </p:cNvPr>
          <p:cNvSpPr/>
          <p:nvPr/>
        </p:nvSpPr>
        <p:spPr>
          <a:xfrm>
            <a:off x="3060126" y="429817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57" name="椭圆 56">
            <a:extLst>
              <a:ext uri="{FF2B5EF4-FFF2-40B4-BE49-F238E27FC236}">
                <a16:creationId xmlns:a16="http://schemas.microsoft.com/office/drawing/2014/main" id="{66372DE9-9879-4471-8E36-81317F054B74}"/>
              </a:ext>
            </a:extLst>
          </p:cNvPr>
          <p:cNvSpPr/>
          <p:nvPr/>
        </p:nvSpPr>
        <p:spPr>
          <a:xfrm>
            <a:off x="3562571" y="4655685"/>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8" name="椭圆 57">
            <a:extLst>
              <a:ext uri="{FF2B5EF4-FFF2-40B4-BE49-F238E27FC236}">
                <a16:creationId xmlns:a16="http://schemas.microsoft.com/office/drawing/2014/main" id="{AAD5DB03-4D83-4EC1-AA5A-C203EB17F179}"/>
              </a:ext>
            </a:extLst>
          </p:cNvPr>
          <p:cNvSpPr/>
          <p:nvPr/>
        </p:nvSpPr>
        <p:spPr>
          <a:xfrm>
            <a:off x="2755326" y="536330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59" name="椭圆 58">
            <a:extLst>
              <a:ext uri="{FF2B5EF4-FFF2-40B4-BE49-F238E27FC236}">
                <a16:creationId xmlns:a16="http://schemas.microsoft.com/office/drawing/2014/main" id="{741CCFC7-3F77-4AA2-B338-0113AD213421}"/>
              </a:ext>
            </a:extLst>
          </p:cNvPr>
          <p:cNvSpPr/>
          <p:nvPr/>
        </p:nvSpPr>
        <p:spPr>
          <a:xfrm>
            <a:off x="3422460" y="5353776"/>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0" name="椭圆 59">
            <a:extLst>
              <a:ext uri="{FF2B5EF4-FFF2-40B4-BE49-F238E27FC236}">
                <a16:creationId xmlns:a16="http://schemas.microsoft.com/office/drawing/2014/main" id="{765D7A24-3C11-4704-8C18-7A6C064B7D84}"/>
              </a:ext>
            </a:extLst>
          </p:cNvPr>
          <p:cNvSpPr/>
          <p:nvPr/>
        </p:nvSpPr>
        <p:spPr>
          <a:xfrm>
            <a:off x="2943444" y="577963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61" name="直接连接符 60">
            <a:extLst>
              <a:ext uri="{FF2B5EF4-FFF2-40B4-BE49-F238E27FC236}">
                <a16:creationId xmlns:a16="http://schemas.microsoft.com/office/drawing/2014/main" id="{9EA23A78-EFD1-4316-B433-863C642E4F4C}"/>
              </a:ext>
            </a:extLst>
          </p:cNvPr>
          <p:cNvCxnSpPr>
            <a:cxnSpLocks/>
          </p:cNvCxnSpPr>
          <p:nvPr/>
        </p:nvCxnSpPr>
        <p:spPr>
          <a:xfrm>
            <a:off x="2891462" y="4225557"/>
            <a:ext cx="556371" cy="1815501"/>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62" name="椭圆 61">
            <a:extLst>
              <a:ext uri="{FF2B5EF4-FFF2-40B4-BE49-F238E27FC236}">
                <a16:creationId xmlns:a16="http://schemas.microsoft.com/office/drawing/2014/main" id="{7FC561DA-5EB0-474D-BDA2-1E883BFA7D42}"/>
              </a:ext>
            </a:extLst>
          </p:cNvPr>
          <p:cNvSpPr/>
          <p:nvPr/>
        </p:nvSpPr>
        <p:spPr>
          <a:xfrm>
            <a:off x="2324467" y="5700181"/>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3" name="椭圆 62">
            <a:extLst>
              <a:ext uri="{FF2B5EF4-FFF2-40B4-BE49-F238E27FC236}">
                <a16:creationId xmlns:a16="http://schemas.microsoft.com/office/drawing/2014/main" id="{C1C2C152-62EF-42FB-ACB3-B58BCD9AB998}"/>
              </a:ext>
            </a:extLst>
          </p:cNvPr>
          <p:cNvSpPr/>
          <p:nvPr/>
        </p:nvSpPr>
        <p:spPr>
          <a:xfrm>
            <a:off x="3498992" y="45664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64" name="椭圆 63">
            <a:extLst>
              <a:ext uri="{FF2B5EF4-FFF2-40B4-BE49-F238E27FC236}">
                <a16:creationId xmlns:a16="http://schemas.microsoft.com/office/drawing/2014/main" id="{A79ED77F-05C8-42A7-83D3-0D6FD33BD84B}"/>
              </a:ext>
            </a:extLst>
          </p:cNvPr>
          <p:cNvSpPr/>
          <p:nvPr/>
        </p:nvSpPr>
        <p:spPr>
          <a:xfrm>
            <a:off x="2988688" y="422555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65" name="椭圆 64">
            <a:extLst>
              <a:ext uri="{FF2B5EF4-FFF2-40B4-BE49-F238E27FC236}">
                <a16:creationId xmlns:a16="http://schemas.microsoft.com/office/drawing/2014/main" id="{1F7742B4-1E7B-4852-A007-C1EA9310CE59}"/>
              </a:ext>
            </a:extLst>
          </p:cNvPr>
          <p:cNvSpPr/>
          <p:nvPr/>
        </p:nvSpPr>
        <p:spPr>
          <a:xfrm>
            <a:off x="2699605" y="5307162"/>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66" name="椭圆 65">
            <a:extLst>
              <a:ext uri="{FF2B5EF4-FFF2-40B4-BE49-F238E27FC236}">
                <a16:creationId xmlns:a16="http://schemas.microsoft.com/office/drawing/2014/main" id="{F38C5413-64AE-45B2-879B-C42C6B3DCB35}"/>
              </a:ext>
            </a:extLst>
          </p:cNvPr>
          <p:cNvSpPr/>
          <p:nvPr/>
        </p:nvSpPr>
        <p:spPr>
          <a:xfrm>
            <a:off x="2879865" y="569203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67" name="矩形 66">
            <a:extLst>
              <a:ext uri="{FF2B5EF4-FFF2-40B4-BE49-F238E27FC236}">
                <a16:creationId xmlns:a16="http://schemas.microsoft.com/office/drawing/2014/main" id="{C4784E5E-D33C-4536-95D3-FBDD9900A525}"/>
              </a:ext>
            </a:extLst>
          </p:cNvPr>
          <p:cNvSpPr/>
          <p:nvPr/>
        </p:nvSpPr>
        <p:spPr>
          <a:xfrm>
            <a:off x="5424614" y="4097739"/>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8" name="椭圆 67">
            <a:extLst>
              <a:ext uri="{FF2B5EF4-FFF2-40B4-BE49-F238E27FC236}">
                <a16:creationId xmlns:a16="http://schemas.microsoft.com/office/drawing/2014/main" id="{CE6D86C2-15A1-425B-9907-1849343579A8}"/>
              </a:ext>
            </a:extLst>
          </p:cNvPr>
          <p:cNvSpPr/>
          <p:nvPr/>
        </p:nvSpPr>
        <p:spPr>
          <a:xfrm>
            <a:off x="5836993" y="43939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69" name="椭圆 68">
            <a:extLst>
              <a:ext uri="{FF2B5EF4-FFF2-40B4-BE49-F238E27FC236}">
                <a16:creationId xmlns:a16="http://schemas.microsoft.com/office/drawing/2014/main" id="{FC41FA0F-090C-4D4F-8A72-8E762458A5D4}"/>
              </a:ext>
            </a:extLst>
          </p:cNvPr>
          <p:cNvSpPr/>
          <p:nvPr/>
        </p:nvSpPr>
        <p:spPr>
          <a:xfrm>
            <a:off x="5636986" y="511764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0" name="椭圆 69">
            <a:extLst>
              <a:ext uri="{FF2B5EF4-FFF2-40B4-BE49-F238E27FC236}">
                <a16:creationId xmlns:a16="http://schemas.microsoft.com/office/drawing/2014/main" id="{4821F6D7-42BA-4174-A8AE-C2B50CA76B5B}"/>
              </a:ext>
            </a:extLst>
          </p:cNvPr>
          <p:cNvSpPr/>
          <p:nvPr/>
        </p:nvSpPr>
        <p:spPr>
          <a:xfrm>
            <a:off x="6346598" y="4622573"/>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1" name="椭圆 70">
            <a:extLst>
              <a:ext uri="{FF2B5EF4-FFF2-40B4-BE49-F238E27FC236}">
                <a16:creationId xmlns:a16="http://schemas.microsoft.com/office/drawing/2014/main" id="{CF519881-09E5-4E60-BAF3-88D31913BC13}"/>
              </a:ext>
            </a:extLst>
          </p:cNvPr>
          <p:cNvSpPr/>
          <p:nvPr/>
        </p:nvSpPr>
        <p:spPr>
          <a:xfrm>
            <a:off x="5996555" y="5779634"/>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2" name="椭圆 71">
            <a:extLst>
              <a:ext uri="{FF2B5EF4-FFF2-40B4-BE49-F238E27FC236}">
                <a16:creationId xmlns:a16="http://schemas.microsoft.com/office/drawing/2014/main" id="{D54C438C-A8AA-4DD9-8578-CD6DAF457679}"/>
              </a:ext>
            </a:extLst>
          </p:cNvPr>
          <p:cNvSpPr/>
          <p:nvPr/>
        </p:nvSpPr>
        <p:spPr>
          <a:xfrm>
            <a:off x="6651399" y="429817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73" name="椭圆 72">
            <a:extLst>
              <a:ext uri="{FF2B5EF4-FFF2-40B4-BE49-F238E27FC236}">
                <a16:creationId xmlns:a16="http://schemas.microsoft.com/office/drawing/2014/main" id="{F19C1AF5-AA5C-464E-A0BC-919617CED23A}"/>
              </a:ext>
            </a:extLst>
          </p:cNvPr>
          <p:cNvSpPr/>
          <p:nvPr/>
        </p:nvSpPr>
        <p:spPr>
          <a:xfrm>
            <a:off x="7153844" y="4655685"/>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4" name="椭圆 73">
            <a:extLst>
              <a:ext uri="{FF2B5EF4-FFF2-40B4-BE49-F238E27FC236}">
                <a16:creationId xmlns:a16="http://schemas.microsoft.com/office/drawing/2014/main" id="{775FABF6-EBE2-431F-AD06-4F6A7DBE6C3A}"/>
              </a:ext>
            </a:extLst>
          </p:cNvPr>
          <p:cNvSpPr/>
          <p:nvPr/>
        </p:nvSpPr>
        <p:spPr>
          <a:xfrm>
            <a:off x="6346599" y="5363301"/>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5" name="椭圆 74">
            <a:extLst>
              <a:ext uri="{FF2B5EF4-FFF2-40B4-BE49-F238E27FC236}">
                <a16:creationId xmlns:a16="http://schemas.microsoft.com/office/drawing/2014/main" id="{F91F0DE6-A487-4A47-BDC9-DBFCA245E3CD}"/>
              </a:ext>
            </a:extLst>
          </p:cNvPr>
          <p:cNvSpPr/>
          <p:nvPr/>
        </p:nvSpPr>
        <p:spPr>
          <a:xfrm>
            <a:off x="7013733" y="5353776"/>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6" name="椭圆 75">
            <a:extLst>
              <a:ext uri="{FF2B5EF4-FFF2-40B4-BE49-F238E27FC236}">
                <a16:creationId xmlns:a16="http://schemas.microsoft.com/office/drawing/2014/main" id="{040C059D-3990-44BF-B13A-7E6B47E9E4DA}"/>
              </a:ext>
            </a:extLst>
          </p:cNvPr>
          <p:cNvSpPr/>
          <p:nvPr/>
        </p:nvSpPr>
        <p:spPr>
          <a:xfrm>
            <a:off x="6534717" y="577963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77" name="直接连接符 76">
            <a:extLst>
              <a:ext uri="{FF2B5EF4-FFF2-40B4-BE49-F238E27FC236}">
                <a16:creationId xmlns:a16="http://schemas.microsoft.com/office/drawing/2014/main" id="{5BEFF4A9-3D7E-41EE-9BD9-1E8E91DB15E8}"/>
              </a:ext>
            </a:extLst>
          </p:cNvPr>
          <p:cNvCxnSpPr>
            <a:cxnSpLocks/>
          </p:cNvCxnSpPr>
          <p:nvPr/>
        </p:nvCxnSpPr>
        <p:spPr>
          <a:xfrm>
            <a:off x="6068412" y="4298177"/>
            <a:ext cx="288663" cy="1734737"/>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78" name="椭圆 77">
            <a:extLst>
              <a:ext uri="{FF2B5EF4-FFF2-40B4-BE49-F238E27FC236}">
                <a16:creationId xmlns:a16="http://schemas.microsoft.com/office/drawing/2014/main" id="{558319C3-AC48-48F9-8B92-997450A19D72}"/>
              </a:ext>
            </a:extLst>
          </p:cNvPr>
          <p:cNvSpPr/>
          <p:nvPr/>
        </p:nvSpPr>
        <p:spPr>
          <a:xfrm>
            <a:off x="5915740" y="5700181"/>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79" name="椭圆 78">
            <a:extLst>
              <a:ext uri="{FF2B5EF4-FFF2-40B4-BE49-F238E27FC236}">
                <a16:creationId xmlns:a16="http://schemas.microsoft.com/office/drawing/2014/main" id="{4F234876-21F3-46DB-822F-F30C70855681}"/>
              </a:ext>
            </a:extLst>
          </p:cNvPr>
          <p:cNvSpPr/>
          <p:nvPr/>
        </p:nvSpPr>
        <p:spPr>
          <a:xfrm>
            <a:off x="7090265" y="4566434"/>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80" name="椭圆 79">
            <a:extLst>
              <a:ext uri="{FF2B5EF4-FFF2-40B4-BE49-F238E27FC236}">
                <a16:creationId xmlns:a16="http://schemas.microsoft.com/office/drawing/2014/main" id="{E9C6ADFE-8C24-4A1C-929D-853C8C568082}"/>
              </a:ext>
            </a:extLst>
          </p:cNvPr>
          <p:cNvSpPr/>
          <p:nvPr/>
        </p:nvSpPr>
        <p:spPr>
          <a:xfrm>
            <a:off x="6579961" y="422555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81" name="椭圆 80">
            <a:extLst>
              <a:ext uri="{FF2B5EF4-FFF2-40B4-BE49-F238E27FC236}">
                <a16:creationId xmlns:a16="http://schemas.microsoft.com/office/drawing/2014/main" id="{1FA9AAFC-1763-4AAC-9B10-173762DFFEC9}"/>
              </a:ext>
            </a:extLst>
          </p:cNvPr>
          <p:cNvSpPr/>
          <p:nvPr/>
        </p:nvSpPr>
        <p:spPr>
          <a:xfrm>
            <a:off x="6290878" y="5307162"/>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82" name="椭圆 81">
            <a:extLst>
              <a:ext uri="{FF2B5EF4-FFF2-40B4-BE49-F238E27FC236}">
                <a16:creationId xmlns:a16="http://schemas.microsoft.com/office/drawing/2014/main" id="{FF944A51-A706-4494-BB21-21A6074DDCE8}"/>
              </a:ext>
            </a:extLst>
          </p:cNvPr>
          <p:cNvSpPr/>
          <p:nvPr/>
        </p:nvSpPr>
        <p:spPr>
          <a:xfrm>
            <a:off x="6471138" y="569203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84" name="矩形 83">
            <a:extLst>
              <a:ext uri="{FF2B5EF4-FFF2-40B4-BE49-F238E27FC236}">
                <a16:creationId xmlns:a16="http://schemas.microsoft.com/office/drawing/2014/main" id="{4F37ED13-5A7E-4B68-8C41-5DC294471FFF}"/>
              </a:ext>
            </a:extLst>
          </p:cNvPr>
          <p:cNvSpPr/>
          <p:nvPr/>
        </p:nvSpPr>
        <p:spPr>
          <a:xfrm>
            <a:off x="9015887" y="4118072"/>
            <a:ext cx="2077330" cy="2039816"/>
          </a:xfrm>
          <a:prstGeom prst="rect">
            <a:avLst/>
          </a:prstGeom>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85" name="椭圆 84">
            <a:extLst>
              <a:ext uri="{FF2B5EF4-FFF2-40B4-BE49-F238E27FC236}">
                <a16:creationId xmlns:a16="http://schemas.microsoft.com/office/drawing/2014/main" id="{BAC6AA47-3397-40A9-8549-1EA9DCA9A058}"/>
              </a:ext>
            </a:extLst>
          </p:cNvPr>
          <p:cNvSpPr/>
          <p:nvPr/>
        </p:nvSpPr>
        <p:spPr>
          <a:xfrm>
            <a:off x="9428266" y="441430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86" name="椭圆 85">
            <a:extLst>
              <a:ext uri="{FF2B5EF4-FFF2-40B4-BE49-F238E27FC236}">
                <a16:creationId xmlns:a16="http://schemas.microsoft.com/office/drawing/2014/main" id="{7A26FDE5-6C7E-4E98-BEBB-18EEDF4F8BD5}"/>
              </a:ext>
            </a:extLst>
          </p:cNvPr>
          <p:cNvSpPr/>
          <p:nvPr/>
        </p:nvSpPr>
        <p:spPr>
          <a:xfrm>
            <a:off x="9228259" y="5137980"/>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87" name="椭圆 86">
            <a:extLst>
              <a:ext uri="{FF2B5EF4-FFF2-40B4-BE49-F238E27FC236}">
                <a16:creationId xmlns:a16="http://schemas.microsoft.com/office/drawing/2014/main" id="{BBDCB334-6B21-4B92-9C4D-66737B99E4CB}"/>
              </a:ext>
            </a:extLst>
          </p:cNvPr>
          <p:cNvSpPr/>
          <p:nvPr/>
        </p:nvSpPr>
        <p:spPr>
          <a:xfrm>
            <a:off x="9937871" y="4642906"/>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88" name="椭圆 87">
            <a:extLst>
              <a:ext uri="{FF2B5EF4-FFF2-40B4-BE49-F238E27FC236}">
                <a16:creationId xmlns:a16="http://schemas.microsoft.com/office/drawing/2014/main" id="{0719EF8A-936C-41A8-A629-6CE7EC4D3F97}"/>
              </a:ext>
            </a:extLst>
          </p:cNvPr>
          <p:cNvSpPr/>
          <p:nvPr/>
        </p:nvSpPr>
        <p:spPr>
          <a:xfrm>
            <a:off x="9587828" y="5799967"/>
            <a:ext cx="233363" cy="2286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89" name="椭圆 88">
            <a:extLst>
              <a:ext uri="{FF2B5EF4-FFF2-40B4-BE49-F238E27FC236}">
                <a16:creationId xmlns:a16="http://schemas.microsoft.com/office/drawing/2014/main" id="{922E4D71-126B-4C6A-AD3A-2499A98A1EF3}"/>
              </a:ext>
            </a:extLst>
          </p:cNvPr>
          <p:cNvSpPr/>
          <p:nvPr/>
        </p:nvSpPr>
        <p:spPr>
          <a:xfrm>
            <a:off x="10242672" y="4318510"/>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90" name="椭圆 89">
            <a:extLst>
              <a:ext uri="{FF2B5EF4-FFF2-40B4-BE49-F238E27FC236}">
                <a16:creationId xmlns:a16="http://schemas.microsoft.com/office/drawing/2014/main" id="{AE906EA7-B531-49E5-929C-784B4C7B828B}"/>
              </a:ext>
            </a:extLst>
          </p:cNvPr>
          <p:cNvSpPr/>
          <p:nvPr/>
        </p:nvSpPr>
        <p:spPr>
          <a:xfrm>
            <a:off x="10745117" y="4676018"/>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91" name="椭圆 90">
            <a:extLst>
              <a:ext uri="{FF2B5EF4-FFF2-40B4-BE49-F238E27FC236}">
                <a16:creationId xmlns:a16="http://schemas.microsoft.com/office/drawing/2014/main" id="{31D1DDBE-4E9A-4312-98E4-E0D23BFA6DDE}"/>
              </a:ext>
            </a:extLst>
          </p:cNvPr>
          <p:cNvSpPr/>
          <p:nvPr/>
        </p:nvSpPr>
        <p:spPr>
          <a:xfrm>
            <a:off x="9937872" y="5383634"/>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92" name="椭圆 91">
            <a:extLst>
              <a:ext uri="{FF2B5EF4-FFF2-40B4-BE49-F238E27FC236}">
                <a16:creationId xmlns:a16="http://schemas.microsoft.com/office/drawing/2014/main" id="{C306D2ED-04B5-40AA-BD83-CCB5D2B59617}"/>
              </a:ext>
            </a:extLst>
          </p:cNvPr>
          <p:cNvSpPr/>
          <p:nvPr/>
        </p:nvSpPr>
        <p:spPr>
          <a:xfrm>
            <a:off x="10605006" y="5374109"/>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93" name="椭圆 92">
            <a:extLst>
              <a:ext uri="{FF2B5EF4-FFF2-40B4-BE49-F238E27FC236}">
                <a16:creationId xmlns:a16="http://schemas.microsoft.com/office/drawing/2014/main" id="{2E5399F0-AE90-44F4-AE5A-799AB76F15F0}"/>
              </a:ext>
            </a:extLst>
          </p:cNvPr>
          <p:cNvSpPr/>
          <p:nvPr/>
        </p:nvSpPr>
        <p:spPr>
          <a:xfrm>
            <a:off x="10125990" y="5799967"/>
            <a:ext cx="233363" cy="228600"/>
          </a:xfrm>
          <a:prstGeom prst="ellipse">
            <a:avLst/>
          </a:prstGeom>
          <a:solidFill>
            <a:srgbClr val="0070C0"/>
          </a:solidFill>
          <a:ln>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94" name="直接连接符 93">
            <a:extLst>
              <a:ext uri="{FF2B5EF4-FFF2-40B4-BE49-F238E27FC236}">
                <a16:creationId xmlns:a16="http://schemas.microsoft.com/office/drawing/2014/main" id="{D304BD47-1B66-45F3-9225-28AE5DDE38AB}"/>
              </a:ext>
            </a:extLst>
          </p:cNvPr>
          <p:cNvCxnSpPr>
            <a:cxnSpLocks/>
          </p:cNvCxnSpPr>
          <p:nvPr/>
        </p:nvCxnSpPr>
        <p:spPr>
          <a:xfrm>
            <a:off x="9659685" y="4318510"/>
            <a:ext cx="288663" cy="1734737"/>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sp>
        <p:nvSpPr>
          <p:cNvPr id="95" name="椭圆 94">
            <a:extLst>
              <a:ext uri="{FF2B5EF4-FFF2-40B4-BE49-F238E27FC236}">
                <a16:creationId xmlns:a16="http://schemas.microsoft.com/office/drawing/2014/main" id="{B6302F1C-52CA-4B13-A242-56278859CA9F}"/>
              </a:ext>
            </a:extLst>
          </p:cNvPr>
          <p:cNvSpPr/>
          <p:nvPr/>
        </p:nvSpPr>
        <p:spPr>
          <a:xfrm>
            <a:off x="9507013" y="5720514"/>
            <a:ext cx="360520" cy="34087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96" name="椭圆 95">
            <a:extLst>
              <a:ext uri="{FF2B5EF4-FFF2-40B4-BE49-F238E27FC236}">
                <a16:creationId xmlns:a16="http://schemas.microsoft.com/office/drawing/2014/main" id="{3A460BB2-D812-4930-B549-F6E7AA13577A}"/>
              </a:ext>
            </a:extLst>
          </p:cNvPr>
          <p:cNvSpPr/>
          <p:nvPr/>
        </p:nvSpPr>
        <p:spPr>
          <a:xfrm>
            <a:off x="10681538" y="4586767"/>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97" name="椭圆 96">
            <a:extLst>
              <a:ext uri="{FF2B5EF4-FFF2-40B4-BE49-F238E27FC236}">
                <a16:creationId xmlns:a16="http://schemas.microsoft.com/office/drawing/2014/main" id="{BB7A6E76-1EF1-4ABC-B638-FB25C70355CE}"/>
              </a:ext>
            </a:extLst>
          </p:cNvPr>
          <p:cNvSpPr/>
          <p:nvPr/>
        </p:nvSpPr>
        <p:spPr>
          <a:xfrm>
            <a:off x="10171234" y="4245890"/>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98" name="椭圆 97">
            <a:extLst>
              <a:ext uri="{FF2B5EF4-FFF2-40B4-BE49-F238E27FC236}">
                <a16:creationId xmlns:a16="http://schemas.microsoft.com/office/drawing/2014/main" id="{57FB267D-F87A-447B-8217-6E2D850EEC57}"/>
              </a:ext>
            </a:extLst>
          </p:cNvPr>
          <p:cNvSpPr/>
          <p:nvPr/>
        </p:nvSpPr>
        <p:spPr>
          <a:xfrm>
            <a:off x="9882151" y="5327495"/>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99" name="椭圆 98">
            <a:extLst>
              <a:ext uri="{FF2B5EF4-FFF2-40B4-BE49-F238E27FC236}">
                <a16:creationId xmlns:a16="http://schemas.microsoft.com/office/drawing/2014/main" id="{7E5CFB4A-5D14-4D9F-AD6F-D96711027242}"/>
              </a:ext>
            </a:extLst>
          </p:cNvPr>
          <p:cNvSpPr/>
          <p:nvPr/>
        </p:nvSpPr>
        <p:spPr>
          <a:xfrm>
            <a:off x="10062411" y="5712370"/>
            <a:ext cx="360520" cy="340877"/>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cxnSp>
        <p:nvCxnSpPr>
          <p:cNvPr id="100" name="直接连接符 99">
            <a:extLst>
              <a:ext uri="{FF2B5EF4-FFF2-40B4-BE49-F238E27FC236}">
                <a16:creationId xmlns:a16="http://schemas.microsoft.com/office/drawing/2014/main" id="{CB9D56B5-2F99-4D4D-8849-EFA80EB4537E}"/>
              </a:ext>
            </a:extLst>
          </p:cNvPr>
          <p:cNvCxnSpPr>
            <a:cxnSpLocks/>
          </p:cNvCxnSpPr>
          <p:nvPr/>
        </p:nvCxnSpPr>
        <p:spPr>
          <a:xfrm flipV="1">
            <a:off x="9112715" y="4967302"/>
            <a:ext cx="1922585" cy="596614"/>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cxnSp>
        <p:nvCxnSpPr>
          <p:cNvPr id="101" name="直接连接符 100">
            <a:extLst>
              <a:ext uri="{FF2B5EF4-FFF2-40B4-BE49-F238E27FC236}">
                <a16:creationId xmlns:a16="http://schemas.microsoft.com/office/drawing/2014/main" id="{B2EF3B50-110C-48D8-B744-14876A67957F}"/>
              </a:ext>
            </a:extLst>
          </p:cNvPr>
          <p:cNvCxnSpPr>
            <a:cxnSpLocks/>
          </p:cNvCxnSpPr>
          <p:nvPr/>
        </p:nvCxnSpPr>
        <p:spPr>
          <a:xfrm>
            <a:off x="10071972" y="4245890"/>
            <a:ext cx="556371" cy="1815501"/>
          </a:xfrm>
          <a:prstGeom prst="line">
            <a:avLst/>
          </a:prstGeom>
          <a:ln>
            <a:solidFill>
              <a:srgbClr val="00B0F0"/>
            </a:solidFill>
            <a:prstDash val="dashDot"/>
          </a:ln>
        </p:spPr>
        <p:style>
          <a:lnRef idx="2">
            <a:schemeClr val="accent4"/>
          </a:lnRef>
          <a:fillRef idx="0">
            <a:schemeClr val="accent4"/>
          </a:fillRef>
          <a:effectRef idx="1">
            <a:schemeClr val="accent4"/>
          </a:effectRef>
          <a:fontRef idx="minor">
            <a:schemeClr val="tx1"/>
          </a:fontRef>
        </p:style>
      </p:cxnSp>
      <p:cxnSp>
        <p:nvCxnSpPr>
          <p:cNvPr id="4097" name="直接箭头连接符 4096">
            <a:extLst>
              <a:ext uri="{FF2B5EF4-FFF2-40B4-BE49-F238E27FC236}">
                <a16:creationId xmlns:a16="http://schemas.microsoft.com/office/drawing/2014/main" id="{CA1AE4B7-8941-4CC7-A25E-A8256200B44E}"/>
              </a:ext>
            </a:extLst>
          </p:cNvPr>
          <p:cNvCxnSpPr>
            <a:cxnSpLocks/>
          </p:cNvCxnSpPr>
          <p:nvPr/>
        </p:nvCxnSpPr>
        <p:spPr>
          <a:xfrm>
            <a:off x="1296131" y="2335368"/>
            <a:ext cx="537210" cy="66401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4099" name="文本框 4098">
            <a:extLst>
              <a:ext uri="{FF2B5EF4-FFF2-40B4-BE49-F238E27FC236}">
                <a16:creationId xmlns:a16="http://schemas.microsoft.com/office/drawing/2014/main" id="{8B7CAA6D-0B32-4153-B068-B4B44EC6A6F0}"/>
              </a:ext>
            </a:extLst>
          </p:cNvPr>
          <p:cNvSpPr txBox="1"/>
          <p:nvPr/>
        </p:nvSpPr>
        <p:spPr>
          <a:xfrm>
            <a:off x="454855" y="2027591"/>
            <a:ext cx="1022675"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弱分类器</a:t>
            </a:r>
            <a:r>
              <a:rPr lang="en-US" altLang="zh-CN" sz="1400" dirty="0">
                <a:latin typeface="KaiTi" panose="02010609060101010101" pitchFamily="49" charset="-122"/>
                <a:ea typeface="KaiTi" panose="02010609060101010101" pitchFamily="49" charset="-122"/>
              </a:rPr>
              <a:t>1</a:t>
            </a:r>
            <a:endParaRPr lang="zh-CN" altLang="en-US" sz="1400" dirty="0">
              <a:latin typeface="KaiTi" panose="02010609060101010101" pitchFamily="49" charset="-122"/>
              <a:ea typeface="KaiTi" panose="02010609060101010101" pitchFamily="49" charset="-122"/>
            </a:endParaRPr>
          </a:p>
        </p:txBody>
      </p:sp>
      <p:sp>
        <p:nvSpPr>
          <p:cNvPr id="105" name="文本框 104">
            <a:extLst>
              <a:ext uri="{FF2B5EF4-FFF2-40B4-BE49-F238E27FC236}">
                <a16:creationId xmlns:a16="http://schemas.microsoft.com/office/drawing/2014/main" id="{352A19E6-2BB2-447D-8654-CE7D42C3343F}"/>
              </a:ext>
            </a:extLst>
          </p:cNvPr>
          <p:cNvSpPr txBox="1"/>
          <p:nvPr/>
        </p:nvSpPr>
        <p:spPr>
          <a:xfrm>
            <a:off x="4143001" y="2044084"/>
            <a:ext cx="1022675"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权重提高</a:t>
            </a:r>
          </a:p>
        </p:txBody>
      </p:sp>
      <p:sp>
        <p:nvSpPr>
          <p:cNvPr id="106" name="文本框 105">
            <a:extLst>
              <a:ext uri="{FF2B5EF4-FFF2-40B4-BE49-F238E27FC236}">
                <a16:creationId xmlns:a16="http://schemas.microsoft.com/office/drawing/2014/main" id="{911A8319-7C70-4110-B714-59512F274044}"/>
              </a:ext>
            </a:extLst>
          </p:cNvPr>
          <p:cNvSpPr txBox="1"/>
          <p:nvPr/>
        </p:nvSpPr>
        <p:spPr>
          <a:xfrm>
            <a:off x="4137823" y="4477492"/>
            <a:ext cx="1022675"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弱分类器</a:t>
            </a:r>
            <a:r>
              <a:rPr lang="en-US" altLang="zh-CN" sz="1400" dirty="0">
                <a:latin typeface="KaiTi" panose="02010609060101010101" pitchFamily="49" charset="-122"/>
                <a:ea typeface="KaiTi" panose="02010609060101010101" pitchFamily="49" charset="-122"/>
              </a:rPr>
              <a:t>3</a:t>
            </a:r>
            <a:endParaRPr lang="zh-CN" altLang="en-US" sz="1400" dirty="0">
              <a:latin typeface="KaiTi" panose="02010609060101010101" pitchFamily="49" charset="-122"/>
              <a:ea typeface="KaiTi" panose="02010609060101010101" pitchFamily="49" charset="-122"/>
            </a:endParaRPr>
          </a:p>
        </p:txBody>
      </p:sp>
      <p:sp>
        <p:nvSpPr>
          <p:cNvPr id="107" name="文本框 106">
            <a:extLst>
              <a:ext uri="{FF2B5EF4-FFF2-40B4-BE49-F238E27FC236}">
                <a16:creationId xmlns:a16="http://schemas.microsoft.com/office/drawing/2014/main" id="{7659AA69-3FED-4E9D-8BB4-CB0AE9804176}"/>
              </a:ext>
            </a:extLst>
          </p:cNvPr>
          <p:cNvSpPr txBox="1"/>
          <p:nvPr/>
        </p:nvSpPr>
        <p:spPr>
          <a:xfrm>
            <a:off x="517549" y="4547110"/>
            <a:ext cx="1022675"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权重提高</a:t>
            </a:r>
          </a:p>
        </p:txBody>
      </p:sp>
      <p:sp>
        <p:nvSpPr>
          <p:cNvPr id="108" name="文本框 107">
            <a:extLst>
              <a:ext uri="{FF2B5EF4-FFF2-40B4-BE49-F238E27FC236}">
                <a16:creationId xmlns:a16="http://schemas.microsoft.com/office/drawing/2014/main" id="{8DE54A59-314F-4D96-AD1D-DBDDF8076F12}"/>
              </a:ext>
            </a:extLst>
          </p:cNvPr>
          <p:cNvSpPr txBox="1"/>
          <p:nvPr/>
        </p:nvSpPr>
        <p:spPr>
          <a:xfrm>
            <a:off x="7759218" y="2048830"/>
            <a:ext cx="1022675" cy="307777"/>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弱分类器</a:t>
            </a:r>
            <a:r>
              <a:rPr lang="en-US" altLang="zh-CN" sz="1400" dirty="0">
                <a:latin typeface="KaiTi" panose="02010609060101010101" pitchFamily="49" charset="-122"/>
                <a:ea typeface="KaiTi" panose="02010609060101010101" pitchFamily="49" charset="-122"/>
              </a:rPr>
              <a:t>2</a:t>
            </a:r>
            <a:endParaRPr lang="zh-CN" altLang="en-US" sz="1400" dirty="0">
              <a:latin typeface="KaiTi" panose="02010609060101010101" pitchFamily="49" charset="-122"/>
              <a:ea typeface="KaiTi" panose="02010609060101010101" pitchFamily="49" charset="-122"/>
            </a:endParaRPr>
          </a:p>
        </p:txBody>
      </p:sp>
      <p:sp>
        <p:nvSpPr>
          <p:cNvPr id="109" name="文本框 108">
            <a:extLst>
              <a:ext uri="{FF2B5EF4-FFF2-40B4-BE49-F238E27FC236}">
                <a16:creationId xmlns:a16="http://schemas.microsoft.com/office/drawing/2014/main" id="{BE3A6AAE-0BBE-4276-9D6E-D27E59C64108}"/>
              </a:ext>
            </a:extLst>
          </p:cNvPr>
          <p:cNvSpPr txBox="1"/>
          <p:nvPr/>
        </p:nvSpPr>
        <p:spPr>
          <a:xfrm>
            <a:off x="7760466" y="4412477"/>
            <a:ext cx="1021427" cy="738664"/>
          </a:xfrm>
          <a:prstGeom prst="rect">
            <a:avLst/>
          </a:prstGeom>
          <a:noFill/>
        </p:spPr>
        <p:txBody>
          <a:bodyPr wrap="square" rtlCol="0">
            <a:spAutoFit/>
          </a:bodyPr>
          <a:lstStyle/>
          <a:p>
            <a:r>
              <a:rPr lang="zh-CN" altLang="en-US" sz="1400" dirty="0">
                <a:latin typeface="KaiTi" panose="02010609060101010101" pitchFamily="49" charset="-122"/>
                <a:ea typeface="KaiTi" panose="02010609060101010101" pitchFamily="49" charset="-122"/>
              </a:rPr>
              <a:t>弱分类器组成了强分类器</a:t>
            </a:r>
          </a:p>
        </p:txBody>
      </p:sp>
      <p:cxnSp>
        <p:nvCxnSpPr>
          <p:cNvPr id="111" name="直接箭头连接符 110">
            <a:extLst>
              <a:ext uri="{FF2B5EF4-FFF2-40B4-BE49-F238E27FC236}">
                <a16:creationId xmlns:a16="http://schemas.microsoft.com/office/drawing/2014/main" id="{4CFA7301-7F4F-4DC9-8B6F-AF487416C4C6}"/>
              </a:ext>
            </a:extLst>
          </p:cNvPr>
          <p:cNvCxnSpPr>
            <a:cxnSpLocks/>
            <a:endCxn id="31" idx="3"/>
          </p:cNvCxnSpPr>
          <p:nvPr/>
        </p:nvCxnSpPr>
        <p:spPr>
          <a:xfrm>
            <a:off x="4961776" y="2246635"/>
            <a:ext cx="2181286" cy="1823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2" name="直接箭头连接符 111">
            <a:extLst>
              <a:ext uri="{FF2B5EF4-FFF2-40B4-BE49-F238E27FC236}">
                <a16:creationId xmlns:a16="http://schemas.microsoft.com/office/drawing/2014/main" id="{ED378BA9-B640-4103-A555-46BB544924CA}"/>
              </a:ext>
            </a:extLst>
          </p:cNvPr>
          <p:cNvCxnSpPr>
            <a:cxnSpLocks/>
            <a:endCxn id="32" idx="3"/>
          </p:cNvCxnSpPr>
          <p:nvPr/>
        </p:nvCxnSpPr>
        <p:spPr>
          <a:xfrm flipV="1">
            <a:off x="4959140" y="1923991"/>
            <a:ext cx="1673618" cy="30805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3" name="直接箭头连接符 112">
            <a:extLst>
              <a:ext uri="{FF2B5EF4-FFF2-40B4-BE49-F238E27FC236}">
                <a16:creationId xmlns:a16="http://schemas.microsoft.com/office/drawing/2014/main" id="{67662EC2-BC8A-422B-8658-1EC458888214}"/>
              </a:ext>
            </a:extLst>
          </p:cNvPr>
          <p:cNvCxnSpPr>
            <a:cxnSpLocks/>
          </p:cNvCxnSpPr>
          <p:nvPr/>
        </p:nvCxnSpPr>
        <p:spPr>
          <a:xfrm>
            <a:off x="4961776" y="2264868"/>
            <a:ext cx="921985" cy="934579"/>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19" name="直接箭头连接符 118">
            <a:extLst>
              <a:ext uri="{FF2B5EF4-FFF2-40B4-BE49-F238E27FC236}">
                <a16:creationId xmlns:a16="http://schemas.microsoft.com/office/drawing/2014/main" id="{0E020678-C016-4EEC-AFE5-F40F83320671}"/>
              </a:ext>
            </a:extLst>
          </p:cNvPr>
          <p:cNvCxnSpPr>
            <a:cxnSpLocks/>
          </p:cNvCxnSpPr>
          <p:nvPr/>
        </p:nvCxnSpPr>
        <p:spPr>
          <a:xfrm>
            <a:off x="8677172" y="2276997"/>
            <a:ext cx="1641730" cy="16295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1" name="直接箭头连接符 120">
            <a:extLst>
              <a:ext uri="{FF2B5EF4-FFF2-40B4-BE49-F238E27FC236}">
                <a16:creationId xmlns:a16="http://schemas.microsoft.com/office/drawing/2014/main" id="{C8E31D6C-36C2-4152-85B4-F94BA8B22968}"/>
              </a:ext>
            </a:extLst>
          </p:cNvPr>
          <p:cNvCxnSpPr>
            <a:cxnSpLocks/>
            <a:endCxn id="66" idx="2"/>
          </p:cNvCxnSpPr>
          <p:nvPr/>
        </p:nvCxnSpPr>
        <p:spPr>
          <a:xfrm>
            <a:off x="1303555" y="4765478"/>
            <a:ext cx="1576310" cy="1096998"/>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2" name="直接箭头连接符 121">
            <a:extLst>
              <a:ext uri="{FF2B5EF4-FFF2-40B4-BE49-F238E27FC236}">
                <a16:creationId xmlns:a16="http://schemas.microsoft.com/office/drawing/2014/main" id="{3A80E155-68FC-4ACF-B755-71AEFB000F0F}"/>
              </a:ext>
            </a:extLst>
          </p:cNvPr>
          <p:cNvCxnSpPr>
            <a:cxnSpLocks/>
            <a:endCxn id="65" idx="0"/>
          </p:cNvCxnSpPr>
          <p:nvPr/>
        </p:nvCxnSpPr>
        <p:spPr>
          <a:xfrm>
            <a:off x="1303555" y="4765478"/>
            <a:ext cx="1576310" cy="541684"/>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5" name="直接箭头连接符 124">
            <a:extLst>
              <a:ext uri="{FF2B5EF4-FFF2-40B4-BE49-F238E27FC236}">
                <a16:creationId xmlns:a16="http://schemas.microsoft.com/office/drawing/2014/main" id="{BEBCB137-B0C6-41E0-8CDA-5396E311086A}"/>
              </a:ext>
            </a:extLst>
          </p:cNvPr>
          <p:cNvCxnSpPr>
            <a:cxnSpLocks/>
          </p:cNvCxnSpPr>
          <p:nvPr/>
        </p:nvCxnSpPr>
        <p:spPr>
          <a:xfrm>
            <a:off x="5032317" y="4631380"/>
            <a:ext cx="1116218" cy="4283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30" name="直接连接符 129">
            <a:extLst>
              <a:ext uri="{FF2B5EF4-FFF2-40B4-BE49-F238E27FC236}">
                <a16:creationId xmlns:a16="http://schemas.microsoft.com/office/drawing/2014/main" id="{A28B6B2A-86C9-4F2F-8AE0-17A71B7E720F}"/>
              </a:ext>
            </a:extLst>
          </p:cNvPr>
          <p:cNvCxnSpPr>
            <a:cxnSpLocks/>
          </p:cNvCxnSpPr>
          <p:nvPr/>
        </p:nvCxnSpPr>
        <p:spPr>
          <a:xfrm>
            <a:off x="10074702" y="4255268"/>
            <a:ext cx="273522" cy="904539"/>
          </a:xfrm>
          <a:prstGeom prst="line">
            <a:avLst/>
          </a:prstGeom>
          <a:ln>
            <a:solidFill>
              <a:srgbClr val="FF0000"/>
            </a:solidFill>
            <a:prstDash val="solid"/>
          </a:ln>
        </p:spPr>
        <p:style>
          <a:lnRef idx="2">
            <a:schemeClr val="accent4"/>
          </a:lnRef>
          <a:fillRef idx="0">
            <a:schemeClr val="accent4"/>
          </a:fillRef>
          <a:effectRef idx="1">
            <a:schemeClr val="accent4"/>
          </a:effectRef>
          <a:fontRef idx="minor">
            <a:schemeClr val="tx1"/>
          </a:fontRef>
        </p:style>
      </p:cxnSp>
      <p:cxnSp>
        <p:nvCxnSpPr>
          <p:cNvPr id="132" name="直接连接符 131">
            <a:extLst>
              <a:ext uri="{FF2B5EF4-FFF2-40B4-BE49-F238E27FC236}">
                <a16:creationId xmlns:a16="http://schemas.microsoft.com/office/drawing/2014/main" id="{72031A42-969E-483F-8FFB-298A9EAEB87D}"/>
              </a:ext>
            </a:extLst>
          </p:cNvPr>
          <p:cNvCxnSpPr>
            <a:cxnSpLocks/>
          </p:cNvCxnSpPr>
          <p:nvPr/>
        </p:nvCxnSpPr>
        <p:spPr>
          <a:xfrm flipV="1">
            <a:off x="9804016" y="5185878"/>
            <a:ext cx="554643" cy="166774"/>
          </a:xfrm>
          <a:prstGeom prst="line">
            <a:avLst/>
          </a:prstGeom>
          <a:ln>
            <a:solidFill>
              <a:srgbClr val="FF0000"/>
            </a:solidFill>
            <a:prstDash val="solid"/>
          </a:ln>
        </p:spPr>
        <p:style>
          <a:lnRef idx="2">
            <a:schemeClr val="accent4"/>
          </a:lnRef>
          <a:fillRef idx="0">
            <a:schemeClr val="accent4"/>
          </a:fillRef>
          <a:effectRef idx="1">
            <a:schemeClr val="accent4"/>
          </a:effectRef>
          <a:fontRef idx="minor">
            <a:schemeClr val="tx1"/>
          </a:fontRef>
        </p:style>
      </p:cxnSp>
      <p:cxnSp>
        <p:nvCxnSpPr>
          <p:cNvPr id="135" name="直接连接符 134">
            <a:extLst>
              <a:ext uri="{FF2B5EF4-FFF2-40B4-BE49-F238E27FC236}">
                <a16:creationId xmlns:a16="http://schemas.microsoft.com/office/drawing/2014/main" id="{E0ACA577-3729-48AB-A39A-AA4EFDB19DD5}"/>
              </a:ext>
            </a:extLst>
          </p:cNvPr>
          <p:cNvCxnSpPr>
            <a:cxnSpLocks/>
          </p:cNvCxnSpPr>
          <p:nvPr/>
        </p:nvCxnSpPr>
        <p:spPr>
          <a:xfrm>
            <a:off x="9826432" y="5352652"/>
            <a:ext cx="111439" cy="708739"/>
          </a:xfrm>
          <a:prstGeom prst="line">
            <a:avLst/>
          </a:prstGeom>
          <a:ln>
            <a:solidFill>
              <a:srgbClr val="FF0000"/>
            </a:solidFill>
            <a:prstDash val="solid"/>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038285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Google Shape;3386;p54">
            <a:extLst>
              <a:ext uri="{FF2B5EF4-FFF2-40B4-BE49-F238E27FC236}">
                <a16:creationId xmlns:a16="http://schemas.microsoft.com/office/drawing/2014/main" id="{C0A5CC1F-05FA-443E-91A1-C833340977AC}"/>
              </a:ext>
            </a:extLst>
          </p:cNvPr>
          <p:cNvCxnSpPr>
            <a:cxnSpLocks/>
          </p:cNvCxnSpPr>
          <p:nvPr/>
        </p:nvCxnSpPr>
        <p:spPr>
          <a:xfrm>
            <a:off x="8096142" y="3109855"/>
            <a:ext cx="961350" cy="743466"/>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9" name="文本框 18">
            <a:extLst>
              <a:ext uri="{FF2B5EF4-FFF2-40B4-BE49-F238E27FC236}">
                <a16:creationId xmlns:a16="http://schemas.microsoft.com/office/drawing/2014/main" id="{95134A67-FE35-44B3-A10D-3D98F05F38CB}"/>
              </a:ext>
            </a:extLst>
          </p:cNvPr>
          <p:cNvSpPr txBox="1"/>
          <p:nvPr/>
        </p:nvSpPr>
        <p:spPr>
          <a:xfrm>
            <a:off x="722141" y="1364624"/>
            <a:ext cx="10827434" cy="499624"/>
          </a:xfrm>
          <a:prstGeom prst="rect">
            <a:avLst/>
          </a:prstGeom>
          <a:noFill/>
        </p:spPr>
        <p:txBody>
          <a:bodyPr wrap="square">
            <a:spAutoFit/>
          </a:bodyPr>
          <a:lstStyle/>
          <a:p>
            <a:pPr>
              <a:lnSpc>
                <a:spcPct val="150000"/>
              </a:lnSpc>
              <a:spcBef>
                <a:spcPts val="900"/>
              </a:spcBef>
              <a:spcAft>
                <a:spcPts val="900"/>
              </a:spcAft>
            </a:pPr>
            <a:r>
              <a:rPr lang="zh-CN" altLang="en-US" sz="2000" b="1" kern="100" dirty="0">
                <a:effectLst/>
                <a:latin typeface="KaiTi" panose="02010609060101010101" pitchFamily="49" charset="-122"/>
                <a:ea typeface="KaiTi" panose="02010609060101010101" pitchFamily="49" charset="-122"/>
                <a:cs typeface="Times New Roman" panose="02020603050405020304" pitchFamily="18" charset="0"/>
              </a:rPr>
              <a:t>算法思想</a:t>
            </a:r>
            <a:r>
              <a:rPr lang="en-US" altLang="zh-CN" sz="2000" kern="1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sz="2000" kern="100" dirty="0">
              <a:effectLst/>
              <a:latin typeface="KaiTi" panose="02010609060101010101" pitchFamily="49" charset="-122"/>
              <a:ea typeface="KaiTi"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D1431C0F-D8B2-48FB-83FC-09656F292118}"/>
              </a:ext>
            </a:extLst>
          </p:cNvPr>
          <p:cNvSpPr txBox="1"/>
          <p:nvPr/>
        </p:nvSpPr>
        <p:spPr>
          <a:xfrm>
            <a:off x="668338" y="2084278"/>
            <a:ext cx="7686634" cy="461665"/>
          </a:xfrm>
          <a:prstGeom prst="rect">
            <a:avLst/>
          </a:prstGeom>
          <a:noFill/>
        </p:spPr>
        <p:txBody>
          <a:bodyPr wrap="square">
            <a:spAutoFit/>
          </a:bodyPr>
          <a:lstStyle/>
          <a:p>
            <a:r>
              <a:rPr lang="zh-CN" altLang="en-US" dirty="0">
                <a:latin typeface="KaiTi" panose="02010609060101010101" pitchFamily="49" charset="-122"/>
                <a:ea typeface="KaiTi" panose="02010609060101010101" pitchFamily="49" charset="-122"/>
              </a:rPr>
              <a:t>后一个模型的训练永远是在前一个模型的基础上完成</a:t>
            </a:r>
          </a:p>
        </p:txBody>
      </p:sp>
      <p:sp>
        <p:nvSpPr>
          <p:cNvPr id="24" name="Google Shape;3379;p54">
            <a:extLst>
              <a:ext uri="{FF2B5EF4-FFF2-40B4-BE49-F238E27FC236}">
                <a16:creationId xmlns:a16="http://schemas.microsoft.com/office/drawing/2014/main" id="{5E89D862-5693-444F-8E82-8C9F153C4A05}"/>
              </a:ext>
            </a:extLst>
          </p:cNvPr>
          <p:cNvSpPr/>
          <p:nvPr/>
        </p:nvSpPr>
        <p:spPr>
          <a:xfrm>
            <a:off x="2457157" y="5578067"/>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模型</a:t>
            </a:r>
            <a:r>
              <a:rPr lang="en-US" altLang="zh-CN" sz="2000" dirty="0">
                <a:latin typeface="KaiTi" panose="02010609060101010101" pitchFamily="49" charset="-122"/>
                <a:ea typeface="KaiTi" panose="02010609060101010101" pitchFamily="49" charset="-122"/>
              </a:rPr>
              <a:t>n</a:t>
            </a:r>
            <a:endParaRPr sz="2000" dirty="0">
              <a:latin typeface="KaiTi" panose="02010609060101010101" pitchFamily="49" charset="-122"/>
              <a:ea typeface="KaiTi" panose="02010609060101010101" pitchFamily="49" charset="-122"/>
            </a:endParaRPr>
          </a:p>
        </p:txBody>
      </p:sp>
      <p:sp>
        <p:nvSpPr>
          <p:cNvPr id="26" name="Google Shape;3382;p54">
            <a:extLst>
              <a:ext uri="{FF2B5EF4-FFF2-40B4-BE49-F238E27FC236}">
                <a16:creationId xmlns:a16="http://schemas.microsoft.com/office/drawing/2014/main" id="{1B3F3D5E-0D9F-4EFD-A586-023E8421DDB5}"/>
              </a:ext>
            </a:extLst>
          </p:cNvPr>
          <p:cNvSpPr/>
          <p:nvPr/>
        </p:nvSpPr>
        <p:spPr>
          <a:xfrm>
            <a:off x="2399975" y="2878098"/>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800" dirty="0">
                <a:latin typeface="KaiTi" panose="02010609060101010101" pitchFamily="49" charset="-122"/>
                <a:ea typeface="KaiTi" panose="02010609060101010101" pitchFamily="49" charset="-122"/>
              </a:rPr>
              <a:t>模型</a:t>
            </a:r>
            <a:r>
              <a:rPr lang="en-US" altLang="zh-CN" sz="1800" dirty="0">
                <a:latin typeface="KaiTi" panose="02010609060101010101" pitchFamily="49" charset="-122"/>
                <a:ea typeface="KaiTi" panose="02010609060101010101" pitchFamily="49" charset="-122"/>
              </a:rPr>
              <a:t>1</a:t>
            </a:r>
            <a:endParaRPr sz="1800" dirty="0">
              <a:latin typeface="KaiTi" panose="02010609060101010101" pitchFamily="49" charset="-122"/>
              <a:ea typeface="KaiTi" panose="02010609060101010101" pitchFamily="49" charset="-122"/>
            </a:endParaRPr>
          </a:p>
        </p:txBody>
      </p:sp>
      <p:sp>
        <p:nvSpPr>
          <p:cNvPr id="28" name="Google Shape;3383;p54">
            <a:extLst>
              <a:ext uri="{FF2B5EF4-FFF2-40B4-BE49-F238E27FC236}">
                <a16:creationId xmlns:a16="http://schemas.microsoft.com/office/drawing/2014/main" id="{B81E232B-4362-4FBE-806D-3C82EF57C392}"/>
              </a:ext>
            </a:extLst>
          </p:cNvPr>
          <p:cNvSpPr/>
          <p:nvPr/>
        </p:nvSpPr>
        <p:spPr>
          <a:xfrm>
            <a:off x="2402013" y="4038220"/>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2000" dirty="0">
                <a:latin typeface="KaiTi" panose="02010609060101010101" pitchFamily="49" charset="-122"/>
                <a:ea typeface="KaiTi" panose="02010609060101010101" pitchFamily="49" charset="-122"/>
              </a:rPr>
              <a:t>模型</a:t>
            </a:r>
            <a:r>
              <a:rPr lang="en-US" altLang="zh-CN" sz="2000" dirty="0">
                <a:latin typeface="KaiTi" panose="02010609060101010101" pitchFamily="49" charset="-122"/>
                <a:ea typeface="KaiTi" panose="02010609060101010101" pitchFamily="49" charset="-122"/>
              </a:rPr>
              <a:t>2</a:t>
            </a:r>
            <a:endParaRPr sz="2000" dirty="0">
              <a:latin typeface="KaiTi" panose="02010609060101010101" pitchFamily="49" charset="-122"/>
              <a:ea typeface="KaiTi" panose="02010609060101010101" pitchFamily="49" charset="-122"/>
            </a:endParaRPr>
          </a:p>
        </p:txBody>
      </p:sp>
      <p:cxnSp>
        <p:nvCxnSpPr>
          <p:cNvPr id="29" name="Google Shape;3386;p54">
            <a:extLst>
              <a:ext uri="{FF2B5EF4-FFF2-40B4-BE49-F238E27FC236}">
                <a16:creationId xmlns:a16="http://schemas.microsoft.com/office/drawing/2014/main" id="{33BD7ABD-9DBE-415F-ACAC-0FAA8CE5AFEE}"/>
              </a:ext>
            </a:extLst>
          </p:cNvPr>
          <p:cNvCxnSpPr>
            <a:cxnSpLocks/>
            <a:endCxn id="28" idx="1"/>
          </p:cNvCxnSpPr>
          <p:nvPr/>
        </p:nvCxnSpPr>
        <p:spPr>
          <a:xfrm>
            <a:off x="1464867" y="4256601"/>
            <a:ext cx="937146" cy="313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0" name="Google Shape;3387;p54">
            <a:extLst>
              <a:ext uri="{FF2B5EF4-FFF2-40B4-BE49-F238E27FC236}">
                <a16:creationId xmlns:a16="http://schemas.microsoft.com/office/drawing/2014/main" id="{A274C573-675F-4488-B304-98D6E753422B}"/>
              </a:ext>
            </a:extLst>
          </p:cNvPr>
          <p:cNvCxnSpPr>
            <a:cxnSpLocks/>
            <a:endCxn id="26" idx="1"/>
          </p:cNvCxnSpPr>
          <p:nvPr/>
        </p:nvCxnSpPr>
        <p:spPr>
          <a:xfrm flipV="1">
            <a:off x="1482877" y="3099609"/>
            <a:ext cx="917099" cy="831945"/>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1" name="Google Shape;3388;p54">
            <a:extLst>
              <a:ext uri="{FF2B5EF4-FFF2-40B4-BE49-F238E27FC236}">
                <a16:creationId xmlns:a16="http://schemas.microsoft.com/office/drawing/2014/main" id="{D9421D7A-2681-45E3-BB0B-1AFFD5ABB8CC}"/>
              </a:ext>
            </a:extLst>
          </p:cNvPr>
          <p:cNvCxnSpPr>
            <a:cxnSpLocks/>
            <a:endCxn id="24" idx="1"/>
          </p:cNvCxnSpPr>
          <p:nvPr/>
        </p:nvCxnSpPr>
        <p:spPr>
          <a:xfrm>
            <a:off x="1552736" y="4681117"/>
            <a:ext cx="904421" cy="1118461"/>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3" name="Google Shape;3379;p54">
            <a:extLst>
              <a:ext uri="{FF2B5EF4-FFF2-40B4-BE49-F238E27FC236}">
                <a16:creationId xmlns:a16="http://schemas.microsoft.com/office/drawing/2014/main" id="{57B08D40-7192-4E49-AE6F-DA128EFB12D3}"/>
              </a:ext>
            </a:extLst>
          </p:cNvPr>
          <p:cNvSpPr/>
          <p:nvPr/>
        </p:nvSpPr>
        <p:spPr>
          <a:xfrm>
            <a:off x="4413250" y="5578067"/>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latin typeface="KaiTi" panose="02010609060101010101" pitchFamily="49" charset="-122"/>
                <a:ea typeface="KaiTi" panose="02010609060101010101" pitchFamily="49" charset="-122"/>
              </a:rPr>
              <a:t>带权重</a:t>
            </a:r>
            <a:r>
              <a:rPr lang="en-US" altLang="zh-CN" sz="1400" dirty="0">
                <a:latin typeface="KaiTi" panose="02010609060101010101" pitchFamily="49" charset="-122"/>
                <a:ea typeface="KaiTi" panose="02010609060101010101" pitchFamily="49" charset="-122"/>
              </a:rPr>
              <a:t>n</a:t>
            </a:r>
            <a:r>
              <a:rPr lang="zh-CN" altLang="en-US" sz="1400" dirty="0">
                <a:latin typeface="KaiTi" panose="02010609060101010101" pitchFamily="49" charset="-122"/>
                <a:ea typeface="KaiTi" panose="02010609060101010101" pitchFamily="49" charset="-122"/>
              </a:rPr>
              <a:t>的训练集</a:t>
            </a:r>
          </a:p>
        </p:txBody>
      </p:sp>
      <p:sp>
        <p:nvSpPr>
          <p:cNvPr id="34" name="Google Shape;3381;p54">
            <a:extLst>
              <a:ext uri="{FF2B5EF4-FFF2-40B4-BE49-F238E27FC236}">
                <a16:creationId xmlns:a16="http://schemas.microsoft.com/office/drawing/2014/main" id="{268CAE6B-7742-498E-A226-C3C224BBBD18}"/>
              </a:ext>
            </a:extLst>
          </p:cNvPr>
          <p:cNvSpPr/>
          <p:nvPr/>
        </p:nvSpPr>
        <p:spPr>
          <a:xfrm>
            <a:off x="4382670" y="4048615"/>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latin typeface="KaiTi" panose="02010609060101010101" pitchFamily="49" charset="-122"/>
                <a:ea typeface="KaiTi" panose="02010609060101010101" pitchFamily="49" charset="-122"/>
              </a:rPr>
              <a:t>带权重</a:t>
            </a:r>
            <a:r>
              <a:rPr lang="en-US" altLang="zh-CN" sz="1400" dirty="0">
                <a:latin typeface="KaiTi" panose="02010609060101010101" pitchFamily="49" charset="-122"/>
                <a:ea typeface="KaiTi" panose="02010609060101010101" pitchFamily="49" charset="-122"/>
              </a:rPr>
              <a:t>2</a:t>
            </a:r>
            <a:r>
              <a:rPr lang="zh-CN" altLang="en-US" sz="1400" dirty="0">
                <a:latin typeface="KaiTi" panose="02010609060101010101" pitchFamily="49" charset="-122"/>
                <a:ea typeface="KaiTi" panose="02010609060101010101" pitchFamily="49" charset="-122"/>
              </a:rPr>
              <a:t>的训练集</a:t>
            </a:r>
          </a:p>
        </p:txBody>
      </p:sp>
      <p:sp>
        <p:nvSpPr>
          <p:cNvPr id="35" name="Google Shape;3382;p54">
            <a:extLst>
              <a:ext uri="{FF2B5EF4-FFF2-40B4-BE49-F238E27FC236}">
                <a16:creationId xmlns:a16="http://schemas.microsoft.com/office/drawing/2014/main" id="{B7B949F2-1E6E-427A-B370-F4C8B6986129}"/>
              </a:ext>
            </a:extLst>
          </p:cNvPr>
          <p:cNvSpPr/>
          <p:nvPr/>
        </p:nvSpPr>
        <p:spPr>
          <a:xfrm>
            <a:off x="4371431" y="2878098"/>
            <a:ext cx="1242256" cy="443022"/>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latin typeface="KaiTi" panose="02010609060101010101" pitchFamily="49" charset="-122"/>
                <a:ea typeface="KaiTi" panose="02010609060101010101" pitchFamily="49" charset="-122"/>
              </a:rPr>
              <a:t>带权重</a:t>
            </a:r>
            <a:r>
              <a:rPr lang="en-US" altLang="zh-CN" sz="1400" dirty="0">
                <a:latin typeface="KaiTi" panose="02010609060101010101" pitchFamily="49" charset="-122"/>
                <a:ea typeface="KaiTi" panose="02010609060101010101" pitchFamily="49" charset="-122"/>
              </a:rPr>
              <a:t>1</a:t>
            </a:r>
            <a:r>
              <a:rPr lang="zh-CN" altLang="en-US" sz="1400" dirty="0">
                <a:latin typeface="KaiTi" panose="02010609060101010101" pitchFamily="49" charset="-122"/>
                <a:ea typeface="KaiTi" panose="02010609060101010101" pitchFamily="49" charset="-122"/>
              </a:rPr>
              <a:t>的训练集</a:t>
            </a:r>
            <a:endParaRPr sz="1400" dirty="0">
              <a:latin typeface="KaiTi" panose="02010609060101010101" pitchFamily="49" charset="-122"/>
              <a:ea typeface="KaiTi" panose="02010609060101010101" pitchFamily="49" charset="-122"/>
            </a:endParaRPr>
          </a:p>
        </p:txBody>
      </p:sp>
      <p:cxnSp>
        <p:nvCxnSpPr>
          <p:cNvPr id="37" name="Google Shape;3386;p54">
            <a:extLst>
              <a:ext uri="{FF2B5EF4-FFF2-40B4-BE49-F238E27FC236}">
                <a16:creationId xmlns:a16="http://schemas.microsoft.com/office/drawing/2014/main" id="{5573EB28-A0AB-4411-9549-5448B6CE8765}"/>
              </a:ext>
            </a:extLst>
          </p:cNvPr>
          <p:cNvCxnSpPr>
            <a:cxnSpLocks/>
            <a:stCxn id="26" idx="3"/>
            <a:endCxn id="35" idx="1"/>
          </p:cNvCxnSpPr>
          <p:nvPr/>
        </p:nvCxnSpPr>
        <p:spPr>
          <a:xfrm>
            <a:off x="3642231" y="3099609"/>
            <a:ext cx="729200"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8" name="Google Shape;3386;p54">
            <a:extLst>
              <a:ext uri="{FF2B5EF4-FFF2-40B4-BE49-F238E27FC236}">
                <a16:creationId xmlns:a16="http://schemas.microsoft.com/office/drawing/2014/main" id="{43EBA6B2-D3D4-4E70-935E-B102AD1997A1}"/>
              </a:ext>
            </a:extLst>
          </p:cNvPr>
          <p:cNvCxnSpPr>
            <a:cxnSpLocks/>
            <a:stCxn id="24" idx="3"/>
          </p:cNvCxnSpPr>
          <p:nvPr/>
        </p:nvCxnSpPr>
        <p:spPr>
          <a:xfrm>
            <a:off x="3699413" y="5799578"/>
            <a:ext cx="707397"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9" name="Google Shape;3386;p54">
            <a:extLst>
              <a:ext uri="{FF2B5EF4-FFF2-40B4-BE49-F238E27FC236}">
                <a16:creationId xmlns:a16="http://schemas.microsoft.com/office/drawing/2014/main" id="{15B246F7-1529-4468-842B-8AEFAE29C7D2}"/>
              </a:ext>
            </a:extLst>
          </p:cNvPr>
          <p:cNvCxnSpPr>
            <a:cxnSpLocks/>
          </p:cNvCxnSpPr>
          <p:nvPr/>
        </p:nvCxnSpPr>
        <p:spPr>
          <a:xfrm>
            <a:off x="3642231" y="4258860"/>
            <a:ext cx="742477"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45" name="矩形: 圆角 44">
            <a:extLst>
              <a:ext uri="{FF2B5EF4-FFF2-40B4-BE49-F238E27FC236}">
                <a16:creationId xmlns:a16="http://schemas.microsoft.com/office/drawing/2014/main" id="{3CE83B9C-AC98-402B-A919-A37E30F3C7BD}"/>
              </a:ext>
            </a:extLst>
          </p:cNvPr>
          <p:cNvSpPr/>
          <p:nvPr/>
        </p:nvSpPr>
        <p:spPr>
          <a:xfrm>
            <a:off x="783015" y="3676898"/>
            <a:ext cx="760320" cy="112988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800" dirty="0">
                <a:latin typeface="KaiTi" panose="02010609060101010101" pitchFamily="49" charset="-122"/>
                <a:ea typeface="KaiTi" panose="02010609060101010101" pitchFamily="49" charset="-122"/>
              </a:rPr>
              <a:t>训练数据</a:t>
            </a:r>
          </a:p>
        </p:txBody>
      </p:sp>
      <p:sp>
        <p:nvSpPr>
          <p:cNvPr id="49" name="Google Shape;3380;p54">
            <a:extLst>
              <a:ext uri="{FF2B5EF4-FFF2-40B4-BE49-F238E27FC236}">
                <a16:creationId xmlns:a16="http://schemas.microsoft.com/office/drawing/2014/main" id="{E2E895CF-71B1-43CE-8067-3B6EA527D1B8}"/>
              </a:ext>
            </a:extLst>
          </p:cNvPr>
          <p:cNvSpPr/>
          <p:nvPr/>
        </p:nvSpPr>
        <p:spPr>
          <a:xfrm>
            <a:off x="9057492" y="3499325"/>
            <a:ext cx="677351" cy="15193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结合策略</a:t>
            </a:r>
            <a:endParaRPr sz="1600" dirty="0">
              <a:latin typeface="KaiTi" panose="02010609060101010101" pitchFamily="49" charset="-122"/>
              <a:ea typeface="KaiTi" panose="02010609060101010101" pitchFamily="49" charset="-122"/>
            </a:endParaRPr>
          </a:p>
        </p:txBody>
      </p:sp>
      <p:sp>
        <p:nvSpPr>
          <p:cNvPr id="40" name="Google Shape;3382;p54">
            <a:extLst>
              <a:ext uri="{FF2B5EF4-FFF2-40B4-BE49-F238E27FC236}">
                <a16:creationId xmlns:a16="http://schemas.microsoft.com/office/drawing/2014/main" id="{2AA1689A-4B96-4E52-878C-84CCCFEA04FB}"/>
              </a:ext>
            </a:extLst>
          </p:cNvPr>
          <p:cNvSpPr/>
          <p:nvPr/>
        </p:nvSpPr>
        <p:spPr>
          <a:xfrm>
            <a:off x="6154990" y="2746866"/>
            <a:ext cx="1968900" cy="752459"/>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latin typeface="KaiTi" panose="02010609060101010101" pitchFamily="49" charset="-122"/>
                <a:ea typeface="KaiTi" panose="02010609060101010101" pitchFamily="49" charset="-122"/>
              </a:rPr>
              <a:t>弱学习器</a:t>
            </a:r>
            <a:r>
              <a:rPr lang="en-US" altLang="zh-CN" sz="1400" dirty="0">
                <a:latin typeface="KaiTi" panose="02010609060101010101" pitchFamily="49" charset="-122"/>
                <a:ea typeface="KaiTi" panose="02010609060101010101" pitchFamily="49" charset="-122"/>
              </a:rPr>
              <a:t>1</a:t>
            </a:r>
          </a:p>
          <a:p>
            <a:pPr marL="0" lvl="0" indent="0" algn="ctr" rtl="0">
              <a:spcBef>
                <a:spcPts val="0"/>
              </a:spcBef>
              <a:spcAft>
                <a:spcPts val="0"/>
              </a:spcAft>
              <a:buNone/>
            </a:pPr>
            <a:r>
              <a:rPr lang="zh-CN" altLang="en-US" sz="1400" dirty="0">
                <a:solidFill>
                  <a:srgbClr val="0066CC"/>
                </a:solidFill>
                <a:latin typeface="KaiTi" panose="02010609060101010101" pitchFamily="49" charset="-122"/>
                <a:ea typeface="KaiTi" panose="02010609060101010101" pitchFamily="49" charset="-122"/>
              </a:rPr>
              <a:t>基于学习的误差率</a:t>
            </a:r>
            <a:r>
              <a:rPr lang="en-US" altLang="zh-CN" sz="1400" dirty="0">
                <a:solidFill>
                  <a:srgbClr val="0066CC"/>
                </a:solidFill>
                <a:latin typeface="KaiTi" panose="02010609060101010101" pitchFamily="49" charset="-122"/>
                <a:ea typeface="KaiTi" panose="02010609060101010101" pitchFamily="49" charset="-122"/>
              </a:rPr>
              <a:t>1</a:t>
            </a:r>
          </a:p>
          <a:p>
            <a:pPr marL="0" lvl="0" indent="0" algn="ctr" rtl="0">
              <a:spcBef>
                <a:spcPts val="0"/>
              </a:spcBef>
              <a:spcAft>
                <a:spcPts val="0"/>
              </a:spcAft>
              <a:buNone/>
            </a:pPr>
            <a:r>
              <a:rPr lang="zh-CN" altLang="en-US" sz="1400" dirty="0">
                <a:solidFill>
                  <a:srgbClr val="0066CC"/>
                </a:solidFill>
                <a:latin typeface="KaiTi" panose="02010609060101010101" pitchFamily="49" charset="-122"/>
                <a:ea typeface="KaiTi" panose="02010609060101010101" pitchFamily="49" charset="-122"/>
              </a:rPr>
              <a:t>更新学习器权重</a:t>
            </a:r>
            <a:r>
              <a:rPr lang="en-US" altLang="zh-CN" sz="1400" dirty="0">
                <a:solidFill>
                  <a:srgbClr val="0066CC"/>
                </a:solidFill>
                <a:latin typeface="KaiTi" panose="02010609060101010101" pitchFamily="49" charset="-122"/>
                <a:ea typeface="KaiTi" panose="02010609060101010101" pitchFamily="49" charset="-122"/>
              </a:rPr>
              <a:t>1</a:t>
            </a:r>
            <a:endParaRPr sz="1400" dirty="0">
              <a:solidFill>
                <a:srgbClr val="0066CC"/>
              </a:solidFill>
              <a:latin typeface="KaiTi" panose="02010609060101010101" pitchFamily="49" charset="-122"/>
              <a:ea typeface="KaiTi" panose="02010609060101010101" pitchFamily="49" charset="-122"/>
            </a:endParaRPr>
          </a:p>
        </p:txBody>
      </p:sp>
      <p:sp>
        <p:nvSpPr>
          <p:cNvPr id="47" name="Google Shape;3382;p54">
            <a:extLst>
              <a:ext uri="{FF2B5EF4-FFF2-40B4-BE49-F238E27FC236}">
                <a16:creationId xmlns:a16="http://schemas.microsoft.com/office/drawing/2014/main" id="{78FE46E5-84CD-49D6-A2AD-81C0710BBF76}"/>
              </a:ext>
            </a:extLst>
          </p:cNvPr>
          <p:cNvSpPr/>
          <p:nvPr/>
        </p:nvSpPr>
        <p:spPr>
          <a:xfrm>
            <a:off x="6154990" y="3865614"/>
            <a:ext cx="1968900" cy="752459"/>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latin typeface="KaiTi" panose="02010609060101010101" pitchFamily="49" charset="-122"/>
                <a:ea typeface="KaiTi" panose="02010609060101010101" pitchFamily="49" charset="-122"/>
              </a:rPr>
              <a:t>弱学习器</a:t>
            </a:r>
            <a:r>
              <a:rPr lang="en-US" altLang="zh-CN" sz="1400" dirty="0">
                <a:latin typeface="KaiTi" panose="02010609060101010101" pitchFamily="49" charset="-122"/>
                <a:ea typeface="KaiTi" panose="02010609060101010101" pitchFamily="49" charset="-122"/>
              </a:rPr>
              <a:t>2</a:t>
            </a:r>
          </a:p>
          <a:p>
            <a:pPr marL="0" lvl="0" indent="0" algn="ctr" rtl="0">
              <a:spcBef>
                <a:spcPts val="0"/>
              </a:spcBef>
              <a:spcAft>
                <a:spcPts val="0"/>
              </a:spcAft>
              <a:buNone/>
            </a:pPr>
            <a:r>
              <a:rPr lang="zh-CN" altLang="en-US" sz="1400" dirty="0">
                <a:solidFill>
                  <a:srgbClr val="0066CC"/>
                </a:solidFill>
                <a:latin typeface="KaiTi" panose="02010609060101010101" pitchFamily="49" charset="-122"/>
                <a:ea typeface="KaiTi" panose="02010609060101010101" pitchFamily="49" charset="-122"/>
              </a:rPr>
              <a:t>基于学习的误差率</a:t>
            </a:r>
            <a:r>
              <a:rPr lang="en-US" altLang="zh-CN" sz="1400" dirty="0">
                <a:solidFill>
                  <a:srgbClr val="0066CC"/>
                </a:solidFill>
                <a:latin typeface="KaiTi" panose="02010609060101010101" pitchFamily="49" charset="-122"/>
                <a:ea typeface="KaiTi" panose="02010609060101010101" pitchFamily="49" charset="-122"/>
              </a:rPr>
              <a:t>2</a:t>
            </a:r>
          </a:p>
          <a:p>
            <a:pPr marL="0" lvl="0" indent="0" algn="ctr" rtl="0">
              <a:spcBef>
                <a:spcPts val="0"/>
              </a:spcBef>
              <a:spcAft>
                <a:spcPts val="0"/>
              </a:spcAft>
              <a:buNone/>
            </a:pPr>
            <a:r>
              <a:rPr lang="zh-CN" altLang="en-US" sz="1400" dirty="0">
                <a:solidFill>
                  <a:srgbClr val="0066CC"/>
                </a:solidFill>
                <a:latin typeface="KaiTi" panose="02010609060101010101" pitchFamily="49" charset="-122"/>
                <a:ea typeface="KaiTi" panose="02010609060101010101" pitchFamily="49" charset="-122"/>
              </a:rPr>
              <a:t>更新学习器权重</a:t>
            </a:r>
            <a:r>
              <a:rPr lang="en-US" altLang="zh-CN" sz="1400" dirty="0">
                <a:solidFill>
                  <a:srgbClr val="0066CC"/>
                </a:solidFill>
                <a:latin typeface="KaiTi" panose="02010609060101010101" pitchFamily="49" charset="-122"/>
                <a:ea typeface="KaiTi" panose="02010609060101010101" pitchFamily="49" charset="-122"/>
              </a:rPr>
              <a:t>2</a:t>
            </a:r>
            <a:endParaRPr sz="1400" dirty="0">
              <a:solidFill>
                <a:srgbClr val="0066CC"/>
              </a:solidFill>
              <a:latin typeface="KaiTi" panose="02010609060101010101" pitchFamily="49" charset="-122"/>
              <a:ea typeface="KaiTi" panose="02010609060101010101" pitchFamily="49" charset="-122"/>
            </a:endParaRPr>
          </a:p>
        </p:txBody>
      </p:sp>
      <p:sp>
        <p:nvSpPr>
          <p:cNvPr id="48" name="Google Shape;3382;p54">
            <a:extLst>
              <a:ext uri="{FF2B5EF4-FFF2-40B4-BE49-F238E27FC236}">
                <a16:creationId xmlns:a16="http://schemas.microsoft.com/office/drawing/2014/main" id="{0113CDC3-201D-4870-8E9F-0FB0E704BC11}"/>
              </a:ext>
            </a:extLst>
          </p:cNvPr>
          <p:cNvSpPr/>
          <p:nvPr/>
        </p:nvSpPr>
        <p:spPr>
          <a:xfrm>
            <a:off x="6183532" y="5424450"/>
            <a:ext cx="1968900" cy="752459"/>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400" dirty="0">
                <a:latin typeface="KaiTi" panose="02010609060101010101" pitchFamily="49" charset="-122"/>
                <a:ea typeface="KaiTi" panose="02010609060101010101" pitchFamily="49" charset="-122"/>
              </a:rPr>
              <a:t>弱学习器</a:t>
            </a:r>
            <a:r>
              <a:rPr lang="en-US" altLang="zh-CN" sz="1400" dirty="0">
                <a:latin typeface="KaiTi" panose="02010609060101010101" pitchFamily="49" charset="-122"/>
                <a:ea typeface="KaiTi" panose="02010609060101010101" pitchFamily="49" charset="-122"/>
              </a:rPr>
              <a:t>n</a:t>
            </a:r>
          </a:p>
          <a:p>
            <a:pPr marL="0" lvl="0" indent="0" algn="ctr" rtl="0">
              <a:spcBef>
                <a:spcPts val="0"/>
              </a:spcBef>
              <a:spcAft>
                <a:spcPts val="0"/>
              </a:spcAft>
              <a:buNone/>
            </a:pPr>
            <a:r>
              <a:rPr lang="zh-CN" altLang="en-US" sz="1400" dirty="0">
                <a:solidFill>
                  <a:srgbClr val="0066CC"/>
                </a:solidFill>
                <a:latin typeface="KaiTi" panose="02010609060101010101" pitchFamily="49" charset="-122"/>
                <a:ea typeface="KaiTi" panose="02010609060101010101" pitchFamily="49" charset="-122"/>
              </a:rPr>
              <a:t>基于学习的误差率</a:t>
            </a:r>
            <a:r>
              <a:rPr lang="en-US" altLang="zh-CN" sz="1400" dirty="0">
                <a:solidFill>
                  <a:srgbClr val="0066CC"/>
                </a:solidFill>
                <a:latin typeface="KaiTi" panose="02010609060101010101" pitchFamily="49" charset="-122"/>
                <a:ea typeface="KaiTi" panose="02010609060101010101" pitchFamily="49" charset="-122"/>
              </a:rPr>
              <a:t>n</a:t>
            </a:r>
          </a:p>
          <a:p>
            <a:pPr marL="0" lvl="0" indent="0" algn="ctr" rtl="0">
              <a:spcBef>
                <a:spcPts val="0"/>
              </a:spcBef>
              <a:spcAft>
                <a:spcPts val="0"/>
              </a:spcAft>
              <a:buNone/>
            </a:pPr>
            <a:r>
              <a:rPr lang="zh-CN" altLang="en-US" sz="1400" dirty="0">
                <a:solidFill>
                  <a:srgbClr val="0066CC"/>
                </a:solidFill>
                <a:latin typeface="KaiTi" panose="02010609060101010101" pitchFamily="49" charset="-122"/>
                <a:ea typeface="KaiTi" panose="02010609060101010101" pitchFamily="49" charset="-122"/>
              </a:rPr>
              <a:t>更新学习器权重</a:t>
            </a:r>
            <a:r>
              <a:rPr lang="en-US" altLang="zh-CN" sz="1400" dirty="0">
                <a:solidFill>
                  <a:srgbClr val="0066CC"/>
                </a:solidFill>
                <a:latin typeface="KaiTi" panose="02010609060101010101" pitchFamily="49" charset="-122"/>
                <a:ea typeface="KaiTi" panose="02010609060101010101" pitchFamily="49" charset="-122"/>
              </a:rPr>
              <a:t>n</a:t>
            </a:r>
            <a:endParaRPr sz="1400" dirty="0">
              <a:solidFill>
                <a:srgbClr val="0066CC"/>
              </a:solidFill>
              <a:latin typeface="KaiTi" panose="02010609060101010101" pitchFamily="49" charset="-122"/>
              <a:ea typeface="KaiTi" panose="02010609060101010101" pitchFamily="49" charset="-122"/>
            </a:endParaRPr>
          </a:p>
        </p:txBody>
      </p:sp>
      <p:cxnSp>
        <p:nvCxnSpPr>
          <p:cNvPr id="5" name="连接符: 肘形 4">
            <a:extLst>
              <a:ext uri="{FF2B5EF4-FFF2-40B4-BE49-F238E27FC236}">
                <a16:creationId xmlns:a16="http://schemas.microsoft.com/office/drawing/2014/main" id="{053775DD-345E-473F-87C1-6A7EF53362E1}"/>
              </a:ext>
            </a:extLst>
          </p:cNvPr>
          <p:cNvCxnSpPr>
            <a:stCxn id="40" idx="2"/>
            <a:endCxn id="28" idx="0"/>
          </p:cNvCxnSpPr>
          <p:nvPr/>
        </p:nvCxnSpPr>
        <p:spPr>
          <a:xfrm rot="5400000">
            <a:off x="4811844" y="1710623"/>
            <a:ext cx="538895" cy="4116299"/>
          </a:xfrm>
          <a:prstGeom prst="bentConnector3">
            <a:avLst>
              <a:gd name="adj1" fmla="val 45650"/>
            </a:avLst>
          </a:prstGeom>
          <a:ln>
            <a:tailEnd type="triangle"/>
          </a:ln>
        </p:spPr>
        <p:style>
          <a:lnRef idx="2">
            <a:schemeClr val="dk1"/>
          </a:lnRef>
          <a:fillRef idx="0">
            <a:schemeClr val="dk1"/>
          </a:fillRef>
          <a:effectRef idx="1">
            <a:schemeClr val="dk1"/>
          </a:effectRef>
          <a:fontRef idx="minor">
            <a:schemeClr val="tx1"/>
          </a:fontRef>
        </p:style>
      </p:cxnSp>
      <p:cxnSp>
        <p:nvCxnSpPr>
          <p:cNvPr id="51" name="连接符: 肘形 50">
            <a:extLst>
              <a:ext uri="{FF2B5EF4-FFF2-40B4-BE49-F238E27FC236}">
                <a16:creationId xmlns:a16="http://schemas.microsoft.com/office/drawing/2014/main" id="{8331D6E9-9D52-4691-B20D-17F4821BCE20}"/>
              </a:ext>
            </a:extLst>
          </p:cNvPr>
          <p:cNvCxnSpPr>
            <a:cxnSpLocks/>
          </p:cNvCxnSpPr>
          <p:nvPr/>
        </p:nvCxnSpPr>
        <p:spPr>
          <a:xfrm rot="5400000">
            <a:off x="4837267" y="3241123"/>
            <a:ext cx="538895" cy="4116299"/>
          </a:xfrm>
          <a:prstGeom prst="bentConnector3">
            <a:avLst>
              <a:gd name="adj1" fmla="val 56962"/>
            </a:avLst>
          </a:prstGeom>
          <a:ln>
            <a:tailEnd type="triangle"/>
          </a:ln>
        </p:spPr>
        <p:style>
          <a:lnRef idx="2">
            <a:schemeClr val="dk1"/>
          </a:lnRef>
          <a:fillRef idx="0">
            <a:schemeClr val="dk1"/>
          </a:fillRef>
          <a:effectRef idx="1">
            <a:schemeClr val="dk1"/>
          </a:effectRef>
          <a:fontRef idx="minor">
            <a:schemeClr val="tx1"/>
          </a:fontRef>
        </p:style>
      </p:cxnSp>
      <p:sp>
        <p:nvSpPr>
          <p:cNvPr id="52" name="Google Shape;1532;p43">
            <a:extLst>
              <a:ext uri="{FF2B5EF4-FFF2-40B4-BE49-F238E27FC236}">
                <a16:creationId xmlns:a16="http://schemas.microsoft.com/office/drawing/2014/main" id="{29E76D86-9038-4662-AE69-BA0B5C4298A4}"/>
              </a:ext>
            </a:extLst>
          </p:cNvPr>
          <p:cNvSpPr txBox="1"/>
          <p:nvPr/>
        </p:nvSpPr>
        <p:spPr>
          <a:xfrm>
            <a:off x="3049743" y="3419330"/>
            <a:ext cx="2216627"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zh-CN" altLang="en-US" sz="2000" baseline="30000" dirty="0">
                <a:solidFill>
                  <a:srgbClr val="FF0000"/>
                </a:solidFill>
                <a:latin typeface="KaiTi" panose="02010609060101010101" pitchFamily="49" charset="-122"/>
                <a:ea typeface="KaiTi" panose="02010609060101010101" pitchFamily="49" charset="-122"/>
                <a:cs typeface="Consolas"/>
                <a:sym typeface="Consolas"/>
              </a:rPr>
              <a:t>根据权重</a:t>
            </a:r>
            <a:r>
              <a:rPr lang="en-US" altLang="zh-CN" sz="2000" baseline="30000" dirty="0">
                <a:solidFill>
                  <a:srgbClr val="FF0000"/>
                </a:solidFill>
                <a:latin typeface="KaiTi" panose="02010609060101010101" pitchFamily="49" charset="-122"/>
                <a:ea typeface="KaiTi" panose="02010609060101010101" pitchFamily="49" charset="-122"/>
                <a:cs typeface="Consolas"/>
                <a:sym typeface="Consolas"/>
              </a:rPr>
              <a:t>1</a:t>
            </a:r>
            <a:r>
              <a:rPr lang="zh-CN" altLang="en-US" sz="2000" baseline="30000" dirty="0">
                <a:solidFill>
                  <a:srgbClr val="FF0000"/>
                </a:solidFill>
                <a:latin typeface="KaiTi" panose="02010609060101010101" pitchFamily="49" charset="-122"/>
                <a:ea typeface="KaiTi" panose="02010609060101010101" pitchFamily="49" charset="-122"/>
                <a:cs typeface="Consolas"/>
                <a:sym typeface="Consolas"/>
              </a:rPr>
              <a:t>更新样本权重</a:t>
            </a:r>
            <a:r>
              <a:rPr lang="en-US" altLang="zh-CN" sz="2000" baseline="30000" dirty="0">
                <a:solidFill>
                  <a:srgbClr val="FF0000"/>
                </a:solidFill>
                <a:latin typeface="KaiTi" panose="02010609060101010101" pitchFamily="49" charset="-122"/>
                <a:ea typeface="KaiTi" panose="02010609060101010101" pitchFamily="49" charset="-122"/>
                <a:cs typeface="Consolas"/>
                <a:sym typeface="Consolas"/>
              </a:rPr>
              <a:t>2</a:t>
            </a:r>
            <a:endParaRPr sz="2000" baseline="30000" dirty="0">
              <a:solidFill>
                <a:srgbClr val="FF0000"/>
              </a:solidFill>
              <a:latin typeface="KaiTi" panose="02010609060101010101" pitchFamily="49" charset="-122"/>
              <a:ea typeface="KaiTi" panose="02010609060101010101" pitchFamily="49" charset="-122"/>
              <a:cs typeface="Consolas"/>
              <a:sym typeface="Consolas"/>
            </a:endParaRPr>
          </a:p>
        </p:txBody>
      </p:sp>
      <p:cxnSp>
        <p:nvCxnSpPr>
          <p:cNvPr id="53" name="Google Shape;3386;p54">
            <a:extLst>
              <a:ext uri="{FF2B5EF4-FFF2-40B4-BE49-F238E27FC236}">
                <a16:creationId xmlns:a16="http://schemas.microsoft.com/office/drawing/2014/main" id="{A5C5AF51-B797-4966-BF5F-3D20368CCA40}"/>
              </a:ext>
            </a:extLst>
          </p:cNvPr>
          <p:cNvCxnSpPr>
            <a:cxnSpLocks/>
            <a:stCxn id="35" idx="3"/>
          </p:cNvCxnSpPr>
          <p:nvPr/>
        </p:nvCxnSpPr>
        <p:spPr>
          <a:xfrm>
            <a:off x="5613687" y="3099609"/>
            <a:ext cx="532009" cy="462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54" name="Google Shape;3386;p54">
            <a:extLst>
              <a:ext uri="{FF2B5EF4-FFF2-40B4-BE49-F238E27FC236}">
                <a16:creationId xmlns:a16="http://schemas.microsoft.com/office/drawing/2014/main" id="{8AFFF420-3C41-42FE-AD0F-726E385E5D72}"/>
              </a:ext>
            </a:extLst>
          </p:cNvPr>
          <p:cNvCxnSpPr>
            <a:cxnSpLocks/>
          </p:cNvCxnSpPr>
          <p:nvPr/>
        </p:nvCxnSpPr>
        <p:spPr>
          <a:xfrm>
            <a:off x="8123890" y="4238712"/>
            <a:ext cx="937146" cy="313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55" name="Google Shape;3386;p54">
            <a:extLst>
              <a:ext uri="{FF2B5EF4-FFF2-40B4-BE49-F238E27FC236}">
                <a16:creationId xmlns:a16="http://schemas.microsoft.com/office/drawing/2014/main" id="{C823A8AE-ED34-4156-8B01-ACB5BC210058}"/>
              </a:ext>
            </a:extLst>
          </p:cNvPr>
          <p:cNvCxnSpPr>
            <a:cxnSpLocks/>
          </p:cNvCxnSpPr>
          <p:nvPr/>
        </p:nvCxnSpPr>
        <p:spPr>
          <a:xfrm>
            <a:off x="5633279" y="4251784"/>
            <a:ext cx="532009" cy="462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56" name="Google Shape;3386;p54">
            <a:extLst>
              <a:ext uri="{FF2B5EF4-FFF2-40B4-BE49-F238E27FC236}">
                <a16:creationId xmlns:a16="http://schemas.microsoft.com/office/drawing/2014/main" id="{2D99C2EE-FE08-43B4-B1B7-59A07D6A6C2C}"/>
              </a:ext>
            </a:extLst>
          </p:cNvPr>
          <p:cNvCxnSpPr>
            <a:cxnSpLocks/>
          </p:cNvCxnSpPr>
          <p:nvPr/>
        </p:nvCxnSpPr>
        <p:spPr>
          <a:xfrm>
            <a:off x="5661821" y="5794301"/>
            <a:ext cx="532009" cy="462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57" name="Google Shape;1532;p43">
            <a:extLst>
              <a:ext uri="{FF2B5EF4-FFF2-40B4-BE49-F238E27FC236}">
                <a16:creationId xmlns:a16="http://schemas.microsoft.com/office/drawing/2014/main" id="{BD7AAC4B-B652-4EBC-973A-47073454E0A1}"/>
              </a:ext>
            </a:extLst>
          </p:cNvPr>
          <p:cNvSpPr txBox="1"/>
          <p:nvPr/>
        </p:nvSpPr>
        <p:spPr>
          <a:xfrm>
            <a:off x="3124221" y="5008032"/>
            <a:ext cx="2277773" cy="268909"/>
          </a:xfrm>
          <a:prstGeom prst="rect">
            <a:avLst/>
          </a:prstGeom>
          <a:noFill/>
          <a:ln w="9525" cap="flat" cmpd="sng">
            <a:solidFill>
              <a:srgbClr val="CFE2F3"/>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zh-CN" altLang="en-US" sz="2000" baseline="30000" dirty="0">
                <a:solidFill>
                  <a:srgbClr val="FF0000"/>
                </a:solidFill>
                <a:latin typeface="KaiTi" panose="02010609060101010101" pitchFamily="49" charset="-122"/>
                <a:ea typeface="KaiTi" panose="02010609060101010101" pitchFamily="49" charset="-122"/>
                <a:cs typeface="Consolas"/>
                <a:sym typeface="Consolas"/>
              </a:rPr>
              <a:t>根据权重</a:t>
            </a:r>
            <a:r>
              <a:rPr lang="en-US" altLang="zh-CN" sz="2000" baseline="30000" dirty="0">
                <a:solidFill>
                  <a:srgbClr val="FF0000"/>
                </a:solidFill>
                <a:latin typeface="KaiTi" panose="02010609060101010101" pitchFamily="49" charset="-122"/>
                <a:ea typeface="KaiTi" panose="02010609060101010101" pitchFamily="49" charset="-122"/>
                <a:cs typeface="Consolas"/>
                <a:sym typeface="Consolas"/>
              </a:rPr>
              <a:t>n-1</a:t>
            </a:r>
            <a:r>
              <a:rPr lang="zh-CN" altLang="en-US" sz="2000" baseline="30000" dirty="0">
                <a:solidFill>
                  <a:srgbClr val="FF0000"/>
                </a:solidFill>
                <a:latin typeface="KaiTi" panose="02010609060101010101" pitchFamily="49" charset="-122"/>
                <a:ea typeface="KaiTi" panose="02010609060101010101" pitchFamily="49" charset="-122"/>
                <a:cs typeface="Consolas"/>
                <a:sym typeface="Consolas"/>
              </a:rPr>
              <a:t>更新样本权重</a:t>
            </a:r>
            <a:r>
              <a:rPr lang="en-US" altLang="zh-CN" sz="2000" baseline="30000" dirty="0">
                <a:solidFill>
                  <a:srgbClr val="FF0000"/>
                </a:solidFill>
                <a:latin typeface="KaiTi" panose="02010609060101010101" pitchFamily="49" charset="-122"/>
                <a:ea typeface="KaiTi" panose="02010609060101010101" pitchFamily="49" charset="-122"/>
                <a:cs typeface="Consolas"/>
                <a:sym typeface="Consolas"/>
              </a:rPr>
              <a:t>n</a:t>
            </a:r>
            <a:endParaRPr sz="2000" baseline="30000" dirty="0">
              <a:solidFill>
                <a:srgbClr val="FF0000"/>
              </a:solidFill>
              <a:latin typeface="KaiTi" panose="02010609060101010101" pitchFamily="49" charset="-122"/>
              <a:ea typeface="KaiTi" panose="02010609060101010101" pitchFamily="49" charset="-122"/>
              <a:cs typeface="Consolas"/>
              <a:sym typeface="Consolas"/>
            </a:endParaRPr>
          </a:p>
        </p:txBody>
      </p:sp>
      <p:cxnSp>
        <p:nvCxnSpPr>
          <p:cNvPr id="59" name="Google Shape;3386;p54">
            <a:extLst>
              <a:ext uri="{FF2B5EF4-FFF2-40B4-BE49-F238E27FC236}">
                <a16:creationId xmlns:a16="http://schemas.microsoft.com/office/drawing/2014/main" id="{C525D9AD-12D0-4865-8202-1ABB01CAFDB5}"/>
              </a:ext>
            </a:extLst>
          </p:cNvPr>
          <p:cNvCxnSpPr>
            <a:cxnSpLocks/>
            <a:stCxn id="48" idx="3"/>
          </p:cNvCxnSpPr>
          <p:nvPr/>
        </p:nvCxnSpPr>
        <p:spPr>
          <a:xfrm flipV="1">
            <a:off x="8152432" y="4675164"/>
            <a:ext cx="905060" cy="1125516"/>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0" name="Google Shape;3380;p54">
            <a:extLst>
              <a:ext uri="{FF2B5EF4-FFF2-40B4-BE49-F238E27FC236}">
                <a16:creationId xmlns:a16="http://schemas.microsoft.com/office/drawing/2014/main" id="{F5CE5DE7-EE5F-414F-82A9-368D8A5706EF}"/>
              </a:ext>
            </a:extLst>
          </p:cNvPr>
          <p:cNvSpPr/>
          <p:nvPr/>
        </p:nvSpPr>
        <p:spPr>
          <a:xfrm>
            <a:off x="10296628" y="3502172"/>
            <a:ext cx="677351" cy="1519300"/>
          </a:xfrm>
          <a:prstGeom prst="rect">
            <a:avLst/>
          </a:prstGeom>
          <a:solidFill>
            <a:srgbClr val="F3F3F3"/>
          </a:solidFill>
          <a:ln w="1905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CN" altLang="en-US" sz="1600" dirty="0">
                <a:latin typeface="KaiTi" panose="02010609060101010101" pitchFamily="49" charset="-122"/>
                <a:ea typeface="KaiTi" panose="02010609060101010101" pitchFamily="49" charset="-122"/>
              </a:rPr>
              <a:t>强学习器</a:t>
            </a:r>
            <a:endParaRPr sz="1600" dirty="0">
              <a:latin typeface="KaiTi" panose="02010609060101010101" pitchFamily="49" charset="-122"/>
              <a:ea typeface="KaiTi" panose="02010609060101010101" pitchFamily="49" charset="-122"/>
            </a:endParaRPr>
          </a:p>
        </p:txBody>
      </p:sp>
      <p:cxnSp>
        <p:nvCxnSpPr>
          <p:cNvPr id="61" name="Google Shape;3386;p54">
            <a:extLst>
              <a:ext uri="{FF2B5EF4-FFF2-40B4-BE49-F238E27FC236}">
                <a16:creationId xmlns:a16="http://schemas.microsoft.com/office/drawing/2014/main" id="{7B83CCEB-4D9F-4B12-A2C7-79C461D9BAC5}"/>
              </a:ext>
            </a:extLst>
          </p:cNvPr>
          <p:cNvCxnSpPr>
            <a:cxnSpLocks/>
            <a:stCxn id="49" idx="3"/>
            <a:endCxn id="60" idx="1"/>
          </p:cNvCxnSpPr>
          <p:nvPr/>
        </p:nvCxnSpPr>
        <p:spPr>
          <a:xfrm>
            <a:off x="9734843" y="4258975"/>
            <a:ext cx="561785" cy="2847"/>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2" name="矩形: 圆角 61">
            <a:extLst>
              <a:ext uri="{FF2B5EF4-FFF2-40B4-BE49-F238E27FC236}">
                <a16:creationId xmlns:a16="http://schemas.microsoft.com/office/drawing/2014/main" id="{78201818-3B5D-4DB2-A21B-FC09DE3936E4}"/>
              </a:ext>
            </a:extLst>
          </p:cNvPr>
          <p:cNvSpPr/>
          <p:nvPr/>
        </p:nvSpPr>
        <p:spPr>
          <a:xfrm>
            <a:off x="6154990" y="4735127"/>
            <a:ext cx="1968900" cy="283498"/>
          </a:xfrm>
          <a:prstGeom prst="roundRect">
            <a:avLst/>
          </a:prstGeom>
          <a:solidFill>
            <a:schemeClr val="accent1"/>
          </a:solid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1200" dirty="0">
                <a:latin typeface="KaiTi" panose="02010609060101010101" pitchFamily="49" charset="-122"/>
                <a:ea typeface="KaiTi" panose="02010609060101010101" pitchFamily="49" charset="-122"/>
              </a:rPr>
              <a:t>相同方式更新</a:t>
            </a:r>
            <a:r>
              <a:rPr lang="en-US" altLang="zh-CN" sz="1200" dirty="0">
                <a:latin typeface="KaiTi" panose="02010609060101010101" pitchFamily="49" charset="-122"/>
                <a:ea typeface="KaiTi" panose="02010609060101010101" pitchFamily="49" charset="-122"/>
              </a:rPr>
              <a:t>……</a:t>
            </a:r>
            <a:endParaRPr lang="zh-CN" altLang="en-US" sz="1200" dirty="0">
              <a:latin typeface="KaiTi" panose="02010609060101010101" pitchFamily="49" charset="-122"/>
              <a:ea typeface="KaiTi" panose="02010609060101010101" pitchFamily="49" charset="-122"/>
            </a:endParaRPr>
          </a:p>
        </p:txBody>
      </p:sp>
      <p:cxnSp>
        <p:nvCxnSpPr>
          <p:cNvPr id="63" name="Google Shape;3386;p54">
            <a:extLst>
              <a:ext uri="{FF2B5EF4-FFF2-40B4-BE49-F238E27FC236}">
                <a16:creationId xmlns:a16="http://schemas.microsoft.com/office/drawing/2014/main" id="{A98E637A-16FE-4B2B-B475-70642E201597}"/>
              </a:ext>
            </a:extLst>
          </p:cNvPr>
          <p:cNvCxnSpPr>
            <a:cxnSpLocks/>
            <a:stCxn id="47" idx="2"/>
          </p:cNvCxnSpPr>
          <p:nvPr/>
        </p:nvCxnSpPr>
        <p:spPr>
          <a:xfrm>
            <a:off x="7139440" y="4618073"/>
            <a:ext cx="0" cy="117054"/>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 name="Rectangle 2">
            <a:extLst>
              <a:ext uri="{FF2B5EF4-FFF2-40B4-BE49-F238E27FC236}">
                <a16:creationId xmlns:a16="http://schemas.microsoft.com/office/drawing/2014/main" id="{001BC6D6-6C79-671F-E54D-45189B5EBD62}"/>
              </a:ext>
            </a:extLst>
          </p:cNvPr>
          <p:cNvSpPr txBox="1">
            <a:spLocks noChangeArrowheads="1"/>
          </p:cNvSpPr>
          <p:nvPr/>
        </p:nvSpPr>
        <p:spPr bwMode="auto">
          <a:xfrm>
            <a:off x="668338" y="235898"/>
            <a:ext cx="5629299"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latin typeface="KaiTi" panose="02010609060101010101" pitchFamily="49" charset="-122"/>
                <a:ea typeface="KaiTi" panose="02010609060101010101" pitchFamily="49" charset="-122"/>
              </a:rPr>
              <a:t>AdaBoost</a:t>
            </a:r>
            <a:r>
              <a:rPr lang="zh-CN" altLang="en-US" kern="0"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3302339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5134A67-FE35-44B3-A10D-3D98F05F38CB}"/>
                  </a:ext>
                </a:extLst>
              </p:cNvPr>
              <p:cNvSpPr txBox="1"/>
              <p:nvPr/>
            </p:nvSpPr>
            <p:spPr>
              <a:xfrm>
                <a:off x="668338" y="1567529"/>
                <a:ext cx="10823077" cy="2544286"/>
              </a:xfrm>
              <a:prstGeom prst="rect">
                <a:avLst/>
              </a:prstGeom>
              <a:noFill/>
            </p:spPr>
            <p:txBody>
              <a:bodyPr wrap="square">
                <a:spAutoFit/>
              </a:bodyPr>
              <a:lstStyle/>
              <a:p>
                <a:pPr algn="just">
                  <a:lnSpc>
                    <a:spcPct val="150000"/>
                  </a:lnSpc>
                  <a:spcBef>
                    <a:spcPts val="900"/>
                  </a:spcBef>
                  <a:spcAft>
                    <a:spcPts val="900"/>
                  </a:spcAft>
                </a:pPr>
                <a:r>
                  <a:rPr lang="zh-CN" altLang="en" kern="100" dirty="0">
                    <a:effectLst/>
                    <a:latin typeface="KaiTi" panose="02010609060101010101" pitchFamily="49" charset="-122"/>
                    <a:ea typeface="KaiTi" panose="02010609060101010101" pitchFamily="49" charset="-122"/>
                    <a:cs typeface="Times New Roman" panose="02020603050405020304" pitchFamily="18" charset="0"/>
                  </a:rPr>
                  <a:t>输入</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m</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个样本的训练集</a:t>
                </a:r>
                <a:r>
                  <a:rPr lang="en-US" altLang="zh-CN" kern="100" dirty="0">
                    <a:effectLst/>
                    <a:latin typeface="KaiTi" panose="02010609060101010101" pitchFamily="49" charset="-122"/>
                    <a:ea typeface="KaiTi" panose="02010609060101010101" pitchFamily="49" charset="-122"/>
                    <a:cs typeface="Times New Roman" panose="02020603050405020304" pitchFamily="18" charset="0"/>
                  </a:rPr>
                  <a:t>: </a:t>
                </a:r>
                <a14:m>
                  <m:oMath xmlns:m="http://schemas.openxmlformats.org/officeDocument/2006/math">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𝑇</m:t>
                    </m:r>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m:t>
                    </m:r>
                    <m:d>
                      <m:dPr>
                        <m:begChr m:val="{"/>
                        <m:endChr m:val=""/>
                        <m:ctrlPr>
                          <a:rPr lang="en-US" altLang="zh-CN" i="1" kern="100" dirty="0">
                            <a:effectLst/>
                            <a:latin typeface="Cambria Math" panose="02040503050406030204" pitchFamily="18" charset="0"/>
                            <a:ea typeface="KaiTi" panose="02010609060101010101" pitchFamily="49" charset="-122"/>
                            <a:cs typeface="Times New Roman" panose="02020603050405020304" pitchFamily="18" charset="0"/>
                          </a:rPr>
                        </m:ctrlPr>
                      </m:dPr>
                      <m:e>
                        <m:sSub>
                          <m:sSubPr>
                            <m:ctrlPr>
                              <a:rPr lang="en-US" altLang="zh-CN" i="1" kern="100" dirty="0">
                                <a:effectLst/>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m:t>
                            </m:r>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𝑥</m:t>
                            </m:r>
                          </m:e>
                          <m:sub>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1,</m:t>
                            </m:r>
                          </m:sub>
                        </m:sSub>
                        <m:sSub>
                          <m:sSubPr>
                            <m:ctrlPr>
                              <a:rPr lang="en-US" altLang="zh-CN" i="1" kern="100" dirty="0">
                                <a:effectLst/>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1)</m:t>
                            </m:r>
                          </m:sub>
                        </m:sSub>
                        <m:r>
                          <a:rPr lang="en-US" altLang="zh-CN" b="0" i="1" kern="100" dirty="0">
                            <a:effectLst/>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zh-CN" i="1" kern="100"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𝑥</m:t>
                            </m:r>
                          </m:e>
                          <m: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2,</m:t>
                            </m:r>
                          </m:sub>
                        </m:sSub>
                        <m:sSub>
                          <m:sSubPr>
                            <m:ctrlPr>
                              <a:rPr lang="en-US" altLang="zh-CN" i="1" kern="100"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𝑦</m:t>
                            </m:r>
                          </m:e>
                          <m: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2</m:t>
                            </m:r>
                          </m:sub>
                        </m:s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zh-CN" i="1" kern="100"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m:t>
                            </m:r>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𝑥</m:t>
                            </m:r>
                          </m:e>
                          <m: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3,</m:t>
                            </m:r>
                          </m:sub>
                        </m:sSub>
                        <m:sSub>
                          <m:sSubPr>
                            <m:ctrlPr>
                              <a:rPr lang="en-US" altLang="zh-CN" i="1" kern="100"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𝑦</m:t>
                            </m:r>
                          </m:e>
                          <m: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3</m:t>
                            </m:r>
                          </m:sub>
                        </m:s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m:t>
                        </m:r>
                        <m:d>
                          <m:dPr>
                            <m:begChr m:val=""/>
                            <m:endChr m:val="}"/>
                            <m:ctrlPr>
                              <a:rPr lang="en-US" altLang="zh-CN" i="1" kern="100" dirty="0">
                                <a:latin typeface="Cambria Math" panose="02040503050406030204" pitchFamily="18" charset="0"/>
                                <a:ea typeface="KaiTi" panose="02010609060101010101" pitchFamily="49" charset="-122"/>
                                <a:cs typeface="Times New Roman" panose="02020603050405020304" pitchFamily="18" charset="0"/>
                              </a:rPr>
                            </m:ctrlPr>
                          </m:dPr>
                          <m:e>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m:t>
                            </m:r>
                            <m:sSub>
                              <m:sSubPr>
                                <m:ctrlPr>
                                  <a:rPr lang="en-US" altLang="zh-CN" i="1" kern="100"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𝑥</m:t>
                                </m:r>
                              </m:e>
                              <m: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𝑚</m:t>
                                </m:r>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m:t>
                                </m:r>
                              </m:sub>
                            </m:sSub>
                            <m:sSub>
                              <m:sSubPr>
                                <m:ctrlPr>
                                  <a:rPr lang="en-US" altLang="zh-CN" i="1" kern="100" dirty="0">
                                    <a:latin typeface="Cambria Math" panose="02040503050406030204" pitchFamily="18" charset="0"/>
                                    <a:ea typeface="KaiTi" panose="02010609060101010101" pitchFamily="49" charset="-122"/>
                                    <a:cs typeface="Times New Roman" panose="02020603050405020304" pitchFamily="18" charset="0"/>
                                  </a:rPr>
                                </m:ctrlPr>
                              </m:sSubPr>
                              <m:e>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𝑦</m:t>
                                </m:r>
                              </m:e>
                              <m: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𝑚</m:t>
                                </m:r>
                              </m:sub>
                            </m:sSub>
                            <m:r>
                              <a:rPr lang="en-US" altLang="zh-CN" b="0" i="1" kern="100" dirty="0">
                                <a:latin typeface="Cambria Math" panose="02040503050406030204" pitchFamily="18" charset="0"/>
                                <a:ea typeface="KaiTi" panose="02010609060101010101" pitchFamily="49" charset="-122"/>
                                <a:cs typeface="Times New Roman" panose="02020603050405020304" pitchFamily="18" charset="0"/>
                              </a:rPr>
                              <m:t>)</m:t>
                            </m:r>
                          </m:e>
                        </m:d>
                      </m:e>
                    </m:d>
                  </m:oMath>
                </a14:m>
                <a:r>
                  <a:rPr lang="en-US" altLang="zh-CN"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标签为 </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yî ∈ {−1, +1},n</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个弱学习器的预测结果分别是</a:t>
                </a:r>
                <a:r>
                  <a:rPr lang="en-US" altLang="zh-CN" kern="100" dirty="0">
                    <a:effectLst/>
                    <a:latin typeface="KaiTi" panose="02010609060101010101" pitchFamily="49" charset="-122"/>
                    <a:ea typeface="KaiTi" panose="02010609060101010101" pitchFamily="49" charset="-122"/>
                    <a:cs typeface="Times New Roman" panose="02020603050405020304" pitchFamily="18" charset="0"/>
                  </a:rPr>
                  <a:t>(</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h₁(x),</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 </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h₂(x)...hn(x)), t=1,2,3,...,n</a:t>
                </a:r>
              </a:p>
              <a:p>
                <a:pPr algn="just">
                  <a:lnSpc>
                    <a:spcPct val="150000"/>
                  </a:lnSpc>
                  <a:spcBef>
                    <a:spcPts val="900"/>
                  </a:spcBef>
                  <a:spcAft>
                    <a:spcPts val="900"/>
                  </a:spcAft>
                </a:pPr>
                <a:r>
                  <a:rPr lang="ko-KR" altLang="en-US" kern="100" dirty="0">
                    <a:effectLst/>
                    <a:latin typeface="KaiTi" panose="02010609060101010101" pitchFamily="49" charset="-122"/>
                    <a:ea typeface="KaiTi" panose="02010609060101010101" pitchFamily="49" charset="-122"/>
                    <a:cs typeface="Times New Roman" panose="02020603050405020304" pitchFamily="18" charset="0"/>
                  </a:rPr>
                  <a:t>输出：为最终的强分类器 </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f(x)</a:t>
                </a:r>
              </a:p>
            </p:txBody>
          </p:sp>
        </mc:Choice>
        <mc:Fallback xmlns="">
          <p:sp>
            <p:nvSpPr>
              <p:cNvPr id="19" name="文本框 18">
                <a:extLst>
                  <a:ext uri="{FF2B5EF4-FFF2-40B4-BE49-F238E27FC236}">
                    <a16:creationId xmlns:a16="http://schemas.microsoft.com/office/drawing/2014/main" id="{95134A67-FE35-44B3-A10D-3D98F05F38CB}"/>
                  </a:ext>
                </a:extLst>
              </p:cNvPr>
              <p:cNvSpPr txBox="1">
                <a:spLocks noRot="1" noChangeAspect="1" noMove="1" noResize="1" noEditPoints="1" noAdjustHandles="1" noChangeArrowheads="1" noChangeShapeType="1" noTextEdit="1"/>
              </p:cNvSpPr>
              <p:nvPr/>
            </p:nvSpPr>
            <p:spPr>
              <a:xfrm>
                <a:off x="668338" y="1567529"/>
                <a:ext cx="10823077" cy="2544286"/>
              </a:xfrm>
              <a:prstGeom prst="rect">
                <a:avLst/>
              </a:prstGeom>
              <a:blipFill>
                <a:blip r:embed="rId3"/>
                <a:stretch>
                  <a:fillRect l="-821" t="-26368" r="-938" b="-4478"/>
                </a:stretch>
              </a:blipFill>
            </p:spPr>
            <p:txBody>
              <a:bodyPr/>
              <a:lstStyle/>
              <a:p>
                <a:r>
                  <a:rPr lang="ko-Kore-KR" altLang="en-US">
                    <a:noFill/>
                  </a:rPr>
                  <a:t> </a:t>
                </a:r>
              </a:p>
            </p:txBody>
          </p:sp>
        </mc:Fallback>
      </mc:AlternateContent>
      <p:sp>
        <p:nvSpPr>
          <p:cNvPr id="3" name="TextBox 2">
            <a:extLst>
              <a:ext uri="{FF2B5EF4-FFF2-40B4-BE49-F238E27FC236}">
                <a16:creationId xmlns:a16="http://schemas.microsoft.com/office/drawing/2014/main" id="{CB212D5C-9C4B-1952-1566-70147509B737}"/>
              </a:ext>
            </a:extLst>
          </p:cNvPr>
          <p:cNvSpPr txBox="1"/>
          <p:nvPr/>
        </p:nvSpPr>
        <p:spPr>
          <a:xfrm>
            <a:off x="810673" y="4529014"/>
            <a:ext cx="10571560" cy="1898597"/>
          </a:xfrm>
          <a:prstGeom prst="rect">
            <a:avLst/>
          </a:prstGeom>
          <a:noFill/>
        </p:spPr>
        <p:txBody>
          <a:bodyPr wrap="square">
            <a:spAutoFit/>
          </a:bodyPr>
          <a:lstStyle/>
          <a:p>
            <a:pPr marL="342900" indent="-342900">
              <a:lnSpc>
                <a:spcPct val="150000"/>
              </a:lnSpc>
              <a:spcBef>
                <a:spcPts val="900"/>
              </a:spcBef>
              <a:spcAft>
                <a:spcPts val="900"/>
              </a:spcAft>
              <a:buFont typeface="Wingdings" pitchFamily="2" charset="2"/>
              <a:buChar char="v"/>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计算样本权重</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赋予训练集中每个样本一个权重，构成权重向量</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D</a:t>
            </a:r>
            <a:r>
              <a:rPr lang="zh-CN" altLang="en"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将权重向量</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D</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初始化相等值。设定我们有</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m</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个样本，每个样本的权重都相等，则权重为</a:t>
            </a:r>
            <a:r>
              <a:rPr lang="en-US" altLang="zh-CN" kern="100" dirty="0">
                <a:effectLst/>
                <a:latin typeface="KaiTi" panose="02010609060101010101" pitchFamily="49" charset="-122"/>
                <a:ea typeface="KaiTi" panose="02010609060101010101" pitchFamily="49" charset="-122"/>
                <a:cs typeface="Times New Roman" panose="02020603050405020304" pitchFamily="18" charset="0"/>
              </a:rPr>
              <a:t>1/m</a:t>
            </a:r>
            <a:endParaRPr lang="zh-CN" altLang="zh-CN" kern="100" dirty="0">
              <a:effectLst/>
              <a:latin typeface="KaiTi" panose="02010609060101010101" pitchFamily="49" charset="-122"/>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96111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212D5C-9C4B-1952-1566-70147509B737}"/>
                  </a:ext>
                </a:extLst>
              </p:cNvPr>
              <p:cNvSpPr txBox="1"/>
              <p:nvPr/>
            </p:nvSpPr>
            <p:spPr>
              <a:xfrm>
                <a:off x="849573" y="1471915"/>
                <a:ext cx="10164169" cy="5004832"/>
              </a:xfrm>
              <a:prstGeom prst="rect">
                <a:avLst/>
              </a:prstGeom>
              <a:noFill/>
            </p:spPr>
            <p:txBody>
              <a:bodyPr wrap="square">
                <a:spAutoFit/>
              </a:bodyPr>
              <a:lstStyle/>
              <a:p>
                <a:pPr marL="342900" indent="-342900">
                  <a:lnSpc>
                    <a:spcPct val="150000"/>
                  </a:lnSpc>
                  <a:spcBef>
                    <a:spcPts val="900"/>
                  </a:spcBef>
                  <a:spcAft>
                    <a:spcPts val="900"/>
                  </a:spcAft>
                  <a:buFont typeface="Wingdings" pitchFamily="2" charset="2"/>
                  <a:buChar char="v"/>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计算错误率</a:t>
                </a:r>
              </a:p>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在训练集上训练出一个弱分类器，并计算分类器的错误率：</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14:m>
                  <m:oMathPara xmlns:m="http://schemas.openxmlformats.org/officeDocument/2006/math">
                    <m:oMathParaPr>
                      <m:jc m:val="centerGroup"/>
                    </m:oMathParaPr>
                    <m:oMath xmlns:m="http://schemas.openxmlformats.org/officeDocument/2006/math">
                      <m:r>
                        <m:rPr>
                          <m:sty m:val="p"/>
                        </m:rP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ϵ</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zh-CN" altLang="ko-Kore-KR" sz="1800" kern="100">
                              <a:effectLst/>
                              <a:latin typeface="Cambria Math" panose="02040503050406030204" pitchFamily="18" charset="0"/>
                              <a:ea typeface="KaiTi" panose="02010609060101010101" pitchFamily="49" charset="-122"/>
                              <a:cs typeface="Times New Roman" panose="02020603050405020304" pitchFamily="18" charset="0"/>
                            </a:rPr>
                            <m:t>分错的数量</m:t>
                          </m:r>
                        </m:num>
                        <m:den>
                          <m:r>
                            <m:rPr>
                              <m:nor/>
                            </m:rPr>
                            <a:rPr lang="zh-CN" altLang="ko-Kore-KR" sz="1800" kern="100">
                              <a:effectLst/>
                              <a:latin typeface="Cambria Math" panose="02040503050406030204" pitchFamily="18" charset="0"/>
                              <a:ea typeface="KaiTi" panose="02010609060101010101" pitchFamily="49" charset="-122"/>
                              <a:cs typeface="Times New Roman" panose="02020603050405020304" pitchFamily="18" charset="0"/>
                            </a:rPr>
                            <m:t>样本总数</m:t>
                          </m:r>
                        </m:den>
                      </m:f>
                    </m:oMath>
                  </m:oMathPara>
                </a14:m>
                <a:endParaRPr lang="ko-Kore-KR" altLang="ko-Kore-KR" sz="1800" kern="100" dirty="0">
                  <a:effectLst/>
                  <a:latin typeface="Calibri" panose="020F0502020204030204" pitchFamily="34" charset="0"/>
                  <a:ea typeface="맑은 고딕" panose="020B0503020000020004" pitchFamily="34" charset="-127"/>
                  <a:cs typeface="Times New Roman" panose="02020603050405020304" pitchFamily="18" charset="0"/>
                </a:endParaRPr>
              </a:p>
              <a:p>
                <a:pPr marL="342900" indent="-342900">
                  <a:lnSpc>
                    <a:spcPct val="150000"/>
                  </a:lnSpc>
                  <a:spcBef>
                    <a:spcPts val="900"/>
                  </a:spcBef>
                  <a:spcAft>
                    <a:spcPts val="900"/>
                  </a:spcAft>
                  <a:buFont typeface="Wingdings" pitchFamily="2" charset="2"/>
                  <a:buChar char="v"/>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计算弱分离器权重</a:t>
                </a:r>
              </a:p>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为当前分类器赋予权重值</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alpha</a:t>
                </a:r>
                <a:r>
                  <a:rPr lang="zh-CN" altLang="en"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则</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alpha</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计算公式为：</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14:m>
                  <m:oMathPara xmlns:m="http://schemas.openxmlformats.org/officeDocument/2006/math">
                    <m:oMathParaPr>
                      <m:jc m:val="centerGroup"/>
                    </m:oMathParaPr>
                    <m:oMath xmlns:m="http://schemas.openxmlformats.org/officeDocument/2006/math">
                      <m:r>
                        <m:rPr>
                          <m:sty m:val="p"/>
                        </m:rP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α</m:t>
                      </m:r>
                      <m: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1</m:t>
                          </m:r>
                        </m:num>
                        <m:den>
                          <m: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2</m:t>
                          </m:r>
                        </m:den>
                      </m:f>
                      <m:func>
                        <m:func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ln</m:t>
                          </m:r>
                        </m:fName>
                        <m:e>
                          <m:d>
                            <m:d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ko-Kore-KR" altLang="ko-Kore-KR"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1</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ϵ</m:t>
                                  </m:r>
                                </m:num>
                                <m:den>
                                  <m:r>
                                    <m:rPr>
                                      <m:sty m:val="p"/>
                                    </m:rPr>
                                    <a:rPr lang="en-US" altLang="ko-Kore-KR" sz="1800" kern="100">
                                      <a:effectLst/>
                                      <a:latin typeface="Cambria Math" panose="02040503050406030204" pitchFamily="18" charset="0"/>
                                      <a:ea typeface="KaiTi" panose="02010609060101010101" pitchFamily="49" charset="-122"/>
                                      <a:cs typeface="Times New Roman" panose="02020603050405020304" pitchFamily="18" charset="0"/>
                                    </a:rPr>
                                    <m:t>ϵ</m:t>
                                  </m:r>
                                </m:den>
                              </m:f>
                            </m:e>
                          </m:d>
                        </m:e>
                      </m:func>
                    </m:oMath>
                  </m:oMathPara>
                </a14:m>
                <a:endParaRPr lang="ko-Kore-KR" altLang="ko-Kore-KR" sz="1800" kern="100" dirty="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CB212D5C-9C4B-1952-1566-70147509B737}"/>
                  </a:ext>
                </a:extLst>
              </p:cNvPr>
              <p:cNvSpPr txBox="1">
                <a:spLocks noRot="1" noChangeAspect="1" noMove="1" noResize="1" noEditPoints="1" noAdjustHandles="1" noChangeArrowheads="1" noChangeShapeType="1" noTextEdit="1"/>
              </p:cNvSpPr>
              <p:nvPr/>
            </p:nvSpPr>
            <p:spPr>
              <a:xfrm>
                <a:off x="849573" y="1471915"/>
                <a:ext cx="10164169" cy="5004832"/>
              </a:xfrm>
              <a:prstGeom prst="rect">
                <a:avLst/>
              </a:prstGeom>
              <a:blipFill>
                <a:blip r:embed="rId3"/>
                <a:stretch>
                  <a:fillRect l="-873"/>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2667339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p:sp>
        <p:nvSpPr>
          <p:cNvPr id="3" name="TextBox 2">
            <a:extLst>
              <a:ext uri="{FF2B5EF4-FFF2-40B4-BE49-F238E27FC236}">
                <a16:creationId xmlns:a16="http://schemas.microsoft.com/office/drawing/2014/main" id="{CB212D5C-9C4B-1952-1566-70147509B737}"/>
              </a:ext>
            </a:extLst>
          </p:cNvPr>
          <p:cNvSpPr txBox="1"/>
          <p:nvPr/>
        </p:nvSpPr>
        <p:spPr>
          <a:xfrm>
            <a:off x="849573" y="1471915"/>
            <a:ext cx="11064923" cy="2819362"/>
          </a:xfrm>
          <a:prstGeom prst="rect">
            <a:avLst/>
          </a:prstGeom>
          <a:noFill/>
        </p:spPr>
        <p:txBody>
          <a:bodyPr wrap="square">
            <a:spAutoFit/>
          </a:bodyPr>
          <a:lstStyle/>
          <a:p>
            <a:pPr marL="342900" indent="-342900">
              <a:lnSpc>
                <a:spcPct val="150000"/>
              </a:lnSpc>
              <a:spcBef>
                <a:spcPts val="900"/>
              </a:spcBef>
              <a:spcAft>
                <a:spcPts val="900"/>
              </a:spcAft>
              <a:buFont typeface="Wingdings" pitchFamily="2" charset="2"/>
              <a:buChar char="v"/>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调整权重值</a:t>
            </a:r>
          </a:p>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根据上一次训练结果，调整权重值（上一次分对的权重降低，分错的权重增大）</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如果第</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i</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个样本被正确分类，则该样本权重更改为：</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endParaRPr lang="ko-Kore-KR" altLang="ko-Kore-KR" sz="1800" kern="100" dirty="0">
              <a:effectLst/>
              <a:latin typeface="Calibri" panose="020F0502020204030204" pitchFamily="34" charset="0"/>
              <a:ea typeface="맑은 고딕" panose="020B0503020000020004" pitchFamily="34"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F29C9D5-2A14-5C6C-9F65-184D0EFC6C8F}"/>
                  </a:ext>
                </a:extLst>
              </p:cNvPr>
              <p:cNvSpPr txBox="1"/>
              <p:nvPr/>
            </p:nvSpPr>
            <p:spPr>
              <a:xfrm>
                <a:off x="7359555" y="3944333"/>
                <a:ext cx="4131860" cy="1461362"/>
              </a:xfrm>
              <a:prstGeom prst="rect">
                <a:avLst/>
              </a:prstGeom>
              <a:solidFill>
                <a:schemeClr val="bg1">
                  <a:lumMod val="85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ko-Kore-KR" altLang="en-US" i="1">
                          <a:latin typeface="Cambria Math" panose="02040503050406030204" pitchFamily="18" charset="0"/>
                          <a:ea typeface="KaiTi" panose="02010609060101010101" pitchFamily="49" charset="-122"/>
                        </a:rPr>
                        <m:t>归一因子</m:t>
                      </m:r>
                      <m:r>
                        <a:rPr lang="zh-CN" altLang="en-US" b="0" i="1">
                          <a:latin typeface="Cambria Math" panose="02040503050406030204" pitchFamily="18" charset="0"/>
                          <a:ea typeface="KaiTi" panose="02010609060101010101" pitchFamily="49" charset="-122"/>
                        </a:rPr>
                        <m:t>：</m:t>
                      </m:r>
                    </m:oMath>
                  </m:oMathPara>
                </a14:m>
                <a:endParaRPr lang="en-US" altLang="zh-CN" b="0" i="1">
                  <a:latin typeface="Cambria Math" panose="02040503050406030204" pitchFamily="18" charset="0"/>
                  <a:ea typeface="KaiTi" panose="02010609060101010101" pitchFamily="49" charset="-122"/>
                </a:endParaRPr>
              </a:p>
              <a:p>
                <a:pPr/>
                <a14:m>
                  <m:oMathPara xmlns:m="http://schemas.openxmlformats.org/officeDocument/2006/math">
                    <m:oMathParaPr>
                      <m:jc m:val="centerGroup"/>
                    </m:oMathParaPr>
                    <m:oMath xmlns:m="http://schemas.openxmlformats.org/officeDocument/2006/math">
                      <m:r>
                        <m:rPr>
                          <m:nor/>
                        </m:rPr>
                        <a:rPr lang="en-US" altLang="ko-Kore-KR">
                          <a:latin typeface="KaiTi" panose="02010609060101010101" pitchFamily="49" charset="-122"/>
                          <a:ea typeface="KaiTi" panose="02010609060101010101" pitchFamily="49" charset="-122"/>
                        </a:rPr>
                        <m:t>Sum</m:t>
                      </m:r>
                      <m:d>
                        <m:dPr>
                          <m:ctrlPr>
                            <a:rPr lang="ko-Kore-KR" altLang="ko-Kore-KR" i="1">
                              <a:latin typeface="Cambria Math" panose="02040503050406030204" pitchFamily="18" charset="0"/>
                            </a:rPr>
                          </m:ctrlPr>
                        </m:dPr>
                        <m:e>
                          <m:r>
                            <a:rPr lang="en-US" altLang="ko-Kore-KR" i="1">
                              <a:latin typeface="Cambria Math" panose="02040503050406030204" pitchFamily="18" charset="0"/>
                            </a:rPr>
                            <m:t>𝐷</m:t>
                          </m:r>
                        </m:e>
                      </m:d>
                      <m:r>
                        <a:rPr lang="en-US" altLang="ko-Kore-KR" i="1">
                          <a:latin typeface="Cambria Math" panose="02040503050406030204" pitchFamily="18" charset="0"/>
                        </a:rPr>
                        <m:t>=</m:t>
                      </m:r>
                      <m:nary>
                        <m:naryPr>
                          <m:chr m:val="∑"/>
                          <m:ctrlPr>
                            <a:rPr lang="ko-Kore-KR" altLang="ko-Kore-KR" i="1">
                              <a:latin typeface="Cambria Math" panose="02040503050406030204" pitchFamily="18" charset="0"/>
                            </a:rPr>
                          </m:ctrlPr>
                        </m:naryPr>
                        <m:sub>
                          <m:r>
                            <a:rPr lang="en-US" altLang="ko-Kore-KR" i="1">
                              <a:latin typeface="Cambria Math" panose="02040503050406030204" pitchFamily="18" charset="0"/>
                            </a:rPr>
                            <m:t>𝑖</m:t>
                          </m:r>
                          <m:r>
                            <a:rPr lang="en-US" altLang="ko-Kore-KR" i="1">
                              <a:latin typeface="Cambria Math" panose="02040503050406030204" pitchFamily="18" charset="0"/>
                            </a:rPr>
                            <m:t>=1</m:t>
                          </m:r>
                        </m:sub>
                        <m:sup>
                          <m:r>
                            <a:rPr lang="en-US" altLang="ko-Kore-KR" i="1">
                              <a:latin typeface="Cambria Math" panose="02040503050406030204" pitchFamily="18" charset="0"/>
                            </a:rPr>
                            <m:t>𝑚</m:t>
                          </m:r>
                        </m:sup>
                        <m:e>
                          <m:sSubSup>
                            <m:sSubSupPr>
                              <m:ctrlPr>
                                <a:rPr lang="ko-Kore-KR" altLang="ko-Kore-KR" i="1">
                                  <a:latin typeface="Cambria Math" panose="02040503050406030204" pitchFamily="18" charset="0"/>
                                </a:rPr>
                              </m:ctrlPr>
                            </m:sSubSupPr>
                            <m:e>
                              <m:r>
                                <a:rPr lang="en-US" altLang="ko-Kore-KR" i="1">
                                  <a:latin typeface="Cambria Math" panose="02040503050406030204" pitchFamily="18" charset="0"/>
                                </a:rPr>
                                <m:t>𝐷</m:t>
                              </m:r>
                            </m:e>
                            <m:sub>
                              <m:r>
                                <a:rPr lang="en-US" altLang="ko-Kore-KR" i="1">
                                  <a:latin typeface="Cambria Math" panose="02040503050406030204" pitchFamily="18" charset="0"/>
                                </a:rPr>
                                <m:t>𝑖</m:t>
                              </m:r>
                            </m:sub>
                            <m:sup>
                              <m:d>
                                <m:dPr>
                                  <m:ctrlPr>
                                    <a:rPr lang="ko-Kore-KR" altLang="ko-Kore-KR" i="1">
                                      <a:latin typeface="Cambria Math" panose="02040503050406030204" pitchFamily="18" charset="0"/>
                                    </a:rPr>
                                  </m:ctrlPr>
                                </m:dPr>
                                <m:e>
                                  <m:r>
                                    <a:rPr lang="en-US" altLang="ko-Kore-KR" i="1">
                                      <a:latin typeface="Cambria Math" panose="02040503050406030204" pitchFamily="18" charset="0"/>
                                    </a:rPr>
                                    <m:t>𝑡</m:t>
                                  </m:r>
                                </m:e>
                              </m:d>
                            </m:sup>
                          </m:sSubSup>
                          <m:sSup>
                            <m:sSupPr>
                              <m:ctrlPr>
                                <a:rPr lang="ko-Kore-KR" altLang="ko-Kore-KR" i="1">
                                  <a:latin typeface="Cambria Math" panose="02040503050406030204" pitchFamily="18" charset="0"/>
                                </a:rPr>
                              </m:ctrlPr>
                            </m:sSupPr>
                            <m:e>
                              <m:r>
                                <a:rPr lang="en-US" altLang="ko-Kore-KR" i="1">
                                  <a:latin typeface="Cambria Math" panose="02040503050406030204" pitchFamily="18" charset="0"/>
                                </a:rPr>
                                <m:t>𝑒</m:t>
                              </m:r>
                            </m:e>
                            <m:sup>
                              <m:r>
                                <a:rPr lang="en-US" altLang="ko-Kore-KR" i="1">
                                  <a:latin typeface="Cambria Math" panose="02040503050406030204" pitchFamily="18" charset="0"/>
                                </a:rPr>
                                <m:t>−</m:t>
                              </m:r>
                              <m:r>
                                <m:rPr>
                                  <m:sty m:val="p"/>
                                </m:rPr>
                                <a:rPr lang="en-US" altLang="ko-Kore-KR">
                                  <a:latin typeface="Cambria Math" panose="02040503050406030204" pitchFamily="18" charset="0"/>
                                </a:rPr>
                                <m:t>α</m:t>
                              </m:r>
                              <m:sSub>
                                <m:sSubPr>
                                  <m:ctrlPr>
                                    <a:rPr lang="ko-Kore-KR" altLang="ko-Kore-KR" i="1">
                                      <a:latin typeface="Cambria Math" panose="02040503050406030204" pitchFamily="18" charset="0"/>
                                    </a:rPr>
                                  </m:ctrlPr>
                                </m:sSubPr>
                                <m:e>
                                  <m:r>
                                    <a:rPr lang="en-US" altLang="ko-Kore-KR" i="1">
                                      <a:latin typeface="Cambria Math" panose="02040503050406030204" pitchFamily="18" charset="0"/>
                                    </a:rPr>
                                    <m:t>𝑦</m:t>
                                  </m:r>
                                </m:e>
                                <m:sub>
                                  <m:r>
                                    <a:rPr lang="en-US" altLang="ko-Kore-KR" i="1">
                                      <a:latin typeface="Cambria Math" panose="02040503050406030204" pitchFamily="18" charset="0"/>
                                    </a:rPr>
                                    <m:t>𝑖</m:t>
                                  </m:r>
                                </m:sub>
                              </m:sSub>
                              <m:sSub>
                                <m:sSubPr>
                                  <m:ctrlPr>
                                    <a:rPr lang="ko-Kore-KR" altLang="ko-Kore-KR" i="1">
                                      <a:latin typeface="Cambria Math" panose="02040503050406030204" pitchFamily="18" charset="0"/>
                                    </a:rPr>
                                  </m:ctrlPr>
                                </m:sSubPr>
                                <m:e>
                                  <m:r>
                                    <a:rPr lang="en-US" altLang="ko-Kore-KR" i="1">
                                      <a:latin typeface="Cambria Math" panose="02040503050406030204" pitchFamily="18" charset="0"/>
                                    </a:rPr>
                                    <m:t>h</m:t>
                                  </m:r>
                                </m:e>
                                <m:sub>
                                  <m:r>
                                    <a:rPr lang="en-US" altLang="ko-Kore-KR" i="1">
                                      <a:latin typeface="Cambria Math" panose="02040503050406030204" pitchFamily="18" charset="0"/>
                                    </a:rPr>
                                    <m:t>𝑡</m:t>
                                  </m:r>
                                </m:sub>
                              </m:sSub>
                              <m:d>
                                <m:dPr>
                                  <m:ctrlPr>
                                    <a:rPr lang="ko-Kore-KR" altLang="ko-Kore-KR" i="1">
                                      <a:latin typeface="Cambria Math" panose="02040503050406030204" pitchFamily="18" charset="0"/>
                                    </a:rPr>
                                  </m:ctrlPr>
                                </m:dPr>
                                <m:e>
                                  <m:sSub>
                                    <m:sSubPr>
                                      <m:ctrlPr>
                                        <a:rPr lang="ko-Kore-KR" altLang="ko-Kore-KR" i="1">
                                          <a:latin typeface="Cambria Math" panose="02040503050406030204" pitchFamily="18" charset="0"/>
                                        </a:rPr>
                                      </m:ctrlPr>
                                    </m:sSubPr>
                                    <m:e>
                                      <m:r>
                                        <a:rPr lang="en-US" altLang="ko-Kore-KR" i="1">
                                          <a:latin typeface="Cambria Math" panose="02040503050406030204" pitchFamily="18" charset="0"/>
                                        </a:rPr>
                                        <m:t>𝑥</m:t>
                                      </m:r>
                                    </m:e>
                                    <m:sub>
                                      <m:r>
                                        <a:rPr lang="en-US" altLang="ko-Kore-KR" i="1">
                                          <a:latin typeface="Cambria Math" panose="02040503050406030204" pitchFamily="18" charset="0"/>
                                        </a:rPr>
                                        <m:t>𝑖</m:t>
                                      </m:r>
                                    </m:sub>
                                  </m:sSub>
                                </m:e>
                              </m:d>
                            </m:sup>
                          </m:sSup>
                        </m:e>
                      </m:nary>
                    </m:oMath>
                  </m:oMathPara>
                </a14:m>
                <a:endParaRPr lang="ko-Kore-KR" altLang="en-US"/>
              </a:p>
            </p:txBody>
          </p:sp>
        </mc:Choice>
        <mc:Fallback xmlns="">
          <p:sp>
            <p:nvSpPr>
              <p:cNvPr id="8" name="TextBox 7">
                <a:extLst>
                  <a:ext uri="{FF2B5EF4-FFF2-40B4-BE49-F238E27FC236}">
                    <a16:creationId xmlns:a16="http://schemas.microsoft.com/office/drawing/2014/main" id="{9F29C9D5-2A14-5C6C-9F65-184D0EFC6C8F}"/>
                  </a:ext>
                </a:extLst>
              </p:cNvPr>
              <p:cNvSpPr txBox="1">
                <a:spLocks noRot="1" noChangeAspect="1" noMove="1" noResize="1" noEditPoints="1" noAdjustHandles="1" noChangeArrowheads="1" noChangeShapeType="1" noTextEdit="1"/>
              </p:cNvSpPr>
              <p:nvPr/>
            </p:nvSpPr>
            <p:spPr>
              <a:xfrm>
                <a:off x="7359555" y="3944333"/>
                <a:ext cx="4131860" cy="1461362"/>
              </a:xfrm>
              <a:prstGeom prst="rect">
                <a:avLst/>
              </a:prstGeom>
              <a:blipFill>
                <a:blip r:embed="rId3"/>
                <a:stretch>
                  <a:fillRect t="-56034" b="-123276"/>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EEBC70-7991-8DF9-EE83-1AD6C46A2D6A}"/>
                  </a:ext>
                </a:extLst>
              </p:cNvPr>
              <p:cNvSpPr txBox="1"/>
              <p:nvPr/>
            </p:nvSpPr>
            <p:spPr>
              <a:xfrm>
                <a:off x="1531961" y="3388616"/>
                <a:ext cx="3856629" cy="1501950"/>
              </a:xfrm>
              <a:prstGeom prst="rect">
                <a:avLst/>
              </a:prstGeom>
              <a:noFill/>
            </p:spPr>
            <p:txBody>
              <a:bodyPr wrap="square">
                <a:spAutoFit/>
              </a:bodyPr>
              <a:lstStyle/>
              <a:p>
                <a:pPr>
                  <a:lnSpc>
                    <a:spcPct val="150000"/>
                  </a:lnSpc>
                  <a:spcBef>
                    <a:spcPts val="900"/>
                  </a:spcBef>
                  <a:spcAft>
                    <a:spcPts val="900"/>
                  </a:spcAft>
                </a:pPr>
                <a14:m>
                  <m:oMathPara xmlns:m="http://schemas.openxmlformats.org/officeDocument/2006/math">
                    <m:oMathParaPr>
                      <m:jc m:val="center"/>
                    </m:oMathParaPr>
                    <m:oMath xmlns:m="http://schemas.openxmlformats.org/officeDocument/2006/math">
                      <m:sSubSup>
                        <m:sSubSup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𝐷</m:t>
                          </m:r>
                        </m:e>
                        <m:sub>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𝑖</m:t>
                          </m:r>
                        </m:sub>
                        <m:sup>
                          <m:d>
                            <m:d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𝑡</m:t>
                              </m:r>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+1</m:t>
                              </m:r>
                            </m:e>
                          </m:d>
                        </m:sup>
                      </m:sSubSup>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𝐷</m:t>
                              </m:r>
                            </m:e>
                            <m:sub>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𝑖</m:t>
                              </m:r>
                            </m:sub>
                            <m:sup>
                              <m:d>
                                <m:d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𝑡</m:t>
                                  </m:r>
                                </m:e>
                              </m:d>
                            </m:sup>
                          </m:sSubSup>
                          <m:sSup>
                            <m:sSup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𝑒</m:t>
                              </m:r>
                            </m:e>
                            <m:sup>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ko-Kore-KR" sz="2400" kern="100">
                                  <a:effectLst/>
                                  <a:latin typeface="Cambria Math" panose="02040503050406030204" pitchFamily="18" charset="0"/>
                                  <a:ea typeface="KaiTi" panose="02010609060101010101" pitchFamily="49" charset="-122"/>
                                  <a:cs typeface="Times New Roman" panose="02020603050405020304" pitchFamily="18" charset="0"/>
                                </a:rPr>
                                <m:t>α</m:t>
                              </m:r>
                            </m:sup>
                          </m:sSup>
                        </m:num>
                        <m:den>
                          <m:r>
                            <m:rPr>
                              <m:nor/>
                            </m:rPr>
                            <a:rPr lang="en-US" altLang="ko-Kore-KR" sz="2400" kern="100">
                              <a:effectLst/>
                              <a:latin typeface="Cambria Math" panose="02040503050406030204" pitchFamily="18" charset="0"/>
                              <a:ea typeface="KaiTi" panose="02010609060101010101" pitchFamily="49" charset="-122"/>
                              <a:cs typeface="Times New Roman" panose="02020603050405020304" pitchFamily="18" charset="0"/>
                            </a:rPr>
                            <m:t>Sum</m:t>
                          </m:r>
                          <m:d>
                            <m:d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𝐷</m:t>
                              </m:r>
                            </m:e>
                          </m:d>
                        </m:den>
                      </m:f>
                    </m:oMath>
                  </m:oMathPara>
                </a14:m>
                <a:endParaRPr lang="ko-Kore-KR" altLang="ko-Kore-KR" sz="2400" kern="100" dirty="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63EEBC70-7991-8DF9-EE83-1AD6C46A2D6A}"/>
                  </a:ext>
                </a:extLst>
              </p:cNvPr>
              <p:cNvSpPr txBox="1">
                <a:spLocks noRot="1" noChangeAspect="1" noMove="1" noResize="1" noEditPoints="1" noAdjustHandles="1" noChangeArrowheads="1" noChangeShapeType="1" noTextEdit="1"/>
              </p:cNvSpPr>
              <p:nvPr/>
            </p:nvSpPr>
            <p:spPr>
              <a:xfrm>
                <a:off x="1531961" y="3388616"/>
                <a:ext cx="3856629" cy="1501950"/>
              </a:xfrm>
              <a:prstGeom prst="rect">
                <a:avLst/>
              </a:prstGeom>
              <a:blipFill>
                <a:blip r:embed="rId4"/>
                <a:stretch>
                  <a:fillRect/>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08CDFE4-9618-EC62-1DD1-F69EAA02B591}"/>
                  </a:ext>
                </a:extLst>
              </p:cNvPr>
              <p:cNvSpPr txBox="1"/>
              <p:nvPr/>
            </p:nvSpPr>
            <p:spPr>
              <a:xfrm>
                <a:off x="1865193" y="5386085"/>
                <a:ext cx="3190164" cy="9551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𝐷</m:t>
                          </m:r>
                        </m:e>
                        <m:sub>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𝑖</m:t>
                          </m:r>
                        </m:sub>
                        <m:sup>
                          <m:d>
                            <m:d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𝑡</m:t>
                              </m:r>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+1</m:t>
                              </m:r>
                            </m:e>
                          </m:d>
                        </m:sup>
                      </m:sSubSup>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𝐷</m:t>
                              </m:r>
                            </m:e>
                            <m:sub>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𝑖</m:t>
                              </m:r>
                            </m:sub>
                            <m:sup>
                              <m:d>
                                <m:d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𝑡</m:t>
                                  </m:r>
                                </m:e>
                              </m:d>
                            </m:sup>
                          </m:sSubSup>
                          <m:sSup>
                            <m:sSup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𝑒</m:t>
                              </m:r>
                            </m:e>
                            <m:sup>
                              <m:r>
                                <m:rPr>
                                  <m:sty m:val="p"/>
                                </m:rPr>
                                <a:rPr lang="en-US" altLang="ko-Kore-KR" sz="2400" kern="100">
                                  <a:effectLst/>
                                  <a:latin typeface="Cambria Math" panose="02040503050406030204" pitchFamily="18" charset="0"/>
                                  <a:ea typeface="KaiTi" panose="02010609060101010101" pitchFamily="49" charset="-122"/>
                                  <a:cs typeface="Times New Roman" panose="02020603050405020304" pitchFamily="18" charset="0"/>
                                </a:rPr>
                                <m:t>α</m:t>
                              </m:r>
                            </m:sup>
                          </m:sSup>
                        </m:num>
                        <m:den>
                          <m:r>
                            <m:rPr>
                              <m:nor/>
                            </m:rPr>
                            <a:rPr lang="en-US" altLang="ko-Kore-KR" sz="2400" kern="100">
                              <a:effectLst/>
                              <a:latin typeface="Cambria Math" panose="02040503050406030204" pitchFamily="18" charset="0"/>
                              <a:ea typeface="KaiTi" panose="02010609060101010101" pitchFamily="49" charset="-122"/>
                              <a:cs typeface="Times New Roman" panose="02020603050405020304" pitchFamily="18" charset="0"/>
                            </a:rPr>
                            <m:t>Sum</m:t>
                          </m:r>
                          <m:d>
                            <m:dPr>
                              <m:ctrlPr>
                                <a:rPr lang="ko-Kore-KR" altLang="ko-Kore-KR"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400" i="1" kern="100">
                                  <a:effectLst/>
                                  <a:latin typeface="Cambria Math" panose="02040503050406030204" pitchFamily="18" charset="0"/>
                                  <a:ea typeface="KaiTi" panose="02010609060101010101" pitchFamily="49" charset="-122"/>
                                  <a:cs typeface="Times New Roman" panose="02020603050405020304" pitchFamily="18" charset="0"/>
                                </a:rPr>
                                <m:t>𝐷</m:t>
                              </m:r>
                            </m:e>
                          </m:d>
                        </m:den>
                      </m:f>
                    </m:oMath>
                  </m:oMathPara>
                </a14:m>
                <a:endParaRPr lang="ko-Kore-KR" altLang="en-US"/>
              </a:p>
            </p:txBody>
          </p:sp>
        </mc:Choice>
        <mc:Fallback xmlns="">
          <p:sp>
            <p:nvSpPr>
              <p:cNvPr id="12" name="TextBox 11">
                <a:extLst>
                  <a:ext uri="{FF2B5EF4-FFF2-40B4-BE49-F238E27FC236}">
                    <a16:creationId xmlns:a16="http://schemas.microsoft.com/office/drawing/2014/main" id="{E08CDFE4-9618-EC62-1DD1-F69EAA02B591}"/>
                  </a:ext>
                </a:extLst>
              </p:cNvPr>
              <p:cNvSpPr txBox="1">
                <a:spLocks noRot="1" noChangeAspect="1" noMove="1" noResize="1" noEditPoints="1" noAdjustHandles="1" noChangeArrowheads="1" noChangeShapeType="1" noTextEdit="1"/>
              </p:cNvSpPr>
              <p:nvPr/>
            </p:nvSpPr>
            <p:spPr>
              <a:xfrm>
                <a:off x="1865193" y="5386085"/>
                <a:ext cx="3190164" cy="955133"/>
              </a:xfrm>
              <a:prstGeom prst="rect">
                <a:avLst/>
              </a:prstGeom>
              <a:blipFill>
                <a:blip r:embed="rId5"/>
                <a:stretch>
                  <a:fillRect/>
                </a:stretch>
              </a:blipFill>
            </p:spPr>
            <p:txBody>
              <a:bodyPr/>
              <a:lstStyle/>
              <a:p>
                <a:r>
                  <a:rPr lang="ko-Kore-KR" altLang="en-US">
                    <a:noFill/>
                  </a:rPr>
                  <a:t> </a:t>
                </a:r>
              </a:p>
            </p:txBody>
          </p:sp>
        </mc:Fallback>
      </mc:AlternateContent>
      <p:sp>
        <p:nvSpPr>
          <p:cNvPr id="14" name="TextBox 13">
            <a:extLst>
              <a:ext uri="{FF2B5EF4-FFF2-40B4-BE49-F238E27FC236}">
                <a16:creationId xmlns:a16="http://schemas.microsoft.com/office/drawing/2014/main" id="{1E21E4D9-F4BC-BE2B-8130-5CFCB4269E9A}"/>
              </a:ext>
            </a:extLst>
          </p:cNvPr>
          <p:cNvSpPr txBox="1"/>
          <p:nvPr/>
        </p:nvSpPr>
        <p:spPr>
          <a:xfrm>
            <a:off x="849573" y="4610681"/>
            <a:ext cx="6991065" cy="559769"/>
          </a:xfrm>
          <a:prstGeom prst="rect">
            <a:avLst/>
          </a:prstGeom>
          <a:noFill/>
        </p:spPr>
        <p:txBody>
          <a:bodyPr wrap="square">
            <a:spAutoFit/>
          </a:bodyPr>
          <a:lstStyle/>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如果第</a:t>
            </a:r>
            <a:r>
              <a:rPr lang="en" altLang="zh-CN" kern="100" dirty="0">
                <a:effectLst/>
                <a:latin typeface="KaiTi" panose="02010609060101010101" pitchFamily="49" charset="-122"/>
                <a:ea typeface="KaiTi" panose="02010609060101010101" pitchFamily="49" charset="-122"/>
                <a:cs typeface="Times New Roman" panose="02020603050405020304" pitchFamily="18" charset="0"/>
              </a:rPr>
              <a:t>i</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个样本被分错，则该样本权重更改为：</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635060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p:pic>
        <p:nvPicPr>
          <p:cNvPr id="13316" name="Picture 4" descr="alt">
            <a:extLst>
              <a:ext uri="{FF2B5EF4-FFF2-40B4-BE49-F238E27FC236}">
                <a16:creationId xmlns:a16="http://schemas.microsoft.com/office/drawing/2014/main" id="{EC7CE2D4-3694-2219-BDD1-B407828FCE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551" y="1498731"/>
            <a:ext cx="7115450" cy="2747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143FC84-B3D3-6F9F-E95E-35D5DD62BAA1}"/>
              </a:ext>
            </a:extLst>
          </p:cNvPr>
          <p:cNvSpPr txBox="1"/>
          <p:nvPr/>
        </p:nvSpPr>
        <p:spPr>
          <a:xfrm>
            <a:off x="971265" y="4831645"/>
            <a:ext cx="10249469" cy="1113766"/>
          </a:xfrm>
          <a:prstGeom prst="rect">
            <a:avLst/>
          </a:prstGeom>
          <a:noFill/>
        </p:spPr>
        <p:txBody>
          <a:bodyPr wrap="square">
            <a:spAutoFit/>
          </a:bodyPr>
          <a:lstStyle/>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之后，在同一数据集上再一次训练弱分类器，然后循环上述过程，直到训练错误率为</a:t>
            </a:r>
            <a:r>
              <a:rPr lang="en-US" altLang="zh-CN" kern="100" dirty="0">
                <a:effectLst/>
                <a:latin typeface="KaiTi" panose="02010609060101010101" pitchFamily="49" charset="-122"/>
                <a:ea typeface="KaiTi" panose="02010609060101010101" pitchFamily="49" charset="-122"/>
                <a:cs typeface="Times New Roman" panose="02020603050405020304" pitchFamily="18" charset="0"/>
              </a:rPr>
              <a:t>0</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，或者弱分类器 的数目达到指定值。</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6657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a:t>
            </a:r>
          </a:p>
        </p:txBody>
      </p:sp>
      <p:sp>
        <p:nvSpPr>
          <p:cNvPr id="3" name="TextBox 2">
            <a:extLst>
              <a:ext uri="{FF2B5EF4-FFF2-40B4-BE49-F238E27FC236}">
                <a16:creationId xmlns:a16="http://schemas.microsoft.com/office/drawing/2014/main" id="{CB212D5C-9C4B-1952-1566-70147509B737}"/>
              </a:ext>
            </a:extLst>
          </p:cNvPr>
          <p:cNvSpPr txBox="1"/>
          <p:nvPr/>
        </p:nvSpPr>
        <p:spPr>
          <a:xfrm>
            <a:off x="460375" y="1411491"/>
            <a:ext cx="10778320" cy="1367939"/>
          </a:xfrm>
          <a:prstGeom prst="rect">
            <a:avLst/>
          </a:prstGeom>
          <a:noFill/>
        </p:spPr>
        <p:txBody>
          <a:bodyPr wrap="square">
            <a:spAutoFit/>
          </a:bodyPr>
          <a:lstStyle/>
          <a:p>
            <a:pPr marL="342900" indent="-342900">
              <a:lnSpc>
                <a:spcPct val="150000"/>
              </a:lnSpc>
              <a:spcBef>
                <a:spcPts val="900"/>
              </a:spcBef>
              <a:spcAft>
                <a:spcPts val="900"/>
              </a:spcAft>
              <a:buFont typeface="Wingdings" pitchFamily="2" charset="2"/>
              <a:buChar char="v"/>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结果</a:t>
            </a:r>
          </a:p>
          <a:p>
            <a:pPr>
              <a:lnSpc>
                <a:spcPct val="150000"/>
              </a:lnSpc>
              <a:spcBef>
                <a:spcPts val="900"/>
              </a:spcBef>
              <a:spcAft>
                <a:spcPts val="900"/>
              </a:spcAft>
            </a:pP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循环结束后，我们可以得到我们的强分类器的预测结果：</a:t>
            </a:r>
            <a:endParaRPr lang="ko-Kore-KR" altLang="ko-Kore-KR" sz="1800" kern="100">
              <a:effectLst/>
              <a:latin typeface="Calibri" panose="020F0502020204030204" pitchFamily="34" charset="0"/>
              <a:ea typeface="맑은 고딕" panose="020B0503020000020004" pitchFamily="34"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462890-9B33-BA95-EB8B-85C78BA38015}"/>
                  </a:ext>
                </a:extLst>
              </p:cNvPr>
              <p:cNvSpPr txBox="1"/>
              <p:nvPr/>
            </p:nvSpPr>
            <p:spPr>
              <a:xfrm>
                <a:off x="3049138" y="3131992"/>
                <a:ext cx="6093724" cy="8179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ore-KR" altLang="en-US" i="1">
                          <a:latin typeface="Cambria Math" panose="02040503050406030204" pitchFamily="18" charset="0"/>
                        </a:rPr>
                        <m:t>𝐻</m:t>
                      </m:r>
                      <m:d>
                        <m:dPr>
                          <m:ctrlPr>
                            <a:rPr lang="ko-Kore-KR" altLang="en-US" i="1">
                              <a:solidFill>
                                <a:srgbClr val="836967"/>
                              </a:solidFill>
                              <a:latin typeface="Cambria Math" panose="02040503050406030204" pitchFamily="18" charset="0"/>
                            </a:rPr>
                          </m:ctrlPr>
                        </m:dPr>
                        <m:e>
                          <m:r>
                            <a:rPr lang="ko-Kore-KR" altLang="en-US" i="1">
                              <a:latin typeface="Cambria Math" panose="02040503050406030204" pitchFamily="18" charset="0"/>
                            </a:rPr>
                            <m:t>𝑥</m:t>
                          </m:r>
                        </m:e>
                      </m:d>
                      <m:r>
                        <a:rPr lang="ko-Kore-KR" altLang="en-US" i="0">
                          <a:latin typeface="Cambria Math" panose="02040503050406030204" pitchFamily="18" charset="0"/>
                        </a:rPr>
                        <m:t>=</m:t>
                      </m:r>
                      <m:r>
                        <a:rPr lang="ko-Kore-KR" altLang="en-US" i="1">
                          <a:latin typeface="Cambria Math" panose="02040503050406030204" pitchFamily="18" charset="0"/>
                        </a:rPr>
                        <m:t>𝑠𝑖𝑔𝑛</m:t>
                      </m:r>
                      <m:d>
                        <m:dPr>
                          <m:ctrlPr>
                            <a:rPr lang="ko-Kore-KR" altLang="en-US" i="1">
                              <a:solidFill>
                                <a:srgbClr val="836967"/>
                              </a:solidFill>
                              <a:latin typeface="Cambria Math" panose="02040503050406030204" pitchFamily="18" charset="0"/>
                            </a:rPr>
                          </m:ctrlPr>
                        </m:dPr>
                        <m:e>
                          <m:nary>
                            <m:naryPr>
                              <m:chr m:val="∑"/>
                              <m:limLoc m:val="subSup"/>
                              <m:ctrlPr>
                                <a:rPr lang="ko-Kore-KR" altLang="en-US" i="1">
                                  <a:latin typeface="Cambria Math" panose="02040503050406030204" pitchFamily="18" charset="0"/>
                                </a:rPr>
                              </m:ctrlPr>
                            </m:naryPr>
                            <m:sub>
                              <m:r>
                                <a:rPr lang="ko-Kore-KR" altLang="en-US" i="1">
                                  <a:latin typeface="Cambria Math" panose="02040503050406030204" pitchFamily="18" charset="0"/>
                                </a:rPr>
                                <m:t>𝑡</m:t>
                              </m:r>
                              <m:r>
                                <a:rPr lang="ko-Kore-KR" altLang="en-US" i="0">
                                  <a:latin typeface="Cambria Math" panose="02040503050406030204" pitchFamily="18" charset="0"/>
                                </a:rPr>
                                <m:t>=1</m:t>
                              </m:r>
                            </m:sub>
                            <m:sup>
                              <m:r>
                                <a:rPr lang="ko-Kore-KR" altLang="en-US" i="1">
                                  <a:latin typeface="Cambria Math" panose="02040503050406030204" pitchFamily="18" charset="0"/>
                                </a:rPr>
                                <m:t>𝑛</m:t>
                              </m:r>
                            </m:sup>
                            <m:e>
                              <m:sSub>
                                <m:sSubPr>
                                  <m:ctrlPr>
                                    <a:rPr lang="ko-Kore-KR" altLang="en-US" i="1">
                                      <a:solidFill>
                                        <a:srgbClr val="836967"/>
                                      </a:solidFill>
                                      <a:latin typeface="Cambria Math" panose="02040503050406030204" pitchFamily="18" charset="0"/>
                                    </a:rPr>
                                  </m:ctrlPr>
                                </m:sSubPr>
                                <m:e>
                                  <m:r>
                                    <m:rPr>
                                      <m:sty m:val="p"/>
                                    </m:rPr>
                                    <a:rPr lang="ko-Kore-KR" altLang="en-US" i="0">
                                      <a:latin typeface="Cambria Math" panose="02040503050406030204" pitchFamily="18" charset="0"/>
                                    </a:rPr>
                                    <m:t>α</m:t>
                                  </m:r>
                                </m:e>
                                <m:sub>
                                  <m:r>
                                    <a:rPr lang="ko-Kore-KR" altLang="en-US" i="1">
                                      <a:latin typeface="Cambria Math" panose="02040503050406030204" pitchFamily="18" charset="0"/>
                                    </a:rPr>
                                    <m:t>𝑡</m:t>
                                  </m:r>
                                </m:sub>
                              </m:sSub>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h</m:t>
                                  </m:r>
                                </m:e>
                                <m:sub>
                                  <m:r>
                                    <a:rPr lang="ko-Kore-KR" altLang="en-US" i="1">
                                      <a:latin typeface="Cambria Math" panose="02040503050406030204" pitchFamily="18" charset="0"/>
                                    </a:rPr>
                                    <m:t>𝑡</m:t>
                                  </m:r>
                                </m:sub>
                              </m:sSub>
                              <m:d>
                                <m:dPr>
                                  <m:ctrlPr>
                                    <a:rPr lang="ko-Kore-KR" altLang="en-US" i="1">
                                      <a:solidFill>
                                        <a:srgbClr val="836967"/>
                                      </a:solidFill>
                                      <a:latin typeface="Cambria Math" panose="02040503050406030204" pitchFamily="18" charset="0"/>
                                    </a:rPr>
                                  </m:ctrlPr>
                                </m:dPr>
                                <m:e>
                                  <m:r>
                                    <a:rPr lang="ko-Kore-KR" altLang="en-US" i="1">
                                      <a:latin typeface="Cambria Math" panose="02040503050406030204" pitchFamily="18" charset="0"/>
                                    </a:rPr>
                                    <m:t>𝑥</m:t>
                                  </m:r>
                                </m:e>
                              </m:d>
                            </m:e>
                          </m:nary>
                        </m:e>
                      </m:d>
                    </m:oMath>
                  </m:oMathPara>
                </a14:m>
                <a:endParaRPr lang="ko-Kore-KR" altLang="en-US"/>
              </a:p>
            </p:txBody>
          </p:sp>
        </mc:Choice>
        <mc:Fallback xmlns="">
          <p:sp>
            <p:nvSpPr>
              <p:cNvPr id="4" name="TextBox 3">
                <a:extLst>
                  <a:ext uri="{FF2B5EF4-FFF2-40B4-BE49-F238E27FC236}">
                    <a16:creationId xmlns:a16="http://schemas.microsoft.com/office/drawing/2014/main" id="{BE462890-9B33-BA95-EB8B-85C78BA38015}"/>
                  </a:ext>
                </a:extLst>
              </p:cNvPr>
              <p:cNvSpPr txBox="1">
                <a:spLocks noRot="1" noChangeAspect="1" noMove="1" noResize="1" noEditPoints="1" noAdjustHandles="1" noChangeArrowheads="1" noChangeShapeType="1" noTextEdit="1"/>
              </p:cNvSpPr>
              <p:nvPr/>
            </p:nvSpPr>
            <p:spPr>
              <a:xfrm>
                <a:off x="3049138" y="3131992"/>
                <a:ext cx="6093724" cy="817916"/>
              </a:xfrm>
              <a:prstGeom prst="rect">
                <a:avLst/>
              </a:prstGeom>
              <a:blipFill>
                <a:blip r:embed="rId3"/>
                <a:stretch>
                  <a:fillRect t="-157576" b="-231818"/>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CC86DE4-F3D9-E79C-651A-C54F4FC99077}"/>
                  </a:ext>
                </a:extLst>
              </p:cNvPr>
              <p:cNvSpPr txBox="1"/>
              <p:nvPr/>
            </p:nvSpPr>
            <p:spPr>
              <a:xfrm>
                <a:off x="460375" y="4302470"/>
                <a:ext cx="11409931" cy="2303708"/>
              </a:xfrm>
              <a:prstGeom prst="rect">
                <a:avLst/>
              </a:prstGeom>
              <a:noFill/>
            </p:spPr>
            <p:txBody>
              <a:bodyPr wrap="square">
                <a:spAutoFit/>
              </a:bodyPr>
              <a:lstStyle/>
              <a:p>
                <a:pPr>
                  <a:lnSpc>
                    <a:spcPct val="150000"/>
                  </a:lnSpc>
                  <a:spcBef>
                    <a:spcPts val="900"/>
                  </a:spcBef>
                  <a:spcAft>
                    <a:spcPts val="900"/>
                  </a:spcAft>
                </a:pPr>
                <a:r>
                  <a:rPr lang="zh-CN" altLang="en-US" sz="2200" kern="100" dirty="0">
                    <a:effectLst/>
                    <a:latin typeface="KaiTi" panose="02010609060101010101" pitchFamily="49" charset="-122"/>
                    <a:ea typeface="KaiTi" panose="02010609060101010101" pitchFamily="49" charset="-122"/>
                    <a:cs typeface="Times New Roman" panose="02020603050405020304" pitchFamily="18" charset="0"/>
                  </a:rPr>
                  <a:t>对于</a:t>
                </a:r>
                <a:r>
                  <a:rPr lang="en" altLang="zh-CN" sz="2200" kern="100" dirty="0">
                    <a:effectLst/>
                    <a:latin typeface="KaiTi" panose="02010609060101010101" pitchFamily="49" charset="-122"/>
                    <a:ea typeface="KaiTi" panose="02010609060101010101" pitchFamily="49" charset="-122"/>
                    <a:cs typeface="Times New Roman" panose="02020603050405020304" pitchFamily="18" charset="0"/>
                  </a:rPr>
                  <a:t>Adaboost</a:t>
                </a:r>
                <a:r>
                  <a:rPr lang="zh-CN" altLang="en-US" sz="2200" kern="100" dirty="0">
                    <a:effectLst/>
                    <a:latin typeface="KaiTi" panose="02010609060101010101" pitchFamily="49" charset="-122"/>
                    <a:ea typeface="KaiTi" panose="02010609060101010101" pitchFamily="49" charset="-122"/>
                    <a:cs typeface="Times New Roman" panose="02020603050405020304" pitchFamily="18" charset="0"/>
                  </a:rPr>
                  <a:t>多元分类算法，其实原理和二元分类类似，最主要区别在弱分类器的系数上。比如</a:t>
                </a:r>
                <a:r>
                  <a:rPr lang="en" altLang="zh-CN" sz="2200" kern="100" dirty="0">
                    <a:effectLst/>
                    <a:latin typeface="KaiTi" panose="02010609060101010101" pitchFamily="49" charset="-122"/>
                    <a:ea typeface="KaiTi" panose="02010609060101010101" pitchFamily="49" charset="-122"/>
                    <a:cs typeface="Times New Roman" panose="02020603050405020304" pitchFamily="18" charset="0"/>
                  </a:rPr>
                  <a:t>Adaboost SAMME</a:t>
                </a:r>
                <a:r>
                  <a:rPr lang="zh-CN" altLang="en-US" sz="2200" kern="100" dirty="0">
                    <a:effectLst/>
                    <a:latin typeface="KaiTi" panose="02010609060101010101" pitchFamily="49" charset="-122"/>
                    <a:ea typeface="KaiTi" panose="02010609060101010101" pitchFamily="49" charset="-122"/>
                    <a:cs typeface="Times New Roman" panose="02020603050405020304" pitchFamily="18" charset="0"/>
                  </a:rPr>
                  <a:t>算法，它的弱分类器的系数：</a:t>
                </a:r>
                <a:endParaRPr lang="en-US" altLang="zh-CN" sz="2200" kern="100" dirty="0">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14:m>
                  <m:oMathPara xmlns:m="http://schemas.openxmlformats.org/officeDocument/2006/math">
                    <m:oMathParaPr>
                      <m:jc m:val="centerGroup"/>
                    </m:oMathParaPr>
                    <m:oMath xmlns:m="http://schemas.openxmlformats.org/officeDocument/2006/math">
                      <m:r>
                        <m:rPr>
                          <m:sty m:val="p"/>
                        </m:rP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α</m:t>
                      </m:r>
                      <m: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sz="22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1</m:t>
                          </m:r>
                        </m:num>
                        <m:den>
                          <m: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2</m:t>
                          </m:r>
                        </m:den>
                      </m:f>
                      <m:func>
                        <m:funcPr>
                          <m:ctrlPr>
                            <a:rPr lang="ko-Kore-KR" altLang="ko-Kore-KR" sz="22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ln</m:t>
                          </m:r>
                        </m:fName>
                        <m:e>
                          <m:d>
                            <m:dPr>
                              <m:ctrlPr>
                                <a:rPr lang="ko-Kore-KR" altLang="ko-Kore-KR" sz="2200" i="1" kern="100">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ko-Kore-KR" altLang="ko-Kore-KR" sz="22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1</m:t>
                                  </m:r>
                                  <m:r>
                                    <a:rPr lang="en-US" altLang="ko-Kore-KR" sz="2200" i="1" kern="100">
                                      <a:effectLst/>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ϵ</m:t>
                                  </m:r>
                                </m:num>
                                <m:den>
                                  <m:r>
                                    <m:rPr>
                                      <m:sty m:val="p"/>
                                    </m:rPr>
                                    <a:rPr lang="en-US" altLang="ko-Kore-KR" sz="2200" kern="100">
                                      <a:effectLst/>
                                      <a:latin typeface="Cambria Math" panose="02040503050406030204" pitchFamily="18" charset="0"/>
                                      <a:ea typeface="KaiTi" panose="02010609060101010101" pitchFamily="49" charset="-122"/>
                                      <a:cs typeface="Times New Roman" panose="02020603050405020304" pitchFamily="18" charset="0"/>
                                    </a:rPr>
                                    <m:t>ϵ</m:t>
                                  </m:r>
                                </m:den>
                              </m:f>
                            </m:e>
                          </m:d>
                          <m:r>
                            <a:rPr lang="en-US" altLang="zh-CN" sz="2200" b="0" i="1" kern="100">
                              <a:effectLst/>
                              <a:latin typeface="Cambria Math" panose="02040503050406030204" pitchFamily="18" charset="0"/>
                              <a:ea typeface="KaiTi" panose="02010609060101010101" pitchFamily="49" charset="-122"/>
                              <a:cs typeface="Times New Roman" panose="02020603050405020304" pitchFamily="18" charset="0"/>
                            </a:rPr>
                            <m:t>+</m:t>
                          </m:r>
                          <m:r>
                            <m:rPr>
                              <m:sty m:val="p"/>
                            </m:rPr>
                            <a:rPr lang="en-US" altLang="zh-CN" sz="2200" i="0" kern="100">
                              <a:latin typeface="Cambria Math" panose="02040503050406030204" pitchFamily="18" charset="0"/>
                              <a:ea typeface="KaiTi" panose="02010609060101010101" pitchFamily="49" charset="-122"/>
                              <a:cs typeface="Times New Roman" panose="02020603050405020304" pitchFamily="18" charset="0"/>
                            </a:rPr>
                            <m:t>ln</m:t>
                          </m:r>
                          <m:r>
                            <a:rPr lang="en-US" altLang="zh-CN" sz="2200" b="0" i="1" kern="100">
                              <a:latin typeface="Cambria Math" panose="02040503050406030204" pitchFamily="18" charset="0"/>
                              <a:ea typeface="KaiTi" panose="02010609060101010101" pitchFamily="49" charset="-122"/>
                              <a:cs typeface="Times New Roman" panose="02020603050405020304" pitchFamily="18" charset="0"/>
                            </a:rPr>
                            <m:t>⁡(</m:t>
                          </m:r>
                          <m:r>
                            <a:rPr lang="en-US" altLang="zh-CN" sz="2200" b="0" i="1" kern="100">
                              <a:latin typeface="Cambria Math" panose="02040503050406030204" pitchFamily="18" charset="0"/>
                              <a:ea typeface="KaiTi" panose="02010609060101010101" pitchFamily="49" charset="-122"/>
                              <a:cs typeface="Times New Roman" panose="02020603050405020304" pitchFamily="18" charset="0"/>
                            </a:rPr>
                            <m:t>𝑅</m:t>
                          </m:r>
                          <m:r>
                            <a:rPr lang="en-US" altLang="zh-CN" sz="2200" b="0" i="1" kern="100">
                              <a:latin typeface="Cambria Math" panose="02040503050406030204" pitchFamily="18" charset="0"/>
                              <a:ea typeface="KaiTi" panose="02010609060101010101" pitchFamily="49" charset="-122"/>
                              <a:cs typeface="Times New Roman" panose="02020603050405020304" pitchFamily="18" charset="0"/>
                            </a:rPr>
                            <m:t>−1)</m:t>
                          </m:r>
                        </m:e>
                      </m:func>
                    </m:oMath>
                  </m:oMathPara>
                </a14:m>
                <a:endParaRPr lang="ko-Kore-KR" altLang="ko-Kore-KR" sz="2200" kern="100">
                  <a:effectLst/>
                  <a:latin typeface="KaiTi" panose="02010609060101010101" pitchFamily="49" charset="-122"/>
                  <a:ea typeface="맑은 고딕" panose="020B0503020000020004" pitchFamily="34" charset="-127"/>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2CC86DE4-F3D9-E79C-651A-C54F4FC99077}"/>
                  </a:ext>
                </a:extLst>
              </p:cNvPr>
              <p:cNvSpPr txBox="1">
                <a:spLocks noRot="1" noChangeAspect="1" noMove="1" noResize="1" noEditPoints="1" noAdjustHandles="1" noChangeArrowheads="1" noChangeShapeType="1" noTextEdit="1"/>
              </p:cNvSpPr>
              <p:nvPr/>
            </p:nvSpPr>
            <p:spPr>
              <a:xfrm>
                <a:off x="460375" y="4302470"/>
                <a:ext cx="11409931" cy="2303708"/>
              </a:xfrm>
              <a:prstGeom prst="rect">
                <a:avLst/>
              </a:prstGeom>
              <a:blipFill>
                <a:blip r:embed="rId4"/>
                <a:stretch>
                  <a:fillRect l="-667" r="-222"/>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2578157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AB8E61D3-B2DA-F47D-D9D5-4EA90BC1058A}"/>
              </a:ext>
            </a:extLst>
          </p:cNvPr>
          <p:cNvPicPr>
            <a:picLocks noChangeAspect="1"/>
          </p:cNvPicPr>
          <p:nvPr/>
        </p:nvPicPr>
        <p:blipFill>
          <a:blip r:embed="rId2"/>
          <a:stretch>
            <a:fillRect/>
          </a:stretch>
        </p:blipFill>
        <p:spPr>
          <a:xfrm>
            <a:off x="293688" y="1538720"/>
            <a:ext cx="6469714" cy="4733691"/>
          </a:xfrm>
          <a:prstGeom prst="rect">
            <a:avLst/>
          </a:prstGeom>
        </p:spPr>
      </p:pic>
      <p:pic>
        <p:nvPicPr>
          <p:cNvPr id="5" name="그림 4">
            <a:extLst>
              <a:ext uri="{FF2B5EF4-FFF2-40B4-BE49-F238E27FC236}">
                <a16:creationId xmlns:a16="http://schemas.microsoft.com/office/drawing/2014/main" id="{15B374FD-1E70-5C15-3BD3-F6B2AEC6DF8B}"/>
              </a:ext>
            </a:extLst>
          </p:cNvPr>
          <p:cNvPicPr>
            <a:picLocks noChangeAspect="1"/>
          </p:cNvPicPr>
          <p:nvPr/>
        </p:nvPicPr>
        <p:blipFill>
          <a:blip r:embed="rId3"/>
          <a:stretch>
            <a:fillRect/>
          </a:stretch>
        </p:blipFill>
        <p:spPr>
          <a:xfrm>
            <a:off x="4953000" y="2318276"/>
            <a:ext cx="6715835" cy="4320886"/>
          </a:xfrm>
          <a:prstGeom prst="rect">
            <a:avLst/>
          </a:prstGeom>
        </p:spPr>
      </p:pic>
      <p:sp>
        <p:nvSpPr>
          <p:cNvPr id="6" name="Rectangle 2">
            <a:extLst>
              <a:ext uri="{FF2B5EF4-FFF2-40B4-BE49-F238E27FC236}">
                <a16:creationId xmlns:a16="http://schemas.microsoft.com/office/drawing/2014/main" id="{17392EBF-D5F0-1297-C6B3-62225C553C85}"/>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 </a:t>
            </a:r>
            <a:r>
              <a:rPr lang="en-US" altLang="zh-CN" dirty="0">
                <a:solidFill>
                  <a:schemeClr val="tx1"/>
                </a:solidFill>
                <a:latin typeface="KaiTi" panose="02010609060101010101" pitchFamily="49" charset="-122"/>
                <a:ea typeface="KaiTi" panose="02010609060101010101" pitchFamily="49" charset="-122"/>
              </a:rPr>
              <a:t>–</a:t>
            </a:r>
            <a:r>
              <a:rPr lang="zh-CN" altLang="en-US" dirty="0">
                <a:solidFill>
                  <a:schemeClr val="tx1"/>
                </a:solidFill>
                <a:latin typeface="KaiTi" panose="02010609060101010101" pitchFamily="49" charset="-122"/>
                <a:ea typeface="KaiTi" panose="02010609060101010101" pitchFamily="49" charset="-122"/>
              </a:rPr>
              <a:t> 代码</a:t>
            </a:r>
          </a:p>
        </p:txBody>
      </p:sp>
    </p:spTree>
    <p:extLst>
      <p:ext uri="{BB962C8B-B14F-4D97-AF65-F5344CB8AC3E}">
        <p14:creationId xmlns:p14="http://schemas.microsoft.com/office/powerpoint/2010/main" val="3731704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5BF2ED9A-CA70-E41D-65AB-34C166458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1120" y="1379689"/>
            <a:ext cx="8809985" cy="525606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1C6D9AA-FD77-DACE-5DCC-A9343ABBB076}"/>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 </a:t>
            </a:r>
            <a:r>
              <a:rPr lang="en-US" altLang="zh-CN" dirty="0">
                <a:solidFill>
                  <a:schemeClr val="tx1"/>
                </a:solidFill>
                <a:latin typeface="KaiTi" panose="02010609060101010101" pitchFamily="49" charset="-122"/>
                <a:ea typeface="KaiTi" panose="02010609060101010101" pitchFamily="49" charset="-122"/>
              </a:rPr>
              <a:t>–</a:t>
            </a:r>
            <a:r>
              <a:rPr lang="zh-CN" altLang="en-US" dirty="0">
                <a:solidFill>
                  <a:schemeClr val="tx1"/>
                </a:solidFill>
                <a:latin typeface="KaiTi" panose="02010609060101010101" pitchFamily="49" charset="-122"/>
                <a:ea typeface="KaiTi" panose="02010609060101010101" pitchFamily="49" charset="-122"/>
              </a:rPr>
              <a:t> 代码</a:t>
            </a:r>
          </a:p>
        </p:txBody>
      </p:sp>
    </p:spTree>
    <p:extLst>
      <p:ext uri="{BB962C8B-B14F-4D97-AF65-F5344CB8AC3E}">
        <p14:creationId xmlns:p14="http://schemas.microsoft.com/office/powerpoint/2010/main" val="12839868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5BF2ED9A-CA70-E41D-65AB-34C166458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88" y="1501994"/>
            <a:ext cx="5248228" cy="31311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5DC5071-3B9C-C1F4-7E82-D2DAD6FDD2C8}"/>
              </a:ext>
            </a:extLst>
          </p:cNvPr>
          <p:cNvSpPr txBox="1"/>
          <p:nvPr/>
        </p:nvSpPr>
        <p:spPr>
          <a:xfrm>
            <a:off x="5723626" y="2223297"/>
            <a:ext cx="6093724" cy="1200329"/>
          </a:xfrm>
          <a:prstGeom prst="rect">
            <a:avLst/>
          </a:prstGeom>
          <a:noFill/>
        </p:spPr>
        <p:txBody>
          <a:bodyPr wrap="square">
            <a:spAutoFit/>
          </a:bodyPr>
          <a:lstStyle/>
          <a:p>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用</a:t>
            </a:r>
            <a:r>
              <a:rPr lang="en-US" altLang="zh-CN" kern="100" dirty="0">
                <a:effectLst/>
                <a:latin typeface="KaiTi" panose="02010609060101010101" pitchFamily="49" charset="-122"/>
                <a:ea typeface="KaiTi" panose="02010609060101010101" pitchFamily="49" charset="-122"/>
                <a:cs typeface="Times New Roman" panose="02020603050405020304" pitchFamily="18" charset="0"/>
              </a:rPr>
              <a:t>wine</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数据集</a:t>
            </a:r>
            <a:endParaRPr lang="en-US" altLang="zh-CN" kern="100" dirty="0">
              <a:effectLst/>
              <a:latin typeface="KaiTi" panose="02010609060101010101" pitchFamily="49" charset="-122"/>
              <a:ea typeface="KaiTi" panose="02010609060101010101" pitchFamily="49" charset="-122"/>
              <a:cs typeface="Times New Roman" panose="02020603050405020304" pitchFamily="18" charset="0"/>
            </a:endParaRPr>
          </a:p>
          <a:p>
            <a:r>
              <a:rPr lang="en" altLang="ko-Kore-KR">
                <a:latin typeface="KaiTi" panose="02010609060101010101" pitchFamily="49" charset="-122"/>
                <a:ea typeface="KaiTi" panose="02010609060101010101" pitchFamily="49" charset="-122"/>
              </a:rPr>
              <a:t>from sklearn.datasets import load_wine</a:t>
            </a:r>
          </a:p>
          <a:p>
            <a:r>
              <a:rPr lang="en" altLang="ko-Kore-KR">
                <a:latin typeface="KaiTi" panose="02010609060101010101" pitchFamily="49" charset="-122"/>
              </a:rPr>
              <a:t>data = load_wine()</a:t>
            </a:r>
            <a:endParaRPr lang="ko-Kore-KR" altLang="en-US">
              <a:latin typeface="KaiTi" panose="02010609060101010101" pitchFamily="49" charset="-122"/>
            </a:endParaRPr>
          </a:p>
        </p:txBody>
      </p:sp>
      <p:pic>
        <p:nvPicPr>
          <p:cNvPr id="15362" name="Picture 2">
            <a:extLst>
              <a:ext uri="{FF2B5EF4-FFF2-40B4-BE49-F238E27FC236}">
                <a16:creationId xmlns:a16="http://schemas.microsoft.com/office/drawing/2014/main" id="{5CD57629-AE50-FC4C-B5F6-AEBE0A7F9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0116" y="3434374"/>
            <a:ext cx="5432117" cy="324081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C98AD837-6ECD-AB98-D1DA-4EB62D9B3D24}"/>
              </a:ext>
            </a:extLst>
          </p:cNvPr>
          <p:cNvSpPr>
            <a:spLocks noGrp="1" noChangeArrowheads="1"/>
          </p:cNvSpPr>
          <p:nvPr>
            <p:ph type="title"/>
          </p:nvPr>
        </p:nvSpPr>
        <p:spPr>
          <a:xfrm>
            <a:off x="668338" y="235898"/>
            <a:ext cx="5629299" cy="677863"/>
          </a:xfrm>
        </p:spPr>
        <p:txBody>
          <a:bodyPr/>
          <a:lstStyle/>
          <a:p>
            <a:pPr algn="l" eaLnBrk="1" hangingPunct="1"/>
            <a:r>
              <a:rPr lang="en-US" altLang="zh-CN" dirty="0" err="1">
                <a:solidFill>
                  <a:schemeClr val="tx1"/>
                </a:solidFill>
                <a:latin typeface="KaiTi" panose="02010609060101010101" pitchFamily="49" charset="-122"/>
                <a:ea typeface="KaiTi" panose="02010609060101010101" pitchFamily="49" charset="-122"/>
              </a:rPr>
              <a:t>Adaboost</a:t>
            </a:r>
            <a:r>
              <a:rPr lang="zh-CN" altLang="en-US" dirty="0">
                <a:solidFill>
                  <a:schemeClr val="tx1"/>
                </a:solidFill>
                <a:latin typeface="KaiTi" panose="02010609060101010101" pitchFamily="49" charset="-122"/>
                <a:ea typeface="KaiTi" panose="02010609060101010101" pitchFamily="49" charset="-122"/>
              </a:rPr>
              <a:t>算法 </a:t>
            </a:r>
            <a:r>
              <a:rPr lang="en-US" altLang="zh-CN" dirty="0">
                <a:solidFill>
                  <a:schemeClr val="tx1"/>
                </a:solidFill>
                <a:latin typeface="KaiTi" panose="02010609060101010101" pitchFamily="49" charset="-122"/>
                <a:ea typeface="KaiTi" panose="02010609060101010101" pitchFamily="49" charset="-122"/>
              </a:rPr>
              <a:t>–</a:t>
            </a:r>
            <a:r>
              <a:rPr lang="zh-CN" altLang="en-US" dirty="0">
                <a:solidFill>
                  <a:schemeClr val="tx1"/>
                </a:solidFill>
                <a:latin typeface="KaiTi" panose="02010609060101010101" pitchFamily="49" charset="-122"/>
                <a:ea typeface="KaiTi" panose="02010609060101010101" pitchFamily="49" charset="-122"/>
              </a:rPr>
              <a:t> 代码</a:t>
            </a:r>
          </a:p>
        </p:txBody>
      </p:sp>
    </p:spTree>
    <p:extLst>
      <p:ext uri="{BB962C8B-B14F-4D97-AF65-F5344CB8AC3E}">
        <p14:creationId xmlns:p14="http://schemas.microsoft.com/office/powerpoint/2010/main" val="30974070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2" descr="[公式]">
            <a:extLst>
              <a:ext uri="{FF2B5EF4-FFF2-40B4-BE49-F238E27FC236}">
                <a16:creationId xmlns:a16="http://schemas.microsoft.com/office/drawing/2014/main" id="{750AF12C-184B-4929-958B-2328A8E0588C}"/>
              </a:ext>
            </a:extLst>
          </p:cNvPr>
          <p:cNvSpPr>
            <a:spLocks noChangeAspect="1" noChangeArrowheads="1"/>
          </p:cNvSpPr>
          <p:nvPr/>
        </p:nvSpPr>
        <p:spPr bwMode="auto">
          <a:xfrm>
            <a:off x="4130511"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3" descr="[公式]">
            <a:extLst>
              <a:ext uri="{FF2B5EF4-FFF2-40B4-BE49-F238E27FC236}">
                <a16:creationId xmlns:a16="http://schemas.microsoft.com/office/drawing/2014/main" id="{69807880-654C-4C4E-AEC6-D60A785DBACE}"/>
              </a:ext>
            </a:extLst>
          </p:cNvPr>
          <p:cNvSpPr>
            <a:spLocks noChangeAspect="1" noChangeArrowheads="1"/>
          </p:cNvSpPr>
          <p:nvPr/>
        </p:nvSpPr>
        <p:spPr bwMode="auto">
          <a:xfrm>
            <a:off x="12490286"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AutoShape 4" descr="[公式]">
            <a:extLst>
              <a:ext uri="{FF2B5EF4-FFF2-40B4-BE49-F238E27FC236}">
                <a16:creationId xmlns:a16="http://schemas.microsoft.com/office/drawing/2014/main" id="{8113FEE6-1D2A-4A41-B6CA-C72DB6385BAF}"/>
              </a:ext>
            </a:extLst>
          </p:cNvPr>
          <p:cNvSpPr>
            <a:spLocks noChangeAspect="1" noChangeArrowheads="1"/>
          </p:cNvSpPr>
          <p:nvPr/>
        </p:nvSpPr>
        <p:spPr bwMode="auto">
          <a:xfrm>
            <a:off x="119681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5" descr="[公式]">
            <a:extLst>
              <a:ext uri="{FF2B5EF4-FFF2-40B4-BE49-F238E27FC236}">
                <a16:creationId xmlns:a16="http://schemas.microsoft.com/office/drawing/2014/main" id="{D2F63B6E-1125-4DB5-9BFD-893DD9A2B32B}"/>
              </a:ext>
            </a:extLst>
          </p:cNvPr>
          <p:cNvSpPr>
            <a:spLocks noChangeAspect="1" noChangeArrowheads="1"/>
          </p:cNvSpPr>
          <p:nvPr/>
        </p:nvSpPr>
        <p:spPr bwMode="auto">
          <a:xfrm>
            <a:off x="201278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a:extLst>
              <a:ext uri="{FF2B5EF4-FFF2-40B4-BE49-F238E27FC236}">
                <a16:creationId xmlns:a16="http://schemas.microsoft.com/office/drawing/2014/main" id="{8940625E-3A9E-4EEB-A798-A185FBD83084}"/>
              </a:ext>
            </a:extLst>
          </p:cNvPr>
          <p:cNvSpPr>
            <a:spLocks noChangeAspect="1" noChangeArrowheads="1"/>
          </p:cNvSpPr>
          <p:nvPr/>
        </p:nvSpPr>
        <p:spPr bwMode="auto">
          <a:xfrm>
            <a:off x="442896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AutoShape 7" descr="[公式]">
            <a:extLst>
              <a:ext uri="{FF2B5EF4-FFF2-40B4-BE49-F238E27FC236}">
                <a16:creationId xmlns:a16="http://schemas.microsoft.com/office/drawing/2014/main" id="{8531FE39-3BA9-4F58-97E7-9FA6D5333D50}"/>
              </a:ext>
            </a:extLst>
          </p:cNvPr>
          <p:cNvSpPr>
            <a:spLocks noChangeAspect="1" noChangeArrowheads="1"/>
          </p:cNvSpPr>
          <p:nvPr/>
        </p:nvSpPr>
        <p:spPr bwMode="auto">
          <a:xfrm>
            <a:off x="524493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AutoShape 8" descr="[公式]">
            <a:extLst>
              <a:ext uri="{FF2B5EF4-FFF2-40B4-BE49-F238E27FC236}">
                <a16:creationId xmlns:a16="http://schemas.microsoft.com/office/drawing/2014/main" id="{15E02959-0139-4DDA-AC8D-60D69AAA5A22}"/>
              </a:ext>
            </a:extLst>
          </p:cNvPr>
          <p:cNvSpPr>
            <a:spLocks noChangeAspect="1" noChangeArrowheads="1"/>
          </p:cNvSpPr>
          <p:nvPr/>
        </p:nvSpPr>
        <p:spPr bwMode="auto">
          <a:xfrm>
            <a:off x="7216611"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AutoShape 9" descr="[公式]">
            <a:extLst>
              <a:ext uri="{FF2B5EF4-FFF2-40B4-BE49-F238E27FC236}">
                <a16:creationId xmlns:a16="http://schemas.microsoft.com/office/drawing/2014/main" id="{92BC33E5-EF18-449E-A5AA-4DBFA96FC2D8}"/>
              </a:ext>
            </a:extLst>
          </p:cNvPr>
          <p:cNvSpPr>
            <a:spLocks noChangeAspect="1" noChangeArrowheads="1"/>
          </p:cNvSpPr>
          <p:nvPr/>
        </p:nvSpPr>
        <p:spPr bwMode="auto">
          <a:xfrm>
            <a:off x="10089986"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AutoShape 10" descr="[公式]">
            <a:extLst>
              <a:ext uri="{FF2B5EF4-FFF2-40B4-BE49-F238E27FC236}">
                <a16:creationId xmlns:a16="http://schemas.microsoft.com/office/drawing/2014/main" id="{CCCABC26-E013-40C8-B106-E6837069AE2B}"/>
              </a:ext>
            </a:extLst>
          </p:cNvPr>
          <p:cNvSpPr>
            <a:spLocks noChangeAspect="1" noChangeArrowheads="1"/>
          </p:cNvSpPr>
          <p:nvPr/>
        </p:nvSpPr>
        <p:spPr bwMode="auto">
          <a:xfrm>
            <a:off x="447511" y="331509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mc:Choice xmlns:a14="http://schemas.microsoft.com/office/drawing/2010/main" Requires="a14">
          <p:sp>
            <p:nvSpPr>
              <p:cNvPr id="49" name="文本框 48">
                <a:extLst>
                  <a:ext uri="{FF2B5EF4-FFF2-40B4-BE49-F238E27FC236}">
                    <a16:creationId xmlns:a16="http://schemas.microsoft.com/office/drawing/2014/main" id="{965D4395-301C-4C29-B920-04A0EF0F27BC}"/>
                  </a:ext>
                </a:extLst>
              </p:cNvPr>
              <p:cNvSpPr txBox="1"/>
              <p:nvPr/>
            </p:nvSpPr>
            <p:spPr>
              <a:xfrm>
                <a:off x="364993" y="1365505"/>
                <a:ext cx="11331019" cy="4451283"/>
              </a:xfrm>
              <a:prstGeom prst="rect">
                <a:avLst/>
              </a:prstGeom>
              <a:noFill/>
            </p:spPr>
            <p:txBody>
              <a:bodyPr wrap="square">
                <a:spAutoFit/>
              </a:bodyPr>
              <a:lstStyle/>
              <a:p>
                <a:pPr algn="just">
                  <a:lnSpc>
                    <a:spcPct val="150000"/>
                  </a:lnSpc>
                </a:pPr>
                <a:r>
                  <a:rPr lang="zh-CN" altLang="en-US" sz="2400" b="1" dirty="0">
                    <a:latin typeface="KaiTi" panose="02010609060101010101" pitchFamily="49" charset="-122"/>
                    <a:ea typeface="KaiTi" panose="02010609060101010101" pitchFamily="49" charset="-122"/>
                    <a:cs typeface="Times New Roman" panose="02020603050405020304" pitchFamily="18" charset="0"/>
                  </a:rPr>
                  <a:t>用</a:t>
                </a:r>
                <a:r>
                  <a:rPr lang="zh-CN" altLang="en-US" sz="2400" b="1" dirty="0">
                    <a:solidFill>
                      <a:srgbClr val="FF0000"/>
                    </a:solidFill>
                    <a:latin typeface="KaiTi" panose="02010609060101010101" pitchFamily="49" charset="-122"/>
                    <a:ea typeface="KaiTi" panose="02010609060101010101" pitchFamily="49" charset="-122"/>
                    <a:cs typeface="Times New Roman" panose="02020603050405020304" pitchFamily="18" charset="0"/>
                  </a:rPr>
                  <a:t>均方差</a:t>
                </a:r>
                <a:r>
                  <a:rPr lang="zh-CN" altLang="en-US" sz="2400" b="1" dirty="0">
                    <a:latin typeface="KaiTi" panose="02010609060101010101" pitchFamily="49" charset="-122"/>
                    <a:ea typeface="KaiTi" panose="02010609060101010101" pitchFamily="49" charset="-122"/>
                    <a:cs typeface="Times New Roman" panose="02020603050405020304" pitchFamily="18" charset="0"/>
                  </a:rPr>
                  <a:t>来选择属性</a:t>
                </a:r>
                <a:endParaRPr lang="en-US" altLang="zh-CN" sz="2400" b="1" dirty="0">
                  <a:latin typeface="KaiTi" panose="02010609060101010101" pitchFamily="49" charset="-122"/>
                  <a:ea typeface="KaiTi" panose="02010609060101010101" pitchFamily="49" charset="-122"/>
                  <a:cs typeface="Times New Roman" panose="02020603050405020304" pitchFamily="18" charset="0"/>
                </a:endParaRPr>
              </a:p>
              <a:p>
                <a:pPr algn="just">
                  <a:lnSpc>
                    <a:spcPct val="150000"/>
                  </a:lnSpc>
                </a:pPr>
                <a:r>
                  <a:rPr lang="zh-CN" altLang="zh-CN" sz="2400" kern="100" dirty="0">
                    <a:effectLst/>
                    <a:latin typeface="KaiTi" panose="02010609060101010101" pitchFamily="49" charset="-122"/>
                    <a:ea typeface="KaiTi" panose="02010609060101010101" pitchFamily="49" charset="-122"/>
                  </a:rPr>
                  <a:t>对于连续值的处理，</a:t>
                </a:r>
                <a:r>
                  <a:rPr lang="en-US" altLang="zh-CN" sz="2400" kern="100" dirty="0">
                    <a:effectLst/>
                    <a:latin typeface="KaiTi" panose="02010609060101010101" pitchFamily="49" charset="-122"/>
                    <a:ea typeface="KaiTi" panose="02010609060101010101" pitchFamily="49" charset="-122"/>
                  </a:rPr>
                  <a:t>CART </a:t>
                </a:r>
                <a:r>
                  <a:rPr lang="zh-CN" altLang="en-US" kern="100" dirty="0">
                    <a:latin typeface="KaiTi" panose="02010609060101010101" pitchFamily="49" charset="-122"/>
                    <a:ea typeface="KaiTi" panose="02010609060101010101" pitchFamily="49" charset="-122"/>
                  </a:rPr>
                  <a:t>回归</a:t>
                </a:r>
                <a:r>
                  <a:rPr lang="zh-CN" altLang="zh-CN" sz="2400" kern="100" dirty="0">
                    <a:effectLst/>
                    <a:latin typeface="KaiTi" panose="02010609060101010101" pitchFamily="49" charset="-122"/>
                    <a:ea typeface="KaiTi" panose="02010609060101010101" pitchFamily="49" charset="-122"/>
                  </a:rPr>
                  <a:t>树采用</a:t>
                </a:r>
                <a:r>
                  <a:rPr lang="zh-CN" altLang="en-US" kern="100" dirty="0">
                    <a:latin typeface="KaiTi" panose="02010609060101010101" pitchFamily="49" charset="-122"/>
                    <a:ea typeface="KaiTi" panose="02010609060101010101" pitchFamily="49" charset="-122"/>
                  </a:rPr>
                  <a:t>平方误差（均方差）</a:t>
                </a:r>
                <a:r>
                  <a:rPr lang="zh-CN" altLang="zh-CN" sz="2400" kern="100" dirty="0">
                    <a:effectLst/>
                    <a:latin typeface="KaiTi" panose="02010609060101010101" pitchFamily="49" charset="-122"/>
                    <a:ea typeface="KaiTi" panose="02010609060101010101" pitchFamily="49" charset="-122"/>
                  </a:rPr>
                  <a:t>来度量特征的各个划分点。对于任意划分特征 </a:t>
                </a:r>
                <a14:m>
                  <m:oMath xmlns:m="http://schemas.openxmlformats.org/officeDocument/2006/math">
                    <m:r>
                      <a:rPr lang="en-US" altLang="zh-CN" sz="2400" i="1" kern="100">
                        <a:effectLst/>
                        <a:latin typeface="Cambria Math" panose="02040503050406030204" pitchFamily="18" charset="0"/>
                        <a:ea typeface="+mj-ea"/>
                      </a:rPr>
                      <m:t>𝐴</m:t>
                    </m:r>
                  </m:oMath>
                </a14:m>
                <a:r>
                  <a:rPr lang="zh-CN" altLang="zh-CN" sz="2400" kern="100" dirty="0">
                    <a:effectLst/>
                    <a:latin typeface="KaiTi" panose="02010609060101010101" pitchFamily="49" charset="-122"/>
                    <a:ea typeface="KaiTi" panose="02010609060101010101" pitchFamily="49" charset="-122"/>
                  </a:rPr>
                  <a:t>，对应的任意划分点</a:t>
                </a:r>
                <a14:m>
                  <m:oMath xmlns:m="http://schemas.openxmlformats.org/officeDocument/2006/math">
                    <m:r>
                      <a:rPr lang="en-US" altLang="zh-CN" sz="2400" i="1" kern="100">
                        <a:effectLst/>
                        <a:latin typeface="Cambria Math" panose="02040503050406030204" pitchFamily="18" charset="0"/>
                        <a:ea typeface="+mj-ea"/>
                      </a:rPr>
                      <m:t>𝑠</m:t>
                    </m:r>
                  </m:oMath>
                </a14:m>
                <a:r>
                  <a:rPr lang="zh-CN" altLang="zh-CN" sz="2400" kern="100" dirty="0">
                    <a:effectLst/>
                    <a:latin typeface="KaiTi" panose="02010609060101010101" pitchFamily="49" charset="-122"/>
                    <a:ea typeface="KaiTi" panose="02010609060101010101" pitchFamily="49" charset="-122"/>
                  </a:rPr>
                  <a:t>两边划分成的数据集 </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和</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，求出使 </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和</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zh-CN" altLang="zh-CN" sz="2400" kern="100" dirty="0">
                    <a:effectLst/>
                    <a:latin typeface="KaiTi" panose="02010609060101010101" pitchFamily="49" charset="-122"/>
                    <a:ea typeface="KaiTi" panose="02010609060101010101" pitchFamily="49" charset="-122"/>
                  </a:rPr>
                  <a:t>各自集合的均方差最小，同时 </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和</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zh-CN" altLang="zh-CN" sz="2400" kern="100" dirty="0">
                    <a:effectLst/>
                    <a:latin typeface="KaiTi" panose="02010609060101010101" pitchFamily="49" charset="-122"/>
                    <a:ea typeface="KaiTi" panose="02010609060101010101" pitchFamily="49" charset="-122"/>
                  </a:rPr>
                  <a:t>的均方差之和最小所对应的特征和特征值划分点。表达式为：</a:t>
                </a:r>
              </a:p>
              <a:p>
                <a:pPr indent="266700" algn="just">
                  <a:lnSpc>
                    <a:spcPct val="150000"/>
                  </a:lnSpc>
                </a:pPr>
                <a:endParaRPr lang="en-US" altLang="zh-CN" sz="2400" kern="100" dirty="0">
                  <a:effectLst/>
                  <a:latin typeface="KaiTi" panose="02010609060101010101" pitchFamily="49" charset="-122"/>
                  <a:ea typeface="KaiTi" panose="02010609060101010101" pitchFamily="49" charset="-122"/>
                </a:endParaRPr>
              </a:p>
              <a:p>
                <a:pPr indent="266700" algn="just">
                  <a:lnSpc>
                    <a:spcPct val="150000"/>
                  </a:lnSpc>
                </a:pPr>
                <a:endParaRPr lang="en-US" altLang="zh-CN" sz="2400" kern="100" dirty="0">
                  <a:latin typeface="KaiTi" panose="02010609060101010101" pitchFamily="49" charset="-122"/>
                  <a:ea typeface="KaiTi" panose="02010609060101010101" pitchFamily="49" charset="-122"/>
                </a:endParaRPr>
              </a:p>
              <a:p>
                <a:pPr indent="266700" algn="just">
                  <a:lnSpc>
                    <a:spcPct val="150000"/>
                  </a:lnSpc>
                </a:pPr>
                <a:r>
                  <a:rPr lang="zh-CN" altLang="zh-CN" sz="2400" kern="100" dirty="0">
                    <a:effectLst/>
                    <a:latin typeface="KaiTi" panose="02010609060101010101" pitchFamily="49" charset="-122"/>
                    <a:ea typeface="KaiTi" panose="02010609060101010101" pitchFamily="49" charset="-122"/>
                  </a:rPr>
                  <a:t>其中，</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𝑐</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为</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1</m:t>
                        </m:r>
                      </m:sub>
                    </m:sSub>
                  </m:oMath>
                </a14:m>
                <a:r>
                  <a:rPr lang="zh-CN" altLang="zh-CN" sz="2400" kern="100" dirty="0">
                    <a:effectLst/>
                    <a:latin typeface="KaiTi" panose="02010609060101010101" pitchFamily="49" charset="-122"/>
                    <a:ea typeface="KaiTi" panose="02010609060101010101" pitchFamily="49" charset="-122"/>
                  </a:rPr>
                  <a:t>数据集的样本输出均值，</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𝑐</m:t>
                        </m:r>
                      </m:e>
                      <m:sub>
                        <m:r>
                          <a:rPr lang="en-US" altLang="zh-CN" sz="2400" i="1" kern="100">
                            <a:effectLst/>
                            <a:latin typeface="Cambria Math" panose="02040503050406030204" pitchFamily="18" charset="0"/>
                            <a:ea typeface="+mj-ea"/>
                          </a:rPr>
                          <m:t>2</m:t>
                        </m:r>
                      </m:sub>
                    </m:sSub>
                  </m:oMath>
                </a14:m>
                <a:r>
                  <a:rPr lang="zh-CN" altLang="zh-CN" sz="2400" kern="100" dirty="0">
                    <a:effectLst/>
                    <a:latin typeface="KaiTi" panose="02010609060101010101" pitchFamily="49" charset="-122"/>
                    <a:ea typeface="KaiTi" panose="02010609060101010101" pitchFamily="49" charset="-122"/>
                  </a:rPr>
                  <a:t>为</a:t>
                </a:r>
                <a14:m>
                  <m:oMath xmlns:m="http://schemas.openxmlformats.org/officeDocument/2006/math">
                    <m:sSub>
                      <m:sSubPr>
                        <m:ctrlPr>
                          <a:rPr lang="zh-CN" altLang="zh-CN" sz="2400" i="1" kern="100">
                            <a:effectLst/>
                            <a:latin typeface="Cambria Math" panose="02040503050406030204" pitchFamily="18" charset="0"/>
                            <a:ea typeface="+mj-ea"/>
                          </a:rPr>
                        </m:ctrlPr>
                      </m:sSubPr>
                      <m:e>
                        <m:r>
                          <a:rPr lang="en-US" altLang="zh-CN" sz="2400" i="1" kern="100">
                            <a:effectLst/>
                            <a:latin typeface="Cambria Math" panose="02040503050406030204" pitchFamily="18" charset="0"/>
                            <a:ea typeface="+mj-ea"/>
                          </a:rPr>
                          <m:t>𝐷</m:t>
                        </m:r>
                      </m:e>
                      <m:sub>
                        <m:r>
                          <a:rPr lang="en-US" altLang="zh-CN" sz="2400" i="1" kern="100">
                            <a:effectLst/>
                            <a:latin typeface="Cambria Math" panose="02040503050406030204" pitchFamily="18" charset="0"/>
                            <a:ea typeface="+mj-ea"/>
                          </a:rPr>
                          <m:t>2</m:t>
                        </m:r>
                      </m:sub>
                    </m:sSub>
                  </m:oMath>
                </a14:m>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数据集的样本输出均值。</a:t>
                </a:r>
              </a:p>
            </p:txBody>
          </p:sp>
        </mc:Choice>
        <mc:Fallback>
          <p:sp>
            <p:nvSpPr>
              <p:cNvPr id="49" name="文本框 48">
                <a:extLst>
                  <a:ext uri="{FF2B5EF4-FFF2-40B4-BE49-F238E27FC236}">
                    <a16:creationId xmlns:a16="http://schemas.microsoft.com/office/drawing/2014/main" id="{965D4395-301C-4C29-B920-04A0EF0F27BC}"/>
                  </a:ext>
                </a:extLst>
              </p:cNvPr>
              <p:cNvSpPr txBox="1">
                <a:spLocks noRot="1" noChangeAspect="1" noMove="1" noResize="1" noEditPoints="1" noAdjustHandles="1" noChangeArrowheads="1" noChangeShapeType="1" noTextEdit="1"/>
              </p:cNvSpPr>
              <p:nvPr/>
            </p:nvSpPr>
            <p:spPr>
              <a:xfrm>
                <a:off x="364993" y="1365505"/>
                <a:ext cx="11331019" cy="4451283"/>
              </a:xfrm>
              <a:prstGeom prst="rect">
                <a:avLst/>
              </a:prstGeom>
              <a:blipFill>
                <a:blip r:embed="rId3"/>
                <a:stretch>
                  <a:fillRect l="-861" r="-807" b="-1918"/>
                </a:stretch>
              </a:blipFill>
            </p:spPr>
            <p:txBody>
              <a:bodyPr/>
              <a:lstStyle/>
              <a:p>
                <a:r>
                  <a:rPr lang="ko-KR" alt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2A6060A-0226-6F13-03C5-48706A3C8DD1}"/>
                  </a:ext>
                </a:extLst>
              </p:cNvPr>
              <p:cNvSpPr txBox="1"/>
              <p:nvPr/>
            </p:nvSpPr>
            <p:spPr>
              <a:xfrm>
                <a:off x="2890284" y="3832755"/>
                <a:ext cx="6411432" cy="1272656"/>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000" i="1" kern="100">
                              <a:effectLst/>
                              <a:latin typeface="Cambria Math" panose="02040503050406030204" pitchFamily="18" charset="0"/>
                              <a:ea typeface="+mj-ea"/>
                            </a:rPr>
                          </m:ctrlPr>
                        </m:sSubPr>
                        <m:e>
                          <m:r>
                            <m:rPr>
                              <m:sty m:val="p"/>
                            </m:rPr>
                            <a:rPr lang="en-US" altLang="zh-CN" sz="2000" kern="100">
                              <a:effectLst/>
                              <a:latin typeface="Cambria Math" panose="02040503050406030204" pitchFamily="18" charset="0"/>
                              <a:ea typeface="+mj-ea"/>
                            </a:rPr>
                            <m:t>min</m:t>
                          </m:r>
                        </m:e>
                        <m:sub>
                          <m:r>
                            <a:rPr lang="en-US" altLang="zh-CN" sz="2000" i="1" kern="100">
                              <a:effectLst/>
                              <a:latin typeface="Cambria Math" panose="02040503050406030204" pitchFamily="18" charset="0"/>
                              <a:ea typeface="+mj-ea"/>
                            </a:rPr>
                            <m:t>𝑎</m:t>
                          </m:r>
                          <m:r>
                            <a:rPr lang="en-US" altLang="zh-CN" sz="2000" i="1" kern="100">
                              <a:effectLst/>
                              <a:latin typeface="Cambria Math" panose="02040503050406030204" pitchFamily="18" charset="0"/>
                              <a:ea typeface="+mj-ea"/>
                            </a:rPr>
                            <m:t>,</m:t>
                          </m:r>
                          <m:r>
                            <a:rPr lang="en-US" altLang="zh-CN" sz="2000" i="1" kern="100">
                              <a:effectLst/>
                              <a:latin typeface="Cambria Math" panose="02040503050406030204" pitchFamily="18" charset="0"/>
                              <a:ea typeface="+mj-ea"/>
                            </a:rPr>
                            <m:t>𝑠</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m:rPr>
                              <m:sty m:val="p"/>
                            </m:rPr>
                            <a:rPr lang="en-US" altLang="zh-CN" sz="2000" kern="100">
                              <a:effectLst/>
                              <a:latin typeface="Cambria Math" panose="02040503050406030204" pitchFamily="18" charset="0"/>
                              <a:ea typeface="+mj-ea"/>
                            </a:rPr>
                            <m:t>min</m:t>
                          </m:r>
                        </m:e>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1</m:t>
                              </m:r>
                            </m:sub>
                          </m:sSub>
                        </m:sub>
                      </m:sSub>
                      <m:nary>
                        <m:naryPr>
                          <m:chr m:val="∑"/>
                          <m:limLoc m:val="undOvr"/>
                          <m:ctrlPr>
                            <a:rPr lang="zh-CN" altLang="zh-CN" sz="2000" i="1" kern="100">
                              <a:effectLst/>
                              <a:latin typeface="Cambria Math" panose="02040503050406030204" pitchFamily="18" charset="0"/>
                              <a:ea typeface="+mj-ea"/>
                            </a:rPr>
                          </m:ctrlPr>
                        </m:naryPr>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𝑥</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𝐷</m:t>
                              </m:r>
                            </m:e>
                            <m:sub>
                              <m:r>
                                <a:rPr lang="en-US" altLang="zh-CN" sz="2000" i="1" kern="100">
                                  <a:effectLst/>
                                  <a:latin typeface="Cambria Math" panose="02040503050406030204" pitchFamily="18" charset="0"/>
                                  <a:ea typeface="+mj-ea"/>
                                </a:rPr>
                                <m:t>1</m:t>
                              </m:r>
                            </m:sub>
                          </m:sSub>
                        </m:sub>
                        <m:sup>
                          <m:r>
                            <a:rPr lang="en-US" altLang="zh-CN" sz="2000" i="1" kern="100">
                              <a:effectLst/>
                              <a:latin typeface="Cambria Math" panose="02040503050406030204" pitchFamily="18" charset="0"/>
                              <a:ea typeface="+mj-ea"/>
                            </a:rPr>
                            <m:t>​</m:t>
                          </m:r>
                        </m:sup>
                        <m:e>
                          <m:r>
                            <a:rPr lang="en-US" altLang="zh-CN" sz="2000" i="1" kern="100">
                              <a:effectLst/>
                              <a:latin typeface="Cambria Math" panose="02040503050406030204" pitchFamily="18" charset="0"/>
                              <a:ea typeface="+mj-ea"/>
                            </a:rPr>
                            <m:t>(</m:t>
                          </m:r>
                        </m:e>
                      </m:nary>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𝑦</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1</m:t>
                          </m:r>
                        </m:sub>
                      </m:sSub>
                      <m:sSup>
                        <m:sSupPr>
                          <m:ctrlPr>
                            <a:rPr lang="zh-CN" altLang="zh-CN" sz="2000" i="1" kern="100">
                              <a:effectLst/>
                              <a:latin typeface="Cambria Math" panose="02040503050406030204" pitchFamily="18" charset="0"/>
                              <a:ea typeface="+mj-ea"/>
                            </a:rPr>
                          </m:ctrlPr>
                        </m:sSupPr>
                        <m:e>
                          <m:r>
                            <a:rPr lang="en-US" altLang="zh-CN" sz="2000" i="1" kern="100">
                              <a:effectLst/>
                              <a:latin typeface="Cambria Math" panose="02040503050406030204" pitchFamily="18" charset="0"/>
                              <a:ea typeface="+mj-ea"/>
                            </a:rPr>
                            <m:t>)</m:t>
                          </m:r>
                        </m:e>
                        <m:sup>
                          <m:r>
                            <a:rPr lang="en-US" altLang="zh-CN" sz="2000" i="1" kern="100">
                              <a:effectLst/>
                              <a:latin typeface="Cambria Math" panose="02040503050406030204" pitchFamily="18" charset="0"/>
                              <a:ea typeface="+mj-ea"/>
                            </a:rPr>
                            <m:t>2</m:t>
                          </m:r>
                        </m:sup>
                      </m:sSup>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m:rPr>
                              <m:sty m:val="p"/>
                            </m:rPr>
                            <a:rPr lang="en-US" altLang="zh-CN" sz="2000" kern="100">
                              <a:effectLst/>
                              <a:latin typeface="Cambria Math" panose="02040503050406030204" pitchFamily="18" charset="0"/>
                              <a:ea typeface="+mj-ea"/>
                            </a:rPr>
                            <m:t>min</m:t>
                          </m:r>
                        </m:e>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2</m:t>
                              </m:r>
                            </m:sub>
                          </m:sSub>
                        </m:sub>
                      </m:sSub>
                      <m:nary>
                        <m:naryPr>
                          <m:chr m:val="∑"/>
                          <m:limLoc m:val="undOvr"/>
                          <m:ctrlPr>
                            <a:rPr lang="zh-CN" altLang="zh-CN" sz="2000" i="1" kern="100">
                              <a:effectLst/>
                              <a:latin typeface="Cambria Math" panose="02040503050406030204" pitchFamily="18" charset="0"/>
                              <a:ea typeface="+mj-ea"/>
                            </a:rPr>
                          </m:ctrlPr>
                        </m:naryPr>
                        <m:sub>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𝑥</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𝐷</m:t>
                              </m:r>
                            </m:e>
                            <m:sub>
                              <m:r>
                                <a:rPr lang="en-US" altLang="zh-CN" sz="2000" i="1" kern="100">
                                  <a:effectLst/>
                                  <a:latin typeface="Cambria Math" panose="02040503050406030204" pitchFamily="18" charset="0"/>
                                  <a:ea typeface="+mj-ea"/>
                                </a:rPr>
                                <m:t>2</m:t>
                              </m:r>
                            </m:sub>
                          </m:sSub>
                        </m:sub>
                        <m:sup>
                          <m:r>
                            <a:rPr lang="en-US" altLang="zh-CN" sz="2000" i="1" kern="100">
                              <a:effectLst/>
                              <a:latin typeface="Cambria Math" panose="02040503050406030204" pitchFamily="18" charset="0"/>
                              <a:ea typeface="+mj-ea"/>
                            </a:rPr>
                            <m:t>​</m:t>
                          </m:r>
                        </m:sup>
                        <m:e>
                          <m:r>
                            <a:rPr lang="en-US" altLang="zh-CN" sz="2000" i="1" kern="100">
                              <a:effectLst/>
                              <a:latin typeface="Cambria Math" panose="02040503050406030204" pitchFamily="18" charset="0"/>
                              <a:ea typeface="+mj-ea"/>
                            </a:rPr>
                            <m:t>(</m:t>
                          </m:r>
                        </m:e>
                      </m:nary>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𝑦</m:t>
                          </m:r>
                        </m:e>
                        <m:sub>
                          <m:r>
                            <a:rPr lang="en-US" altLang="zh-CN" sz="2000" i="1" kern="100">
                              <a:effectLst/>
                              <a:latin typeface="Cambria Math" panose="02040503050406030204" pitchFamily="18" charset="0"/>
                              <a:ea typeface="+mj-ea"/>
                            </a:rPr>
                            <m:t>𝑖</m:t>
                          </m:r>
                        </m:sub>
                      </m:sSub>
                      <m:r>
                        <a:rPr lang="en-US" altLang="zh-CN" sz="2000" i="1" kern="100">
                          <a:effectLst/>
                          <a:latin typeface="Cambria Math" panose="02040503050406030204" pitchFamily="18" charset="0"/>
                          <a:ea typeface="+mj-ea"/>
                        </a:rPr>
                        <m:t>−</m:t>
                      </m:r>
                      <m:sSub>
                        <m:sSubPr>
                          <m:ctrlPr>
                            <a:rPr lang="zh-CN" altLang="zh-CN" sz="2000" i="1" kern="100">
                              <a:effectLst/>
                              <a:latin typeface="Cambria Math" panose="02040503050406030204" pitchFamily="18" charset="0"/>
                              <a:ea typeface="+mj-ea"/>
                            </a:rPr>
                          </m:ctrlPr>
                        </m:sSubPr>
                        <m:e>
                          <m:r>
                            <a:rPr lang="en-US" altLang="zh-CN" sz="2000" i="1" kern="100">
                              <a:effectLst/>
                              <a:latin typeface="Cambria Math" panose="02040503050406030204" pitchFamily="18" charset="0"/>
                              <a:ea typeface="+mj-ea"/>
                            </a:rPr>
                            <m:t>𝑐</m:t>
                          </m:r>
                        </m:e>
                        <m:sub>
                          <m:r>
                            <a:rPr lang="en-US" altLang="zh-CN" sz="2000" i="1" kern="100">
                              <a:effectLst/>
                              <a:latin typeface="Cambria Math" panose="02040503050406030204" pitchFamily="18" charset="0"/>
                              <a:ea typeface="+mj-ea"/>
                            </a:rPr>
                            <m:t>2</m:t>
                          </m:r>
                        </m:sub>
                      </m:sSub>
                      <m:sSup>
                        <m:sSupPr>
                          <m:ctrlPr>
                            <a:rPr lang="zh-CN" altLang="zh-CN" sz="2000" i="1" kern="100">
                              <a:effectLst/>
                              <a:latin typeface="Cambria Math" panose="02040503050406030204" pitchFamily="18" charset="0"/>
                              <a:ea typeface="+mj-ea"/>
                            </a:rPr>
                          </m:ctrlPr>
                        </m:sSupPr>
                        <m:e>
                          <m:r>
                            <a:rPr lang="en-US" altLang="zh-CN" sz="2000" i="1" kern="100">
                              <a:effectLst/>
                              <a:latin typeface="Cambria Math" panose="02040503050406030204" pitchFamily="18" charset="0"/>
                              <a:ea typeface="+mj-ea"/>
                            </a:rPr>
                            <m:t>)</m:t>
                          </m:r>
                        </m:e>
                        <m:sup>
                          <m:r>
                            <a:rPr lang="en-US" altLang="zh-CN" sz="2000" i="1" kern="100">
                              <a:effectLst/>
                              <a:latin typeface="Cambria Math" panose="02040503050406030204" pitchFamily="18" charset="0"/>
                              <a:ea typeface="+mj-ea"/>
                            </a:rPr>
                            <m:t>2</m:t>
                          </m:r>
                        </m:sup>
                      </m:sSup>
                      <m:r>
                        <a:rPr lang="en-US" altLang="zh-CN" sz="2000" i="1" kern="100">
                          <a:effectLst/>
                          <a:latin typeface="Cambria Math" panose="02040503050406030204" pitchFamily="18" charset="0"/>
                          <a:ea typeface="+mj-ea"/>
                        </a:rPr>
                        <m:t>]</m:t>
                      </m:r>
                    </m:oMath>
                  </m:oMathPara>
                </a14:m>
                <a:endParaRPr lang="zh-CN" altLang="zh-CN" sz="2000" kern="100" dirty="0">
                  <a:effectLst/>
                  <a:latin typeface="KaiTi" panose="02010609060101010101" pitchFamily="49" charset="-122"/>
                  <a:ea typeface="KaiTi" panose="02010609060101010101" pitchFamily="49" charset="-122"/>
                </a:endParaRPr>
              </a:p>
            </p:txBody>
          </p:sp>
        </mc:Choice>
        <mc:Fallback>
          <p:sp>
            <p:nvSpPr>
              <p:cNvPr id="4" name="TextBox 3">
                <a:extLst>
                  <a:ext uri="{FF2B5EF4-FFF2-40B4-BE49-F238E27FC236}">
                    <a16:creationId xmlns:a16="http://schemas.microsoft.com/office/drawing/2014/main" id="{B2A6060A-0226-6F13-03C5-48706A3C8DD1}"/>
                  </a:ext>
                </a:extLst>
              </p:cNvPr>
              <p:cNvSpPr txBox="1">
                <a:spLocks noRot="1" noChangeAspect="1" noMove="1" noResize="1" noEditPoints="1" noAdjustHandles="1" noChangeArrowheads="1" noChangeShapeType="1" noTextEdit="1"/>
              </p:cNvSpPr>
              <p:nvPr/>
            </p:nvSpPr>
            <p:spPr>
              <a:xfrm>
                <a:off x="2890284" y="3832755"/>
                <a:ext cx="6411432" cy="1272656"/>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C2CEB3-1505-A96A-B804-6DA3EC933BA4}"/>
                  </a:ext>
                </a:extLst>
              </p:cNvPr>
              <p:cNvSpPr txBox="1"/>
              <p:nvPr/>
            </p:nvSpPr>
            <p:spPr>
              <a:xfrm>
                <a:off x="3300950" y="5939893"/>
                <a:ext cx="2248786" cy="6848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𝑐</m:t>
                          </m:r>
                        </m:e>
                        <m:sub>
                          <m:r>
                            <a:rPr lang="ko-Kore-KR" altLang="en-US" sz="1800" i="0">
                              <a:latin typeface="Cambria Math" panose="02040503050406030204" pitchFamily="18" charset="0"/>
                            </a:rPr>
                            <m:t>1</m:t>
                          </m:r>
                        </m:sub>
                      </m:sSub>
                      <m:r>
                        <a:rPr lang="ko-Kore-KR" altLang="en-US" sz="1800" i="0">
                          <a:latin typeface="Cambria Math" panose="02040503050406030204" pitchFamily="18" charset="0"/>
                        </a:rPr>
                        <m:t>=</m:t>
                      </m:r>
                      <m:f>
                        <m:fPr>
                          <m:ctrlPr>
                            <a:rPr lang="ko-Kore-KR" altLang="en-US" sz="1800" i="1">
                              <a:solidFill>
                                <a:srgbClr val="836967"/>
                              </a:solidFill>
                              <a:latin typeface="Cambria Math" panose="02040503050406030204" pitchFamily="18" charset="0"/>
                            </a:rPr>
                          </m:ctrlPr>
                        </m:fPr>
                        <m:num>
                          <m:r>
                            <a:rPr lang="ko-Kore-KR" altLang="en-US" sz="1800" i="0">
                              <a:latin typeface="Cambria Math" panose="02040503050406030204" pitchFamily="18" charset="0"/>
                            </a:rPr>
                            <m:t>1</m:t>
                          </m:r>
                        </m:num>
                        <m:den>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𝑁</m:t>
                              </m:r>
                            </m:e>
                            <m:sub>
                              <m:r>
                                <a:rPr lang="ko-Kore-KR" altLang="en-US" sz="1800" i="0">
                                  <a:latin typeface="Cambria Math" panose="02040503050406030204" pitchFamily="18" charset="0"/>
                                </a:rPr>
                                <m:t>1</m:t>
                              </m:r>
                            </m:sub>
                          </m:sSub>
                        </m:den>
                      </m:f>
                      <m:nary>
                        <m:naryPr>
                          <m:chr m:val="∑"/>
                          <m:limLoc m:val="subSup"/>
                          <m:grow m:val="on"/>
                          <m:supHide m:val="on"/>
                          <m:ctrlPr>
                            <a:rPr lang="ko-Kore-KR" altLang="en-US" sz="1800" i="1">
                              <a:latin typeface="Cambria Math" panose="02040503050406030204" pitchFamily="18" charset="0"/>
                            </a:rPr>
                          </m:ctrlPr>
                        </m:naryPr>
                        <m:sub>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𝑥</m:t>
                              </m:r>
                            </m:e>
                            <m:sub>
                              <m:r>
                                <a:rPr lang="ko-Kore-KR" altLang="en-US" sz="1800" i="1">
                                  <a:latin typeface="Cambria Math" panose="02040503050406030204" pitchFamily="18" charset="0"/>
                                </a:rPr>
                                <m:t>𝑖</m:t>
                              </m:r>
                            </m:sub>
                          </m:sSub>
                          <m:r>
                            <a:rPr lang="ko-Kore-KR" altLang="en-US" sz="1800" i="0">
                              <a:latin typeface="Cambria Math" panose="02040503050406030204" pitchFamily="18" charset="0"/>
                            </a:rPr>
                            <m:t>∈</m:t>
                          </m:r>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𝑅</m:t>
                              </m:r>
                            </m:e>
                            <m:sub>
                              <m:r>
                                <a:rPr lang="ko-Kore-KR" altLang="en-US" sz="1800" i="0">
                                  <a:latin typeface="Cambria Math" panose="02040503050406030204" pitchFamily="18" charset="0"/>
                                </a:rPr>
                                <m:t>1</m:t>
                              </m:r>
                            </m:sub>
                          </m:sSub>
                        </m:sub>
                        <m:sup/>
                        <m:e>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𝑦</m:t>
                              </m:r>
                            </m:e>
                            <m:sub>
                              <m:r>
                                <a:rPr lang="ko-Kore-KR" altLang="en-US" sz="1800" i="1">
                                  <a:latin typeface="Cambria Math" panose="02040503050406030204" pitchFamily="18" charset="0"/>
                                </a:rPr>
                                <m:t>𝑖</m:t>
                              </m:r>
                            </m:sub>
                          </m:sSub>
                        </m:e>
                      </m:nary>
                    </m:oMath>
                  </m:oMathPara>
                </a14:m>
                <a:endParaRPr lang="ko-Kore-KR" altLang="en-US"/>
              </a:p>
            </p:txBody>
          </p:sp>
        </mc:Choice>
        <mc:Fallback xmlns="">
          <p:sp>
            <p:nvSpPr>
              <p:cNvPr id="6" name="TextBox 5">
                <a:extLst>
                  <a:ext uri="{FF2B5EF4-FFF2-40B4-BE49-F238E27FC236}">
                    <a16:creationId xmlns:a16="http://schemas.microsoft.com/office/drawing/2014/main" id="{9FC2CEB3-1505-A96A-B804-6DA3EC933BA4}"/>
                  </a:ext>
                </a:extLst>
              </p:cNvPr>
              <p:cNvSpPr txBox="1">
                <a:spLocks noRot="1" noChangeAspect="1" noMove="1" noResize="1" noEditPoints="1" noAdjustHandles="1" noChangeArrowheads="1" noChangeShapeType="1" noTextEdit="1"/>
              </p:cNvSpPr>
              <p:nvPr/>
            </p:nvSpPr>
            <p:spPr>
              <a:xfrm>
                <a:off x="3300950" y="5939893"/>
                <a:ext cx="2248786" cy="684803"/>
              </a:xfrm>
              <a:prstGeom prst="rect">
                <a:avLst/>
              </a:prstGeom>
              <a:blipFill>
                <a:blip r:embed="rId5"/>
                <a:stretch>
                  <a:fillRect t="-136364" b="-19818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9DDD499-31A8-CF63-D238-D6032B4FB9EF}"/>
                  </a:ext>
                </a:extLst>
              </p:cNvPr>
              <p:cNvSpPr txBox="1"/>
              <p:nvPr/>
            </p:nvSpPr>
            <p:spPr>
              <a:xfrm>
                <a:off x="5549736" y="5951521"/>
                <a:ext cx="2248787" cy="6848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𝑐</m:t>
                          </m:r>
                        </m:e>
                        <m:sub>
                          <m:r>
                            <a:rPr lang="en-US" altLang="zh-CN" sz="1800" b="0" i="0">
                              <a:latin typeface="Cambria Math" panose="02040503050406030204" pitchFamily="18" charset="0"/>
                            </a:rPr>
                            <m:t>2</m:t>
                          </m:r>
                        </m:sub>
                      </m:sSub>
                      <m:r>
                        <a:rPr lang="ko-Kore-KR" altLang="en-US" sz="1800" i="0">
                          <a:latin typeface="Cambria Math" panose="02040503050406030204" pitchFamily="18" charset="0"/>
                        </a:rPr>
                        <m:t>=</m:t>
                      </m:r>
                      <m:f>
                        <m:fPr>
                          <m:ctrlPr>
                            <a:rPr lang="ko-Kore-KR" altLang="en-US" sz="1800" i="1">
                              <a:solidFill>
                                <a:srgbClr val="836967"/>
                              </a:solidFill>
                              <a:latin typeface="Cambria Math" panose="02040503050406030204" pitchFamily="18" charset="0"/>
                            </a:rPr>
                          </m:ctrlPr>
                        </m:fPr>
                        <m:num>
                          <m:r>
                            <a:rPr lang="ko-Kore-KR" altLang="en-US" sz="1800" i="0">
                              <a:latin typeface="Cambria Math" panose="02040503050406030204" pitchFamily="18" charset="0"/>
                            </a:rPr>
                            <m:t>1</m:t>
                          </m:r>
                        </m:num>
                        <m:den>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𝑁</m:t>
                              </m:r>
                            </m:e>
                            <m:sub>
                              <m:r>
                                <a:rPr lang="en-US" altLang="zh-CN" sz="1800" b="0" i="0">
                                  <a:latin typeface="Cambria Math" panose="02040503050406030204" pitchFamily="18" charset="0"/>
                                </a:rPr>
                                <m:t>2</m:t>
                              </m:r>
                            </m:sub>
                          </m:sSub>
                        </m:den>
                      </m:f>
                      <m:nary>
                        <m:naryPr>
                          <m:chr m:val="∑"/>
                          <m:limLoc m:val="subSup"/>
                          <m:grow m:val="on"/>
                          <m:supHide m:val="on"/>
                          <m:ctrlPr>
                            <a:rPr lang="ko-Kore-KR" altLang="en-US" sz="1800" i="1">
                              <a:latin typeface="Cambria Math" panose="02040503050406030204" pitchFamily="18" charset="0"/>
                            </a:rPr>
                          </m:ctrlPr>
                        </m:naryPr>
                        <m:sub>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𝑥</m:t>
                              </m:r>
                            </m:e>
                            <m:sub>
                              <m:r>
                                <a:rPr lang="ko-Kore-KR" altLang="en-US" sz="1800" i="1">
                                  <a:latin typeface="Cambria Math" panose="02040503050406030204" pitchFamily="18" charset="0"/>
                                </a:rPr>
                                <m:t>𝑖</m:t>
                              </m:r>
                            </m:sub>
                          </m:sSub>
                          <m:r>
                            <a:rPr lang="ko-Kore-KR" altLang="en-US" sz="1800" i="0">
                              <a:latin typeface="Cambria Math" panose="02040503050406030204" pitchFamily="18" charset="0"/>
                            </a:rPr>
                            <m:t>∈</m:t>
                          </m:r>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𝑅</m:t>
                              </m:r>
                            </m:e>
                            <m:sub>
                              <m:r>
                                <a:rPr lang="en-US" altLang="zh-CN" sz="1800" b="0" i="0">
                                  <a:latin typeface="Cambria Math" panose="02040503050406030204" pitchFamily="18" charset="0"/>
                                </a:rPr>
                                <m:t>2</m:t>
                              </m:r>
                            </m:sub>
                          </m:sSub>
                        </m:sub>
                        <m:sup/>
                        <m:e>
                          <m:sSub>
                            <m:sSubPr>
                              <m:ctrlPr>
                                <a:rPr lang="ko-Kore-KR" altLang="en-US" sz="1800" i="1">
                                  <a:solidFill>
                                    <a:srgbClr val="836967"/>
                                  </a:solidFill>
                                  <a:latin typeface="Cambria Math" panose="02040503050406030204" pitchFamily="18" charset="0"/>
                                </a:rPr>
                              </m:ctrlPr>
                            </m:sSubPr>
                            <m:e>
                              <m:r>
                                <a:rPr lang="ko-Kore-KR" altLang="en-US" sz="1800" i="1">
                                  <a:latin typeface="Cambria Math" panose="02040503050406030204" pitchFamily="18" charset="0"/>
                                </a:rPr>
                                <m:t>𝑦</m:t>
                              </m:r>
                            </m:e>
                            <m:sub>
                              <m:r>
                                <a:rPr lang="ko-Kore-KR" altLang="en-US" sz="1800" i="1">
                                  <a:latin typeface="Cambria Math" panose="02040503050406030204" pitchFamily="18" charset="0"/>
                                </a:rPr>
                                <m:t>𝑖</m:t>
                              </m:r>
                            </m:sub>
                          </m:sSub>
                        </m:e>
                      </m:nary>
                    </m:oMath>
                  </m:oMathPara>
                </a14:m>
                <a:endParaRPr lang="ko-Kore-KR" altLang="en-US"/>
              </a:p>
            </p:txBody>
          </p:sp>
        </mc:Choice>
        <mc:Fallback xmlns="">
          <p:sp>
            <p:nvSpPr>
              <p:cNvPr id="9" name="TextBox 8">
                <a:extLst>
                  <a:ext uri="{FF2B5EF4-FFF2-40B4-BE49-F238E27FC236}">
                    <a16:creationId xmlns:a16="http://schemas.microsoft.com/office/drawing/2014/main" id="{B9DDD499-31A8-CF63-D238-D6032B4FB9EF}"/>
                  </a:ext>
                </a:extLst>
              </p:cNvPr>
              <p:cNvSpPr txBox="1">
                <a:spLocks noRot="1" noChangeAspect="1" noMove="1" noResize="1" noEditPoints="1" noAdjustHandles="1" noChangeArrowheads="1" noChangeShapeType="1" noTextEdit="1"/>
              </p:cNvSpPr>
              <p:nvPr/>
            </p:nvSpPr>
            <p:spPr>
              <a:xfrm>
                <a:off x="5549736" y="5951521"/>
                <a:ext cx="2248787" cy="684803"/>
              </a:xfrm>
              <a:prstGeom prst="rect">
                <a:avLst/>
              </a:prstGeom>
              <a:blipFill>
                <a:blip r:embed="rId6"/>
                <a:stretch>
                  <a:fillRect t="-136364" b="-198182"/>
                </a:stretch>
              </a:blipFill>
            </p:spPr>
            <p:txBody>
              <a:bodyPr/>
              <a:lstStyle/>
              <a:p>
                <a:r>
                  <a:rPr lang="ko-Kore-KR" altLang="en-US">
                    <a:noFill/>
                  </a:rPr>
                  <a:t> </a:t>
                </a:r>
              </a:p>
            </p:txBody>
          </p:sp>
        </mc:Fallback>
      </mc:AlternateContent>
      <p:sp>
        <p:nvSpPr>
          <p:cNvPr id="3" name="Rectangle 2">
            <a:extLst>
              <a:ext uri="{FF2B5EF4-FFF2-40B4-BE49-F238E27FC236}">
                <a16:creationId xmlns:a16="http://schemas.microsoft.com/office/drawing/2014/main" id="{C641F7AA-9F53-BBD4-EB22-05924528ECB9}"/>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CART</a:t>
            </a:r>
            <a:r>
              <a:rPr lang="zh-CN" altLang="en-US" dirty="0">
                <a:solidFill>
                  <a:schemeClr val="tx1"/>
                </a:solidFill>
                <a:latin typeface="KaiTi" panose="02010609060101010101" pitchFamily="49" charset="-122"/>
                <a:ea typeface="KaiTi" panose="02010609060101010101" pitchFamily="49" charset="-122"/>
              </a:rPr>
              <a:t>算法回归</a:t>
            </a:r>
          </a:p>
        </p:txBody>
      </p:sp>
    </p:spTree>
    <p:extLst>
      <p:ext uri="{BB962C8B-B14F-4D97-AF65-F5344CB8AC3E}">
        <p14:creationId xmlns:p14="http://schemas.microsoft.com/office/powerpoint/2010/main" val="2052643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2" descr="[公式]">
            <a:extLst>
              <a:ext uri="{FF2B5EF4-FFF2-40B4-BE49-F238E27FC236}">
                <a16:creationId xmlns:a16="http://schemas.microsoft.com/office/drawing/2014/main" id="{750AF12C-184B-4929-958B-2328A8E0588C}"/>
              </a:ext>
            </a:extLst>
          </p:cNvPr>
          <p:cNvSpPr>
            <a:spLocks noChangeAspect="1" noChangeArrowheads="1"/>
          </p:cNvSpPr>
          <p:nvPr/>
        </p:nvSpPr>
        <p:spPr bwMode="auto">
          <a:xfrm>
            <a:off x="4130511"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3" descr="[公式]">
            <a:extLst>
              <a:ext uri="{FF2B5EF4-FFF2-40B4-BE49-F238E27FC236}">
                <a16:creationId xmlns:a16="http://schemas.microsoft.com/office/drawing/2014/main" id="{69807880-654C-4C4E-AEC6-D60A785DBACE}"/>
              </a:ext>
            </a:extLst>
          </p:cNvPr>
          <p:cNvSpPr>
            <a:spLocks noChangeAspect="1" noChangeArrowheads="1"/>
          </p:cNvSpPr>
          <p:nvPr/>
        </p:nvSpPr>
        <p:spPr bwMode="auto">
          <a:xfrm>
            <a:off x="12490286"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AutoShape 4" descr="[公式]">
            <a:extLst>
              <a:ext uri="{FF2B5EF4-FFF2-40B4-BE49-F238E27FC236}">
                <a16:creationId xmlns:a16="http://schemas.microsoft.com/office/drawing/2014/main" id="{8113FEE6-1D2A-4A41-B6CA-C72DB6385BAF}"/>
              </a:ext>
            </a:extLst>
          </p:cNvPr>
          <p:cNvSpPr>
            <a:spLocks noChangeAspect="1" noChangeArrowheads="1"/>
          </p:cNvSpPr>
          <p:nvPr/>
        </p:nvSpPr>
        <p:spPr bwMode="auto">
          <a:xfrm>
            <a:off x="119681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5" descr="[公式]">
            <a:extLst>
              <a:ext uri="{FF2B5EF4-FFF2-40B4-BE49-F238E27FC236}">
                <a16:creationId xmlns:a16="http://schemas.microsoft.com/office/drawing/2014/main" id="{D2F63B6E-1125-4DB5-9BFD-893DD9A2B32B}"/>
              </a:ext>
            </a:extLst>
          </p:cNvPr>
          <p:cNvSpPr>
            <a:spLocks noChangeAspect="1" noChangeArrowheads="1"/>
          </p:cNvSpPr>
          <p:nvPr/>
        </p:nvSpPr>
        <p:spPr bwMode="auto">
          <a:xfrm>
            <a:off x="201278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a:extLst>
              <a:ext uri="{FF2B5EF4-FFF2-40B4-BE49-F238E27FC236}">
                <a16:creationId xmlns:a16="http://schemas.microsoft.com/office/drawing/2014/main" id="{8940625E-3A9E-4EEB-A798-A185FBD83084}"/>
              </a:ext>
            </a:extLst>
          </p:cNvPr>
          <p:cNvSpPr>
            <a:spLocks noChangeAspect="1" noChangeArrowheads="1"/>
          </p:cNvSpPr>
          <p:nvPr/>
        </p:nvSpPr>
        <p:spPr bwMode="auto">
          <a:xfrm>
            <a:off x="442896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AutoShape 7" descr="[公式]">
            <a:extLst>
              <a:ext uri="{FF2B5EF4-FFF2-40B4-BE49-F238E27FC236}">
                <a16:creationId xmlns:a16="http://schemas.microsoft.com/office/drawing/2014/main" id="{8531FE39-3BA9-4F58-97E7-9FA6D5333D50}"/>
              </a:ext>
            </a:extLst>
          </p:cNvPr>
          <p:cNvSpPr>
            <a:spLocks noChangeAspect="1" noChangeArrowheads="1"/>
          </p:cNvSpPr>
          <p:nvPr/>
        </p:nvSpPr>
        <p:spPr bwMode="auto">
          <a:xfrm>
            <a:off x="524493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AutoShape 8" descr="[公式]">
            <a:extLst>
              <a:ext uri="{FF2B5EF4-FFF2-40B4-BE49-F238E27FC236}">
                <a16:creationId xmlns:a16="http://schemas.microsoft.com/office/drawing/2014/main" id="{15E02959-0139-4DDA-AC8D-60D69AAA5A22}"/>
              </a:ext>
            </a:extLst>
          </p:cNvPr>
          <p:cNvSpPr>
            <a:spLocks noChangeAspect="1" noChangeArrowheads="1"/>
          </p:cNvSpPr>
          <p:nvPr/>
        </p:nvSpPr>
        <p:spPr bwMode="auto">
          <a:xfrm>
            <a:off x="7216611"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AutoShape 9" descr="[公式]">
            <a:extLst>
              <a:ext uri="{FF2B5EF4-FFF2-40B4-BE49-F238E27FC236}">
                <a16:creationId xmlns:a16="http://schemas.microsoft.com/office/drawing/2014/main" id="{92BC33E5-EF18-449E-A5AA-4DBFA96FC2D8}"/>
              </a:ext>
            </a:extLst>
          </p:cNvPr>
          <p:cNvSpPr>
            <a:spLocks noChangeAspect="1" noChangeArrowheads="1"/>
          </p:cNvSpPr>
          <p:nvPr/>
        </p:nvSpPr>
        <p:spPr bwMode="auto">
          <a:xfrm>
            <a:off x="10089986"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AutoShape 10" descr="[公式]">
            <a:extLst>
              <a:ext uri="{FF2B5EF4-FFF2-40B4-BE49-F238E27FC236}">
                <a16:creationId xmlns:a16="http://schemas.microsoft.com/office/drawing/2014/main" id="{CCCABC26-E013-40C8-B106-E6837069AE2B}"/>
              </a:ext>
            </a:extLst>
          </p:cNvPr>
          <p:cNvSpPr>
            <a:spLocks noChangeAspect="1" noChangeArrowheads="1"/>
          </p:cNvSpPr>
          <p:nvPr/>
        </p:nvSpPr>
        <p:spPr bwMode="auto">
          <a:xfrm>
            <a:off x="447511" y="331509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文本框 48">
            <a:extLst>
              <a:ext uri="{FF2B5EF4-FFF2-40B4-BE49-F238E27FC236}">
                <a16:creationId xmlns:a16="http://schemas.microsoft.com/office/drawing/2014/main" id="{965D4395-301C-4C29-B920-04A0EF0F27BC}"/>
              </a:ext>
            </a:extLst>
          </p:cNvPr>
          <p:cNvSpPr txBox="1"/>
          <p:nvPr/>
        </p:nvSpPr>
        <p:spPr>
          <a:xfrm>
            <a:off x="512320" y="1782448"/>
            <a:ext cx="11208628" cy="2236510"/>
          </a:xfrm>
          <a:prstGeom prst="rect">
            <a:avLst/>
          </a:prstGeom>
          <a:noFill/>
        </p:spPr>
        <p:txBody>
          <a:bodyPr wrap="square">
            <a:spAutoFit/>
          </a:bodyPr>
          <a:lstStyle/>
          <a:p>
            <a:pPr algn="just">
              <a:lnSpc>
                <a:spcPct val="150000"/>
              </a:lnSpc>
            </a:pPr>
            <a:r>
              <a:rPr lang="zh-CN" altLang="zh-CN" sz="2400" b="1" kern="100" dirty="0">
                <a:effectLst/>
                <a:latin typeface="KaiTi" panose="02010609060101010101" pitchFamily="49" charset="-122"/>
                <a:ea typeface="KaiTi" panose="02010609060101010101" pitchFamily="49" charset="-122"/>
              </a:rPr>
              <a:t>预测方式</a:t>
            </a:r>
            <a:endParaRPr lang="zh-CN" altLang="zh-CN" sz="2400" kern="100" dirty="0">
              <a:effectLst/>
              <a:latin typeface="KaiTi" panose="02010609060101010101" pitchFamily="49" charset="-122"/>
              <a:ea typeface="KaiTi" panose="02010609060101010101" pitchFamily="49" charset="-122"/>
            </a:endParaRPr>
          </a:p>
          <a:p>
            <a:pPr algn="just">
              <a:lnSpc>
                <a:spcPct val="150000"/>
              </a:lnSpc>
            </a:pPr>
            <a:r>
              <a:rPr lang="zh-CN" altLang="en-US" sz="2400" kern="100" dirty="0">
                <a:effectLst/>
                <a:latin typeface="KaiTi" panose="02010609060101010101" pitchFamily="49" charset="-122"/>
                <a:ea typeface="KaiTi" panose="02010609060101010101" pitchFamily="49" charset="-122"/>
              </a:rPr>
              <a:t>回归树不是输出类别，而是输出叶子节点的预测值。对于任意输入样本 </a:t>
            </a:r>
            <a:r>
              <a:rPr lang="en-US" altLang="zh-CN" sz="2400" kern="100" dirty="0">
                <a:effectLst/>
                <a:latin typeface="KaiTi" panose="02010609060101010101" pitchFamily="49" charset="-122"/>
                <a:ea typeface="KaiTi" panose="02010609060101010101" pitchFamily="49" charset="-122"/>
              </a:rPr>
              <a:t>x</a:t>
            </a:r>
            <a:r>
              <a:rPr lang="zh-CN" altLang="en-US" sz="2400" kern="100" dirty="0">
                <a:effectLst/>
                <a:latin typeface="KaiTi" panose="02010609060101010101" pitchFamily="49" charset="-122"/>
                <a:ea typeface="KaiTi" panose="02010609060101010101" pitchFamily="49" charset="-122"/>
              </a:rPr>
              <a:t>，找到它所落入的叶子区域 𝑅𝑚，并返回该叶子的常数值 𝑐𝑚</a:t>
            </a:r>
            <a:r>
              <a:rPr lang="zh-CN" altLang="en-US" kern="100" dirty="0">
                <a:latin typeface="KaiTi" panose="02010609060101010101" pitchFamily="49" charset="-122"/>
                <a:ea typeface="KaiTi" panose="02010609060101010101" pitchFamily="49" charset="-122"/>
              </a:rPr>
              <a:t>。</a:t>
            </a:r>
            <a:endParaRPr lang="en-US" altLang="zh-CN" kern="100" dirty="0">
              <a:latin typeface="KaiTi" panose="02010609060101010101" pitchFamily="49" charset="-122"/>
              <a:ea typeface="KaiTi" panose="02010609060101010101" pitchFamily="49" charset="-122"/>
            </a:endParaRPr>
          </a:p>
          <a:p>
            <a:pPr algn="just">
              <a:lnSpc>
                <a:spcPct val="150000"/>
              </a:lnSpc>
            </a:pPr>
            <a:r>
              <a:rPr lang="zh-CN" altLang="en-US" sz="2400" kern="100" dirty="0">
                <a:effectLst/>
                <a:latin typeface="KaiTi" panose="02010609060101010101" pitchFamily="49" charset="-122"/>
                <a:ea typeface="KaiTi" panose="02010609060101010101" pitchFamily="49" charset="-122"/>
              </a:rPr>
              <a:t>在 </a:t>
            </a:r>
            <a:r>
              <a:rPr lang="en-US" altLang="zh-CN" sz="2400" kern="100" dirty="0">
                <a:effectLst/>
                <a:latin typeface="KaiTi" panose="02010609060101010101" pitchFamily="49" charset="-122"/>
                <a:ea typeface="KaiTi" panose="02010609060101010101" pitchFamily="49" charset="-122"/>
              </a:rPr>
              <a:t>CART </a:t>
            </a:r>
            <a:r>
              <a:rPr lang="zh-CN" altLang="en-US" sz="2400" kern="100" dirty="0">
                <a:effectLst/>
                <a:latin typeface="KaiTi" panose="02010609060101010101" pitchFamily="49" charset="-122"/>
                <a:ea typeface="KaiTi" panose="02010609060101010101" pitchFamily="49" charset="-122"/>
              </a:rPr>
              <a:t>回归树中，𝑐𝑚通常为该叶子内所有训练样本输出 </a:t>
            </a:r>
            <a:r>
              <a:rPr lang="en-US" altLang="zh-CN" sz="2400" kern="100" dirty="0">
                <a:effectLst/>
                <a:latin typeface="KaiTi" panose="02010609060101010101" pitchFamily="49" charset="-122"/>
                <a:ea typeface="KaiTi" panose="02010609060101010101" pitchFamily="49" charset="-122"/>
              </a:rPr>
              <a:t>y </a:t>
            </a:r>
            <a:r>
              <a:rPr lang="zh-CN" altLang="en-US" sz="2400" kern="100" dirty="0">
                <a:effectLst/>
                <a:latin typeface="KaiTi" panose="02010609060101010101" pitchFamily="49" charset="-122"/>
                <a:ea typeface="KaiTi" panose="02010609060101010101" pitchFamily="49" charset="-122"/>
              </a:rPr>
              <a:t>的均值。</a:t>
            </a:r>
            <a:r>
              <a:rPr lang="en-US" altLang="zh-CN" sz="2400" kern="100" dirty="0">
                <a:effectLst/>
                <a:latin typeface="KaiTi" panose="02010609060101010101" pitchFamily="49" charset="-122"/>
                <a:ea typeface="KaiTi" panose="02010609060101010101" pitchFamily="49" charset="-122"/>
              </a:rPr>
              <a:t>	​</a:t>
            </a:r>
            <a:endParaRPr lang="zh-CN" altLang="zh-CN" sz="2400" kern="100" dirty="0">
              <a:effectLst/>
              <a:latin typeface="KaiTi" panose="02010609060101010101" pitchFamily="49" charset="-122"/>
              <a:ea typeface="KaiTi" panose="02010609060101010101" pitchFamily="49" charset="-122"/>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C456DE1-C0FE-2FC4-C58E-2EBE222BD123}"/>
                  </a:ext>
                </a:extLst>
              </p:cNvPr>
              <p:cNvSpPr txBox="1"/>
              <p:nvPr/>
            </p:nvSpPr>
            <p:spPr>
              <a:xfrm>
                <a:off x="3900366" y="4337856"/>
                <a:ext cx="4105513" cy="6907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ore-KR" altLang="en-US" i="1">
                          <a:latin typeface="Cambria Math" panose="02040503050406030204" pitchFamily="18" charset="0"/>
                        </a:rPr>
                        <m:t>𝑓</m:t>
                      </m:r>
                      <m:d>
                        <m:dPr>
                          <m:ctrlPr>
                            <a:rPr lang="ko-Kore-KR" altLang="en-US" i="1">
                              <a:latin typeface="Cambria Math" panose="02040503050406030204" pitchFamily="18" charset="0"/>
                            </a:rPr>
                          </m:ctrlPr>
                        </m:dPr>
                        <m:e>
                          <m:r>
                            <a:rPr lang="ko-Kore-KR" altLang="en-US" i="1">
                              <a:latin typeface="Cambria Math" panose="02040503050406030204" pitchFamily="18" charset="0"/>
                            </a:rPr>
                            <m:t>𝑥</m:t>
                          </m:r>
                        </m:e>
                      </m:d>
                      <m:r>
                        <a:rPr lang="ko-Kore-KR" altLang="en-US" i="0">
                          <a:latin typeface="Cambria Math" panose="02040503050406030204" pitchFamily="18" charset="0"/>
                        </a:rPr>
                        <m:t>=</m:t>
                      </m:r>
                      <m:nary>
                        <m:naryPr>
                          <m:chr m:val="∑"/>
                          <m:limLoc m:val="subSup"/>
                          <m:grow m:val="on"/>
                          <m:ctrlPr>
                            <a:rPr lang="ko-Kore-KR" altLang="en-US" i="1">
                              <a:latin typeface="Cambria Math" panose="02040503050406030204" pitchFamily="18" charset="0"/>
                            </a:rPr>
                          </m:ctrlPr>
                        </m:naryPr>
                        <m:sub>
                          <m:r>
                            <a:rPr lang="ko-Kore-KR" altLang="en-US" i="1">
                              <a:latin typeface="Cambria Math" panose="02040503050406030204" pitchFamily="18" charset="0"/>
                            </a:rPr>
                            <m:t>𝑚</m:t>
                          </m:r>
                          <m:r>
                            <a:rPr lang="ko-Kore-KR" altLang="en-US" i="0">
                              <a:latin typeface="Cambria Math" panose="02040503050406030204" pitchFamily="18" charset="0"/>
                            </a:rPr>
                            <m:t>=1</m:t>
                          </m:r>
                        </m:sub>
                        <m:sup>
                          <m:r>
                            <a:rPr lang="ko-Kore-KR" altLang="en-US" i="1">
                              <a:latin typeface="Cambria Math" panose="02040503050406030204" pitchFamily="18" charset="0"/>
                            </a:rPr>
                            <m:t>𝑀</m:t>
                          </m:r>
                        </m:sup>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𝑐</m:t>
                              </m:r>
                            </m:e>
                            <m:sub>
                              <m:r>
                                <a:rPr lang="ko-Kore-KR" altLang="en-US" i="1">
                                  <a:latin typeface="Cambria Math" panose="02040503050406030204" pitchFamily="18" charset="0"/>
                                </a:rPr>
                                <m:t>𝑚</m:t>
                              </m:r>
                            </m:sub>
                          </m:sSub>
                        </m:e>
                      </m:nary>
                      <m:r>
                        <a:rPr lang="ko-Kore-KR" altLang="en-US" i="1">
                          <a:latin typeface="Cambria Math" panose="02040503050406030204" pitchFamily="18" charset="0"/>
                        </a:rPr>
                        <m:t>𝐼</m:t>
                      </m:r>
                      <m:d>
                        <m:dPr>
                          <m:ctrlPr>
                            <a:rPr lang="ko-Kore-KR" altLang="en-US" i="1">
                              <a:latin typeface="Cambria Math" panose="02040503050406030204" pitchFamily="18" charset="0"/>
                            </a:rPr>
                          </m:ctrlPr>
                        </m:dPr>
                        <m:e>
                          <m:r>
                            <a:rPr lang="ko-Kore-KR" altLang="en-US" i="1">
                              <a:latin typeface="Cambria Math" panose="02040503050406030204" pitchFamily="18" charset="0"/>
                            </a:rPr>
                            <m:t>𝑥</m:t>
                          </m:r>
                          <m:r>
                            <a:rPr lang="ko-Kore-KR" altLang="en-US" i="0">
                              <a:latin typeface="Cambria Math" panose="02040503050406030204" pitchFamily="18" charset="0"/>
                            </a:rPr>
                            <m:t>∈</m:t>
                          </m:r>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𝑅</m:t>
                              </m:r>
                            </m:e>
                            <m:sub>
                              <m:r>
                                <a:rPr lang="ko-Kore-KR" altLang="en-US" i="1">
                                  <a:latin typeface="Cambria Math" panose="02040503050406030204" pitchFamily="18" charset="0"/>
                                </a:rPr>
                                <m:t>𝑚</m:t>
                              </m:r>
                            </m:sub>
                          </m:sSub>
                        </m:e>
                      </m:d>
                    </m:oMath>
                  </m:oMathPara>
                </a14:m>
                <a:endParaRPr lang="ko-Kore-KR" altLang="en-US" dirty="0"/>
              </a:p>
            </p:txBody>
          </p:sp>
        </mc:Choice>
        <mc:Fallback>
          <p:sp>
            <p:nvSpPr>
              <p:cNvPr id="3" name="TextBox 2">
                <a:extLst>
                  <a:ext uri="{FF2B5EF4-FFF2-40B4-BE49-F238E27FC236}">
                    <a16:creationId xmlns:a16="http://schemas.microsoft.com/office/drawing/2014/main" id="{AC456DE1-C0FE-2FC4-C58E-2EBE222BD123}"/>
                  </a:ext>
                </a:extLst>
              </p:cNvPr>
              <p:cNvSpPr txBox="1">
                <a:spLocks noRot="1" noChangeAspect="1" noMove="1" noResize="1" noEditPoints="1" noAdjustHandles="1" noChangeArrowheads="1" noChangeShapeType="1" noTextEdit="1"/>
              </p:cNvSpPr>
              <p:nvPr/>
            </p:nvSpPr>
            <p:spPr>
              <a:xfrm>
                <a:off x="3900366" y="4337856"/>
                <a:ext cx="4105513" cy="690767"/>
              </a:xfrm>
              <a:prstGeom prst="rect">
                <a:avLst/>
              </a:prstGeom>
              <a:blipFill>
                <a:blip r:embed="rId3"/>
                <a:stretch>
                  <a:fillRect b="-15044"/>
                </a:stretch>
              </a:blipFill>
            </p:spPr>
            <p:txBody>
              <a:bodyPr/>
              <a:lstStyle/>
              <a:p>
                <a:r>
                  <a:rPr lang="ko-KR" altLang="en-US">
                    <a:noFill/>
                  </a:rPr>
                  <a:t> </a:t>
                </a:r>
              </a:p>
            </p:txBody>
          </p:sp>
        </mc:Fallback>
      </mc:AlternateContent>
      <p:sp>
        <p:nvSpPr>
          <p:cNvPr id="5" name="Rectangle 2">
            <a:extLst>
              <a:ext uri="{FF2B5EF4-FFF2-40B4-BE49-F238E27FC236}">
                <a16:creationId xmlns:a16="http://schemas.microsoft.com/office/drawing/2014/main" id="{E6144ECB-F94F-398E-DBE6-F2800270CAB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CART</a:t>
            </a:r>
            <a:r>
              <a:rPr lang="zh-CN" altLang="en-US" dirty="0">
                <a:solidFill>
                  <a:schemeClr val="tx1"/>
                </a:solidFill>
                <a:latin typeface="KaiTi" panose="02010609060101010101" pitchFamily="49" charset="-122"/>
                <a:ea typeface="KaiTi" panose="02010609060101010101" pitchFamily="49" charset="-122"/>
              </a:rPr>
              <a:t>算法回归</a:t>
            </a:r>
          </a:p>
        </p:txBody>
      </p:sp>
    </p:spTree>
    <p:extLst>
      <p:ext uri="{BB962C8B-B14F-4D97-AF65-F5344CB8AC3E}">
        <p14:creationId xmlns:p14="http://schemas.microsoft.com/office/powerpoint/2010/main" val="2042492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2" descr="[公式]">
            <a:extLst>
              <a:ext uri="{FF2B5EF4-FFF2-40B4-BE49-F238E27FC236}">
                <a16:creationId xmlns:a16="http://schemas.microsoft.com/office/drawing/2014/main" id="{750AF12C-184B-4929-958B-2328A8E0588C}"/>
              </a:ext>
            </a:extLst>
          </p:cNvPr>
          <p:cNvSpPr>
            <a:spLocks noChangeAspect="1" noChangeArrowheads="1"/>
          </p:cNvSpPr>
          <p:nvPr/>
        </p:nvSpPr>
        <p:spPr bwMode="auto">
          <a:xfrm>
            <a:off x="4130511"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3" descr="[公式]">
            <a:extLst>
              <a:ext uri="{FF2B5EF4-FFF2-40B4-BE49-F238E27FC236}">
                <a16:creationId xmlns:a16="http://schemas.microsoft.com/office/drawing/2014/main" id="{69807880-654C-4C4E-AEC6-D60A785DBACE}"/>
              </a:ext>
            </a:extLst>
          </p:cNvPr>
          <p:cNvSpPr>
            <a:spLocks noChangeAspect="1" noChangeArrowheads="1"/>
          </p:cNvSpPr>
          <p:nvPr/>
        </p:nvSpPr>
        <p:spPr bwMode="auto">
          <a:xfrm>
            <a:off x="12490286"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AutoShape 4" descr="[公式]">
            <a:extLst>
              <a:ext uri="{FF2B5EF4-FFF2-40B4-BE49-F238E27FC236}">
                <a16:creationId xmlns:a16="http://schemas.microsoft.com/office/drawing/2014/main" id="{8113FEE6-1D2A-4A41-B6CA-C72DB6385BAF}"/>
              </a:ext>
            </a:extLst>
          </p:cNvPr>
          <p:cNvSpPr>
            <a:spLocks noChangeAspect="1" noChangeArrowheads="1"/>
          </p:cNvSpPr>
          <p:nvPr/>
        </p:nvSpPr>
        <p:spPr bwMode="auto">
          <a:xfrm>
            <a:off x="119681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5" descr="[公式]">
            <a:extLst>
              <a:ext uri="{FF2B5EF4-FFF2-40B4-BE49-F238E27FC236}">
                <a16:creationId xmlns:a16="http://schemas.microsoft.com/office/drawing/2014/main" id="{D2F63B6E-1125-4DB5-9BFD-893DD9A2B32B}"/>
              </a:ext>
            </a:extLst>
          </p:cNvPr>
          <p:cNvSpPr>
            <a:spLocks noChangeAspect="1" noChangeArrowheads="1"/>
          </p:cNvSpPr>
          <p:nvPr/>
        </p:nvSpPr>
        <p:spPr bwMode="auto">
          <a:xfrm>
            <a:off x="201278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a:extLst>
              <a:ext uri="{FF2B5EF4-FFF2-40B4-BE49-F238E27FC236}">
                <a16:creationId xmlns:a16="http://schemas.microsoft.com/office/drawing/2014/main" id="{8940625E-3A9E-4EEB-A798-A185FBD83084}"/>
              </a:ext>
            </a:extLst>
          </p:cNvPr>
          <p:cNvSpPr>
            <a:spLocks noChangeAspect="1" noChangeArrowheads="1"/>
          </p:cNvSpPr>
          <p:nvPr/>
        </p:nvSpPr>
        <p:spPr bwMode="auto">
          <a:xfrm>
            <a:off x="442896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AutoShape 7" descr="[公式]">
            <a:extLst>
              <a:ext uri="{FF2B5EF4-FFF2-40B4-BE49-F238E27FC236}">
                <a16:creationId xmlns:a16="http://schemas.microsoft.com/office/drawing/2014/main" id="{8531FE39-3BA9-4F58-97E7-9FA6D5333D50}"/>
              </a:ext>
            </a:extLst>
          </p:cNvPr>
          <p:cNvSpPr>
            <a:spLocks noChangeAspect="1" noChangeArrowheads="1"/>
          </p:cNvSpPr>
          <p:nvPr/>
        </p:nvSpPr>
        <p:spPr bwMode="auto">
          <a:xfrm>
            <a:off x="524493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AutoShape 8" descr="[公式]">
            <a:extLst>
              <a:ext uri="{FF2B5EF4-FFF2-40B4-BE49-F238E27FC236}">
                <a16:creationId xmlns:a16="http://schemas.microsoft.com/office/drawing/2014/main" id="{15E02959-0139-4DDA-AC8D-60D69AAA5A22}"/>
              </a:ext>
            </a:extLst>
          </p:cNvPr>
          <p:cNvSpPr>
            <a:spLocks noChangeAspect="1" noChangeArrowheads="1"/>
          </p:cNvSpPr>
          <p:nvPr/>
        </p:nvSpPr>
        <p:spPr bwMode="auto">
          <a:xfrm>
            <a:off x="7216611"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AutoShape 9" descr="[公式]">
            <a:extLst>
              <a:ext uri="{FF2B5EF4-FFF2-40B4-BE49-F238E27FC236}">
                <a16:creationId xmlns:a16="http://schemas.microsoft.com/office/drawing/2014/main" id="{92BC33E5-EF18-449E-A5AA-4DBFA96FC2D8}"/>
              </a:ext>
            </a:extLst>
          </p:cNvPr>
          <p:cNvSpPr>
            <a:spLocks noChangeAspect="1" noChangeArrowheads="1"/>
          </p:cNvSpPr>
          <p:nvPr/>
        </p:nvSpPr>
        <p:spPr bwMode="auto">
          <a:xfrm>
            <a:off x="10089986" y="302616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AutoShape 10" descr="[公式]">
            <a:extLst>
              <a:ext uri="{FF2B5EF4-FFF2-40B4-BE49-F238E27FC236}">
                <a16:creationId xmlns:a16="http://schemas.microsoft.com/office/drawing/2014/main" id="{CCCABC26-E013-40C8-B106-E6837069AE2B}"/>
              </a:ext>
            </a:extLst>
          </p:cNvPr>
          <p:cNvSpPr>
            <a:spLocks noChangeAspect="1" noChangeArrowheads="1"/>
          </p:cNvSpPr>
          <p:nvPr/>
        </p:nvSpPr>
        <p:spPr bwMode="auto">
          <a:xfrm>
            <a:off x="447511" y="331509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Rectangle 2">
            <a:extLst>
              <a:ext uri="{FF2B5EF4-FFF2-40B4-BE49-F238E27FC236}">
                <a16:creationId xmlns:a16="http://schemas.microsoft.com/office/drawing/2014/main" id="{E6144ECB-F94F-398E-DBE6-F2800270CAB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CART</a:t>
            </a:r>
            <a:r>
              <a:rPr lang="zh-CN" altLang="en-US" dirty="0">
                <a:solidFill>
                  <a:schemeClr val="tx1"/>
                </a:solidFill>
              </a:rPr>
              <a:t>算法回归</a:t>
            </a:r>
          </a:p>
        </p:txBody>
      </p:sp>
      <p:pic>
        <p:nvPicPr>
          <p:cNvPr id="2" name="그림 1">
            <a:extLst>
              <a:ext uri="{FF2B5EF4-FFF2-40B4-BE49-F238E27FC236}">
                <a16:creationId xmlns:a16="http://schemas.microsoft.com/office/drawing/2014/main" id="{F1FB0E8C-C1ED-C878-C5B0-2BE8626D4EFB}"/>
              </a:ext>
            </a:extLst>
          </p:cNvPr>
          <p:cNvPicPr>
            <a:picLocks noChangeAspect="1"/>
          </p:cNvPicPr>
          <p:nvPr/>
        </p:nvPicPr>
        <p:blipFill>
          <a:blip r:embed="rId3"/>
          <a:stretch>
            <a:fillRect/>
          </a:stretch>
        </p:blipFill>
        <p:spPr>
          <a:xfrm>
            <a:off x="919723" y="1463812"/>
            <a:ext cx="9400858" cy="174944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4F86F7D-EAD2-4010-5C01-98FF4DCB350E}"/>
                  </a:ext>
                </a:extLst>
              </p:cNvPr>
              <p:cNvSpPr txBox="1"/>
              <p:nvPr/>
            </p:nvSpPr>
            <p:spPr>
              <a:xfrm>
                <a:off x="443878" y="3299247"/>
                <a:ext cx="8216292" cy="646331"/>
              </a:xfrm>
              <a:prstGeom prst="rect">
                <a:avLst/>
              </a:prstGeom>
              <a:noFill/>
            </p:spPr>
            <p:txBody>
              <a:bodyPr wrap="square">
                <a:spAutoFit/>
              </a:bodyPr>
              <a:lstStyle/>
              <a:p>
                <a:pPr indent="50800" algn="just" latinLnBrk="1"/>
                <a:r>
                  <a:rPr lang="zh-CN" altLang="ko-Kore-KR" sz="1800" kern="100">
                    <a:effectLst/>
                    <a:latin typeface="Calibri" panose="020F0502020204030204" pitchFamily="34" charset="0"/>
                    <a:ea typeface="KaiTi" panose="02010609060101010101" pitchFamily="49" charset="-122"/>
                    <a:cs typeface="Times New Roman" panose="02020603050405020304" pitchFamily="18" charset="0"/>
                  </a:rPr>
                  <a:t>候选切分点是中点：</a:t>
                </a:r>
                <a:endParaRPr lang="en-US" altLang="zh-CN" sz="1800" kern="100">
                  <a:effectLst/>
                  <a:latin typeface="Calibri" panose="020F0502020204030204" pitchFamily="34" charset="0"/>
                  <a:ea typeface="KaiTi" panose="02010609060101010101" pitchFamily="49" charset="-122"/>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𝑠</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 </m:t>
                      </m:r>
                      <m:r>
                        <a:rPr lang="zh-CN" altLang="ko-Kore-KR" sz="1800" kern="100">
                          <a:effectLst/>
                          <a:latin typeface="Cambria Math" panose="02040503050406030204" pitchFamily="18" charset="0"/>
                          <a:ea typeface="KaiTi" panose="02010609060101010101" pitchFamily="49" charset="-122"/>
                          <a:cs typeface="Times New Roman" panose="02020603050405020304" pitchFamily="18" charset="0"/>
                        </a:rPr>
                        <m:t>∈</m:t>
                      </m:r>
                      <m:r>
                        <m:rPr>
                          <m:lit/>
                        </m:rP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1.5,2.5,3.5,4.5,5.5,6.5,7.5,8.5,9.5</m:t>
                      </m:r>
                      <m:r>
                        <m:rPr>
                          <m:lit/>
                        </m:rP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m:t>
                      </m:r>
                    </m:oMath>
                  </m:oMathPara>
                </a14:m>
                <a:endParaRPr lang="en-US" altLang="ko-Kore-KR" sz="1800" kern="100">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54F86F7D-EAD2-4010-5C01-98FF4DCB350E}"/>
                  </a:ext>
                </a:extLst>
              </p:cNvPr>
              <p:cNvSpPr txBox="1">
                <a:spLocks noRot="1" noChangeAspect="1" noMove="1" noResize="1" noEditPoints="1" noAdjustHandles="1" noChangeArrowheads="1" noChangeShapeType="1" noTextEdit="1"/>
              </p:cNvSpPr>
              <p:nvPr/>
            </p:nvSpPr>
            <p:spPr>
              <a:xfrm>
                <a:off x="443878" y="3299247"/>
                <a:ext cx="8216292" cy="646331"/>
              </a:xfrm>
              <a:prstGeom prst="rect">
                <a:avLst/>
              </a:prstGeom>
              <a:blipFill>
                <a:blip r:embed="rId4"/>
                <a:stretch>
                  <a:fillRect t="-7692" b="-961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E35B738-15BB-9CB9-EF6D-F84FBF16CEBF}"/>
                  </a:ext>
                </a:extLst>
              </p:cNvPr>
              <p:cNvSpPr txBox="1"/>
              <p:nvPr/>
            </p:nvSpPr>
            <p:spPr>
              <a:xfrm>
                <a:off x="6613705" y="4026939"/>
                <a:ext cx="5233744" cy="1298625"/>
              </a:xfrm>
              <a:prstGeom prst="rect">
                <a:avLst/>
              </a:prstGeom>
              <a:noFill/>
            </p:spPr>
            <p:txBody>
              <a:bodyPr wrap="square">
                <a:spAutoFit/>
              </a:bodyPr>
              <a:lstStyle/>
              <a:p>
                <a:pPr indent="50800" algn="just" latinLnBrk="1"/>
                <a:r>
                  <a:rPr lang="ko-KR" altLang="en-US" sz="1600" kern="100">
                    <a:effectLst/>
                    <a:latin typeface="KaiTi" panose="02010609060101010101" pitchFamily="49" charset="-122"/>
                    <a:ea typeface="KaiTi" panose="02010609060101010101" pitchFamily="49" charset="-122"/>
                    <a:cs typeface="Times New Roman" panose="02020603050405020304" pitchFamily="18" charset="0"/>
                  </a:rPr>
                  <a:t>右边 𝑥</a:t>
                </a:r>
                <a:r>
                  <a:rPr lang="en-US" altLang="ko-KR" sz="1600" kern="100">
                    <a:effectLst/>
                    <a:latin typeface="KaiTi" panose="02010609060101010101" pitchFamily="49" charset="-122"/>
                    <a:ea typeface="KaiTi" panose="02010609060101010101" pitchFamily="49" charset="-122"/>
                    <a:cs typeface="Times New Roman" panose="02020603050405020304" pitchFamily="18" charset="0"/>
                  </a:rPr>
                  <a:t>1&gt;4.5</a:t>
                </a:r>
                <a:r>
                  <a:rPr lang="ko-Kore-KR" altLang="en-US" sz="1600" kern="100">
                    <a:effectLst/>
                    <a:latin typeface="KaiTi" panose="02010609060101010101" pitchFamily="49" charset="-122"/>
                    <a:ea typeface="KaiTi" panose="02010609060101010101" pitchFamily="49" charset="-122"/>
                    <a:cs typeface="Times New Roman" panose="02020603050405020304" pitchFamily="18" charset="0"/>
                  </a:rPr>
                  <a:t>：</a:t>
                </a:r>
                <a:r>
                  <a:rPr lang="ko-KR" altLang="en-US" sz="1600" kern="100">
                    <a:effectLst/>
                    <a:latin typeface="KaiTi" panose="02010609060101010101" pitchFamily="49" charset="-122"/>
                    <a:ea typeface="KaiTi" panose="02010609060101010101" pitchFamily="49" charset="-122"/>
                    <a:cs typeface="Times New Roman" panose="02020603050405020304" pitchFamily="18" charset="0"/>
                  </a:rPr>
                  <a:t>样本 </a:t>
                </a:r>
                <a:r>
                  <a:rPr lang="en-US" altLang="ko-KR" sz="1600" kern="100">
                    <a:effectLst/>
                    <a:latin typeface="KaiTi" panose="02010609060101010101" pitchFamily="49" charset="-122"/>
                    <a:ea typeface="KaiTi" panose="02010609060101010101" pitchFamily="49" charset="-122"/>
                    <a:cs typeface="Times New Roman" panose="02020603050405020304" pitchFamily="18" charset="0"/>
                  </a:rPr>
                  <a:t>5–10</a:t>
                </a:r>
                <a:endParaRPr lang="en-US" altLang="ko-Kore-KR" sz="1600" i="1" kern="100">
                  <a:effectLst/>
                  <a:latin typeface="Cambria Math" panose="02040503050406030204" pitchFamily="18" charset="0"/>
                  <a:ea typeface="Cambria Math" panose="02040503050406030204" pitchFamily="18" charset="0"/>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𝑅</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d>
                        <m:dPr>
                          <m:begChr m:val="["/>
                          <m:endChr m:val="]"/>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5.80,7.05,7.90,8.23,8.70,9.00</m:t>
                          </m:r>
                        </m:e>
                      </m:d>
                    </m:oMath>
                  </m:oMathPara>
                </a14:m>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r>
                  <a:rPr lang="en-US" altLang="ko-Kore-KR" sz="1600" kern="100">
                    <a:effectLst/>
                    <a:latin typeface="KaiTi" panose="02010609060101010101" pitchFamily="49" charset="-122"/>
                    <a:ea typeface="맑은 고딕" panose="020B0503020000020004" pitchFamily="34" charset="-127"/>
                    <a:cs typeface="Times New Roman" panose="02020603050405020304" pitchFamily="18" charset="0"/>
                  </a:rPr>
                  <a:t> </a:t>
                </a:r>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𝑐</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𝑅</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5.80+7.05+7.90+8.23+8.70+9.00</m:t>
                          </m:r>
                        </m:num>
                        <m:den>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6</m:t>
                          </m:r>
                        </m:den>
                      </m:f>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=7.78</m:t>
                      </m:r>
                    </m:oMath>
                  </m:oMathPara>
                </a14:m>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BE35B738-15BB-9CB9-EF6D-F84FBF16CEBF}"/>
                  </a:ext>
                </a:extLst>
              </p:cNvPr>
              <p:cNvSpPr txBox="1">
                <a:spLocks noRot="1" noChangeAspect="1" noMove="1" noResize="1" noEditPoints="1" noAdjustHandles="1" noChangeArrowheads="1" noChangeShapeType="1" noTextEdit="1"/>
              </p:cNvSpPr>
              <p:nvPr/>
            </p:nvSpPr>
            <p:spPr>
              <a:xfrm>
                <a:off x="6613705" y="4026939"/>
                <a:ext cx="5233744" cy="1298625"/>
              </a:xfrm>
              <a:prstGeom prst="rect">
                <a:avLst/>
              </a:prstGeom>
              <a:blipFill>
                <a:blip r:embed="rId5"/>
                <a:stretch>
                  <a:fillRect t="-388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0D9C12C-F868-B537-95B4-3C7B87AD007B}"/>
                  </a:ext>
                </a:extLst>
              </p:cNvPr>
              <p:cNvSpPr txBox="1"/>
              <p:nvPr/>
            </p:nvSpPr>
            <p:spPr>
              <a:xfrm>
                <a:off x="344551" y="4056618"/>
                <a:ext cx="6394704" cy="1297022"/>
              </a:xfrm>
              <a:prstGeom prst="rect">
                <a:avLst/>
              </a:prstGeom>
              <a:noFill/>
            </p:spPr>
            <p:txBody>
              <a:bodyPr wrap="square">
                <a:spAutoFit/>
              </a:bodyPr>
              <a:lstStyle/>
              <a:p>
                <a:pPr indent="50800" algn="just" latinLnBrk="1"/>
                <a:r>
                  <a:rPr lang="en-US" altLang="zh-CN" sz="1600" kern="100" dirty="0">
                    <a:effectLst/>
                    <a:latin typeface="Calibri" panose="020F0502020204030204" pitchFamily="34" charset="0"/>
                    <a:ea typeface="KaiTi" panose="02010609060101010101" pitchFamily="49" charset="-122"/>
                    <a:cs typeface="Times New Roman" panose="02020603050405020304" pitchFamily="18" charset="0"/>
                  </a:rPr>
                  <a:t>S = 4.5, </a:t>
                </a:r>
                <a:r>
                  <a:rPr lang="ko-KR" altLang="en-US" sz="1600" kern="100" dirty="0">
                    <a:effectLst/>
                    <a:latin typeface="Calibri" panose="020F0502020204030204" pitchFamily="34" charset="0"/>
                    <a:ea typeface="KaiTi" panose="02010609060101010101" pitchFamily="49" charset="-122"/>
                    <a:cs typeface="Times New Roman" panose="02020603050405020304" pitchFamily="18" charset="0"/>
                  </a:rPr>
                  <a:t>左边 𝑥</a:t>
                </a:r>
                <a:r>
                  <a:rPr lang="en-US" altLang="ko-KR" sz="1600" kern="100" dirty="0">
                    <a:effectLst/>
                    <a:latin typeface="Calibri" panose="020F0502020204030204" pitchFamily="34" charset="0"/>
                    <a:ea typeface="KaiTi" panose="02010609060101010101" pitchFamily="49" charset="-122"/>
                    <a:cs typeface="Times New Roman" panose="02020603050405020304" pitchFamily="18" charset="0"/>
                  </a:rPr>
                  <a:t>1≤4.5</a:t>
                </a:r>
                <a:r>
                  <a:rPr lang="zh-CN" altLang="en-US" sz="1600" kern="100" dirty="0">
                    <a:effectLst/>
                    <a:latin typeface="Calibri" panose="020F0502020204030204" pitchFamily="34" charset="0"/>
                    <a:ea typeface="KaiTi" panose="02010609060101010101" pitchFamily="49" charset="-122"/>
                    <a:cs typeface="Times New Roman" panose="02020603050405020304" pitchFamily="18" charset="0"/>
                  </a:rPr>
                  <a:t>：</a:t>
                </a:r>
                <a:r>
                  <a:rPr lang="ko-KR" altLang="en-US" sz="1600" kern="100" dirty="0">
                    <a:effectLst/>
                    <a:latin typeface="Calibri" panose="020F0502020204030204" pitchFamily="34" charset="0"/>
                    <a:ea typeface="KaiTi" panose="02010609060101010101" pitchFamily="49" charset="-122"/>
                    <a:cs typeface="Times New Roman" panose="02020603050405020304" pitchFamily="18" charset="0"/>
                  </a:rPr>
                  <a:t>样本 </a:t>
                </a:r>
                <a:r>
                  <a:rPr lang="en-US" altLang="ko-KR" sz="1600" kern="100" dirty="0">
                    <a:effectLst/>
                    <a:latin typeface="Calibri" panose="020F0502020204030204" pitchFamily="34" charset="0"/>
                    <a:ea typeface="KaiTi" panose="02010609060101010101" pitchFamily="49" charset="-122"/>
                    <a:cs typeface="Times New Roman" panose="02020603050405020304" pitchFamily="18" charset="0"/>
                  </a:rPr>
                  <a:t>1–4</a:t>
                </a:r>
                <a:endParaRPr lang="ko-Kore-KR" altLang="ko-Kore-KR" sz="1600" kern="100" dirty="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𝐿</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d>
                        <m:dPr>
                          <m:begChr m:val="["/>
                          <m:endChr m:val="]"/>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4.50,4.75,4.91,5.34</m:t>
                          </m:r>
                        </m:e>
                      </m:d>
                    </m:oMath>
                  </m:oMathPara>
                </a14:m>
                <a:endParaRPr lang="ko-Kore-KR" altLang="ko-Kore-KR" sz="1600" kern="100" dirty="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r>
                  <a:rPr lang="en-US" altLang="ko-Kore-KR" sz="1600" kern="100" dirty="0">
                    <a:effectLst/>
                    <a:latin typeface="KaiTi" panose="02010609060101010101" pitchFamily="49" charset="-122"/>
                    <a:ea typeface="맑은 고딕" panose="020B0503020000020004" pitchFamily="34" charset="-127"/>
                    <a:cs typeface="Times New Roman" panose="02020603050405020304" pitchFamily="18" charset="0"/>
                  </a:rPr>
                  <a:t> </a:t>
                </a:r>
                <a:endParaRPr lang="ko-Kore-KR" altLang="ko-Kore-KR" sz="1600" kern="100" dirty="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𝑐</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𝐿</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4.50+4.75+4.91+5.34</m:t>
                          </m:r>
                        </m:num>
                        <m:den>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4</m:t>
                          </m:r>
                        </m:den>
                      </m:f>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=4.875</m:t>
                      </m:r>
                    </m:oMath>
                  </m:oMathPara>
                </a14:m>
                <a:endParaRPr lang="ko-Kore-KR" altLang="ko-Kore-KR" sz="1600" kern="100" dirty="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40D9C12C-F868-B537-95B4-3C7B87AD007B}"/>
                  </a:ext>
                </a:extLst>
              </p:cNvPr>
              <p:cNvSpPr txBox="1">
                <a:spLocks noRot="1" noChangeAspect="1" noMove="1" noResize="1" noEditPoints="1" noAdjustHandles="1" noChangeArrowheads="1" noChangeShapeType="1" noTextEdit="1"/>
              </p:cNvSpPr>
              <p:nvPr/>
            </p:nvSpPr>
            <p:spPr>
              <a:xfrm>
                <a:off x="344551" y="4056618"/>
                <a:ext cx="6394704" cy="1297022"/>
              </a:xfrm>
              <a:prstGeom prst="rect">
                <a:avLst/>
              </a:prstGeom>
              <a:blipFill>
                <a:blip r:embed="rId6"/>
                <a:stretch>
                  <a:fillRect t="-388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31DBBC9-232C-658E-BA3A-856C93A8ABB7}"/>
                  </a:ext>
                </a:extLst>
              </p:cNvPr>
              <p:cNvSpPr txBox="1"/>
              <p:nvPr/>
            </p:nvSpPr>
            <p:spPr>
              <a:xfrm>
                <a:off x="3188973" y="5473782"/>
                <a:ext cx="5471197" cy="1180964"/>
              </a:xfrm>
              <a:prstGeom prst="rect">
                <a:avLst/>
              </a:prstGeom>
              <a:noFill/>
            </p:spPr>
            <p:txBody>
              <a:bodyPr wrap="square">
                <a:spAutoFit/>
              </a:bodyPr>
              <a:lstStyle/>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nor/>
                            </m:rPr>
                            <a:rPr lang="en-US" altLang="ko-Kore-KR" sz="1600" kern="100">
                              <a:effectLst/>
                              <a:latin typeface="Cambria Math" panose="02040503050406030204" pitchFamily="18" charset="0"/>
                              <a:ea typeface="KaiTi" panose="02010609060101010101" pitchFamily="49" charset="-122"/>
                              <a:cs typeface="Times New Roman" panose="02020603050405020304" pitchFamily="18" charset="0"/>
                            </a:rPr>
                            <m:t>SSE</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𝐿</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nary>
                        <m:naryPr>
                          <m:chr m:val="∑"/>
                          <m:subHide m:val="on"/>
                          <m:supHide m:val="on"/>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up/>
                        <m:e>
                          <m:sSup>
                            <m:sSup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𝑖</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𝑐</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𝐿</m:t>
                                      </m:r>
                                    </m:sub>
                                  </m:sSub>
                                </m:e>
                              </m:d>
                            </m:e>
                            <m:sup>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2</m:t>
                              </m:r>
                            </m:sup>
                          </m:sSup>
                        </m:e>
                      </m:nary>
                      <m:r>
                        <a:rPr lang="zh-CN" altLang="ko-Kore-KR" sz="1600"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0.3737</m:t>
                      </m:r>
                      <m:r>
                        <a:rPr lang="zh-CN" altLang="en-US" sz="1600" b="0" i="0" kern="100">
                          <a:effectLst/>
                          <a:latin typeface="Cambria Math" panose="02040503050406030204" pitchFamily="18" charset="0"/>
                          <a:ea typeface="KaiTi" panose="02010609060101010101" pitchFamily="49" charset="-122"/>
                          <a:cs typeface="Times New Roman" panose="02020603050405020304" pitchFamily="18" charset="0"/>
                        </a:rPr>
                        <m:t>；</m:t>
                      </m:r>
                      <m:r>
                        <a:rPr lang="zh-CN" altLang="en-US" sz="1600" b="0" i="0" kern="100">
                          <a:effectLst/>
                          <a:latin typeface="Cambria Math" panose="02040503050406030204" pitchFamily="18" charset="0"/>
                          <a:ea typeface="KaiTi" panose="02010609060101010101" pitchFamily="49" charset="-122"/>
                          <a:cs typeface="Times New Roman" panose="02020603050405020304" pitchFamily="18" charset="0"/>
                        </a:rPr>
                        <m:t> </m:t>
                      </m:r>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nor/>
                            </m:rPr>
                            <a:rPr lang="en-US" altLang="ko-Kore-KR" sz="1600" kern="100">
                              <a:effectLst/>
                              <a:latin typeface="Cambria Math" panose="02040503050406030204" pitchFamily="18" charset="0"/>
                              <a:ea typeface="KaiTi" panose="02010609060101010101" pitchFamily="49" charset="-122"/>
                              <a:cs typeface="Times New Roman" panose="02020603050405020304" pitchFamily="18" charset="0"/>
                            </a:rPr>
                            <m:t>SSE</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𝑅</m:t>
                          </m:r>
                        </m:sub>
                      </m:sSub>
                      <m:r>
                        <a:rPr lang="zh-CN" altLang="ko-Kore-KR" sz="1600"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7.005</m:t>
                      </m:r>
                    </m:oMath>
                  </m:oMathPara>
                </a14:m>
                <a:endParaRPr lang="ko-Kore-KR" altLang="ko-Kore-KR" sz="1600" kern="100" dirty="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r>
                  <a:rPr lang="en-US" altLang="ko-Kore-KR" sz="1600" kern="100" dirty="0">
                    <a:effectLst/>
                    <a:latin typeface="KaiTi" panose="02010609060101010101" pitchFamily="49" charset="-122"/>
                    <a:ea typeface="맑은 고딕" panose="020B0503020000020004" pitchFamily="34" charset="-127"/>
                    <a:cs typeface="Times New Roman" panose="02020603050405020304" pitchFamily="18" charset="0"/>
                  </a:rPr>
                  <a:t> </a:t>
                </a:r>
                <a:endParaRPr lang="ko-Kore-KR" altLang="ko-Kore-KR" sz="1600" kern="100" dirty="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r>
                        <m:rPr>
                          <m:nor/>
                        </m:rPr>
                        <a:rPr lang="en-US" altLang="ko-Kore-KR" sz="1600" kern="100">
                          <a:effectLst/>
                          <a:latin typeface="Cambria Math" panose="02040503050406030204" pitchFamily="18" charset="0"/>
                          <a:ea typeface="KaiTi" panose="02010609060101010101" pitchFamily="49" charset="-122"/>
                          <a:cs typeface="Times New Roman" panose="02020603050405020304" pitchFamily="18" charset="0"/>
                        </a:rPr>
                        <m:t>SSE</m:t>
                      </m:r>
                      <m:d>
                        <m:d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𝑠</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=4.5</m:t>
                          </m:r>
                        </m:e>
                      </m:d>
                      <m:r>
                        <a:rPr lang="zh-CN" altLang="ko-Kore-KR" sz="1600"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0.3737+7.005=7.379</m:t>
                      </m:r>
                    </m:oMath>
                  </m:oMathPara>
                </a14:m>
                <a:endParaRPr lang="ko-Kore-KR" altLang="ko-Kore-KR" sz="1600" kern="100" dirty="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F31DBBC9-232C-658E-BA3A-856C93A8ABB7}"/>
                  </a:ext>
                </a:extLst>
              </p:cNvPr>
              <p:cNvSpPr txBox="1">
                <a:spLocks noRot="1" noChangeAspect="1" noMove="1" noResize="1" noEditPoints="1" noAdjustHandles="1" noChangeArrowheads="1" noChangeShapeType="1" noTextEdit="1"/>
              </p:cNvSpPr>
              <p:nvPr/>
            </p:nvSpPr>
            <p:spPr>
              <a:xfrm>
                <a:off x="3188973" y="5473782"/>
                <a:ext cx="5471197" cy="1180964"/>
              </a:xfrm>
              <a:prstGeom prst="rect">
                <a:avLst/>
              </a:prstGeom>
              <a:blipFill>
                <a:blip r:embed="rId7"/>
                <a:stretch>
                  <a:fillRect t="-72340" b="-59574"/>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3342332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2" descr="[公式]">
            <a:extLst>
              <a:ext uri="{FF2B5EF4-FFF2-40B4-BE49-F238E27FC236}">
                <a16:creationId xmlns:a16="http://schemas.microsoft.com/office/drawing/2014/main" id="{750AF12C-184B-4929-958B-2328A8E0588C}"/>
              </a:ext>
            </a:extLst>
          </p:cNvPr>
          <p:cNvSpPr>
            <a:spLocks noChangeAspect="1" noChangeArrowheads="1"/>
          </p:cNvSpPr>
          <p:nvPr/>
        </p:nvSpPr>
        <p:spPr bwMode="auto">
          <a:xfrm>
            <a:off x="4130511"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3" descr="[公式]">
            <a:extLst>
              <a:ext uri="{FF2B5EF4-FFF2-40B4-BE49-F238E27FC236}">
                <a16:creationId xmlns:a16="http://schemas.microsoft.com/office/drawing/2014/main" id="{69807880-654C-4C4E-AEC6-D60A785DBACE}"/>
              </a:ext>
            </a:extLst>
          </p:cNvPr>
          <p:cNvSpPr>
            <a:spLocks noChangeAspect="1" noChangeArrowheads="1"/>
          </p:cNvSpPr>
          <p:nvPr/>
        </p:nvSpPr>
        <p:spPr bwMode="auto">
          <a:xfrm>
            <a:off x="12490286" y="24467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AutoShape 6" descr="[公式]">
            <a:extLst>
              <a:ext uri="{FF2B5EF4-FFF2-40B4-BE49-F238E27FC236}">
                <a16:creationId xmlns:a16="http://schemas.microsoft.com/office/drawing/2014/main" id="{8940625E-3A9E-4EEB-A798-A185FBD83084}"/>
              </a:ext>
            </a:extLst>
          </p:cNvPr>
          <p:cNvSpPr>
            <a:spLocks noChangeAspect="1" noChangeArrowheads="1"/>
          </p:cNvSpPr>
          <p:nvPr/>
        </p:nvSpPr>
        <p:spPr bwMode="auto">
          <a:xfrm>
            <a:off x="4428961"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AutoShape 7" descr="[公式]">
            <a:extLst>
              <a:ext uri="{FF2B5EF4-FFF2-40B4-BE49-F238E27FC236}">
                <a16:creationId xmlns:a16="http://schemas.microsoft.com/office/drawing/2014/main" id="{8531FE39-3BA9-4F58-97E7-9FA6D5333D50}"/>
              </a:ext>
            </a:extLst>
          </p:cNvPr>
          <p:cNvSpPr>
            <a:spLocks noChangeAspect="1" noChangeArrowheads="1"/>
          </p:cNvSpPr>
          <p:nvPr/>
        </p:nvSpPr>
        <p:spPr bwMode="auto">
          <a:xfrm>
            <a:off x="5244936" y="273565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AutoShape 8" descr="[公式]">
            <a:extLst>
              <a:ext uri="{FF2B5EF4-FFF2-40B4-BE49-F238E27FC236}">
                <a16:creationId xmlns:a16="http://schemas.microsoft.com/office/drawing/2014/main" id="{15E02959-0139-4DDA-AC8D-60D69AAA5A22}"/>
              </a:ext>
            </a:extLst>
          </p:cNvPr>
          <p:cNvSpPr>
            <a:spLocks noChangeAspect="1" noChangeArrowheads="1"/>
          </p:cNvSpPr>
          <p:nvPr/>
        </p:nvSpPr>
        <p:spPr bwMode="auto">
          <a:xfrm>
            <a:off x="7119075" y="144595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AutoShape 9" descr="[公式]">
            <a:extLst>
              <a:ext uri="{FF2B5EF4-FFF2-40B4-BE49-F238E27FC236}">
                <a16:creationId xmlns:a16="http://schemas.microsoft.com/office/drawing/2014/main" id="{92BC33E5-EF18-449E-A5AA-4DBFA96FC2D8}"/>
              </a:ext>
            </a:extLst>
          </p:cNvPr>
          <p:cNvSpPr>
            <a:spLocks noChangeAspect="1" noChangeArrowheads="1"/>
          </p:cNvSpPr>
          <p:nvPr/>
        </p:nvSpPr>
        <p:spPr bwMode="auto">
          <a:xfrm>
            <a:off x="9992450" y="144595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AutoShape 10" descr="[公式]">
            <a:extLst>
              <a:ext uri="{FF2B5EF4-FFF2-40B4-BE49-F238E27FC236}">
                <a16:creationId xmlns:a16="http://schemas.microsoft.com/office/drawing/2014/main" id="{CCCABC26-E013-40C8-B106-E6837069AE2B}"/>
              </a:ext>
            </a:extLst>
          </p:cNvPr>
          <p:cNvSpPr>
            <a:spLocks noChangeAspect="1" noChangeArrowheads="1"/>
          </p:cNvSpPr>
          <p:nvPr/>
        </p:nvSpPr>
        <p:spPr bwMode="auto">
          <a:xfrm>
            <a:off x="349975" y="173488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Rectangle 2">
            <a:extLst>
              <a:ext uri="{FF2B5EF4-FFF2-40B4-BE49-F238E27FC236}">
                <a16:creationId xmlns:a16="http://schemas.microsoft.com/office/drawing/2014/main" id="{E6144ECB-F94F-398E-DBE6-F2800270CAB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CART</a:t>
            </a:r>
            <a:r>
              <a:rPr lang="zh-CN" altLang="en-US" dirty="0">
                <a:solidFill>
                  <a:schemeClr val="tx1"/>
                </a:solidFill>
                <a:latin typeface="KaiTi" panose="02010609060101010101" pitchFamily="49" charset="-122"/>
                <a:ea typeface="KaiTi" panose="02010609060101010101" pitchFamily="49" charset="-122"/>
              </a:rPr>
              <a:t>算法回归</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28C1F40-2FD3-AD11-4DB5-D2C983B052B9}"/>
                  </a:ext>
                </a:extLst>
              </p:cNvPr>
              <p:cNvSpPr txBox="1"/>
              <p:nvPr/>
            </p:nvSpPr>
            <p:spPr>
              <a:xfrm>
                <a:off x="346342" y="1719038"/>
                <a:ext cx="8216292" cy="646331"/>
              </a:xfrm>
              <a:prstGeom prst="rect">
                <a:avLst/>
              </a:prstGeom>
              <a:noFill/>
            </p:spPr>
            <p:txBody>
              <a:bodyPr wrap="square">
                <a:spAutoFit/>
              </a:bodyPr>
              <a:lstStyle/>
              <a:p>
                <a:pPr indent="50800" algn="just" latinLnBrk="1"/>
                <a:r>
                  <a:rPr lang="zh-CN" altLang="ko-Kore-KR" sz="1800" kern="100">
                    <a:effectLst/>
                    <a:latin typeface="Calibri" panose="020F0502020204030204" pitchFamily="34" charset="0"/>
                    <a:ea typeface="KaiTi" panose="02010609060101010101" pitchFamily="49" charset="-122"/>
                    <a:cs typeface="Times New Roman" panose="02020603050405020304" pitchFamily="18" charset="0"/>
                  </a:rPr>
                  <a:t>候选切分点是中点：</a:t>
                </a:r>
                <a:endParaRPr lang="en-US" altLang="zh-CN" sz="1800" kern="100">
                  <a:effectLst/>
                  <a:latin typeface="Calibri" panose="020F0502020204030204" pitchFamily="34" charset="0"/>
                  <a:ea typeface="KaiTi" panose="02010609060101010101" pitchFamily="49" charset="-122"/>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𝑠</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 </m:t>
                      </m:r>
                      <m:r>
                        <a:rPr lang="zh-CN" altLang="ko-Kore-KR" sz="1800" kern="100">
                          <a:effectLst/>
                          <a:latin typeface="Cambria Math" panose="02040503050406030204" pitchFamily="18" charset="0"/>
                          <a:ea typeface="KaiTi" panose="02010609060101010101" pitchFamily="49" charset="-122"/>
                          <a:cs typeface="Times New Roman" panose="02020603050405020304" pitchFamily="18" charset="0"/>
                        </a:rPr>
                        <m:t>∈</m:t>
                      </m:r>
                      <m:r>
                        <m:rPr>
                          <m:lit/>
                        </m:rP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1.5,2.5,3.5,4.5,5.5,6.5,7.5,8.5,9.5</m:t>
                      </m:r>
                      <m:r>
                        <m:rPr>
                          <m:lit/>
                        </m:rPr>
                        <a:rPr lang="en-US" altLang="ko-Kore-KR" sz="1800" i="1" kern="100">
                          <a:effectLst/>
                          <a:latin typeface="Cambria Math" panose="02040503050406030204" pitchFamily="18" charset="0"/>
                          <a:ea typeface="KaiTi" panose="02010609060101010101" pitchFamily="49" charset="-122"/>
                          <a:cs typeface="Times New Roman" panose="02020603050405020304" pitchFamily="18" charset="0"/>
                        </a:rPr>
                        <m:t>}</m:t>
                      </m:r>
                    </m:oMath>
                  </m:oMathPara>
                </a14:m>
                <a:endParaRPr lang="en-US" altLang="ko-Kore-KR" sz="1800" kern="100">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228C1F40-2FD3-AD11-4DB5-D2C983B052B9}"/>
                  </a:ext>
                </a:extLst>
              </p:cNvPr>
              <p:cNvSpPr txBox="1">
                <a:spLocks noRot="1" noChangeAspect="1" noMove="1" noResize="1" noEditPoints="1" noAdjustHandles="1" noChangeArrowheads="1" noChangeShapeType="1" noTextEdit="1"/>
              </p:cNvSpPr>
              <p:nvPr/>
            </p:nvSpPr>
            <p:spPr>
              <a:xfrm>
                <a:off x="346342" y="1719038"/>
                <a:ext cx="8216292" cy="646331"/>
              </a:xfrm>
              <a:prstGeom prst="rect">
                <a:avLst/>
              </a:prstGeom>
              <a:blipFill>
                <a:blip r:embed="rId3"/>
                <a:stretch>
                  <a:fillRect t="-7692" b="-961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7C89FB2-FA3F-4A4D-F6C1-3468CF0B7FC3}"/>
                  </a:ext>
                </a:extLst>
              </p:cNvPr>
              <p:cNvSpPr txBox="1"/>
              <p:nvPr/>
            </p:nvSpPr>
            <p:spPr>
              <a:xfrm>
                <a:off x="6516169" y="2446730"/>
                <a:ext cx="5233744" cy="1298625"/>
              </a:xfrm>
              <a:prstGeom prst="rect">
                <a:avLst/>
              </a:prstGeom>
              <a:noFill/>
            </p:spPr>
            <p:txBody>
              <a:bodyPr wrap="square">
                <a:spAutoFit/>
              </a:bodyPr>
              <a:lstStyle/>
              <a:p>
                <a:pPr indent="50800" algn="just" latinLnBrk="1"/>
                <a:r>
                  <a:rPr lang="ko-KR" altLang="en-US" sz="1600" kern="100">
                    <a:effectLst/>
                    <a:latin typeface="KaiTi" panose="02010609060101010101" pitchFamily="49" charset="-122"/>
                    <a:ea typeface="KaiTi" panose="02010609060101010101" pitchFamily="49" charset="-122"/>
                    <a:cs typeface="Times New Roman" panose="02020603050405020304" pitchFamily="18" charset="0"/>
                  </a:rPr>
                  <a:t>右边 𝑥</a:t>
                </a:r>
                <a:r>
                  <a:rPr lang="en-US" altLang="ko-KR" sz="1600" kern="100">
                    <a:effectLst/>
                    <a:latin typeface="KaiTi" panose="02010609060101010101" pitchFamily="49" charset="-122"/>
                    <a:ea typeface="KaiTi" panose="02010609060101010101" pitchFamily="49" charset="-122"/>
                    <a:cs typeface="Times New Roman" panose="02020603050405020304" pitchFamily="18" charset="0"/>
                  </a:rPr>
                  <a:t>1&gt;4.5</a:t>
                </a:r>
                <a:r>
                  <a:rPr lang="ko-Kore-KR" altLang="en-US" sz="1600" kern="100">
                    <a:effectLst/>
                    <a:latin typeface="KaiTi" panose="02010609060101010101" pitchFamily="49" charset="-122"/>
                    <a:ea typeface="KaiTi" panose="02010609060101010101" pitchFamily="49" charset="-122"/>
                    <a:cs typeface="Times New Roman" panose="02020603050405020304" pitchFamily="18" charset="0"/>
                  </a:rPr>
                  <a:t>：</a:t>
                </a:r>
                <a:r>
                  <a:rPr lang="ko-KR" altLang="en-US" sz="1600" kern="100">
                    <a:effectLst/>
                    <a:latin typeface="KaiTi" panose="02010609060101010101" pitchFamily="49" charset="-122"/>
                    <a:ea typeface="KaiTi" panose="02010609060101010101" pitchFamily="49" charset="-122"/>
                    <a:cs typeface="Times New Roman" panose="02020603050405020304" pitchFamily="18" charset="0"/>
                  </a:rPr>
                  <a:t>样本 </a:t>
                </a:r>
                <a:r>
                  <a:rPr lang="en-US" altLang="ko-KR" sz="1600" kern="100">
                    <a:effectLst/>
                    <a:latin typeface="KaiTi" panose="02010609060101010101" pitchFamily="49" charset="-122"/>
                    <a:ea typeface="KaiTi" panose="02010609060101010101" pitchFamily="49" charset="-122"/>
                    <a:cs typeface="Times New Roman" panose="02020603050405020304" pitchFamily="18" charset="0"/>
                  </a:rPr>
                  <a:t>5–10</a:t>
                </a:r>
                <a:endParaRPr lang="en-US" altLang="ko-Kore-KR" sz="1600" i="1" kern="100">
                  <a:effectLst/>
                  <a:latin typeface="Cambria Math" panose="02040503050406030204" pitchFamily="18" charset="0"/>
                  <a:ea typeface="Cambria Math" panose="02040503050406030204" pitchFamily="18" charset="0"/>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𝑅</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d>
                        <m:dPr>
                          <m:begChr m:val="["/>
                          <m:endChr m:val="]"/>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7.05,7.90,8.23,8.70,9.00</m:t>
                          </m:r>
                        </m:e>
                      </m:d>
                    </m:oMath>
                  </m:oMathPara>
                </a14:m>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r>
                  <a:rPr lang="en-US" altLang="ko-Kore-KR" sz="1600" kern="100">
                    <a:effectLst/>
                    <a:latin typeface="KaiTi" panose="02010609060101010101" pitchFamily="49" charset="-122"/>
                    <a:ea typeface="맑은 고딕" panose="020B0503020000020004" pitchFamily="34" charset="-127"/>
                    <a:cs typeface="Times New Roman" panose="02020603050405020304" pitchFamily="18" charset="0"/>
                  </a:rPr>
                  <a:t> </a:t>
                </a:r>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latinLnBrk="1"/>
                <a14:m>
                  <m:oMathPara xmlns:m="http://schemas.openxmlformats.org/officeDocument/2006/math">
                    <m:oMathParaPr>
                      <m:jc m:val="centerGroup"/>
                    </m:oMathParaPr>
                    <m:oMath xmlns:m="http://schemas.openxmlformats.org/officeDocument/2006/math">
                      <m:sSub>
                        <m:sSubPr>
                          <m:ctrlPr>
                            <a:rPr lang="ko-Kore-KR" altLang="ko-Kore-KR" sz="1600" i="1">
                              <a:latin typeface="Cambria Math" panose="02040503050406030204" pitchFamily="18" charset="0"/>
                            </a:rPr>
                          </m:ctrlPr>
                        </m:sSubPr>
                        <m:e>
                          <m:r>
                            <a:rPr lang="en-US" altLang="ko-Kore-KR" sz="1600" i="1">
                              <a:latin typeface="Cambria Math" panose="02040503050406030204" pitchFamily="18" charset="0"/>
                            </a:rPr>
                            <m:t>𝑐</m:t>
                          </m:r>
                        </m:e>
                        <m:sub>
                          <m:r>
                            <a:rPr lang="en-US" altLang="ko-Kore-KR" sz="1600" i="1">
                              <a:latin typeface="Cambria Math" panose="02040503050406030204" pitchFamily="18" charset="0"/>
                            </a:rPr>
                            <m:t>𝑅</m:t>
                          </m:r>
                        </m:sub>
                      </m:sSub>
                      <m:r>
                        <a:rPr lang="en-US" altLang="ko-Kore-KR" sz="1600" i="1">
                          <a:latin typeface="Cambria Math" panose="02040503050406030204" pitchFamily="18" charset="0"/>
                        </a:rPr>
                        <m:t>=</m:t>
                      </m:r>
                      <m:f>
                        <m:fPr>
                          <m:ctrlPr>
                            <a:rPr lang="ko-Kore-KR" altLang="ko-Kore-KR" sz="1600" i="1">
                              <a:latin typeface="Cambria Math" panose="02040503050406030204" pitchFamily="18" charset="0"/>
                            </a:rPr>
                          </m:ctrlPr>
                        </m:fPr>
                        <m:num>
                          <m:r>
                            <a:rPr lang="en-US" altLang="ko-Kore-KR" sz="1600" i="1">
                              <a:latin typeface="Cambria Math" panose="02040503050406030204" pitchFamily="18" charset="0"/>
                            </a:rPr>
                            <m:t>7.05+7.90+8.23+8.70+9.00</m:t>
                          </m:r>
                        </m:num>
                        <m:den>
                          <m:r>
                            <a:rPr lang="en-US" altLang="ko-Kore-KR" sz="1600" i="1">
                              <a:latin typeface="Cambria Math" panose="02040503050406030204" pitchFamily="18" charset="0"/>
                            </a:rPr>
                            <m:t>5</m:t>
                          </m:r>
                        </m:den>
                      </m:f>
                      <m:r>
                        <a:rPr lang="en-US" altLang="ko-Kore-KR" sz="1600" i="1">
                          <a:latin typeface="Cambria Math" panose="02040503050406030204" pitchFamily="18" charset="0"/>
                        </a:rPr>
                        <m:t>=8.176</m:t>
                      </m:r>
                    </m:oMath>
                  </m:oMathPara>
                </a14:m>
                <a:endParaRPr lang="ko-Kore-KR" altLang="ko-Kore-KR" sz="1600"/>
              </a:p>
            </p:txBody>
          </p:sp>
        </mc:Choice>
        <mc:Fallback xmlns="">
          <p:sp>
            <p:nvSpPr>
              <p:cNvPr id="20" name="TextBox 19">
                <a:extLst>
                  <a:ext uri="{FF2B5EF4-FFF2-40B4-BE49-F238E27FC236}">
                    <a16:creationId xmlns:a16="http://schemas.microsoft.com/office/drawing/2014/main" id="{17C89FB2-FA3F-4A4D-F6C1-3468CF0B7FC3}"/>
                  </a:ext>
                </a:extLst>
              </p:cNvPr>
              <p:cNvSpPr txBox="1">
                <a:spLocks noRot="1" noChangeAspect="1" noMove="1" noResize="1" noEditPoints="1" noAdjustHandles="1" noChangeArrowheads="1" noChangeShapeType="1" noTextEdit="1"/>
              </p:cNvSpPr>
              <p:nvPr/>
            </p:nvSpPr>
            <p:spPr>
              <a:xfrm>
                <a:off x="6516169" y="2446730"/>
                <a:ext cx="5233744" cy="1298625"/>
              </a:xfrm>
              <a:prstGeom prst="rect">
                <a:avLst/>
              </a:prstGeom>
              <a:blipFill>
                <a:blip r:embed="rId4"/>
                <a:stretch>
                  <a:fillRect t="-2913" b="-971"/>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FBD1AEA-ED42-B870-624F-7E63DC10971C}"/>
                  </a:ext>
                </a:extLst>
              </p:cNvPr>
              <p:cNvSpPr txBox="1"/>
              <p:nvPr/>
            </p:nvSpPr>
            <p:spPr>
              <a:xfrm>
                <a:off x="247015" y="2476409"/>
                <a:ext cx="6394704" cy="1298625"/>
              </a:xfrm>
              <a:prstGeom prst="rect">
                <a:avLst/>
              </a:prstGeom>
              <a:noFill/>
            </p:spPr>
            <p:txBody>
              <a:bodyPr wrap="square">
                <a:spAutoFit/>
              </a:bodyPr>
              <a:lstStyle/>
              <a:p>
                <a:pPr indent="50800" algn="just" latinLnBrk="1"/>
                <a:r>
                  <a:rPr lang="en-US" altLang="zh-CN" sz="1600" kern="100">
                    <a:effectLst/>
                    <a:latin typeface="Calibri" panose="020F0502020204030204" pitchFamily="34" charset="0"/>
                    <a:ea typeface="KaiTi" panose="02010609060101010101" pitchFamily="49" charset="-122"/>
                    <a:cs typeface="Times New Roman" panose="02020603050405020304" pitchFamily="18" charset="0"/>
                  </a:rPr>
                  <a:t>S = 5.5, </a:t>
                </a:r>
                <a:r>
                  <a:rPr lang="ko-KR" altLang="en-US" sz="1600" kern="100">
                    <a:effectLst/>
                    <a:latin typeface="Calibri" panose="020F0502020204030204" pitchFamily="34" charset="0"/>
                    <a:ea typeface="KaiTi" panose="02010609060101010101" pitchFamily="49" charset="-122"/>
                    <a:cs typeface="Times New Roman" panose="02020603050405020304" pitchFamily="18" charset="0"/>
                  </a:rPr>
                  <a:t>左边 𝑥</a:t>
                </a:r>
                <a:r>
                  <a:rPr lang="en-US" altLang="ko-KR" sz="1600" kern="100">
                    <a:effectLst/>
                    <a:latin typeface="Calibri" panose="020F0502020204030204" pitchFamily="34" charset="0"/>
                    <a:ea typeface="KaiTi" panose="02010609060101010101" pitchFamily="49" charset="-122"/>
                    <a:cs typeface="Times New Roman" panose="02020603050405020304" pitchFamily="18" charset="0"/>
                  </a:rPr>
                  <a:t>1≤</a:t>
                </a:r>
                <a:r>
                  <a:rPr lang="en-US" altLang="zh-CN" sz="1600" kern="100">
                    <a:effectLst/>
                    <a:latin typeface="Calibri" panose="020F0502020204030204" pitchFamily="34" charset="0"/>
                    <a:ea typeface="KaiTi" panose="02010609060101010101" pitchFamily="49" charset="-122"/>
                    <a:cs typeface="Times New Roman" panose="02020603050405020304" pitchFamily="18" charset="0"/>
                  </a:rPr>
                  <a:t>5</a:t>
                </a:r>
                <a:r>
                  <a:rPr lang="en-US" altLang="ko-KR" sz="1600" kern="100">
                    <a:effectLst/>
                    <a:latin typeface="Calibri" panose="020F0502020204030204" pitchFamily="34" charset="0"/>
                    <a:ea typeface="KaiTi" panose="02010609060101010101" pitchFamily="49" charset="-122"/>
                    <a:cs typeface="Times New Roman" panose="02020603050405020304" pitchFamily="18" charset="0"/>
                  </a:rPr>
                  <a:t>.5</a:t>
                </a:r>
                <a:r>
                  <a:rPr lang="zh-CN" altLang="en-US" sz="1600" kern="100">
                    <a:effectLst/>
                    <a:latin typeface="Calibri" panose="020F0502020204030204" pitchFamily="34" charset="0"/>
                    <a:ea typeface="KaiTi" panose="02010609060101010101" pitchFamily="49" charset="-122"/>
                    <a:cs typeface="Times New Roman" panose="02020603050405020304" pitchFamily="18" charset="0"/>
                  </a:rPr>
                  <a:t>：</a:t>
                </a:r>
                <a:r>
                  <a:rPr lang="ko-KR" altLang="en-US" sz="1600" kern="100">
                    <a:effectLst/>
                    <a:latin typeface="Calibri" panose="020F0502020204030204" pitchFamily="34" charset="0"/>
                    <a:ea typeface="KaiTi" panose="02010609060101010101" pitchFamily="49" charset="-122"/>
                    <a:cs typeface="Times New Roman" panose="02020603050405020304" pitchFamily="18" charset="0"/>
                  </a:rPr>
                  <a:t>样本 </a:t>
                </a:r>
                <a:r>
                  <a:rPr lang="en-US" altLang="ko-KR" sz="1600" kern="100">
                    <a:effectLst/>
                    <a:latin typeface="Calibri" panose="020F0502020204030204" pitchFamily="34" charset="0"/>
                    <a:ea typeface="KaiTi" panose="02010609060101010101" pitchFamily="49" charset="-122"/>
                    <a:cs typeface="Times New Roman" panose="02020603050405020304" pitchFamily="18" charset="0"/>
                  </a:rPr>
                  <a:t>1–</a:t>
                </a:r>
                <a:r>
                  <a:rPr lang="en-US" altLang="zh-CN" sz="1600" kern="100">
                    <a:effectLst/>
                    <a:latin typeface="Calibri" panose="020F0502020204030204" pitchFamily="34" charset="0"/>
                    <a:ea typeface="KaiTi" panose="02010609060101010101" pitchFamily="49" charset="-122"/>
                    <a:cs typeface="Times New Roman" panose="02020603050405020304" pitchFamily="18" charset="0"/>
                  </a:rPr>
                  <a:t>5</a:t>
                </a:r>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𝐿</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d>
                        <m:dPr>
                          <m:begChr m:val="["/>
                          <m:endChr m:val="]"/>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4.50,4.75,4.91,5.3</m:t>
                          </m:r>
                          <m:r>
                            <a:rPr lang="en-US" altLang="ko-Kore-KR" sz="1600" b="0" i="1"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zh-CN" sz="1600" b="0" i="1" kern="100">
                              <a:effectLst/>
                              <a:latin typeface="Cambria Math" panose="02040503050406030204" pitchFamily="18" charset="0"/>
                              <a:ea typeface="KaiTi" panose="02010609060101010101" pitchFamily="49" charset="-122"/>
                              <a:cs typeface="Times New Roman" panose="02020603050405020304" pitchFamily="18" charset="0"/>
                            </a:rPr>
                            <m:t>5.80</m:t>
                          </m:r>
                        </m:e>
                      </m:d>
                    </m:oMath>
                  </m:oMathPara>
                </a14:m>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r>
                  <a:rPr lang="en-US" altLang="ko-Kore-KR" sz="1600" kern="100">
                    <a:effectLst/>
                    <a:latin typeface="KaiTi" panose="02010609060101010101" pitchFamily="49" charset="-122"/>
                    <a:ea typeface="맑은 고딕" panose="020B0503020000020004" pitchFamily="34" charset="-127"/>
                    <a:cs typeface="Times New Roman" panose="02020603050405020304" pitchFamily="18" charset="0"/>
                  </a:rPr>
                  <a:t> </a:t>
                </a:r>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latinLnBrk="1"/>
                <a14:m>
                  <m:oMathPara xmlns:m="http://schemas.openxmlformats.org/officeDocument/2006/math">
                    <m:oMathParaPr>
                      <m:jc m:val="centerGroup"/>
                    </m:oMathParaPr>
                    <m:oMath xmlns:m="http://schemas.openxmlformats.org/officeDocument/2006/math">
                      <m:sSub>
                        <m:sSubPr>
                          <m:ctrlPr>
                            <a:rPr lang="ko-Kore-KR" altLang="ko-Kore-KR" sz="1600" i="1">
                              <a:latin typeface="Cambria Math" panose="02040503050406030204" pitchFamily="18" charset="0"/>
                            </a:rPr>
                          </m:ctrlPr>
                        </m:sSubPr>
                        <m:e>
                          <m:r>
                            <a:rPr lang="en-US" altLang="ko-Kore-KR" sz="1600" i="1">
                              <a:latin typeface="Cambria Math" panose="02040503050406030204" pitchFamily="18" charset="0"/>
                            </a:rPr>
                            <m:t>𝑐</m:t>
                          </m:r>
                        </m:e>
                        <m:sub>
                          <m:r>
                            <a:rPr lang="en-US" altLang="ko-Kore-KR" sz="1600" i="1">
                              <a:latin typeface="Cambria Math" panose="02040503050406030204" pitchFamily="18" charset="0"/>
                            </a:rPr>
                            <m:t>𝐿</m:t>
                          </m:r>
                        </m:sub>
                      </m:sSub>
                      <m:r>
                        <a:rPr lang="en-US" altLang="ko-Kore-KR" sz="1600" i="1">
                          <a:latin typeface="Cambria Math" panose="02040503050406030204" pitchFamily="18" charset="0"/>
                        </a:rPr>
                        <m:t>=</m:t>
                      </m:r>
                      <m:f>
                        <m:fPr>
                          <m:ctrlPr>
                            <a:rPr lang="ko-Kore-KR" altLang="ko-Kore-KR" sz="1600" i="1">
                              <a:latin typeface="Cambria Math" panose="02040503050406030204" pitchFamily="18" charset="0"/>
                            </a:rPr>
                          </m:ctrlPr>
                        </m:fPr>
                        <m:num>
                          <m:r>
                            <a:rPr lang="en-US" altLang="ko-Kore-KR" sz="1600" i="1">
                              <a:latin typeface="Cambria Math" panose="02040503050406030204" pitchFamily="18" charset="0"/>
                            </a:rPr>
                            <m:t>4.50+4.75+4.91+5.34+5.80</m:t>
                          </m:r>
                        </m:num>
                        <m:den>
                          <m:r>
                            <a:rPr lang="en-US" altLang="ko-Kore-KR" sz="1600" i="1">
                              <a:latin typeface="Cambria Math" panose="02040503050406030204" pitchFamily="18" charset="0"/>
                            </a:rPr>
                            <m:t>5</m:t>
                          </m:r>
                        </m:den>
                      </m:f>
                      <m:r>
                        <a:rPr lang="en-US" altLang="ko-Kore-KR" sz="1600" i="1">
                          <a:latin typeface="Cambria Math" panose="02040503050406030204" pitchFamily="18" charset="0"/>
                        </a:rPr>
                        <m:t>=5.06</m:t>
                      </m:r>
                    </m:oMath>
                  </m:oMathPara>
                </a14:m>
                <a:endParaRPr lang="ko-Kore-KR" altLang="ko-Kore-KR" sz="1600"/>
              </a:p>
            </p:txBody>
          </p:sp>
        </mc:Choice>
        <mc:Fallback xmlns="">
          <p:sp>
            <p:nvSpPr>
              <p:cNvPr id="21" name="TextBox 20">
                <a:extLst>
                  <a:ext uri="{FF2B5EF4-FFF2-40B4-BE49-F238E27FC236}">
                    <a16:creationId xmlns:a16="http://schemas.microsoft.com/office/drawing/2014/main" id="{DFBD1AEA-ED42-B870-624F-7E63DC10971C}"/>
                  </a:ext>
                </a:extLst>
              </p:cNvPr>
              <p:cNvSpPr txBox="1">
                <a:spLocks noRot="1" noChangeAspect="1" noMove="1" noResize="1" noEditPoints="1" noAdjustHandles="1" noChangeArrowheads="1" noChangeShapeType="1" noTextEdit="1"/>
              </p:cNvSpPr>
              <p:nvPr/>
            </p:nvSpPr>
            <p:spPr>
              <a:xfrm>
                <a:off x="247015" y="2476409"/>
                <a:ext cx="6394704" cy="1298625"/>
              </a:xfrm>
              <a:prstGeom prst="rect">
                <a:avLst/>
              </a:prstGeom>
              <a:blipFill>
                <a:blip r:embed="rId5"/>
                <a:stretch>
                  <a:fillRect t="-2885" b="-96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EB5EAD4-562D-69A2-92D4-09D1DC48DC2D}"/>
                  </a:ext>
                </a:extLst>
              </p:cNvPr>
              <p:cNvSpPr txBox="1"/>
              <p:nvPr/>
            </p:nvSpPr>
            <p:spPr>
              <a:xfrm>
                <a:off x="3091437" y="3893573"/>
                <a:ext cx="5471197" cy="1180964"/>
              </a:xfrm>
              <a:prstGeom prst="rect">
                <a:avLst/>
              </a:prstGeom>
              <a:noFill/>
            </p:spPr>
            <p:txBody>
              <a:bodyPr wrap="square">
                <a:spAutoFit/>
              </a:bodyPr>
              <a:lstStyle/>
              <a:p>
                <a:pPr indent="50800" algn="just" latinLnBrk="1"/>
                <a14:m>
                  <m:oMathPara xmlns:m="http://schemas.openxmlformats.org/officeDocument/2006/math">
                    <m:oMathParaPr>
                      <m:jc m:val="centerGroup"/>
                    </m:oMathParaPr>
                    <m:oMath xmlns:m="http://schemas.openxmlformats.org/officeDocument/2006/math">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nor/>
                            </m:rPr>
                            <a:rPr lang="en-US" altLang="ko-Kore-KR" sz="1600" kern="100">
                              <a:effectLst/>
                              <a:latin typeface="Cambria Math" panose="02040503050406030204" pitchFamily="18" charset="0"/>
                              <a:ea typeface="KaiTi" panose="02010609060101010101" pitchFamily="49" charset="-122"/>
                              <a:cs typeface="Times New Roman" panose="02020603050405020304" pitchFamily="18" charset="0"/>
                            </a:rPr>
                            <m:t>SSE</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𝐿</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nary>
                        <m:naryPr>
                          <m:chr m:val="∑"/>
                          <m:subHide m:val="on"/>
                          <m:supHide m:val="on"/>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sup/>
                        <m:e>
                          <m:sSup>
                            <m:sSup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𝑖</m:t>
                                      </m:r>
                                    </m:sub>
                                  </m:s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𝑐</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𝐿</m:t>
                                      </m:r>
                                    </m:sub>
                                  </m:sSub>
                                </m:e>
                              </m:d>
                            </m:e>
                            <m:sup>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2</m:t>
                              </m:r>
                            </m:sup>
                          </m:sSup>
                        </m:e>
                      </m:nary>
                      <m:r>
                        <a:rPr lang="zh-CN" altLang="ko-Kore-KR" sz="1600"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0.</m:t>
                      </m:r>
                      <m:r>
                        <a:rPr lang="en-US" altLang="ko-Kore-KR" sz="1600" b="0" i="1" kern="100">
                          <a:effectLst/>
                          <a:latin typeface="Cambria Math" panose="02040503050406030204" pitchFamily="18" charset="0"/>
                          <a:ea typeface="KaiTi" panose="02010609060101010101" pitchFamily="49" charset="-122"/>
                          <a:cs typeface="Times New Roman" panose="02020603050405020304" pitchFamily="18" charset="0"/>
                        </a:rPr>
                        <m:t>84</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37</m:t>
                      </m:r>
                      <m:r>
                        <a:rPr lang="zh-CN" altLang="en-US" sz="1600" b="0" i="0" kern="100">
                          <a:effectLst/>
                          <a:latin typeface="Cambria Math" panose="02040503050406030204" pitchFamily="18" charset="0"/>
                          <a:ea typeface="KaiTi" panose="02010609060101010101" pitchFamily="49" charset="-122"/>
                          <a:cs typeface="Times New Roman" panose="02020603050405020304" pitchFamily="18" charset="0"/>
                        </a:rPr>
                        <m:t>；</m:t>
                      </m:r>
                      <m:r>
                        <a:rPr lang="zh-CN" altLang="en-US" sz="1600" b="0" i="0" kern="100">
                          <a:effectLst/>
                          <a:latin typeface="Cambria Math" panose="02040503050406030204" pitchFamily="18" charset="0"/>
                          <a:ea typeface="KaiTi" panose="02010609060101010101" pitchFamily="49" charset="-122"/>
                          <a:cs typeface="Times New Roman" panose="02020603050405020304" pitchFamily="18" charset="0"/>
                        </a:rPr>
                        <m:t> </m:t>
                      </m:r>
                      <m:sSub>
                        <m:sSub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nor/>
                            </m:rPr>
                            <a:rPr lang="en-US" altLang="ko-Kore-KR" sz="1600" kern="100">
                              <a:effectLst/>
                              <a:latin typeface="Cambria Math" panose="02040503050406030204" pitchFamily="18" charset="0"/>
                              <a:ea typeface="KaiTi" panose="02010609060101010101" pitchFamily="49" charset="-122"/>
                              <a:cs typeface="Times New Roman" panose="02020603050405020304" pitchFamily="18" charset="0"/>
                            </a:rPr>
                            <m:t>SSE</m:t>
                          </m:r>
                        </m:e>
                        <m:sub>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𝑅</m:t>
                          </m:r>
                        </m:sub>
                      </m:sSub>
                      <m:r>
                        <a:rPr lang="zh-CN" altLang="ko-Kore-KR" sz="1600"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zh-CN" sz="1600" b="0" i="1" kern="100">
                          <a:effectLst/>
                          <a:latin typeface="Cambria Math" panose="02040503050406030204" pitchFamily="18" charset="0"/>
                          <a:ea typeface="KaiTi" panose="02010609060101010101" pitchFamily="49" charset="-122"/>
                          <a:cs typeface="Times New Roman" panose="02020603050405020304" pitchFamily="18" charset="0"/>
                        </a:rPr>
                        <m:t>2.5150</m:t>
                      </m:r>
                    </m:oMath>
                  </m:oMathPara>
                </a14:m>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r>
                  <a:rPr lang="en-US" altLang="ko-Kore-KR" sz="1600" kern="100">
                    <a:effectLst/>
                    <a:latin typeface="KaiTi" panose="02010609060101010101" pitchFamily="49" charset="-122"/>
                    <a:ea typeface="맑은 고딕" panose="020B0503020000020004" pitchFamily="34" charset="-127"/>
                    <a:cs typeface="Times New Roman" panose="02020603050405020304" pitchFamily="18" charset="0"/>
                  </a:rPr>
                  <a:t> </a:t>
                </a:r>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a:p>
                <a:pPr indent="50800" algn="just" latinLnBrk="1"/>
                <a14:m>
                  <m:oMathPara xmlns:m="http://schemas.openxmlformats.org/officeDocument/2006/math">
                    <m:oMathParaPr>
                      <m:jc m:val="centerGroup"/>
                    </m:oMathParaPr>
                    <m:oMath xmlns:m="http://schemas.openxmlformats.org/officeDocument/2006/math">
                      <m:r>
                        <m:rPr>
                          <m:nor/>
                        </m:rPr>
                        <a:rPr lang="en-US" altLang="ko-Kore-KR" sz="1600" kern="100">
                          <a:effectLst/>
                          <a:latin typeface="Cambria Math" panose="02040503050406030204" pitchFamily="18" charset="0"/>
                          <a:ea typeface="KaiTi" panose="02010609060101010101" pitchFamily="49" charset="-122"/>
                          <a:cs typeface="Times New Roman" panose="02020603050405020304" pitchFamily="18" charset="0"/>
                        </a:rPr>
                        <m:t>SSE</m:t>
                      </m:r>
                      <m:d>
                        <m:dPr>
                          <m:ctrlPr>
                            <a:rPr lang="ko-Kore-KR" altLang="ko-Kore-KR" sz="16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𝑠</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=5.5</m:t>
                          </m:r>
                        </m:e>
                      </m:d>
                      <m:r>
                        <a:rPr lang="zh-CN" altLang="ko-Kore-KR" sz="1600"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0.</m:t>
                      </m:r>
                      <m:r>
                        <a:rPr lang="en-US" altLang="ko-Kore-KR" sz="1600" b="0" i="1" kern="100">
                          <a:effectLst/>
                          <a:latin typeface="Cambria Math" panose="02040503050406030204" pitchFamily="18" charset="0"/>
                          <a:ea typeface="KaiTi" panose="02010609060101010101" pitchFamily="49" charset="-122"/>
                          <a:cs typeface="Times New Roman" panose="02020603050405020304" pitchFamily="18" charset="0"/>
                        </a:rPr>
                        <m:t>84</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37+</m:t>
                      </m:r>
                      <m:r>
                        <a:rPr lang="en-US" altLang="ko-Kore-KR" sz="1600" b="0" i="1" kern="100">
                          <a:effectLst/>
                          <a:latin typeface="Cambria Math" panose="02040503050406030204" pitchFamily="18" charset="0"/>
                          <a:ea typeface="KaiTi" panose="02010609060101010101" pitchFamily="49" charset="-122"/>
                          <a:cs typeface="Times New Roman" panose="02020603050405020304" pitchFamily="18" charset="0"/>
                        </a:rPr>
                        <m:t>2</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600" b="0" i="1" kern="100">
                          <a:effectLst/>
                          <a:latin typeface="Cambria Math" panose="02040503050406030204" pitchFamily="18" charset="0"/>
                          <a:ea typeface="KaiTi" panose="02010609060101010101" pitchFamily="49" charset="-122"/>
                          <a:cs typeface="Times New Roman" panose="02020603050405020304" pitchFamily="18" charset="0"/>
                        </a:rPr>
                        <m:t>5150</m:t>
                      </m:r>
                      <m:r>
                        <a:rPr lang="en-US" altLang="ko-Kore-KR" sz="1600" i="1" kern="10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sz="1600" b="0" i="1" kern="100">
                          <a:effectLst/>
                          <a:latin typeface="Cambria Math" panose="02040503050406030204" pitchFamily="18" charset="0"/>
                          <a:ea typeface="KaiTi" panose="02010609060101010101" pitchFamily="49" charset="-122"/>
                          <a:cs typeface="Times New Roman" panose="02020603050405020304" pitchFamily="18" charset="0"/>
                        </a:rPr>
                        <m:t>3.359</m:t>
                      </m:r>
                    </m:oMath>
                  </m:oMathPara>
                </a14:m>
                <a:endParaRPr lang="ko-Kore-KR" altLang="ko-Kore-KR" sz="1600" kern="10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22" name="TextBox 21">
                <a:extLst>
                  <a:ext uri="{FF2B5EF4-FFF2-40B4-BE49-F238E27FC236}">
                    <a16:creationId xmlns:a16="http://schemas.microsoft.com/office/drawing/2014/main" id="{0EB5EAD4-562D-69A2-92D4-09D1DC48DC2D}"/>
                  </a:ext>
                </a:extLst>
              </p:cNvPr>
              <p:cNvSpPr txBox="1">
                <a:spLocks noRot="1" noChangeAspect="1" noMove="1" noResize="1" noEditPoints="1" noAdjustHandles="1" noChangeArrowheads="1" noChangeShapeType="1" noTextEdit="1"/>
              </p:cNvSpPr>
              <p:nvPr/>
            </p:nvSpPr>
            <p:spPr>
              <a:xfrm>
                <a:off x="3091437" y="3893573"/>
                <a:ext cx="5471197" cy="1180964"/>
              </a:xfrm>
              <a:prstGeom prst="rect">
                <a:avLst/>
              </a:prstGeom>
              <a:blipFill>
                <a:blip r:embed="rId6"/>
                <a:stretch>
                  <a:fillRect t="-71277" b="-60638"/>
                </a:stretch>
              </a:blipFill>
            </p:spPr>
            <p:txBody>
              <a:bodyPr/>
              <a:lstStyle/>
              <a:p>
                <a:r>
                  <a:rPr lang="ko-Kore-KR" altLang="en-US">
                    <a:noFill/>
                  </a:rPr>
                  <a:t> </a:t>
                </a:r>
              </a:p>
            </p:txBody>
          </p:sp>
        </mc:Fallback>
      </mc:AlternateContent>
      <p:graphicFrame>
        <p:nvGraphicFramePr>
          <p:cNvPr id="27" name="표 26">
            <a:extLst>
              <a:ext uri="{FF2B5EF4-FFF2-40B4-BE49-F238E27FC236}">
                <a16:creationId xmlns:a16="http://schemas.microsoft.com/office/drawing/2014/main" id="{3DC05A6C-3E81-9022-F7E5-1367E74F359F}"/>
              </a:ext>
            </a:extLst>
          </p:cNvPr>
          <p:cNvGraphicFramePr>
            <a:graphicFrameLocks noGrp="1"/>
          </p:cNvGraphicFramePr>
          <p:nvPr>
            <p:extLst>
              <p:ext uri="{D42A27DB-BD31-4B8C-83A1-F6EECF244321}">
                <p14:modId xmlns:p14="http://schemas.microsoft.com/office/powerpoint/2010/main" val="841975197"/>
              </p:ext>
            </p:extLst>
          </p:nvPr>
        </p:nvGraphicFramePr>
        <p:xfrm>
          <a:off x="668338" y="5399133"/>
          <a:ext cx="10609260" cy="838672"/>
        </p:xfrm>
        <a:graphic>
          <a:graphicData uri="http://schemas.openxmlformats.org/drawingml/2006/table">
            <a:tbl>
              <a:tblPr firstRow="1" firstCol="1" bandRow="1">
                <a:tableStyleId>{5C22544A-7EE6-4342-B048-85BDC9FD1C3A}</a:tableStyleId>
              </a:tblPr>
              <a:tblGrid>
                <a:gridCol w="1060926">
                  <a:extLst>
                    <a:ext uri="{9D8B030D-6E8A-4147-A177-3AD203B41FA5}">
                      <a16:colId xmlns:a16="http://schemas.microsoft.com/office/drawing/2014/main" val="2767072713"/>
                    </a:ext>
                  </a:extLst>
                </a:gridCol>
                <a:gridCol w="1060926">
                  <a:extLst>
                    <a:ext uri="{9D8B030D-6E8A-4147-A177-3AD203B41FA5}">
                      <a16:colId xmlns:a16="http://schemas.microsoft.com/office/drawing/2014/main" val="4216487695"/>
                    </a:ext>
                  </a:extLst>
                </a:gridCol>
                <a:gridCol w="1060926">
                  <a:extLst>
                    <a:ext uri="{9D8B030D-6E8A-4147-A177-3AD203B41FA5}">
                      <a16:colId xmlns:a16="http://schemas.microsoft.com/office/drawing/2014/main" val="3922417835"/>
                    </a:ext>
                  </a:extLst>
                </a:gridCol>
                <a:gridCol w="1060926">
                  <a:extLst>
                    <a:ext uri="{9D8B030D-6E8A-4147-A177-3AD203B41FA5}">
                      <a16:colId xmlns:a16="http://schemas.microsoft.com/office/drawing/2014/main" val="2573661210"/>
                    </a:ext>
                  </a:extLst>
                </a:gridCol>
                <a:gridCol w="1060926">
                  <a:extLst>
                    <a:ext uri="{9D8B030D-6E8A-4147-A177-3AD203B41FA5}">
                      <a16:colId xmlns:a16="http://schemas.microsoft.com/office/drawing/2014/main" val="3442540357"/>
                    </a:ext>
                  </a:extLst>
                </a:gridCol>
                <a:gridCol w="1060926">
                  <a:extLst>
                    <a:ext uri="{9D8B030D-6E8A-4147-A177-3AD203B41FA5}">
                      <a16:colId xmlns:a16="http://schemas.microsoft.com/office/drawing/2014/main" val="2697282287"/>
                    </a:ext>
                  </a:extLst>
                </a:gridCol>
                <a:gridCol w="1060926">
                  <a:extLst>
                    <a:ext uri="{9D8B030D-6E8A-4147-A177-3AD203B41FA5}">
                      <a16:colId xmlns:a16="http://schemas.microsoft.com/office/drawing/2014/main" val="2458029691"/>
                    </a:ext>
                  </a:extLst>
                </a:gridCol>
                <a:gridCol w="1060926">
                  <a:extLst>
                    <a:ext uri="{9D8B030D-6E8A-4147-A177-3AD203B41FA5}">
                      <a16:colId xmlns:a16="http://schemas.microsoft.com/office/drawing/2014/main" val="825913116"/>
                    </a:ext>
                  </a:extLst>
                </a:gridCol>
                <a:gridCol w="1060926">
                  <a:extLst>
                    <a:ext uri="{9D8B030D-6E8A-4147-A177-3AD203B41FA5}">
                      <a16:colId xmlns:a16="http://schemas.microsoft.com/office/drawing/2014/main" val="1778507146"/>
                    </a:ext>
                  </a:extLst>
                </a:gridCol>
                <a:gridCol w="1060926">
                  <a:extLst>
                    <a:ext uri="{9D8B030D-6E8A-4147-A177-3AD203B41FA5}">
                      <a16:colId xmlns:a16="http://schemas.microsoft.com/office/drawing/2014/main" val="3413668430"/>
                    </a:ext>
                  </a:extLst>
                </a:gridCol>
              </a:tblGrid>
              <a:tr h="419336">
                <a:tc>
                  <a:txBody>
                    <a:bodyPr/>
                    <a:lstStyle/>
                    <a:p>
                      <a:pPr algn="ctr"/>
                      <a:r>
                        <a:rPr lang="en-US" sz="1600" kern="100">
                          <a:effectLst/>
                          <a:latin typeface="KaiTi" panose="02010609060101010101" pitchFamily="49" charset="-122"/>
                          <a:ea typeface="KaiTi" panose="02010609060101010101" pitchFamily="49" charset="-122"/>
                        </a:rPr>
                        <a:t>(s)</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1.5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2.5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3.5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4.5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5.5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6.5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7.5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8.5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9.5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15046541"/>
                  </a:ext>
                </a:extLst>
              </a:tr>
              <a:tr h="419336">
                <a:tc>
                  <a:txBody>
                    <a:bodyPr/>
                    <a:lstStyle/>
                    <a:p>
                      <a:pPr algn="ctr"/>
                      <a:r>
                        <a:rPr lang="en-US" sz="1600" kern="100">
                          <a:effectLst/>
                          <a:latin typeface="KaiTi" panose="02010609060101010101" pitchFamily="49" charset="-122"/>
                          <a:ea typeface="KaiTi" panose="02010609060101010101" pitchFamily="49" charset="-122"/>
                        </a:rPr>
                        <a:t>SSE</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22.65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17.70</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12.19</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7.38</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3.36</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5.07</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10.05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15.18</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21.33</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62815176"/>
                  </a:ext>
                </a:extLst>
              </a:tr>
            </a:tbl>
          </a:graphicData>
        </a:graphic>
      </p:graphicFrame>
    </p:spTree>
    <p:extLst>
      <p:ext uri="{BB962C8B-B14F-4D97-AF65-F5344CB8AC3E}">
        <p14:creationId xmlns:p14="http://schemas.microsoft.com/office/powerpoint/2010/main" val="10228890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90759903-A72B-5F07-1870-FFE6D58D1F89}"/>
              </a:ext>
            </a:extLst>
          </p:cNvPr>
          <p:cNvGraphicFramePr>
            <a:graphicFrameLocks noGrp="1"/>
          </p:cNvGraphicFramePr>
          <p:nvPr>
            <p:extLst>
              <p:ext uri="{D42A27DB-BD31-4B8C-83A1-F6EECF244321}">
                <p14:modId xmlns:p14="http://schemas.microsoft.com/office/powerpoint/2010/main" val="487359262"/>
              </p:ext>
            </p:extLst>
          </p:nvPr>
        </p:nvGraphicFramePr>
        <p:xfrm>
          <a:off x="2231677" y="2373296"/>
          <a:ext cx="5790660" cy="677864"/>
        </p:xfrm>
        <a:graphic>
          <a:graphicData uri="http://schemas.openxmlformats.org/drawingml/2006/table">
            <a:tbl>
              <a:tblPr firstRow="1" firstCol="1" bandRow="1">
                <a:tableStyleId>{5C22544A-7EE6-4342-B048-85BDC9FD1C3A}</a:tableStyleId>
              </a:tblPr>
              <a:tblGrid>
                <a:gridCol w="1158132">
                  <a:extLst>
                    <a:ext uri="{9D8B030D-6E8A-4147-A177-3AD203B41FA5}">
                      <a16:colId xmlns:a16="http://schemas.microsoft.com/office/drawing/2014/main" val="913554072"/>
                    </a:ext>
                  </a:extLst>
                </a:gridCol>
                <a:gridCol w="1158132">
                  <a:extLst>
                    <a:ext uri="{9D8B030D-6E8A-4147-A177-3AD203B41FA5}">
                      <a16:colId xmlns:a16="http://schemas.microsoft.com/office/drawing/2014/main" val="1403845930"/>
                    </a:ext>
                  </a:extLst>
                </a:gridCol>
                <a:gridCol w="1158132">
                  <a:extLst>
                    <a:ext uri="{9D8B030D-6E8A-4147-A177-3AD203B41FA5}">
                      <a16:colId xmlns:a16="http://schemas.microsoft.com/office/drawing/2014/main" val="3265924604"/>
                    </a:ext>
                  </a:extLst>
                </a:gridCol>
                <a:gridCol w="1158132">
                  <a:extLst>
                    <a:ext uri="{9D8B030D-6E8A-4147-A177-3AD203B41FA5}">
                      <a16:colId xmlns:a16="http://schemas.microsoft.com/office/drawing/2014/main" val="2345318101"/>
                    </a:ext>
                  </a:extLst>
                </a:gridCol>
                <a:gridCol w="1158132">
                  <a:extLst>
                    <a:ext uri="{9D8B030D-6E8A-4147-A177-3AD203B41FA5}">
                      <a16:colId xmlns:a16="http://schemas.microsoft.com/office/drawing/2014/main" val="849137507"/>
                    </a:ext>
                  </a:extLst>
                </a:gridCol>
              </a:tblGrid>
              <a:tr h="338932">
                <a:tc>
                  <a:txBody>
                    <a:bodyPr/>
                    <a:lstStyle/>
                    <a:p>
                      <a:pPr algn="ctr"/>
                      <a:r>
                        <a:rPr lang="en-US" sz="1600" kern="100">
                          <a:effectLst/>
                          <a:latin typeface="KaiTi" panose="02010609060101010101" pitchFamily="49" charset="-122"/>
                          <a:ea typeface="KaiTi" panose="02010609060101010101" pitchFamily="49" charset="-122"/>
                        </a:rPr>
                        <a:t>s</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1.5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2.5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3.5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4.5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9051896"/>
                  </a:ext>
                </a:extLst>
              </a:tr>
              <a:tr h="338932">
                <a:tc>
                  <a:txBody>
                    <a:bodyPr/>
                    <a:lstStyle/>
                    <a:p>
                      <a:pPr algn="ctr"/>
                      <a:r>
                        <a:rPr lang="en-US" sz="1600" kern="100">
                          <a:effectLst/>
                          <a:latin typeface="KaiTi" panose="02010609060101010101" pitchFamily="49" charset="-122"/>
                          <a:ea typeface="KaiTi" panose="02010609060101010101" pitchFamily="49" charset="-122"/>
                        </a:rPr>
                        <a:t>SSE</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0.666</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0.427</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0.191</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0.374</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57289840"/>
                  </a:ext>
                </a:extLst>
              </a:tr>
            </a:tbl>
          </a:graphicData>
        </a:graphic>
      </p:graphicFrame>
      <p:sp>
        <p:nvSpPr>
          <p:cNvPr id="9" name="Rectangle 1">
            <a:extLst>
              <a:ext uri="{FF2B5EF4-FFF2-40B4-BE49-F238E27FC236}">
                <a16:creationId xmlns:a16="http://schemas.microsoft.com/office/drawing/2014/main" id="{C0CA8049-78AF-F629-4FF5-D21BBA4A3398}"/>
              </a:ext>
            </a:extLst>
          </p:cNvPr>
          <p:cNvSpPr>
            <a:spLocks noChangeArrowheads="1"/>
          </p:cNvSpPr>
          <p:nvPr/>
        </p:nvSpPr>
        <p:spPr bwMode="auto">
          <a:xfrm>
            <a:off x="293688" y="1625115"/>
            <a:ext cx="38759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50800" algn="l" defTabSz="914400" rtl="0" eaLnBrk="0" fontAlgn="base" latinLnBrk="0" hangingPunct="0">
              <a:lnSpc>
                <a:spcPct val="100000"/>
              </a:lnSpc>
              <a:spcBef>
                <a:spcPct val="0"/>
              </a:spcBef>
              <a:spcAft>
                <a:spcPct val="0"/>
              </a:spcAft>
              <a:buClrTx/>
              <a:buSzTx/>
              <a:buFontTx/>
              <a:buNone/>
              <a:tabLst/>
            </a:pPr>
            <a:r>
              <a:rPr kumimoji="0" lang="zh-CN" altLang="ko-Kore-KR" sz="18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Times New Roman" panose="02020603050405020304" pitchFamily="18" charset="0"/>
              </a:rPr>
              <a:t>第二层：对左右子结点继续切</a:t>
            </a:r>
            <a:endParaRPr kumimoji="0" lang="zh-CN" altLang="ko-Kore-KR" sz="1800" b="0" i="0" u="none" strike="noStrike" cap="none" normalizeH="0" baseline="0">
              <a:ln>
                <a:noFill/>
              </a:ln>
              <a:solidFill>
                <a:schemeClr val="tx1"/>
              </a:solidFill>
              <a:effectLst/>
              <a:latin typeface="Arial" panose="020B0604020202020204" pitchFamily="34" charset="0"/>
            </a:endParaRPr>
          </a:p>
        </p:txBody>
      </p:sp>
      <p:graphicFrame>
        <p:nvGraphicFramePr>
          <p:cNvPr id="11" name="표 10">
            <a:extLst>
              <a:ext uri="{FF2B5EF4-FFF2-40B4-BE49-F238E27FC236}">
                <a16:creationId xmlns:a16="http://schemas.microsoft.com/office/drawing/2014/main" id="{359FCD8E-98F1-5C24-7FC3-33B8569AD8E4}"/>
              </a:ext>
            </a:extLst>
          </p:cNvPr>
          <p:cNvGraphicFramePr>
            <a:graphicFrameLocks noGrp="1"/>
          </p:cNvGraphicFramePr>
          <p:nvPr>
            <p:extLst>
              <p:ext uri="{D42A27DB-BD31-4B8C-83A1-F6EECF244321}">
                <p14:modId xmlns:p14="http://schemas.microsoft.com/office/powerpoint/2010/main" val="274878889"/>
              </p:ext>
            </p:extLst>
          </p:nvPr>
        </p:nvGraphicFramePr>
        <p:xfrm>
          <a:off x="2231677" y="3698812"/>
          <a:ext cx="5790660" cy="677864"/>
        </p:xfrm>
        <a:graphic>
          <a:graphicData uri="http://schemas.openxmlformats.org/drawingml/2006/table">
            <a:tbl>
              <a:tblPr firstRow="1" firstCol="1" bandRow="1">
                <a:tableStyleId>{5C22544A-7EE6-4342-B048-85BDC9FD1C3A}</a:tableStyleId>
              </a:tblPr>
              <a:tblGrid>
                <a:gridCol w="1158132">
                  <a:extLst>
                    <a:ext uri="{9D8B030D-6E8A-4147-A177-3AD203B41FA5}">
                      <a16:colId xmlns:a16="http://schemas.microsoft.com/office/drawing/2014/main" val="2605231573"/>
                    </a:ext>
                  </a:extLst>
                </a:gridCol>
                <a:gridCol w="1158132">
                  <a:extLst>
                    <a:ext uri="{9D8B030D-6E8A-4147-A177-3AD203B41FA5}">
                      <a16:colId xmlns:a16="http://schemas.microsoft.com/office/drawing/2014/main" val="521853532"/>
                    </a:ext>
                  </a:extLst>
                </a:gridCol>
                <a:gridCol w="1158132">
                  <a:extLst>
                    <a:ext uri="{9D8B030D-6E8A-4147-A177-3AD203B41FA5}">
                      <a16:colId xmlns:a16="http://schemas.microsoft.com/office/drawing/2014/main" val="76066328"/>
                    </a:ext>
                  </a:extLst>
                </a:gridCol>
                <a:gridCol w="1158132">
                  <a:extLst>
                    <a:ext uri="{9D8B030D-6E8A-4147-A177-3AD203B41FA5}">
                      <a16:colId xmlns:a16="http://schemas.microsoft.com/office/drawing/2014/main" val="1046123236"/>
                    </a:ext>
                  </a:extLst>
                </a:gridCol>
                <a:gridCol w="1158132">
                  <a:extLst>
                    <a:ext uri="{9D8B030D-6E8A-4147-A177-3AD203B41FA5}">
                      <a16:colId xmlns:a16="http://schemas.microsoft.com/office/drawing/2014/main" val="1230442409"/>
                    </a:ext>
                  </a:extLst>
                </a:gridCol>
              </a:tblGrid>
              <a:tr h="338932">
                <a:tc>
                  <a:txBody>
                    <a:bodyPr/>
                    <a:lstStyle/>
                    <a:p>
                      <a:pPr algn="ctr"/>
                      <a:r>
                        <a:rPr lang="en-US" sz="1600" kern="100">
                          <a:effectLst/>
                          <a:latin typeface="KaiTi" panose="02010609060101010101" pitchFamily="49" charset="-122"/>
                          <a:ea typeface="KaiTi" panose="02010609060101010101" pitchFamily="49" charset="-122"/>
                        </a:rPr>
                        <a:t>s</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6.5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7.5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8.5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9.5</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91608177"/>
                  </a:ext>
                </a:extLst>
              </a:tr>
              <a:tr h="338932">
                <a:tc>
                  <a:txBody>
                    <a:bodyPr/>
                    <a:lstStyle/>
                    <a:p>
                      <a:pPr algn="ctr"/>
                      <a:r>
                        <a:rPr lang="en-US" sz="1600" kern="100">
                          <a:effectLst/>
                          <a:latin typeface="KaiTi" panose="02010609060101010101" pitchFamily="49" charset="-122"/>
                          <a:ea typeface="KaiTi" panose="02010609060101010101" pitchFamily="49" charset="-122"/>
                        </a:rPr>
                        <a:t>SSE</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0.716</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0.663</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0.786</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600" kern="100">
                          <a:effectLst/>
                          <a:latin typeface="KaiTi" panose="02010609060101010101" pitchFamily="49" charset="-122"/>
                          <a:ea typeface="KaiTi" panose="02010609060101010101" pitchFamily="49" charset="-122"/>
                        </a:rPr>
                        <a:t>1.452</a:t>
                      </a:r>
                      <a:endParaRPr lang="ko-Kore-KR" sz="16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78813590"/>
                  </a:ext>
                </a:extLst>
              </a:tr>
            </a:tbl>
          </a:graphicData>
        </a:graphic>
      </p:graphicFrame>
      <p:sp>
        <p:nvSpPr>
          <p:cNvPr id="14" name="TextBox 13">
            <a:extLst>
              <a:ext uri="{FF2B5EF4-FFF2-40B4-BE49-F238E27FC236}">
                <a16:creationId xmlns:a16="http://schemas.microsoft.com/office/drawing/2014/main" id="{16DBE50F-0DCE-D61A-C72F-6836788C4AD1}"/>
              </a:ext>
            </a:extLst>
          </p:cNvPr>
          <p:cNvSpPr txBox="1"/>
          <p:nvPr/>
        </p:nvSpPr>
        <p:spPr>
          <a:xfrm>
            <a:off x="488760" y="2481395"/>
            <a:ext cx="1474152" cy="461665"/>
          </a:xfrm>
          <a:prstGeom prst="rect">
            <a:avLst/>
          </a:prstGeom>
          <a:noFill/>
        </p:spPr>
        <p:txBody>
          <a:bodyPr wrap="square">
            <a:spAutoFit/>
          </a:bodyPr>
          <a:lstStyle/>
          <a:p>
            <a:r>
              <a:rPr kumimoji="0" lang="zh-CN" altLang="ko-Kore-KR" sz="24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Times New Roman" panose="02020603050405020304" pitchFamily="18" charset="0"/>
              </a:rPr>
              <a:t>左子结点</a:t>
            </a:r>
            <a:endParaRPr lang="ko-Kore-KR" altLang="en-US"/>
          </a:p>
        </p:txBody>
      </p:sp>
      <p:sp>
        <p:nvSpPr>
          <p:cNvPr id="16" name="TextBox 15">
            <a:extLst>
              <a:ext uri="{FF2B5EF4-FFF2-40B4-BE49-F238E27FC236}">
                <a16:creationId xmlns:a16="http://schemas.microsoft.com/office/drawing/2014/main" id="{511D21AB-27FD-CA79-76A4-164A758E9523}"/>
              </a:ext>
            </a:extLst>
          </p:cNvPr>
          <p:cNvSpPr txBox="1"/>
          <p:nvPr/>
        </p:nvSpPr>
        <p:spPr>
          <a:xfrm>
            <a:off x="488760" y="3855441"/>
            <a:ext cx="1474152" cy="461665"/>
          </a:xfrm>
          <a:prstGeom prst="rect">
            <a:avLst/>
          </a:prstGeom>
          <a:noFill/>
        </p:spPr>
        <p:txBody>
          <a:bodyPr wrap="square">
            <a:spAutoFit/>
          </a:bodyPr>
          <a:lstStyle/>
          <a:p>
            <a:r>
              <a:rPr kumimoji="0" lang="zh-CN" altLang="ko-Kore-KR" sz="24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Times New Roman" panose="02020603050405020304" pitchFamily="18" charset="0"/>
              </a:rPr>
              <a:t>右子结点</a:t>
            </a:r>
            <a:endParaRPr lang="ko-Kore-KR" altLang="en-US"/>
          </a:p>
        </p:txBody>
      </p:sp>
      <p:sp>
        <p:nvSpPr>
          <p:cNvPr id="17" name="椭圆 17">
            <a:extLst>
              <a:ext uri="{FF2B5EF4-FFF2-40B4-BE49-F238E27FC236}">
                <a16:creationId xmlns:a16="http://schemas.microsoft.com/office/drawing/2014/main" id="{EF3D4704-CCAC-BD22-A3D2-1AC2306EBE54}"/>
              </a:ext>
            </a:extLst>
          </p:cNvPr>
          <p:cNvSpPr/>
          <p:nvPr/>
        </p:nvSpPr>
        <p:spPr>
          <a:xfrm>
            <a:off x="8887690" y="4250107"/>
            <a:ext cx="1176668" cy="548472"/>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 altLang="zh-CN" sz="1200" dirty="0">
                <a:solidFill>
                  <a:schemeClr val="bg1"/>
                </a:solidFill>
                <a:ea typeface="Microsoft YaHei" charset="0"/>
              </a:rPr>
              <a:t>x1 &lt;= 5.5 </a:t>
            </a:r>
            <a:endParaRPr lang="zh-CN" altLang="en-US" sz="1200" dirty="0">
              <a:solidFill>
                <a:schemeClr val="bg1"/>
              </a:solidFill>
              <a:ea typeface="Microsoft YaHei" charset="0"/>
            </a:endParaRPr>
          </a:p>
        </p:txBody>
      </p:sp>
      <p:sp>
        <p:nvSpPr>
          <p:cNvPr id="18" name="椭圆 17">
            <a:extLst>
              <a:ext uri="{FF2B5EF4-FFF2-40B4-BE49-F238E27FC236}">
                <a16:creationId xmlns:a16="http://schemas.microsoft.com/office/drawing/2014/main" id="{F978477D-9C0B-BECA-0919-55B4A9736CFF}"/>
              </a:ext>
            </a:extLst>
          </p:cNvPr>
          <p:cNvSpPr/>
          <p:nvPr/>
        </p:nvSpPr>
        <p:spPr>
          <a:xfrm>
            <a:off x="7661976" y="5178820"/>
            <a:ext cx="1176668" cy="548472"/>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 altLang="zh-CN" sz="1200" dirty="0">
                <a:solidFill>
                  <a:schemeClr val="bg1"/>
                </a:solidFill>
                <a:ea typeface="Microsoft YaHei" charset="0"/>
              </a:rPr>
              <a:t>x1 &lt;= </a:t>
            </a:r>
            <a:r>
              <a:rPr lang="en-US" altLang="zh-CN" sz="1200" dirty="0">
                <a:solidFill>
                  <a:schemeClr val="bg1"/>
                </a:solidFill>
                <a:ea typeface="Microsoft YaHei" charset="0"/>
              </a:rPr>
              <a:t>3</a:t>
            </a:r>
            <a:r>
              <a:rPr lang="en" altLang="zh-CN" sz="1200" dirty="0">
                <a:solidFill>
                  <a:schemeClr val="bg1"/>
                </a:solidFill>
                <a:ea typeface="Microsoft YaHei" charset="0"/>
              </a:rPr>
              <a:t>.5 </a:t>
            </a:r>
            <a:endParaRPr lang="zh-CN" altLang="en-US" sz="1200" dirty="0">
              <a:solidFill>
                <a:schemeClr val="bg1"/>
              </a:solidFill>
              <a:ea typeface="Microsoft YaHei" charset="0"/>
            </a:endParaRPr>
          </a:p>
        </p:txBody>
      </p:sp>
      <p:sp>
        <p:nvSpPr>
          <p:cNvPr id="19" name="椭圆 17">
            <a:extLst>
              <a:ext uri="{FF2B5EF4-FFF2-40B4-BE49-F238E27FC236}">
                <a16:creationId xmlns:a16="http://schemas.microsoft.com/office/drawing/2014/main" id="{D337116D-3F06-1269-0B26-4D3B57FA6A78}"/>
              </a:ext>
            </a:extLst>
          </p:cNvPr>
          <p:cNvSpPr/>
          <p:nvPr/>
        </p:nvSpPr>
        <p:spPr>
          <a:xfrm>
            <a:off x="10177062" y="5150720"/>
            <a:ext cx="1176668" cy="548472"/>
          </a:xfrm>
          <a:prstGeom prst="ellipse">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 altLang="zh-CN" sz="1200" dirty="0">
                <a:solidFill>
                  <a:schemeClr val="bg1"/>
                </a:solidFill>
                <a:ea typeface="Microsoft YaHei" charset="0"/>
              </a:rPr>
              <a:t>x1 &lt;= </a:t>
            </a:r>
            <a:r>
              <a:rPr lang="en-US" altLang="zh-CN" sz="1200" dirty="0">
                <a:solidFill>
                  <a:schemeClr val="bg1"/>
                </a:solidFill>
                <a:ea typeface="Microsoft YaHei" charset="0"/>
              </a:rPr>
              <a:t>7</a:t>
            </a:r>
            <a:r>
              <a:rPr lang="en" altLang="zh-CN" sz="1200" dirty="0">
                <a:solidFill>
                  <a:schemeClr val="bg1"/>
                </a:solidFill>
                <a:ea typeface="Microsoft YaHei" charset="0"/>
              </a:rPr>
              <a:t>.5 </a:t>
            </a:r>
            <a:endParaRPr lang="zh-CN" altLang="en-US" sz="1200" dirty="0">
              <a:solidFill>
                <a:schemeClr val="bg1"/>
              </a:solidFill>
              <a:ea typeface="Microsoft YaHei" charset="0"/>
            </a:endParaRPr>
          </a:p>
        </p:txBody>
      </p:sp>
      <p:sp>
        <p:nvSpPr>
          <p:cNvPr id="20" name="矩形 18">
            <a:extLst>
              <a:ext uri="{FF2B5EF4-FFF2-40B4-BE49-F238E27FC236}">
                <a16:creationId xmlns:a16="http://schemas.microsoft.com/office/drawing/2014/main" id="{61AD2BA3-811C-B5BA-8C0C-758939AACBD4}"/>
              </a:ext>
            </a:extLst>
          </p:cNvPr>
          <p:cNvSpPr/>
          <p:nvPr/>
        </p:nvSpPr>
        <p:spPr>
          <a:xfrm>
            <a:off x="7154886" y="6124408"/>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ea typeface="Microsoft YaHei" charset="0"/>
              </a:rPr>
              <a:t>Y=4.72</a:t>
            </a:r>
            <a:endParaRPr lang="zh-CN" altLang="en-US" sz="1400" dirty="0">
              <a:ea typeface="Microsoft YaHei" charset="0"/>
            </a:endParaRPr>
          </a:p>
        </p:txBody>
      </p:sp>
      <p:cxnSp>
        <p:nvCxnSpPr>
          <p:cNvPr id="21" name="直接箭头连接符 19">
            <a:extLst>
              <a:ext uri="{FF2B5EF4-FFF2-40B4-BE49-F238E27FC236}">
                <a16:creationId xmlns:a16="http://schemas.microsoft.com/office/drawing/2014/main" id="{C979ECEE-BDF7-9CC9-92C6-E047EF4C3542}"/>
              </a:ext>
            </a:extLst>
          </p:cNvPr>
          <p:cNvCxnSpPr>
            <a:cxnSpLocks/>
            <a:stCxn id="18" idx="4"/>
            <a:endCxn id="20" idx="0"/>
          </p:cNvCxnSpPr>
          <p:nvPr/>
        </p:nvCxnSpPr>
        <p:spPr>
          <a:xfrm flipH="1">
            <a:off x="7612086" y="5727292"/>
            <a:ext cx="638224" cy="397116"/>
          </a:xfrm>
          <a:prstGeom prst="straightConnector1">
            <a:avLst/>
          </a:prstGeom>
          <a:ln>
            <a:solidFill>
              <a:srgbClr val="0066CC"/>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18">
            <a:extLst>
              <a:ext uri="{FF2B5EF4-FFF2-40B4-BE49-F238E27FC236}">
                <a16:creationId xmlns:a16="http://schemas.microsoft.com/office/drawing/2014/main" id="{50B4C6B6-570B-FECB-32A4-5D661A93E6B2}"/>
              </a:ext>
            </a:extLst>
          </p:cNvPr>
          <p:cNvSpPr/>
          <p:nvPr/>
        </p:nvSpPr>
        <p:spPr>
          <a:xfrm>
            <a:off x="8456017" y="6102352"/>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ea typeface="Microsoft YaHei" charset="0"/>
              </a:rPr>
              <a:t>Y=5.57</a:t>
            </a:r>
            <a:endParaRPr lang="zh-CN" altLang="en-US" sz="1400" dirty="0">
              <a:ea typeface="Microsoft YaHei" charset="0"/>
            </a:endParaRPr>
          </a:p>
        </p:txBody>
      </p:sp>
      <p:cxnSp>
        <p:nvCxnSpPr>
          <p:cNvPr id="27" name="직선 화살표 연결선 26">
            <a:extLst>
              <a:ext uri="{FF2B5EF4-FFF2-40B4-BE49-F238E27FC236}">
                <a16:creationId xmlns:a16="http://schemas.microsoft.com/office/drawing/2014/main" id="{524FE7E6-C1E3-A1B3-FBB5-411E55D5E8BC}"/>
              </a:ext>
            </a:extLst>
          </p:cNvPr>
          <p:cNvCxnSpPr>
            <a:stCxn id="18" idx="4"/>
            <a:endCxn id="25" idx="0"/>
          </p:cNvCxnSpPr>
          <p:nvPr/>
        </p:nvCxnSpPr>
        <p:spPr>
          <a:xfrm>
            <a:off x="8250310" y="5727292"/>
            <a:ext cx="662907" cy="375060"/>
          </a:xfrm>
          <a:prstGeom prst="straightConnector1">
            <a:avLst/>
          </a:prstGeom>
          <a:ln>
            <a:solidFill>
              <a:schemeClr val="accent6"/>
            </a:solidFill>
            <a:tailEnd type="triangle"/>
          </a:ln>
        </p:spPr>
        <p:style>
          <a:lnRef idx="1">
            <a:schemeClr val="accent2"/>
          </a:lnRef>
          <a:fillRef idx="0">
            <a:schemeClr val="accent2"/>
          </a:fillRef>
          <a:effectRef idx="0">
            <a:schemeClr val="accent2"/>
          </a:effectRef>
          <a:fontRef idx="minor">
            <a:schemeClr val="tx1"/>
          </a:fontRef>
        </p:style>
      </p:cxnSp>
      <p:cxnSp>
        <p:nvCxnSpPr>
          <p:cNvPr id="30" name="직선 화살표 연결선 29">
            <a:extLst>
              <a:ext uri="{FF2B5EF4-FFF2-40B4-BE49-F238E27FC236}">
                <a16:creationId xmlns:a16="http://schemas.microsoft.com/office/drawing/2014/main" id="{C147FC50-079A-5259-37AB-463D58864506}"/>
              </a:ext>
            </a:extLst>
          </p:cNvPr>
          <p:cNvCxnSpPr>
            <a:stCxn id="17" idx="4"/>
            <a:endCxn id="18" idx="0"/>
          </p:cNvCxnSpPr>
          <p:nvPr/>
        </p:nvCxnSpPr>
        <p:spPr>
          <a:xfrm flipH="1">
            <a:off x="8250310" y="4798579"/>
            <a:ext cx="1225714" cy="380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2CF26D32-91EB-DEE8-C681-12E90963DCCD}"/>
              </a:ext>
            </a:extLst>
          </p:cNvPr>
          <p:cNvCxnSpPr>
            <a:stCxn id="17" idx="4"/>
          </p:cNvCxnSpPr>
          <p:nvPr/>
        </p:nvCxnSpPr>
        <p:spPr>
          <a:xfrm>
            <a:off x="9476024" y="4798579"/>
            <a:ext cx="984712" cy="396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矩形 18">
            <a:extLst>
              <a:ext uri="{FF2B5EF4-FFF2-40B4-BE49-F238E27FC236}">
                <a16:creationId xmlns:a16="http://schemas.microsoft.com/office/drawing/2014/main" id="{B62AE9BC-26C7-4437-E1B1-EAE4CB75E8F8}"/>
              </a:ext>
            </a:extLst>
          </p:cNvPr>
          <p:cNvSpPr/>
          <p:nvPr/>
        </p:nvSpPr>
        <p:spPr>
          <a:xfrm>
            <a:off x="9719862" y="6107973"/>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ea typeface="Microsoft YaHei" charset="0"/>
              </a:rPr>
              <a:t>Y=7.47</a:t>
            </a:r>
            <a:endParaRPr lang="zh-CN" altLang="en-US" sz="1400" dirty="0">
              <a:ea typeface="Microsoft YaHei" charset="0"/>
            </a:endParaRPr>
          </a:p>
        </p:txBody>
      </p:sp>
      <p:sp>
        <p:nvSpPr>
          <p:cNvPr id="35" name="矩形 18">
            <a:extLst>
              <a:ext uri="{FF2B5EF4-FFF2-40B4-BE49-F238E27FC236}">
                <a16:creationId xmlns:a16="http://schemas.microsoft.com/office/drawing/2014/main" id="{611781E5-D6A8-FCA1-9044-58E26992BB63}"/>
              </a:ext>
            </a:extLst>
          </p:cNvPr>
          <p:cNvSpPr/>
          <p:nvPr/>
        </p:nvSpPr>
        <p:spPr>
          <a:xfrm>
            <a:off x="11021269" y="6124408"/>
            <a:ext cx="914400" cy="418011"/>
          </a:xfrm>
          <a:prstGeom prst="rect">
            <a:avLst/>
          </a:prstGeom>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ea typeface="Microsoft YaHei" charset="0"/>
              </a:rPr>
              <a:t>Y=8.63</a:t>
            </a:r>
            <a:endParaRPr lang="zh-CN" altLang="en-US" sz="1400" dirty="0">
              <a:ea typeface="Microsoft YaHei" charset="0"/>
            </a:endParaRPr>
          </a:p>
        </p:txBody>
      </p:sp>
      <p:cxnSp>
        <p:nvCxnSpPr>
          <p:cNvPr id="43" name="직선 화살표 연결선 42">
            <a:extLst>
              <a:ext uri="{FF2B5EF4-FFF2-40B4-BE49-F238E27FC236}">
                <a16:creationId xmlns:a16="http://schemas.microsoft.com/office/drawing/2014/main" id="{2986C05F-ABDC-A86C-5772-9D0DD544984C}"/>
              </a:ext>
            </a:extLst>
          </p:cNvPr>
          <p:cNvCxnSpPr>
            <a:stCxn id="19" idx="4"/>
          </p:cNvCxnSpPr>
          <p:nvPr/>
        </p:nvCxnSpPr>
        <p:spPr>
          <a:xfrm flipH="1">
            <a:off x="10177062" y="5699192"/>
            <a:ext cx="588334" cy="387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312AFBBB-0CFD-5685-BDA5-537A8A7555CD}"/>
              </a:ext>
            </a:extLst>
          </p:cNvPr>
          <p:cNvCxnSpPr>
            <a:stCxn id="19" idx="4"/>
            <a:endCxn id="35" idx="0"/>
          </p:cNvCxnSpPr>
          <p:nvPr/>
        </p:nvCxnSpPr>
        <p:spPr>
          <a:xfrm>
            <a:off x="10765396" y="5699192"/>
            <a:ext cx="713073" cy="425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2">
            <a:extLst>
              <a:ext uri="{FF2B5EF4-FFF2-40B4-BE49-F238E27FC236}">
                <a16:creationId xmlns:a16="http://schemas.microsoft.com/office/drawing/2014/main" id="{9B3EA3EB-DFEF-CE5C-7E80-B99EC09F9E75}"/>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CART</a:t>
            </a:r>
            <a:r>
              <a:rPr lang="zh-CN" altLang="en-US" dirty="0">
                <a:solidFill>
                  <a:schemeClr val="tx1"/>
                </a:solidFill>
                <a:latin typeface="KaiTi" panose="02010609060101010101" pitchFamily="49" charset="-122"/>
                <a:ea typeface="KaiTi" panose="02010609060101010101" pitchFamily="49" charset="-122"/>
              </a:rPr>
              <a:t>算法回归</a:t>
            </a:r>
          </a:p>
        </p:txBody>
      </p:sp>
    </p:spTree>
    <p:extLst>
      <p:ext uri="{BB962C8B-B14F-4D97-AF65-F5344CB8AC3E}">
        <p14:creationId xmlns:p14="http://schemas.microsoft.com/office/powerpoint/2010/main" val="157061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 calcmode="lin" valueType="num">
                                      <p:cBhvr>
                                        <p:cTn id="14" dur="500" fill="hold"/>
                                        <p:tgtEl>
                                          <p:spTgt spid="18"/>
                                        </p:tgtEl>
                                        <p:attrNameLst>
                                          <p:attrName>ppt_w</p:attrName>
                                        </p:attrNameLst>
                                      </p:cBhvr>
                                      <p:tavLst>
                                        <p:tav tm="0">
                                          <p:val>
                                            <p:fltVal val="0"/>
                                          </p:val>
                                        </p:tav>
                                        <p:tav tm="100000">
                                          <p:val>
                                            <p:strVal val="#ppt_w"/>
                                          </p:val>
                                        </p:tav>
                                      </p:tavLst>
                                    </p:anim>
                                    <p:anim calcmode="lin" valueType="num">
                                      <p:cBhvr>
                                        <p:cTn id="15" dur="500" fill="hold"/>
                                        <p:tgtEl>
                                          <p:spTgt spid="18"/>
                                        </p:tgtEl>
                                        <p:attrNameLst>
                                          <p:attrName>ppt_h</p:attrName>
                                        </p:attrNameLst>
                                      </p:cBhvr>
                                      <p:tavLst>
                                        <p:tav tm="0">
                                          <p:val>
                                            <p:fltVal val="0"/>
                                          </p:val>
                                        </p:tav>
                                        <p:tav tm="100000">
                                          <p:val>
                                            <p:strVal val="#ppt_h"/>
                                          </p:val>
                                        </p:tav>
                                      </p:tavLst>
                                    </p:anim>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ppt_w</p:attrName>
                                        </p:attrNameLst>
                                      </p:cBhvr>
                                      <p:tavLst>
                                        <p:tav tm="0">
                                          <p:val>
                                            <p:fltVal val="0"/>
                                          </p:val>
                                        </p:tav>
                                        <p:tav tm="100000">
                                          <p:val>
                                            <p:strVal val="#ppt_w"/>
                                          </p:val>
                                        </p:tav>
                                      </p:tavLst>
                                    </p:anim>
                                    <p:anim calcmode="lin" valueType="num">
                                      <p:cBhvr>
                                        <p:cTn id="22" dur="500" fill="hold"/>
                                        <p:tgtEl>
                                          <p:spTgt spid="19"/>
                                        </p:tgtEl>
                                        <p:attrNameLst>
                                          <p:attrName>ppt_h</p:attrName>
                                        </p:attrNameLst>
                                      </p:cBhvr>
                                      <p:tavLst>
                                        <p:tav tm="0">
                                          <p:val>
                                            <p:fltVal val="0"/>
                                          </p:val>
                                        </p:tav>
                                        <p:tav tm="100000">
                                          <p:val>
                                            <p:strVal val="#ppt_h"/>
                                          </p:val>
                                        </p:tav>
                                      </p:tavLst>
                                    </p:anim>
                                    <p:animEffect transition="in" filter="fade">
                                      <p:cBhvr>
                                        <p:cTn id="23" dur="500"/>
                                        <p:tgtEl>
                                          <p:spTgt spid="19"/>
                                        </p:tgtEl>
                                      </p:cBhvr>
                                    </p:animEffect>
                                  </p:childTnLst>
                                </p:cTn>
                              </p:par>
                              <p:par>
                                <p:cTn id="24" presetID="53" presetClass="entr" presetSubtype="16"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p:cTn id="26" dur="500" fill="hold"/>
                                        <p:tgtEl>
                                          <p:spTgt spid="21"/>
                                        </p:tgtEl>
                                        <p:attrNameLst>
                                          <p:attrName>ppt_w</p:attrName>
                                        </p:attrNameLst>
                                      </p:cBhvr>
                                      <p:tavLst>
                                        <p:tav tm="0">
                                          <p:val>
                                            <p:fltVal val="0"/>
                                          </p:val>
                                        </p:tav>
                                        <p:tav tm="100000">
                                          <p:val>
                                            <p:strVal val="#ppt_w"/>
                                          </p:val>
                                        </p:tav>
                                      </p:tavLst>
                                    </p:anim>
                                    <p:anim calcmode="lin" valueType="num">
                                      <p:cBhvr>
                                        <p:cTn id="27" dur="500" fill="hold"/>
                                        <p:tgtEl>
                                          <p:spTgt spid="21"/>
                                        </p:tgtEl>
                                        <p:attrNameLst>
                                          <p:attrName>ppt_h</p:attrName>
                                        </p:attrNameLst>
                                      </p:cBhvr>
                                      <p:tavLst>
                                        <p:tav tm="0">
                                          <p:val>
                                            <p:fltVal val="0"/>
                                          </p:val>
                                        </p:tav>
                                        <p:tav tm="100000">
                                          <p:val>
                                            <p:strVal val="#ppt_h"/>
                                          </p:val>
                                        </p:tav>
                                      </p:tavLst>
                                    </p:anim>
                                    <p:animEffect transition="in" filter="fade">
                                      <p:cBhvr>
                                        <p:cTn id="28" dur="500"/>
                                        <p:tgtEl>
                                          <p:spTgt spid="21"/>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p:cTn id="31" dur="500" fill="hold"/>
                                        <p:tgtEl>
                                          <p:spTgt spid="20"/>
                                        </p:tgtEl>
                                        <p:attrNameLst>
                                          <p:attrName>ppt_w</p:attrName>
                                        </p:attrNameLst>
                                      </p:cBhvr>
                                      <p:tavLst>
                                        <p:tav tm="0">
                                          <p:val>
                                            <p:fltVal val="0"/>
                                          </p:val>
                                        </p:tav>
                                        <p:tav tm="100000">
                                          <p:val>
                                            <p:strVal val="#ppt_w"/>
                                          </p:val>
                                        </p:tav>
                                      </p:tavLst>
                                    </p:anim>
                                    <p:anim calcmode="lin" valueType="num">
                                      <p:cBhvr>
                                        <p:cTn id="32" dur="500" fill="hold"/>
                                        <p:tgtEl>
                                          <p:spTgt spid="20"/>
                                        </p:tgtEl>
                                        <p:attrNameLst>
                                          <p:attrName>ppt_h</p:attrName>
                                        </p:attrNameLst>
                                      </p:cBhvr>
                                      <p:tavLst>
                                        <p:tav tm="0">
                                          <p:val>
                                            <p:fltVal val="0"/>
                                          </p:val>
                                        </p:tav>
                                        <p:tav tm="100000">
                                          <p:val>
                                            <p:strVal val="#ppt_h"/>
                                          </p:val>
                                        </p:tav>
                                      </p:tavLst>
                                    </p:anim>
                                    <p:animEffect transition="in" filter="fade">
                                      <p:cBhvr>
                                        <p:cTn id="33" dur="500"/>
                                        <p:tgtEl>
                                          <p:spTgt spid="20"/>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p:cTn id="41" dur="500" fill="hold"/>
                                        <p:tgtEl>
                                          <p:spTgt spid="33"/>
                                        </p:tgtEl>
                                        <p:attrNameLst>
                                          <p:attrName>ppt_w</p:attrName>
                                        </p:attrNameLst>
                                      </p:cBhvr>
                                      <p:tavLst>
                                        <p:tav tm="0">
                                          <p:val>
                                            <p:fltVal val="0"/>
                                          </p:val>
                                        </p:tav>
                                        <p:tav tm="100000">
                                          <p:val>
                                            <p:strVal val="#ppt_w"/>
                                          </p:val>
                                        </p:tav>
                                      </p:tavLst>
                                    </p:anim>
                                    <p:anim calcmode="lin" valueType="num">
                                      <p:cBhvr>
                                        <p:cTn id="42" dur="500" fill="hold"/>
                                        <p:tgtEl>
                                          <p:spTgt spid="33"/>
                                        </p:tgtEl>
                                        <p:attrNameLst>
                                          <p:attrName>ppt_h</p:attrName>
                                        </p:attrNameLst>
                                      </p:cBhvr>
                                      <p:tavLst>
                                        <p:tav tm="0">
                                          <p:val>
                                            <p:fltVal val="0"/>
                                          </p:val>
                                        </p:tav>
                                        <p:tav tm="100000">
                                          <p:val>
                                            <p:strVal val="#ppt_h"/>
                                          </p:val>
                                        </p:tav>
                                      </p:tavLst>
                                    </p:anim>
                                    <p:animEffect transition="in" filter="fade">
                                      <p:cBhvr>
                                        <p:cTn id="43" dur="500"/>
                                        <p:tgtEl>
                                          <p:spTgt spid="33"/>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5"/>
                                        </p:tgtEl>
                                        <p:attrNameLst>
                                          <p:attrName>style.visibility</p:attrName>
                                        </p:attrNameLst>
                                      </p:cBhvr>
                                      <p:to>
                                        <p:strVal val="visible"/>
                                      </p:to>
                                    </p:set>
                                    <p:anim calcmode="lin" valueType="num">
                                      <p:cBhvr>
                                        <p:cTn id="46" dur="500" fill="hold"/>
                                        <p:tgtEl>
                                          <p:spTgt spid="35"/>
                                        </p:tgtEl>
                                        <p:attrNameLst>
                                          <p:attrName>ppt_w</p:attrName>
                                        </p:attrNameLst>
                                      </p:cBhvr>
                                      <p:tavLst>
                                        <p:tav tm="0">
                                          <p:val>
                                            <p:fltVal val="0"/>
                                          </p:val>
                                        </p:tav>
                                        <p:tav tm="100000">
                                          <p:val>
                                            <p:strVal val="#ppt_w"/>
                                          </p:val>
                                        </p:tav>
                                      </p:tavLst>
                                    </p:anim>
                                    <p:anim calcmode="lin" valueType="num">
                                      <p:cBhvr>
                                        <p:cTn id="47" dur="500" fill="hold"/>
                                        <p:tgtEl>
                                          <p:spTgt spid="35"/>
                                        </p:tgtEl>
                                        <p:attrNameLst>
                                          <p:attrName>ppt_h</p:attrName>
                                        </p:attrNameLst>
                                      </p:cBhvr>
                                      <p:tavLst>
                                        <p:tav tm="0">
                                          <p:val>
                                            <p:fltVal val="0"/>
                                          </p:val>
                                        </p:tav>
                                        <p:tav tm="100000">
                                          <p:val>
                                            <p:strVal val="#ppt_h"/>
                                          </p:val>
                                        </p:tav>
                                      </p:tavLst>
                                    </p:anim>
                                    <p:animEffect transition="in" filter="fade">
                                      <p:cBhvr>
                                        <p:cTn id="4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5" grpId="0" animBg="1"/>
      <p:bldP spid="33" grpId="0" animBg="1"/>
      <p:bldP spid="3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텍스트, 스크린샷, 폰트, 도표이(가) 표시된 사진&#10;&#10;자동 생성된 설명">
            <a:extLst>
              <a:ext uri="{FF2B5EF4-FFF2-40B4-BE49-F238E27FC236}">
                <a16:creationId xmlns:a16="http://schemas.microsoft.com/office/drawing/2014/main" id="{B9A67F7F-68AB-C400-66D0-246E05E1A68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85533" y="1514859"/>
            <a:ext cx="10664715" cy="4959093"/>
          </a:xfrm>
          <a:prstGeom prst="rect">
            <a:avLst/>
          </a:prstGeom>
          <a:solidFill>
            <a:srgbClr val="FFFFFF"/>
          </a:solidFill>
        </p:spPr>
      </p:pic>
      <p:sp>
        <p:nvSpPr>
          <p:cNvPr id="4" name="Rectangle 2">
            <a:extLst>
              <a:ext uri="{FF2B5EF4-FFF2-40B4-BE49-F238E27FC236}">
                <a16:creationId xmlns:a16="http://schemas.microsoft.com/office/drawing/2014/main" id="{19B6237F-07ED-BDA1-132A-5FC7B5A3C75D}"/>
              </a:ext>
            </a:extLst>
          </p:cNvPr>
          <p:cNvSpPr>
            <a:spLocks noGrp="1" noChangeArrowheads="1"/>
          </p:cNvSpPr>
          <p:nvPr>
            <p:ph type="title"/>
          </p:nvPr>
        </p:nvSpPr>
        <p:spPr>
          <a:xfrm>
            <a:off x="668338" y="235898"/>
            <a:ext cx="5629299" cy="677863"/>
          </a:xfrm>
        </p:spPr>
        <p:txBody>
          <a:bodyPr/>
          <a:lstStyle/>
          <a:p>
            <a:pPr algn="l" eaLnBrk="1" hangingPunct="1"/>
            <a:r>
              <a:rPr lang="en-US" altLang="ko-Kore-KR" dirty="0">
                <a:solidFill>
                  <a:schemeClr val="tx1"/>
                </a:solidFill>
                <a:latin typeface="KaiTi" panose="02010609060101010101" pitchFamily="49" charset="-122"/>
                <a:ea typeface="KaiTi" panose="02010609060101010101" pitchFamily="49" charset="-122"/>
              </a:rPr>
              <a:t>BDT</a:t>
            </a:r>
            <a:endParaRPr lang="zh-CN" altLang="en-US" dirty="0">
              <a:solidFill>
                <a:schemeClr val="tx1"/>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179504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p:cNvSpPr/>
              <p:nvPr/>
            </p:nvSpPr>
            <p:spPr>
              <a:xfrm>
                <a:off x="3492658" y="3097182"/>
                <a:ext cx="59164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r>
                        <a:rPr lang="en-US" altLang="zh-CN" b="0" i="0"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𝑚</m:t>
                      </m:r>
                      <m:r>
                        <a:rPr lang="en-US" altLang="zh-CN" b="0" i="0" smtClean="0">
                          <a:latin typeface="Cambria Math" panose="02040503050406030204" pitchFamily="18" charset="0"/>
                          <a:ea typeface="Microsoft YaHei" charset="0"/>
                        </a:rPr>
                        <m:t>=1,2,</m:t>
                      </m:r>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𝑀</m:t>
                      </m:r>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3492658" y="3097182"/>
                <a:ext cx="5916428" cy="461665"/>
              </a:xfrm>
              <a:prstGeom prst="rect">
                <a:avLst/>
              </a:prstGeom>
              <a:blipFill>
                <a:blip r:embed="rId2"/>
                <a:stretch>
                  <a:fillRect b="-18421"/>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4485607" y="4031195"/>
                <a:ext cx="6217984"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acc>
                            <m:accPr>
                              <m:chr m:val="̂"/>
                              <m:ctrlPr>
                                <a:rPr lang="en-US" altLang="zh-CN" i="1" smtClean="0">
                                  <a:latin typeface="Cambria Math" panose="02040503050406030204" pitchFamily="18" charset="0"/>
                                  <a:ea typeface="Microsoft YaHei" charset="0"/>
                                </a:rPr>
                              </m:ctrlPr>
                            </m:accPr>
                            <m:e>
                              <m:r>
                                <a:rPr lang="zh-CN" altLang="en-US" i="1" smtClean="0">
                                  <a:latin typeface="Cambria Math" panose="02040503050406030204" pitchFamily="18" charset="0"/>
                                  <a:ea typeface="Microsoft YaHei" charset="0"/>
                                </a:rPr>
                                <m:t>𝜃</m:t>
                              </m:r>
                            </m:e>
                          </m:acc>
                        </m:e>
                        <m:sub>
                          <m:r>
                            <a:rPr lang="en-US" altLang="zh-CN" b="0" i="1" smtClean="0">
                              <a:latin typeface="Cambria Math" panose="02040503050406030204" pitchFamily="18" charset="0"/>
                              <a:ea typeface="Microsoft YaHei" charset="0"/>
                            </a:rPr>
                            <m:t>𝑚</m:t>
                          </m:r>
                        </m:sub>
                      </m:sSub>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𝑎𝑟𝑔</m:t>
                      </m:r>
                      <m:func>
                        <m:funcPr>
                          <m:ctrlPr>
                            <a:rPr lang="en-US" altLang="zh-CN" b="0" i="1" smtClean="0">
                              <a:latin typeface="Cambria Math" panose="02040503050406030204" pitchFamily="18" charset="0"/>
                              <a:ea typeface="Microsoft YaHei" charset="0"/>
                            </a:rPr>
                          </m:ctrlPr>
                        </m:funcPr>
                        <m:fName>
                          <m:limLow>
                            <m:limLowPr>
                              <m:ctrlPr>
                                <a:rPr lang="en-US" altLang="zh-CN" b="0" i="1" smtClean="0">
                                  <a:latin typeface="Cambria Math" panose="02040503050406030204" pitchFamily="18" charset="0"/>
                                  <a:ea typeface="Microsoft YaHei" charset="0"/>
                                </a:rPr>
                              </m:ctrlPr>
                            </m:limLowPr>
                            <m:e>
                              <m:r>
                                <m:rPr>
                                  <m:sty m:val="p"/>
                                </m:rPr>
                                <a:rPr lang="en-US" altLang="zh-CN" b="0" i="0" smtClean="0">
                                  <a:latin typeface="Cambria Math" panose="02040503050406030204" pitchFamily="18" charset="0"/>
                                  <a:ea typeface="Microsoft YaHei" charset="0"/>
                                </a:rPr>
                                <m:t>min</m:t>
                              </m:r>
                            </m:e>
                            <m:lim>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lim>
                          </m:limLow>
                        </m:fName>
                        <m:e>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𝑁</m:t>
                              </m:r>
                            </m:sup>
                            <m:e>
                              <m:r>
                                <a:rPr lang="en-US" altLang="zh-CN" b="0" i="1" smtClean="0">
                                  <a:latin typeface="Cambria Math" panose="02040503050406030204" pitchFamily="18" charset="0"/>
                                  <a:ea typeface="Microsoft YaHei" charset="0"/>
                                </a:rPr>
                                <m:t>𝐿</m:t>
                              </m:r>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r>
                                    <a:rPr lang="en-US" altLang="zh-CN" i="1">
                                      <a:latin typeface="Cambria Math" panose="02040503050406030204" pitchFamily="18" charset="0"/>
                                      <a:ea typeface="Microsoft YaHei" charset="0"/>
                                    </a:rPr>
                                    <m:t>)</m:t>
                                  </m:r>
                                  <m:r>
                                    <m:rPr>
                                      <m:nor/>
                                    </m:rPr>
                                    <a:rPr lang="zh-CN" altLang="en-US" dirty="0">
                                      <a:latin typeface="KaiTi" panose="02010609060101010101" pitchFamily="49" charset="-122"/>
                                      <a:ea typeface="KaiTi" panose="02010609060101010101" pitchFamily="49" charset="-122"/>
                                    </a:rPr>
                                    <m:t> </m:t>
                                  </m:r>
                                </m:e>
                              </m:d>
                            </m:e>
                          </m:nary>
                        </m:e>
                      </m:func>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485607" y="4031195"/>
                <a:ext cx="6217984" cy="1038489"/>
              </a:xfrm>
              <a:prstGeom prst="rect">
                <a:avLst/>
              </a:prstGeom>
              <a:blipFill>
                <a:blip r:embed="rId3"/>
                <a:stretch>
                  <a:fillRect t="-114458" b="-174699"/>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3676739" y="2153856"/>
                <a:ext cx="141667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0</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=0</m:t>
                      </m:r>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676739" y="2153856"/>
                <a:ext cx="1416670" cy="369332"/>
              </a:xfrm>
              <a:prstGeom prst="rect">
                <a:avLst/>
              </a:prstGeom>
              <a:blipFill>
                <a:blip r:embed="rId4"/>
                <a:stretch>
                  <a:fillRect l="-4425" r="-885" b="-36667"/>
                </a:stretch>
              </a:blipFill>
            </p:spPr>
            <p:txBody>
              <a:bodyPr/>
              <a:lstStyle/>
              <a:p>
                <a:r>
                  <a:rPr lang="ko-Kore-KR" altLang="en-US">
                    <a:noFill/>
                  </a:rPr>
                  <a:t> </a:t>
                </a:r>
              </a:p>
            </p:txBody>
          </p:sp>
        </mc:Fallback>
      </mc:AlternateContent>
      <p:sp>
        <p:nvSpPr>
          <p:cNvPr id="6" name="文本框 5"/>
          <p:cNvSpPr txBox="1"/>
          <p:nvPr/>
        </p:nvSpPr>
        <p:spPr>
          <a:xfrm>
            <a:off x="723930" y="1390177"/>
            <a:ext cx="6870669" cy="461665"/>
          </a:xfrm>
          <a:prstGeom prst="rect">
            <a:avLst/>
          </a:prstGeom>
          <a:noFill/>
        </p:spPr>
        <p:txBody>
          <a:bodyPr wrap="square" rtlCol="0">
            <a:spAutoFit/>
          </a:bodyPr>
          <a:lstStyle/>
          <a:p>
            <a:r>
              <a:rPr lang="zh-CN" altLang="en-US" b="1" dirty="0">
                <a:latin typeface="KaiTi" panose="02010609060101010101" pitchFamily="49" charset="-122"/>
                <a:ea typeface="KaiTi" panose="02010609060101010101" pitchFamily="49" charset="-122"/>
              </a:rPr>
              <a:t>提升树实际上是假发模型和前向分步算法：</a:t>
            </a:r>
          </a:p>
        </p:txBody>
      </p:sp>
      <mc:AlternateContent xmlns:mc="http://schemas.openxmlformats.org/markup-compatibility/2006" xmlns:a14="http://schemas.microsoft.com/office/drawing/2010/main">
        <mc:Choice Requires="a14">
          <p:sp>
            <p:nvSpPr>
              <p:cNvPr id="11" name="文本框 10"/>
              <p:cNvSpPr txBox="1"/>
              <p:nvPr/>
            </p:nvSpPr>
            <p:spPr>
              <a:xfrm>
                <a:off x="830720" y="4031258"/>
                <a:ext cx="3011530"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𝑀</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𝑀</m:t>
                          </m:r>
                        </m:sup>
                        <m:e>
                          <m:r>
                            <a:rPr lang="en-US" altLang="zh-CN" b="0" i="1" smtClean="0">
                              <a:latin typeface="Cambria Math" panose="02040503050406030204" pitchFamily="18" charset="0"/>
                              <a:ea typeface="Microsoft YaHei" charset="0"/>
                            </a:rPr>
                            <m:t>𝑇</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zh-CN" altLang="en-US" b="0" i="1" smtClean="0">
                                  <a:latin typeface="Cambria Math" panose="02040503050406030204" pitchFamily="18" charset="0"/>
                                  <a:ea typeface="Microsoft YaHei" charset="0"/>
                                </a:rPr>
                                <m:t>𝜃</m:t>
                              </m:r>
                            </m:e>
                            <m:sub>
                              <m:r>
                                <a:rPr lang="en-US" altLang="zh-CN" b="0" i="1" smtClean="0">
                                  <a:latin typeface="Cambria Math" panose="02040503050406030204" pitchFamily="18" charset="0"/>
                                  <a:ea typeface="Microsoft YaHei" charset="0"/>
                                </a:rPr>
                                <m:t>𝑚</m:t>
                              </m:r>
                            </m:sub>
                          </m:sSub>
                          <m:r>
                            <a:rPr lang="en-US" altLang="zh-CN" b="0" i="1" smtClean="0">
                              <a:latin typeface="Cambria Math" panose="02040503050406030204" pitchFamily="18" charset="0"/>
                              <a:ea typeface="Microsoft YaHei" charset="0"/>
                            </a:rPr>
                            <m:t>)</m:t>
                          </m:r>
                        </m:e>
                      </m:nary>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830720" y="4031258"/>
                <a:ext cx="3011530" cy="1038489"/>
              </a:xfrm>
              <a:prstGeom prst="rect">
                <a:avLst/>
              </a:prstGeom>
              <a:blipFill>
                <a:blip r:embed="rId5"/>
                <a:stretch>
                  <a:fillRect l="-1681" t="-114458" r="-1681" b="-174699"/>
                </a:stretch>
              </a:blipFill>
            </p:spPr>
            <p:txBody>
              <a:bodyPr/>
              <a:lstStyle/>
              <a:p>
                <a:r>
                  <a:rPr lang="ko-Kore-KR" altLang="en-US">
                    <a:noFill/>
                  </a:rPr>
                  <a:t> </a:t>
                </a:r>
              </a:p>
            </p:txBody>
          </p:sp>
        </mc:Fallback>
      </mc:AlternateContent>
      <p:sp>
        <p:nvSpPr>
          <p:cNvPr id="19" name="右箭头 18"/>
          <p:cNvSpPr/>
          <p:nvPr/>
        </p:nvSpPr>
        <p:spPr>
          <a:xfrm>
            <a:off x="3867989" y="4444698"/>
            <a:ext cx="441538" cy="258590"/>
          </a:xfrm>
          <a:prstGeom prst="rightArrow">
            <a:avLst/>
          </a:prstGeom>
          <a:solidFill>
            <a:srgbClr val="0066CC"/>
          </a:solidFill>
          <a:ln>
            <a:solidFill>
              <a:srgbClr val="0066CC"/>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28"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2" name="文本框 1">
            <a:extLst>
              <a:ext uri="{FF2B5EF4-FFF2-40B4-BE49-F238E27FC236}">
                <a16:creationId xmlns:a16="http://schemas.microsoft.com/office/drawing/2014/main" id="{3D11B369-13C6-44ED-ACCD-99434D735CD0}"/>
              </a:ext>
            </a:extLst>
          </p:cNvPr>
          <p:cNvSpPr txBox="1"/>
          <p:nvPr/>
        </p:nvSpPr>
        <p:spPr>
          <a:xfrm>
            <a:off x="5460112" y="2020775"/>
            <a:ext cx="2283656"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初始化提升树</a:t>
            </a:r>
          </a:p>
        </p:txBody>
      </p:sp>
      <p:cxnSp>
        <p:nvCxnSpPr>
          <p:cNvPr id="5" name="直接箭头连接符 4">
            <a:extLst>
              <a:ext uri="{FF2B5EF4-FFF2-40B4-BE49-F238E27FC236}">
                <a16:creationId xmlns:a16="http://schemas.microsoft.com/office/drawing/2014/main" id="{C570F90F-8F29-49AF-95E4-934B896DCC02}"/>
              </a:ext>
            </a:extLst>
          </p:cNvPr>
          <p:cNvCxnSpPr>
            <a:stCxn id="2" idx="1"/>
          </p:cNvCxnSpPr>
          <p:nvPr/>
        </p:nvCxnSpPr>
        <p:spPr>
          <a:xfrm flipH="1">
            <a:off x="5102778" y="2205441"/>
            <a:ext cx="357334" cy="869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A1FBF31-B626-468D-85A3-FE5B5E922038}"/>
                  </a:ext>
                </a:extLst>
              </p:cNvPr>
              <p:cNvSpPr txBox="1"/>
              <p:nvPr/>
            </p:nvSpPr>
            <p:spPr>
              <a:xfrm>
                <a:off x="7441313" y="2716393"/>
                <a:ext cx="2283656"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第</a:t>
                </a:r>
                <a14:m>
                  <m:oMath xmlns:m="http://schemas.openxmlformats.org/officeDocument/2006/math">
                    <m:r>
                      <a:rPr lang="en-US" altLang="zh-CN" sz="1800" b="0" i="1" smtClean="0">
                        <a:solidFill>
                          <a:srgbClr val="FF0000"/>
                        </a:solidFill>
                        <a:latin typeface="Cambria Math" panose="02040503050406030204" pitchFamily="18" charset="0"/>
                        <a:ea typeface="Microsoft YaHei" charset="0"/>
                      </a:rPr>
                      <m:t>𝑚</m:t>
                    </m:r>
                  </m:oMath>
                </a14:m>
                <a:r>
                  <a:rPr lang="zh-CN" altLang="en-US" sz="1800" dirty="0">
                    <a:solidFill>
                      <a:srgbClr val="FF0000"/>
                    </a:solidFill>
                    <a:latin typeface="KaiTi" panose="02010609060101010101" pitchFamily="49" charset="-122"/>
                    <a:ea typeface="KaiTi" panose="02010609060101010101" pitchFamily="49" charset="-122"/>
                  </a:rPr>
                  <a:t>棵决策树</a:t>
                </a:r>
              </a:p>
            </p:txBody>
          </p:sp>
        </mc:Choice>
        <mc:Fallback xmlns="">
          <p:sp>
            <p:nvSpPr>
              <p:cNvPr id="20" name="文本框 19">
                <a:extLst>
                  <a:ext uri="{FF2B5EF4-FFF2-40B4-BE49-F238E27FC236}">
                    <a16:creationId xmlns:a16="http://schemas.microsoft.com/office/drawing/2014/main" id="{3A1FBF31-B626-468D-85A3-FE5B5E922038}"/>
                  </a:ext>
                </a:extLst>
              </p:cNvPr>
              <p:cNvSpPr txBox="1">
                <a:spLocks noRot="1" noChangeAspect="1" noMove="1" noResize="1" noEditPoints="1" noAdjustHandles="1" noChangeArrowheads="1" noChangeShapeType="1" noTextEdit="1"/>
              </p:cNvSpPr>
              <p:nvPr/>
            </p:nvSpPr>
            <p:spPr>
              <a:xfrm>
                <a:off x="7441313" y="2716393"/>
                <a:ext cx="2283656" cy="369332"/>
              </a:xfrm>
              <a:prstGeom prst="rect">
                <a:avLst/>
              </a:prstGeom>
              <a:blipFill>
                <a:blip r:embed="rId6"/>
                <a:stretch>
                  <a:fillRect l="-2778" t="-13793" b="-24138"/>
                </a:stretch>
              </a:blipFill>
            </p:spPr>
            <p:txBody>
              <a:bodyPr/>
              <a:lstStyle/>
              <a:p>
                <a:r>
                  <a:rPr lang="ko-Kore-KR" altLang="en-US">
                    <a:noFill/>
                  </a:rPr>
                  <a:t> </a:t>
                </a:r>
              </a:p>
            </p:txBody>
          </p:sp>
        </mc:Fallback>
      </mc:AlternateContent>
      <p:cxnSp>
        <p:nvCxnSpPr>
          <p:cNvPr id="21" name="直接箭头连接符 20">
            <a:extLst>
              <a:ext uri="{FF2B5EF4-FFF2-40B4-BE49-F238E27FC236}">
                <a16:creationId xmlns:a16="http://schemas.microsoft.com/office/drawing/2014/main" id="{4E322451-BCAD-4111-97E3-6F9D49397168}"/>
              </a:ext>
            </a:extLst>
          </p:cNvPr>
          <p:cNvCxnSpPr>
            <a:cxnSpLocks/>
          </p:cNvCxnSpPr>
          <p:nvPr/>
        </p:nvCxnSpPr>
        <p:spPr>
          <a:xfrm flipH="1">
            <a:off x="7221417" y="3015175"/>
            <a:ext cx="278511" cy="1465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4AE2987-DFCE-4B4D-8CAF-F869487C67DD}"/>
                  </a:ext>
                </a:extLst>
              </p:cNvPr>
              <p:cNvSpPr txBox="1"/>
              <p:nvPr/>
            </p:nvSpPr>
            <p:spPr>
              <a:xfrm>
                <a:off x="1139483" y="2640421"/>
                <a:ext cx="1556826" cy="923330"/>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迭代</a:t>
                </a:r>
                <a14:m>
                  <m:oMath xmlns:m="http://schemas.openxmlformats.org/officeDocument/2006/math">
                    <m:r>
                      <a:rPr lang="en-US" altLang="zh-CN" sz="1800" i="1">
                        <a:solidFill>
                          <a:srgbClr val="FF0000"/>
                        </a:solidFill>
                        <a:latin typeface="Cambria Math" panose="02040503050406030204" pitchFamily="18" charset="0"/>
                        <a:ea typeface="Microsoft YaHei" charset="0"/>
                      </a:rPr>
                      <m:t>𝑚</m:t>
                    </m:r>
                  </m:oMath>
                </a14:m>
                <a:r>
                  <a:rPr lang="zh-CN" altLang="en-US" sz="1800" dirty="0">
                    <a:solidFill>
                      <a:srgbClr val="FF0000"/>
                    </a:solidFill>
                    <a:latin typeface="KaiTi" panose="02010609060101010101" pitchFamily="49" charset="-122"/>
                    <a:ea typeface="KaiTi" panose="02010609060101010101" pitchFamily="49" charset="-122"/>
                  </a:rPr>
                  <a:t>次，包含</a:t>
                </a:r>
                <a14:m>
                  <m:oMath xmlns:m="http://schemas.openxmlformats.org/officeDocument/2006/math">
                    <m:r>
                      <a:rPr lang="en-US" altLang="zh-CN" sz="1800" b="0" i="1" smtClean="0">
                        <a:solidFill>
                          <a:srgbClr val="FF0000"/>
                        </a:solidFill>
                        <a:latin typeface="Cambria Math" panose="02040503050406030204" pitchFamily="18" charset="0"/>
                        <a:ea typeface="Microsoft YaHei" charset="0"/>
                      </a:rPr>
                      <m:t>𝑚</m:t>
                    </m:r>
                  </m:oMath>
                </a14:m>
                <a:r>
                  <a:rPr lang="zh-CN" altLang="en-US" sz="1800" dirty="0">
                    <a:solidFill>
                      <a:srgbClr val="FF0000"/>
                    </a:solidFill>
                    <a:latin typeface="KaiTi" panose="02010609060101010101" pitchFamily="49" charset="-122"/>
                    <a:ea typeface="KaiTi" panose="02010609060101010101" pitchFamily="49" charset="-122"/>
                  </a:rPr>
                  <a:t>棵决策树的提升树</a:t>
                </a:r>
              </a:p>
            </p:txBody>
          </p:sp>
        </mc:Choice>
        <mc:Fallback xmlns="">
          <p:sp>
            <p:nvSpPr>
              <p:cNvPr id="22" name="文本框 21">
                <a:extLst>
                  <a:ext uri="{FF2B5EF4-FFF2-40B4-BE49-F238E27FC236}">
                    <a16:creationId xmlns:a16="http://schemas.microsoft.com/office/drawing/2014/main" id="{B4AE2987-DFCE-4B4D-8CAF-F869487C67DD}"/>
                  </a:ext>
                </a:extLst>
              </p:cNvPr>
              <p:cNvSpPr txBox="1">
                <a:spLocks noRot="1" noChangeAspect="1" noMove="1" noResize="1" noEditPoints="1" noAdjustHandles="1" noChangeArrowheads="1" noChangeShapeType="1" noTextEdit="1"/>
              </p:cNvSpPr>
              <p:nvPr/>
            </p:nvSpPr>
            <p:spPr>
              <a:xfrm>
                <a:off x="1139483" y="2640421"/>
                <a:ext cx="1556826" cy="923330"/>
              </a:xfrm>
              <a:prstGeom prst="rect">
                <a:avLst/>
              </a:prstGeom>
              <a:blipFill>
                <a:blip r:embed="rId7"/>
                <a:stretch>
                  <a:fillRect l="-3226" t="-4054" r="-806" b="-9459"/>
                </a:stretch>
              </a:blipFill>
            </p:spPr>
            <p:txBody>
              <a:bodyPr/>
              <a:lstStyle/>
              <a:p>
                <a:r>
                  <a:rPr lang="ko-Kore-KR" altLang="en-US">
                    <a:noFill/>
                  </a:rPr>
                  <a:t> </a:t>
                </a:r>
              </a:p>
            </p:txBody>
          </p:sp>
        </mc:Fallback>
      </mc:AlternateContent>
      <p:cxnSp>
        <p:nvCxnSpPr>
          <p:cNvPr id="23" name="直接箭头连接符 22">
            <a:extLst>
              <a:ext uri="{FF2B5EF4-FFF2-40B4-BE49-F238E27FC236}">
                <a16:creationId xmlns:a16="http://schemas.microsoft.com/office/drawing/2014/main" id="{E272F754-3310-4EA7-B0C1-A5D1EA6BE967}"/>
              </a:ext>
            </a:extLst>
          </p:cNvPr>
          <p:cNvCxnSpPr>
            <a:cxnSpLocks/>
          </p:cNvCxnSpPr>
          <p:nvPr/>
        </p:nvCxnSpPr>
        <p:spPr>
          <a:xfrm>
            <a:off x="2508738" y="3240585"/>
            <a:ext cx="110665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E8BEF112-6014-446E-B6E7-44431D0E99A8}"/>
              </a:ext>
            </a:extLst>
          </p:cNvPr>
          <p:cNvSpPr txBox="1"/>
          <p:nvPr/>
        </p:nvSpPr>
        <p:spPr>
          <a:xfrm>
            <a:off x="7462285" y="3936362"/>
            <a:ext cx="2283656"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真实值</a:t>
            </a:r>
          </a:p>
        </p:txBody>
      </p:sp>
      <p:cxnSp>
        <p:nvCxnSpPr>
          <p:cNvPr id="29" name="直接箭头连接符 28">
            <a:extLst>
              <a:ext uri="{FF2B5EF4-FFF2-40B4-BE49-F238E27FC236}">
                <a16:creationId xmlns:a16="http://schemas.microsoft.com/office/drawing/2014/main" id="{3FCFF3C8-E28D-439F-9D09-7C43320D9999}"/>
              </a:ext>
            </a:extLst>
          </p:cNvPr>
          <p:cNvCxnSpPr>
            <a:cxnSpLocks/>
          </p:cNvCxnSpPr>
          <p:nvPr/>
        </p:nvCxnSpPr>
        <p:spPr>
          <a:xfrm flipH="1">
            <a:off x="7242389" y="4195470"/>
            <a:ext cx="314568" cy="1861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BFDFCD4D-155A-40E6-9B66-4DD3930175FD}"/>
              </a:ext>
            </a:extLst>
          </p:cNvPr>
          <p:cNvSpPr txBox="1"/>
          <p:nvPr/>
        </p:nvSpPr>
        <p:spPr>
          <a:xfrm>
            <a:off x="7139311" y="5360863"/>
            <a:ext cx="1521568"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损失函数</a:t>
            </a:r>
          </a:p>
        </p:txBody>
      </p:sp>
      <p:cxnSp>
        <p:nvCxnSpPr>
          <p:cNvPr id="31" name="直接箭头连接符 30">
            <a:extLst>
              <a:ext uri="{FF2B5EF4-FFF2-40B4-BE49-F238E27FC236}">
                <a16:creationId xmlns:a16="http://schemas.microsoft.com/office/drawing/2014/main" id="{E29E4E33-197C-4DAF-93BA-B1694E3B4263}"/>
              </a:ext>
            </a:extLst>
          </p:cNvPr>
          <p:cNvCxnSpPr>
            <a:cxnSpLocks/>
          </p:cNvCxnSpPr>
          <p:nvPr/>
        </p:nvCxnSpPr>
        <p:spPr>
          <a:xfrm flipH="1" flipV="1">
            <a:off x="6907108" y="4746207"/>
            <a:ext cx="335280" cy="6906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2">
            <a:extLst>
              <a:ext uri="{FF2B5EF4-FFF2-40B4-BE49-F238E27FC236}">
                <a16:creationId xmlns:a16="http://schemas.microsoft.com/office/drawing/2014/main" id="{B7971B83-CEC5-468C-9A9F-75144E0BA69E}"/>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BDT</a:t>
            </a:r>
            <a:endParaRPr lang="zh-CN" altLang="en-US" dirty="0">
              <a:solidFill>
                <a:schemeClr val="tx1"/>
              </a:solidFill>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9" name="文本框 19">
                <a:extLst>
                  <a:ext uri="{FF2B5EF4-FFF2-40B4-BE49-F238E27FC236}">
                    <a16:creationId xmlns:a16="http://schemas.microsoft.com/office/drawing/2014/main" id="{0EC04125-FD6C-E3C2-0A00-7A2EE3CBD6E0}"/>
                  </a:ext>
                </a:extLst>
              </p:cNvPr>
              <p:cNvSpPr txBox="1"/>
              <p:nvPr/>
            </p:nvSpPr>
            <p:spPr>
              <a:xfrm>
                <a:off x="1576452" y="5241888"/>
                <a:ext cx="2703812" cy="369332"/>
              </a:xfrm>
              <a:prstGeom prst="rect">
                <a:avLst/>
              </a:prstGeom>
              <a:noFill/>
            </p:spPr>
            <p:txBody>
              <a:bodyPr wrap="square" rtlCol="0">
                <a:spAutoFit/>
              </a:bodyPr>
              <a:lstStyle/>
              <a:p>
                <a:r>
                  <a:rPr lang="zh-CN" altLang="en-US" sz="1800" dirty="0">
                    <a:solidFill>
                      <a:srgbClr val="FF0000"/>
                    </a:solidFill>
                    <a:latin typeface="KaiTi" panose="02010609060101010101" pitchFamily="49" charset="-122"/>
                    <a:ea typeface="KaiTi" panose="02010609060101010101" pitchFamily="49" charset="-122"/>
                  </a:rPr>
                  <a:t>包含</a:t>
                </a:r>
                <a14:m>
                  <m:oMath xmlns:m="http://schemas.openxmlformats.org/officeDocument/2006/math">
                    <m:r>
                      <a:rPr lang="en-US" altLang="zh-CN" sz="1800" b="0" i="1" smtClean="0">
                        <a:solidFill>
                          <a:srgbClr val="FF0000"/>
                        </a:solidFill>
                        <a:latin typeface="Cambria Math" panose="02040503050406030204" pitchFamily="18" charset="0"/>
                        <a:ea typeface="Microsoft YaHei" charset="0"/>
                      </a:rPr>
                      <m:t>𝑚</m:t>
                    </m:r>
                  </m:oMath>
                </a14:m>
                <a:r>
                  <a:rPr lang="zh-CN" altLang="en-US" sz="1800" dirty="0">
                    <a:solidFill>
                      <a:srgbClr val="FF0000"/>
                    </a:solidFill>
                    <a:latin typeface="KaiTi" panose="02010609060101010101" pitchFamily="49" charset="-122"/>
                    <a:ea typeface="KaiTi" panose="02010609060101010101" pitchFamily="49" charset="-122"/>
                  </a:rPr>
                  <a:t>棵决策树的提升树</a:t>
                </a:r>
              </a:p>
            </p:txBody>
          </p:sp>
        </mc:Choice>
        <mc:Fallback xmlns="">
          <p:sp>
            <p:nvSpPr>
              <p:cNvPr id="9" name="文本框 19">
                <a:extLst>
                  <a:ext uri="{FF2B5EF4-FFF2-40B4-BE49-F238E27FC236}">
                    <a16:creationId xmlns:a16="http://schemas.microsoft.com/office/drawing/2014/main" id="{0EC04125-FD6C-E3C2-0A00-7A2EE3CBD6E0}"/>
                  </a:ext>
                </a:extLst>
              </p:cNvPr>
              <p:cNvSpPr txBox="1">
                <a:spLocks noRot="1" noChangeAspect="1" noMove="1" noResize="1" noEditPoints="1" noAdjustHandles="1" noChangeArrowheads="1" noChangeShapeType="1" noTextEdit="1"/>
              </p:cNvSpPr>
              <p:nvPr/>
            </p:nvSpPr>
            <p:spPr>
              <a:xfrm>
                <a:off x="1576452" y="5241888"/>
                <a:ext cx="2703812" cy="369332"/>
              </a:xfrm>
              <a:prstGeom prst="rect">
                <a:avLst/>
              </a:prstGeom>
              <a:blipFill>
                <a:blip r:embed="rId8"/>
                <a:stretch>
                  <a:fillRect l="-1878" t="-10000" r="-469" b="-23333"/>
                </a:stretch>
              </a:blipFill>
            </p:spPr>
            <p:txBody>
              <a:bodyPr/>
              <a:lstStyle/>
              <a:p>
                <a:r>
                  <a:rPr lang="ko-Kore-KR" altLang="en-US">
                    <a:noFill/>
                  </a:rPr>
                  <a:t> </a:t>
                </a:r>
              </a:p>
            </p:txBody>
          </p:sp>
        </mc:Fallback>
      </mc:AlternateContent>
      <p:cxnSp>
        <p:nvCxnSpPr>
          <p:cNvPr id="10" name="直接箭头连接符 20">
            <a:extLst>
              <a:ext uri="{FF2B5EF4-FFF2-40B4-BE49-F238E27FC236}">
                <a16:creationId xmlns:a16="http://schemas.microsoft.com/office/drawing/2014/main" id="{C89943D4-214E-581F-D4D6-2EB1E35F7288}"/>
              </a:ext>
            </a:extLst>
          </p:cNvPr>
          <p:cNvCxnSpPr>
            <a:cxnSpLocks/>
          </p:cNvCxnSpPr>
          <p:nvPr/>
        </p:nvCxnSpPr>
        <p:spPr>
          <a:xfrm>
            <a:off x="1323398" y="4939190"/>
            <a:ext cx="330022" cy="2391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5">
                <a:extLst>
                  <a:ext uri="{FF2B5EF4-FFF2-40B4-BE49-F238E27FC236}">
                    <a16:creationId xmlns:a16="http://schemas.microsoft.com/office/drawing/2014/main" id="{CE0DF265-96F0-4659-7D38-345D16843A8F}"/>
                  </a:ext>
                </a:extLst>
              </p:cNvPr>
              <p:cNvSpPr txBox="1"/>
              <p:nvPr/>
            </p:nvSpPr>
            <p:spPr>
              <a:xfrm>
                <a:off x="1434119" y="5914216"/>
                <a:ext cx="9727036" cy="707886"/>
              </a:xfrm>
              <a:prstGeom prst="rect">
                <a:avLst/>
              </a:prstGeom>
              <a:noFill/>
            </p:spPr>
            <p:txBody>
              <a:bodyPr wrap="square" rtlCol="0">
                <a:spAutoFit/>
              </a:bodyPr>
              <a:lstStyle/>
              <a:p>
                <a:pPr algn="ctr"/>
                <a:r>
                  <a:rPr lang="zh-CN" altLang="en-US" sz="2000" b="1" dirty="0">
                    <a:latin typeface="KaiTi" panose="02010609060101010101" pitchFamily="49" charset="-122"/>
                    <a:ea typeface="KaiTi" panose="02010609060101010101" pitchFamily="49" charset="-122"/>
                  </a:rPr>
                  <a:t>得到第</a:t>
                </a:r>
                <a:r>
                  <a:rPr lang="en-US" altLang="zh-CN" sz="2000" b="1" dirty="0">
                    <a:latin typeface="KaiTi" panose="02010609060101010101" pitchFamily="49" charset="-122"/>
                    <a:ea typeface="KaiTi" panose="02010609060101010101" pitchFamily="49" charset="-122"/>
                  </a:rPr>
                  <a:t>m</a:t>
                </a:r>
                <a:r>
                  <a:rPr lang="zh-CN" altLang="en-US" sz="2000" b="1" dirty="0">
                    <a:latin typeface="KaiTi" panose="02010609060101010101" pitchFamily="49" charset="-122"/>
                    <a:ea typeface="KaiTi" panose="02010609060101010101" pitchFamily="49" charset="-122"/>
                  </a:rPr>
                  <a:t>棵决策树</a:t>
                </a:r>
                <a14:m>
                  <m:oMath xmlns:m="http://schemas.openxmlformats.org/officeDocument/2006/math">
                    <m:r>
                      <a:rPr lang="en-US" altLang="zh-CN" sz="2000" i="1">
                        <a:latin typeface="Cambria Math" panose="02040503050406030204" pitchFamily="18" charset="0"/>
                        <a:ea typeface="Microsoft YaHei" charset="0"/>
                      </a:rPr>
                      <m:t>𝑇</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𝑥</m:t>
                        </m:r>
                      </m:e>
                      <m:sub>
                        <m:r>
                          <a:rPr lang="en-US" altLang="zh-CN" sz="2000" i="1">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r>
                      <a:rPr lang="en-US" altLang="zh-CN" sz="2000" i="1">
                        <a:latin typeface="Cambria Math" panose="02040503050406030204" pitchFamily="18" charset="0"/>
                        <a:ea typeface="Microsoft YaHei" charset="0"/>
                      </a:rPr>
                      <m:t>)</m:t>
                    </m:r>
                    <m:r>
                      <m:rPr>
                        <m:nor/>
                      </m:rPr>
                      <a:rPr lang="en-US" altLang="zh-CN" sz="2000" b="0" i="0">
                        <a:latin typeface="Cambria Math" panose="02040503050406030204" pitchFamily="18" charset="0"/>
                        <a:ea typeface="Microsoft YaHei" charset="0"/>
                      </a:rPr>
                      <m:t>.</m:t>
                    </m:r>
                  </m:oMath>
                </a14:m>
                <a:r>
                  <a:rPr lang="en-US" altLang="zh-CN" sz="2000" b="1" dirty="0">
                    <a:latin typeface="KaiTi" panose="02010609060101010101" pitchFamily="49" charset="-122"/>
                    <a:ea typeface="KaiTi" panose="02010609060101010101" pitchFamily="49" charset="-122"/>
                  </a:rPr>
                  <a:t> </a:t>
                </a:r>
                <a:r>
                  <a:rPr lang="zh-CN" altLang="en-US" sz="2000" b="1" dirty="0">
                    <a:latin typeface="KaiTi" panose="02010609060101010101" pitchFamily="49" charset="-122"/>
                    <a:ea typeface="KaiTi" panose="02010609060101010101" pitchFamily="49" charset="-122"/>
                  </a:rPr>
                  <a:t>不同问题的提升树的区别在于损失函数不同个，如分类用指数损失函数，回归用平方误差损失</a:t>
                </a:r>
              </a:p>
            </p:txBody>
          </p:sp>
        </mc:Choice>
        <mc:Fallback xmlns="">
          <p:sp>
            <p:nvSpPr>
              <p:cNvPr id="18" name="文本框 5">
                <a:extLst>
                  <a:ext uri="{FF2B5EF4-FFF2-40B4-BE49-F238E27FC236}">
                    <a16:creationId xmlns:a16="http://schemas.microsoft.com/office/drawing/2014/main" id="{CE0DF265-96F0-4659-7D38-345D16843A8F}"/>
                  </a:ext>
                </a:extLst>
              </p:cNvPr>
              <p:cNvSpPr txBox="1">
                <a:spLocks noRot="1" noChangeAspect="1" noMove="1" noResize="1" noEditPoints="1" noAdjustHandles="1" noChangeArrowheads="1" noChangeShapeType="1" noTextEdit="1"/>
              </p:cNvSpPr>
              <p:nvPr/>
            </p:nvSpPr>
            <p:spPr>
              <a:xfrm>
                <a:off x="1434119" y="5914216"/>
                <a:ext cx="9727036" cy="707886"/>
              </a:xfrm>
              <a:prstGeom prst="rect">
                <a:avLst/>
              </a:prstGeom>
              <a:blipFill>
                <a:blip r:embed="rId9"/>
                <a:stretch>
                  <a:fillRect l="-391" t="-5263" r="-391" b="-1403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6" name="文本框 4">
                <a:extLst>
                  <a:ext uri="{FF2B5EF4-FFF2-40B4-BE49-F238E27FC236}">
                    <a16:creationId xmlns:a16="http://schemas.microsoft.com/office/drawing/2014/main" id="{88C7BA23-9174-5ED7-9DF1-C46C113A6FF1}"/>
                  </a:ext>
                </a:extLst>
              </p:cNvPr>
              <p:cNvSpPr txBox="1"/>
              <p:nvPr/>
            </p:nvSpPr>
            <p:spPr>
              <a:xfrm>
                <a:off x="7961302" y="1526141"/>
                <a:ext cx="3889012" cy="954107"/>
              </a:xfrm>
              <a:prstGeom prst="rect">
                <a:avLst/>
              </a:prstGeom>
              <a:solidFill>
                <a:schemeClr val="bg1">
                  <a:lumMod val="85000"/>
                </a:schemeClr>
              </a:solidFill>
            </p:spPr>
            <p:txBody>
              <a:bodyPr wrap="square" rtlCol="0">
                <a:spAutoFit/>
              </a:bodyPr>
              <a:lstStyle/>
              <a:p>
                <a:pPr algn="just"/>
                <a14:m>
                  <m:oMath xmlns:m="http://schemas.openxmlformats.org/officeDocument/2006/math">
                    <m:r>
                      <a:rPr lang="en-US" altLang="zh-CN" sz="1400" i="1">
                        <a:latin typeface="Cambria Math" panose="02040503050406030204" pitchFamily="18" charset="0"/>
                        <a:ea typeface="Microsoft YaHei" charset="0"/>
                      </a:rPr>
                      <m:t>𝑇</m:t>
                    </m:r>
                  </m:oMath>
                </a14:m>
                <a:r>
                  <a:rPr lang="zh-CN" altLang="en-US" sz="1400" dirty="0">
                    <a:latin typeface="KaiTi" panose="02010609060101010101" pitchFamily="49" charset="-122"/>
                    <a:ea typeface="KaiTi" panose="02010609060101010101" pitchFamily="49" charset="-122"/>
                  </a:rPr>
                  <a:t>为决策树，</a:t>
                </a:r>
                <a14:m>
                  <m:oMath xmlns:m="http://schemas.openxmlformats.org/officeDocument/2006/math">
                    <m:sSub>
                      <m:sSubPr>
                        <m:ctrlPr>
                          <a:rPr lang="en-US" altLang="zh-CN" sz="1400" i="1">
                            <a:latin typeface="Cambria Math" panose="02040503050406030204" pitchFamily="18" charset="0"/>
                            <a:ea typeface="Microsoft YaHei" charset="0"/>
                          </a:rPr>
                        </m:ctrlPr>
                      </m:sSubPr>
                      <m:e>
                        <m:r>
                          <a:rPr lang="zh-CN" altLang="en-US" sz="1400" i="1">
                            <a:latin typeface="Cambria Math" panose="02040503050406030204" pitchFamily="18" charset="0"/>
                            <a:ea typeface="Microsoft YaHei" charset="0"/>
                          </a:rPr>
                          <m:t>𝜃</m:t>
                        </m:r>
                      </m:e>
                      <m:sub>
                        <m:r>
                          <a:rPr lang="en-US" altLang="zh-CN" sz="1400" i="1">
                            <a:latin typeface="Cambria Math" panose="02040503050406030204" pitchFamily="18" charset="0"/>
                            <a:ea typeface="Microsoft YaHei" charset="0"/>
                          </a:rPr>
                          <m:t>𝑚</m:t>
                        </m:r>
                      </m:sub>
                    </m:sSub>
                  </m:oMath>
                </a14:m>
                <a:r>
                  <a:rPr lang="zh-CN" altLang="en-US" sz="1400" dirty="0">
                    <a:latin typeface="KaiTi" panose="02010609060101010101" pitchFamily="49" charset="-122"/>
                    <a:ea typeface="KaiTi" panose="02010609060101010101" pitchFamily="49" charset="-122"/>
                  </a:rPr>
                  <a:t>为参数，</a:t>
                </a:r>
                <a:r>
                  <a:rPr lang="en-US" altLang="zh-CN" sz="1400" dirty="0">
                    <a:latin typeface="KaiTi" panose="02010609060101010101" pitchFamily="49" charset="-122"/>
                    <a:ea typeface="KaiTi" panose="02010609060101010101" pitchFamily="49" charset="-122"/>
                  </a:rPr>
                  <a:t> </a:t>
                </a:r>
                <a14:m>
                  <m:oMath xmlns:m="http://schemas.openxmlformats.org/officeDocument/2006/math">
                    <m:r>
                      <a:rPr lang="en-US" altLang="zh-CN" sz="1400" i="1">
                        <a:latin typeface="Cambria Math" panose="02040503050406030204" pitchFamily="18" charset="0"/>
                        <a:ea typeface="Microsoft YaHei" charset="0"/>
                      </a:rPr>
                      <m:t>𝑀</m:t>
                    </m:r>
                  </m:oMath>
                </a14:m>
                <a:r>
                  <a:rPr lang="zh-CN" altLang="en-US" sz="1400" dirty="0">
                    <a:latin typeface="KaiTi" panose="02010609060101010101" pitchFamily="49" charset="-122"/>
                    <a:ea typeface="KaiTi" panose="02010609060101010101" pitchFamily="49" charset="-122"/>
                  </a:rPr>
                  <a:t>为树的数量</a:t>
                </a:r>
                <a:endParaRPr lang="en-US" altLang="zh-CN" sz="1400" dirty="0">
                  <a:latin typeface="KaiTi" panose="02010609060101010101" pitchFamily="49" charset="-122"/>
                  <a:ea typeface="KaiTi" panose="02010609060101010101" pitchFamily="49" charset="-122"/>
                </a:endParaRPr>
              </a:p>
              <a:p>
                <a:pPr algn="just"/>
                <a14:m>
                  <m:oMath xmlns:m="http://schemas.openxmlformats.org/officeDocument/2006/math">
                    <m:r>
                      <a:rPr lang="en-US" altLang="zh-CN" sz="1400" i="1">
                        <a:latin typeface="Cambria Math" panose="02040503050406030204" pitchFamily="18" charset="0"/>
                        <a:ea typeface="Microsoft YaHei" charset="0"/>
                      </a:rPr>
                      <m:t>𝑐</m:t>
                    </m:r>
                  </m:oMath>
                </a14:m>
                <a:r>
                  <a:rPr lang="zh-CN" altLang="en-US" sz="1400" dirty="0">
                    <a:latin typeface="KaiTi" panose="02010609060101010101" pitchFamily="49" charset="-122"/>
                    <a:ea typeface="KaiTi" panose="02010609060101010101" pitchFamily="49" charset="-122"/>
                  </a:rPr>
                  <a:t> 为常数，</a:t>
                </a:r>
                <a:r>
                  <a:rPr lang="en-US" altLang="zh-CN" sz="1400" dirty="0">
                    <a:latin typeface="KaiTi" panose="02010609060101010101" pitchFamily="49" charset="-122"/>
                    <a:ea typeface="KaiTi" panose="02010609060101010101" pitchFamily="49" charset="-122"/>
                  </a:rPr>
                  <a:t> </a:t>
                </a:r>
                <a14:m>
                  <m:oMath xmlns:m="http://schemas.openxmlformats.org/officeDocument/2006/math">
                    <m:r>
                      <a:rPr lang="en-US" altLang="zh-CN" sz="1400" i="1">
                        <a:latin typeface="Cambria Math" panose="02040503050406030204" pitchFamily="18" charset="0"/>
                        <a:ea typeface="Microsoft YaHei" charset="0"/>
                      </a:rPr>
                      <m:t>𝐽</m:t>
                    </m:r>
                  </m:oMath>
                </a14:m>
                <a:r>
                  <a:rPr lang="zh-CN" altLang="en-US" sz="1400" dirty="0">
                    <a:latin typeface="KaiTi" panose="02010609060101010101" pitchFamily="49" charset="-122"/>
                    <a:ea typeface="KaiTi" panose="02010609060101010101" pitchFamily="49" charset="-122"/>
                  </a:rPr>
                  <a:t> 为叶子节点</a:t>
                </a:r>
              </a:p>
              <a:p>
                <a:pPr algn="just"/>
                <a:r>
                  <a:rPr lang="en" altLang="zh-CN" sz="1400" dirty="0">
                    <a:latin typeface="KaiTi" panose="02010609060101010101" pitchFamily="49" charset="-122"/>
                    <a:ea typeface="KaiTi" panose="02010609060101010101" pitchFamily="49" charset="-122"/>
                  </a:rPr>
                  <a:t>𝐼</a:t>
                </a:r>
                <a:r>
                  <a:rPr lang="zh-CN" altLang="en-US" sz="1400" dirty="0">
                    <a:latin typeface="KaiTi" panose="02010609060101010101" pitchFamily="49" charset="-122"/>
                    <a:ea typeface="KaiTi" panose="02010609060101010101" pitchFamily="49" charset="-122"/>
                  </a:rPr>
                  <a:t> 是一个“指示函数”，表示如果样本落在第 </a:t>
                </a:r>
                <a:r>
                  <a:rPr lang="en" altLang="zh-CN" sz="1400" dirty="0">
                    <a:latin typeface="KaiTi" panose="02010609060101010101" pitchFamily="49" charset="-122"/>
                    <a:ea typeface="KaiTi" panose="02010609060101010101" pitchFamily="49" charset="-122"/>
                  </a:rPr>
                  <a:t>j </a:t>
                </a:r>
                <a:r>
                  <a:rPr lang="zh-CN" altLang="en-US" sz="1400" dirty="0">
                    <a:latin typeface="KaiTi" panose="02010609060101010101" pitchFamily="49" charset="-122"/>
                    <a:ea typeface="KaiTi" panose="02010609060101010101" pitchFamily="49" charset="-122"/>
                  </a:rPr>
                  <a:t>个叶子，就输出 𝑐𝑗</a:t>
                </a:r>
              </a:p>
            </p:txBody>
          </p:sp>
        </mc:Choice>
        <mc:Fallback xmlns="">
          <p:sp>
            <p:nvSpPr>
              <p:cNvPr id="26" name="文本框 4">
                <a:extLst>
                  <a:ext uri="{FF2B5EF4-FFF2-40B4-BE49-F238E27FC236}">
                    <a16:creationId xmlns:a16="http://schemas.microsoft.com/office/drawing/2014/main" id="{88C7BA23-9174-5ED7-9DF1-C46C113A6FF1}"/>
                  </a:ext>
                </a:extLst>
              </p:cNvPr>
              <p:cNvSpPr txBox="1">
                <a:spLocks noRot="1" noChangeAspect="1" noMove="1" noResize="1" noEditPoints="1" noAdjustHandles="1" noChangeArrowheads="1" noChangeShapeType="1" noTextEdit="1"/>
              </p:cNvSpPr>
              <p:nvPr/>
            </p:nvSpPr>
            <p:spPr>
              <a:xfrm>
                <a:off x="7961302" y="1526141"/>
                <a:ext cx="3889012" cy="954107"/>
              </a:xfrm>
              <a:prstGeom prst="rect">
                <a:avLst/>
              </a:prstGeom>
              <a:blipFill>
                <a:blip r:embed="rId10"/>
                <a:stretch>
                  <a:fillRect l="-325" t="-1316" r="-325" b="-6579"/>
                </a:stretch>
              </a:blipFill>
            </p:spPr>
            <p:txBody>
              <a:bodyPr/>
              <a:lstStyle/>
              <a:p>
                <a:r>
                  <a:rPr lang="ko-Kore-KR" altLang="en-US">
                    <a:noFill/>
                  </a:rPr>
                  <a:t> </a:t>
                </a:r>
              </a:p>
            </p:txBody>
          </p:sp>
        </mc:Fallback>
      </mc:AlternateContent>
    </p:spTree>
    <p:extLst>
      <p:ext uri="{BB962C8B-B14F-4D97-AF65-F5344CB8AC3E}">
        <p14:creationId xmlns:p14="http://schemas.microsoft.com/office/powerpoint/2010/main" val="1969268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BDT</a:t>
            </a:r>
            <a:endParaRPr lang="zh-CN" altLang="en-US" dirty="0">
              <a:solidFill>
                <a:schemeClr val="tx1"/>
              </a:solidFill>
              <a:latin typeface="KaiTi" panose="02010609060101010101" pitchFamily="49" charset="-122"/>
              <a:ea typeface="KaiTi" panose="02010609060101010101" pitchFamily="49" charset="-122"/>
            </a:endParaRPr>
          </a:p>
        </p:txBody>
      </p:sp>
      <p:pic>
        <p:nvPicPr>
          <p:cNvPr id="5" name="图片 4">
            <a:extLst>
              <a:ext uri="{FF2B5EF4-FFF2-40B4-BE49-F238E27FC236}">
                <a16:creationId xmlns:a16="http://schemas.microsoft.com/office/drawing/2014/main" id="{94F8CA5E-8CB1-4920-98A3-EDFBF1A6194B}"/>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41750" t="22295" r="25046"/>
          <a:stretch/>
        </p:blipFill>
        <p:spPr>
          <a:xfrm flipH="1">
            <a:off x="938252" y="2591531"/>
            <a:ext cx="1220864" cy="1891671"/>
          </a:xfrm>
          <a:prstGeom prst="rect">
            <a:avLst/>
          </a:prstGeom>
        </p:spPr>
      </p:pic>
      <p:cxnSp>
        <p:nvCxnSpPr>
          <p:cNvPr id="10" name="Google Shape;3386;p54">
            <a:extLst>
              <a:ext uri="{FF2B5EF4-FFF2-40B4-BE49-F238E27FC236}">
                <a16:creationId xmlns:a16="http://schemas.microsoft.com/office/drawing/2014/main" id="{330EEA6F-576D-4804-96E6-46F8137A4C04}"/>
              </a:ext>
            </a:extLst>
          </p:cNvPr>
          <p:cNvCxnSpPr>
            <a:cxnSpLocks/>
          </p:cNvCxnSpPr>
          <p:nvPr/>
        </p:nvCxnSpPr>
        <p:spPr>
          <a:xfrm>
            <a:off x="3320715" y="4497762"/>
            <a:ext cx="5005138"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8" name="流程图: 资料带 7">
            <a:extLst>
              <a:ext uri="{FF2B5EF4-FFF2-40B4-BE49-F238E27FC236}">
                <a16:creationId xmlns:a16="http://schemas.microsoft.com/office/drawing/2014/main" id="{259D2660-CEAE-4B6C-A926-CE3A4D11E67C}"/>
              </a:ext>
            </a:extLst>
          </p:cNvPr>
          <p:cNvSpPr/>
          <p:nvPr/>
        </p:nvSpPr>
        <p:spPr>
          <a:xfrm>
            <a:off x="9925994" y="2717163"/>
            <a:ext cx="770021" cy="82278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11" name="直接连接符 10">
            <a:extLst>
              <a:ext uri="{FF2B5EF4-FFF2-40B4-BE49-F238E27FC236}">
                <a16:creationId xmlns:a16="http://schemas.microsoft.com/office/drawing/2014/main" id="{BC2DE214-3377-47C5-942D-117D4F5BC501}"/>
              </a:ext>
            </a:extLst>
          </p:cNvPr>
          <p:cNvCxnSpPr>
            <a:cxnSpLocks/>
          </p:cNvCxnSpPr>
          <p:nvPr/>
        </p:nvCxnSpPr>
        <p:spPr>
          <a:xfrm>
            <a:off x="9913873" y="2789385"/>
            <a:ext cx="0" cy="1708377"/>
          </a:xfrm>
          <a:prstGeom prst="line">
            <a:avLst/>
          </a:prstGeom>
        </p:spPr>
        <p:style>
          <a:lnRef idx="2">
            <a:schemeClr val="accent4"/>
          </a:lnRef>
          <a:fillRef idx="0">
            <a:schemeClr val="accent4"/>
          </a:fillRef>
          <a:effectRef idx="1">
            <a:schemeClr val="accent4"/>
          </a:effectRef>
          <a:fontRef idx="minor">
            <a:schemeClr val="tx1"/>
          </a:fontRef>
        </p:style>
      </p:cxnSp>
      <p:cxnSp>
        <p:nvCxnSpPr>
          <p:cNvPr id="19" name="Google Shape;3386;p54">
            <a:extLst>
              <a:ext uri="{FF2B5EF4-FFF2-40B4-BE49-F238E27FC236}">
                <a16:creationId xmlns:a16="http://schemas.microsoft.com/office/drawing/2014/main" id="{B14267C7-3541-48F7-86C1-8DA988A1EC8F}"/>
              </a:ext>
            </a:extLst>
          </p:cNvPr>
          <p:cNvCxnSpPr>
            <a:cxnSpLocks/>
          </p:cNvCxnSpPr>
          <p:nvPr/>
        </p:nvCxnSpPr>
        <p:spPr>
          <a:xfrm>
            <a:off x="3328736" y="4964945"/>
            <a:ext cx="5827296"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20" name="Google Shape;3386;p54">
            <a:extLst>
              <a:ext uri="{FF2B5EF4-FFF2-40B4-BE49-F238E27FC236}">
                <a16:creationId xmlns:a16="http://schemas.microsoft.com/office/drawing/2014/main" id="{D0B252BC-D47A-4AB2-BE4E-CCDFCDAA95E7}"/>
              </a:ext>
            </a:extLst>
          </p:cNvPr>
          <p:cNvCxnSpPr>
            <a:cxnSpLocks/>
          </p:cNvCxnSpPr>
          <p:nvPr/>
        </p:nvCxnSpPr>
        <p:spPr>
          <a:xfrm>
            <a:off x="3320715" y="5501052"/>
            <a:ext cx="7367279"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23" name="Google Shape;3386;p54">
            <a:extLst>
              <a:ext uri="{FF2B5EF4-FFF2-40B4-BE49-F238E27FC236}">
                <a16:creationId xmlns:a16="http://schemas.microsoft.com/office/drawing/2014/main" id="{2A316632-B3E6-4B47-980D-E2BCFF86105F}"/>
              </a:ext>
            </a:extLst>
          </p:cNvPr>
          <p:cNvCxnSpPr>
            <a:cxnSpLocks/>
          </p:cNvCxnSpPr>
          <p:nvPr/>
        </p:nvCxnSpPr>
        <p:spPr>
          <a:xfrm>
            <a:off x="3316734" y="6038895"/>
            <a:ext cx="6248401"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24" name="Google Shape;3386;p54">
            <a:extLst>
              <a:ext uri="{FF2B5EF4-FFF2-40B4-BE49-F238E27FC236}">
                <a16:creationId xmlns:a16="http://schemas.microsoft.com/office/drawing/2014/main" id="{C6B6598D-695D-4134-88D0-B8685EAB55B7}"/>
              </a:ext>
            </a:extLst>
          </p:cNvPr>
          <p:cNvCxnSpPr>
            <a:cxnSpLocks/>
          </p:cNvCxnSpPr>
          <p:nvPr/>
        </p:nvCxnSpPr>
        <p:spPr>
          <a:xfrm>
            <a:off x="3316734" y="6557335"/>
            <a:ext cx="6597258" cy="0"/>
          </a:xfrm>
          <a:prstGeom prst="straightConnector1">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6" name="弧形 25">
            <a:extLst>
              <a:ext uri="{FF2B5EF4-FFF2-40B4-BE49-F238E27FC236}">
                <a16:creationId xmlns:a16="http://schemas.microsoft.com/office/drawing/2014/main" id="{5397DE84-843C-4F07-95C9-507937879F49}"/>
              </a:ext>
            </a:extLst>
          </p:cNvPr>
          <p:cNvSpPr/>
          <p:nvPr/>
        </p:nvSpPr>
        <p:spPr>
          <a:xfrm>
            <a:off x="3328736" y="3789948"/>
            <a:ext cx="4997117" cy="1309308"/>
          </a:xfrm>
          <a:prstGeom prst="arc">
            <a:avLst>
              <a:gd name="adj1" fmla="val 10861458"/>
              <a:gd name="adj2" fmla="val 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9" name="弧形 28">
            <a:extLst>
              <a:ext uri="{FF2B5EF4-FFF2-40B4-BE49-F238E27FC236}">
                <a16:creationId xmlns:a16="http://schemas.microsoft.com/office/drawing/2014/main" id="{D3F33F0A-F893-433A-B252-C3A39E03E2C7}"/>
              </a:ext>
            </a:extLst>
          </p:cNvPr>
          <p:cNvSpPr/>
          <p:nvPr/>
        </p:nvSpPr>
        <p:spPr>
          <a:xfrm>
            <a:off x="8275099" y="4648420"/>
            <a:ext cx="859614" cy="733370"/>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0" name="弧形 29">
            <a:extLst>
              <a:ext uri="{FF2B5EF4-FFF2-40B4-BE49-F238E27FC236}">
                <a16:creationId xmlns:a16="http://schemas.microsoft.com/office/drawing/2014/main" id="{3D44E6E1-BBA4-4068-9280-0AFF78E33F74}"/>
              </a:ext>
            </a:extLst>
          </p:cNvPr>
          <p:cNvSpPr/>
          <p:nvPr/>
        </p:nvSpPr>
        <p:spPr>
          <a:xfrm>
            <a:off x="9175967" y="4947196"/>
            <a:ext cx="1516037" cy="1058236"/>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1" name="弧形 30">
            <a:extLst>
              <a:ext uri="{FF2B5EF4-FFF2-40B4-BE49-F238E27FC236}">
                <a16:creationId xmlns:a16="http://schemas.microsoft.com/office/drawing/2014/main" id="{FB5CF0CC-F62F-4E17-9CCD-EC8184D0000D}"/>
              </a:ext>
            </a:extLst>
          </p:cNvPr>
          <p:cNvSpPr/>
          <p:nvPr/>
        </p:nvSpPr>
        <p:spPr>
          <a:xfrm>
            <a:off x="9565135" y="5635776"/>
            <a:ext cx="1118878" cy="729968"/>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2" name="弧形 31">
            <a:extLst>
              <a:ext uri="{FF2B5EF4-FFF2-40B4-BE49-F238E27FC236}">
                <a16:creationId xmlns:a16="http://schemas.microsoft.com/office/drawing/2014/main" id="{A6B3CCB1-43B5-42CE-8237-02129A6C3EF1}"/>
              </a:ext>
            </a:extLst>
          </p:cNvPr>
          <p:cNvSpPr/>
          <p:nvPr/>
        </p:nvSpPr>
        <p:spPr>
          <a:xfrm>
            <a:off x="9541185" y="6378157"/>
            <a:ext cx="323272" cy="289302"/>
          </a:xfrm>
          <a:prstGeom prst="arc">
            <a:avLst>
              <a:gd name="adj1" fmla="val 10861458"/>
              <a:gd name="adj2" fmla="val 21427430"/>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0C879E9-9178-4176-BB62-9F1F9E793B72}"/>
                  </a:ext>
                </a:extLst>
              </p:cNvPr>
              <p:cNvSpPr txBox="1"/>
              <p:nvPr/>
            </p:nvSpPr>
            <p:spPr>
              <a:xfrm>
                <a:off x="676544" y="4108888"/>
                <a:ext cx="421102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0</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4" name="文本框 33">
                <a:extLst>
                  <a:ext uri="{FF2B5EF4-FFF2-40B4-BE49-F238E27FC236}">
                    <a16:creationId xmlns:a16="http://schemas.microsoft.com/office/drawing/2014/main" id="{90C879E9-9178-4176-BB62-9F1F9E793B72}"/>
                  </a:ext>
                </a:extLst>
              </p:cNvPr>
              <p:cNvSpPr txBox="1">
                <a:spLocks noRot="1" noChangeAspect="1" noMove="1" noResize="1" noEditPoints="1" noAdjustHandles="1" noChangeArrowheads="1" noChangeShapeType="1" noTextEdit="1"/>
              </p:cNvSpPr>
              <p:nvPr/>
            </p:nvSpPr>
            <p:spPr>
              <a:xfrm>
                <a:off x="676544" y="4108888"/>
                <a:ext cx="4211023" cy="461665"/>
              </a:xfrm>
              <a:prstGeom prst="rect">
                <a:avLst/>
              </a:prstGeom>
              <a:blipFill>
                <a:blip r:embed="rId5"/>
                <a:stretch>
                  <a:fillRect b="-2162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FDA3A4C4-ED54-4C0D-B365-11DEA4B23400}"/>
                  </a:ext>
                </a:extLst>
              </p:cNvPr>
              <p:cNvSpPr txBox="1"/>
              <p:nvPr/>
            </p:nvSpPr>
            <p:spPr>
              <a:xfrm>
                <a:off x="1533781" y="4577722"/>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6" name="文本框 35">
                <a:extLst>
                  <a:ext uri="{FF2B5EF4-FFF2-40B4-BE49-F238E27FC236}">
                    <a16:creationId xmlns:a16="http://schemas.microsoft.com/office/drawing/2014/main" id="{FDA3A4C4-ED54-4C0D-B365-11DEA4B23400}"/>
                  </a:ext>
                </a:extLst>
              </p:cNvPr>
              <p:cNvSpPr txBox="1">
                <a:spLocks noRot="1" noChangeAspect="1" noMove="1" noResize="1" noEditPoints="1" noAdjustHandles="1" noChangeArrowheads="1" noChangeShapeType="1" noTextEdit="1"/>
              </p:cNvSpPr>
              <p:nvPr/>
            </p:nvSpPr>
            <p:spPr>
              <a:xfrm>
                <a:off x="1533781" y="4577722"/>
                <a:ext cx="2496551" cy="461665"/>
              </a:xfrm>
              <a:prstGeom prst="rect">
                <a:avLst/>
              </a:prstGeom>
              <a:blipFill>
                <a:blip r:embed="rId6"/>
                <a:stretch>
                  <a:fillRect b="-2162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B01FC4A-A666-4E22-9E64-C8B4C8B3560F}"/>
                  </a:ext>
                </a:extLst>
              </p:cNvPr>
              <p:cNvSpPr txBox="1"/>
              <p:nvPr/>
            </p:nvSpPr>
            <p:spPr>
              <a:xfrm>
                <a:off x="1493950" y="5064130"/>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2</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7" name="文本框 36">
                <a:extLst>
                  <a:ext uri="{FF2B5EF4-FFF2-40B4-BE49-F238E27FC236}">
                    <a16:creationId xmlns:a16="http://schemas.microsoft.com/office/drawing/2014/main" id="{4B01FC4A-A666-4E22-9E64-C8B4C8B3560F}"/>
                  </a:ext>
                </a:extLst>
              </p:cNvPr>
              <p:cNvSpPr txBox="1">
                <a:spLocks noRot="1" noChangeAspect="1" noMove="1" noResize="1" noEditPoints="1" noAdjustHandles="1" noChangeArrowheads="1" noChangeShapeType="1" noTextEdit="1"/>
              </p:cNvSpPr>
              <p:nvPr/>
            </p:nvSpPr>
            <p:spPr>
              <a:xfrm>
                <a:off x="1493950" y="5064130"/>
                <a:ext cx="2496551" cy="461665"/>
              </a:xfrm>
              <a:prstGeom prst="rect">
                <a:avLst/>
              </a:prstGeom>
              <a:blipFill>
                <a:blip r:embed="rId7"/>
                <a:stretch>
                  <a:fillRect b="-2162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A8FB17DC-17CA-4A85-8EE6-17FE4DEC2C22}"/>
                  </a:ext>
                </a:extLst>
              </p:cNvPr>
              <p:cNvSpPr txBox="1"/>
              <p:nvPr/>
            </p:nvSpPr>
            <p:spPr>
              <a:xfrm>
                <a:off x="1493948" y="5620315"/>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3</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8" name="文本框 37">
                <a:extLst>
                  <a:ext uri="{FF2B5EF4-FFF2-40B4-BE49-F238E27FC236}">
                    <a16:creationId xmlns:a16="http://schemas.microsoft.com/office/drawing/2014/main" id="{A8FB17DC-17CA-4A85-8EE6-17FE4DEC2C22}"/>
                  </a:ext>
                </a:extLst>
              </p:cNvPr>
              <p:cNvSpPr txBox="1">
                <a:spLocks noRot="1" noChangeAspect="1" noMove="1" noResize="1" noEditPoints="1" noAdjustHandles="1" noChangeArrowheads="1" noChangeShapeType="1" noTextEdit="1"/>
              </p:cNvSpPr>
              <p:nvPr/>
            </p:nvSpPr>
            <p:spPr>
              <a:xfrm>
                <a:off x="1493948" y="5620315"/>
                <a:ext cx="2496551" cy="461665"/>
              </a:xfrm>
              <a:prstGeom prst="rect">
                <a:avLst/>
              </a:prstGeom>
              <a:blipFill>
                <a:blip r:embed="rId8"/>
                <a:stretch>
                  <a:fillRect b="-18421"/>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8D717A3A-7ECC-40B0-86EB-314391A9A42A}"/>
                  </a:ext>
                </a:extLst>
              </p:cNvPr>
              <p:cNvSpPr txBox="1"/>
              <p:nvPr/>
            </p:nvSpPr>
            <p:spPr>
              <a:xfrm>
                <a:off x="1493949" y="6135529"/>
                <a:ext cx="249655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4</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9" name="文本框 38">
                <a:extLst>
                  <a:ext uri="{FF2B5EF4-FFF2-40B4-BE49-F238E27FC236}">
                    <a16:creationId xmlns:a16="http://schemas.microsoft.com/office/drawing/2014/main" id="{8D717A3A-7ECC-40B0-86EB-314391A9A42A}"/>
                  </a:ext>
                </a:extLst>
              </p:cNvPr>
              <p:cNvSpPr txBox="1">
                <a:spLocks noRot="1" noChangeAspect="1" noMove="1" noResize="1" noEditPoints="1" noAdjustHandles="1" noChangeArrowheads="1" noChangeShapeType="1" noTextEdit="1"/>
              </p:cNvSpPr>
              <p:nvPr/>
            </p:nvSpPr>
            <p:spPr>
              <a:xfrm>
                <a:off x="1493949" y="6135529"/>
                <a:ext cx="2496551" cy="461665"/>
              </a:xfrm>
              <a:prstGeom prst="rect">
                <a:avLst/>
              </a:prstGeom>
              <a:blipFill>
                <a:blip r:embed="rId9"/>
                <a:stretch>
                  <a:fillRect b="-2105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184792D8-4A58-4C05-8ABE-0E3D13E2A652}"/>
                  </a:ext>
                </a:extLst>
              </p:cNvPr>
              <p:cNvSpPr txBox="1"/>
              <p:nvPr/>
            </p:nvSpPr>
            <p:spPr>
              <a:xfrm>
                <a:off x="3281949" y="3213942"/>
                <a:ext cx="421102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0</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40" name="文本框 39">
                <a:extLst>
                  <a:ext uri="{FF2B5EF4-FFF2-40B4-BE49-F238E27FC236}">
                    <a16:creationId xmlns:a16="http://schemas.microsoft.com/office/drawing/2014/main" id="{184792D8-4A58-4C05-8ABE-0E3D13E2A652}"/>
                  </a:ext>
                </a:extLst>
              </p:cNvPr>
              <p:cNvSpPr txBox="1">
                <a:spLocks noRot="1" noChangeAspect="1" noMove="1" noResize="1" noEditPoints="1" noAdjustHandles="1" noChangeArrowheads="1" noChangeShapeType="1" noTextEdit="1"/>
              </p:cNvSpPr>
              <p:nvPr/>
            </p:nvSpPr>
            <p:spPr>
              <a:xfrm>
                <a:off x="3281949" y="3213942"/>
                <a:ext cx="4211023" cy="400110"/>
              </a:xfrm>
              <a:prstGeom prst="rect">
                <a:avLst/>
              </a:prstGeom>
              <a:blipFill>
                <a:blip r:embed="rId10"/>
                <a:stretch>
                  <a:fillRect b="-1515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48DF6920-1BFE-4EBD-885D-2088421D2185}"/>
                  </a:ext>
                </a:extLst>
              </p:cNvPr>
              <p:cNvSpPr txBox="1"/>
              <p:nvPr/>
            </p:nvSpPr>
            <p:spPr>
              <a:xfrm>
                <a:off x="8421152" y="4305616"/>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1</m:t>
                              </m:r>
                            </m:sub>
                          </m:sSub>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42" name="文本框 41">
                <a:extLst>
                  <a:ext uri="{FF2B5EF4-FFF2-40B4-BE49-F238E27FC236}">
                    <a16:creationId xmlns:a16="http://schemas.microsoft.com/office/drawing/2014/main" id="{48DF6920-1BFE-4EBD-885D-2088421D2185}"/>
                  </a:ext>
                </a:extLst>
              </p:cNvPr>
              <p:cNvSpPr txBox="1">
                <a:spLocks noRot="1" noChangeAspect="1" noMove="1" noResize="1" noEditPoints="1" noAdjustHandles="1" noChangeArrowheads="1" noChangeShapeType="1" noTextEdit="1"/>
              </p:cNvSpPr>
              <p:nvPr/>
            </p:nvSpPr>
            <p:spPr>
              <a:xfrm>
                <a:off x="8421152" y="4305616"/>
                <a:ext cx="1699656" cy="400110"/>
              </a:xfrm>
              <a:prstGeom prst="rect">
                <a:avLst/>
              </a:prstGeom>
              <a:blipFill>
                <a:blip r:embed="rId11"/>
                <a:stretch>
                  <a:fillRect b="-303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6AAD9A76-59E8-4611-8518-46EDBB464DF7}"/>
                  </a:ext>
                </a:extLst>
              </p:cNvPr>
              <p:cNvSpPr txBox="1"/>
              <p:nvPr/>
            </p:nvSpPr>
            <p:spPr>
              <a:xfrm>
                <a:off x="10414963" y="5635776"/>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3</m:t>
                              </m:r>
                            </m:sub>
                          </m:sSub>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43" name="文本框 42">
                <a:extLst>
                  <a:ext uri="{FF2B5EF4-FFF2-40B4-BE49-F238E27FC236}">
                    <a16:creationId xmlns:a16="http://schemas.microsoft.com/office/drawing/2014/main" id="{6AAD9A76-59E8-4611-8518-46EDBB464DF7}"/>
                  </a:ext>
                </a:extLst>
              </p:cNvPr>
              <p:cNvSpPr txBox="1">
                <a:spLocks noRot="1" noChangeAspect="1" noMove="1" noResize="1" noEditPoints="1" noAdjustHandles="1" noChangeArrowheads="1" noChangeShapeType="1" noTextEdit="1"/>
              </p:cNvSpPr>
              <p:nvPr/>
            </p:nvSpPr>
            <p:spPr>
              <a:xfrm>
                <a:off x="10414963" y="5635776"/>
                <a:ext cx="1699656" cy="400110"/>
              </a:xfrm>
              <a:prstGeom prst="rect">
                <a:avLst/>
              </a:prstGeom>
              <a:blipFill>
                <a:blip r:embed="rId12"/>
                <a:stretch>
                  <a:fillRect b="-312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727FF290-8F40-42DD-B31F-D4B00E8CB177}"/>
                  </a:ext>
                </a:extLst>
              </p:cNvPr>
              <p:cNvSpPr txBox="1"/>
              <p:nvPr/>
            </p:nvSpPr>
            <p:spPr>
              <a:xfrm>
                <a:off x="9988575" y="6197022"/>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4</m:t>
                              </m:r>
                            </m:sub>
                          </m:sSub>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44" name="文本框 43">
                <a:extLst>
                  <a:ext uri="{FF2B5EF4-FFF2-40B4-BE49-F238E27FC236}">
                    <a16:creationId xmlns:a16="http://schemas.microsoft.com/office/drawing/2014/main" id="{727FF290-8F40-42DD-B31F-D4B00E8CB177}"/>
                  </a:ext>
                </a:extLst>
              </p:cNvPr>
              <p:cNvSpPr txBox="1">
                <a:spLocks noRot="1" noChangeAspect="1" noMove="1" noResize="1" noEditPoints="1" noAdjustHandles="1" noChangeArrowheads="1" noChangeShapeType="1" noTextEdit="1"/>
              </p:cNvSpPr>
              <p:nvPr/>
            </p:nvSpPr>
            <p:spPr>
              <a:xfrm>
                <a:off x="9988575" y="6197022"/>
                <a:ext cx="1699656" cy="400110"/>
              </a:xfrm>
              <a:prstGeom prst="rect">
                <a:avLst/>
              </a:prstGeom>
              <a:blipFill>
                <a:blip r:embed="rId13"/>
                <a:stretch>
                  <a:fillRect b="-312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EAB82B25-BFC3-4CA4-80FF-DD3B79471F46}"/>
                  </a:ext>
                </a:extLst>
              </p:cNvPr>
              <p:cNvSpPr txBox="1"/>
              <p:nvPr/>
            </p:nvSpPr>
            <p:spPr>
              <a:xfrm>
                <a:off x="10238454" y="4776787"/>
                <a:ext cx="16996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b="0" i="1" smtClean="0">
                                  <a:latin typeface="Cambria Math" panose="02040503050406030204" pitchFamily="18" charset="0"/>
                                  <a:ea typeface="Microsoft YaHei" charset="0"/>
                                </a:rPr>
                                <m:t>2</m:t>
                              </m:r>
                            </m:sub>
                          </m:sSub>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45" name="文本框 44">
                <a:extLst>
                  <a:ext uri="{FF2B5EF4-FFF2-40B4-BE49-F238E27FC236}">
                    <a16:creationId xmlns:a16="http://schemas.microsoft.com/office/drawing/2014/main" id="{EAB82B25-BFC3-4CA4-80FF-DD3B79471F46}"/>
                  </a:ext>
                </a:extLst>
              </p:cNvPr>
              <p:cNvSpPr txBox="1">
                <a:spLocks noRot="1" noChangeAspect="1" noMove="1" noResize="1" noEditPoints="1" noAdjustHandles="1" noChangeArrowheads="1" noChangeShapeType="1" noTextEdit="1"/>
              </p:cNvSpPr>
              <p:nvPr/>
            </p:nvSpPr>
            <p:spPr>
              <a:xfrm>
                <a:off x="10238454" y="4776787"/>
                <a:ext cx="1699656" cy="400110"/>
              </a:xfrm>
              <a:prstGeom prst="rect">
                <a:avLst/>
              </a:prstGeom>
              <a:blipFill>
                <a:blip r:embed="rId14"/>
                <a:stretch>
                  <a:fillRect b="-312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316F43CE-7702-45F7-AC14-47A4FF2A293B}"/>
                  </a:ext>
                </a:extLst>
              </p:cNvPr>
              <p:cNvSpPr txBox="1"/>
              <p:nvPr/>
            </p:nvSpPr>
            <p:spPr>
              <a:xfrm>
                <a:off x="9887112" y="2891075"/>
                <a:ext cx="76951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smtClean="0">
                          <a:solidFill>
                            <a:srgbClr val="0066CC"/>
                          </a:solidFill>
                          <a:latin typeface="Cambria Math" panose="02040503050406030204" pitchFamily="18" charset="0"/>
                          <a:ea typeface="+mj-ea"/>
                          <a:cs typeface="Times New Roman" panose="02020603050405020304" pitchFamily="18" charset="0"/>
                        </a:rPr>
                        <m:t>𝑦</m:t>
                      </m:r>
                    </m:oMath>
                  </m:oMathPara>
                </a14:m>
                <a:endParaRPr lang="zh-CN" altLang="en-US" dirty="0">
                  <a:solidFill>
                    <a:srgbClr val="0066CC"/>
                  </a:solidFill>
                  <a:latin typeface="KaiTi" panose="02010609060101010101" pitchFamily="49" charset="-122"/>
                  <a:ea typeface="KaiTi" panose="02010609060101010101" pitchFamily="49" charset="-122"/>
                </a:endParaRPr>
              </a:p>
            </p:txBody>
          </p:sp>
        </mc:Choice>
        <mc:Fallback xmlns="">
          <p:sp>
            <p:nvSpPr>
              <p:cNvPr id="47" name="文本框 46">
                <a:extLst>
                  <a:ext uri="{FF2B5EF4-FFF2-40B4-BE49-F238E27FC236}">
                    <a16:creationId xmlns:a16="http://schemas.microsoft.com/office/drawing/2014/main" id="{316F43CE-7702-45F7-AC14-47A4FF2A293B}"/>
                  </a:ext>
                </a:extLst>
              </p:cNvPr>
              <p:cNvSpPr txBox="1">
                <a:spLocks noRot="1" noChangeAspect="1" noMove="1" noResize="1" noEditPoints="1" noAdjustHandles="1" noChangeArrowheads="1" noChangeShapeType="1" noTextEdit="1"/>
              </p:cNvSpPr>
              <p:nvPr/>
            </p:nvSpPr>
            <p:spPr>
              <a:xfrm>
                <a:off x="9887112" y="2891075"/>
                <a:ext cx="769519" cy="461665"/>
              </a:xfrm>
              <a:prstGeom prst="rect">
                <a:avLst/>
              </a:prstGeom>
              <a:blipFill>
                <a:blip r:embed="rId15"/>
                <a:stretch>
                  <a:fillRect b="-13514"/>
                </a:stretch>
              </a:blipFill>
            </p:spPr>
            <p:txBody>
              <a:bodyPr/>
              <a:lstStyle/>
              <a:p>
                <a:r>
                  <a:rPr lang="ko-Kore-KR" altLang="en-US">
                    <a:noFill/>
                  </a:rPr>
                  <a:t> </a:t>
                </a:r>
              </a:p>
            </p:txBody>
          </p:sp>
        </mc:Fallback>
      </mc:AlternateContent>
      <p:sp>
        <p:nvSpPr>
          <p:cNvPr id="46" name="椭圆 45">
            <a:extLst>
              <a:ext uri="{FF2B5EF4-FFF2-40B4-BE49-F238E27FC236}">
                <a16:creationId xmlns:a16="http://schemas.microsoft.com/office/drawing/2014/main" id="{A1213092-919C-4B17-BD19-1A87888ED016}"/>
              </a:ext>
            </a:extLst>
          </p:cNvPr>
          <p:cNvSpPr/>
          <p:nvPr/>
        </p:nvSpPr>
        <p:spPr>
          <a:xfrm>
            <a:off x="9864457" y="4428896"/>
            <a:ext cx="98832" cy="9119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213654C5-0277-481B-A6DF-029F6755D292}"/>
                  </a:ext>
                </a:extLst>
              </p:cNvPr>
              <p:cNvSpPr/>
              <p:nvPr/>
            </p:nvSpPr>
            <p:spPr>
              <a:xfrm>
                <a:off x="3717637" y="2312611"/>
                <a:ext cx="59164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r>
                        <a:rPr lang="en-US" altLang="zh-CN" b="0" i="0"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𝑚</m:t>
                      </m:r>
                      <m:r>
                        <a:rPr lang="en-US" altLang="zh-CN" b="0" i="0" smtClean="0">
                          <a:latin typeface="Cambria Math" panose="02040503050406030204" pitchFamily="18" charset="0"/>
                          <a:ea typeface="Microsoft YaHei" charset="0"/>
                        </a:rPr>
                        <m:t>=1,2,</m:t>
                      </m:r>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𝑀</m:t>
                      </m:r>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53" name="矩形 52">
                <a:extLst>
                  <a:ext uri="{FF2B5EF4-FFF2-40B4-BE49-F238E27FC236}">
                    <a16:creationId xmlns:a16="http://schemas.microsoft.com/office/drawing/2014/main" id="{213654C5-0277-481B-A6DF-029F6755D292}"/>
                  </a:ext>
                </a:extLst>
              </p:cNvPr>
              <p:cNvSpPr>
                <a:spLocks noRot="1" noChangeAspect="1" noMove="1" noResize="1" noEditPoints="1" noAdjustHandles="1" noChangeArrowheads="1" noChangeShapeType="1" noTextEdit="1"/>
              </p:cNvSpPr>
              <p:nvPr/>
            </p:nvSpPr>
            <p:spPr>
              <a:xfrm>
                <a:off x="3717637" y="2312611"/>
                <a:ext cx="5916428" cy="461665"/>
              </a:xfrm>
              <a:prstGeom prst="rect">
                <a:avLst/>
              </a:prstGeom>
              <a:blipFill>
                <a:blip r:embed="rId16"/>
                <a:stretch>
                  <a:fillRect b="-21053"/>
                </a:stretch>
              </a:blipFill>
            </p:spPr>
            <p:txBody>
              <a:bodyPr/>
              <a:lstStyle/>
              <a:p>
                <a:r>
                  <a:rPr lang="ko-Kore-KR" altLang="en-US">
                    <a:noFill/>
                  </a:rPr>
                  <a:t> </a:t>
                </a:r>
              </a:p>
            </p:txBody>
          </p:sp>
        </mc:Fallback>
      </mc:AlternateContent>
      <p:sp>
        <p:nvSpPr>
          <p:cNvPr id="54" name="文本框 53">
            <a:extLst>
              <a:ext uri="{FF2B5EF4-FFF2-40B4-BE49-F238E27FC236}">
                <a16:creationId xmlns:a16="http://schemas.microsoft.com/office/drawing/2014/main" id="{EF363196-D942-4826-86D0-57178CE289A4}"/>
              </a:ext>
            </a:extLst>
          </p:cNvPr>
          <p:cNvSpPr txBox="1"/>
          <p:nvPr/>
        </p:nvSpPr>
        <p:spPr>
          <a:xfrm>
            <a:off x="723931" y="1390177"/>
            <a:ext cx="3365078" cy="461665"/>
          </a:xfrm>
          <a:prstGeom prst="rect">
            <a:avLst/>
          </a:prstGeom>
          <a:noFill/>
        </p:spPr>
        <p:txBody>
          <a:bodyPr wrap="square" rtlCol="0">
            <a:spAutoFit/>
          </a:bodyPr>
          <a:lstStyle/>
          <a:p>
            <a:r>
              <a:rPr lang="zh-CN" altLang="en-US" b="1" dirty="0">
                <a:latin typeface="KaiTi" panose="02010609060101010101" pitchFamily="49" charset="-122"/>
                <a:ea typeface="KaiTi" panose="02010609060101010101" pitchFamily="49" charset="-122"/>
              </a:rPr>
              <a:t>前向分步算法：</a:t>
            </a:r>
          </a:p>
        </p:txBody>
      </p:sp>
      <p:cxnSp>
        <p:nvCxnSpPr>
          <p:cNvPr id="60" name="直接连接符 59">
            <a:extLst>
              <a:ext uri="{FF2B5EF4-FFF2-40B4-BE49-F238E27FC236}">
                <a16:creationId xmlns:a16="http://schemas.microsoft.com/office/drawing/2014/main" id="{3DBC6AAC-1F1E-432F-A389-BBC5B7A1C698}"/>
              </a:ext>
            </a:extLst>
          </p:cNvPr>
          <p:cNvCxnSpPr>
            <a:cxnSpLocks/>
          </p:cNvCxnSpPr>
          <p:nvPr/>
        </p:nvCxnSpPr>
        <p:spPr>
          <a:xfrm>
            <a:off x="9913873" y="4444602"/>
            <a:ext cx="12121" cy="2343548"/>
          </a:xfrm>
          <a:prstGeom prst="line">
            <a:avLst/>
          </a:prstGeom>
          <a:ln>
            <a:solidFill>
              <a:srgbClr val="FF0000"/>
            </a:solidFill>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2224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0" grpId="0" animBg="1"/>
      <p:bldP spid="31" grpId="0" animBg="1"/>
      <p:bldP spid="32" grpId="0" animBg="1"/>
      <p:bldP spid="34" grpId="0"/>
      <p:bldP spid="36" grpId="0"/>
      <p:bldP spid="37" grpId="0"/>
      <p:bldP spid="38" grpId="0"/>
      <p:bldP spid="39" grpId="0"/>
      <p:bldP spid="40" grpId="0"/>
      <p:bldP spid="42" grpId="0"/>
      <p:bldP spid="43" grpId="0"/>
      <p:bldP spid="44" grpId="0"/>
      <p:bldP spid="4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30146" y="1361023"/>
            <a:ext cx="6096000" cy="461665"/>
          </a:xfrm>
          <a:prstGeom prst="rect">
            <a:avLst/>
          </a:prstGeom>
          <a:noFill/>
        </p:spPr>
        <p:txBody>
          <a:bodyPr wrap="square" rtlCol="0">
            <a:spAutoFit/>
          </a:bodyPr>
          <a:lstStyle/>
          <a:p>
            <a:r>
              <a:rPr lang="zh-CN" altLang="en-US" b="1" dirty="0">
                <a:latin typeface="KaiTi" panose="02010609060101010101" pitchFamily="49" charset="-122"/>
                <a:ea typeface="KaiTi" panose="02010609060101010101" pitchFamily="49" charset="-122"/>
              </a:rPr>
              <a:t>当提升树采用（回归）平方损失函数时：</a:t>
            </a:r>
          </a:p>
        </p:txBody>
      </p:sp>
      <p:sp>
        <p:nvSpPr>
          <p:cNvPr id="28"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6C4D3E35-AC35-4EBA-87A6-61019DCF895C}"/>
                  </a:ext>
                </a:extLst>
              </p:cNvPr>
              <p:cNvSpPr/>
              <p:nvPr/>
            </p:nvSpPr>
            <p:spPr>
              <a:xfrm>
                <a:off x="925369" y="2113323"/>
                <a:ext cx="3564374" cy="8785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𝑓</m:t>
                          </m:r>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e>
                      </m:d>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oMath>
                  </m:oMathPara>
                </a14:m>
                <a:endParaRPr lang="zh-CN" altLang="en-US" dirty="0">
                  <a:latin typeface="KaiTi" panose="02010609060101010101" pitchFamily="49" charset="-122"/>
                  <a:ea typeface="KaiTi" panose="02010609060101010101" pitchFamily="49" charset="-122"/>
                </a:endParaRPr>
              </a:p>
              <a:p>
                <a:endParaRPr lang="zh-CN" altLang="en-US" dirty="0">
                  <a:latin typeface="KaiTi" panose="02010609060101010101" pitchFamily="49" charset="-122"/>
                  <a:ea typeface="KaiTi" panose="02010609060101010101" pitchFamily="49" charset="-122"/>
                </a:endParaRPr>
              </a:p>
            </p:txBody>
          </p:sp>
        </mc:Choice>
        <mc:Fallback xmlns="">
          <p:sp>
            <p:nvSpPr>
              <p:cNvPr id="20" name="矩形 19">
                <a:extLst>
                  <a:ext uri="{FF2B5EF4-FFF2-40B4-BE49-F238E27FC236}">
                    <a16:creationId xmlns:a16="http://schemas.microsoft.com/office/drawing/2014/main" id="{6C4D3E35-AC35-4EBA-87A6-61019DCF895C}"/>
                  </a:ext>
                </a:extLst>
              </p:cNvPr>
              <p:cNvSpPr>
                <a:spLocks noRot="1" noChangeAspect="1" noMove="1" noResize="1" noEditPoints="1" noAdjustHandles="1" noChangeArrowheads="1" noChangeShapeType="1" noTextEdit="1"/>
              </p:cNvSpPr>
              <p:nvPr/>
            </p:nvSpPr>
            <p:spPr>
              <a:xfrm>
                <a:off x="925369" y="2113323"/>
                <a:ext cx="3564374" cy="878510"/>
              </a:xfrm>
              <a:prstGeom prst="rect">
                <a:avLst/>
              </a:prstGeom>
              <a:blipFill>
                <a:blip r:embed="rId2"/>
                <a:stretch>
                  <a:fillRect/>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5036BAF5-B938-448C-AD0F-2FE3C2A8C377}"/>
                  </a:ext>
                </a:extLst>
              </p:cNvPr>
              <p:cNvSpPr/>
              <p:nvPr/>
            </p:nvSpPr>
            <p:spPr>
              <a:xfrm>
                <a:off x="2008129" y="2618435"/>
                <a:ext cx="3958712" cy="5091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21" name="矩形 20">
                <a:extLst>
                  <a:ext uri="{FF2B5EF4-FFF2-40B4-BE49-F238E27FC236}">
                    <a16:creationId xmlns:a16="http://schemas.microsoft.com/office/drawing/2014/main" id="{5036BAF5-B938-448C-AD0F-2FE3C2A8C377}"/>
                  </a:ext>
                </a:extLst>
              </p:cNvPr>
              <p:cNvSpPr>
                <a:spLocks noRot="1" noChangeAspect="1" noMove="1" noResize="1" noEditPoints="1" noAdjustHandles="1" noChangeArrowheads="1" noChangeShapeType="1" noTextEdit="1"/>
              </p:cNvSpPr>
              <p:nvPr/>
            </p:nvSpPr>
            <p:spPr>
              <a:xfrm>
                <a:off x="2008129" y="2618435"/>
                <a:ext cx="3958712" cy="509178"/>
              </a:xfrm>
              <a:prstGeom prst="rect">
                <a:avLst/>
              </a:prstGeom>
              <a:blipFill>
                <a:blip r:embed="rId3"/>
                <a:stretch>
                  <a:fillRect b="-1219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FA4294B4-A40F-4DE3-9160-A9EF43B16383}"/>
                  </a:ext>
                </a:extLst>
              </p:cNvPr>
              <p:cNvSpPr/>
              <p:nvPr/>
            </p:nvSpPr>
            <p:spPr>
              <a:xfrm>
                <a:off x="2008129" y="3052498"/>
                <a:ext cx="236090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charset="0"/>
                        </a:rPr>
                        <m:t>=</m:t>
                      </m:r>
                      <m:sSup>
                        <m:sSupPr>
                          <m:ctrlPr>
                            <a:rPr lang="en-US" altLang="zh-CN" i="1" smtClean="0">
                              <a:latin typeface="Cambria Math" panose="02040503050406030204" pitchFamily="18" charset="0"/>
                              <a:ea typeface="Microsoft YaHei" charset="0"/>
                            </a:rPr>
                          </m:ctrlPr>
                        </m:sSupPr>
                        <m:e>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e>
                        <m:sup>
                          <m:r>
                            <a:rPr lang="en-US" altLang="zh-CN" i="1">
                              <a:latin typeface="Cambria Math" panose="02040503050406030204" pitchFamily="18" charset="0"/>
                              <a:ea typeface="Microsoft YaHei" charset="0"/>
                            </a:rPr>
                            <m:t>2</m:t>
                          </m:r>
                        </m:sup>
                      </m:sSup>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22" name="矩形 21">
                <a:extLst>
                  <a:ext uri="{FF2B5EF4-FFF2-40B4-BE49-F238E27FC236}">
                    <a16:creationId xmlns:a16="http://schemas.microsoft.com/office/drawing/2014/main" id="{FA4294B4-A40F-4DE3-9160-A9EF43B16383}"/>
                  </a:ext>
                </a:extLst>
              </p:cNvPr>
              <p:cNvSpPr>
                <a:spLocks noRot="1" noChangeAspect="1" noMove="1" noResize="1" noEditPoints="1" noAdjustHandles="1" noChangeArrowheads="1" noChangeShapeType="1" noTextEdit="1"/>
              </p:cNvSpPr>
              <p:nvPr/>
            </p:nvSpPr>
            <p:spPr>
              <a:xfrm>
                <a:off x="2008129" y="3052498"/>
                <a:ext cx="2360903" cy="461665"/>
              </a:xfrm>
              <a:prstGeom prst="rect">
                <a:avLst/>
              </a:prstGeom>
              <a:blipFill>
                <a:blip r:embed="rId4"/>
                <a:stretch>
                  <a:fillRect b="-2162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A73ED636-E616-4734-88D0-F05F112145EA}"/>
                  </a:ext>
                </a:extLst>
              </p:cNvPr>
              <p:cNvSpPr/>
              <p:nvPr/>
            </p:nvSpPr>
            <p:spPr>
              <a:xfrm>
                <a:off x="2034226" y="3528530"/>
                <a:ext cx="41227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a:latin typeface="Cambria Math" panose="02040503050406030204" pitchFamily="18" charset="0"/>
                              <a:ea typeface="Microsoft YaHei" charset="0"/>
                            </a:rPr>
                          </m:ctrlPr>
                        </m:sSupPr>
                        <m:e>
                          <m:r>
                            <a:rPr lang="en-US" altLang="zh-CN" i="1">
                              <a:latin typeface="Cambria Math" panose="02040503050406030204" pitchFamily="18" charset="0"/>
                              <a:ea typeface="Microsoft YaHei" charset="0"/>
                            </a:rPr>
                            <m:t>=</m:t>
                          </m:r>
                          <m:d>
                            <m:dPr>
                              <m:begChr m:val="["/>
                              <m:endChr m:val="]"/>
                              <m:ctrlPr>
                                <a:rPr lang="en-US" altLang="zh-CN" i="1" dirty="0">
                                  <a:latin typeface="Cambria Math" panose="02040503050406030204" pitchFamily="18" charset="0"/>
                                  <a:ea typeface="Microsoft YaHei" charset="0"/>
                                </a:rPr>
                              </m:ctrlPr>
                            </m:dPr>
                            <m:e>
                              <m:r>
                                <a:rPr lang="en-US" altLang="zh-CN" i="1" dirty="0">
                                  <a:latin typeface="Cambria Math" panose="02040503050406030204" pitchFamily="18" charset="0"/>
                                  <a:ea typeface="Microsoft YaHei" charset="0"/>
                                </a:rPr>
                                <m:t>𝑦</m:t>
                              </m:r>
                              <m:r>
                                <a:rPr lang="en-US" altLang="zh-CN" i="1" dirty="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e>
                          </m:d>
                        </m:e>
                        <m:sup>
                          <m:r>
                            <a:rPr lang="en-US" altLang="zh-CN" i="1" dirty="0">
                              <a:latin typeface="Cambria Math" panose="02040503050406030204" pitchFamily="18" charset="0"/>
                              <a:ea typeface="Microsoft YaHei" charset="0"/>
                            </a:rPr>
                            <m:t>2</m:t>
                          </m:r>
                        </m:sup>
                      </m:sSup>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23" name="矩形 22">
                <a:extLst>
                  <a:ext uri="{FF2B5EF4-FFF2-40B4-BE49-F238E27FC236}">
                    <a16:creationId xmlns:a16="http://schemas.microsoft.com/office/drawing/2014/main" id="{A73ED636-E616-4734-88D0-F05F112145EA}"/>
                  </a:ext>
                </a:extLst>
              </p:cNvPr>
              <p:cNvSpPr>
                <a:spLocks noRot="1" noChangeAspect="1" noMove="1" noResize="1" noEditPoints="1" noAdjustHandles="1" noChangeArrowheads="1" noChangeShapeType="1" noTextEdit="1"/>
              </p:cNvSpPr>
              <p:nvPr/>
            </p:nvSpPr>
            <p:spPr>
              <a:xfrm>
                <a:off x="2034226" y="3528530"/>
                <a:ext cx="4122732" cy="461665"/>
              </a:xfrm>
              <a:prstGeom prst="rect">
                <a:avLst/>
              </a:prstGeom>
              <a:blipFill>
                <a:blip r:embed="rId5"/>
                <a:stretch>
                  <a:fillRect b="-18421"/>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F8997692-C09E-4830-91EF-0451FAF2FC33}"/>
                  </a:ext>
                </a:extLst>
              </p:cNvPr>
              <p:cNvSpPr/>
              <p:nvPr/>
            </p:nvSpPr>
            <p:spPr>
              <a:xfrm>
                <a:off x="2034226" y="4006153"/>
                <a:ext cx="26624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Microsoft YaHei" charset="0"/>
                        </a:rPr>
                        <m:t>=</m:t>
                      </m:r>
                      <m:sSup>
                        <m:sSupPr>
                          <m:ctrlPr>
                            <a:rPr lang="en-US" altLang="zh-CN" i="1" dirty="0">
                              <a:latin typeface="Cambria Math" panose="02040503050406030204" pitchFamily="18" charset="0"/>
                              <a:ea typeface="Microsoft YaHei" charset="0"/>
                            </a:rPr>
                          </m:ctrlPr>
                        </m:sSupPr>
                        <m:e>
                          <m:d>
                            <m:dPr>
                              <m:begChr m:val="["/>
                              <m:endChr m:val="]"/>
                              <m:ctrlPr>
                                <a:rPr lang="en-US" altLang="zh-CN" i="1" dirty="0">
                                  <a:latin typeface="Cambria Math" panose="02040503050406030204" pitchFamily="18" charset="0"/>
                                  <a:ea typeface="Microsoft YaHei" charset="0"/>
                                </a:rPr>
                              </m:ctrlPr>
                            </m:dPr>
                            <m:e>
                              <m:r>
                                <a:rPr lang="en-US" altLang="zh-CN" i="1" dirty="0">
                                  <a:latin typeface="Cambria Math" panose="02040503050406030204" pitchFamily="18" charset="0"/>
                                  <a:ea typeface="Microsoft YaHei" charset="0"/>
                                </a:rPr>
                                <m:t>𝑟</m:t>
                              </m:r>
                              <m:r>
                                <a:rPr lang="en-US" altLang="zh-CN" i="1" dirty="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e>
                          </m:d>
                        </m:e>
                        <m:sup>
                          <m:r>
                            <a:rPr lang="en-US" altLang="zh-CN" i="1" dirty="0">
                              <a:latin typeface="Cambria Math" panose="02040503050406030204" pitchFamily="18" charset="0"/>
                              <a:ea typeface="Microsoft YaHei" charset="0"/>
                            </a:rPr>
                            <m:t>2</m:t>
                          </m:r>
                        </m:sup>
                      </m:sSup>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24" name="矩形 23">
                <a:extLst>
                  <a:ext uri="{FF2B5EF4-FFF2-40B4-BE49-F238E27FC236}">
                    <a16:creationId xmlns:a16="http://schemas.microsoft.com/office/drawing/2014/main" id="{F8997692-C09E-4830-91EF-0451FAF2FC33}"/>
                  </a:ext>
                </a:extLst>
              </p:cNvPr>
              <p:cNvSpPr>
                <a:spLocks noRot="1" noChangeAspect="1" noMove="1" noResize="1" noEditPoints="1" noAdjustHandles="1" noChangeArrowheads="1" noChangeShapeType="1" noTextEdit="1"/>
              </p:cNvSpPr>
              <p:nvPr/>
            </p:nvSpPr>
            <p:spPr>
              <a:xfrm>
                <a:off x="2034226" y="4006153"/>
                <a:ext cx="2662460" cy="461665"/>
              </a:xfrm>
              <a:prstGeom prst="rect">
                <a:avLst/>
              </a:prstGeom>
              <a:blipFill>
                <a:blip r:embed="rId6"/>
                <a:stretch>
                  <a:fillRect b="-270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E87EF864-C447-482F-89A5-024FF048C01F}"/>
                  </a:ext>
                </a:extLst>
              </p:cNvPr>
              <p:cNvSpPr txBox="1"/>
              <p:nvPr/>
            </p:nvSpPr>
            <p:spPr>
              <a:xfrm>
                <a:off x="977462" y="4718155"/>
                <a:ext cx="10640349" cy="369332"/>
              </a:xfrm>
              <a:prstGeom prst="rect">
                <a:avLst/>
              </a:prstGeom>
              <a:noFill/>
            </p:spPr>
            <p:txBody>
              <a:bodyPr wrap="none" lIns="0" tIns="0" rIns="0" bIns="0" rtlCol="0">
                <a:spAutoFit/>
              </a:bodyPr>
              <a:lstStyle/>
              <a:p>
                <a:r>
                  <a:rPr lang="zh-CN" altLang="en-US" b="0" dirty="0">
                    <a:latin typeface="KaiTi" panose="02010609060101010101" pitchFamily="49" charset="-122"/>
                    <a:ea typeface="KaiTi" panose="02010609060101010101" pitchFamily="49" charset="-122"/>
                  </a:rPr>
                  <a:t>其中</a:t>
                </a:r>
                <a14:m>
                  <m:oMath xmlns:m="http://schemas.openxmlformats.org/officeDocument/2006/math">
                    <m:r>
                      <a:rPr lang="zh-CN" altLang="en-US"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𝑟</m:t>
                    </m:r>
                    <m:r>
                      <a:rPr lang="en-US" altLang="zh-CN" b="0" i="1" smtClean="0">
                        <a:latin typeface="Cambria Math" panose="02040503050406030204" pitchFamily="18" charset="0"/>
                        <a:ea typeface="Microsoft YaHei" charset="0"/>
                      </a:rPr>
                      <m:t>=</m:t>
                    </m:r>
                    <m:r>
                      <a:rPr lang="en-US" altLang="zh-CN" i="1" dirty="0">
                        <a:latin typeface="Cambria Math" panose="02040503050406030204" pitchFamily="18" charset="0"/>
                        <a:ea typeface="Microsoft YaHei" charset="0"/>
                      </a:rPr>
                      <m:t>𝑦</m:t>
                    </m:r>
                    <m:r>
                      <a:rPr lang="en-US" altLang="zh-CN" i="1" dirty="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𝑚</m:t>
                        </m:r>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r>
                  <a:rPr lang="zh-CN" altLang="en-US" dirty="0">
                    <a:latin typeface="KaiTi" panose="02010609060101010101" pitchFamily="49" charset="-122"/>
                    <a:ea typeface="KaiTi" panose="02010609060101010101" pitchFamily="49" charset="-122"/>
                  </a:rPr>
                  <a:t>，为残差，所以第</a:t>
                </a:r>
                <a14:m>
                  <m:oMath xmlns:m="http://schemas.openxmlformats.org/officeDocument/2006/math">
                    <m:r>
                      <a:rPr lang="en-US" altLang="zh-CN" i="1">
                        <a:solidFill>
                          <a:srgbClr val="FF0000"/>
                        </a:solidFill>
                        <a:latin typeface="Cambria Math" panose="02040503050406030204" pitchFamily="18" charset="0"/>
                        <a:ea typeface="Microsoft YaHei" charset="0"/>
                      </a:rPr>
                      <m:t>𝑚</m:t>
                    </m:r>
                  </m:oMath>
                </a14:m>
                <a:r>
                  <a:rPr lang="zh-CN" altLang="en-US" dirty="0">
                    <a:latin typeface="KaiTi" panose="02010609060101010101" pitchFamily="49" charset="-122"/>
                    <a:ea typeface="KaiTi" panose="02010609060101010101" pitchFamily="49" charset="-122"/>
                  </a:rPr>
                  <a:t>棵决策树</a:t>
                </a:r>
                <a14:m>
                  <m:oMath xmlns:m="http://schemas.openxmlformats.org/officeDocument/2006/math">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oMath>
                </a14:m>
                <a:r>
                  <a:rPr lang="zh-CN" altLang="en-US" dirty="0">
                    <a:latin typeface="KaiTi" panose="02010609060101010101" pitchFamily="49" charset="-122"/>
                    <a:ea typeface="KaiTi" panose="02010609060101010101" pitchFamily="49" charset="-122"/>
                  </a:rPr>
                  <a:t>是对该残差的拟合</a:t>
                </a:r>
                <a:endParaRPr lang="en-US" altLang="zh-CN" dirty="0">
                  <a:latin typeface="KaiTi" panose="02010609060101010101" pitchFamily="49" charset="-122"/>
                  <a:ea typeface="KaiTi" panose="02010609060101010101" pitchFamily="49" charset="-122"/>
                </a:endParaRPr>
              </a:p>
            </p:txBody>
          </p:sp>
        </mc:Choice>
        <mc:Fallback xmlns="">
          <p:sp>
            <p:nvSpPr>
              <p:cNvPr id="25" name="文本框 24">
                <a:extLst>
                  <a:ext uri="{FF2B5EF4-FFF2-40B4-BE49-F238E27FC236}">
                    <a16:creationId xmlns:a16="http://schemas.microsoft.com/office/drawing/2014/main" id="{E87EF864-C447-482F-89A5-024FF048C01F}"/>
                  </a:ext>
                </a:extLst>
              </p:cNvPr>
              <p:cNvSpPr txBox="1">
                <a:spLocks noRot="1" noChangeAspect="1" noMove="1" noResize="1" noEditPoints="1" noAdjustHandles="1" noChangeArrowheads="1" noChangeShapeType="1" noTextEdit="1"/>
              </p:cNvSpPr>
              <p:nvPr/>
            </p:nvSpPr>
            <p:spPr>
              <a:xfrm>
                <a:off x="977462" y="4718155"/>
                <a:ext cx="10640349" cy="369332"/>
              </a:xfrm>
              <a:prstGeom prst="rect">
                <a:avLst/>
              </a:prstGeom>
              <a:blipFill>
                <a:blip r:embed="rId7"/>
                <a:stretch>
                  <a:fillRect l="-1669" t="-30000" r="-834" b="-46667"/>
                </a:stretch>
              </a:blipFill>
            </p:spPr>
            <p:txBody>
              <a:bodyPr/>
              <a:lstStyle/>
              <a:p>
                <a:r>
                  <a:rPr lang="ko-Kore-KR" altLang="en-US">
                    <a:noFill/>
                  </a:rPr>
                  <a:t> </a:t>
                </a:r>
              </a:p>
            </p:txBody>
          </p:sp>
        </mc:Fallback>
      </mc:AlternateContent>
      <p:sp>
        <p:nvSpPr>
          <p:cNvPr id="30" name="文本框 29">
            <a:extLst>
              <a:ext uri="{FF2B5EF4-FFF2-40B4-BE49-F238E27FC236}">
                <a16:creationId xmlns:a16="http://schemas.microsoft.com/office/drawing/2014/main" id="{1222474A-143B-4AC0-ACEE-A1DCCF53032C}"/>
              </a:ext>
            </a:extLst>
          </p:cNvPr>
          <p:cNvSpPr txBox="1"/>
          <p:nvPr/>
        </p:nvSpPr>
        <p:spPr>
          <a:xfrm>
            <a:off x="827833" y="6058360"/>
            <a:ext cx="9687951" cy="461665"/>
          </a:xfrm>
          <a:prstGeom prst="rect">
            <a:avLst/>
          </a:prstGeom>
          <a:noFill/>
        </p:spPr>
        <p:txBody>
          <a:bodyPr wrap="square">
            <a:spAutoFit/>
          </a:bodyPr>
          <a:lstStyle/>
          <a:p>
            <a:r>
              <a:rPr lang="zh-CN" altLang="en-US" dirty="0">
                <a:latin typeface="KaiTi" panose="02010609060101010101" pitchFamily="49" charset="-122"/>
                <a:ea typeface="KaiTi" panose="02010609060101010101" pitchFamily="49" charset="-122"/>
              </a:rPr>
              <a:t>注意：提升树算法中的基学习器CART树是回归树</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016CE8D5-D8E6-4FEE-A4EE-8F7D007B09FE}"/>
                  </a:ext>
                </a:extLst>
              </p:cNvPr>
              <p:cNvSpPr txBox="1"/>
              <p:nvPr/>
            </p:nvSpPr>
            <p:spPr>
              <a:xfrm>
                <a:off x="5433880" y="1862873"/>
                <a:ext cx="6096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𝑇</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zh-CN" altLang="en-US" i="1">
                                  <a:latin typeface="Cambria Math" panose="02040503050406030204" pitchFamily="18" charset="0"/>
                                  <a:ea typeface="Microsoft YaHei" charset="0"/>
                                </a:rPr>
                                <m:t>𝜃</m:t>
                              </m:r>
                            </m:e>
                            <m:sub>
                              <m:r>
                                <a:rPr lang="en-US" altLang="zh-CN" i="1">
                                  <a:latin typeface="Cambria Math" panose="02040503050406030204" pitchFamily="18" charset="0"/>
                                  <a:ea typeface="Microsoft YaHei" charset="0"/>
                                </a:rPr>
                                <m:t>𝑚</m:t>
                              </m:r>
                            </m:sub>
                          </m:sSub>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1" name="文本框 30">
                <a:extLst>
                  <a:ext uri="{FF2B5EF4-FFF2-40B4-BE49-F238E27FC236}">
                    <a16:creationId xmlns:a16="http://schemas.microsoft.com/office/drawing/2014/main" id="{016CE8D5-D8E6-4FEE-A4EE-8F7D007B09FE}"/>
                  </a:ext>
                </a:extLst>
              </p:cNvPr>
              <p:cNvSpPr txBox="1">
                <a:spLocks noRot="1" noChangeAspect="1" noMove="1" noResize="1" noEditPoints="1" noAdjustHandles="1" noChangeArrowheads="1" noChangeShapeType="1" noTextEdit="1"/>
              </p:cNvSpPr>
              <p:nvPr/>
            </p:nvSpPr>
            <p:spPr>
              <a:xfrm>
                <a:off x="5433880" y="1862873"/>
                <a:ext cx="6096000" cy="461665"/>
              </a:xfrm>
              <a:prstGeom prst="rect">
                <a:avLst/>
              </a:prstGeom>
              <a:blipFill>
                <a:blip r:embed="rId8"/>
                <a:stretch>
                  <a:fillRect b="-21622"/>
                </a:stretch>
              </a:blipFill>
            </p:spPr>
            <p:txBody>
              <a:bodyPr/>
              <a:lstStyle/>
              <a:p>
                <a:r>
                  <a:rPr lang="ko-Kore-KR" altLang="en-US">
                    <a:noFill/>
                  </a:rPr>
                  <a:t> </a:t>
                </a:r>
              </a:p>
            </p:txBody>
          </p:sp>
        </mc:Fallback>
      </mc:AlternateContent>
      <p:cxnSp>
        <p:nvCxnSpPr>
          <p:cNvPr id="12" name="直接连接符 11">
            <a:extLst>
              <a:ext uri="{FF2B5EF4-FFF2-40B4-BE49-F238E27FC236}">
                <a16:creationId xmlns:a16="http://schemas.microsoft.com/office/drawing/2014/main" id="{FC2E6946-A959-45DE-94C5-7D5C99105CE4}"/>
              </a:ext>
            </a:extLst>
          </p:cNvPr>
          <p:cNvCxnSpPr/>
          <p:nvPr/>
        </p:nvCxnSpPr>
        <p:spPr>
          <a:xfrm>
            <a:off x="2524398" y="4004562"/>
            <a:ext cx="1613096"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sp>
        <p:nvSpPr>
          <p:cNvPr id="33" name="Rectangle 2">
            <a:extLst>
              <a:ext uri="{FF2B5EF4-FFF2-40B4-BE49-F238E27FC236}">
                <a16:creationId xmlns:a16="http://schemas.microsoft.com/office/drawing/2014/main" id="{7F4AE3F8-41DC-469F-87C6-3C6A60BF4FF8}"/>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BDT</a:t>
            </a:r>
            <a:endParaRPr lang="zh-CN" altLang="en-US" dirty="0">
              <a:solidFill>
                <a:schemeClr val="tx1"/>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9644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p:cTn id="28" dur="500" fill="hold"/>
                                        <p:tgtEl>
                                          <p:spTgt spid="23"/>
                                        </p:tgtEl>
                                        <p:attrNameLst>
                                          <p:attrName>ppt_w</p:attrName>
                                        </p:attrNameLst>
                                      </p:cBhvr>
                                      <p:tavLst>
                                        <p:tav tm="0">
                                          <p:val>
                                            <p:fltVal val="0"/>
                                          </p:val>
                                        </p:tav>
                                        <p:tav tm="100000">
                                          <p:val>
                                            <p:strVal val="#ppt_w"/>
                                          </p:val>
                                        </p:tav>
                                      </p:tavLst>
                                    </p:anim>
                                    <p:anim calcmode="lin" valueType="num">
                                      <p:cBhvr>
                                        <p:cTn id="29" dur="500" fill="hold"/>
                                        <p:tgtEl>
                                          <p:spTgt spid="23"/>
                                        </p:tgtEl>
                                        <p:attrNameLst>
                                          <p:attrName>ppt_h</p:attrName>
                                        </p:attrNameLst>
                                      </p:cBhvr>
                                      <p:tavLst>
                                        <p:tav tm="0">
                                          <p:val>
                                            <p:fltVal val="0"/>
                                          </p:val>
                                        </p:tav>
                                        <p:tav tm="100000">
                                          <p:val>
                                            <p:strVal val="#ppt_h"/>
                                          </p:val>
                                        </p:tav>
                                      </p:tavLst>
                                    </p:anim>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p:cTn id="35" dur="500" fill="hold"/>
                                        <p:tgtEl>
                                          <p:spTgt spid="24"/>
                                        </p:tgtEl>
                                        <p:attrNameLst>
                                          <p:attrName>ppt_w</p:attrName>
                                        </p:attrNameLst>
                                      </p:cBhvr>
                                      <p:tavLst>
                                        <p:tav tm="0">
                                          <p:val>
                                            <p:fltVal val="0"/>
                                          </p:val>
                                        </p:tav>
                                        <p:tav tm="100000">
                                          <p:val>
                                            <p:strVal val="#ppt_w"/>
                                          </p:val>
                                        </p:tav>
                                      </p:tavLst>
                                    </p:anim>
                                    <p:anim calcmode="lin" valueType="num">
                                      <p:cBhvr>
                                        <p:cTn id="36" dur="500" fill="hold"/>
                                        <p:tgtEl>
                                          <p:spTgt spid="24"/>
                                        </p:tgtEl>
                                        <p:attrNameLst>
                                          <p:attrName>ppt_h</p:attrName>
                                        </p:attrNameLst>
                                      </p:cBhvr>
                                      <p:tavLst>
                                        <p:tav tm="0">
                                          <p:val>
                                            <p:fltVal val="0"/>
                                          </p:val>
                                        </p:tav>
                                        <p:tav tm="100000">
                                          <p:val>
                                            <p:strVal val="#ppt_h"/>
                                          </p:val>
                                        </p:tav>
                                      </p:tavLst>
                                    </p:anim>
                                    <p:animEffect transition="in" filter="fade">
                                      <p:cBhvr>
                                        <p:cTn id="37" dur="50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ppt_w</p:attrName>
                                        </p:attrNameLst>
                                      </p:cBhvr>
                                      <p:tavLst>
                                        <p:tav tm="0">
                                          <p:val>
                                            <p:fltVal val="0"/>
                                          </p:val>
                                        </p:tav>
                                        <p:tav tm="100000">
                                          <p:val>
                                            <p:strVal val="#ppt_w"/>
                                          </p:val>
                                        </p:tav>
                                      </p:tavLst>
                                    </p:anim>
                                    <p:anim calcmode="lin" valueType="num">
                                      <p:cBhvr>
                                        <p:cTn id="48" dur="500" fill="hold"/>
                                        <p:tgtEl>
                                          <p:spTgt spid="25"/>
                                        </p:tgtEl>
                                        <p:attrNameLst>
                                          <p:attrName>ppt_h</p:attrName>
                                        </p:attrNameLst>
                                      </p:cBhvr>
                                      <p:tavLst>
                                        <p:tav tm="0">
                                          <p:val>
                                            <p:fltVal val="0"/>
                                          </p:val>
                                        </p:tav>
                                        <p:tav tm="100000">
                                          <p:val>
                                            <p:strVal val="#ppt_h"/>
                                          </p:val>
                                        </p:tav>
                                      </p:tavLst>
                                    </p:anim>
                                    <p:animEffect transition="in" filter="fade">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3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a:extLst>
              <a:ext uri="{FF2B5EF4-FFF2-40B4-BE49-F238E27FC236}">
                <a16:creationId xmlns:a16="http://schemas.microsoft.com/office/drawing/2014/main" id="{8DE541FA-2264-43A2-A053-83C0B8F3C196}"/>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BDT</a:t>
            </a:r>
            <a:r>
              <a:rPr lang="zh-CN" altLang="en-US" dirty="0">
                <a:solidFill>
                  <a:schemeClr val="tx1"/>
                </a:solidFill>
                <a:latin typeface="KaiTi" panose="02010609060101010101" pitchFamily="49" charset="-122"/>
                <a:ea typeface="KaiTi" panose="02010609060101010101" pitchFamily="49" charset="-122"/>
              </a:rPr>
              <a:t>算法</a:t>
            </a:r>
          </a:p>
        </p:txBody>
      </p:sp>
      <p:pic>
        <p:nvPicPr>
          <p:cNvPr id="37892" name="Picture 4" descr="西瓜书笔记】第8章集成学习（1）Boosting基础- 知乎">
            <a:extLst>
              <a:ext uri="{FF2B5EF4-FFF2-40B4-BE49-F238E27FC236}">
                <a16:creationId xmlns:a16="http://schemas.microsoft.com/office/drawing/2014/main" id="{A30E18CE-EEB8-136D-668A-EE1FF0FAE9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023" y="1351896"/>
            <a:ext cx="8775954" cy="5408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021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7" name="Rectangle 2">
            <a:extLst>
              <a:ext uri="{FF2B5EF4-FFF2-40B4-BE49-F238E27FC236}">
                <a16:creationId xmlns:a16="http://schemas.microsoft.com/office/drawing/2014/main" id="{6D2653A5-DEFC-43AB-B7C2-85A9A886AAB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
        <p:nvSpPr>
          <p:cNvPr id="18" name="文本框 17">
            <a:extLst>
              <a:ext uri="{FF2B5EF4-FFF2-40B4-BE49-F238E27FC236}">
                <a16:creationId xmlns:a16="http://schemas.microsoft.com/office/drawing/2014/main" id="{19662088-E42C-4208-9C1C-4C24610E9639}"/>
              </a:ext>
            </a:extLst>
          </p:cNvPr>
          <p:cNvSpPr txBox="1"/>
          <p:nvPr/>
        </p:nvSpPr>
        <p:spPr>
          <a:xfrm>
            <a:off x="668337" y="1352152"/>
            <a:ext cx="10383975" cy="1667764"/>
          </a:xfrm>
          <a:prstGeom prst="rect">
            <a:avLst/>
          </a:prstGeom>
          <a:noFill/>
        </p:spPr>
        <p:txBody>
          <a:bodyPr wrap="square">
            <a:spAutoFit/>
          </a:bodyPr>
          <a:lstStyle/>
          <a:p>
            <a:pPr>
              <a:lnSpc>
                <a:spcPct val="150000"/>
              </a:lnSpc>
              <a:spcBef>
                <a:spcPts val="900"/>
              </a:spcBef>
              <a:spcAft>
                <a:spcPts val="900"/>
              </a:spcAft>
            </a:pPr>
            <a:r>
              <a:rPr lang="en-US" altLang="zh-CN" sz="2400" dirty="0" err="1">
                <a:effectLst/>
                <a:latin typeface="KaiTi" panose="02010609060101010101" pitchFamily="49" charset="-122"/>
                <a:ea typeface="KaiTi" panose="02010609060101010101" pitchFamily="49" charset="-122"/>
                <a:cs typeface="Times New Roman" panose="02020603050405020304" pitchFamily="18" charset="0"/>
              </a:rPr>
              <a:t>GBDT（Gradient</a:t>
            </a:r>
            <a:r>
              <a:rPr lang="en-US" altLang="zh-CN" sz="2400" dirty="0">
                <a:effectLst/>
                <a:latin typeface="KaiTi" panose="02010609060101010101" pitchFamily="49" charset="-122"/>
                <a:ea typeface="KaiTi" panose="02010609060101010101" pitchFamily="49" charset="-122"/>
                <a:cs typeface="Times New Roman" panose="02020603050405020304" pitchFamily="18" charset="0"/>
              </a:rPr>
              <a:t> Boosting Decision </a:t>
            </a:r>
            <a:r>
              <a:rPr lang="en-US" altLang="zh-CN" sz="2400" dirty="0" err="1">
                <a:effectLst/>
                <a:latin typeface="KaiTi" panose="02010609060101010101" pitchFamily="49" charset="-122"/>
                <a:ea typeface="KaiTi" panose="02010609060101010101" pitchFamily="49" charset="-122"/>
                <a:cs typeface="Times New Roman" panose="02020603050405020304" pitchFamily="18" charset="0"/>
              </a:rPr>
              <a:t>Tree）</a:t>
            </a:r>
            <a:r>
              <a:rPr lang="zh-CN" altLang="en-US" sz="2400" dirty="0" err="1">
                <a:effectLst/>
                <a:latin typeface="KaiTi" panose="02010609060101010101" pitchFamily="49" charset="-122"/>
                <a:ea typeface="KaiTi" panose="02010609060101010101" pitchFamily="49" charset="-122"/>
                <a:cs typeface="Times New Roman" panose="02020603050405020304" pitchFamily="18" charset="0"/>
              </a:rPr>
              <a:t>即梯度提升决策树，理解为梯度提升</a:t>
            </a:r>
            <a:r>
              <a:rPr lang="en-US" altLang="zh-CN" sz="2400" dirty="0" err="1">
                <a:effectLst/>
                <a:latin typeface="KaiTi" panose="02010609060101010101" pitchFamily="49" charset="-122"/>
                <a:ea typeface="KaiTi" panose="02010609060101010101" pitchFamily="49" charset="-122"/>
                <a:cs typeface="Times New Roman" panose="02020603050405020304" pitchFamily="18" charset="0"/>
              </a:rPr>
              <a:t>+</a:t>
            </a:r>
            <a:r>
              <a:rPr lang="zh-CN" altLang="en-US" sz="2400" dirty="0" err="1">
                <a:effectLst/>
                <a:latin typeface="KaiTi" panose="02010609060101010101" pitchFamily="49" charset="-122"/>
                <a:ea typeface="KaiTi" panose="02010609060101010101" pitchFamily="49" charset="-122"/>
                <a:cs typeface="Times New Roman" panose="02020603050405020304" pitchFamily="18" charset="0"/>
              </a:rPr>
              <a:t>决策树。</a:t>
            </a:r>
            <a:r>
              <a:rPr lang="en-US" altLang="zh-CN" sz="2400" dirty="0" err="1">
                <a:effectLst/>
                <a:latin typeface="KaiTi" panose="02010609060101010101" pitchFamily="49" charset="-122"/>
                <a:ea typeface="KaiTi" panose="02010609060101010101" pitchFamily="49" charset="-122"/>
                <a:cs typeface="Times New Roman" panose="02020603050405020304" pitchFamily="18" charset="0"/>
              </a:rPr>
              <a:t>Friedman</a:t>
            </a:r>
            <a:r>
              <a:rPr lang="zh-CN" altLang="en-US" sz="2400" dirty="0" err="1">
                <a:effectLst/>
                <a:latin typeface="KaiTi" panose="02010609060101010101" pitchFamily="49" charset="-122"/>
                <a:ea typeface="KaiTi" panose="02010609060101010101" pitchFamily="49" charset="-122"/>
                <a:cs typeface="Times New Roman" panose="02020603050405020304" pitchFamily="18" charset="0"/>
              </a:rPr>
              <a:t>提出了利用最速下降的近似方法，利用损失函数的负梯度拟合基学习器。</a:t>
            </a:r>
            <a:endParaRPr lang="en-US" altLang="zh-CN" dirty="0" err="1">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BD6F214-D351-F36D-38BB-3FF2B5AC3D09}"/>
                  </a:ext>
                </a:extLst>
              </p:cNvPr>
              <p:cNvSpPr txBox="1"/>
              <p:nvPr/>
            </p:nvSpPr>
            <p:spPr>
              <a:xfrm>
                <a:off x="1810774" y="3596432"/>
                <a:ext cx="3916022" cy="959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Microsoft YaHei" charset="0"/>
                        </a:rPr>
                        <m:t>−</m:t>
                      </m:r>
                      <m:sSub>
                        <m:sSubPr>
                          <m:ctrlPr>
                            <a:rPr lang="en-US" altLang="zh-CN" sz="2400" b="0" i="1" smtClean="0">
                              <a:latin typeface="Cambria Math" panose="02040503050406030204" pitchFamily="18" charset="0"/>
                              <a:ea typeface="Microsoft YaHei" charset="0"/>
                            </a:rPr>
                          </m:ctrlPr>
                        </m:sSubPr>
                        <m:e>
                          <m:d>
                            <m:dPr>
                              <m:begChr m:val="["/>
                              <m:endChr m:val="]"/>
                              <m:ctrlPr>
                                <a:rPr lang="en-US" altLang="zh-CN" sz="2400" b="0" i="1" smtClean="0">
                                  <a:latin typeface="Cambria Math" panose="02040503050406030204" pitchFamily="18" charset="0"/>
                                  <a:ea typeface="Microsoft YaHei" charset="0"/>
                                </a:rPr>
                              </m:ctrlPr>
                            </m:dPr>
                            <m:e>
                              <m:f>
                                <m:fPr>
                                  <m:ctrlPr>
                                    <a:rPr lang="en-US" altLang="zh-CN" sz="2400" b="0" i="1" smtClean="0">
                                      <a:latin typeface="Cambria Math" panose="02040503050406030204" pitchFamily="18" charset="0"/>
                                      <a:ea typeface="Microsoft YaHei" charset="0"/>
                                    </a:rPr>
                                  </m:ctrlPr>
                                </m:fPr>
                                <m:num>
                                  <m:r>
                                    <a:rPr lang="zh-CN" altLang="en-US" sz="2400" b="0" i="1" smtClean="0">
                                      <a:latin typeface="Cambria Math" panose="02040503050406030204" pitchFamily="18" charset="0"/>
                                      <a:ea typeface="Microsoft YaHei" charset="0"/>
                                    </a:rPr>
                                    <m:t>𝜕</m:t>
                                  </m:r>
                                  <m:r>
                                    <a:rPr lang="en-US" altLang="zh-CN" sz="2400" b="0" i="1" smtClean="0">
                                      <a:latin typeface="Cambria Math" panose="02040503050406030204" pitchFamily="18" charset="0"/>
                                      <a:ea typeface="Microsoft YaHei" charset="0"/>
                                    </a:rPr>
                                    <m:t>𝐿</m:t>
                                  </m:r>
                                  <m:r>
                                    <a:rPr lang="en-US" altLang="zh-CN" sz="2400" b="0" i="1" smtClean="0">
                                      <a:latin typeface="Cambria Math" panose="02040503050406030204" pitchFamily="18" charset="0"/>
                                      <a:ea typeface="Microsoft YaHei" charset="0"/>
                                    </a:rPr>
                                    <m:t>(</m:t>
                                  </m:r>
                                  <m:sSub>
                                    <m:sSubPr>
                                      <m:ctrlPr>
                                        <a:rPr lang="en-US" altLang="zh-CN" sz="2400" b="0" i="1" smtClean="0">
                                          <a:latin typeface="Cambria Math" panose="02040503050406030204" pitchFamily="18" charset="0"/>
                                          <a:ea typeface="Microsoft YaHei" charset="0"/>
                                        </a:rPr>
                                      </m:ctrlPr>
                                    </m:sSubPr>
                                    <m:e>
                                      <m:r>
                                        <a:rPr lang="en-US" altLang="zh-CN" sz="2400" b="0" i="1" smtClean="0">
                                          <a:latin typeface="Cambria Math" panose="02040503050406030204" pitchFamily="18" charset="0"/>
                                          <a:ea typeface="Microsoft YaHei" charset="0"/>
                                        </a:rPr>
                                        <m:t>𝑦</m:t>
                                      </m:r>
                                    </m:e>
                                    <m:sub>
                                      <m:r>
                                        <a:rPr lang="en-US" altLang="zh-CN" sz="2400" b="0" i="1" smtClean="0">
                                          <a:latin typeface="Cambria Math" panose="02040503050406030204" pitchFamily="18" charset="0"/>
                                          <a:ea typeface="Microsoft YaHei" charset="0"/>
                                        </a:rPr>
                                        <m:t>𝑖</m:t>
                                      </m:r>
                                    </m:sub>
                                  </m:sSub>
                                  <m:r>
                                    <a:rPr lang="en-US" altLang="zh-CN" sz="2400" b="0" i="1" smtClean="0">
                                      <a:latin typeface="Cambria Math" panose="02040503050406030204" pitchFamily="18" charset="0"/>
                                      <a:ea typeface="Microsoft YaHei" charset="0"/>
                                    </a:rPr>
                                    <m:t>,</m:t>
                                  </m:r>
                                  <m:r>
                                    <a:rPr lang="en-US" altLang="zh-CN" sz="2400" b="0" i="1" smtClean="0">
                                      <a:latin typeface="Cambria Math" panose="02040503050406030204" pitchFamily="18" charset="0"/>
                                      <a:ea typeface="Microsoft YaHei" charset="0"/>
                                    </a:rPr>
                                    <m:t>𝑓</m:t>
                                  </m:r>
                                  <m:r>
                                    <a:rPr lang="en-US" altLang="zh-CN" sz="2400" b="0" i="1" smtClean="0">
                                      <a:latin typeface="Cambria Math" panose="02040503050406030204" pitchFamily="18" charset="0"/>
                                      <a:ea typeface="Microsoft YaHei" charset="0"/>
                                    </a:rPr>
                                    <m:t>(</m:t>
                                  </m:r>
                                  <m:sSub>
                                    <m:sSubPr>
                                      <m:ctrlPr>
                                        <a:rPr lang="en-US" altLang="zh-CN" sz="2400" b="0" i="1" smtClean="0">
                                          <a:latin typeface="Cambria Math" panose="02040503050406030204" pitchFamily="18" charset="0"/>
                                          <a:ea typeface="Microsoft YaHei" charset="0"/>
                                        </a:rPr>
                                      </m:ctrlPr>
                                    </m:sSubPr>
                                    <m:e>
                                      <m:r>
                                        <a:rPr lang="en-US" altLang="zh-CN" sz="2400" b="0" i="1" smtClean="0">
                                          <a:latin typeface="Cambria Math" panose="02040503050406030204" pitchFamily="18" charset="0"/>
                                          <a:ea typeface="Microsoft YaHei" charset="0"/>
                                        </a:rPr>
                                        <m:t>𝑥</m:t>
                                      </m:r>
                                    </m:e>
                                    <m:sub>
                                      <m:r>
                                        <a:rPr lang="en-US" altLang="zh-CN" sz="2400" b="0" i="1" smtClean="0">
                                          <a:latin typeface="Cambria Math" panose="02040503050406030204" pitchFamily="18" charset="0"/>
                                          <a:ea typeface="Microsoft YaHei" charset="0"/>
                                        </a:rPr>
                                        <m:t>𝑖</m:t>
                                      </m:r>
                                    </m:sub>
                                  </m:sSub>
                                  <m:r>
                                    <a:rPr lang="en-US" altLang="zh-CN" sz="2400" b="0" i="1" smtClean="0">
                                      <a:latin typeface="Cambria Math" panose="02040503050406030204" pitchFamily="18" charset="0"/>
                                      <a:ea typeface="Microsoft YaHei" charset="0"/>
                                    </a:rPr>
                                    <m:t>))</m:t>
                                  </m:r>
                                </m:num>
                                <m:den>
                                  <m:r>
                                    <a:rPr lang="zh-CN" altLang="en-US" sz="2400" b="0" i="1" smtClean="0">
                                      <a:latin typeface="Cambria Math" panose="02040503050406030204" pitchFamily="18" charset="0"/>
                                      <a:ea typeface="Microsoft YaHei" charset="0"/>
                                    </a:rPr>
                                    <m:t>𝜕</m:t>
                                  </m:r>
                                  <m:r>
                                    <a:rPr lang="en-US" altLang="zh-CN" sz="2400" b="0" i="1" smtClean="0">
                                      <a:latin typeface="Cambria Math" panose="02040503050406030204" pitchFamily="18" charset="0"/>
                                      <a:ea typeface="Microsoft YaHei" charset="0"/>
                                    </a:rPr>
                                    <m:t>𝑓</m:t>
                                  </m:r>
                                  <m:r>
                                    <a:rPr lang="en-US" altLang="zh-CN" sz="2400" b="0" i="1" smtClean="0">
                                      <a:latin typeface="Cambria Math" panose="02040503050406030204" pitchFamily="18" charset="0"/>
                                      <a:ea typeface="Microsoft YaHei" charset="0"/>
                                    </a:rPr>
                                    <m:t>(</m:t>
                                  </m:r>
                                  <m:sSub>
                                    <m:sSubPr>
                                      <m:ctrlPr>
                                        <a:rPr lang="en-US" altLang="zh-CN" sz="2400" b="0" i="1" smtClean="0">
                                          <a:latin typeface="Cambria Math" panose="02040503050406030204" pitchFamily="18" charset="0"/>
                                          <a:ea typeface="Microsoft YaHei" charset="0"/>
                                        </a:rPr>
                                      </m:ctrlPr>
                                    </m:sSubPr>
                                    <m:e>
                                      <m:r>
                                        <a:rPr lang="en-US" altLang="zh-CN" sz="2400" b="0" i="1" smtClean="0">
                                          <a:latin typeface="Cambria Math" panose="02040503050406030204" pitchFamily="18" charset="0"/>
                                          <a:ea typeface="Microsoft YaHei" charset="0"/>
                                        </a:rPr>
                                        <m:t>𝑥</m:t>
                                      </m:r>
                                    </m:e>
                                    <m:sub>
                                      <m:r>
                                        <a:rPr lang="en-US" altLang="zh-CN" sz="2400" b="0" i="1" smtClean="0">
                                          <a:latin typeface="Cambria Math" panose="02040503050406030204" pitchFamily="18" charset="0"/>
                                          <a:ea typeface="Microsoft YaHei" charset="0"/>
                                        </a:rPr>
                                        <m:t>𝑖</m:t>
                                      </m:r>
                                    </m:sub>
                                  </m:sSub>
                                  <m:r>
                                    <a:rPr lang="en-US" altLang="zh-CN" sz="2400" b="0" i="1" smtClean="0">
                                      <a:latin typeface="Cambria Math" panose="02040503050406030204" pitchFamily="18" charset="0"/>
                                      <a:ea typeface="Microsoft YaHei" charset="0"/>
                                    </a:rPr>
                                    <m:t>)</m:t>
                                  </m:r>
                                </m:den>
                              </m:f>
                            </m:e>
                          </m:d>
                        </m:e>
                        <m:sub>
                          <m:r>
                            <a:rPr lang="en-US" altLang="zh-CN" sz="2400" b="0" i="1" smtClean="0">
                              <a:latin typeface="Cambria Math" panose="02040503050406030204" pitchFamily="18" charset="0"/>
                              <a:ea typeface="Microsoft YaHei" charset="0"/>
                            </a:rPr>
                            <m:t>𝑓</m:t>
                          </m:r>
                          <m:d>
                            <m:dPr>
                              <m:ctrlPr>
                                <a:rPr lang="en-US" altLang="zh-CN" sz="2400" b="0" i="1" smtClean="0">
                                  <a:latin typeface="Cambria Math" panose="02040503050406030204" pitchFamily="18" charset="0"/>
                                  <a:ea typeface="Microsoft YaHei" charset="0"/>
                                </a:rPr>
                              </m:ctrlPr>
                            </m:dPr>
                            <m:e>
                              <m:r>
                                <a:rPr lang="en-US" altLang="zh-CN" sz="2400" b="0" i="1" smtClean="0">
                                  <a:latin typeface="Cambria Math" panose="02040503050406030204" pitchFamily="18" charset="0"/>
                                  <a:ea typeface="Microsoft YaHei" charset="0"/>
                                </a:rPr>
                                <m:t>𝑥</m:t>
                              </m:r>
                            </m:e>
                          </m:d>
                          <m:r>
                            <a:rPr lang="en-US" altLang="zh-CN" sz="2400" b="0" i="1" smtClean="0">
                              <a:latin typeface="Cambria Math" panose="02040503050406030204" pitchFamily="18" charset="0"/>
                              <a:ea typeface="Microsoft YaHei" charset="0"/>
                            </a:rPr>
                            <m:t>=</m:t>
                          </m:r>
                          <m:sSub>
                            <m:sSubPr>
                              <m:ctrlPr>
                                <a:rPr lang="en-US" altLang="zh-CN" sz="2400" b="0" i="1" smtClean="0">
                                  <a:latin typeface="Cambria Math" panose="02040503050406030204" pitchFamily="18" charset="0"/>
                                  <a:ea typeface="Microsoft YaHei" charset="0"/>
                                </a:rPr>
                              </m:ctrlPr>
                            </m:sSubPr>
                            <m:e>
                              <m:r>
                                <a:rPr lang="en-US" altLang="zh-CN" sz="2400" b="0" i="1" smtClean="0">
                                  <a:latin typeface="Cambria Math" panose="02040503050406030204" pitchFamily="18" charset="0"/>
                                  <a:ea typeface="Microsoft YaHei" charset="0"/>
                                </a:rPr>
                                <m:t>𝑓</m:t>
                              </m:r>
                            </m:e>
                            <m:sub>
                              <m:r>
                                <a:rPr lang="en-US" altLang="zh-CN" sz="2400" b="0" i="1" smtClean="0">
                                  <a:latin typeface="Cambria Math" panose="02040503050406030204" pitchFamily="18" charset="0"/>
                                  <a:ea typeface="Microsoft YaHei" charset="0"/>
                                </a:rPr>
                                <m:t>𝑚</m:t>
                              </m:r>
                              <m:r>
                                <a:rPr lang="en-US" altLang="zh-CN" sz="2400" b="0" i="1" smtClean="0">
                                  <a:latin typeface="Cambria Math" panose="02040503050406030204" pitchFamily="18" charset="0"/>
                                  <a:ea typeface="Microsoft YaHei" charset="0"/>
                                </a:rPr>
                                <m:t>−1</m:t>
                              </m:r>
                            </m:sub>
                          </m:sSub>
                          <m:r>
                            <a:rPr lang="en-US" altLang="zh-CN" sz="2400" b="0" i="1" smtClean="0">
                              <a:latin typeface="Cambria Math" panose="02040503050406030204" pitchFamily="18" charset="0"/>
                              <a:ea typeface="Microsoft YaHei" charset="0"/>
                            </a:rPr>
                            <m:t>(</m:t>
                          </m:r>
                          <m:r>
                            <a:rPr lang="en-US" altLang="zh-CN" sz="2400" b="0" i="1" smtClean="0">
                              <a:latin typeface="Cambria Math" panose="02040503050406030204" pitchFamily="18" charset="0"/>
                              <a:ea typeface="Microsoft YaHei" charset="0"/>
                            </a:rPr>
                            <m:t>𝑥</m:t>
                          </m:r>
                          <m:r>
                            <a:rPr lang="en-US" altLang="zh-CN" sz="2400" b="0" i="1" smtClean="0">
                              <a:latin typeface="Cambria Math" panose="02040503050406030204" pitchFamily="18" charset="0"/>
                              <a:ea typeface="Microsoft YaHei" charset="0"/>
                            </a:rPr>
                            <m:t>)</m:t>
                          </m:r>
                        </m:sub>
                      </m:sSub>
                    </m:oMath>
                  </m:oMathPara>
                </a14:m>
                <a:endParaRPr lang="ko-Kore-KR" altLang="en-US"/>
              </a:p>
            </p:txBody>
          </p:sp>
        </mc:Choice>
        <mc:Fallback xmlns="">
          <p:sp>
            <p:nvSpPr>
              <p:cNvPr id="3" name="TextBox 2">
                <a:extLst>
                  <a:ext uri="{FF2B5EF4-FFF2-40B4-BE49-F238E27FC236}">
                    <a16:creationId xmlns:a16="http://schemas.microsoft.com/office/drawing/2014/main" id="{0BD6F214-D351-F36D-38BB-3FF2B5AC3D09}"/>
                  </a:ext>
                </a:extLst>
              </p:cNvPr>
              <p:cNvSpPr txBox="1">
                <a:spLocks noRot="1" noChangeAspect="1" noMove="1" noResize="1" noEditPoints="1" noAdjustHandles="1" noChangeArrowheads="1" noChangeShapeType="1" noTextEdit="1"/>
              </p:cNvSpPr>
              <p:nvPr/>
            </p:nvSpPr>
            <p:spPr>
              <a:xfrm>
                <a:off x="1810774" y="3596432"/>
                <a:ext cx="3916022" cy="959045"/>
              </a:xfrm>
              <a:prstGeom prst="rect">
                <a:avLst/>
              </a:prstGeom>
              <a:blipFill>
                <a:blip r:embed="rId3"/>
                <a:stretch>
                  <a:fillRect b="-6579"/>
                </a:stretch>
              </a:blipFill>
            </p:spPr>
            <p:txBody>
              <a:bodyPr/>
              <a:lstStyle/>
              <a:p>
                <a:r>
                  <a:rPr lang="ko-Kore-KR" altLang="en-US">
                    <a:noFill/>
                  </a:rPr>
                  <a:t> </a:t>
                </a:r>
              </a:p>
            </p:txBody>
          </p:sp>
        </mc:Fallback>
      </mc:AlternateContent>
      <p:pic>
        <p:nvPicPr>
          <p:cNvPr id="16386" name="Picture 2" descr="Gradient boosting decision tree (GBDT) | Download Scientific Diagram">
            <a:extLst>
              <a:ext uri="{FF2B5EF4-FFF2-40B4-BE49-F238E27FC236}">
                <a16:creationId xmlns:a16="http://schemas.microsoft.com/office/drawing/2014/main" id="{D2DF3DD0-1E9B-C2AD-CCE9-4A713CE816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9233" y="2901361"/>
            <a:ext cx="4997089" cy="3956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7341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a:extLst>
              <a:ext uri="{FF2B5EF4-FFF2-40B4-BE49-F238E27FC236}">
                <a16:creationId xmlns:a16="http://schemas.microsoft.com/office/drawing/2014/main" id="{8DE541FA-2264-43A2-A053-83C0B8F3C196}"/>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
        <p:nvSpPr>
          <p:cNvPr id="4" name="文本框 17">
            <a:extLst>
              <a:ext uri="{FF2B5EF4-FFF2-40B4-BE49-F238E27FC236}">
                <a16:creationId xmlns:a16="http://schemas.microsoft.com/office/drawing/2014/main" id="{4FC319A4-BAEE-7267-A05A-EB2505BBE48D}"/>
              </a:ext>
            </a:extLst>
          </p:cNvPr>
          <p:cNvSpPr txBox="1"/>
          <p:nvPr/>
        </p:nvSpPr>
        <p:spPr>
          <a:xfrm>
            <a:off x="448881" y="1359176"/>
            <a:ext cx="10383975" cy="559769"/>
          </a:xfrm>
          <a:prstGeom prst="rect">
            <a:avLst/>
          </a:prstGeom>
          <a:noFill/>
        </p:spPr>
        <p:txBody>
          <a:bodyPr wrap="square">
            <a:spAutoFit/>
          </a:bodyPr>
          <a:lstStyle/>
          <a:p>
            <a:pPr>
              <a:lnSpc>
                <a:spcPct val="150000"/>
              </a:lnSpc>
              <a:spcBef>
                <a:spcPts val="900"/>
              </a:spcBef>
              <a:spcAft>
                <a:spcPts val="900"/>
              </a:spcAft>
            </a:pPr>
            <a:r>
              <a:rPr lang="zh-CN" altLang="en-US" dirty="0" err="1">
                <a:effectLst/>
                <a:latin typeface="KaiTi" panose="02010609060101010101" pitchFamily="49" charset="-122"/>
                <a:ea typeface="KaiTi" panose="02010609060101010101" pitchFamily="49" charset="-122"/>
                <a:cs typeface="Times New Roman" panose="02020603050405020304" pitchFamily="18" charset="0"/>
              </a:rPr>
              <a:t>平方损失函数 </a:t>
            </a:r>
            <a:endParaRPr lang="en-US" altLang="zh-CN" dirty="0" err="1">
              <a:latin typeface="KaiTi" panose="02010609060101010101" pitchFamily="49" charset="-122"/>
              <a:ea typeface="KaiTi"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28DEC72-B96F-5F60-C146-22E4306FF566}"/>
                  </a:ext>
                </a:extLst>
              </p:cNvPr>
              <p:cNvSpPr txBox="1"/>
              <p:nvPr/>
            </p:nvSpPr>
            <p:spPr>
              <a:xfrm>
                <a:off x="215531" y="1892338"/>
                <a:ext cx="6096000"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ore-KR" altLang="en-US" i="1">
                          <a:latin typeface="Cambria Math" panose="02040503050406030204" pitchFamily="18" charset="0"/>
                        </a:rPr>
                        <m:t>𝐿</m:t>
                      </m:r>
                      <m:d>
                        <m:dPr>
                          <m:ctrlPr>
                            <a:rPr lang="ko-Kore-KR" altLang="en-US" i="1">
                              <a:solidFill>
                                <a:srgbClr val="836967"/>
                              </a:solidFill>
                              <a:latin typeface="Cambria Math" panose="02040503050406030204" pitchFamily="18" charset="0"/>
                            </a:rPr>
                          </m:ctrlPr>
                        </m:dPr>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𝑦</m:t>
                              </m:r>
                            </m:e>
                            <m:sub>
                              <m:r>
                                <a:rPr lang="ko-Kore-KR" altLang="en-US" i="1">
                                  <a:latin typeface="Cambria Math" panose="02040503050406030204" pitchFamily="18" charset="0"/>
                                </a:rPr>
                                <m:t>𝑖</m:t>
                              </m:r>
                            </m:sub>
                          </m:sSub>
                          <m:r>
                            <a:rPr lang="ko-Kore-KR" altLang="en-US" i="0">
                              <a:latin typeface="Cambria Math" panose="02040503050406030204" pitchFamily="18" charset="0"/>
                            </a:rPr>
                            <m:t>,</m:t>
                          </m:r>
                          <m:r>
                            <a:rPr lang="ko-Kore-KR" altLang="en-US" i="1">
                              <a:latin typeface="Cambria Math" panose="02040503050406030204" pitchFamily="18" charset="0"/>
                            </a:rPr>
                            <m:t>𝑓</m:t>
                          </m:r>
                          <m:d>
                            <m:dPr>
                              <m:ctrlPr>
                                <a:rPr lang="ko-Kore-KR" altLang="en-US" i="1">
                                  <a:solidFill>
                                    <a:srgbClr val="836967"/>
                                  </a:solidFill>
                                  <a:latin typeface="Cambria Math" panose="02040503050406030204" pitchFamily="18" charset="0"/>
                                </a:rPr>
                              </m:ctrlPr>
                            </m:dPr>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𝑥</m:t>
                                  </m:r>
                                </m:e>
                                <m:sub>
                                  <m:r>
                                    <a:rPr lang="ko-Kore-KR" altLang="en-US" i="1">
                                      <a:latin typeface="Cambria Math" panose="02040503050406030204" pitchFamily="18" charset="0"/>
                                    </a:rPr>
                                    <m:t>𝑖</m:t>
                                  </m:r>
                                </m:sub>
                              </m:sSub>
                            </m:e>
                          </m:d>
                        </m:e>
                      </m:d>
                      <m:r>
                        <a:rPr lang="ko-Kore-KR" altLang="en-US" i="0">
                          <a:latin typeface="Cambria Math" panose="02040503050406030204" pitchFamily="18" charset="0"/>
                        </a:rPr>
                        <m:t>=</m:t>
                      </m:r>
                      <m:f>
                        <m:fPr>
                          <m:ctrlPr>
                            <a:rPr lang="ko-Kore-KR" altLang="en-US" i="1">
                              <a:solidFill>
                                <a:srgbClr val="836967"/>
                              </a:solidFill>
                              <a:latin typeface="Cambria Math" panose="02040503050406030204" pitchFamily="18" charset="0"/>
                            </a:rPr>
                          </m:ctrlPr>
                        </m:fPr>
                        <m:num>
                          <m:r>
                            <a:rPr lang="ko-Kore-KR" altLang="en-US" i="0">
                              <a:latin typeface="Cambria Math" panose="02040503050406030204" pitchFamily="18" charset="0"/>
                            </a:rPr>
                            <m:t>1</m:t>
                          </m:r>
                        </m:num>
                        <m:den>
                          <m:r>
                            <a:rPr lang="ko-Kore-KR" altLang="en-US" i="0">
                              <a:latin typeface="Cambria Math" panose="02040503050406030204" pitchFamily="18" charset="0"/>
                            </a:rPr>
                            <m:t>2</m:t>
                          </m:r>
                        </m:den>
                      </m:f>
                      <m:sSup>
                        <m:sSupPr>
                          <m:ctrlPr>
                            <a:rPr lang="ko-Kore-KR" altLang="en-US" i="1">
                              <a:solidFill>
                                <a:srgbClr val="836967"/>
                              </a:solidFill>
                              <a:latin typeface="Cambria Math" panose="02040503050406030204" pitchFamily="18" charset="0"/>
                            </a:rPr>
                          </m:ctrlPr>
                        </m:sSupPr>
                        <m:e>
                          <m:d>
                            <m:dPr>
                              <m:ctrlPr>
                                <a:rPr lang="ko-Kore-KR" altLang="en-US" i="1">
                                  <a:solidFill>
                                    <a:srgbClr val="836967"/>
                                  </a:solidFill>
                                  <a:latin typeface="Cambria Math" panose="02040503050406030204" pitchFamily="18" charset="0"/>
                                </a:rPr>
                              </m:ctrlPr>
                            </m:dPr>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𝑦</m:t>
                                  </m:r>
                                </m:e>
                                <m:sub>
                                  <m:r>
                                    <a:rPr lang="ko-Kore-KR" altLang="en-US" i="1">
                                      <a:latin typeface="Cambria Math" panose="02040503050406030204" pitchFamily="18" charset="0"/>
                                    </a:rPr>
                                    <m:t>𝑖</m:t>
                                  </m:r>
                                </m:sub>
                              </m:sSub>
                              <m:r>
                                <a:rPr lang="ko-Kore-KR" altLang="en-US" i="0">
                                  <a:latin typeface="Cambria Math" panose="02040503050406030204" pitchFamily="18" charset="0"/>
                                </a:rPr>
                                <m:t>−</m:t>
                              </m:r>
                              <m:r>
                                <a:rPr lang="ko-Kore-KR" altLang="en-US" i="1">
                                  <a:latin typeface="Cambria Math" panose="02040503050406030204" pitchFamily="18" charset="0"/>
                                </a:rPr>
                                <m:t>𝑓</m:t>
                              </m:r>
                              <m:d>
                                <m:dPr>
                                  <m:ctrlPr>
                                    <a:rPr lang="ko-Kore-KR" altLang="en-US" i="1">
                                      <a:solidFill>
                                        <a:srgbClr val="836967"/>
                                      </a:solidFill>
                                      <a:latin typeface="Cambria Math" panose="02040503050406030204" pitchFamily="18" charset="0"/>
                                    </a:rPr>
                                  </m:ctrlPr>
                                </m:dPr>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𝑥</m:t>
                                      </m:r>
                                    </m:e>
                                    <m:sub>
                                      <m:r>
                                        <a:rPr lang="ko-Kore-KR" altLang="en-US" i="1">
                                          <a:latin typeface="Cambria Math" panose="02040503050406030204" pitchFamily="18" charset="0"/>
                                        </a:rPr>
                                        <m:t>𝑖</m:t>
                                      </m:r>
                                    </m:sub>
                                  </m:sSub>
                                </m:e>
                              </m:d>
                            </m:e>
                          </m:d>
                        </m:e>
                        <m:sup>
                          <m:r>
                            <a:rPr lang="ko-Kore-KR" altLang="en-US" i="0">
                              <a:latin typeface="Cambria Math" panose="02040503050406030204" pitchFamily="18" charset="0"/>
                            </a:rPr>
                            <m:t>2</m:t>
                          </m:r>
                        </m:sup>
                      </m:sSup>
                    </m:oMath>
                  </m:oMathPara>
                </a14:m>
                <a:endParaRPr lang="ko-Kore-KR" altLang="en-US"/>
              </a:p>
            </p:txBody>
          </p:sp>
        </mc:Choice>
        <mc:Fallback xmlns="">
          <p:sp>
            <p:nvSpPr>
              <p:cNvPr id="7" name="TextBox 6">
                <a:extLst>
                  <a:ext uri="{FF2B5EF4-FFF2-40B4-BE49-F238E27FC236}">
                    <a16:creationId xmlns:a16="http://schemas.microsoft.com/office/drawing/2014/main" id="{228DEC72-B96F-5F60-C146-22E4306FF566}"/>
                  </a:ext>
                </a:extLst>
              </p:cNvPr>
              <p:cNvSpPr txBox="1">
                <a:spLocks noRot="1" noChangeAspect="1" noMove="1" noResize="1" noEditPoints="1" noAdjustHandles="1" noChangeArrowheads="1" noChangeShapeType="1" noTextEdit="1"/>
              </p:cNvSpPr>
              <p:nvPr/>
            </p:nvSpPr>
            <p:spPr>
              <a:xfrm>
                <a:off x="215531" y="1892338"/>
                <a:ext cx="6096000" cy="783804"/>
              </a:xfrm>
              <a:prstGeom prst="rect">
                <a:avLst/>
              </a:prstGeom>
              <a:blipFill>
                <a:blip r:embed="rId3"/>
                <a:stretch>
                  <a:fillRect b="-7937"/>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4793FAA-65EA-3EDF-C593-16DEBED492C1}"/>
                  </a:ext>
                </a:extLst>
              </p:cNvPr>
              <p:cNvSpPr txBox="1"/>
              <p:nvPr/>
            </p:nvSpPr>
            <p:spPr>
              <a:xfrm>
                <a:off x="668337" y="2967335"/>
                <a:ext cx="6096000" cy="461665"/>
              </a:xfrm>
              <a:prstGeom prst="rect">
                <a:avLst/>
              </a:prstGeom>
              <a:noFill/>
            </p:spPr>
            <p:txBody>
              <a:bodyPr wrap="square">
                <a:spAutoFit/>
              </a:bodyPr>
              <a:lstStyle/>
              <a:p>
                <a:r>
                  <a:rPr lang="zh-CN" altLang="ko-Kore-KR" i="1">
                    <a:effectLst/>
                    <a:latin typeface="Times New Roman" panose="02020603050405020304" pitchFamily="18" charset="0"/>
                    <a:ea typeface="KaiTi" panose="02010609060101010101" pitchFamily="49" charset="-122"/>
                    <a:cs typeface="Times New Roman" panose="02020603050405020304" pitchFamily="18" charset="0"/>
                  </a:rPr>
                  <a:t>对模型输出</a:t>
                </a:r>
                <a14:m>
                  <m:oMath xmlns:m="http://schemas.openxmlformats.org/officeDocument/2006/math">
                    <m:r>
                      <a:rPr lang="ko-Kore-KR" altLang="en-US" i="1">
                        <a:latin typeface="Cambria Math" panose="02040503050406030204" pitchFamily="18" charset="0"/>
                      </a:rPr>
                      <m:t>𝑓</m:t>
                    </m:r>
                    <m:d>
                      <m:dPr>
                        <m:ctrlPr>
                          <a:rPr lang="ko-Kore-KR" altLang="en-US" i="1">
                            <a:solidFill>
                              <a:srgbClr val="836967"/>
                            </a:solidFill>
                            <a:latin typeface="Cambria Math" panose="02040503050406030204" pitchFamily="18" charset="0"/>
                          </a:rPr>
                        </m:ctrlPr>
                      </m:dPr>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𝑥</m:t>
                            </m:r>
                          </m:e>
                          <m:sub>
                            <m:r>
                              <a:rPr lang="ko-Kore-KR" altLang="en-US" i="1">
                                <a:latin typeface="Cambria Math" panose="02040503050406030204" pitchFamily="18" charset="0"/>
                              </a:rPr>
                              <m:t>𝑖</m:t>
                            </m:r>
                          </m:sub>
                        </m:sSub>
                      </m:e>
                    </m:d>
                  </m:oMath>
                </a14:m>
                <a:r>
                  <a:rPr lang="zh-CN" altLang="ko-Kore-KR" i="1">
                    <a:effectLst/>
                    <a:latin typeface="Times New Roman" panose="02020603050405020304" pitchFamily="18" charset="0"/>
                    <a:ea typeface="KaiTi" panose="02010609060101010101" pitchFamily="49" charset="-122"/>
                    <a:cs typeface="Times New Roman" panose="02020603050405020304" pitchFamily="18" charset="0"/>
                  </a:rPr>
                  <a:t>求偏导</a:t>
                </a:r>
                <a:endParaRPr lang="ko-Kore-KR" altLang="ko-Kore-KR">
                  <a:effectLst/>
                  <a:latin typeface="Times New Roman" panose="02020603050405020304" pitchFamily="18" charset="0"/>
                  <a:ea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24793FAA-65EA-3EDF-C593-16DEBED492C1}"/>
                  </a:ext>
                </a:extLst>
              </p:cNvPr>
              <p:cNvSpPr txBox="1">
                <a:spLocks noRot="1" noChangeAspect="1" noMove="1" noResize="1" noEditPoints="1" noAdjustHandles="1" noChangeArrowheads="1" noChangeShapeType="1" noTextEdit="1"/>
              </p:cNvSpPr>
              <p:nvPr/>
            </p:nvSpPr>
            <p:spPr>
              <a:xfrm>
                <a:off x="668337" y="2967335"/>
                <a:ext cx="6096000" cy="461665"/>
              </a:xfrm>
              <a:prstGeom prst="rect">
                <a:avLst/>
              </a:prstGeom>
              <a:blipFill>
                <a:blip r:embed="rId4"/>
                <a:stretch>
                  <a:fillRect l="-1455" t="-15789" b="-2105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60390D8-81BE-B8FC-7471-CC47D8471F91}"/>
                  </a:ext>
                </a:extLst>
              </p:cNvPr>
              <p:cNvSpPr txBox="1"/>
              <p:nvPr/>
            </p:nvSpPr>
            <p:spPr>
              <a:xfrm>
                <a:off x="948753" y="3640671"/>
                <a:ext cx="6096000" cy="2256452"/>
              </a:xfrm>
              <a:prstGeom prst="rect">
                <a:avLst/>
              </a:prstGeom>
              <a:noFill/>
            </p:spPr>
            <p:txBody>
              <a:bodyPr wrap="square">
                <a:spAutoFit/>
              </a:bodyPr>
              <a:lstStyle/>
              <a:p>
                <a14:m>
                  <m:oMath xmlns:m="http://schemas.openxmlformats.org/officeDocument/2006/math">
                    <m:f>
                      <m:f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𝐿</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𝑖</m:t>
                                </m:r>
                              </m:sub>
                            </m:s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𝑓</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𝑥</m:t>
                                    </m:r>
                                  </m:e>
                                  <m: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𝑖</m:t>
                                    </m:r>
                                  </m:sub>
                                </m:sSub>
                              </m:e>
                            </m:d>
                          </m:e>
                        </m:d>
                      </m:num>
                      <m:den>
                        <m:r>
                          <a:rPr lang="en-US" altLang="ko-Kore-KR">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𝑓</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𝑥</m:t>
                                </m:r>
                              </m:e>
                              <m: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𝑖</m:t>
                                </m:r>
                              </m:sub>
                            </m:sSub>
                          </m:e>
                        </m:d>
                      </m:den>
                    </m:f>
                  </m:oMath>
                </a14:m>
                <a:r>
                  <a:rPr lang="en-US" altLang="ko-Kore-KR" i="1">
                    <a:effectLst/>
                    <a:latin typeface="KaiTi" panose="02010609060101010101" pitchFamily="49" charset="-122"/>
                    <a:ea typeface="Times New Roman" panose="02020603050405020304" pitchFamily="18" charset="0"/>
                    <a:cs typeface="Times New Roman" panose="02020603050405020304" pitchFamily="18" charset="0"/>
                  </a:rPr>
                  <a:t> </a:t>
                </a:r>
                <a14:m>
                  <m:oMath xmlns:m="http://schemas.openxmlformats.org/officeDocument/2006/math">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m:t>
                    </m:r>
                    <m:f>
                      <m:f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a:effectLst/>
                            <a:latin typeface="Cambria Math" panose="02040503050406030204" pitchFamily="18" charset="0"/>
                            <a:ea typeface="KaiTi" panose="02010609060101010101" pitchFamily="49" charset="-122"/>
                            <a:cs typeface="Times New Roman" panose="02020603050405020304" pitchFamily="18" charset="0"/>
                          </a:rPr>
                          <m:t>𝜕</m:t>
                        </m:r>
                      </m:num>
                      <m:den>
                        <m:r>
                          <a:rPr lang="en-US" altLang="ko-Kore-KR">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𝑓</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𝑥</m:t>
                                </m:r>
                              </m:e>
                              <m: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𝑖</m:t>
                                </m:r>
                              </m:sub>
                            </m:sSub>
                          </m:e>
                        </m:d>
                      </m:den>
                    </m:f>
                    <m:d>
                      <m:dPr>
                        <m:begChr m:val="["/>
                        <m:endChr m:val="]"/>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1</m:t>
                            </m:r>
                          </m:num>
                          <m:den>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2</m:t>
                            </m:r>
                          </m:den>
                        </m:f>
                        <m:sSup>
                          <m:sSup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𝑖</m:t>
                                    </m:r>
                                  </m:sub>
                                </m:s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𝑓</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𝑥</m:t>
                                        </m:r>
                                      </m:e>
                                      <m: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𝑖</m:t>
                                        </m:r>
                                      </m:sub>
                                    </m:sSub>
                                  </m:e>
                                </m:d>
                              </m:e>
                            </m:d>
                          </m:e>
                          <m:sup>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2</m:t>
                            </m:r>
                          </m:sup>
                        </m:sSup>
                      </m:e>
                    </m:d>
                  </m:oMath>
                </a14:m>
                <a:endParaRPr lang="en-US" altLang="ko-Kore-KR">
                  <a:latin typeface="Times New Roman" panose="02020603050405020304" pitchFamily="18" charset="0"/>
                  <a:ea typeface="Times New Roman" panose="02020603050405020304" pitchFamily="18" charset="0"/>
                </a:endParaRPr>
              </a:p>
              <a:p>
                <a:endParaRPr lang="en-US" altLang="ko-Kore-KR">
                  <a:latin typeface="Times New Roman" panose="02020603050405020304" pitchFamily="18" charset="0"/>
                  <a:ea typeface="Times New Roman" panose="02020603050405020304" pitchFamily="18" charset="0"/>
                </a:endParaRPr>
              </a:p>
              <a:p>
                <a:r>
                  <a:rPr lang="zh-CN" altLang="en-US">
                    <a:effectLst/>
                    <a:latin typeface="Times New Roman" panose="02020603050405020304" pitchFamily="18" charset="0"/>
                    <a:ea typeface="Times New Roman" panose="02020603050405020304" pitchFamily="18" charset="0"/>
                  </a:rPr>
                  <a:t>                  </a:t>
                </a:r>
                <a14:m>
                  <m:oMath xmlns:m="http://schemas.openxmlformats.org/officeDocument/2006/math">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𝑖</m:t>
                            </m:r>
                          </m:sub>
                        </m:sSub>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m:t>
                        </m:r>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𝑓</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𝑥</m:t>
                                </m:r>
                              </m:e>
                              <m:sub>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𝑖</m:t>
                                </m:r>
                              </m:sub>
                            </m:sSub>
                          </m:e>
                        </m:d>
                      </m:e>
                    </m:d>
                    <m:r>
                      <a:rPr lang="en-US" altLang="ko-Kore-KR" kern="0">
                        <a:effectLst/>
                        <a:latin typeface="Cambria Math" panose="02040503050406030204" pitchFamily="18" charset="0"/>
                        <a:ea typeface="KaiTi" panose="02010609060101010101" pitchFamily="49" charset="-122"/>
                        <a:cs typeface="Times New Roman" panose="02020603050405020304" pitchFamily="18" charset="0"/>
                      </a:rPr>
                      <m:t>⋅</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i="1" kern="0">
                            <a:effectLst/>
                            <a:latin typeface="Cambria Math" panose="02040503050406030204" pitchFamily="18" charset="0"/>
                            <a:ea typeface="KaiTi" panose="02010609060101010101" pitchFamily="49" charset="-122"/>
                            <a:cs typeface="Times New Roman" panose="02020603050405020304" pitchFamily="18" charset="0"/>
                          </a:rPr>
                          <m:t>−1</m:t>
                        </m:r>
                      </m:e>
                    </m:d>
                  </m:oMath>
                </a14:m>
                <a:endParaRPr lang="en-US" altLang="ko-Kore-KR">
                  <a:effectLst/>
                </a:endParaRPr>
              </a:p>
              <a:p>
                <a:r>
                  <a:rPr lang="ko-Kore-KR" altLang="ko-Kore-KR">
                    <a:effectLst/>
                  </a:rPr>
                  <a:t> </a:t>
                </a:r>
                <a:endParaRPr lang="en-US" altLang="ko-Kore-KR">
                  <a:effectLst/>
                </a:endParaRPr>
              </a:p>
              <a:p>
                <a:r>
                  <a:rPr lang="zh-CN" altLang="en-US">
                    <a:latin typeface="Times New Roman" panose="02020603050405020304" pitchFamily="18" charset="0"/>
                    <a:ea typeface="Times New Roman" panose="02020603050405020304" pitchFamily="18" charset="0"/>
                  </a:rPr>
                  <a:t>                  </a:t>
                </a:r>
                <a:r>
                  <a:rPr lang="en-US" altLang="zh-CN">
                    <a:latin typeface="Times New Roman" panose="02020603050405020304" pitchFamily="18" charset="0"/>
                    <a:ea typeface="Times New Roman" panose="02020603050405020304" pitchFamily="18" charset="0"/>
                  </a:rPr>
                  <a:t>=</a:t>
                </a:r>
                <a:r>
                  <a:rPr lang="en-US" altLang="ko-Kore-KR">
                    <a:effectLst/>
                    <a:ea typeface="KaiTi" panose="02010609060101010101" pitchFamily="49" charset="-122"/>
                    <a:cs typeface="Times New Roman" panose="02020603050405020304" pitchFamily="18" charset="0"/>
                  </a:rPr>
                  <a:t> </a:t>
                </a:r>
                <a14:m>
                  <m:oMath xmlns:m="http://schemas.openxmlformats.org/officeDocument/2006/math">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𝑓</m:t>
                    </m:r>
                    <m:d>
                      <m:d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𝑥</m:t>
                            </m:r>
                          </m:e>
                          <m:sub>
                            <m:r>
                              <a:rPr lang="en-US" altLang="ko-Kore-KR" i="1">
                                <a:effectLst/>
                                <a:latin typeface="Cambria Math" panose="02040503050406030204" pitchFamily="18" charset="0"/>
                                <a:ea typeface="KaiTi" panose="02010609060101010101" pitchFamily="49" charset="-122"/>
                                <a:cs typeface="Times New Roman" panose="02020603050405020304" pitchFamily="18" charset="0"/>
                              </a:rPr>
                              <m:t>𝑖</m:t>
                            </m:r>
                          </m:sub>
                        </m:sSub>
                      </m:e>
                    </m:d>
                    <m:r>
                      <a:rPr lang="zh-CN" altLang="en-US" b="0" i="0">
                        <a:effectLst/>
                        <a:latin typeface="Cambria Math" panose="02040503050406030204" pitchFamily="18" charset="0"/>
                        <a:ea typeface="KaiTi" panose="02010609060101010101" pitchFamily="49" charset="-122"/>
                        <a:cs typeface="Times New Roman" panose="02020603050405020304" pitchFamily="18" charset="0"/>
                      </a:rPr>
                      <m:t> </m:t>
                    </m:r>
                    <m:r>
                      <a:rPr lang="en-US" altLang="zh-CN" b="0" i="0">
                        <a:effectLst/>
                        <a:latin typeface="Cambria Math" panose="02040503050406030204" pitchFamily="18" charset="0"/>
                        <a:ea typeface="KaiTi" panose="02010609060101010101" pitchFamily="49" charset="-122"/>
                        <a:cs typeface="Times New Roman" panose="02020603050405020304" pitchFamily="18" charset="0"/>
                      </a:rPr>
                      <m:t>−</m:t>
                    </m:r>
                    <m:r>
                      <a:rPr lang="zh-CN" altLang="en-US" b="0" i="0">
                        <a:effectLst/>
                        <a:latin typeface="Cambria Math" panose="02040503050406030204" pitchFamily="18" charset="0"/>
                        <a:ea typeface="KaiTi" panose="02010609060101010101" pitchFamily="49" charset="-122"/>
                        <a:cs typeface="Times New Roman" panose="02020603050405020304" pitchFamily="18" charset="0"/>
                      </a:rPr>
                      <m:t> </m:t>
                    </m:r>
                    <m:sSub>
                      <m:sSubPr>
                        <m:ctrlPr>
                          <a:rPr lang="ko-Kore-KR" altLang="ko-Kore-KR"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i="1" kern="0">
                            <a:latin typeface="Cambria Math" panose="02040503050406030204" pitchFamily="18" charset="0"/>
                            <a:ea typeface="KaiTi" panose="02010609060101010101" pitchFamily="49" charset="-122"/>
                            <a:cs typeface="Times New Roman" panose="02020603050405020304" pitchFamily="18" charset="0"/>
                          </a:rPr>
                          <m:t>𝑦</m:t>
                        </m:r>
                      </m:e>
                      <m:sub>
                        <m:r>
                          <a:rPr lang="en-US" altLang="ko-Kore-KR" i="1" kern="0">
                            <a:latin typeface="Cambria Math" panose="02040503050406030204" pitchFamily="18" charset="0"/>
                            <a:ea typeface="KaiTi" panose="02010609060101010101" pitchFamily="49" charset="-122"/>
                            <a:cs typeface="Times New Roman" panose="02020603050405020304" pitchFamily="18" charset="0"/>
                          </a:rPr>
                          <m:t>𝑖</m:t>
                        </m:r>
                      </m:sub>
                    </m:sSub>
                  </m:oMath>
                </a14:m>
                <a:endParaRPr lang="ko-Kore-KR" altLang="ko-Kore-KR">
                  <a:effectLst/>
                  <a:latin typeface="Times New Roman" panose="02020603050405020304" pitchFamily="18" charset="0"/>
                  <a:ea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760390D8-81BE-B8FC-7471-CC47D8471F91}"/>
                  </a:ext>
                </a:extLst>
              </p:cNvPr>
              <p:cNvSpPr txBox="1">
                <a:spLocks noRot="1" noChangeAspect="1" noMove="1" noResize="1" noEditPoints="1" noAdjustHandles="1" noChangeArrowheads="1" noChangeShapeType="1" noTextEdit="1"/>
              </p:cNvSpPr>
              <p:nvPr/>
            </p:nvSpPr>
            <p:spPr>
              <a:xfrm>
                <a:off x="948753" y="3640671"/>
                <a:ext cx="6096000" cy="2256452"/>
              </a:xfrm>
              <a:prstGeom prst="rect">
                <a:avLst/>
              </a:prstGeom>
              <a:blipFill>
                <a:blip r:embed="rId5"/>
                <a:stretch>
                  <a:fillRect b="-5587"/>
                </a:stretch>
              </a:blipFill>
            </p:spPr>
            <p:txBody>
              <a:bodyPr/>
              <a:lstStyle/>
              <a:p>
                <a:r>
                  <a:rPr lang="ko-Kore-KR" altLang="en-US">
                    <a:noFill/>
                  </a:rPr>
                  <a:t> </a:t>
                </a:r>
              </a:p>
            </p:txBody>
          </p:sp>
        </mc:Fallback>
      </mc:AlternateContent>
      <p:sp>
        <p:nvSpPr>
          <p:cNvPr id="16" name="TextBox 15">
            <a:extLst>
              <a:ext uri="{FF2B5EF4-FFF2-40B4-BE49-F238E27FC236}">
                <a16:creationId xmlns:a16="http://schemas.microsoft.com/office/drawing/2014/main" id="{DB616F8D-0089-8E21-9A27-D186242F784C}"/>
              </a:ext>
            </a:extLst>
          </p:cNvPr>
          <p:cNvSpPr txBox="1"/>
          <p:nvPr/>
        </p:nvSpPr>
        <p:spPr>
          <a:xfrm>
            <a:off x="6642417" y="1501731"/>
            <a:ext cx="4720527" cy="461665"/>
          </a:xfrm>
          <a:prstGeom prst="rect">
            <a:avLst/>
          </a:prstGeom>
          <a:noFill/>
        </p:spPr>
        <p:txBody>
          <a:bodyPr wrap="square">
            <a:spAutoFit/>
          </a:bodyPr>
          <a:lstStyle/>
          <a:p>
            <a:r>
              <a:rPr lang="en-US" altLang="ko-Kore-KR">
                <a:effectLst/>
                <a:latin typeface="KaiTi" panose="02010609060101010101" pitchFamily="49" charset="-122"/>
                <a:ea typeface="Times New Roman" panose="02020603050405020304" pitchFamily="18" charset="0"/>
                <a:cs typeface="Times New Roman" panose="02020603050405020304" pitchFamily="18" charset="0"/>
              </a:rPr>
              <a:t>GBDT </a:t>
            </a:r>
            <a:r>
              <a:rPr lang="zh-CN" altLang="ko-Kore-KR">
                <a:effectLst/>
                <a:latin typeface="Times New Roman" panose="02020603050405020304" pitchFamily="18" charset="0"/>
                <a:ea typeface="KaiTi" panose="02010609060101010101" pitchFamily="49" charset="-122"/>
                <a:cs typeface="Times New Roman" panose="02020603050405020304" pitchFamily="18" charset="0"/>
              </a:rPr>
              <a:t>使用负梯度作为新的目标值</a:t>
            </a:r>
            <a:endParaRPr lang="ko-Kore-KR" altLang="ko-Kore-KR">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5475210-611B-C3AD-36C8-AC190A5DE446}"/>
                  </a:ext>
                </a:extLst>
              </p:cNvPr>
              <p:cNvSpPr txBox="1"/>
              <p:nvPr/>
            </p:nvSpPr>
            <p:spPr>
              <a:xfrm>
                <a:off x="6547104" y="2401422"/>
                <a:ext cx="4815840" cy="959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ko-Kore-KR" i="1">
                              <a:latin typeface="Cambria Math" panose="02040503050406030204" pitchFamily="18" charset="0"/>
                            </a:rPr>
                          </m:ctrlPr>
                        </m:sSubPr>
                        <m:e>
                          <m:r>
                            <a:rPr lang="en-US" altLang="ko-Kore-KR" i="1">
                              <a:latin typeface="Cambria Math" panose="02040503050406030204" pitchFamily="18" charset="0"/>
                            </a:rPr>
                            <m:t>𝑟</m:t>
                          </m:r>
                        </m:e>
                        <m:sub>
                          <m:r>
                            <a:rPr lang="en-US" altLang="ko-Kore-KR" i="1">
                              <a:latin typeface="Cambria Math" panose="02040503050406030204" pitchFamily="18" charset="0"/>
                            </a:rPr>
                            <m:t>𝑚𝑖</m:t>
                          </m:r>
                        </m:sub>
                      </m:sSub>
                      <m:r>
                        <a:rPr lang="en-US" altLang="zh-CN" b="0" i="1">
                          <a:latin typeface="Cambria Math" panose="02040503050406030204" pitchFamily="18" charset="0"/>
                        </a:rPr>
                        <m:t>=</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d>
                            <m:dPr>
                              <m:begChr m:val="["/>
                              <m:endChr m:val="]"/>
                              <m:ctrlPr>
                                <a:rPr lang="en-US" altLang="zh-CN" b="0" i="1" smtClean="0">
                                  <a:latin typeface="Cambria Math" panose="02040503050406030204" pitchFamily="18" charset="0"/>
                                  <a:ea typeface="Microsoft YaHei" charset="0"/>
                                </a:rPr>
                              </m:ctrlPr>
                            </m:dPr>
                            <m:e>
                              <m:f>
                                <m:fPr>
                                  <m:ctrlPr>
                                    <a:rPr lang="en-US" altLang="zh-CN" b="0" i="1" smtClean="0">
                                      <a:latin typeface="Cambria Math" panose="02040503050406030204" pitchFamily="18" charset="0"/>
                                      <a:ea typeface="Microsoft YaHei" charset="0"/>
                                    </a:rPr>
                                  </m:ctrlPr>
                                </m:fPr>
                                <m:num>
                                  <m:r>
                                    <a:rPr lang="zh-CN" altLang="en-US"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𝐿</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𝑓</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num>
                                <m:den>
                                  <m:r>
                                    <a:rPr lang="zh-CN" altLang="en-US"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𝑓</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den>
                              </m:f>
                            </m:e>
                          </m:d>
                        </m:e>
                        <m:sub>
                          <m:r>
                            <a:rPr lang="en-US" altLang="zh-CN" b="0" i="1" smtClean="0">
                              <a:latin typeface="Cambria Math" panose="02040503050406030204" pitchFamily="18" charset="0"/>
                              <a:ea typeface="Microsoft YaHei" charset="0"/>
                            </a:rPr>
                            <m:t>𝑓</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𝑚</m:t>
                              </m:r>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sub>
                      </m:sSub>
                    </m:oMath>
                  </m:oMathPara>
                </a14:m>
                <a:endParaRPr lang="ko-Kore-KR" altLang="en-US"/>
              </a:p>
            </p:txBody>
          </p:sp>
        </mc:Choice>
        <mc:Fallback xmlns="">
          <p:sp>
            <p:nvSpPr>
              <p:cNvPr id="17" name="TextBox 16">
                <a:extLst>
                  <a:ext uri="{FF2B5EF4-FFF2-40B4-BE49-F238E27FC236}">
                    <a16:creationId xmlns:a16="http://schemas.microsoft.com/office/drawing/2014/main" id="{E5475210-611B-C3AD-36C8-AC190A5DE446}"/>
                  </a:ext>
                </a:extLst>
              </p:cNvPr>
              <p:cNvSpPr txBox="1">
                <a:spLocks noRot="1" noChangeAspect="1" noMove="1" noResize="1" noEditPoints="1" noAdjustHandles="1" noChangeArrowheads="1" noChangeShapeType="1" noTextEdit="1"/>
              </p:cNvSpPr>
              <p:nvPr/>
            </p:nvSpPr>
            <p:spPr>
              <a:xfrm>
                <a:off x="6547104" y="2401422"/>
                <a:ext cx="4815840" cy="959045"/>
              </a:xfrm>
              <a:prstGeom prst="rect">
                <a:avLst/>
              </a:prstGeom>
              <a:blipFill>
                <a:blip r:embed="rId6"/>
                <a:stretch>
                  <a:fillRect b="-526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6C6A238-1486-F73D-3A24-9971E4498FD7}"/>
                  </a:ext>
                </a:extLst>
              </p:cNvPr>
              <p:cNvSpPr txBox="1"/>
              <p:nvPr/>
            </p:nvSpPr>
            <p:spPr>
              <a:xfrm>
                <a:off x="5640868" y="4477390"/>
                <a:ext cx="6096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𝑟</m:t>
                          </m:r>
                        </m:e>
                        <m:sub>
                          <m:r>
                            <a:rPr lang="ko-Kore-KR" altLang="en-US" i="1">
                              <a:latin typeface="Cambria Math" panose="02040503050406030204" pitchFamily="18" charset="0"/>
                            </a:rPr>
                            <m:t>𝑚𝑖</m:t>
                          </m:r>
                        </m:sub>
                      </m:sSub>
                      <m:r>
                        <a:rPr lang="ko-Kore-KR" altLang="en-US" i="0">
                          <a:latin typeface="Cambria Math" panose="02040503050406030204" pitchFamily="18" charset="0"/>
                        </a:rPr>
                        <m:t>=</m:t>
                      </m:r>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𝑦</m:t>
                          </m:r>
                        </m:e>
                        <m:sub>
                          <m:r>
                            <a:rPr lang="ko-Kore-KR" altLang="en-US" i="1">
                              <a:latin typeface="Cambria Math" panose="02040503050406030204" pitchFamily="18" charset="0"/>
                            </a:rPr>
                            <m:t>𝑖</m:t>
                          </m:r>
                        </m:sub>
                      </m:sSub>
                      <m:r>
                        <a:rPr lang="ko-Kore-KR" altLang="en-US" i="0">
                          <a:latin typeface="Cambria Math" panose="02040503050406030204" pitchFamily="18" charset="0"/>
                        </a:rPr>
                        <m:t>−</m:t>
                      </m:r>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𝑓</m:t>
                          </m:r>
                        </m:e>
                        <m:sub>
                          <m:r>
                            <a:rPr lang="ko-Kore-KR" altLang="en-US" i="1">
                              <a:latin typeface="Cambria Math" panose="02040503050406030204" pitchFamily="18" charset="0"/>
                            </a:rPr>
                            <m:t>𝑚</m:t>
                          </m:r>
                          <m:r>
                            <a:rPr lang="ko-Kore-KR" altLang="en-US" i="0">
                              <a:latin typeface="Cambria Math" panose="02040503050406030204" pitchFamily="18" charset="0"/>
                            </a:rPr>
                            <m:t>−1</m:t>
                          </m:r>
                        </m:sub>
                      </m:sSub>
                      <m:d>
                        <m:dPr>
                          <m:ctrlPr>
                            <a:rPr lang="ko-Kore-KR" altLang="en-US" i="1">
                              <a:solidFill>
                                <a:srgbClr val="836967"/>
                              </a:solidFill>
                              <a:latin typeface="Cambria Math" panose="02040503050406030204" pitchFamily="18" charset="0"/>
                            </a:rPr>
                          </m:ctrlPr>
                        </m:dPr>
                        <m:e>
                          <m:sSub>
                            <m:sSubPr>
                              <m:ctrlPr>
                                <a:rPr lang="ko-Kore-KR" altLang="en-US" i="1">
                                  <a:solidFill>
                                    <a:srgbClr val="836967"/>
                                  </a:solidFill>
                                  <a:latin typeface="Cambria Math" panose="02040503050406030204" pitchFamily="18" charset="0"/>
                                </a:rPr>
                              </m:ctrlPr>
                            </m:sSubPr>
                            <m:e>
                              <m:r>
                                <a:rPr lang="ko-Kore-KR" altLang="en-US" i="1">
                                  <a:latin typeface="Cambria Math" panose="02040503050406030204" pitchFamily="18" charset="0"/>
                                </a:rPr>
                                <m:t>𝑥</m:t>
                              </m:r>
                            </m:e>
                            <m:sub>
                              <m:r>
                                <a:rPr lang="ko-Kore-KR" altLang="en-US" i="1">
                                  <a:latin typeface="Cambria Math" panose="02040503050406030204" pitchFamily="18" charset="0"/>
                                </a:rPr>
                                <m:t>𝑖</m:t>
                              </m:r>
                            </m:sub>
                          </m:sSub>
                        </m:e>
                      </m:d>
                    </m:oMath>
                  </m:oMathPara>
                </a14:m>
                <a:endParaRPr lang="ko-Kore-KR" altLang="en-US"/>
              </a:p>
            </p:txBody>
          </p:sp>
        </mc:Choice>
        <mc:Fallback xmlns="">
          <p:sp>
            <p:nvSpPr>
              <p:cNvPr id="19" name="TextBox 18">
                <a:extLst>
                  <a:ext uri="{FF2B5EF4-FFF2-40B4-BE49-F238E27FC236}">
                    <a16:creationId xmlns:a16="http://schemas.microsoft.com/office/drawing/2014/main" id="{76C6A238-1486-F73D-3A24-9971E4498FD7}"/>
                  </a:ext>
                </a:extLst>
              </p:cNvPr>
              <p:cNvSpPr txBox="1">
                <a:spLocks noRot="1" noChangeAspect="1" noMove="1" noResize="1" noEditPoints="1" noAdjustHandles="1" noChangeArrowheads="1" noChangeShapeType="1" noTextEdit="1"/>
              </p:cNvSpPr>
              <p:nvPr/>
            </p:nvSpPr>
            <p:spPr>
              <a:xfrm>
                <a:off x="5640868" y="4477390"/>
                <a:ext cx="6096000" cy="461665"/>
              </a:xfrm>
              <a:prstGeom prst="rect">
                <a:avLst/>
              </a:prstGeom>
              <a:blipFill>
                <a:blip r:embed="rId7"/>
                <a:stretch>
                  <a:fillRect b="-18919"/>
                </a:stretch>
              </a:blipFill>
            </p:spPr>
            <p:txBody>
              <a:bodyPr/>
              <a:lstStyle/>
              <a:p>
                <a:r>
                  <a:rPr lang="ko-Kore-KR" altLang="en-US">
                    <a:noFill/>
                  </a:rPr>
                  <a:t> </a:t>
                </a:r>
              </a:p>
            </p:txBody>
          </p:sp>
        </mc:Fallback>
      </mc:AlternateContent>
      <p:sp>
        <p:nvSpPr>
          <p:cNvPr id="20" name="아래쪽 화살표[D] 19">
            <a:extLst>
              <a:ext uri="{FF2B5EF4-FFF2-40B4-BE49-F238E27FC236}">
                <a16:creationId xmlns:a16="http://schemas.microsoft.com/office/drawing/2014/main" id="{412D3ECA-1A1B-4302-5149-600031836AEF}"/>
              </a:ext>
            </a:extLst>
          </p:cNvPr>
          <p:cNvSpPr/>
          <p:nvPr/>
        </p:nvSpPr>
        <p:spPr>
          <a:xfrm>
            <a:off x="8518180" y="3718109"/>
            <a:ext cx="341376" cy="4391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981491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mc:AlternateContent xmlns:mc="http://schemas.openxmlformats.org/markup-compatibility/2006" xmlns:a14="http://schemas.microsoft.com/office/drawing/2010/main">
        <mc:Choice Requires="a14">
          <p:sp>
            <p:nvSpPr>
              <p:cNvPr id="2" name="文本框 17">
                <a:extLst>
                  <a:ext uri="{FF2B5EF4-FFF2-40B4-BE49-F238E27FC236}">
                    <a16:creationId xmlns:a16="http://schemas.microsoft.com/office/drawing/2014/main" id="{D3DC20AF-FD97-65BC-90DF-C393645C8530}"/>
                  </a:ext>
                </a:extLst>
              </p:cNvPr>
              <p:cNvSpPr txBox="1"/>
              <p:nvPr/>
            </p:nvSpPr>
            <p:spPr>
              <a:xfrm>
                <a:off x="460375" y="1486427"/>
                <a:ext cx="10383975" cy="1193788"/>
              </a:xfrm>
              <a:prstGeom prst="rect">
                <a:avLst/>
              </a:prstGeom>
              <a:noFill/>
            </p:spPr>
            <p:txBody>
              <a:bodyPr wrap="square">
                <a:spAutoFit/>
              </a:bodyPr>
              <a:lstStyle/>
              <a:p>
                <a:pPr>
                  <a:lnSpc>
                    <a:spcPct val="150000"/>
                  </a:lnSpc>
                  <a:spcBef>
                    <a:spcPts val="900"/>
                  </a:spcBef>
                  <a:spcAft>
                    <a:spcPts val="900"/>
                  </a:spcAft>
                </a:pPr>
                <a:r>
                  <a:rPr lang="zh-CN" altLang="en-US" sz="2000" dirty="0" err="1">
                    <a:effectLst/>
                    <a:latin typeface="KaiTi" panose="02010609060101010101" pitchFamily="49" charset="-122"/>
                    <a:ea typeface="KaiTi" panose="02010609060101010101" pitchFamily="49" charset="-122"/>
                    <a:cs typeface="Times New Roman" panose="02020603050405020304" pitchFamily="18" charset="0"/>
                  </a:rPr>
                  <a:t>对数损失函数（</a:t>
                </a:r>
                <a:r>
                  <a:rPr lang="en" altLang="zh-CN" sz="2000" dirty="0" err="1">
                    <a:effectLst/>
                    <a:latin typeface="KaiTi" panose="02010609060101010101" pitchFamily="49" charset="-122"/>
                    <a:ea typeface="KaiTi" panose="02010609060101010101" pitchFamily="49" charset="-122"/>
                    <a:cs typeface="Times New Roman" panose="02020603050405020304" pitchFamily="18" charset="0"/>
                  </a:rPr>
                  <a:t>Logistic Loss</a:t>
                </a:r>
                <a:r>
                  <a:rPr lang="zh-CN" altLang="en" sz="2000" dirty="0" err="1">
                    <a:effectLst/>
                    <a:latin typeface="KaiTi" panose="02010609060101010101" pitchFamily="49" charset="-122"/>
                    <a:ea typeface="KaiTi" panose="02010609060101010101" pitchFamily="49" charset="-122"/>
                    <a:cs typeface="Times New Roman" panose="02020603050405020304" pitchFamily="18" charset="0"/>
                  </a:rPr>
                  <a:t>）</a:t>
                </a:r>
                <a:endParaRPr lang="en-US" altLang="zh-CN" sz="2000" dirty="0" err="1">
                  <a:effectLst/>
                  <a:latin typeface="KaiTi" panose="02010609060101010101" pitchFamily="49" charset="-122"/>
                  <a:ea typeface="KaiTi" panose="02010609060101010101" pitchFamily="49" charset="-122"/>
                  <a:cs typeface="Times New Roman" panose="02020603050405020304" pitchFamily="18" charset="0"/>
                </a:endParaRPr>
              </a:p>
              <a:p>
                <a:pPr>
                  <a:lnSpc>
                    <a:spcPct val="150000"/>
                  </a:lnSpc>
                  <a:spcBef>
                    <a:spcPts val="900"/>
                  </a:spcBef>
                  <a:spcAft>
                    <a:spcPts val="900"/>
                  </a:spcAft>
                </a:pPr>
                <a:r>
                  <a:rPr lang="zh-CN" altLang="en-US" sz="2000" dirty="0" err="1">
                    <a:latin typeface="KaiTi" panose="02010609060101010101" pitchFamily="49" charset="-122"/>
                    <a:ea typeface="KaiTi" panose="02010609060101010101" pitchFamily="49" charset="-122"/>
                    <a:cs typeface="Times New Roman" panose="02020603050405020304" pitchFamily="18" charset="0"/>
                  </a:rPr>
                  <a:t>对于二分类：</a:t>
                </a:r>
                <a14:m>
                  <m:oMath xmlns:m="http://schemas.openxmlformats.org/officeDocument/2006/math">
                    <m:sSub>
                      <m:sSub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𝑦</m:t>
                        </m:r>
                      </m:e>
                      <m: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𝑖</m:t>
                        </m:r>
                      </m:sub>
                    </m:sSub>
                    <m:r>
                      <a:rPr lang="zh-CN" altLang="ko-Kore-KR" sz="2000" kern="100">
                        <a:effectLst/>
                        <a:latin typeface="Cambria Math" panose="02040503050406030204" pitchFamily="18" charset="0"/>
                        <a:ea typeface="맑은 고딕" panose="020B0503020000020004" pitchFamily="34" charset="-127"/>
                        <a:cs typeface="Times New Roman" panose="02020603050405020304" pitchFamily="18" charset="0"/>
                      </a:rPr>
                      <m:t>∈</m:t>
                    </m:r>
                    <m:r>
                      <m:rPr>
                        <m:lit/>
                      </m:rP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0,1</m:t>
                    </m:r>
                    <m:r>
                      <m:rPr>
                        <m:lit/>
                      </m:rP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m:t>
                    </m:r>
                  </m:oMath>
                </a14:m>
                <a:endParaRPr lang="ko-Kore-KR" altLang="ko-Kore-KR" sz="2000" kern="10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2" name="文本框 17">
                <a:extLst>
                  <a:ext uri="{FF2B5EF4-FFF2-40B4-BE49-F238E27FC236}">
                    <a16:creationId xmlns:a16="http://schemas.microsoft.com/office/drawing/2014/main" id="{D3DC20AF-FD97-65BC-90DF-C393645C8530}"/>
                  </a:ext>
                </a:extLst>
              </p:cNvPr>
              <p:cNvSpPr txBox="1">
                <a:spLocks noRot="1" noChangeAspect="1" noMove="1" noResize="1" noEditPoints="1" noAdjustHandles="1" noChangeArrowheads="1" noChangeShapeType="1" noTextEdit="1"/>
              </p:cNvSpPr>
              <p:nvPr/>
            </p:nvSpPr>
            <p:spPr>
              <a:xfrm>
                <a:off x="460375" y="1486427"/>
                <a:ext cx="10383975" cy="1193788"/>
              </a:xfrm>
              <a:prstGeom prst="rect">
                <a:avLst/>
              </a:prstGeom>
              <a:blipFill>
                <a:blip r:embed="rId3"/>
                <a:stretch>
                  <a:fillRect l="-611" b="-526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20598F2-0B7C-BC68-3705-BB9F8D7F7693}"/>
                  </a:ext>
                </a:extLst>
              </p:cNvPr>
              <p:cNvSpPr txBox="1"/>
              <p:nvPr/>
            </p:nvSpPr>
            <p:spPr>
              <a:xfrm>
                <a:off x="434987" y="2858302"/>
                <a:ext cx="5459377" cy="4397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ko-Kore-KR" altLang="en-US" sz="2000" i="1">
                          <a:latin typeface="Cambria Math" panose="02040503050406030204" pitchFamily="18" charset="0"/>
                        </a:rPr>
                        <m:t>𝐿</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𝑦</m:t>
                              </m:r>
                            </m:e>
                            <m:sub>
                              <m:r>
                                <a:rPr lang="ko-Kore-KR" altLang="en-US" sz="2000" i="1">
                                  <a:latin typeface="Cambria Math" panose="02040503050406030204" pitchFamily="18" charset="0"/>
                                </a:rPr>
                                <m:t>𝑖</m:t>
                              </m:r>
                            </m:sub>
                          </m:sSub>
                          <m:r>
                            <a:rPr lang="ko-Kore-KR" altLang="en-US" sz="2000" i="0">
                              <a:latin typeface="Cambria Math" panose="02040503050406030204" pitchFamily="18" charset="0"/>
                            </a:rPr>
                            <m:t>,</m:t>
                          </m:r>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e>
                      </m:d>
                      <m:r>
                        <a:rPr lang="ko-Kore-KR" altLang="en-US" sz="2000" i="0">
                          <a:latin typeface="Cambria Math" panose="02040503050406030204" pitchFamily="18" charset="0"/>
                        </a:rPr>
                        <m:t>=−</m:t>
                      </m:r>
                      <m:d>
                        <m:dPr>
                          <m:begChr m:val="["/>
                          <m:endChr m:val="]"/>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𝑦</m:t>
                              </m:r>
                            </m:e>
                            <m:sub>
                              <m:r>
                                <a:rPr lang="ko-Kore-KR" altLang="en-US" sz="2000" i="1">
                                  <a:latin typeface="Cambria Math" panose="02040503050406030204" pitchFamily="18" charset="0"/>
                                </a:rPr>
                                <m:t>𝑖</m:t>
                              </m:r>
                            </m:sub>
                          </m:sSub>
                          <m:func>
                            <m:funcPr>
                              <m:ctrlPr>
                                <a:rPr lang="ko-Kore-KR" altLang="en-US" sz="2000" i="1">
                                  <a:latin typeface="Cambria Math" panose="02040503050406030204" pitchFamily="18" charset="0"/>
                                </a:rPr>
                              </m:ctrlPr>
                            </m:funcPr>
                            <m:fName>
                              <m:r>
                                <m:rPr>
                                  <m:sty m:val="p"/>
                                </m:rPr>
                                <a:rPr lang="ko-Kore-KR" altLang="en-US" sz="2000" i="0">
                                  <a:latin typeface="Cambria Math" panose="02040503050406030204" pitchFamily="18" charset="0"/>
                                </a:rPr>
                                <m:t>ln</m:t>
                              </m:r>
                            </m:fName>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𝑖</m:t>
                                  </m:r>
                                </m:sub>
                              </m:sSub>
                            </m:e>
                          </m:func>
                          <m:r>
                            <a:rPr lang="ko-Kore-KR" altLang="en-US" sz="2000" i="0">
                              <a:latin typeface="Cambria Math" panose="02040503050406030204" pitchFamily="18" charset="0"/>
                            </a:rPr>
                            <m:t>+</m:t>
                          </m:r>
                          <m:d>
                            <m:dPr>
                              <m:ctrlPr>
                                <a:rPr lang="ko-Kore-KR" altLang="en-US" sz="2000" i="1">
                                  <a:solidFill>
                                    <a:srgbClr val="836967"/>
                                  </a:solidFill>
                                  <a:latin typeface="Cambria Math" panose="02040503050406030204" pitchFamily="18" charset="0"/>
                                </a:rPr>
                              </m:ctrlPr>
                            </m:dPr>
                            <m:e>
                              <m:r>
                                <a:rPr lang="ko-Kore-KR" altLang="en-US" sz="2000" i="0">
                                  <a:latin typeface="Cambria Math" panose="02040503050406030204" pitchFamily="18" charset="0"/>
                                </a:rPr>
                                <m:t>1−</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𝑦</m:t>
                                  </m:r>
                                </m:e>
                                <m:sub>
                                  <m:r>
                                    <a:rPr lang="ko-Kore-KR" altLang="en-US" sz="2000" i="1">
                                      <a:latin typeface="Cambria Math" panose="02040503050406030204" pitchFamily="18" charset="0"/>
                                    </a:rPr>
                                    <m:t>𝑖</m:t>
                                  </m:r>
                                </m:sub>
                              </m:sSub>
                            </m:e>
                          </m:d>
                          <m:func>
                            <m:funcPr>
                              <m:ctrlPr>
                                <a:rPr lang="ko-Kore-KR" altLang="en-US" sz="2000" i="1">
                                  <a:latin typeface="Cambria Math" panose="02040503050406030204" pitchFamily="18" charset="0"/>
                                </a:rPr>
                              </m:ctrlPr>
                            </m:funcPr>
                            <m:fName>
                              <m:r>
                                <m:rPr>
                                  <m:sty m:val="p"/>
                                </m:rPr>
                                <a:rPr lang="ko-Kore-KR" altLang="en-US" sz="2000" i="0">
                                  <a:latin typeface="Cambria Math" panose="02040503050406030204" pitchFamily="18" charset="0"/>
                                </a:rPr>
                                <m:t>ln</m:t>
                              </m:r>
                            </m:fName>
                            <m:e>
                              <m:d>
                                <m:dPr>
                                  <m:ctrlPr>
                                    <a:rPr lang="ko-Kore-KR" altLang="en-US" sz="2000" i="1">
                                      <a:solidFill>
                                        <a:srgbClr val="836967"/>
                                      </a:solidFill>
                                      <a:latin typeface="Cambria Math" panose="02040503050406030204" pitchFamily="18" charset="0"/>
                                    </a:rPr>
                                  </m:ctrlPr>
                                </m:dPr>
                                <m:e>
                                  <m:r>
                                    <a:rPr lang="ko-Kore-KR" altLang="en-US" sz="2000" i="0">
                                      <a:latin typeface="Cambria Math" panose="02040503050406030204" pitchFamily="18" charset="0"/>
                                    </a:rPr>
                                    <m:t>1−</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𝑖</m:t>
                                      </m:r>
                                    </m:sub>
                                  </m:sSub>
                                </m:e>
                              </m:d>
                            </m:e>
                          </m:func>
                        </m:e>
                      </m:d>
                    </m:oMath>
                  </m:oMathPara>
                </a14:m>
                <a:endParaRPr lang="ko-Kore-KR" altLang="en-US" sz="2000"/>
              </a:p>
            </p:txBody>
          </p:sp>
        </mc:Choice>
        <mc:Fallback xmlns="">
          <p:sp>
            <p:nvSpPr>
              <p:cNvPr id="7" name="TextBox 6">
                <a:extLst>
                  <a:ext uri="{FF2B5EF4-FFF2-40B4-BE49-F238E27FC236}">
                    <a16:creationId xmlns:a16="http://schemas.microsoft.com/office/drawing/2014/main" id="{920598F2-0B7C-BC68-3705-BB9F8D7F7693}"/>
                  </a:ext>
                </a:extLst>
              </p:cNvPr>
              <p:cNvSpPr txBox="1">
                <a:spLocks noRot="1" noChangeAspect="1" noMove="1" noResize="1" noEditPoints="1" noAdjustHandles="1" noChangeArrowheads="1" noChangeShapeType="1" noTextEdit="1"/>
              </p:cNvSpPr>
              <p:nvPr/>
            </p:nvSpPr>
            <p:spPr>
              <a:xfrm>
                <a:off x="434987" y="2858302"/>
                <a:ext cx="5459377" cy="439736"/>
              </a:xfrm>
              <a:prstGeom prst="rect">
                <a:avLst/>
              </a:prstGeom>
              <a:blipFill>
                <a:blip r:embed="rId4"/>
                <a:stretch>
                  <a:fillRect b="-11429"/>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73F1174-EA5A-F4CA-A4C2-0977684B4F9E}"/>
                  </a:ext>
                </a:extLst>
              </p:cNvPr>
              <p:cNvSpPr txBox="1"/>
              <p:nvPr/>
            </p:nvSpPr>
            <p:spPr>
              <a:xfrm>
                <a:off x="1108881" y="3388052"/>
                <a:ext cx="4131859" cy="6889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𝑖</m:t>
                          </m:r>
                        </m:sub>
                      </m:sSub>
                      <m:r>
                        <a:rPr lang="ko-Kore-KR" altLang="en-US" sz="2000" i="0">
                          <a:latin typeface="Cambria Math" panose="02040503050406030204" pitchFamily="18" charset="0"/>
                        </a:rPr>
                        <m:t>=</m:t>
                      </m:r>
                      <m:r>
                        <m:rPr>
                          <m:sty m:val="p"/>
                        </m:rPr>
                        <a:rPr lang="ko-Kore-KR" altLang="en-US" sz="2000" i="0">
                          <a:latin typeface="Cambria Math" panose="02040503050406030204" pitchFamily="18" charset="0"/>
                        </a:rPr>
                        <m:t>σ</m:t>
                      </m:r>
                      <m:d>
                        <m:dPr>
                          <m:ctrlPr>
                            <a:rPr lang="ko-Kore-KR" altLang="en-US" sz="2000" i="1">
                              <a:solidFill>
                                <a:srgbClr val="836967"/>
                              </a:solidFill>
                              <a:latin typeface="Cambria Math" panose="02040503050406030204" pitchFamily="18" charset="0"/>
                            </a:rPr>
                          </m:ctrlPr>
                        </m:dPr>
                        <m:e>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e>
                      </m:d>
                      <m:r>
                        <a:rPr lang="ko-Kore-KR" altLang="en-US" sz="2000" i="0">
                          <a:latin typeface="Cambria Math" panose="02040503050406030204" pitchFamily="18" charset="0"/>
                        </a:rPr>
                        <m:t>=</m:t>
                      </m:r>
                      <m:f>
                        <m:fPr>
                          <m:ctrlPr>
                            <a:rPr lang="ko-Kore-KR" altLang="en-US" sz="2000" i="1">
                              <a:solidFill>
                                <a:srgbClr val="836967"/>
                              </a:solidFill>
                              <a:latin typeface="Cambria Math" panose="02040503050406030204" pitchFamily="18" charset="0"/>
                            </a:rPr>
                          </m:ctrlPr>
                        </m:fPr>
                        <m:num>
                          <m:r>
                            <a:rPr lang="ko-Kore-KR" altLang="en-US" sz="2000" i="0">
                              <a:latin typeface="Cambria Math" panose="02040503050406030204" pitchFamily="18" charset="0"/>
                            </a:rPr>
                            <m:t>1</m:t>
                          </m:r>
                        </m:num>
                        <m:den>
                          <m:r>
                            <a:rPr lang="ko-Kore-KR" altLang="en-US" sz="2000" i="0">
                              <a:latin typeface="Cambria Math" panose="02040503050406030204" pitchFamily="18" charset="0"/>
                            </a:rPr>
                            <m:t>1+</m:t>
                          </m:r>
                          <m:sSup>
                            <m:sSupPr>
                              <m:ctrlPr>
                                <a:rPr lang="ko-Kore-KR" altLang="en-US" sz="2000" i="1">
                                  <a:solidFill>
                                    <a:srgbClr val="836967"/>
                                  </a:solidFill>
                                  <a:latin typeface="Cambria Math" panose="02040503050406030204" pitchFamily="18" charset="0"/>
                                </a:rPr>
                              </m:ctrlPr>
                            </m:sSupPr>
                            <m:e>
                              <m:r>
                                <a:rPr lang="ko-Kore-KR" altLang="en-US" sz="2000" i="1">
                                  <a:latin typeface="Cambria Math" panose="02040503050406030204" pitchFamily="18" charset="0"/>
                                </a:rPr>
                                <m:t>𝑒</m:t>
                              </m:r>
                            </m:e>
                            <m:sup>
                              <m:r>
                                <a:rPr lang="ko-Kore-KR" altLang="en-US" sz="2000" i="0">
                                  <a:latin typeface="Cambria Math" panose="02040503050406030204" pitchFamily="18" charset="0"/>
                                </a:rPr>
                                <m:t>−</m:t>
                              </m:r>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sup>
                          </m:sSup>
                        </m:den>
                      </m:f>
                    </m:oMath>
                  </m:oMathPara>
                </a14:m>
                <a:endParaRPr lang="ko-Kore-KR" altLang="en-US" sz="2000"/>
              </a:p>
            </p:txBody>
          </p:sp>
        </mc:Choice>
        <mc:Fallback xmlns="">
          <p:sp>
            <p:nvSpPr>
              <p:cNvPr id="9" name="TextBox 8">
                <a:extLst>
                  <a:ext uri="{FF2B5EF4-FFF2-40B4-BE49-F238E27FC236}">
                    <a16:creationId xmlns:a16="http://schemas.microsoft.com/office/drawing/2014/main" id="{473F1174-EA5A-F4CA-A4C2-0977684B4F9E}"/>
                  </a:ext>
                </a:extLst>
              </p:cNvPr>
              <p:cNvSpPr txBox="1">
                <a:spLocks noRot="1" noChangeAspect="1" noMove="1" noResize="1" noEditPoints="1" noAdjustHandles="1" noChangeArrowheads="1" noChangeShapeType="1" noTextEdit="1"/>
              </p:cNvSpPr>
              <p:nvPr/>
            </p:nvSpPr>
            <p:spPr>
              <a:xfrm>
                <a:off x="1108881" y="3388052"/>
                <a:ext cx="4131859" cy="688907"/>
              </a:xfrm>
              <a:prstGeom prst="rect">
                <a:avLst/>
              </a:prstGeom>
              <a:blipFill>
                <a:blip r:embed="rId5"/>
                <a:stretch>
                  <a:fillRect b="-3571"/>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951661D-D844-3D8A-170D-AD9C426B9171}"/>
                  </a:ext>
                </a:extLst>
              </p:cNvPr>
              <p:cNvSpPr txBox="1"/>
              <p:nvPr/>
            </p:nvSpPr>
            <p:spPr>
              <a:xfrm>
                <a:off x="434987" y="4238966"/>
                <a:ext cx="6096000" cy="400110"/>
              </a:xfrm>
              <a:prstGeom prst="rect">
                <a:avLst/>
              </a:prstGeom>
              <a:noFill/>
            </p:spPr>
            <p:txBody>
              <a:bodyPr wrap="square">
                <a:spAutoFit/>
              </a:bodyPr>
              <a:lstStyle/>
              <a:p>
                <a:r>
                  <a:rPr lang="zh-CN" altLang="ko-Kore-KR" sz="2000" i="1">
                    <a:effectLst/>
                    <a:latin typeface="Times New Roman" panose="02020603050405020304" pitchFamily="18" charset="0"/>
                    <a:ea typeface="KaiTi" panose="02010609060101010101" pitchFamily="49" charset="-122"/>
                    <a:cs typeface="Times New Roman" panose="02020603050405020304" pitchFamily="18" charset="0"/>
                  </a:rPr>
                  <a:t>对模型输出</a:t>
                </a:r>
                <a14:m>
                  <m:oMath xmlns:m="http://schemas.openxmlformats.org/officeDocument/2006/math">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oMath>
                </a14:m>
                <a:r>
                  <a:rPr lang="zh-CN" altLang="ko-Kore-KR" sz="2000" i="1">
                    <a:effectLst/>
                    <a:latin typeface="Times New Roman" panose="02020603050405020304" pitchFamily="18" charset="0"/>
                    <a:ea typeface="KaiTi" panose="02010609060101010101" pitchFamily="49" charset="-122"/>
                    <a:cs typeface="Times New Roman" panose="02020603050405020304" pitchFamily="18" charset="0"/>
                  </a:rPr>
                  <a:t>求偏导</a:t>
                </a:r>
                <a:endParaRPr lang="ko-Kore-KR" altLang="ko-Kore-KR" sz="2000">
                  <a:effectLst/>
                  <a:latin typeface="Times New Roman" panose="02020603050405020304" pitchFamily="18" charset="0"/>
                  <a:ea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E951661D-D844-3D8A-170D-AD9C426B9171}"/>
                  </a:ext>
                </a:extLst>
              </p:cNvPr>
              <p:cNvSpPr txBox="1">
                <a:spLocks noRot="1" noChangeAspect="1" noMove="1" noResize="1" noEditPoints="1" noAdjustHandles="1" noChangeArrowheads="1" noChangeShapeType="1" noTextEdit="1"/>
              </p:cNvSpPr>
              <p:nvPr/>
            </p:nvSpPr>
            <p:spPr>
              <a:xfrm>
                <a:off x="434987" y="4238966"/>
                <a:ext cx="6096000" cy="400110"/>
              </a:xfrm>
              <a:prstGeom prst="rect">
                <a:avLst/>
              </a:prstGeom>
              <a:blipFill>
                <a:blip r:embed="rId6"/>
                <a:stretch>
                  <a:fillRect l="-1040" t="-9091" b="-21212"/>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B784D9E-E62F-80DB-E9AB-29C046E12197}"/>
                  </a:ext>
                </a:extLst>
              </p:cNvPr>
              <p:cNvSpPr txBox="1"/>
              <p:nvPr/>
            </p:nvSpPr>
            <p:spPr>
              <a:xfrm>
                <a:off x="-199360" y="4798508"/>
                <a:ext cx="6093724" cy="7814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ko-Kore-KR" altLang="en-US" sz="2000" i="1">
                              <a:solidFill>
                                <a:srgbClr val="836967"/>
                              </a:solidFill>
                              <a:latin typeface="Cambria Math" panose="02040503050406030204" pitchFamily="18" charset="0"/>
                            </a:rPr>
                          </m:ctrlPr>
                        </m:fPr>
                        <m:num>
                          <m:r>
                            <a:rPr lang="ko-Kore-KR" altLang="en-US" sz="2000">
                              <a:latin typeface="Cambria Math" panose="02040503050406030204" pitchFamily="18" charset="0"/>
                            </a:rPr>
                            <m:t>𝜕</m:t>
                          </m:r>
                          <m:r>
                            <a:rPr lang="ko-Kore-KR" altLang="en-US" sz="2000" i="1">
                              <a:latin typeface="Cambria Math" panose="02040503050406030204" pitchFamily="18" charset="0"/>
                            </a:rPr>
                            <m:t>𝐿</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𝑦</m:t>
                                  </m:r>
                                </m:e>
                                <m:sub>
                                  <m:r>
                                    <a:rPr lang="ko-Kore-KR" altLang="en-US" sz="2000" i="1">
                                      <a:latin typeface="Cambria Math" panose="02040503050406030204" pitchFamily="18" charset="0"/>
                                    </a:rPr>
                                    <m:t>𝑖</m:t>
                                  </m:r>
                                </m:sub>
                              </m:sSub>
                              <m:r>
                                <a:rPr lang="ko-Kore-KR" altLang="en-US" sz="2000" i="0">
                                  <a:latin typeface="Cambria Math" panose="02040503050406030204" pitchFamily="18" charset="0"/>
                                </a:rPr>
                                <m:t>,</m:t>
                              </m:r>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e>
                          </m:d>
                        </m:num>
                        <m:den>
                          <m:r>
                            <a:rPr lang="ko-Kore-KR" altLang="en-US" sz="2000" i="0">
                              <a:latin typeface="Cambria Math" panose="02040503050406030204" pitchFamily="18" charset="0"/>
                            </a:rPr>
                            <m:t>𝜕</m:t>
                          </m:r>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den>
                      </m:f>
                      <m:r>
                        <a:rPr lang="ko-Kore-KR" altLang="en-US" sz="2000" i="0">
                          <a:latin typeface="Cambria Math" panose="02040503050406030204" pitchFamily="18" charset="0"/>
                        </a:rPr>
                        <m:t>=</m:t>
                      </m:r>
                      <m:f>
                        <m:fPr>
                          <m:ctrlPr>
                            <a:rPr lang="ko-Kore-KR" altLang="en-US" sz="2000" i="1">
                              <a:solidFill>
                                <a:srgbClr val="836967"/>
                              </a:solidFill>
                              <a:latin typeface="Cambria Math" panose="02040503050406030204" pitchFamily="18" charset="0"/>
                            </a:rPr>
                          </m:ctrlPr>
                        </m:fPr>
                        <m:num>
                          <m:r>
                            <a:rPr lang="ko-Kore-KR" altLang="en-US" sz="2000" i="0">
                              <a:latin typeface="Cambria Math" panose="02040503050406030204" pitchFamily="18" charset="0"/>
                            </a:rPr>
                            <m:t>𝜕</m:t>
                          </m:r>
                          <m:r>
                            <a:rPr lang="ko-Kore-KR" altLang="en-US" sz="2000" i="1">
                              <a:latin typeface="Cambria Math" panose="02040503050406030204" pitchFamily="18" charset="0"/>
                            </a:rPr>
                            <m:t>𝐿</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𝑦</m:t>
                                  </m:r>
                                </m:e>
                                <m:sub>
                                  <m:r>
                                    <a:rPr lang="ko-Kore-KR" altLang="en-US" sz="2000" i="1">
                                      <a:latin typeface="Cambria Math" panose="02040503050406030204" pitchFamily="18" charset="0"/>
                                    </a:rPr>
                                    <m:t>𝑖</m:t>
                                  </m:r>
                                </m:sub>
                              </m:sSub>
                              <m:r>
                                <a:rPr lang="ko-Kore-KR" altLang="en-US" sz="2000" i="0">
                                  <a:latin typeface="Cambria Math" panose="02040503050406030204" pitchFamily="18" charset="0"/>
                                </a:rPr>
                                <m:t>,</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𝑖</m:t>
                                  </m:r>
                                </m:sub>
                              </m:sSub>
                            </m:e>
                          </m:d>
                        </m:num>
                        <m:den>
                          <m:r>
                            <a:rPr lang="ko-Kore-KR" altLang="en-US" sz="2000" i="0">
                              <a:latin typeface="Cambria Math" panose="02040503050406030204" pitchFamily="18" charset="0"/>
                            </a:rPr>
                            <m:t>𝜕</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𝑖</m:t>
                              </m:r>
                            </m:sub>
                          </m:sSub>
                        </m:den>
                      </m:f>
                      <m:r>
                        <a:rPr lang="ko-Kore-KR" altLang="en-US" sz="2000" i="0">
                          <a:latin typeface="Cambria Math" panose="02040503050406030204" pitchFamily="18" charset="0"/>
                        </a:rPr>
                        <m:t>⋅</m:t>
                      </m:r>
                      <m:f>
                        <m:fPr>
                          <m:ctrlPr>
                            <a:rPr lang="ko-Kore-KR" altLang="en-US" sz="2000" i="1">
                              <a:solidFill>
                                <a:srgbClr val="836967"/>
                              </a:solidFill>
                              <a:latin typeface="Cambria Math" panose="02040503050406030204" pitchFamily="18" charset="0"/>
                            </a:rPr>
                          </m:ctrlPr>
                        </m:fPr>
                        <m:num>
                          <m:r>
                            <a:rPr lang="ko-Kore-KR" altLang="en-US" sz="2000" i="0">
                              <a:latin typeface="Cambria Math" panose="02040503050406030204" pitchFamily="18" charset="0"/>
                            </a:rPr>
                            <m:t>𝜕</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𝑖</m:t>
                              </m:r>
                            </m:sub>
                          </m:sSub>
                        </m:num>
                        <m:den>
                          <m:r>
                            <a:rPr lang="ko-Kore-KR" altLang="en-US" sz="2000" i="0">
                              <a:latin typeface="Cambria Math" panose="02040503050406030204" pitchFamily="18" charset="0"/>
                            </a:rPr>
                            <m:t>𝜕</m:t>
                          </m:r>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den>
                      </m:f>
                    </m:oMath>
                  </m:oMathPara>
                </a14:m>
                <a:endParaRPr lang="ko-Kore-KR" altLang="en-US" sz="2000"/>
              </a:p>
            </p:txBody>
          </p:sp>
        </mc:Choice>
        <mc:Fallback xmlns="">
          <p:sp>
            <p:nvSpPr>
              <p:cNvPr id="18" name="TextBox 17">
                <a:extLst>
                  <a:ext uri="{FF2B5EF4-FFF2-40B4-BE49-F238E27FC236}">
                    <a16:creationId xmlns:a16="http://schemas.microsoft.com/office/drawing/2014/main" id="{7B784D9E-E62F-80DB-E9AB-29C046E12197}"/>
                  </a:ext>
                </a:extLst>
              </p:cNvPr>
              <p:cNvSpPr txBox="1">
                <a:spLocks noRot="1" noChangeAspect="1" noMove="1" noResize="1" noEditPoints="1" noAdjustHandles="1" noChangeArrowheads="1" noChangeShapeType="1" noTextEdit="1"/>
              </p:cNvSpPr>
              <p:nvPr/>
            </p:nvSpPr>
            <p:spPr>
              <a:xfrm>
                <a:off x="-199360" y="4798508"/>
                <a:ext cx="6093724" cy="781496"/>
              </a:xfrm>
              <a:prstGeom prst="rect">
                <a:avLst/>
              </a:prstGeom>
              <a:blipFill>
                <a:blip r:embed="rId7"/>
                <a:stretch>
                  <a:fillRect b="-7937"/>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0ED6E22-AB74-D0F5-6CD9-0356E8A55AA0}"/>
                  </a:ext>
                </a:extLst>
              </p:cNvPr>
              <p:cNvSpPr txBox="1"/>
              <p:nvPr/>
            </p:nvSpPr>
            <p:spPr>
              <a:xfrm>
                <a:off x="1370795" y="5739436"/>
                <a:ext cx="2621708" cy="7315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ko-Kore-KR" altLang="en-US" sz="2000" i="1">
                              <a:solidFill>
                                <a:srgbClr val="836967"/>
                              </a:solidFill>
                              <a:latin typeface="Cambria Math" panose="02040503050406030204" pitchFamily="18" charset="0"/>
                            </a:rPr>
                          </m:ctrlPr>
                        </m:fPr>
                        <m:num>
                          <m:r>
                            <a:rPr lang="ko-Kore-KR" altLang="en-US" sz="2000">
                              <a:latin typeface="Cambria Math" panose="02040503050406030204" pitchFamily="18" charset="0"/>
                            </a:rPr>
                            <m:t>𝜕</m:t>
                          </m:r>
                          <m:r>
                            <a:rPr lang="ko-Kore-KR" altLang="en-US" sz="2000" i="1">
                              <a:latin typeface="Cambria Math" panose="02040503050406030204" pitchFamily="18" charset="0"/>
                            </a:rPr>
                            <m:t>𝐿</m:t>
                          </m:r>
                        </m:num>
                        <m:den>
                          <m:r>
                            <a:rPr lang="ko-Kore-KR" altLang="en-US" sz="2000" i="0">
                              <a:latin typeface="Cambria Math" panose="02040503050406030204" pitchFamily="18" charset="0"/>
                            </a:rPr>
                            <m:t>𝜕</m:t>
                          </m:r>
                          <m:r>
                            <a:rPr lang="ko-Kore-KR" altLang="en-US" sz="2000" i="1">
                              <a:latin typeface="Cambria Math" panose="02040503050406030204" pitchFamily="18" charset="0"/>
                            </a:rPr>
                            <m:t>𝑓</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den>
                      </m:f>
                      <m:r>
                        <a:rPr lang="ko-Kore-KR" altLang="en-US" sz="2000" i="0">
                          <a:latin typeface="Cambria Math" panose="02040503050406030204" pitchFamily="18" charset="0"/>
                        </a:rPr>
                        <m:t>=</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𝑖</m:t>
                          </m:r>
                        </m:sub>
                      </m:sSub>
                      <m:r>
                        <a:rPr lang="ko-Kore-KR" altLang="en-US" sz="2000" i="0">
                          <a:latin typeface="Cambria Math" panose="02040503050406030204" pitchFamily="18" charset="0"/>
                        </a:rPr>
                        <m:t>−</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𝑦</m:t>
                          </m:r>
                        </m:e>
                        <m:sub>
                          <m:r>
                            <a:rPr lang="ko-Kore-KR" altLang="en-US" sz="2000" i="1">
                              <a:latin typeface="Cambria Math" panose="02040503050406030204" pitchFamily="18" charset="0"/>
                            </a:rPr>
                            <m:t>𝑖</m:t>
                          </m:r>
                        </m:sub>
                      </m:sSub>
                    </m:oMath>
                  </m:oMathPara>
                </a14:m>
                <a:endParaRPr lang="ko-Kore-KR" altLang="en-US" sz="2000"/>
              </a:p>
            </p:txBody>
          </p:sp>
        </mc:Choice>
        <mc:Fallback xmlns="">
          <p:sp>
            <p:nvSpPr>
              <p:cNvPr id="20" name="TextBox 19">
                <a:extLst>
                  <a:ext uri="{FF2B5EF4-FFF2-40B4-BE49-F238E27FC236}">
                    <a16:creationId xmlns:a16="http://schemas.microsoft.com/office/drawing/2014/main" id="{A0ED6E22-AB74-D0F5-6CD9-0356E8A55AA0}"/>
                  </a:ext>
                </a:extLst>
              </p:cNvPr>
              <p:cNvSpPr txBox="1">
                <a:spLocks noRot="1" noChangeAspect="1" noMove="1" noResize="1" noEditPoints="1" noAdjustHandles="1" noChangeArrowheads="1" noChangeShapeType="1" noTextEdit="1"/>
              </p:cNvSpPr>
              <p:nvPr/>
            </p:nvSpPr>
            <p:spPr>
              <a:xfrm>
                <a:off x="1370795" y="5739436"/>
                <a:ext cx="2621708" cy="731547"/>
              </a:xfrm>
              <a:prstGeom prst="rect">
                <a:avLst/>
              </a:prstGeom>
              <a:blipFill>
                <a:blip r:embed="rId8"/>
                <a:stretch>
                  <a:fillRect b="-8621"/>
                </a:stretch>
              </a:blipFill>
            </p:spPr>
            <p:txBody>
              <a:bodyPr/>
              <a:lstStyle/>
              <a:p>
                <a:r>
                  <a:rPr lang="ko-Kore-KR" altLang="en-US">
                    <a:noFill/>
                  </a:rPr>
                  <a:t> </a:t>
                </a:r>
              </a:p>
            </p:txBody>
          </p:sp>
        </mc:Fallback>
      </mc:AlternateContent>
      <p:sp>
        <p:nvSpPr>
          <p:cNvPr id="24" name="TextBox 23">
            <a:extLst>
              <a:ext uri="{FF2B5EF4-FFF2-40B4-BE49-F238E27FC236}">
                <a16:creationId xmlns:a16="http://schemas.microsoft.com/office/drawing/2014/main" id="{23E4B2B1-6138-AE15-19F3-8C21864D9C3D}"/>
              </a:ext>
            </a:extLst>
          </p:cNvPr>
          <p:cNvSpPr txBox="1"/>
          <p:nvPr/>
        </p:nvSpPr>
        <p:spPr>
          <a:xfrm>
            <a:off x="6642417" y="1501731"/>
            <a:ext cx="4720527" cy="461665"/>
          </a:xfrm>
          <a:prstGeom prst="rect">
            <a:avLst/>
          </a:prstGeom>
          <a:noFill/>
        </p:spPr>
        <p:txBody>
          <a:bodyPr wrap="square">
            <a:spAutoFit/>
          </a:bodyPr>
          <a:lstStyle/>
          <a:p>
            <a:r>
              <a:rPr lang="en-US" altLang="ko-Kore-KR">
                <a:effectLst/>
                <a:latin typeface="KaiTi" panose="02010609060101010101" pitchFamily="49" charset="-122"/>
                <a:ea typeface="Times New Roman" panose="02020603050405020304" pitchFamily="18" charset="0"/>
                <a:cs typeface="Times New Roman" panose="02020603050405020304" pitchFamily="18" charset="0"/>
              </a:rPr>
              <a:t>GBDT </a:t>
            </a:r>
            <a:r>
              <a:rPr lang="zh-CN" altLang="ko-Kore-KR">
                <a:effectLst/>
                <a:latin typeface="Times New Roman" panose="02020603050405020304" pitchFamily="18" charset="0"/>
                <a:ea typeface="KaiTi" panose="02010609060101010101" pitchFamily="49" charset="-122"/>
                <a:cs typeface="Times New Roman" panose="02020603050405020304" pitchFamily="18" charset="0"/>
              </a:rPr>
              <a:t>使用负梯度作为新的目标值</a:t>
            </a:r>
            <a:endParaRPr lang="ko-Kore-KR" altLang="ko-Kore-KR">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C39D36D-9F80-448C-B360-EBCC599E7F79}"/>
                  </a:ext>
                </a:extLst>
              </p:cNvPr>
              <p:cNvSpPr txBox="1"/>
              <p:nvPr/>
            </p:nvSpPr>
            <p:spPr>
              <a:xfrm>
                <a:off x="6381512" y="2292076"/>
                <a:ext cx="4981432" cy="1191929"/>
              </a:xfrm>
              <a:prstGeom prst="rect">
                <a:avLst/>
              </a:prstGeom>
              <a:noFill/>
            </p:spPr>
            <p:txBody>
              <a:bodyPr wrap="square">
                <a:spAutoFit/>
              </a:bodyPr>
              <a:lstStyle/>
              <a:p>
                <a:pPr algn="just" latinLnBrk="1"/>
                <a14:m>
                  <m:oMathPara xmlns:m="http://schemas.openxmlformats.org/officeDocument/2006/math">
                    <m:oMathParaPr>
                      <m:jc m:val="centerGroup"/>
                    </m:oMathParaPr>
                    <m:oMath xmlns:m="http://schemas.openxmlformats.org/officeDocument/2006/math">
                      <m:sSub>
                        <m:sSub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𝑟</m:t>
                          </m:r>
                        </m:e>
                        <m: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𝑚𝑖</m:t>
                          </m:r>
                        </m:sub>
                      </m:s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m:t>
                      </m:r>
                      <m:sSub>
                        <m:sSub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ore-KR" sz="2000" kern="1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𝐿</m:t>
                                  </m:r>
                                  <m:d>
                                    <m:d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𝑦</m:t>
                                          </m:r>
                                        </m:e>
                                        <m: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𝑖</m:t>
                                          </m:r>
                                        </m:sub>
                                      </m:s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𝑓</m:t>
                                      </m:r>
                                      <m:d>
                                        <m:d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𝑖</m:t>
                                              </m:r>
                                            </m:sub>
                                          </m:sSub>
                                        </m:e>
                                      </m:d>
                                    </m:e>
                                  </m:d>
                                </m:num>
                                <m:den>
                                  <m:r>
                                    <a:rPr lang="en-US" altLang="ko-Kore-KR" sz="2000" kern="100">
                                      <a:effectLst/>
                                      <a:latin typeface="Cambria Math" panose="02040503050406030204" pitchFamily="18" charset="0"/>
                                      <a:ea typeface="맑은 고딕" panose="020B0503020000020004" pitchFamily="34" charset="-127"/>
                                      <a:cs typeface="Times New Roman" panose="02020603050405020304" pitchFamily="18" charset="0"/>
                                    </a:rPr>
                                    <m:t>𝜕</m:t>
                                  </m:r>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𝑓</m:t>
                                  </m:r>
                                  <m:d>
                                    <m:d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𝑖</m:t>
                                          </m:r>
                                        </m:sub>
                                      </m:sSub>
                                    </m:e>
                                  </m:d>
                                </m:den>
                              </m:f>
                            </m:e>
                          </m:d>
                        </m:e>
                        <m: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𝑓</m:t>
                          </m:r>
                          <m:d>
                            <m:d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d>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m:t>
                          </m:r>
                          <m:sSub>
                            <m:sSub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𝑓</m:t>
                              </m:r>
                            </m:e>
                            <m:sub>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𝑚</m:t>
                              </m:r>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−1</m:t>
                              </m:r>
                            </m:sub>
                          </m:sSub>
                          <m:d>
                            <m:dPr>
                              <m:ctrlPr>
                                <a:rPr lang="ko-Kore-KR" altLang="ko-Kore-KR" sz="20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ko-Kore-KR" sz="2000" i="1" kern="100">
                                  <a:effectLst/>
                                  <a:latin typeface="Cambria Math" panose="02040503050406030204" pitchFamily="18" charset="0"/>
                                  <a:ea typeface="맑은 고딕" panose="020B0503020000020004" pitchFamily="34" charset="-127"/>
                                  <a:cs typeface="Times New Roman" panose="02020603050405020304" pitchFamily="18" charset="0"/>
                                </a:rPr>
                                <m:t>𝑥</m:t>
                              </m:r>
                            </m:e>
                          </m:d>
                        </m:sub>
                      </m:sSub>
                    </m:oMath>
                  </m:oMathPara>
                </a14:m>
                <a:endParaRPr lang="ko-Kore-KR" altLang="ko-Kore-KR" sz="2000" kern="100">
                  <a:effectLst/>
                  <a:latin typeface="Calibri" panose="020F0502020204030204" pitchFamily="34" charset="0"/>
                  <a:ea typeface="맑은 고딕" panose="020B0503020000020004" pitchFamily="34" charset="-127"/>
                  <a:cs typeface="Times New Roman" panose="02020603050405020304" pitchFamily="18" charset="0"/>
                </a:endParaRPr>
              </a:p>
              <a:p>
                <a:pPr algn="just" latinLnBrk="1"/>
                <a:r>
                  <a:rPr lang="en-US" altLang="ko-Kore-KR" sz="2000" kern="100">
                    <a:effectLst/>
                    <a:latin typeface="Calibri" panose="020F0502020204030204" pitchFamily="34" charset="0"/>
                    <a:ea typeface="맑은 고딕" panose="020B0503020000020004" pitchFamily="34" charset="-127"/>
                    <a:cs typeface="Times New Roman" panose="02020603050405020304" pitchFamily="18" charset="0"/>
                  </a:rPr>
                  <a:t> </a:t>
                </a:r>
                <a:endParaRPr lang="ko-Kore-KR" altLang="ko-Kore-KR" sz="2000" kern="100">
                  <a:effectLst/>
                  <a:latin typeface="Calibri" panose="020F0502020204030204" pitchFamily="34" charset="0"/>
                  <a:ea typeface="맑은 고딕" panose="020B0503020000020004" pitchFamily="34" charset="-127"/>
                  <a:cs typeface="Times New Roman" panose="02020603050405020304" pitchFamily="18" charset="0"/>
                </a:endParaRPr>
              </a:p>
            </p:txBody>
          </p:sp>
        </mc:Choice>
        <mc:Fallback xmlns="">
          <p:sp>
            <p:nvSpPr>
              <p:cNvPr id="26" name="TextBox 25">
                <a:extLst>
                  <a:ext uri="{FF2B5EF4-FFF2-40B4-BE49-F238E27FC236}">
                    <a16:creationId xmlns:a16="http://schemas.microsoft.com/office/drawing/2014/main" id="{1C39D36D-9F80-448C-B360-EBCC599E7F79}"/>
                  </a:ext>
                </a:extLst>
              </p:cNvPr>
              <p:cNvSpPr txBox="1">
                <a:spLocks noRot="1" noChangeAspect="1" noMove="1" noResize="1" noEditPoints="1" noAdjustHandles="1" noChangeArrowheads="1" noChangeShapeType="1" noTextEdit="1"/>
              </p:cNvSpPr>
              <p:nvPr/>
            </p:nvSpPr>
            <p:spPr>
              <a:xfrm>
                <a:off x="6381512" y="2292076"/>
                <a:ext cx="4981432" cy="1191929"/>
              </a:xfrm>
              <a:prstGeom prst="rect">
                <a:avLst/>
              </a:prstGeom>
              <a:blipFill>
                <a:blip r:embed="rId9"/>
                <a:stretch>
                  <a:fillRect/>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9AEA920-10A9-AAAB-E1F2-2CCBD30DA819}"/>
                  </a:ext>
                </a:extLst>
              </p:cNvPr>
              <p:cNvSpPr txBox="1"/>
              <p:nvPr/>
            </p:nvSpPr>
            <p:spPr>
              <a:xfrm>
                <a:off x="7136862" y="4157212"/>
                <a:ext cx="310401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𝑟</m:t>
                          </m:r>
                        </m:e>
                        <m:sub>
                          <m:r>
                            <a:rPr lang="ko-Kore-KR" altLang="en-US" sz="2000" i="1">
                              <a:latin typeface="Cambria Math" panose="02040503050406030204" pitchFamily="18" charset="0"/>
                            </a:rPr>
                            <m:t>𝑚𝑖</m:t>
                          </m:r>
                        </m:sub>
                      </m:sSub>
                      <m:r>
                        <a:rPr lang="ko-Kore-KR" altLang="en-US" sz="2000" i="0">
                          <a:latin typeface="Cambria Math" panose="02040503050406030204" pitchFamily="18" charset="0"/>
                        </a:rPr>
                        <m:t>=</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𝑦</m:t>
                          </m:r>
                        </m:e>
                        <m:sub>
                          <m:r>
                            <a:rPr lang="ko-Kore-KR" altLang="en-US" sz="2000" i="1">
                              <a:latin typeface="Cambria Math" panose="02040503050406030204" pitchFamily="18" charset="0"/>
                            </a:rPr>
                            <m:t>𝑖</m:t>
                          </m:r>
                        </m:sub>
                      </m:sSub>
                      <m:r>
                        <a:rPr lang="ko-Kore-KR" altLang="en-US" sz="2000" i="0">
                          <a:latin typeface="Cambria Math" panose="02040503050406030204" pitchFamily="18" charset="0"/>
                        </a:rPr>
                        <m:t>−</m:t>
                      </m:r>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𝑝</m:t>
                          </m:r>
                        </m:e>
                        <m:sub>
                          <m:r>
                            <a:rPr lang="ko-Kore-KR" altLang="en-US" sz="2000" i="1">
                              <a:latin typeface="Cambria Math" panose="02040503050406030204" pitchFamily="18" charset="0"/>
                            </a:rPr>
                            <m:t>𝑚</m:t>
                          </m:r>
                          <m:r>
                            <a:rPr lang="ko-Kore-KR" altLang="en-US" sz="2000" i="0">
                              <a:latin typeface="Cambria Math" panose="02040503050406030204" pitchFamily="18" charset="0"/>
                            </a:rPr>
                            <m:t>−1</m:t>
                          </m:r>
                        </m:sub>
                      </m:sSub>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𝑥</m:t>
                              </m:r>
                            </m:e>
                            <m:sub>
                              <m:r>
                                <a:rPr lang="ko-Kore-KR" altLang="en-US" sz="2000" i="1">
                                  <a:latin typeface="Cambria Math" panose="02040503050406030204" pitchFamily="18" charset="0"/>
                                </a:rPr>
                                <m:t>𝑖</m:t>
                              </m:r>
                            </m:sub>
                          </m:sSub>
                        </m:e>
                      </m:d>
                    </m:oMath>
                  </m:oMathPara>
                </a14:m>
                <a:endParaRPr lang="ko-Kore-KR" altLang="en-US" sz="2000"/>
              </a:p>
            </p:txBody>
          </p:sp>
        </mc:Choice>
        <mc:Fallback xmlns="">
          <p:sp>
            <p:nvSpPr>
              <p:cNvPr id="28" name="TextBox 27">
                <a:extLst>
                  <a:ext uri="{FF2B5EF4-FFF2-40B4-BE49-F238E27FC236}">
                    <a16:creationId xmlns:a16="http://schemas.microsoft.com/office/drawing/2014/main" id="{09AEA920-10A9-AAAB-E1F2-2CCBD30DA819}"/>
                  </a:ext>
                </a:extLst>
              </p:cNvPr>
              <p:cNvSpPr txBox="1">
                <a:spLocks noRot="1" noChangeAspect="1" noMove="1" noResize="1" noEditPoints="1" noAdjustHandles="1" noChangeArrowheads="1" noChangeShapeType="1" noTextEdit="1"/>
              </p:cNvSpPr>
              <p:nvPr/>
            </p:nvSpPr>
            <p:spPr>
              <a:xfrm>
                <a:off x="7136862" y="4157212"/>
                <a:ext cx="3104012" cy="400110"/>
              </a:xfrm>
              <a:prstGeom prst="rect">
                <a:avLst/>
              </a:prstGeom>
              <a:blipFill>
                <a:blip r:embed="rId10"/>
                <a:stretch>
                  <a:fillRect b="-3030"/>
                </a:stretch>
              </a:blipFill>
            </p:spPr>
            <p:txBody>
              <a:bodyPr/>
              <a:lstStyle/>
              <a:p>
                <a:r>
                  <a:rPr lang="ko-Kore-KR" altLang="en-US">
                    <a:noFill/>
                  </a:rPr>
                  <a:t> </a:t>
                </a:r>
              </a:p>
            </p:txBody>
          </p:sp>
        </mc:Fallback>
      </mc:AlternateContent>
      <p:sp>
        <p:nvSpPr>
          <p:cNvPr id="29" name="아래쪽 화살표[D] 28">
            <a:extLst>
              <a:ext uri="{FF2B5EF4-FFF2-40B4-BE49-F238E27FC236}">
                <a16:creationId xmlns:a16="http://schemas.microsoft.com/office/drawing/2014/main" id="{46C47FCD-C8CC-5034-1DD8-1E14D6DB9009}"/>
              </a:ext>
            </a:extLst>
          </p:cNvPr>
          <p:cNvSpPr/>
          <p:nvPr/>
        </p:nvSpPr>
        <p:spPr>
          <a:xfrm>
            <a:off x="8518180" y="3559349"/>
            <a:ext cx="341376" cy="43910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2" name="Rectangle 2">
            <a:extLst>
              <a:ext uri="{FF2B5EF4-FFF2-40B4-BE49-F238E27FC236}">
                <a16:creationId xmlns:a16="http://schemas.microsoft.com/office/drawing/2014/main" id="{59B24897-08FC-B3ED-CFFA-105B9D5D594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3684019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文本框 13"/>
              <p:cNvSpPr txBox="1"/>
              <p:nvPr/>
            </p:nvSpPr>
            <p:spPr>
              <a:xfrm>
                <a:off x="593115" y="1203488"/>
                <a:ext cx="11172166" cy="1765355"/>
              </a:xfrm>
              <a:prstGeom prst="rect">
                <a:avLst/>
              </a:prstGeom>
              <a:noFill/>
            </p:spPr>
            <p:txBody>
              <a:bodyPr wrap="square" rtlCol="0">
                <a:spAutoFit/>
              </a:bodyPr>
              <a:lstStyle/>
              <a:p>
                <a:pPr>
                  <a:lnSpc>
                    <a:spcPct val="150000"/>
                  </a:lnSpc>
                  <a:spcAft>
                    <a:spcPts val="600"/>
                  </a:spcAft>
                </a:pPr>
                <a:r>
                  <a:rPr lang="zh-CN" altLang="en-US" b="1" dirty="0">
                    <a:latin typeface="KaiTi" panose="02010609060101010101" pitchFamily="49" charset="-122"/>
                    <a:ea typeface="KaiTi" panose="02010609060101010101" pitchFamily="49" charset="-122"/>
                  </a:rPr>
                  <a:t>回归树的梯度提升算法：</a:t>
                </a:r>
                <a:endParaRPr lang="en-US" altLang="zh-CN" b="1" dirty="0">
                  <a:latin typeface="KaiTi" panose="02010609060101010101" pitchFamily="49" charset="-122"/>
                  <a:ea typeface="KaiTi" panose="02010609060101010101" pitchFamily="49" charset="-122"/>
                </a:endParaRPr>
              </a:p>
              <a:p>
                <a:pPr>
                  <a:lnSpc>
                    <a:spcPct val="150000"/>
                  </a:lnSpc>
                </a:pPr>
                <a:r>
                  <a:rPr lang="zh-CN" altLang="en-US" dirty="0">
                    <a:latin typeface="KaiTi" panose="02010609060101010101" pitchFamily="49" charset="-122"/>
                    <a:ea typeface="KaiTi" panose="02010609060101010101" pitchFamily="49" charset="-122"/>
                  </a:rPr>
                  <a:t>输入：训练数据集</a:t>
                </a:r>
                <a14:m>
                  <m:oMath xmlns:m="http://schemas.openxmlformats.org/officeDocument/2006/math">
                    <m:r>
                      <a:rPr lang="en-US" altLang="zh-CN" b="0" i="1" smtClean="0">
                        <a:latin typeface="Cambria Math" panose="02040503050406030204" pitchFamily="18" charset="0"/>
                        <a:ea typeface="Microsoft YaHei" charset="0"/>
                      </a:rPr>
                      <m:t>𝑇</m:t>
                    </m:r>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1</m:t>
                                </m:r>
                              </m:sub>
                            </m:sSub>
                          </m:e>
                        </m:d>
                        <m:r>
                          <a:rPr lang="en-US" altLang="zh-CN" b="0" i="1" smtClean="0">
                            <a:latin typeface="Cambria Math" panose="02040503050406030204" pitchFamily="18" charset="0"/>
                            <a:ea typeface="Microsoft YaHei" charset="0"/>
                          </a:rPr>
                          <m:t>,</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2</m:t>
                                </m:r>
                              </m:sub>
                            </m:sSub>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2</m:t>
                                </m:r>
                              </m:sub>
                            </m:sSub>
                          </m:e>
                        </m:d>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𝑁</m:t>
                                </m:r>
                              </m:sub>
                            </m:sSub>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𝑁</m:t>
                                </m:r>
                              </m:sub>
                            </m:sSub>
                          </m:e>
                        </m:d>
                      </m:e>
                    </m:d>
                    <m:r>
                      <a:rPr lang="zh-CN" altLang="en-US" b="0" i="1" smtClean="0">
                        <a:latin typeface="Cambria Math" panose="02040503050406030204" pitchFamily="18" charset="0"/>
                        <a:ea typeface="Microsoft YaHei" charset="0"/>
                      </a:rPr>
                      <m:t>，</m:t>
                    </m:r>
                    <m:r>
                      <a:rPr lang="zh-CN" altLang="en-US" i="1">
                        <a:latin typeface="Cambria Math" panose="02040503050406030204" pitchFamily="18" charset="0"/>
                        <a:ea typeface="Microsoft YaHei" charset="0"/>
                      </a:rPr>
                      <m:t>损失</m:t>
                    </m:r>
                    <m:r>
                      <a:rPr lang="zh-CN" altLang="en-US" i="1" smtClean="0">
                        <a:latin typeface="Cambria Math" panose="02040503050406030204" pitchFamily="18" charset="0"/>
                        <a:ea typeface="Microsoft YaHei" charset="0"/>
                      </a:rPr>
                      <m:t>函数</m:t>
                    </m:r>
                    <m:r>
                      <m:rPr>
                        <m:sty m:val="p"/>
                      </m:rPr>
                      <a:rPr lang="en-US" altLang="zh-CN" b="0" i="0" smtClean="0">
                        <a:latin typeface="Cambria Math" panose="02040503050406030204" pitchFamily="18" charset="0"/>
                        <a:ea typeface="Microsoft YaHei" charset="0"/>
                      </a:rPr>
                      <m:t>L</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𝑦</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𝑓</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oMath>
                </a14:m>
                <a:endParaRPr lang="en-US" altLang="zh-CN" dirty="0">
                  <a:latin typeface="KaiTi" panose="02010609060101010101" pitchFamily="49" charset="-122"/>
                  <a:ea typeface="KaiTi" panose="02010609060101010101" pitchFamily="49" charset="-122"/>
                </a:endParaRPr>
              </a:p>
              <a:p>
                <a:pPr>
                  <a:lnSpc>
                    <a:spcPct val="150000"/>
                  </a:lnSpc>
                </a:pPr>
                <a:r>
                  <a:rPr lang="zh-CN" altLang="en-US" dirty="0">
                    <a:latin typeface="KaiTi" panose="02010609060101010101" pitchFamily="49" charset="-122"/>
                    <a:ea typeface="KaiTi" panose="02010609060101010101" pitchFamily="49" charset="-122"/>
                  </a:rPr>
                  <a:t>输出：提升树</a:t>
                </a:r>
                <a14:m>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𝑀</m:t>
                        </m:r>
                      </m:sub>
                    </m:sSub>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oMath>
                </a14:m>
                <a:endParaRPr lang="en-US" altLang="zh-CN" dirty="0">
                  <a:latin typeface="KaiTi" panose="02010609060101010101" pitchFamily="49" charset="-122"/>
                  <a:ea typeface="KaiTi" panose="02010609060101010101" pitchFamily="49" charset="-122"/>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593115" y="1203488"/>
                <a:ext cx="11172166" cy="1765355"/>
              </a:xfrm>
              <a:prstGeom prst="rect">
                <a:avLst/>
              </a:prstGeom>
              <a:blipFill>
                <a:blip r:embed="rId3"/>
                <a:stretch>
                  <a:fillRect l="-795" b="-5714"/>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1590853" y="2907470"/>
                <a:ext cx="4281108" cy="865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1</m:t>
                          </m:r>
                        </m:e>
                      </m:d>
                      <m:r>
                        <a:rPr lang="zh-CN" altLang="en-US" sz="2000" i="1">
                          <a:latin typeface="Cambria Math" panose="02040503050406030204" pitchFamily="18" charset="0"/>
                          <a:ea typeface="Microsoft YaHei" charset="0"/>
                        </a:rPr>
                        <m:t>初始化</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0</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𝑎𝑟𝑔</m:t>
                      </m:r>
                      <m:func>
                        <m:funcPr>
                          <m:ctrlPr>
                            <a:rPr lang="en-US" altLang="zh-CN" sz="2000" b="0" i="1" smtClean="0">
                              <a:latin typeface="Cambria Math" panose="02040503050406030204" pitchFamily="18" charset="0"/>
                              <a:ea typeface="Microsoft YaHei" charset="0"/>
                            </a:rPr>
                          </m:ctrlPr>
                        </m:funcPr>
                        <m:fName>
                          <m:limLow>
                            <m:limLowPr>
                              <m:ctrlPr>
                                <a:rPr lang="en-US" altLang="zh-CN" sz="2000" b="0" i="1" smtClean="0">
                                  <a:latin typeface="Cambria Math" panose="02040503050406030204" pitchFamily="18" charset="0"/>
                                  <a:ea typeface="Microsoft YaHei" charset="0"/>
                                </a:rPr>
                              </m:ctrlPr>
                            </m:limLowPr>
                            <m:e>
                              <m:r>
                                <m:rPr>
                                  <m:sty m:val="p"/>
                                </m:rPr>
                                <a:rPr lang="en-US" altLang="zh-CN" sz="2000" b="0" i="0" smtClean="0">
                                  <a:latin typeface="Cambria Math" panose="02040503050406030204" pitchFamily="18" charset="0"/>
                                  <a:ea typeface="Microsoft YaHei" charset="0"/>
                                </a:rPr>
                                <m:t>min</m:t>
                              </m:r>
                            </m:e>
                            <m:lim>
                              <m:r>
                                <a:rPr lang="en-US" altLang="zh-CN" sz="2000" b="0" i="1" smtClean="0">
                                  <a:latin typeface="Cambria Math" panose="02040503050406030204" pitchFamily="18" charset="0"/>
                                  <a:ea typeface="Microsoft YaHei" charset="0"/>
                                </a:rPr>
                                <m:t>𝑐</m:t>
                              </m:r>
                            </m:lim>
                          </m:limLow>
                        </m:fName>
                        <m:e>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𝑁</m:t>
                              </m:r>
                            </m:sup>
                            <m:e>
                              <m:r>
                                <a:rPr lang="en-US" altLang="zh-CN" sz="2000" b="0" i="1" smtClean="0">
                                  <a:latin typeface="Cambria Math" panose="02040503050406030204" pitchFamily="18" charset="0"/>
                                  <a:ea typeface="Microsoft YaHei" charset="0"/>
                                </a:rPr>
                                <m:t>𝐿</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𝑐</m:t>
                              </m:r>
                              <m:r>
                                <a:rPr lang="en-US" altLang="zh-CN" sz="2000" b="0" i="1" smtClean="0">
                                  <a:latin typeface="Cambria Math" panose="02040503050406030204" pitchFamily="18" charset="0"/>
                                  <a:ea typeface="Microsoft YaHei" charset="0"/>
                                </a:rPr>
                                <m:t>)</m:t>
                              </m:r>
                            </m:e>
                          </m:nary>
                        </m:e>
                      </m:func>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1590853" y="2907470"/>
                <a:ext cx="4281108" cy="865493"/>
              </a:xfrm>
              <a:prstGeom prst="rect">
                <a:avLst/>
              </a:prstGeom>
              <a:blipFill>
                <a:blip r:embed="rId4"/>
                <a:stretch>
                  <a:fillRect t="-111429" r="-888" b="-171429"/>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1590853" y="3713226"/>
                <a:ext cx="218758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2</m:t>
                          </m:r>
                        </m:e>
                      </m:d>
                      <m:r>
                        <a:rPr lang="zh-CN" altLang="en-US" sz="2000" b="0" i="1" smtClean="0">
                          <a:latin typeface="Cambria Math" panose="02040503050406030204" pitchFamily="18" charset="0"/>
                          <a:ea typeface="Microsoft YaHei" charset="0"/>
                        </a:rPr>
                        <m:t>对</m:t>
                      </m:r>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=1,2,…</m:t>
                      </m:r>
                      <m:r>
                        <a:rPr lang="en-US" altLang="zh-CN" sz="2000" b="0" i="1" smtClean="0">
                          <a:latin typeface="Cambria Math" panose="02040503050406030204" pitchFamily="18" charset="0"/>
                          <a:ea typeface="Microsoft YaHei" charset="0"/>
                        </a:rPr>
                        <m:t>𝑀</m:t>
                      </m:r>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1590853" y="3713226"/>
                <a:ext cx="2187587" cy="307777"/>
              </a:xfrm>
              <a:prstGeom prst="rect">
                <a:avLst/>
              </a:prstGeom>
              <a:blipFill>
                <a:blip r:embed="rId5"/>
                <a:stretch>
                  <a:fillRect t="-4000" r="-578" b="-2800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1934536" y="4274566"/>
                <a:ext cx="2487925" cy="3088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𝑎</m:t>
                          </m:r>
                        </m:e>
                      </m:d>
                      <m:r>
                        <a:rPr lang="zh-CN" altLang="en-US" sz="2000" b="0" i="1" smtClean="0">
                          <a:latin typeface="Cambria Math" panose="02040503050406030204" pitchFamily="18" charset="0"/>
                          <a:ea typeface="Microsoft YaHei" charset="0"/>
                        </a:rPr>
                        <m:t>对</m:t>
                      </m:r>
                      <m: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=1,2…</m:t>
                      </m:r>
                      <m:r>
                        <a:rPr lang="en-US" altLang="zh-CN" sz="2000" b="0" i="1" smtClean="0">
                          <a:latin typeface="Cambria Math" panose="02040503050406030204" pitchFamily="18" charset="0"/>
                          <a:ea typeface="Microsoft YaHei" charset="0"/>
                        </a:rPr>
                        <m:t>𝑁</m:t>
                      </m:r>
                      <m:r>
                        <a:rPr lang="zh-CN" altLang="en-US" sz="2000" i="1">
                          <a:latin typeface="Cambria Math" panose="02040503050406030204" pitchFamily="18" charset="0"/>
                          <a:ea typeface="Microsoft YaHei" charset="0"/>
                        </a:rPr>
                        <m:t>计算</m:t>
                      </m:r>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1934536" y="4274566"/>
                <a:ext cx="2487925" cy="308867"/>
              </a:xfrm>
              <a:prstGeom prst="rect">
                <a:avLst/>
              </a:prstGeom>
              <a:blipFill>
                <a:blip r:embed="rId6"/>
                <a:stretch>
                  <a:fillRect t="-8000" r="-2551" b="-3600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4775218" y="3955754"/>
                <a:ext cx="3884460" cy="722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𝑚𝑖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d>
                            <m:dPr>
                              <m:begChr m:val="["/>
                              <m:endChr m:val="]"/>
                              <m:ctrlPr>
                                <a:rPr lang="en-US" altLang="zh-CN" sz="2000" b="0" i="1" smtClean="0">
                                  <a:latin typeface="Cambria Math" panose="02040503050406030204" pitchFamily="18" charset="0"/>
                                  <a:ea typeface="Microsoft YaHei" charset="0"/>
                                </a:rPr>
                              </m:ctrlPr>
                            </m:dPr>
                            <m:e>
                              <m:f>
                                <m:fPr>
                                  <m:ctrlPr>
                                    <a:rPr lang="en-US" altLang="zh-CN" sz="2000" b="0" i="1" smtClean="0">
                                      <a:latin typeface="Cambria Math" panose="02040503050406030204" pitchFamily="18" charset="0"/>
                                      <a:ea typeface="Microsoft YaHei" charset="0"/>
                                    </a:rPr>
                                  </m:ctrlPr>
                                </m:fPr>
                                <m:num>
                                  <m:r>
                                    <a:rPr lang="zh-CN" altLang="en-US"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𝐿</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𝑓</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num>
                                <m:den>
                                  <m:r>
                                    <a:rPr lang="zh-CN" altLang="en-US"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𝑓</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den>
                              </m:f>
                            </m:e>
                          </m:d>
                        </m:e>
                        <m:sub>
                          <m:r>
                            <a:rPr lang="en-US" altLang="zh-CN" sz="2000" b="0" i="1" smtClean="0">
                              <a:latin typeface="Cambria Math" panose="02040503050406030204" pitchFamily="18" charset="0"/>
                              <a:ea typeface="Microsoft YaHei" charset="0"/>
                            </a:rPr>
                            <m:t>𝑓</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m:t>
                          </m:r>
                        </m:sub>
                      </m:sSub>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4775218" y="3955754"/>
                <a:ext cx="3884460" cy="722249"/>
              </a:xfrm>
              <a:prstGeom prst="rect">
                <a:avLst/>
              </a:prstGeom>
              <a:blipFill>
                <a:blip r:embed="rId7"/>
                <a:stretch>
                  <a:fillRect t="-3448" b="-8621"/>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9" name="文本框 18"/>
              <p:cNvSpPr txBox="1"/>
              <p:nvPr/>
            </p:nvSpPr>
            <p:spPr>
              <a:xfrm>
                <a:off x="1934536" y="4823550"/>
                <a:ext cx="4856329"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𝑏</m:t>
                          </m:r>
                        </m:e>
                      </m:d>
                      <m:r>
                        <a:rPr lang="zh-CN" altLang="en-US" sz="2000" i="1">
                          <a:latin typeface="Cambria Math" panose="02040503050406030204" pitchFamily="18" charset="0"/>
                          <a:ea typeface="Microsoft YaHei" charset="0"/>
                        </a:rPr>
                        <m:t>拟合</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𝑚𝑖</m:t>
                          </m:r>
                        </m:sub>
                      </m:sSub>
                      <m:r>
                        <a:rPr lang="zh-CN" altLang="en-US" sz="2000" i="1">
                          <a:latin typeface="Cambria Math" panose="02040503050406030204" pitchFamily="18" charset="0"/>
                          <a:ea typeface="Microsoft YaHei" charset="0"/>
                        </a:rPr>
                        <m:t>学习</m:t>
                      </m:r>
                      <m:r>
                        <a:rPr lang="zh-CN" altLang="en-US" sz="2000" i="1" smtClean="0">
                          <a:latin typeface="Cambria Math" panose="02040503050406030204" pitchFamily="18" charset="0"/>
                          <a:ea typeface="Microsoft YaHei" charset="0"/>
                        </a:rPr>
                        <m:t>一个</m:t>
                      </m:r>
                      <m:r>
                        <a:rPr lang="zh-CN" altLang="en-US" sz="2000" i="1">
                          <a:latin typeface="Cambria Math" panose="02040503050406030204" pitchFamily="18" charset="0"/>
                          <a:ea typeface="Microsoft YaHei" charset="0"/>
                        </a:rPr>
                        <m:t>回归树</m:t>
                      </m:r>
                      <m:r>
                        <a:rPr lang="zh-CN" altLang="en-US" sz="2000" b="0" i="1" smtClean="0">
                          <a:latin typeface="Cambria Math" panose="02040503050406030204" pitchFamily="18" charset="0"/>
                          <a:ea typeface="Microsoft YaHei" charset="0"/>
                        </a:rPr>
                        <m:t>，</m:t>
                      </m:r>
                      <m:r>
                        <a:rPr lang="zh-CN" altLang="en-US" sz="2000" i="1">
                          <a:latin typeface="Cambria Math" panose="02040503050406030204" pitchFamily="18" charset="0"/>
                          <a:ea typeface="Microsoft YaHei" charset="0"/>
                        </a:rPr>
                        <m:t>得到</m:t>
                      </m:r>
                      <m:r>
                        <a:rPr lang="en-US" altLang="zh-CN" sz="2000" i="1">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19" name="文本框 18"/>
              <p:cNvSpPr txBox="1">
                <a:spLocks noRot="1" noChangeAspect="1" noMove="1" noResize="1" noEditPoints="1" noAdjustHandles="1" noChangeArrowheads="1" noChangeShapeType="1" noTextEdit="1"/>
              </p:cNvSpPr>
              <p:nvPr/>
            </p:nvSpPr>
            <p:spPr>
              <a:xfrm>
                <a:off x="1934536" y="4823550"/>
                <a:ext cx="4856329" cy="309124"/>
              </a:xfrm>
              <a:prstGeom prst="rect">
                <a:avLst/>
              </a:prstGeom>
              <a:blipFill>
                <a:blip r:embed="rId8"/>
                <a:stretch>
                  <a:fillRect t="-7692" b="-3461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0" name="文本框 19"/>
              <p:cNvSpPr txBox="1"/>
              <p:nvPr/>
            </p:nvSpPr>
            <p:spPr>
              <a:xfrm>
                <a:off x="1947008" y="6133645"/>
                <a:ext cx="4445191" cy="3091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𝑑</m:t>
                          </m:r>
                        </m:e>
                      </m:d>
                      <m:r>
                        <a:rPr lang="zh-CN" altLang="en-US" sz="2000" i="1">
                          <a:latin typeface="Cambria Math" panose="02040503050406030204" pitchFamily="18" charset="0"/>
                          <a:ea typeface="Microsoft YaHei" charset="0"/>
                        </a:rPr>
                        <m:t>更新</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𝑚</m:t>
                          </m:r>
                          <m:r>
                            <a:rPr lang="en-US" altLang="zh-CN" sz="2000" i="1">
                              <a:latin typeface="Cambria Math" panose="02040503050406030204" pitchFamily="18" charset="0"/>
                              <a:ea typeface="Microsoft YaHei" charset="0"/>
                            </a:rPr>
                            <m:t>−1</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𝜎</m:t>
                          </m:r>
                        </m:e>
                        <m:sub>
                          <m:r>
                            <a:rPr lang="en-US" altLang="zh-CN" sz="2000" i="1">
                              <a:latin typeface="Cambria Math" panose="02040503050406030204" pitchFamily="18" charset="0"/>
                              <a:ea typeface="Microsoft YaHei" charset="0"/>
                            </a:rPr>
                            <m:t>𝑚</m:t>
                          </m:r>
                        </m:sub>
                      </m:sSub>
                      <m:r>
                        <a:rPr lang="en-US" altLang="zh-CN" sz="2000" i="1">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20" name="文本框 19"/>
              <p:cNvSpPr txBox="1">
                <a:spLocks noRot="1" noChangeAspect="1" noMove="1" noResize="1" noEditPoints="1" noAdjustHandles="1" noChangeArrowheads="1" noChangeShapeType="1" noTextEdit="1"/>
              </p:cNvSpPr>
              <p:nvPr/>
            </p:nvSpPr>
            <p:spPr>
              <a:xfrm>
                <a:off x="1947008" y="6133645"/>
                <a:ext cx="4445191" cy="309124"/>
              </a:xfrm>
              <a:prstGeom prst="rect">
                <a:avLst/>
              </a:prstGeom>
              <a:blipFill>
                <a:blip r:embed="rId9"/>
                <a:stretch>
                  <a:fillRect t="-7692" b="-30769"/>
                </a:stretch>
              </a:blipFill>
            </p:spPr>
            <p:txBody>
              <a:bodyPr/>
              <a:lstStyle/>
              <a:p>
                <a:r>
                  <a:rPr lang="ko-Kore-KR" altLang="en-US">
                    <a:noFill/>
                  </a:rPr>
                  <a:t> </a:t>
                </a:r>
              </a:p>
            </p:txBody>
          </p:sp>
        </mc:Fallback>
      </mc:AlternateContent>
      <p:sp>
        <p:nvSpPr>
          <p:cNvPr id="23" name="圆角矩形 22"/>
          <p:cNvSpPr/>
          <p:nvPr/>
        </p:nvSpPr>
        <p:spPr>
          <a:xfrm>
            <a:off x="7760676" y="1866314"/>
            <a:ext cx="2649416" cy="61189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24" name="文本框 23"/>
              <p:cNvSpPr txBox="1"/>
              <p:nvPr/>
            </p:nvSpPr>
            <p:spPr>
              <a:xfrm>
                <a:off x="1908792" y="5325551"/>
                <a:ext cx="6541150" cy="7469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𝑐</m:t>
                          </m:r>
                        </m:e>
                      </m:d>
                      <m:r>
                        <a:rPr lang="zh-CN" altLang="en-US" sz="2000" i="1">
                          <a:latin typeface="Cambria Math" panose="02040503050406030204" pitchFamily="18" charset="0"/>
                          <a:ea typeface="Microsoft YaHei" charset="0"/>
                        </a:rPr>
                        <m:t>计算</m:t>
                      </m:r>
                      <m:r>
                        <a:rPr lang="zh-CN" altLang="en-US" sz="2000" i="1" smtClean="0">
                          <a:latin typeface="Cambria Math" panose="02040503050406030204" pitchFamily="18" charset="0"/>
                          <a:ea typeface="Microsoft YaHei" charset="0"/>
                        </a:rPr>
                        <m:t>步</m:t>
                      </m:r>
                      <m:r>
                        <a:rPr lang="zh-CN" altLang="en-US" sz="2000" b="0" i="1" smtClean="0">
                          <a:latin typeface="Cambria Math" panose="02040503050406030204" pitchFamily="18" charset="0"/>
                          <a:ea typeface="Microsoft YaHei" charset="0"/>
                        </a:rPr>
                        <m:t>长</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zh-CN" altLang="en-US" sz="2000" b="0" i="1" smtClean="0">
                              <a:latin typeface="Cambria Math" panose="02040503050406030204" pitchFamily="18" charset="0"/>
                              <a:ea typeface="Microsoft YaHei" charset="0"/>
                            </a:rPr>
                            <m:t>𝜎</m:t>
                          </m:r>
                        </m:e>
                        <m:sub>
                          <m:r>
                            <a:rPr lang="en-US" altLang="zh-CN" sz="2000" b="0" i="1" smtClean="0">
                              <a:latin typeface="Cambria Math" panose="02040503050406030204" pitchFamily="18" charset="0"/>
                              <a:ea typeface="Microsoft YaHei" charset="0"/>
                            </a:rPr>
                            <m:t>𝑚</m:t>
                          </m:r>
                        </m:sub>
                      </m:sSub>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𝑎𝑟𝑔</m:t>
                      </m:r>
                      <m:func>
                        <m:funcPr>
                          <m:ctrlPr>
                            <a:rPr lang="en-US" altLang="zh-CN" sz="2000" b="0" i="1" smtClean="0">
                              <a:latin typeface="Cambria Math" panose="02040503050406030204" pitchFamily="18" charset="0"/>
                              <a:ea typeface="Microsoft YaHei" charset="0"/>
                            </a:rPr>
                          </m:ctrlPr>
                        </m:funcPr>
                        <m:fName>
                          <m:limLow>
                            <m:limLowPr>
                              <m:ctrlPr>
                                <a:rPr lang="en-US" altLang="zh-CN" sz="2000" b="0" i="1" smtClean="0">
                                  <a:latin typeface="Cambria Math" panose="02040503050406030204" pitchFamily="18" charset="0"/>
                                  <a:ea typeface="Microsoft YaHei" charset="0"/>
                                </a:rPr>
                              </m:ctrlPr>
                            </m:limLowPr>
                            <m:e>
                              <m:r>
                                <m:rPr>
                                  <m:sty m:val="p"/>
                                </m:rPr>
                                <a:rPr lang="en-US" altLang="zh-CN" sz="2000" b="0" i="0" smtClean="0">
                                  <a:latin typeface="Cambria Math" panose="02040503050406030204" pitchFamily="18" charset="0"/>
                                  <a:ea typeface="Microsoft YaHei" charset="0"/>
                                </a:rPr>
                                <m:t>min</m:t>
                              </m:r>
                            </m:e>
                            <m:lim>
                              <m:r>
                                <a:rPr lang="zh-CN" altLang="en-US" sz="2000" b="0" i="1" smtClean="0">
                                  <a:latin typeface="Cambria Math" panose="02040503050406030204" pitchFamily="18" charset="0"/>
                                  <a:ea typeface="Microsoft YaHei" charset="0"/>
                                </a:rPr>
                                <m:t>𝜎</m:t>
                              </m:r>
                            </m:lim>
                          </m:limLow>
                        </m:fName>
                        <m:e>
                          <m:nary>
                            <m:naryPr>
                              <m:chr m:val="∑"/>
                              <m:supHide m:val="on"/>
                              <m:ctrlPr>
                                <a:rPr lang="en-US" altLang="zh-CN" sz="2000" b="0" i="1" smtClean="0">
                                  <a:latin typeface="Cambria Math" panose="02040503050406030204" pitchFamily="18" charset="0"/>
                                  <a:ea typeface="Microsoft YaHei" charset="0"/>
                                </a:rPr>
                              </m:ctrlPr>
                            </m:naryPr>
                            <m:sub>
                              <m:r>
                                <m:rPr>
                                  <m:brk m:alnAt="7"/>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e>
                              <m:r>
                                <m:rPr>
                                  <m:sty m:val="p"/>
                                </m:rPr>
                                <a:rPr lang="en-US" altLang="zh-CN" sz="2000" b="0" i="0" smtClean="0">
                                  <a:latin typeface="Cambria Math" panose="02040503050406030204" pitchFamily="18" charset="0"/>
                                  <a:ea typeface="Microsoft YaHei" charset="0"/>
                                </a:rPr>
                                <m:t>L</m:t>
                              </m:r>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𝑚</m:t>
                                  </m:r>
                                  <m:r>
                                    <a:rPr lang="en-US" altLang="zh-CN" sz="2000" b="0" i="1" smtClean="0">
                                      <a:latin typeface="Cambria Math" panose="02040503050406030204" pitchFamily="18" charset="0"/>
                                      <a:ea typeface="Microsoft YaHei" charset="0"/>
                                    </a:rPr>
                                    <m:t>−1</m:t>
                                  </m:r>
                                </m:sub>
                              </m:sSub>
                              <m:d>
                                <m:dPr>
                                  <m:ctrlPr>
                                    <a:rPr lang="en-US" altLang="zh-CN" sz="2000" b="0" i="1" smtClean="0">
                                      <a:latin typeface="Cambria Math" panose="02040503050406030204" pitchFamily="18" charset="0"/>
                                      <a:ea typeface="Microsoft YaHei" charset="0"/>
                                    </a:rPr>
                                  </m:ctrlPr>
                                </m:dPr>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e>
                              </m:d>
                              <m:r>
                                <a:rPr lang="en-US" altLang="zh-CN" sz="2000" b="0" i="1" smtClean="0">
                                  <a:latin typeface="Cambria Math" panose="02040503050406030204" pitchFamily="18" charset="0"/>
                                  <a:ea typeface="Microsoft YaHei" charset="0"/>
                                </a:rPr>
                                <m:t>+</m:t>
                              </m:r>
                              <m:r>
                                <a:rPr lang="zh-CN" altLang="en-US" sz="2000" b="0" i="1" smtClean="0">
                                  <a:latin typeface="Cambria Math" panose="02040503050406030204" pitchFamily="18" charset="0"/>
                                  <a:ea typeface="Microsoft YaHei" charset="0"/>
                                </a:rPr>
                                <m:t>𝜎</m:t>
                              </m:r>
                              <m:r>
                                <a:rPr lang="en-US" altLang="zh-CN" sz="2000" i="1">
                                  <a:latin typeface="Cambria Math" panose="02040503050406030204" pitchFamily="18" charset="0"/>
                                  <a:ea typeface="Microsoft YaHei" charset="0"/>
                                </a:rPr>
                                <m:t>𝑇</m:t>
                              </m:r>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zh-CN" altLang="en-US" sz="2000" i="1">
                                          <a:latin typeface="Cambria Math" panose="02040503050406030204" pitchFamily="18" charset="0"/>
                                          <a:ea typeface="Microsoft YaHei" charset="0"/>
                                        </a:rPr>
                                        <m:t>𝜃</m:t>
                                      </m:r>
                                    </m:e>
                                    <m:sub>
                                      <m:r>
                                        <a:rPr lang="en-US" altLang="zh-CN" sz="2000" i="1">
                                          <a:latin typeface="Cambria Math" panose="02040503050406030204" pitchFamily="18" charset="0"/>
                                          <a:ea typeface="Microsoft YaHei" charset="0"/>
                                        </a:rPr>
                                        <m:t>𝑚</m:t>
                                      </m:r>
                                    </m:sub>
                                  </m:sSub>
                                </m:e>
                              </m:d>
                              <m:r>
                                <a:rPr lang="en-US" altLang="zh-CN" sz="2000" b="0" i="1" smtClean="0">
                                  <a:latin typeface="Cambria Math" panose="02040503050406030204" pitchFamily="18" charset="0"/>
                                  <a:ea typeface="Microsoft YaHei" charset="0"/>
                                </a:rPr>
                                <m:t>)</m:t>
                              </m:r>
                            </m:e>
                          </m:nary>
                        </m:e>
                      </m:func>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1908792" y="5325551"/>
                <a:ext cx="6541150" cy="746936"/>
              </a:xfrm>
              <a:prstGeom prst="rect">
                <a:avLst/>
              </a:prstGeom>
              <a:blipFill>
                <a:blip r:embed="rId10"/>
                <a:stretch>
                  <a:fillRect t="-145000" r="-775" b="-200000"/>
                </a:stretch>
              </a:blipFill>
            </p:spPr>
            <p:txBody>
              <a:bodyPr/>
              <a:lstStyle/>
              <a:p>
                <a:r>
                  <a:rPr lang="ko-Kore-KR" altLang="en-US">
                    <a:noFill/>
                  </a:rPr>
                  <a:t> </a:t>
                </a:r>
              </a:p>
            </p:txBody>
          </p:sp>
        </mc:Fallback>
      </mc:AlternateContent>
      <p:sp>
        <p:nvSpPr>
          <p:cNvPr id="25" name="圆角矩形 24"/>
          <p:cNvSpPr/>
          <p:nvPr/>
        </p:nvSpPr>
        <p:spPr>
          <a:xfrm>
            <a:off x="4658447" y="3889158"/>
            <a:ext cx="4082279" cy="865492"/>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p:sp>
        <p:nvSpPr>
          <p:cNvPr id="31"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3" name="Rectangle 2">
            <a:extLst>
              <a:ext uri="{FF2B5EF4-FFF2-40B4-BE49-F238E27FC236}">
                <a16:creationId xmlns:a16="http://schemas.microsoft.com/office/drawing/2014/main" id="{30785E5C-77E9-8142-999D-27B944A3A4C1}"/>
              </a:ext>
            </a:extLst>
          </p:cNvPr>
          <p:cNvSpPr txBox="1">
            <a:spLocks noChangeArrowheads="1"/>
          </p:cNvSpPr>
          <p:nvPr/>
        </p:nvSpPr>
        <p:spPr bwMode="auto">
          <a:xfrm>
            <a:off x="668338" y="235898"/>
            <a:ext cx="5629299"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dirty="0">
                <a:solidFill>
                  <a:schemeClr val="tx1"/>
                </a:solidFill>
                <a:latin typeface="KaiTi" panose="02010609060101010101" pitchFamily="49" charset="-122"/>
                <a:ea typeface="KaiTi" panose="02010609060101010101" pitchFamily="49" charset="-122"/>
              </a:rPr>
              <a:t>GBDT</a:t>
            </a:r>
            <a:r>
              <a:rPr lang="zh-CN" altLang="en-US" kern="0"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416545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additive="base">
                                        <p:cTn id="14" dur="500" fill="hold"/>
                                        <p:tgtEl>
                                          <p:spTgt spid="23"/>
                                        </p:tgtEl>
                                        <p:attrNameLst>
                                          <p:attrName>ppt_x</p:attrName>
                                        </p:attrNameLst>
                                      </p:cBhvr>
                                      <p:tavLst>
                                        <p:tav tm="0">
                                          <p:val>
                                            <p:strVal val="#ppt_x"/>
                                          </p:val>
                                        </p:tav>
                                        <p:tav tm="100000">
                                          <p:val>
                                            <p:strVal val="#ppt_x"/>
                                          </p:val>
                                        </p:tav>
                                      </p:tavLst>
                                    </p:anim>
                                    <p:anim calcmode="lin" valueType="num">
                                      <p:cBhvr additive="base">
                                        <p:cTn id="15"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fltVal val="0"/>
                                          </p:val>
                                        </p:tav>
                                        <p:tav tm="100000">
                                          <p:val>
                                            <p:strVal val="#ppt_w"/>
                                          </p:val>
                                        </p:tav>
                                      </p:tavLst>
                                    </p:anim>
                                    <p:anim calcmode="lin" valueType="num">
                                      <p:cBhvr>
                                        <p:cTn id="21" dur="500" fill="hold"/>
                                        <p:tgtEl>
                                          <p:spTgt spid="15"/>
                                        </p:tgtEl>
                                        <p:attrNameLst>
                                          <p:attrName>ppt_h</p:attrName>
                                        </p:attrNameLst>
                                      </p:cBhvr>
                                      <p:tavLst>
                                        <p:tav tm="0">
                                          <p:val>
                                            <p:fltVal val="0"/>
                                          </p:val>
                                        </p:tav>
                                        <p:tav tm="100000">
                                          <p:val>
                                            <p:strVal val="#ppt_h"/>
                                          </p:val>
                                        </p:tav>
                                      </p:tavLst>
                                    </p:anim>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animEffect transition="in" filter="fade">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500" fill="hold"/>
                                        <p:tgtEl>
                                          <p:spTgt spid="25"/>
                                        </p:tgtEl>
                                        <p:attrNameLst>
                                          <p:attrName>ppt_x</p:attrName>
                                        </p:attrNameLst>
                                      </p:cBhvr>
                                      <p:tavLst>
                                        <p:tav tm="0">
                                          <p:val>
                                            <p:strVal val="#ppt_x"/>
                                          </p:val>
                                        </p:tav>
                                        <p:tav tm="100000">
                                          <p:val>
                                            <p:strVal val="#ppt_x"/>
                                          </p:val>
                                        </p:tav>
                                      </p:tavLst>
                                    </p:anim>
                                    <p:anim calcmode="lin" valueType="num">
                                      <p:cBhvr additive="base">
                                        <p:cTn id="4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p:cTn id="61" dur="500" fill="hold"/>
                                        <p:tgtEl>
                                          <p:spTgt spid="24"/>
                                        </p:tgtEl>
                                        <p:attrNameLst>
                                          <p:attrName>ppt_w</p:attrName>
                                        </p:attrNameLst>
                                      </p:cBhvr>
                                      <p:tavLst>
                                        <p:tav tm="0">
                                          <p:val>
                                            <p:fltVal val="0"/>
                                          </p:val>
                                        </p:tav>
                                        <p:tav tm="100000">
                                          <p:val>
                                            <p:strVal val="#ppt_w"/>
                                          </p:val>
                                        </p:tav>
                                      </p:tavLst>
                                    </p:anim>
                                    <p:anim calcmode="lin" valueType="num">
                                      <p:cBhvr>
                                        <p:cTn id="62" dur="500" fill="hold"/>
                                        <p:tgtEl>
                                          <p:spTgt spid="24"/>
                                        </p:tgtEl>
                                        <p:attrNameLst>
                                          <p:attrName>ppt_h</p:attrName>
                                        </p:attrNameLst>
                                      </p:cBhvr>
                                      <p:tavLst>
                                        <p:tav tm="0">
                                          <p:val>
                                            <p:fltVal val="0"/>
                                          </p:val>
                                        </p:tav>
                                        <p:tav tm="100000">
                                          <p:val>
                                            <p:strVal val="#ppt_h"/>
                                          </p:val>
                                        </p:tav>
                                      </p:tavLst>
                                    </p:anim>
                                    <p:animEffect transition="in" filter="fade">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p:cTn id="68" dur="500" fill="hold"/>
                                        <p:tgtEl>
                                          <p:spTgt spid="20"/>
                                        </p:tgtEl>
                                        <p:attrNameLst>
                                          <p:attrName>ppt_w</p:attrName>
                                        </p:attrNameLst>
                                      </p:cBhvr>
                                      <p:tavLst>
                                        <p:tav tm="0">
                                          <p:val>
                                            <p:fltVal val="0"/>
                                          </p:val>
                                        </p:tav>
                                        <p:tav tm="100000">
                                          <p:val>
                                            <p:strVal val="#ppt_w"/>
                                          </p:val>
                                        </p:tav>
                                      </p:tavLst>
                                    </p:anim>
                                    <p:anim calcmode="lin" valueType="num">
                                      <p:cBhvr>
                                        <p:cTn id="69" dur="500" fill="hold"/>
                                        <p:tgtEl>
                                          <p:spTgt spid="20"/>
                                        </p:tgtEl>
                                        <p:attrNameLst>
                                          <p:attrName>ppt_h</p:attrName>
                                        </p:attrNameLst>
                                      </p:cBhvr>
                                      <p:tavLst>
                                        <p:tav tm="0">
                                          <p:val>
                                            <p:fltVal val="0"/>
                                          </p:val>
                                        </p:tav>
                                        <p:tav tm="100000">
                                          <p:val>
                                            <p:strVal val="#ppt_h"/>
                                          </p:val>
                                        </p:tav>
                                      </p:tavLst>
                                    </p:anim>
                                    <p:animEffect transition="in" filter="fade">
                                      <p:cBhvr>
                                        <p:cTn id="7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P spid="23" grpId="0" animBg="1"/>
      <p:bldP spid="24" grpId="0"/>
      <p:bldP spid="2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p:cNvSpPr txBox="1"/>
              <p:nvPr/>
            </p:nvSpPr>
            <p:spPr>
              <a:xfrm>
                <a:off x="4712259" y="1250121"/>
                <a:ext cx="4898649" cy="8180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000" i="1" smtClean="0">
                              <a:latin typeface="Cambria Math" panose="02040503050406030204" pitchFamily="18" charset="0"/>
                              <a:ea typeface="Microsoft YaHei" charset="0"/>
                            </a:rPr>
                          </m:ctrlPr>
                        </m:funcPr>
                        <m:fName>
                          <m:limLow>
                            <m:limLowPr>
                              <m:ctrlPr>
                                <a:rPr lang="en-US" altLang="zh-CN" sz="2000" i="1" smtClean="0">
                                  <a:latin typeface="Cambria Math" panose="02040503050406030204" pitchFamily="18" charset="0"/>
                                  <a:ea typeface="Microsoft YaHei" charset="0"/>
                                </a:rPr>
                              </m:ctrlPr>
                            </m:limLowPr>
                            <m:e>
                              <m:r>
                                <m:rPr>
                                  <m:sty m:val="p"/>
                                </m:rPr>
                                <a:rPr lang="en-US" altLang="zh-CN" sz="2000" i="0" smtClean="0">
                                  <a:latin typeface="Cambria Math" panose="02040503050406030204" pitchFamily="18" charset="0"/>
                                  <a:ea typeface="Microsoft YaHei" charset="0"/>
                                </a:rPr>
                                <m:t>min</m:t>
                              </m:r>
                            </m:e>
                            <m:lim>
                              <m:r>
                                <a:rPr lang="en-US" altLang="zh-CN" sz="2000" b="0" i="1" smtClean="0">
                                  <a:latin typeface="Cambria Math" panose="02040503050406030204" pitchFamily="18" charset="0"/>
                                  <a:ea typeface="Microsoft YaHei" charset="0"/>
                                </a:rPr>
                                <m:t>𝑠</m:t>
                              </m:r>
                            </m:lim>
                          </m:limLow>
                        </m:fName>
                        <m:e>
                          <m:d>
                            <m:dPr>
                              <m:begChr m:val="["/>
                              <m:endChr m:val="]"/>
                              <m:ctrlPr>
                                <a:rPr lang="en-US" altLang="zh-CN" sz="2000" i="1" smtClean="0">
                                  <a:latin typeface="Cambria Math" panose="02040503050406030204" pitchFamily="18" charset="0"/>
                                  <a:ea typeface="Microsoft YaHei" charset="0"/>
                                </a:rPr>
                              </m:ctrlPr>
                            </m:dPr>
                            <m:e>
                              <m:func>
                                <m:funcPr>
                                  <m:ctrlPr>
                                    <a:rPr lang="en-US" altLang="zh-CN" sz="2000" i="1" smtClean="0">
                                      <a:latin typeface="Cambria Math" panose="02040503050406030204" pitchFamily="18" charset="0"/>
                                      <a:ea typeface="Microsoft YaHei" charset="0"/>
                                    </a:rPr>
                                  </m:ctrlPr>
                                </m:funcPr>
                                <m:fName>
                                  <m:limLow>
                                    <m:limLowPr>
                                      <m:ctrlPr>
                                        <a:rPr lang="en-US" altLang="zh-CN" sz="2000" i="1" smtClean="0">
                                          <a:latin typeface="Cambria Math" panose="02040503050406030204" pitchFamily="18" charset="0"/>
                                          <a:ea typeface="Microsoft YaHei" charset="0"/>
                                        </a:rPr>
                                      </m:ctrlPr>
                                    </m:limLowPr>
                                    <m:e>
                                      <m:r>
                                        <m:rPr>
                                          <m:sty m:val="p"/>
                                        </m:rPr>
                                        <a:rPr lang="en-US" altLang="zh-CN" sz="2000" i="0" smtClean="0">
                                          <a:latin typeface="Cambria Math" panose="02040503050406030204" pitchFamily="18" charset="0"/>
                                          <a:ea typeface="Microsoft YaHei" charset="0"/>
                                        </a:rPr>
                                        <m:t>min</m:t>
                                      </m:r>
                                    </m:e>
                                    <m:lim>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lim>
                                  </m:limLow>
                                </m:fName>
                                <m:e>
                                  <m:nary>
                                    <m:naryPr>
                                      <m:chr m:val="∑"/>
                                      <m:subHide m:val="on"/>
                                      <m:supHide m:val="on"/>
                                      <m:ctrlPr>
                                        <a:rPr lang="en-US" altLang="zh-CN" sz="2000" i="1" smtClean="0">
                                          <a:latin typeface="Cambria Math" panose="02040503050406030204" pitchFamily="18" charset="0"/>
                                          <a:ea typeface="Microsoft YaHei" charset="0"/>
                                        </a:rPr>
                                      </m:ctrlPr>
                                    </m:naryPr>
                                    <m:sub/>
                                    <m:sup/>
                                    <m:e>
                                      <m:sSup>
                                        <m:sSupPr>
                                          <m:ctrlPr>
                                            <a:rPr lang="en-US" altLang="zh-CN" sz="2000" i="1" smtClean="0">
                                              <a:latin typeface="Cambria Math" panose="02040503050406030204" pitchFamily="18" charset="0"/>
                                              <a:ea typeface="Microsoft YaHei" charset="0"/>
                                            </a:rPr>
                                          </m:ctrlPr>
                                        </m:sSupPr>
                                        <m:e>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e>
                                        <m:sup>
                                          <m:r>
                                            <a:rPr lang="en-US" altLang="zh-CN" sz="2000" b="0" i="1" smtClean="0">
                                              <a:latin typeface="Cambria Math" panose="02040503050406030204" pitchFamily="18" charset="0"/>
                                              <a:ea typeface="Microsoft YaHei" charset="0"/>
                                            </a:rPr>
                                            <m:t>2</m:t>
                                          </m:r>
                                        </m:sup>
                                      </m:sSup>
                                    </m:e>
                                  </m:nary>
                                </m:e>
                              </m:func>
                              <m:r>
                                <a:rPr lang="en-US" altLang="zh-CN" sz="2000" b="0" i="1" smtClean="0">
                                  <a:latin typeface="Cambria Math" panose="02040503050406030204" pitchFamily="18" charset="0"/>
                                  <a:ea typeface="Microsoft YaHei" charset="0"/>
                                </a:rPr>
                                <m:t>+</m:t>
                              </m:r>
                              <m:func>
                                <m:funcPr>
                                  <m:ctrlPr>
                                    <a:rPr lang="en-US" altLang="zh-CN" sz="2000" i="1">
                                      <a:latin typeface="Cambria Math" panose="02040503050406030204" pitchFamily="18" charset="0"/>
                                      <a:ea typeface="Microsoft YaHei" charset="0"/>
                                    </a:rPr>
                                  </m:ctrlPr>
                                </m:funcPr>
                                <m:fName>
                                  <m:limLow>
                                    <m:limLowPr>
                                      <m:ctrlPr>
                                        <a:rPr lang="en-US" altLang="zh-CN" sz="2000" i="1">
                                          <a:latin typeface="Cambria Math" panose="02040503050406030204" pitchFamily="18" charset="0"/>
                                          <a:ea typeface="Microsoft YaHei" charset="0"/>
                                        </a:rPr>
                                      </m:ctrlPr>
                                    </m:limLowPr>
                                    <m:e>
                                      <m:r>
                                        <m:rPr>
                                          <m:sty m:val="p"/>
                                        </m:rPr>
                                        <a:rPr lang="en-US" altLang="zh-CN" sz="2000">
                                          <a:latin typeface="Cambria Math" panose="02040503050406030204" pitchFamily="18" charset="0"/>
                                          <a:ea typeface="Microsoft YaHei" charset="0"/>
                                        </a:rPr>
                                        <m:t>min</m:t>
                                      </m:r>
                                    </m:e>
                                    <m:lim>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lim>
                                  </m:limLow>
                                </m:fName>
                                <m:e>
                                  <m:nary>
                                    <m:naryPr>
                                      <m:chr m:val="∑"/>
                                      <m:subHide m:val="on"/>
                                      <m:supHide m:val="on"/>
                                      <m:ctrlPr>
                                        <a:rPr lang="en-US" altLang="zh-CN" sz="2000" i="1">
                                          <a:latin typeface="Cambria Math" panose="02040503050406030204" pitchFamily="18" charset="0"/>
                                          <a:ea typeface="Microsoft YaHei" charset="0"/>
                                        </a:rPr>
                                      </m:ctrlPr>
                                    </m:naryPr>
                                    <m:sub/>
                                    <m:sup/>
                                    <m:e>
                                      <m:sSup>
                                        <m:sSupPr>
                                          <m:ctrlPr>
                                            <a:rPr lang="en-US" altLang="zh-CN" sz="2000" i="1">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e>
                                  </m:nary>
                                </m:e>
                              </m:func>
                            </m:e>
                          </m:d>
                        </m:e>
                      </m:func>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4712259" y="1250121"/>
                <a:ext cx="4898649" cy="818044"/>
              </a:xfrm>
              <a:prstGeom prst="rect">
                <a:avLst/>
              </a:prstGeom>
              <a:blipFill>
                <a:blip r:embed="rId2"/>
                <a:stretch>
                  <a:fillRect t="-126154" b="-184615"/>
                </a:stretch>
              </a:blipFill>
            </p:spPr>
            <p:txBody>
              <a:bodyPr/>
              <a:lstStyle/>
              <a:p>
                <a:r>
                  <a:rPr lang="ko-Kore-KR" altLang="en-US">
                    <a:noFill/>
                  </a:rPr>
                  <a:t> </a:t>
                </a:r>
              </a:p>
            </p:txBody>
          </p:sp>
        </mc:Fallback>
      </mc:AlternateContent>
      <p:sp>
        <p:nvSpPr>
          <p:cNvPr id="2" name="下箭头 1"/>
          <p:cNvSpPr/>
          <p:nvPr/>
        </p:nvSpPr>
        <p:spPr>
          <a:xfrm>
            <a:off x="5147314" y="2160104"/>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3" name="文本框 2"/>
              <p:cNvSpPr txBox="1"/>
              <p:nvPr/>
            </p:nvSpPr>
            <p:spPr>
              <a:xfrm>
                <a:off x="4779494" y="2453762"/>
                <a:ext cx="349948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d>
                        <m:dPr>
                          <m:begChr m:val="{"/>
                          <m:endChr m:val="}"/>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𝑠</m:t>
                          </m:r>
                        </m:e>
                      </m:d>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d>
                        <m:dPr>
                          <m:begChr m:val="{"/>
                          <m:endChr m:val="}"/>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r>
                            <a:rPr lang="en-US" altLang="zh-CN" sz="2000" i="1">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𝑥</m:t>
                          </m:r>
                          <m:r>
                            <a:rPr lang="en-US" altLang="zh-CN" sz="2000" b="0" i="1" smtClean="0">
                              <a:latin typeface="Cambria Math" panose="02040503050406030204" pitchFamily="18" charset="0"/>
                              <a:ea typeface="Microsoft YaHei" charset="0"/>
                            </a:rPr>
                            <m:t>&gt;</m:t>
                          </m:r>
                          <m:r>
                            <a:rPr lang="en-US" altLang="zh-CN" sz="2000" i="1">
                              <a:latin typeface="Cambria Math" panose="02040503050406030204" pitchFamily="18" charset="0"/>
                              <a:ea typeface="Cambria Math" panose="02040503050406030204" pitchFamily="18" charset="0"/>
                            </a:rPr>
                            <m:t>𝑠</m:t>
                          </m:r>
                        </m:e>
                      </m:d>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779494" y="2453762"/>
                <a:ext cx="3499483" cy="307777"/>
              </a:xfrm>
              <a:prstGeom prst="rect">
                <a:avLst/>
              </a:prstGeom>
              <a:blipFill>
                <a:blip r:embed="rId3"/>
                <a:stretch>
                  <a:fillRect l="-362" b="-36000"/>
                </a:stretch>
              </a:blipFill>
            </p:spPr>
            <p:txBody>
              <a:bodyPr/>
              <a:lstStyle/>
              <a:p>
                <a:r>
                  <a:rPr lang="ko-Kore-KR" altLang="en-US">
                    <a:noFill/>
                  </a:rPr>
                  <a:t> </a:t>
                </a:r>
              </a:p>
            </p:txBody>
          </p:sp>
        </mc:Fallback>
      </mc:AlternateContent>
      <p:sp>
        <p:nvSpPr>
          <p:cNvPr id="7" name="下箭头 6"/>
          <p:cNvSpPr/>
          <p:nvPr/>
        </p:nvSpPr>
        <p:spPr>
          <a:xfrm>
            <a:off x="5157137" y="2966994"/>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8" name="文本框 7"/>
              <p:cNvSpPr txBox="1"/>
              <p:nvPr/>
            </p:nvSpPr>
            <p:spPr>
              <a:xfrm>
                <a:off x="4779494" y="3198110"/>
                <a:ext cx="3593868" cy="786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f>
                        <m:fPr>
                          <m:ctrlPr>
                            <a:rPr lang="en-US" altLang="zh-CN" sz="2000" b="0" i="1" smtClean="0">
                              <a:latin typeface="Cambria Math" panose="02040503050406030204" pitchFamily="18" charset="0"/>
                              <a:ea typeface="Microsoft YaHei" charset="0"/>
                            </a:rPr>
                          </m:ctrlPr>
                        </m:fPr>
                        <m:num>
                          <m:r>
                            <a:rPr lang="en-US" altLang="zh-CN" sz="2000" b="0" i="1" smtClean="0">
                              <a:latin typeface="Cambria Math" panose="02040503050406030204" pitchFamily="18" charset="0"/>
                              <a:ea typeface="Microsoft YaHei" charset="0"/>
                            </a:rPr>
                            <m:t>1</m:t>
                          </m:r>
                        </m:num>
                        <m:den>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𝑁</m:t>
                              </m:r>
                            </m:e>
                            <m:sub>
                              <m:r>
                                <a:rPr lang="en-US" altLang="zh-CN" sz="2000" b="0" i="1" smtClean="0">
                                  <a:latin typeface="Cambria Math" panose="02040503050406030204" pitchFamily="18" charset="0"/>
                                  <a:ea typeface="Microsoft YaHei" charset="0"/>
                                </a:rPr>
                                <m:t>1</m:t>
                              </m:r>
                            </m:sub>
                          </m:sSub>
                        </m:den>
                      </m:f>
                      <m:nary>
                        <m:naryPr>
                          <m:chr m:val="∑"/>
                          <m:supHide m:val="on"/>
                          <m:ctrlPr>
                            <a:rPr lang="en-US" altLang="zh-CN" sz="2000" b="0" i="1" smtClean="0">
                              <a:latin typeface="Cambria Math" panose="02040503050406030204" pitchFamily="18" charset="0"/>
                              <a:ea typeface="Microsoft YaHei" charset="0"/>
                            </a:rPr>
                          </m:ctrlPr>
                        </m:naryPr>
                        <m:sub>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m:rPr>
                              <m:brk m:alnAt="7"/>
                            </m:rP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𝑅</m:t>
                              </m:r>
                            </m:e>
                            <m:sub>
                              <m:r>
                                <a:rPr lang="en-US" altLang="zh-CN" sz="2000" b="0" i="1" smtClean="0">
                                  <a:latin typeface="Cambria Math" panose="02040503050406030204" pitchFamily="18" charset="0"/>
                                  <a:ea typeface="Cambria Math" panose="02040503050406030204" pitchFamily="18" charset="0"/>
                                </a:rPr>
                                <m:t>1</m:t>
                              </m:r>
                            </m:sub>
                          </m:sSub>
                        </m:sub>
                        <m:sup/>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e>
                      </m:nary>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f>
                        <m:fPr>
                          <m:ctrlPr>
                            <a:rPr lang="en-US" altLang="zh-CN" sz="2000" i="1">
                              <a:latin typeface="Cambria Math" panose="02040503050406030204" pitchFamily="18" charset="0"/>
                              <a:ea typeface="Microsoft YaHei" charset="0"/>
                            </a:rPr>
                          </m:ctrlPr>
                        </m:fPr>
                        <m:num>
                          <m:r>
                            <a:rPr lang="en-US" altLang="zh-CN" sz="2000" i="1">
                              <a:latin typeface="Cambria Math" panose="02040503050406030204" pitchFamily="18" charset="0"/>
                              <a:ea typeface="Microsoft YaHei" charset="0"/>
                            </a:rPr>
                            <m:t>1</m:t>
                          </m:r>
                        </m:num>
                        <m:den>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𝑁</m:t>
                              </m:r>
                            </m:e>
                            <m:sub>
                              <m:r>
                                <a:rPr lang="en-US" altLang="zh-CN" sz="2000" b="0" i="1" smtClean="0">
                                  <a:latin typeface="Cambria Math" panose="02040503050406030204" pitchFamily="18" charset="0"/>
                                  <a:ea typeface="Microsoft YaHei" charset="0"/>
                                </a:rPr>
                                <m:t>2</m:t>
                              </m:r>
                            </m:sub>
                          </m:sSub>
                        </m:den>
                      </m:f>
                      <m:nary>
                        <m:naryPr>
                          <m:chr m:val="∑"/>
                          <m:supHide m:val="on"/>
                          <m:ctrlPr>
                            <a:rPr lang="en-US" altLang="zh-CN" sz="2000" i="1">
                              <a:latin typeface="Cambria Math" panose="02040503050406030204" pitchFamily="18" charset="0"/>
                              <a:ea typeface="Microsoft YaHei" charset="0"/>
                            </a:rPr>
                          </m:ctrlPr>
                        </m:naryPr>
                        <m:sub>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𝑥</m:t>
                              </m:r>
                            </m:e>
                            <m:sub>
                              <m:r>
                                <a:rPr lang="en-US" altLang="zh-CN" sz="2000" i="1">
                                  <a:latin typeface="Cambria Math" panose="02040503050406030204" pitchFamily="18" charset="0"/>
                                  <a:ea typeface="Microsoft YaHei" charset="0"/>
                                </a:rPr>
                                <m:t>𝑖</m:t>
                              </m:r>
                            </m:sub>
                          </m:sSub>
                          <m:r>
                            <m:rPr>
                              <m:brk m:alnAt="7"/>
                            </m:rP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𝑅</m:t>
                              </m:r>
                            </m:e>
                            <m:sub>
                              <m:r>
                                <a:rPr lang="en-US" altLang="zh-CN" sz="2000" b="0" i="1" smtClean="0">
                                  <a:latin typeface="Cambria Math" panose="02040503050406030204" pitchFamily="18" charset="0"/>
                                  <a:ea typeface="Cambria Math" panose="02040503050406030204" pitchFamily="18" charset="0"/>
                                </a:rPr>
                                <m:t>2</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e>
                      </m:nary>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779494" y="3198110"/>
                <a:ext cx="3593868" cy="786882"/>
              </a:xfrm>
              <a:prstGeom prst="rect">
                <a:avLst/>
              </a:prstGeom>
              <a:blipFill>
                <a:blip r:embed="rId4"/>
                <a:stretch>
                  <a:fillRect t="-141935" r="-5634" b="-19032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331570" y="4818894"/>
                <a:ext cx="3595536"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1.5,2.5,3.5,4.5,5.5,6.5,7.5,8.5,9.5</m:t>
                      </m:r>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31570" y="4818894"/>
                <a:ext cx="3595536" cy="307777"/>
              </a:xfrm>
              <a:prstGeom prst="rect">
                <a:avLst/>
              </a:prstGeom>
              <a:blipFill>
                <a:blip r:embed="rId5"/>
                <a:stretch>
                  <a:fillRect r="-351" b="-1200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4781828" y="4381552"/>
                <a:ext cx="5459508" cy="786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𝑚</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𝑠</m:t>
                          </m:r>
                        </m:e>
                      </m:d>
                      <m:r>
                        <a:rPr lang="en-US" altLang="zh-CN" sz="2000" b="0" i="1" smtClean="0">
                          <a:latin typeface="Cambria Math" panose="02040503050406030204" pitchFamily="18" charset="0"/>
                          <a:ea typeface="Microsoft YaHei" charset="0"/>
                        </a:rPr>
                        <m:t>=</m:t>
                      </m:r>
                      <m:func>
                        <m:funcPr>
                          <m:ctrlPr>
                            <a:rPr lang="en-US" altLang="zh-CN" sz="2000" b="0" i="1" smtClean="0">
                              <a:latin typeface="Cambria Math" panose="02040503050406030204" pitchFamily="18" charset="0"/>
                              <a:ea typeface="Microsoft YaHei" charset="0"/>
                            </a:rPr>
                          </m:ctrlPr>
                        </m:funcPr>
                        <m:fName>
                          <m:limLow>
                            <m:limLowPr>
                              <m:ctrlPr>
                                <a:rPr lang="en-US" altLang="zh-CN" sz="2000" b="0" i="1" smtClean="0">
                                  <a:latin typeface="Cambria Math" panose="02040503050406030204" pitchFamily="18" charset="0"/>
                                  <a:ea typeface="Microsoft YaHei" charset="0"/>
                                </a:rPr>
                              </m:ctrlPr>
                            </m:limLowPr>
                            <m:e>
                              <m:r>
                                <m:rPr>
                                  <m:sty m:val="p"/>
                                </m:rPr>
                                <a:rPr lang="en-US" altLang="zh-CN" sz="2000" b="0" i="0" smtClean="0">
                                  <a:latin typeface="Cambria Math" panose="02040503050406030204" pitchFamily="18" charset="0"/>
                                  <a:ea typeface="Microsoft YaHei" charset="0"/>
                                </a:rPr>
                                <m:t>min</m:t>
                              </m:r>
                            </m:e>
                            <m:lim>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lim>
                          </m:limLow>
                        </m:fName>
                        <m:e>
                          <m:nary>
                            <m:naryPr>
                              <m:chr m:val="∑"/>
                              <m:supHide m:val="on"/>
                              <m:ctrlPr>
                                <a:rPr lang="en-US" altLang="zh-CN" sz="2000" b="0" i="1" smtClean="0">
                                  <a:latin typeface="Cambria Math" panose="02040503050406030204" pitchFamily="18" charset="0"/>
                                  <a:ea typeface="Microsoft YaHei" charset="0"/>
                                </a:rPr>
                              </m:ctrlPr>
                            </m:naryPr>
                            <m:sub>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𝑥</m:t>
                                  </m:r>
                                </m:e>
                                <m:sub>
                                  <m:r>
                                    <a:rPr lang="en-US" altLang="zh-CN" sz="2000" i="1">
                                      <a:latin typeface="Cambria Math" panose="02040503050406030204" pitchFamily="18" charset="0"/>
                                      <a:ea typeface="Microsoft YaHei" charset="0"/>
                                    </a:rPr>
                                    <m:t>𝑖</m:t>
                                  </m:r>
                                </m:sub>
                              </m:sSub>
                              <m:r>
                                <m:rPr>
                                  <m:brk m:alnAt="7"/>
                                </m:rP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𝑅</m:t>
                                  </m:r>
                                </m:e>
                                <m:sub>
                                  <m:r>
                                    <a:rPr lang="en-US" altLang="zh-CN" sz="2000" i="1">
                                      <a:latin typeface="Cambria Math" panose="02040503050406030204" pitchFamily="18" charset="0"/>
                                      <a:ea typeface="Cambria Math" panose="02040503050406030204" pitchFamily="18" charset="0"/>
                                    </a:rPr>
                                    <m:t>1</m:t>
                                  </m:r>
                                </m:sub>
                              </m:sSub>
                            </m:sub>
                            <m:sup/>
                            <m:e>
                              <m:sSup>
                                <m:sSupPr>
                                  <m:ctrlPr>
                                    <a:rPr lang="en-US" altLang="zh-CN" sz="2000" i="1">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i="1">
                                          <a:latin typeface="Cambria Math" panose="02040503050406030204" pitchFamily="18" charset="0"/>
                                          <a:ea typeface="Microsoft YaHei" charset="0"/>
                                        </a:rPr>
                                        <m:t>1</m:t>
                                      </m:r>
                                    </m:sub>
                                  </m:sSub>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e>
                          </m:nary>
                          <m:r>
                            <a:rPr lang="en-US" altLang="zh-CN" sz="2000" b="0" i="1" smtClean="0">
                              <a:latin typeface="Cambria Math" panose="02040503050406030204" pitchFamily="18" charset="0"/>
                              <a:ea typeface="Microsoft YaHei" charset="0"/>
                            </a:rPr>
                            <m:t>+</m:t>
                          </m:r>
                          <m:func>
                            <m:funcPr>
                              <m:ctrlPr>
                                <a:rPr lang="en-US" altLang="zh-CN" sz="2000" i="1">
                                  <a:latin typeface="Cambria Math" panose="02040503050406030204" pitchFamily="18" charset="0"/>
                                  <a:ea typeface="Microsoft YaHei" charset="0"/>
                                </a:rPr>
                              </m:ctrlPr>
                            </m:funcPr>
                            <m:fName>
                              <m:limLow>
                                <m:limLowPr>
                                  <m:ctrlPr>
                                    <a:rPr lang="en-US" altLang="zh-CN" sz="2000" i="1">
                                      <a:latin typeface="Cambria Math" panose="02040503050406030204" pitchFamily="18" charset="0"/>
                                      <a:ea typeface="Microsoft YaHei" charset="0"/>
                                    </a:rPr>
                                  </m:ctrlPr>
                                </m:limLowPr>
                                <m:e>
                                  <m:r>
                                    <m:rPr>
                                      <m:sty m:val="p"/>
                                    </m:rPr>
                                    <a:rPr lang="en-US" altLang="zh-CN" sz="2000">
                                      <a:latin typeface="Cambria Math" panose="02040503050406030204" pitchFamily="18" charset="0"/>
                                      <a:ea typeface="Microsoft YaHei" charset="0"/>
                                    </a:rPr>
                                    <m:t>min</m:t>
                                  </m:r>
                                </m:e>
                                <m:lim>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lim>
                              </m:limLow>
                            </m:fName>
                            <m:e>
                              <m:nary>
                                <m:naryPr>
                                  <m:chr m:val="∑"/>
                                  <m:supHide m:val="on"/>
                                  <m:ctrlPr>
                                    <a:rPr lang="en-US" altLang="zh-CN" sz="2000" i="1">
                                      <a:latin typeface="Cambria Math" panose="02040503050406030204" pitchFamily="18" charset="0"/>
                                      <a:ea typeface="Microsoft YaHei" charset="0"/>
                                    </a:rPr>
                                  </m:ctrlPr>
                                </m:naryPr>
                                <m:sub>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𝑥</m:t>
                                      </m:r>
                                    </m:e>
                                    <m:sub>
                                      <m:r>
                                        <a:rPr lang="en-US" altLang="zh-CN" sz="2000" i="1">
                                          <a:latin typeface="Cambria Math" panose="02040503050406030204" pitchFamily="18" charset="0"/>
                                          <a:ea typeface="Microsoft YaHei" charset="0"/>
                                        </a:rPr>
                                        <m:t>𝑖</m:t>
                                      </m:r>
                                    </m:sub>
                                  </m:sSub>
                                  <m:r>
                                    <m:rPr>
                                      <m:brk m:alnAt="7"/>
                                    </m:rP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𝑅</m:t>
                                      </m:r>
                                    </m:e>
                                    <m:sub>
                                      <m:r>
                                        <a:rPr lang="en-US" altLang="zh-CN" sz="2000" b="0" i="1" smtClean="0">
                                          <a:latin typeface="Cambria Math" panose="02040503050406030204" pitchFamily="18" charset="0"/>
                                          <a:ea typeface="Cambria Math" panose="02040503050406030204" pitchFamily="18" charset="0"/>
                                        </a:rPr>
                                        <m:t>2</m:t>
                                      </m:r>
                                    </m:sub>
                                  </m:sSub>
                                </m:sub>
                                <m:sup/>
                                <m:e>
                                  <m:sSup>
                                    <m:sSupPr>
                                      <m:ctrlPr>
                                        <a:rPr lang="en-US" altLang="zh-CN" sz="2000" i="1">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𝑦</m:t>
                                          </m:r>
                                        </m:e>
                                        <m:sub>
                                          <m:r>
                                            <a:rPr lang="en-US" altLang="zh-CN" sz="2000" i="1">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e>
                              </m:nary>
                            </m:e>
                          </m:func>
                        </m:e>
                      </m:func>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4781828" y="4381552"/>
                <a:ext cx="5459508" cy="786882"/>
              </a:xfrm>
              <a:prstGeom prst="rect">
                <a:avLst/>
              </a:prstGeom>
              <a:blipFill>
                <a:blip r:embed="rId6"/>
                <a:stretch>
                  <a:fillRect t="-139683" b="-185714"/>
                </a:stretch>
              </a:blipFill>
            </p:spPr>
            <p:txBody>
              <a:bodyPr/>
              <a:lstStyle/>
              <a:p>
                <a:r>
                  <a:rPr lang="ko-Kore-KR" altLang="en-US">
                    <a:noFill/>
                  </a:rPr>
                  <a:t> </a:t>
                </a:r>
              </a:p>
            </p:txBody>
          </p:sp>
        </mc:Fallback>
      </mc:AlternateContent>
      <p:sp>
        <p:nvSpPr>
          <p:cNvPr id="11" name="下箭头 10"/>
          <p:cNvSpPr/>
          <p:nvPr/>
        </p:nvSpPr>
        <p:spPr>
          <a:xfrm>
            <a:off x="5157137" y="4114816"/>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12" name="文本框 11"/>
              <p:cNvSpPr txBox="1"/>
              <p:nvPr/>
            </p:nvSpPr>
            <p:spPr>
              <a:xfrm>
                <a:off x="2033930" y="5392685"/>
                <a:ext cx="622676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𝑠</m:t>
                      </m:r>
                      <m:r>
                        <a:rPr lang="en-US" altLang="zh-CN" sz="2000" b="0" i="1" smtClean="0">
                          <a:latin typeface="Cambria Math" panose="02040503050406030204" pitchFamily="18" charset="0"/>
                          <a:ea typeface="Microsoft YaHei" charset="0"/>
                        </a:rPr>
                        <m:t>=1.5</m:t>
                      </m:r>
                      <m:r>
                        <a:rPr lang="zh-CN" altLang="en-US"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d>
                        <m:dPr>
                          <m:begChr m:val="{"/>
                          <m:endChr m:val="}"/>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1</m:t>
                          </m:r>
                        </m:e>
                      </m:d>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2</m:t>
                          </m:r>
                        </m:sub>
                      </m:sSub>
                      <m:r>
                        <a:rPr lang="en-US" altLang="zh-CN" sz="2000" b="0" i="1" smtClean="0">
                          <a:latin typeface="Cambria Math" panose="02040503050406030204" pitchFamily="18" charset="0"/>
                          <a:ea typeface="Microsoft YaHei" charset="0"/>
                        </a:rPr>
                        <m:t>=</m:t>
                      </m:r>
                      <m:d>
                        <m:dPr>
                          <m:begChr m:val="{"/>
                          <m:endChr m:val="}"/>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2,3,…,10</m:t>
                          </m:r>
                        </m:e>
                      </m:d>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=5.56,</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b="0" i="1" smtClean="0">
                          <a:latin typeface="Cambria Math" panose="02040503050406030204" pitchFamily="18" charset="0"/>
                          <a:ea typeface="Microsoft YaHei" charset="0"/>
                        </a:rPr>
                        <m:t>=7.5</m:t>
                      </m:r>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2033930" y="5392685"/>
                <a:ext cx="6226768" cy="307777"/>
              </a:xfrm>
              <a:prstGeom prst="rect">
                <a:avLst/>
              </a:prstGeom>
              <a:blipFill>
                <a:blip r:embed="rId7"/>
                <a:stretch>
                  <a:fillRect b="-20000"/>
                </a:stretch>
              </a:blipFill>
            </p:spPr>
            <p:txBody>
              <a:bodyPr/>
              <a:lstStyle/>
              <a:p>
                <a:r>
                  <a:rPr lang="ko-Kore-KR" altLang="en-US">
                    <a:noFill/>
                  </a:rPr>
                  <a:t> </a:t>
                </a:r>
              </a:p>
            </p:txBody>
          </p:sp>
        </mc:Fallback>
      </mc:AlternateContent>
      <p:graphicFrame>
        <p:nvGraphicFramePr>
          <p:cNvPr id="13" name="表格 12"/>
          <p:cNvGraphicFramePr>
            <a:graphicFrameLocks noGrp="1"/>
          </p:cNvGraphicFramePr>
          <p:nvPr>
            <p:extLst>
              <p:ext uri="{D42A27DB-BD31-4B8C-83A1-F6EECF244321}">
                <p14:modId xmlns:p14="http://schemas.microsoft.com/office/powerpoint/2010/main" val="196848560"/>
              </p:ext>
            </p:extLst>
          </p:nvPr>
        </p:nvGraphicFramePr>
        <p:xfrm>
          <a:off x="970065" y="5901266"/>
          <a:ext cx="8128000" cy="741680"/>
        </p:xfrm>
        <a:graphic>
          <a:graphicData uri="http://schemas.openxmlformats.org/drawingml/2006/table">
            <a:tbl>
              <a:tblPr firstRow="1" bandRow="1">
                <a:tableStyleId>{5940675A-B579-460E-94D1-54222C63F5DA}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gridCol w="812800">
                  <a:extLst>
                    <a:ext uri="{9D8B030D-6E8A-4147-A177-3AD203B41FA5}">
                      <a16:colId xmlns:a16="http://schemas.microsoft.com/office/drawing/2014/main" val="20008"/>
                    </a:ext>
                  </a:extLst>
                </a:gridCol>
                <a:gridCol w="812800">
                  <a:extLst>
                    <a:ext uri="{9D8B030D-6E8A-4147-A177-3AD203B41FA5}">
                      <a16:colId xmlns:a16="http://schemas.microsoft.com/office/drawing/2014/main" val="20009"/>
                    </a:ext>
                  </a:extLst>
                </a:gridCol>
              </a:tblGrid>
              <a:tr h="370840">
                <a:tc>
                  <a:txBody>
                    <a:bodyPr/>
                    <a:lstStyle/>
                    <a:p>
                      <a:r>
                        <a:rPr lang="en-US" altLang="zh-CN" dirty="0"/>
                        <a:t>s</a:t>
                      </a:r>
                      <a:endParaRPr lang="zh-CN" altLang="en-US" dirty="0">
                        <a:ea typeface="Microsoft YaHei" charset="0"/>
                      </a:endParaRPr>
                    </a:p>
                  </a:txBody>
                  <a:tcPr/>
                </a:tc>
                <a:tc>
                  <a:txBody>
                    <a:bodyPr/>
                    <a:lstStyle/>
                    <a:p>
                      <a:r>
                        <a:rPr lang="en-US" altLang="zh-CN" dirty="0"/>
                        <a:t>1.5</a:t>
                      </a:r>
                      <a:endParaRPr lang="zh-CN" altLang="en-US" dirty="0">
                        <a:ea typeface="Microsoft YaHei" charset="0"/>
                      </a:endParaRPr>
                    </a:p>
                  </a:txBody>
                  <a:tcPr/>
                </a:tc>
                <a:tc>
                  <a:txBody>
                    <a:bodyPr/>
                    <a:lstStyle/>
                    <a:p>
                      <a:r>
                        <a:rPr lang="en-US" altLang="zh-CN" dirty="0"/>
                        <a:t>2.5</a:t>
                      </a:r>
                      <a:endParaRPr lang="zh-CN" altLang="en-US" dirty="0">
                        <a:ea typeface="Microsoft YaHei" charset="0"/>
                      </a:endParaRPr>
                    </a:p>
                  </a:txBody>
                  <a:tcPr/>
                </a:tc>
                <a:tc>
                  <a:txBody>
                    <a:bodyPr/>
                    <a:lstStyle/>
                    <a:p>
                      <a:r>
                        <a:rPr lang="en-US" altLang="zh-CN" dirty="0"/>
                        <a:t>3.5</a:t>
                      </a:r>
                      <a:endParaRPr lang="zh-CN" altLang="en-US" dirty="0">
                        <a:ea typeface="Microsoft YaHei" charset="0"/>
                      </a:endParaRPr>
                    </a:p>
                  </a:txBody>
                  <a:tcPr/>
                </a:tc>
                <a:tc>
                  <a:txBody>
                    <a:bodyPr/>
                    <a:lstStyle/>
                    <a:p>
                      <a:r>
                        <a:rPr lang="en-US" altLang="zh-CN" dirty="0"/>
                        <a:t>4.5</a:t>
                      </a:r>
                      <a:endParaRPr lang="zh-CN" altLang="en-US" dirty="0">
                        <a:ea typeface="Microsoft YaHei" charset="0"/>
                      </a:endParaRPr>
                    </a:p>
                  </a:txBody>
                  <a:tcPr/>
                </a:tc>
                <a:tc>
                  <a:txBody>
                    <a:bodyPr/>
                    <a:lstStyle/>
                    <a:p>
                      <a:r>
                        <a:rPr lang="en-US" altLang="zh-CN" dirty="0"/>
                        <a:t>5.5</a:t>
                      </a:r>
                      <a:endParaRPr lang="zh-CN" altLang="en-US" dirty="0">
                        <a:ea typeface="Microsoft YaHei" charset="0"/>
                      </a:endParaRPr>
                    </a:p>
                  </a:txBody>
                  <a:tcPr/>
                </a:tc>
                <a:tc>
                  <a:txBody>
                    <a:bodyPr/>
                    <a:lstStyle/>
                    <a:p>
                      <a:r>
                        <a:rPr lang="en-US" altLang="zh-CN" dirty="0"/>
                        <a:t>6.5</a:t>
                      </a:r>
                      <a:endParaRPr lang="zh-CN" altLang="en-US" dirty="0">
                        <a:ea typeface="Microsoft YaHei" charset="0"/>
                      </a:endParaRPr>
                    </a:p>
                  </a:txBody>
                  <a:tcPr/>
                </a:tc>
                <a:tc>
                  <a:txBody>
                    <a:bodyPr/>
                    <a:lstStyle/>
                    <a:p>
                      <a:r>
                        <a:rPr lang="en-US" altLang="zh-CN" dirty="0"/>
                        <a:t>7.5</a:t>
                      </a:r>
                      <a:endParaRPr lang="zh-CN" altLang="en-US" dirty="0">
                        <a:ea typeface="Microsoft YaHei" charset="0"/>
                      </a:endParaRPr>
                    </a:p>
                  </a:txBody>
                  <a:tcPr/>
                </a:tc>
                <a:tc>
                  <a:txBody>
                    <a:bodyPr/>
                    <a:lstStyle/>
                    <a:p>
                      <a:r>
                        <a:rPr lang="en-US" altLang="zh-CN" dirty="0"/>
                        <a:t>8.5</a:t>
                      </a:r>
                      <a:endParaRPr lang="zh-CN" altLang="en-US" dirty="0">
                        <a:ea typeface="Microsoft YaHei" charset="0"/>
                      </a:endParaRPr>
                    </a:p>
                  </a:txBody>
                  <a:tcPr/>
                </a:tc>
                <a:tc>
                  <a:txBody>
                    <a:bodyPr/>
                    <a:lstStyle/>
                    <a:p>
                      <a:r>
                        <a:rPr lang="en-US" altLang="zh-CN" dirty="0"/>
                        <a:t>9.5</a:t>
                      </a:r>
                      <a:endParaRPr lang="zh-CN" altLang="en-US" dirty="0">
                        <a:ea typeface="Microsoft YaHei" charset="0"/>
                      </a:endParaRPr>
                    </a:p>
                  </a:txBody>
                  <a:tcPr/>
                </a:tc>
                <a:extLst>
                  <a:ext uri="{0D108BD9-81ED-4DB2-BD59-A6C34878D82A}">
                    <a16:rowId xmlns:a16="http://schemas.microsoft.com/office/drawing/2014/main" val="10000"/>
                  </a:ext>
                </a:extLst>
              </a:tr>
              <a:tr h="370840">
                <a:tc>
                  <a:txBody>
                    <a:bodyPr/>
                    <a:lstStyle/>
                    <a:p>
                      <a:r>
                        <a:rPr lang="en-US" altLang="zh-CN" dirty="0"/>
                        <a:t>m(s)</a:t>
                      </a:r>
                      <a:endParaRPr lang="zh-CN" altLang="en-US" dirty="0">
                        <a:ea typeface="Microsoft YaHei" charset="0"/>
                      </a:endParaRPr>
                    </a:p>
                  </a:txBody>
                  <a:tcPr/>
                </a:tc>
                <a:tc>
                  <a:txBody>
                    <a:bodyPr/>
                    <a:lstStyle/>
                    <a:p>
                      <a:r>
                        <a:rPr lang="en-US" altLang="zh-CN" dirty="0"/>
                        <a:t>15.72</a:t>
                      </a:r>
                      <a:endParaRPr lang="zh-CN" altLang="en-US" dirty="0">
                        <a:ea typeface="Microsoft YaHei" charset="0"/>
                      </a:endParaRPr>
                    </a:p>
                  </a:txBody>
                  <a:tcPr/>
                </a:tc>
                <a:tc>
                  <a:txBody>
                    <a:bodyPr/>
                    <a:lstStyle/>
                    <a:p>
                      <a:r>
                        <a:rPr lang="en-US" altLang="zh-CN" dirty="0"/>
                        <a:t>12.07</a:t>
                      </a:r>
                      <a:endParaRPr lang="zh-CN" altLang="en-US" dirty="0">
                        <a:ea typeface="Microsoft YaHei" charset="0"/>
                      </a:endParaRPr>
                    </a:p>
                  </a:txBody>
                  <a:tcPr/>
                </a:tc>
                <a:tc>
                  <a:txBody>
                    <a:bodyPr/>
                    <a:lstStyle/>
                    <a:p>
                      <a:r>
                        <a:rPr lang="en-US" altLang="zh-CN" dirty="0"/>
                        <a:t>8.36</a:t>
                      </a:r>
                      <a:endParaRPr lang="zh-CN" altLang="en-US" dirty="0">
                        <a:ea typeface="Microsoft YaHei" charset="0"/>
                      </a:endParaRPr>
                    </a:p>
                  </a:txBody>
                  <a:tcPr/>
                </a:tc>
                <a:tc>
                  <a:txBody>
                    <a:bodyPr/>
                    <a:lstStyle/>
                    <a:p>
                      <a:r>
                        <a:rPr lang="en-US" altLang="zh-CN" dirty="0"/>
                        <a:t>5.78</a:t>
                      </a:r>
                      <a:endParaRPr lang="zh-CN" altLang="en-US" dirty="0">
                        <a:ea typeface="Microsoft YaHei" charset="0"/>
                      </a:endParaRPr>
                    </a:p>
                  </a:txBody>
                  <a:tcPr/>
                </a:tc>
                <a:tc>
                  <a:txBody>
                    <a:bodyPr/>
                    <a:lstStyle/>
                    <a:p>
                      <a:r>
                        <a:rPr lang="en-US" altLang="zh-CN" dirty="0"/>
                        <a:t>3.91</a:t>
                      </a:r>
                      <a:endParaRPr lang="zh-CN" altLang="en-US" dirty="0">
                        <a:ea typeface="Microsoft YaHei" charset="0"/>
                      </a:endParaRPr>
                    </a:p>
                  </a:txBody>
                  <a:tcPr/>
                </a:tc>
                <a:tc>
                  <a:txBody>
                    <a:bodyPr/>
                    <a:lstStyle/>
                    <a:p>
                      <a:r>
                        <a:rPr lang="en-US" altLang="zh-CN" dirty="0"/>
                        <a:t>1.93</a:t>
                      </a:r>
                      <a:endParaRPr lang="zh-CN" altLang="en-US" dirty="0">
                        <a:ea typeface="Microsoft YaHei" charset="0"/>
                      </a:endParaRPr>
                    </a:p>
                  </a:txBody>
                  <a:tcPr/>
                </a:tc>
                <a:tc>
                  <a:txBody>
                    <a:bodyPr/>
                    <a:lstStyle/>
                    <a:p>
                      <a:r>
                        <a:rPr lang="en-US" altLang="zh-CN" dirty="0"/>
                        <a:t>8.01</a:t>
                      </a:r>
                      <a:endParaRPr lang="zh-CN" altLang="en-US" dirty="0">
                        <a:ea typeface="Microsoft YaHei" charset="0"/>
                      </a:endParaRPr>
                    </a:p>
                  </a:txBody>
                  <a:tcPr/>
                </a:tc>
                <a:tc>
                  <a:txBody>
                    <a:bodyPr/>
                    <a:lstStyle/>
                    <a:p>
                      <a:r>
                        <a:rPr lang="en-US" altLang="zh-CN" dirty="0"/>
                        <a:t>11.73</a:t>
                      </a:r>
                      <a:endParaRPr lang="zh-CN" altLang="en-US" dirty="0">
                        <a:ea typeface="Microsoft YaHei" charset="0"/>
                      </a:endParaRPr>
                    </a:p>
                  </a:txBody>
                  <a:tcPr/>
                </a:tc>
                <a:tc>
                  <a:txBody>
                    <a:bodyPr/>
                    <a:lstStyle/>
                    <a:p>
                      <a:r>
                        <a:rPr lang="en-US" altLang="zh-CN" dirty="0"/>
                        <a:t>15.74</a:t>
                      </a:r>
                      <a:endParaRPr lang="zh-CN" altLang="en-US" dirty="0">
                        <a:ea typeface="Microsoft YaHei" charset="0"/>
                      </a:endParaRPr>
                    </a:p>
                  </a:txBody>
                  <a:tcPr/>
                </a:tc>
                <a:extLst>
                  <a:ext uri="{0D108BD9-81ED-4DB2-BD59-A6C34878D82A}">
                    <a16:rowId xmlns:a16="http://schemas.microsoft.com/office/drawing/2014/main" val="10001"/>
                  </a:ext>
                </a:extLst>
              </a:tr>
            </a:tbl>
          </a:graphicData>
        </a:graphic>
      </p:graphicFrame>
      <p:sp>
        <p:nvSpPr>
          <p:cNvPr id="14" name="下箭头 13"/>
          <p:cNvSpPr/>
          <p:nvPr/>
        </p:nvSpPr>
        <p:spPr>
          <a:xfrm>
            <a:off x="5162571" y="4961441"/>
            <a:ext cx="165463" cy="216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p:sp>
        <p:nvSpPr>
          <p:cNvPr id="15" name="圆角矩形 14"/>
          <p:cNvSpPr/>
          <p:nvPr/>
        </p:nvSpPr>
        <p:spPr>
          <a:xfrm>
            <a:off x="5831284" y="5833975"/>
            <a:ext cx="600891" cy="88827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p:sp>
        <p:nvSpPr>
          <p:cNvPr id="2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latin typeface="KaiTi" panose="02010609060101010101" pitchFamily="49" charset="-122"/>
              <a:ea typeface="KaiTi" panose="02010609060101010101" pitchFamily="49" charset="-122"/>
            </a:endParaRPr>
          </a:p>
        </p:txBody>
      </p:sp>
      <p:graphicFrame>
        <p:nvGraphicFramePr>
          <p:cNvPr id="16" name="表格 15">
            <a:extLst>
              <a:ext uri="{FF2B5EF4-FFF2-40B4-BE49-F238E27FC236}">
                <a16:creationId xmlns:a16="http://schemas.microsoft.com/office/drawing/2014/main" id="{6E6EED19-8413-426F-878C-B65CB70ABA3D}"/>
              </a:ext>
            </a:extLst>
          </p:cNvPr>
          <p:cNvGraphicFramePr>
            <a:graphicFrameLocks noGrp="1"/>
          </p:cNvGraphicFramePr>
          <p:nvPr>
            <p:extLst>
              <p:ext uri="{D42A27DB-BD31-4B8C-83A1-F6EECF244321}">
                <p14:modId xmlns:p14="http://schemas.microsoft.com/office/powerpoint/2010/main" val="2185766028"/>
              </p:ext>
            </p:extLst>
          </p:nvPr>
        </p:nvGraphicFramePr>
        <p:xfrm>
          <a:off x="722019" y="1464472"/>
          <a:ext cx="2350365" cy="3227070"/>
        </p:xfrm>
        <a:graphic>
          <a:graphicData uri="http://schemas.openxmlformats.org/drawingml/2006/table">
            <a:tbl>
              <a:tblPr firstRow="1" firstCol="1" bandRow="1">
                <a:tableStyleId>{5C22544A-7EE6-4342-B048-85BDC9FD1C3A}</a:tableStyleId>
              </a:tblPr>
              <a:tblGrid>
                <a:gridCol w="1174787">
                  <a:extLst>
                    <a:ext uri="{9D8B030D-6E8A-4147-A177-3AD203B41FA5}">
                      <a16:colId xmlns:a16="http://schemas.microsoft.com/office/drawing/2014/main" val="3761725486"/>
                    </a:ext>
                  </a:extLst>
                </a:gridCol>
                <a:gridCol w="1175578">
                  <a:extLst>
                    <a:ext uri="{9D8B030D-6E8A-4147-A177-3AD203B41FA5}">
                      <a16:colId xmlns:a16="http://schemas.microsoft.com/office/drawing/2014/main" val="2291884616"/>
                    </a:ext>
                  </a:extLst>
                </a:gridCol>
              </a:tblGrid>
              <a:tr h="255231">
                <a:tc>
                  <a:txBody>
                    <a:bodyPr/>
                    <a:lstStyle/>
                    <a:p>
                      <a:pPr algn="ctr"/>
                      <a:r>
                        <a:rPr lang="en-US" sz="1800" kern="0" dirty="0">
                          <a:effectLst/>
                          <a:latin typeface="KaiTi" panose="02010609060101010101" pitchFamily="49" charset="-122"/>
                          <a:ea typeface="KaiTi" panose="02010609060101010101" pitchFamily="49" charset="-122"/>
                        </a:rPr>
                        <a:t>x</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y</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44232833"/>
                  </a:ext>
                </a:extLst>
              </a:tr>
              <a:tr h="255231">
                <a:tc>
                  <a:txBody>
                    <a:bodyPr/>
                    <a:lstStyle/>
                    <a:p>
                      <a:pPr algn="ctr"/>
                      <a:r>
                        <a:rPr lang="en-US" sz="1800" kern="0">
                          <a:effectLst/>
                          <a:latin typeface="KaiTi" panose="02010609060101010101" pitchFamily="49" charset="-122"/>
                          <a:ea typeface="KaiTi" panose="02010609060101010101" pitchFamily="49" charset="-122"/>
                        </a:rPr>
                        <a:t>1</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5.56</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70480225"/>
                  </a:ext>
                </a:extLst>
              </a:tr>
              <a:tr h="255231">
                <a:tc>
                  <a:txBody>
                    <a:bodyPr/>
                    <a:lstStyle/>
                    <a:p>
                      <a:pPr algn="ctr"/>
                      <a:r>
                        <a:rPr lang="en-US" sz="1800" kern="0">
                          <a:effectLst/>
                          <a:latin typeface="KaiTi" panose="02010609060101010101" pitchFamily="49" charset="-122"/>
                          <a:ea typeface="KaiTi" panose="02010609060101010101" pitchFamily="49" charset="-122"/>
                        </a:rPr>
                        <a:t>2</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5.7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13396346"/>
                  </a:ext>
                </a:extLst>
              </a:tr>
              <a:tr h="255231">
                <a:tc>
                  <a:txBody>
                    <a:bodyPr/>
                    <a:lstStyle/>
                    <a:p>
                      <a:pPr algn="ctr"/>
                      <a:r>
                        <a:rPr lang="en-US" sz="1800" kern="0">
                          <a:effectLst/>
                          <a:latin typeface="KaiTi" panose="02010609060101010101" pitchFamily="49" charset="-122"/>
                          <a:ea typeface="KaiTi" panose="02010609060101010101" pitchFamily="49" charset="-122"/>
                        </a:rPr>
                        <a:t>3</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5.91</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10422272"/>
                  </a:ext>
                </a:extLst>
              </a:tr>
              <a:tr h="255231">
                <a:tc>
                  <a:txBody>
                    <a:bodyPr/>
                    <a:lstStyle/>
                    <a:p>
                      <a:pPr algn="ctr"/>
                      <a:r>
                        <a:rPr lang="en-US" sz="1800" kern="0">
                          <a:effectLst/>
                          <a:latin typeface="KaiTi" panose="02010609060101010101" pitchFamily="49" charset="-122"/>
                          <a:ea typeface="KaiTi" panose="02010609060101010101" pitchFamily="49" charset="-122"/>
                        </a:rPr>
                        <a:t>4</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6.4</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2873394"/>
                  </a:ext>
                </a:extLst>
              </a:tr>
              <a:tr h="255231">
                <a:tc>
                  <a:txBody>
                    <a:bodyPr/>
                    <a:lstStyle/>
                    <a:p>
                      <a:pPr algn="ctr"/>
                      <a:r>
                        <a:rPr lang="en-US" sz="1800" kern="0">
                          <a:effectLst/>
                          <a:latin typeface="KaiTi" panose="02010609060101010101" pitchFamily="49" charset="-122"/>
                          <a:ea typeface="KaiTi" panose="02010609060101010101" pitchFamily="49" charset="-122"/>
                        </a:rPr>
                        <a:t>5</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6.8</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338625861"/>
                  </a:ext>
                </a:extLst>
              </a:tr>
              <a:tr h="255231">
                <a:tc>
                  <a:txBody>
                    <a:bodyPr/>
                    <a:lstStyle/>
                    <a:p>
                      <a:pPr algn="ctr"/>
                      <a:r>
                        <a:rPr lang="en-US" sz="1800" kern="0">
                          <a:effectLst/>
                          <a:latin typeface="KaiTi" panose="02010609060101010101" pitchFamily="49" charset="-122"/>
                          <a:ea typeface="KaiTi" panose="02010609060101010101" pitchFamily="49" charset="-122"/>
                        </a:rPr>
                        <a:t>6</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7.05</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39204452"/>
                  </a:ext>
                </a:extLst>
              </a:tr>
              <a:tr h="255231">
                <a:tc>
                  <a:txBody>
                    <a:bodyPr/>
                    <a:lstStyle/>
                    <a:p>
                      <a:pPr algn="ctr"/>
                      <a:r>
                        <a:rPr lang="en-US" sz="1800" kern="0">
                          <a:effectLst/>
                          <a:latin typeface="KaiTi" panose="02010609060101010101" pitchFamily="49" charset="-122"/>
                          <a:ea typeface="KaiTi" panose="02010609060101010101" pitchFamily="49" charset="-122"/>
                        </a:rPr>
                        <a:t>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8.9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83689442"/>
                  </a:ext>
                </a:extLst>
              </a:tr>
              <a:tr h="255231">
                <a:tc>
                  <a:txBody>
                    <a:bodyPr/>
                    <a:lstStyle/>
                    <a:p>
                      <a:pPr algn="ctr"/>
                      <a:r>
                        <a:rPr lang="en-US" sz="1800" kern="0">
                          <a:effectLst/>
                          <a:latin typeface="KaiTi" panose="02010609060101010101" pitchFamily="49" charset="-122"/>
                          <a:ea typeface="KaiTi" panose="02010609060101010101" pitchFamily="49" charset="-122"/>
                        </a:rPr>
                        <a:t>8</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8.7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712791023"/>
                  </a:ext>
                </a:extLst>
              </a:tr>
              <a:tr h="255231">
                <a:tc>
                  <a:txBody>
                    <a:bodyPr/>
                    <a:lstStyle/>
                    <a:p>
                      <a:pPr algn="ctr"/>
                      <a:r>
                        <a:rPr lang="en-US" sz="1800" kern="0">
                          <a:effectLst/>
                          <a:latin typeface="KaiTi" panose="02010609060101010101" pitchFamily="49" charset="-122"/>
                          <a:ea typeface="KaiTi" panose="02010609060101010101" pitchFamily="49" charset="-122"/>
                        </a:rPr>
                        <a:t>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90619470"/>
                  </a:ext>
                </a:extLst>
              </a:tr>
              <a:tr h="255231">
                <a:tc>
                  <a:txBody>
                    <a:bodyPr/>
                    <a:lstStyle/>
                    <a:p>
                      <a:pPr algn="ctr"/>
                      <a:r>
                        <a:rPr lang="en-US" sz="1800" kern="0">
                          <a:effectLst/>
                          <a:latin typeface="KaiTi" panose="02010609060101010101" pitchFamily="49" charset="-122"/>
                          <a:ea typeface="KaiTi" panose="02010609060101010101" pitchFamily="49" charset="-122"/>
                        </a:rPr>
                        <a:t>10</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dirty="0">
                          <a:effectLst/>
                          <a:latin typeface="KaiTi" panose="02010609060101010101" pitchFamily="49" charset="-122"/>
                          <a:ea typeface="KaiTi" panose="02010609060101010101" pitchFamily="49" charset="-122"/>
                        </a:rPr>
                        <a:t>9.05</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21034113"/>
                  </a:ext>
                </a:extLst>
              </a:tr>
            </a:tbl>
          </a:graphicData>
        </a:graphic>
      </p:graphicFrame>
      <p:sp>
        <p:nvSpPr>
          <p:cNvPr id="19" name="Rectangle 2">
            <a:extLst>
              <a:ext uri="{FF2B5EF4-FFF2-40B4-BE49-F238E27FC236}">
                <a16:creationId xmlns:a16="http://schemas.microsoft.com/office/drawing/2014/main" id="{6298863C-B431-48FF-8F12-0CD08E5CA695}"/>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565311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p:cTn id="45" dur="500" fill="hold"/>
                                        <p:tgtEl>
                                          <p:spTgt spid="11"/>
                                        </p:tgtEl>
                                        <p:attrNameLst>
                                          <p:attrName>ppt_w</p:attrName>
                                        </p:attrNameLst>
                                      </p:cBhvr>
                                      <p:tavLst>
                                        <p:tav tm="0">
                                          <p:val>
                                            <p:fltVal val="0"/>
                                          </p:val>
                                        </p:tav>
                                        <p:tav tm="100000">
                                          <p:val>
                                            <p:strVal val="#ppt_w"/>
                                          </p:val>
                                        </p:tav>
                                      </p:tavLst>
                                    </p:anim>
                                    <p:anim calcmode="lin" valueType="num">
                                      <p:cBhvr>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p:cTn id="50" dur="500" fill="hold"/>
                                        <p:tgtEl>
                                          <p:spTgt spid="10"/>
                                        </p:tgtEl>
                                        <p:attrNameLst>
                                          <p:attrName>ppt_w</p:attrName>
                                        </p:attrNameLst>
                                      </p:cBhvr>
                                      <p:tavLst>
                                        <p:tav tm="0">
                                          <p:val>
                                            <p:fltVal val="0"/>
                                          </p:val>
                                        </p:tav>
                                        <p:tav tm="100000">
                                          <p:val>
                                            <p:strVal val="#ppt_w"/>
                                          </p:val>
                                        </p:tav>
                                      </p:tavLst>
                                    </p:anim>
                                    <p:anim calcmode="lin" valueType="num">
                                      <p:cBhvr>
                                        <p:cTn id="51" dur="500" fill="hold"/>
                                        <p:tgtEl>
                                          <p:spTgt spid="10"/>
                                        </p:tgtEl>
                                        <p:attrNameLst>
                                          <p:attrName>ppt_h</p:attrName>
                                        </p:attrNameLst>
                                      </p:cBhvr>
                                      <p:tavLst>
                                        <p:tav tm="0">
                                          <p:val>
                                            <p:fltVal val="0"/>
                                          </p:val>
                                        </p:tav>
                                        <p:tav tm="100000">
                                          <p:val>
                                            <p:strVal val="#ppt_h"/>
                                          </p:val>
                                        </p:tav>
                                      </p:tavLst>
                                    </p:anim>
                                    <p:animEffect transition="in" filter="fade">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500" fill="hold"/>
                                        <p:tgtEl>
                                          <p:spTgt spid="14"/>
                                        </p:tgtEl>
                                        <p:attrNameLst>
                                          <p:attrName>ppt_w</p:attrName>
                                        </p:attrNameLst>
                                      </p:cBhvr>
                                      <p:tavLst>
                                        <p:tav tm="0">
                                          <p:val>
                                            <p:fltVal val="0"/>
                                          </p:val>
                                        </p:tav>
                                        <p:tav tm="100000">
                                          <p:val>
                                            <p:strVal val="#ppt_w"/>
                                          </p:val>
                                        </p:tav>
                                      </p:tavLst>
                                    </p:anim>
                                    <p:anim calcmode="lin" valueType="num">
                                      <p:cBhvr>
                                        <p:cTn id="58" dur="500" fill="hold"/>
                                        <p:tgtEl>
                                          <p:spTgt spid="14"/>
                                        </p:tgtEl>
                                        <p:attrNameLst>
                                          <p:attrName>ppt_h</p:attrName>
                                        </p:attrNameLst>
                                      </p:cBhvr>
                                      <p:tavLst>
                                        <p:tav tm="0">
                                          <p:val>
                                            <p:fltVal val="0"/>
                                          </p:val>
                                        </p:tav>
                                        <p:tav tm="100000">
                                          <p:val>
                                            <p:strVal val="#ppt_h"/>
                                          </p:val>
                                        </p:tav>
                                      </p:tavLst>
                                    </p:anim>
                                    <p:animEffect transition="in" filter="fade">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 calcmode="lin" valueType="num">
                                      <p:cBhvr>
                                        <p:cTn id="64" dur="500" fill="hold"/>
                                        <p:tgtEl>
                                          <p:spTgt spid="12"/>
                                        </p:tgtEl>
                                        <p:attrNameLst>
                                          <p:attrName>ppt_w</p:attrName>
                                        </p:attrNameLst>
                                      </p:cBhvr>
                                      <p:tavLst>
                                        <p:tav tm="0">
                                          <p:val>
                                            <p:fltVal val="0"/>
                                          </p:val>
                                        </p:tav>
                                        <p:tav tm="100000">
                                          <p:val>
                                            <p:strVal val="#ppt_w"/>
                                          </p:val>
                                        </p:tav>
                                      </p:tavLst>
                                    </p:anim>
                                    <p:anim calcmode="lin" valueType="num">
                                      <p:cBhvr>
                                        <p:cTn id="65" dur="500" fill="hold"/>
                                        <p:tgtEl>
                                          <p:spTgt spid="12"/>
                                        </p:tgtEl>
                                        <p:attrNameLst>
                                          <p:attrName>ppt_h</p:attrName>
                                        </p:attrNameLst>
                                      </p:cBhvr>
                                      <p:tavLst>
                                        <p:tav tm="0">
                                          <p:val>
                                            <p:fltVal val="0"/>
                                          </p:val>
                                        </p:tav>
                                        <p:tav tm="100000">
                                          <p:val>
                                            <p:strVal val="#ppt_h"/>
                                          </p:val>
                                        </p:tav>
                                      </p:tavLst>
                                    </p:anim>
                                    <p:animEffect transition="in" filter="fade">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randombar(horizontal)">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5"/>
                                        </p:tgtEl>
                                        <p:attrNameLst>
                                          <p:attrName>style.visibility</p:attrName>
                                        </p:attrNameLst>
                                      </p:cBhvr>
                                      <p:to>
                                        <p:strVal val="visible"/>
                                      </p:to>
                                    </p:set>
                                    <p:anim calcmode="lin" valueType="num">
                                      <p:cBhvr additive="base">
                                        <p:cTn id="76" dur="500" fill="hold"/>
                                        <p:tgtEl>
                                          <p:spTgt spid="15"/>
                                        </p:tgtEl>
                                        <p:attrNameLst>
                                          <p:attrName>ppt_x</p:attrName>
                                        </p:attrNameLst>
                                      </p:cBhvr>
                                      <p:tavLst>
                                        <p:tav tm="0">
                                          <p:val>
                                            <p:strVal val="#ppt_x"/>
                                          </p:val>
                                        </p:tav>
                                        <p:tav tm="100000">
                                          <p:val>
                                            <p:strVal val="#ppt_x"/>
                                          </p:val>
                                        </p:tav>
                                      </p:tavLst>
                                    </p:anim>
                                    <p:anim calcmode="lin" valueType="num">
                                      <p:cBhvr additive="base">
                                        <p:cTn id="7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3" grpId="0"/>
      <p:bldP spid="7" grpId="0" animBg="1"/>
      <p:bldP spid="8" grpId="0"/>
      <p:bldP spid="9" grpId="0"/>
      <p:bldP spid="10" grpId="0"/>
      <p:bldP spid="11" grpId="0" animBg="1"/>
      <p:bldP spid="12" grpId="0"/>
      <p:bldP spid="14" grpId="0" animBg="1"/>
      <p:bldP spid="1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文本框 11"/>
              <p:cNvSpPr txBox="1"/>
              <p:nvPr/>
            </p:nvSpPr>
            <p:spPr>
              <a:xfrm>
                <a:off x="3288928" y="1283773"/>
                <a:ext cx="62247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𝑠</m:t>
                      </m:r>
                      <m:r>
                        <a:rPr lang="en-US" altLang="zh-CN" b="0" i="1" smtClean="0">
                          <a:latin typeface="Cambria Math" panose="02040503050406030204" pitchFamily="18" charset="0"/>
                          <a:ea typeface="Microsoft YaHei" charset="0"/>
                        </a:rPr>
                        <m:t>=6.5</m:t>
                      </m:r>
                      <m:r>
                        <a:rPr lang="zh-CN" altLang="en-US"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1,2</m:t>
                          </m:r>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6</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7,8,…,10</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=6.24,</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=8.91</m:t>
                      </m:r>
                    </m:oMath>
                  </m:oMathPara>
                </a14:m>
                <a:endParaRPr lang="zh-CN" altLang="en-US" dirty="0">
                  <a:ea typeface="Microsoft YaHei"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288928" y="1283773"/>
                <a:ext cx="6224781" cy="276999"/>
              </a:xfrm>
              <a:prstGeom prst="rect">
                <a:avLst/>
              </a:prstGeom>
              <a:blipFill rotWithShape="0">
                <a:blip r:embed="rId3"/>
                <a:stretch>
                  <a:fillRect l="-98" r="-490" b="-15556"/>
                </a:stretch>
              </a:blipFill>
            </p:spPr>
            <p:txBody>
              <a:bodyPr/>
              <a:lstStyle/>
              <a:p>
                <a:r>
                  <a:rPr lang="zh-CN" altLang="en-US">
                    <a:noFill/>
                  </a:rPr>
                  <a:t> </a:t>
                </a:r>
                <a:endParaRPr lang="zh-CN" altLang="en-US">
                  <a:noFill/>
                </a:endParaRPr>
              </a:p>
            </p:txBody>
          </p:sp>
        </mc:Fallback>
      </mc:AlternateContent>
      <p:sp>
        <p:nvSpPr>
          <p:cNvPr id="15" name="椭圆 14"/>
          <p:cNvSpPr/>
          <p:nvPr/>
        </p:nvSpPr>
        <p:spPr>
          <a:xfrm>
            <a:off x="5847450" y="1916041"/>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16" name="矩形 15"/>
          <p:cNvSpPr/>
          <p:nvPr/>
        </p:nvSpPr>
        <p:spPr>
          <a:xfrm>
            <a:off x="5225143" y="250371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6.24</a:t>
            </a:r>
            <a:endParaRPr lang="zh-CN" altLang="en-US" dirty="0">
              <a:ea typeface="Microsoft YaHei" charset="0"/>
            </a:endParaRPr>
          </a:p>
        </p:txBody>
      </p:sp>
      <p:sp>
        <p:nvSpPr>
          <p:cNvPr id="17" name="矩形 16"/>
          <p:cNvSpPr/>
          <p:nvPr/>
        </p:nvSpPr>
        <p:spPr>
          <a:xfrm>
            <a:off x="6631577" y="250371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8.91</a:t>
            </a:r>
            <a:endParaRPr lang="zh-CN" altLang="en-US" sz="2000" dirty="0">
              <a:ea typeface="Microsoft YaHei" charset="0"/>
            </a:endParaRPr>
          </a:p>
        </p:txBody>
      </p:sp>
      <p:cxnSp>
        <p:nvCxnSpPr>
          <p:cNvPr id="19" name="直接连接符 18"/>
          <p:cNvCxnSpPr>
            <a:stCxn id="15" idx="4"/>
            <a:endCxn id="16" idx="0"/>
          </p:cNvCxnSpPr>
          <p:nvPr/>
        </p:nvCxnSpPr>
        <p:spPr>
          <a:xfrm flipH="1">
            <a:off x="5617029" y="2299218"/>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5" idx="4"/>
            <a:endCxn id="17" idx="0"/>
          </p:cNvCxnSpPr>
          <p:nvPr/>
        </p:nvCxnSpPr>
        <p:spPr>
          <a:xfrm>
            <a:off x="6337485" y="2299218"/>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p:cNvSpPr txBox="1"/>
              <p:nvPr/>
            </p:nvSpPr>
            <p:spPr>
              <a:xfrm>
                <a:off x="3005173" y="2412749"/>
                <a:ext cx="16432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3005173" y="2412749"/>
                <a:ext cx="1643207" cy="276999"/>
              </a:xfrm>
              <a:prstGeom prst="rect">
                <a:avLst/>
              </a:prstGeom>
              <a:blipFill>
                <a:blip r:embed="rId5"/>
                <a:stretch>
                  <a:fillRect l="-8889" r="-31111" b="-8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p:cNvSpPr txBox="1"/>
              <p:nvPr/>
            </p:nvSpPr>
            <p:spPr>
              <a:xfrm>
                <a:off x="7336722" y="2679592"/>
                <a:ext cx="4319196"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𝐿</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𝑦</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1</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10</m:t>
                          </m:r>
                        </m:sup>
                        <m:e>
                          <m:sSup>
                            <m:sSupPr>
                              <m:ctrlPr>
                                <a:rPr lang="en-US" altLang="zh-CN" sz="2000" i="1" smtClean="0">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1</m:t>
                                  </m:r>
                                </m:sub>
                              </m:sSub>
                              <m:r>
                                <a:rPr lang="en-US" altLang="zh-CN" sz="200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i="1" smtClean="0">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r>
                            <m:rPr>
                              <m:nor/>
                            </m:rPr>
                            <a:rPr lang="zh-CN" altLang="en-US" sz="2000" dirty="0">
                              <a:ea typeface="Microsoft YaHei" charset="0"/>
                            </a:rPr>
                            <m:t> </m:t>
                          </m:r>
                        </m:e>
                      </m:nary>
                      <m:r>
                        <a:rPr lang="en-US" altLang="zh-CN" sz="2000" b="0" i="1" smtClean="0">
                          <a:latin typeface="Cambria Math" panose="02040503050406030204" pitchFamily="18" charset="0"/>
                          <a:ea typeface="Microsoft YaHei" charset="0"/>
                        </a:rPr>
                        <m:t>=1.93</m:t>
                      </m:r>
                    </m:oMath>
                  </m:oMathPara>
                </a14:m>
                <a:endParaRPr lang="zh-CN" altLang="en-US" sz="2000" dirty="0">
                  <a:ea typeface="Microsoft YaHei" charset="0"/>
                </a:endParaRPr>
              </a:p>
            </p:txBody>
          </p:sp>
        </mc:Choice>
        <mc:Fallback xmlns="">
          <p:sp>
            <p:nvSpPr>
              <p:cNvPr id="26" name="文本框 25"/>
              <p:cNvSpPr txBox="1">
                <a:spLocks noRot="1" noChangeAspect="1" noMove="1" noResize="1" noEditPoints="1" noAdjustHandles="1" noChangeArrowheads="1" noChangeShapeType="1" noTextEdit="1"/>
              </p:cNvSpPr>
              <p:nvPr/>
            </p:nvSpPr>
            <p:spPr>
              <a:xfrm>
                <a:off x="7336722" y="2679592"/>
                <a:ext cx="4319196" cy="86530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1665431" y="5328831"/>
                <a:ext cx="24313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2</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2</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m:rPr>
                          <m:nor/>
                        </m:rPr>
                        <a:rPr lang="zh-CN" altLang="en-US" b="0" i="0" smtClean="0">
                          <a:latin typeface="Cambria Math" charset="0"/>
                          <a:ea typeface="Microsoft YaHei" charset="0"/>
                        </a:rPr>
                        <m:t> </m:t>
                      </m:r>
                      <m:r>
                        <m:rPr>
                          <m:nor/>
                        </m:rPr>
                        <a:rPr lang="en-US" altLang="zh-CN" b="0" i="0" smtClean="0">
                          <a:latin typeface="Cambria Math" charset="0"/>
                          <a:ea typeface="Microsoft YaHei" charset="0"/>
                        </a:rPr>
                        <m:t>=</m:t>
                      </m:r>
                    </m:oMath>
                  </m:oMathPara>
                </a14:m>
                <a:endParaRPr lang="zh-CN" altLang="en-US" dirty="0">
                  <a:ea typeface="Microsoft YaHei" charset="0"/>
                </a:endParaRPr>
              </a:p>
            </p:txBody>
          </p:sp>
        </mc:Choice>
        <mc:Fallback xmlns="">
          <p:sp>
            <p:nvSpPr>
              <p:cNvPr id="27" name="文本框 26"/>
              <p:cNvSpPr txBox="1">
                <a:spLocks noRot="1" noChangeAspect="1" noMove="1" noResize="1" noEditPoints="1" noAdjustHandles="1" noChangeArrowheads="1" noChangeShapeType="1" noTextEdit="1"/>
              </p:cNvSpPr>
              <p:nvPr/>
            </p:nvSpPr>
            <p:spPr>
              <a:xfrm>
                <a:off x="1665431" y="5328831"/>
                <a:ext cx="2431371" cy="276999"/>
              </a:xfrm>
              <a:prstGeom prst="rect">
                <a:avLst/>
              </a:prstGeom>
              <a:blipFill>
                <a:blip r:embed="rId7"/>
                <a:stretch>
                  <a:fillRect l="-5764" r="-31579" b="-82609"/>
                </a:stretch>
              </a:blipFill>
            </p:spPr>
            <p:txBody>
              <a:bodyPr/>
              <a:lstStyle/>
              <a:p>
                <a:r>
                  <a:rPr lang="zh-CN" altLang="en-US">
                    <a:noFill/>
                  </a:rPr>
                  <a:t> </a:t>
                </a:r>
              </a:p>
            </p:txBody>
          </p:sp>
        </mc:Fallback>
      </mc:AlternateContent>
      <p:sp>
        <p:nvSpPr>
          <p:cNvPr id="28" name="椭圆 27"/>
          <p:cNvSpPr/>
          <p:nvPr/>
        </p:nvSpPr>
        <p:spPr>
          <a:xfrm>
            <a:off x="5811167" y="4807450"/>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29" name="椭圆 28"/>
          <p:cNvSpPr/>
          <p:nvPr/>
        </p:nvSpPr>
        <p:spPr>
          <a:xfrm>
            <a:off x="5159668" y="5397086"/>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sz="1600" dirty="0">
              <a:solidFill>
                <a:schemeClr val="bg1"/>
              </a:solidFill>
              <a:ea typeface="Microsoft YaHei" charset="0"/>
            </a:endParaRPr>
          </a:p>
        </p:txBody>
      </p:sp>
      <p:cxnSp>
        <p:nvCxnSpPr>
          <p:cNvPr id="31" name="直接连接符 30"/>
          <p:cNvCxnSpPr>
            <a:stCxn id="28" idx="4"/>
            <a:endCxn id="29" idx="0"/>
          </p:cNvCxnSpPr>
          <p:nvPr/>
        </p:nvCxnSpPr>
        <p:spPr>
          <a:xfrm flipH="1">
            <a:off x="5649703" y="5190627"/>
            <a:ext cx="651499" cy="206459"/>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6631577" y="5471108"/>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8.91</a:t>
            </a:r>
            <a:endParaRPr lang="zh-CN" altLang="en-US" dirty="0">
              <a:ea typeface="Microsoft YaHei" charset="0"/>
            </a:endParaRPr>
          </a:p>
        </p:txBody>
      </p:sp>
      <p:cxnSp>
        <p:nvCxnSpPr>
          <p:cNvPr id="34" name="直接连接符 33"/>
          <p:cNvCxnSpPr>
            <a:stCxn id="28" idx="4"/>
            <a:endCxn id="32" idx="0"/>
          </p:cNvCxnSpPr>
          <p:nvPr/>
        </p:nvCxnSpPr>
        <p:spPr>
          <a:xfrm>
            <a:off x="6301202" y="5190627"/>
            <a:ext cx="722261" cy="28048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4502331" y="603378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5.72</a:t>
            </a:r>
            <a:endParaRPr lang="zh-CN" altLang="en-US" dirty="0">
              <a:ea typeface="Microsoft YaHei" charset="0"/>
            </a:endParaRPr>
          </a:p>
        </p:txBody>
      </p:sp>
      <p:sp>
        <p:nvSpPr>
          <p:cNvPr id="36" name="矩形 35"/>
          <p:cNvSpPr/>
          <p:nvPr/>
        </p:nvSpPr>
        <p:spPr>
          <a:xfrm>
            <a:off x="5878287" y="603378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6.46</a:t>
            </a:r>
            <a:endParaRPr lang="zh-CN" altLang="en-US" dirty="0">
              <a:ea typeface="Microsoft YaHei" charset="0"/>
            </a:endParaRPr>
          </a:p>
        </p:txBody>
      </p:sp>
      <p:cxnSp>
        <p:nvCxnSpPr>
          <p:cNvPr id="38" name="直接连接符 37"/>
          <p:cNvCxnSpPr>
            <a:stCxn id="29" idx="4"/>
          </p:cNvCxnSpPr>
          <p:nvPr/>
        </p:nvCxnSpPr>
        <p:spPr>
          <a:xfrm flipH="1">
            <a:off x="4894217" y="5780263"/>
            <a:ext cx="755486" cy="253517"/>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29" idx="4"/>
            <a:endCxn id="36" idx="0"/>
          </p:cNvCxnSpPr>
          <p:nvPr/>
        </p:nvCxnSpPr>
        <p:spPr>
          <a:xfrm>
            <a:off x="5649703" y="5780263"/>
            <a:ext cx="620470" cy="253517"/>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矩形 40"/>
              <p:cNvSpPr/>
              <p:nvPr/>
            </p:nvSpPr>
            <p:spPr>
              <a:xfrm>
                <a:off x="3776570" y="3897779"/>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2</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41" name="矩形 40"/>
              <p:cNvSpPr>
                <a:spLocks noRot="1" noChangeAspect="1" noMove="1" noResize="1" noEditPoints="1" noAdjustHandles="1" noChangeArrowheads="1" noChangeShapeType="1" noTextEdit="1"/>
              </p:cNvSpPr>
              <p:nvPr/>
            </p:nvSpPr>
            <p:spPr>
              <a:xfrm>
                <a:off x="3776570" y="3897779"/>
                <a:ext cx="1017202" cy="369332"/>
              </a:xfrm>
              <a:prstGeom prst="rect">
                <a:avLst/>
              </a:prstGeom>
              <a:blipFill>
                <a:blip r:embed="rId8"/>
                <a:stretch>
                  <a:fillRect l="-1807" r="-16867" b="-29508"/>
                </a:stretch>
              </a:blipFill>
            </p:spPr>
            <p:txBody>
              <a:bodyPr/>
              <a:lstStyle/>
              <a:p>
                <a:r>
                  <a:rPr lang="zh-CN" altLang="en-US">
                    <a:noFill/>
                  </a:rPr>
                  <a:t> </a:t>
                </a:r>
              </a:p>
            </p:txBody>
          </p:sp>
        </mc:Fallback>
      </mc:AlternateContent>
      <p:sp>
        <p:nvSpPr>
          <p:cNvPr id="42" name="椭圆 41"/>
          <p:cNvSpPr/>
          <p:nvPr/>
        </p:nvSpPr>
        <p:spPr>
          <a:xfrm>
            <a:off x="5825353" y="3416679"/>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dirty="0">
              <a:solidFill>
                <a:schemeClr val="bg1"/>
              </a:solidFill>
              <a:ea typeface="Microsoft YaHei" charset="0"/>
            </a:endParaRPr>
          </a:p>
        </p:txBody>
      </p:sp>
      <p:sp>
        <p:nvSpPr>
          <p:cNvPr id="43" name="矩形 42"/>
          <p:cNvSpPr/>
          <p:nvPr/>
        </p:nvSpPr>
        <p:spPr>
          <a:xfrm>
            <a:off x="5203046" y="400435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-0.52</a:t>
            </a:r>
            <a:endParaRPr lang="zh-CN" altLang="en-US" sz="2000" dirty="0">
              <a:ea typeface="Microsoft YaHei" charset="0"/>
            </a:endParaRPr>
          </a:p>
        </p:txBody>
      </p:sp>
      <p:sp>
        <p:nvSpPr>
          <p:cNvPr id="44" name="矩形 43"/>
          <p:cNvSpPr/>
          <p:nvPr/>
        </p:nvSpPr>
        <p:spPr>
          <a:xfrm>
            <a:off x="6609480" y="400435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0.22</a:t>
            </a:r>
            <a:endParaRPr lang="zh-CN" altLang="en-US" sz="2000" dirty="0">
              <a:ea typeface="Microsoft YaHei" charset="0"/>
            </a:endParaRPr>
          </a:p>
        </p:txBody>
      </p:sp>
      <p:cxnSp>
        <p:nvCxnSpPr>
          <p:cNvPr id="45" name="直接连接符 44"/>
          <p:cNvCxnSpPr>
            <a:stCxn id="42" idx="4"/>
            <a:endCxn id="43" idx="0"/>
          </p:cNvCxnSpPr>
          <p:nvPr/>
        </p:nvCxnSpPr>
        <p:spPr>
          <a:xfrm flipH="1">
            <a:off x="5594932" y="3799856"/>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42" idx="4"/>
            <a:endCxn id="44" idx="0"/>
          </p:cNvCxnSpPr>
          <p:nvPr/>
        </p:nvCxnSpPr>
        <p:spPr>
          <a:xfrm>
            <a:off x="6315388" y="3799856"/>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47" name="下箭头 46"/>
          <p:cNvSpPr/>
          <p:nvPr/>
        </p:nvSpPr>
        <p:spPr>
          <a:xfrm>
            <a:off x="4689817" y="2957467"/>
            <a:ext cx="165463" cy="252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p:sp>
        <p:nvSpPr>
          <p:cNvPr id="48" name="下箭头 47"/>
          <p:cNvSpPr/>
          <p:nvPr/>
        </p:nvSpPr>
        <p:spPr>
          <a:xfrm>
            <a:off x="4694997" y="4505104"/>
            <a:ext cx="165463" cy="252000"/>
          </a:xfrm>
          <a:prstGeom prst="downArrow">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ea typeface="Microsoft YaHei" charset="0"/>
            </a:endParaRPr>
          </a:p>
        </p:txBody>
      </p:sp>
      <mc:AlternateContent xmlns:mc="http://schemas.openxmlformats.org/markup-compatibility/2006" xmlns:a14="http://schemas.microsoft.com/office/drawing/2010/main">
        <mc:Choice Requires="a14">
          <p:sp>
            <p:nvSpPr>
              <p:cNvPr id="49" name="文本框 48"/>
              <p:cNvSpPr txBox="1"/>
              <p:nvPr/>
            </p:nvSpPr>
            <p:spPr>
              <a:xfrm>
                <a:off x="7745723" y="4941465"/>
                <a:ext cx="4331122"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𝐿</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𝑦</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10</m:t>
                          </m:r>
                        </m:sup>
                        <m:e>
                          <m:sSup>
                            <m:sSupPr>
                              <m:ctrlPr>
                                <a:rPr lang="en-US" altLang="zh-CN" sz="2000" i="1" smtClean="0">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r>
                                <a:rPr lang="en-US" altLang="zh-CN" sz="200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i="1" smtClean="0">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r>
                            <m:rPr>
                              <m:nor/>
                            </m:rPr>
                            <a:rPr lang="zh-CN" altLang="en-US" sz="2000" dirty="0">
                              <a:ea typeface="Microsoft YaHei" charset="0"/>
                            </a:rPr>
                            <m:t> </m:t>
                          </m:r>
                        </m:e>
                      </m:nary>
                      <m:r>
                        <a:rPr lang="en-US" altLang="zh-CN" sz="2000" b="0" i="1" smtClean="0">
                          <a:latin typeface="Cambria Math" panose="02040503050406030204" pitchFamily="18" charset="0"/>
                          <a:ea typeface="Microsoft YaHei" charset="0"/>
                        </a:rPr>
                        <m:t>=0.79</m:t>
                      </m:r>
                    </m:oMath>
                  </m:oMathPara>
                </a14:m>
                <a:endParaRPr lang="zh-CN" altLang="en-US" sz="2000" dirty="0">
                  <a:ea typeface="Microsoft YaHei" charset="0"/>
                </a:endParaRPr>
              </a:p>
            </p:txBody>
          </p:sp>
        </mc:Choice>
        <mc:Fallback xmlns="">
          <p:sp>
            <p:nvSpPr>
              <p:cNvPr id="49" name="文本框 48"/>
              <p:cNvSpPr txBox="1">
                <a:spLocks noRot="1" noChangeAspect="1" noMove="1" noResize="1" noEditPoints="1" noAdjustHandles="1" noChangeArrowheads="1" noChangeShapeType="1" noTextEdit="1"/>
              </p:cNvSpPr>
              <p:nvPr/>
            </p:nvSpPr>
            <p:spPr>
              <a:xfrm>
                <a:off x="7745723" y="4941465"/>
                <a:ext cx="4331122" cy="865301"/>
              </a:xfrm>
              <a:prstGeom prst="rect">
                <a:avLst/>
              </a:prstGeom>
              <a:blipFill>
                <a:blip r:embed="rId9"/>
                <a:stretch>
                  <a:fillRect/>
                </a:stretch>
              </a:blipFill>
            </p:spPr>
            <p:txBody>
              <a:bodyPr/>
              <a:lstStyle/>
              <a:p>
                <a:r>
                  <a:rPr lang="zh-CN" altLang="en-US">
                    <a:noFill/>
                  </a:rPr>
                  <a:t> </a:t>
                </a:r>
              </a:p>
            </p:txBody>
          </p:sp>
        </mc:Fallback>
      </mc:AlternateContent>
      <p:sp>
        <p:nvSpPr>
          <p:cNvPr id="5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3" name="表格 2">
            <a:extLst>
              <a:ext uri="{FF2B5EF4-FFF2-40B4-BE49-F238E27FC236}">
                <a16:creationId xmlns:a16="http://schemas.microsoft.com/office/drawing/2014/main" id="{16FA07B4-3C5E-47F2-B669-D8CB6F05B4AD}"/>
              </a:ext>
            </a:extLst>
          </p:cNvPr>
          <p:cNvGraphicFramePr>
            <a:graphicFrameLocks noGrp="1"/>
          </p:cNvGraphicFramePr>
          <p:nvPr>
            <p:extLst>
              <p:ext uri="{D42A27DB-BD31-4B8C-83A1-F6EECF244321}">
                <p14:modId xmlns:p14="http://schemas.microsoft.com/office/powerpoint/2010/main" val="4283173005"/>
              </p:ext>
            </p:extLst>
          </p:nvPr>
        </p:nvGraphicFramePr>
        <p:xfrm>
          <a:off x="304986" y="1655964"/>
          <a:ext cx="2431371" cy="3521430"/>
        </p:xfrm>
        <a:graphic>
          <a:graphicData uri="http://schemas.openxmlformats.org/drawingml/2006/table">
            <a:tbl>
              <a:tblPr firstRow="1" firstCol="1" bandRow="1">
                <a:tableStyleId>{5C22544A-7EE6-4342-B048-85BDC9FD1C3A}</a:tableStyleId>
              </a:tblPr>
              <a:tblGrid>
                <a:gridCol w="810457">
                  <a:extLst>
                    <a:ext uri="{9D8B030D-6E8A-4147-A177-3AD203B41FA5}">
                      <a16:colId xmlns:a16="http://schemas.microsoft.com/office/drawing/2014/main" val="4196313495"/>
                    </a:ext>
                  </a:extLst>
                </a:gridCol>
                <a:gridCol w="810457">
                  <a:extLst>
                    <a:ext uri="{9D8B030D-6E8A-4147-A177-3AD203B41FA5}">
                      <a16:colId xmlns:a16="http://schemas.microsoft.com/office/drawing/2014/main" val="3411175974"/>
                    </a:ext>
                  </a:extLst>
                </a:gridCol>
                <a:gridCol w="810457">
                  <a:extLst>
                    <a:ext uri="{9D8B030D-6E8A-4147-A177-3AD203B41FA5}">
                      <a16:colId xmlns:a16="http://schemas.microsoft.com/office/drawing/2014/main" val="173195034"/>
                    </a:ext>
                  </a:extLst>
                </a:gridCol>
              </a:tblGrid>
              <a:tr h="320130">
                <a:tc>
                  <a:txBody>
                    <a:bodyPr/>
                    <a:lstStyle/>
                    <a:p>
                      <a:pPr algn="ctr"/>
                      <a:r>
                        <a:rPr lang="en-US" sz="1600" kern="0" dirty="0">
                          <a:effectLst/>
                          <a:latin typeface="KaiTi" panose="02010609060101010101" pitchFamily="49" charset="-122"/>
                          <a:ea typeface="KaiTi" panose="02010609060101010101" pitchFamily="49" charset="-122"/>
                        </a:rPr>
                        <a:t>x</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y</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a:effectLst/>
                          <a:latin typeface="KaiTi" panose="02010609060101010101" pitchFamily="49" charset="-122"/>
                          <a:ea typeface="KaiTi" panose="02010609060101010101" pitchFamily="49" charset="-122"/>
                        </a:rPr>
                        <a:t>y-f(x)</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30188544"/>
                  </a:ext>
                </a:extLst>
              </a:tr>
              <a:tr h="320130">
                <a:tc>
                  <a:txBody>
                    <a:bodyPr/>
                    <a:lstStyle/>
                    <a:p>
                      <a:pPr algn="ctr"/>
                      <a:r>
                        <a:rPr lang="en-US" sz="1600" kern="0">
                          <a:effectLst/>
                          <a:latin typeface="KaiTi" panose="02010609060101010101" pitchFamily="49" charset="-122"/>
                          <a:ea typeface="KaiTi" panose="02010609060101010101" pitchFamily="49" charset="-122"/>
                        </a:rPr>
                        <a:t>1</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5.56</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-0.68</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90985678"/>
                  </a:ext>
                </a:extLst>
              </a:tr>
              <a:tr h="320130">
                <a:tc>
                  <a:txBody>
                    <a:bodyPr/>
                    <a:lstStyle/>
                    <a:p>
                      <a:pPr algn="ctr"/>
                      <a:r>
                        <a:rPr lang="en-US" sz="1600" kern="0">
                          <a:effectLst/>
                          <a:latin typeface="KaiTi" panose="02010609060101010101" pitchFamily="49" charset="-122"/>
                          <a:ea typeface="KaiTi" panose="02010609060101010101" pitchFamily="49" charset="-122"/>
                        </a:rPr>
                        <a:t>2</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5.7</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-0.54</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8295147"/>
                  </a:ext>
                </a:extLst>
              </a:tr>
              <a:tr h="320130">
                <a:tc>
                  <a:txBody>
                    <a:bodyPr/>
                    <a:lstStyle/>
                    <a:p>
                      <a:pPr algn="ctr"/>
                      <a:r>
                        <a:rPr lang="en-US" sz="1600" kern="0">
                          <a:effectLst/>
                          <a:latin typeface="KaiTi" panose="02010609060101010101" pitchFamily="49" charset="-122"/>
                          <a:ea typeface="KaiTi" panose="02010609060101010101" pitchFamily="49" charset="-122"/>
                        </a:rPr>
                        <a:t>3</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5.91</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-0.33</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870242738"/>
                  </a:ext>
                </a:extLst>
              </a:tr>
              <a:tr h="320130">
                <a:tc>
                  <a:txBody>
                    <a:bodyPr/>
                    <a:lstStyle/>
                    <a:p>
                      <a:pPr algn="ctr"/>
                      <a:r>
                        <a:rPr lang="en-US" sz="1600" kern="0">
                          <a:effectLst/>
                          <a:latin typeface="KaiTi" panose="02010609060101010101" pitchFamily="49" charset="-122"/>
                          <a:ea typeface="KaiTi" panose="02010609060101010101" pitchFamily="49" charset="-122"/>
                        </a:rPr>
                        <a:t>4</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6.4</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0.16</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13667405"/>
                  </a:ext>
                </a:extLst>
              </a:tr>
              <a:tr h="320130">
                <a:tc>
                  <a:txBody>
                    <a:bodyPr/>
                    <a:lstStyle/>
                    <a:p>
                      <a:pPr algn="ctr"/>
                      <a:r>
                        <a:rPr lang="en-US" sz="1600" kern="0">
                          <a:effectLst/>
                          <a:latin typeface="KaiTi" panose="02010609060101010101" pitchFamily="49" charset="-122"/>
                          <a:ea typeface="KaiTi" panose="02010609060101010101" pitchFamily="49" charset="-122"/>
                        </a:rPr>
                        <a:t>5</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6.8</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0.56</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41832788"/>
                  </a:ext>
                </a:extLst>
              </a:tr>
              <a:tr h="320130">
                <a:tc>
                  <a:txBody>
                    <a:bodyPr/>
                    <a:lstStyle/>
                    <a:p>
                      <a:pPr algn="ctr"/>
                      <a:r>
                        <a:rPr lang="en-US" sz="1600" kern="0">
                          <a:effectLst/>
                          <a:latin typeface="KaiTi" panose="02010609060101010101" pitchFamily="49" charset="-122"/>
                          <a:ea typeface="KaiTi" panose="02010609060101010101" pitchFamily="49" charset="-122"/>
                        </a:rPr>
                        <a:t>6</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7.05</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0.81</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253376855"/>
                  </a:ext>
                </a:extLst>
              </a:tr>
              <a:tr h="320130">
                <a:tc>
                  <a:txBody>
                    <a:bodyPr/>
                    <a:lstStyle/>
                    <a:p>
                      <a:pPr algn="ctr"/>
                      <a:r>
                        <a:rPr lang="en-US" sz="1600" kern="0">
                          <a:effectLst/>
                          <a:latin typeface="KaiTi" panose="02010609060101010101" pitchFamily="49" charset="-122"/>
                          <a:ea typeface="KaiTi" panose="02010609060101010101" pitchFamily="49" charset="-122"/>
                        </a:rPr>
                        <a:t>7</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8.9</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-0.01</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1235451"/>
                  </a:ext>
                </a:extLst>
              </a:tr>
              <a:tr h="320130">
                <a:tc>
                  <a:txBody>
                    <a:bodyPr/>
                    <a:lstStyle/>
                    <a:p>
                      <a:pPr algn="ctr"/>
                      <a:r>
                        <a:rPr lang="en-US" sz="1600" kern="0">
                          <a:effectLst/>
                          <a:latin typeface="KaiTi" panose="02010609060101010101" pitchFamily="49" charset="-122"/>
                          <a:ea typeface="KaiTi" panose="02010609060101010101" pitchFamily="49" charset="-122"/>
                        </a:rPr>
                        <a:t>8</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8.7</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-0.21</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395916712"/>
                  </a:ext>
                </a:extLst>
              </a:tr>
              <a:tr h="320130">
                <a:tc>
                  <a:txBody>
                    <a:bodyPr/>
                    <a:lstStyle/>
                    <a:p>
                      <a:pPr algn="ctr"/>
                      <a:r>
                        <a:rPr lang="en-US" sz="1600" kern="0">
                          <a:effectLst/>
                          <a:latin typeface="KaiTi" panose="02010609060101010101" pitchFamily="49" charset="-122"/>
                          <a:ea typeface="KaiTi" panose="02010609060101010101" pitchFamily="49" charset="-122"/>
                        </a:rPr>
                        <a:t>9</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9</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0.09</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86454354"/>
                  </a:ext>
                </a:extLst>
              </a:tr>
              <a:tr h="320130">
                <a:tc>
                  <a:txBody>
                    <a:bodyPr/>
                    <a:lstStyle/>
                    <a:p>
                      <a:pPr algn="ctr"/>
                      <a:r>
                        <a:rPr lang="en-US" sz="1600" kern="0">
                          <a:effectLst/>
                          <a:latin typeface="KaiTi" panose="02010609060101010101" pitchFamily="49" charset="-122"/>
                          <a:ea typeface="KaiTi" panose="02010609060101010101" pitchFamily="49" charset="-122"/>
                        </a:rPr>
                        <a:t>10</a:t>
                      </a:r>
                      <a:endParaRPr lang="zh-CN" sz="12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9.05</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600" kern="0" dirty="0">
                          <a:effectLst/>
                          <a:latin typeface="KaiTi" panose="02010609060101010101" pitchFamily="49" charset="-122"/>
                          <a:ea typeface="KaiTi" panose="02010609060101010101" pitchFamily="49" charset="-122"/>
                        </a:rPr>
                        <a:t>0.14</a:t>
                      </a:r>
                      <a:endParaRPr lang="zh-CN" sz="12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66046342"/>
                  </a:ext>
                </a:extLst>
              </a:tr>
            </a:tbl>
          </a:graphicData>
        </a:graphic>
      </p:graphicFrame>
      <p:sp>
        <p:nvSpPr>
          <p:cNvPr id="4" name="Rectangle 2">
            <a:extLst>
              <a:ext uri="{FF2B5EF4-FFF2-40B4-BE49-F238E27FC236}">
                <a16:creationId xmlns:a16="http://schemas.microsoft.com/office/drawing/2014/main" id="{4729253D-CB7F-336C-E05A-593BF680223B}"/>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166418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par>
                                <p:cTn id="17" presetID="53" presetClass="entr" presetSubtype="16"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animEffect transition="in" filter="fade">
                                      <p:cBhvr>
                                        <p:cTn id="26" dur="500"/>
                                        <p:tgtEl>
                                          <p:spTgt spid="15"/>
                                        </p:tgtEl>
                                      </p:cBhvr>
                                    </p:animEffect>
                                  </p:childTnLst>
                                </p:cTn>
                              </p:par>
                              <p:par>
                                <p:cTn id="27" presetID="53" presetClass="entr" presetSubtype="16"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500" fill="hold"/>
                                        <p:tgtEl>
                                          <p:spTgt spid="21"/>
                                        </p:tgtEl>
                                        <p:attrNameLst>
                                          <p:attrName>ppt_w</p:attrName>
                                        </p:attrNameLst>
                                      </p:cBhvr>
                                      <p:tavLst>
                                        <p:tav tm="0">
                                          <p:val>
                                            <p:fltVal val="0"/>
                                          </p:val>
                                        </p:tav>
                                        <p:tav tm="100000">
                                          <p:val>
                                            <p:strVal val="#ppt_w"/>
                                          </p:val>
                                        </p:tav>
                                      </p:tavLst>
                                    </p:anim>
                                    <p:anim calcmode="lin" valueType="num">
                                      <p:cBhvr>
                                        <p:cTn id="30" dur="500" fill="hold"/>
                                        <p:tgtEl>
                                          <p:spTgt spid="21"/>
                                        </p:tgtEl>
                                        <p:attrNameLst>
                                          <p:attrName>ppt_h</p:attrName>
                                        </p:attrNameLst>
                                      </p:cBhvr>
                                      <p:tavLst>
                                        <p:tav tm="0">
                                          <p:val>
                                            <p:fltVal val="0"/>
                                          </p:val>
                                        </p:tav>
                                        <p:tav tm="100000">
                                          <p:val>
                                            <p:strVal val="#ppt_h"/>
                                          </p:val>
                                        </p:tav>
                                      </p:tavLst>
                                    </p:anim>
                                    <p:animEffect transition="in" filter="fade">
                                      <p:cBhvr>
                                        <p:cTn id="31" dur="500"/>
                                        <p:tgtEl>
                                          <p:spTgt spid="21"/>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500" fill="hold"/>
                                        <p:tgtEl>
                                          <p:spTgt spid="26"/>
                                        </p:tgtEl>
                                        <p:attrNameLst>
                                          <p:attrName>ppt_w</p:attrName>
                                        </p:attrNameLst>
                                      </p:cBhvr>
                                      <p:tavLst>
                                        <p:tav tm="0">
                                          <p:val>
                                            <p:fltVal val="0"/>
                                          </p:val>
                                        </p:tav>
                                        <p:tav tm="100000">
                                          <p:val>
                                            <p:strVal val="#ppt_w"/>
                                          </p:val>
                                        </p:tav>
                                      </p:tavLst>
                                    </p:anim>
                                    <p:anim calcmode="lin" valueType="num">
                                      <p:cBhvr>
                                        <p:cTn id="47" dur="500" fill="hold"/>
                                        <p:tgtEl>
                                          <p:spTgt spid="26"/>
                                        </p:tgtEl>
                                        <p:attrNameLst>
                                          <p:attrName>ppt_h</p:attrName>
                                        </p:attrNameLst>
                                      </p:cBhvr>
                                      <p:tavLst>
                                        <p:tav tm="0">
                                          <p:val>
                                            <p:fltVal val="0"/>
                                          </p:val>
                                        </p:tav>
                                        <p:tav tm="100000">
                                          <p:val>
                                            <p:strVal val="#ppt_h"/>
                                          </p:val>
                                        </p:tav>
                                      </p:tavLst>
                                    </p:anim>
                                    <p:animEffect transition="in" filter="fade">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p:cTn id="53" dur="500" fill="hold"/>
                                        <p:tgtEl>
                                          <p:spTgt spid="47"/>
                                        </p:tgtEl>
                                        <p:attrNameLst>
                                          <p:attrName>ppt_w</p:attrName>
                                        </p:attrNameLst>
                                      </p:cBhvr>
                                      <p:tavLst>
                                        <p:tav tm="0">
                                          <p:val>
                                            <p:fltVal val="0"/>
                                          </p:val>
                                        </p:tav>
                                        <p:tav tm="100000">
                                          <p:val>
                                            <p:strVal val="#ppt_w"/>
                                          </p:val>
                                        </p:tav>
                                      </p:tavLst>
                                    </p:anim>
                                    <p:anim calcmode="lin" valueType="num">
                                      <p:cBhvr>
                                        <p:cTn id="54" dur="500" fill="hold"/>
                                        <p:tgtEl>
                                          <p:spTgt spid="47"/>
                                        </p:tgtEl>
                                        <p:attrNameLst>
                                          <p:attrName>ppt_h</p:attrName>
                                        </p:attrNameLst>
                                      </p:cBhvr>
                                      <p:tavLst>
                                        <p:tav tm="0">
                                          <p:val>
                                            <p:fltVal val="0"/>
                                          </p:val>
                                        </p:tav>
                                        <p:tav tm="100000">
                                          <p:val>
                                            <p:strVal val="#ppt_h"/>
                                          </p:val>
                                        </p:tav>
                                      </p:tavLst>
                                    </p:anim>
                                    <p:animEffect transition="in" filter="fade">
                                      <p:cBhvr>
                                        <p:cTn id="55" dur="500"/>
                                        <p:tgtEl>
                                          <p:spTgt spid="47"/>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 calcmode="lin" valueType="num">
                                      <p:cBhvr>
                                        <p:cTn id="58" dur="500" fill="hold"/>
                                        <p:tgtEl>
                                          <p:spTgt spid="41"/>
                                        </p:tgtEl>
                                        <p:attrNameLst>
                                          <p:attrName>ppt_w</p:attrName>
                                        </p:attrNameLst>
                                      </p:cBhvr>
                                      <p:tavLst>
                                        <p:tav tm="0">
                                          <p:val>
                                            <p:fltVal val="0"/>
                                          </p:val>
                                        </p:tav>
                                        <p:tav tm="100000">
                                          <p:val>
                                            <p:strVal val="#ppt_w"/>
                                          </p:val>
                                        </p:tav>
                                      </p:tavLst>
                                    </p:anim>
                                    <p:anim calcmode="lin" valueType="num">
                                      <p:cBhvr>
                                        <p:cTn id="59" dur="500" fill="hold"/>
                                        <p:tgtEl>
                                          <p:spTgt spid="41"/>
                                        </p:tgtEl>
                                        <p:attrNameLst>
                                          <p:attrName>ppt_h</p:attrName>
                                        </p:attrNameLst>
                                      </p:cBhvr>
                                      <p:tavLst>
                                        <p:tav tm="0">
                                          <p:val>
                                            <p:fltVal val="0"/>
                                          </p:val>
                                        </p:tav>
                                        <p:tav tm="100000">
                                          <p:val>
                                            <p:strVal val="#ppt_h"/>
                                          </p:val>
                                        </p:tav>
                                      </p:tavLst>
                                    </p:anim>
                                    <p:animEffect transition="in" filter="fade">
                                      <p:cBhvr>
                                        <p:cTn id="60" dur="500"/>
                                        <p:tgtEl>
                                          <p:spTgt spid="41"/>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anim calcmode="lin" valueType="num">
                                      <p:cBhvr>
                                        <p:cTn id="63" dur="500" fill="hold"/>
                                        <p:tgtEl>
                                          <p:spTgt spid="42"/>
                                        </p:tgtEl>
                                        <p:attrNameLst>
                                          <p:attrName>ppt_w</p:attrName>
                                        </p:attrNameLst>
                                      </p:cBhvr>
                                      <p:tavLst>
                                        <p:tav tm="0">
                                          <p:val>
                                            <p:fltVal val="0"/>
                                          </p:val>
                                        </p:tav>
                                        <p:tav tm="100000">
                                          <p:val>
                                            <p:strVal val="#ppt_w"/>
                                          </p:val>
                                        </p:tav>
                                      </p:tavLst>
                                    </p:anim>
                                    <p:anim calcmode="lin" valueType="num">
                                      <p:cBhvr>
                                        <p:cTn id="64" dur="500" fill="hold"/>
                                        <p:tgtEl>
                                          <p:spTgt spid="42"/>
                                        </p:tgtEl>
                                        <p:attrNameLst>
                                          <p:attrName>ppt_h</p:attrName>
                                        </p:attrNameLst>
                                      </p:cBhvr>
                                      <p:tavLst>
                                        <p:tav tm="0">
                                          <p:val>
                                            <p:fltVal val="0"/>
                                          </p:val>
                                        </p:tav>
                                        <p:tav tm="100000">
                                          <p:val>
                                            <p:strVal val="#ppt_h"/>
                                          </p:val>
                                        </p:tav>
                                      </p:tavLst>
                                    </p:anim>
                                    <p:animEffect transition="in" filter="fade">
                                      <p:cBhvr>
                                        <p:cTn id="65" dur="500"/>
                                        <p:tgtEl>
                                          <p:spTgt spid="42"/>
                                        </p:tgtEl>
                                      </p:cBhvr>
                                    </p:animEffect>
                                  </p:childTnLst>
                                </p:cTn>
                              </p:par>
                              <p:par>
                                <p:cTn id="66" presetID="53" presetClass="entr" presetSubtype="16" fill="hold" nodeType="withEffect">
                                  <p:stCondLst>
                                    <p:cond delay="0"/>
                                  </p:stCondLst>
                                  <p:childTnLst>
                                    <p:set>
                                      <p:cBhvr>
                                        <p:cTn id="67" dur="1" fill="hold">
                                          <p:stCondLst>
                                            <p:cond delay="0"/>
                                          </p:stCondLst>
                                        </p:cTn>
                                        <p:tgtEl>
                                          <p:spTgt spid="45"/>
                                        </p:tgtEl>
                                        <p:attrNameLst>
                                          <p:attrName>style.visibility</p:attrName>
                                        </p:attrNameLst>
                                      </p:cBhvr>
                                      <p:to>
                                        <p:strVal val="visible"/>
                                      </p:to>
                                    </p:set>
                                    <p:anim calcmode="lin" valueType="num">
                                      <p:cBhvr>
                                        <p:cTn id="68" dur="500" fill="hold"/>
                                        <p:tgtEl>
                                          <p:spTgt spid="45"/>
                                        </p:tgtEl>
                                        <p:attrNameLst>
                                          <p:attrName>ppt_w</p:attrName>
                                        </p:attrNameLst>
                                      </p:cBhvr>
                                      <p:tavLst>
                                        <p:tav tm="0">
                                          <p:val>
                                            <p:fltVal val="0"/>
                                          </p:val>
                                        </p:tav>
                                        <p:tav tm="100000">
                                          <p:val>
                                            <p:strVal val="#ppt_w"/>
                                          </p:val>
                                        </p:tav>
                                      </p:tavLst>
                                    </p:anim>
                                    <p:anim calcmode="lin" valueType="num">
                                      <p:cBhvr>
                                        <p:cTn id="69" dur="500" fill="hold"/>
                                        <p:tgtEl>
                                          <p:spTgt spid="45"/>
                                        </p:tgtEl>
                                        <p:attrNameLst>
                                          <p:attrName>ppt_h</p:attrName>
                                        </p:attrNameLst>
                                      </p:cBhvr>
                                      <p:tavLst>
                                        <p:tav tm="0">
                                          <p:val>
                                            <p:fltVal val="0"/>
                                          </p:val>
                                        </p:tav>
                                        <p:tav tm="100000">
                                          <p:val>
                                            <p:strVal val="#ppt_h"/>
                                          </p:val>
                                        </p:tav>
                                      </p:tavLst>
                                    </p:anim>
                                    <p:animEffect transition="in" filter="fade">
                                      <p:cBhvr>
                                        <p:cTn id="70" dur="500"/>
                                        <p:tgtEl>
                                          <p:spTgt spid="45"/>
                                        </p:tgtEl>
                                      </p:cBhvr>
                                    </p:animEffect>
                                  </p:childTnLst>
                                </p:cTn>
                              </p:par>
                              <p:par>
                                <p:cTn id="71" presetID="53" presetClass="entr" presetSubtype="16" fill="hold" nodeType="withEffect">
                                  <p:stCondLst>
                                    <p:cond delay="0"/>
                                  </p:stCondLst>
                                  <p:childTnLst>
                                    <p:set>
                                      <p:cBhvr>
                                        <p:cTn id="72" dur="1" fill="hold">
                                          <p:stCondLst>
                                            <p:cond delay="0"/>
                                          </p:stCondLst>
                                        </p:cTn>
                                        <p:tgtEl>
                                          <p:spTgt spid="46"/>
                                        </p:tgtEl>
                                        <p:attrNameLst>
                                          <p:attrName>style.visibility</p:attrName>
                                        </p:attrNameLst>
                                      </p:cBhvr>
                                      <p:to>
                                        <p:strVal val="visible"/>
                                      </p:to>
                                    </p:set>
                                    <p:anim calcmode="lin" valueType="num">
                                      <p:cBhvr>
                                        <p:cTn id="73" dur="500" fill="hold"/>
                                        <p:tgtEl>
                                          <p:spTgt spid="46"/>
                                        </p:tgtEl>
                                        <p:attrNameLst>
                                          <p:attrName>ppt_w</p:attrName>
                                        </p:attrNameLst>
                                      </p:cBhvr>
                                      <p:tavLst>
                                        <p:tav tm="0">
                                          <p:val>
                                            <p:fltVal val="0"/>
                                          </p:val>
                                        </p:tav>
                                        <p:tav tm="100000">
                                          <p:val>
                                            <p:strVal val="#ppt_w"/>
                                          </p:val>
                                        </p:tav>
                                      </p:tavLst>
                                    </p:anim>
                                    <p:anim calcmode="lin" valueType="num">
                                      <p:cBhvr>
                                        <p:cTn id="74" dur="500" fill="hold"/>
                                        <p:tgtEl>
                                          <p:spTgt spid="46"/>
                                        </p:tgtEl>
                                        <p:attrNameLst>
                                          <p:attrName>ppt_h</p:attrName>
                                        </p:attrNameLst>
                                      </p:cBhvr>
                                      <p:tavLst>
                                        <p:tav tm="0">
                                          <p:val>
                                            <p:fltVal val="0"/>
                                          </p:val>
                                        </p:tav>
                                        <p:tav tm="100000">
                                          <p:val>
                                            <p:strVal val="#ppt_h"/>
                                          </p:val>
                                        </p:tav>
                                      </p:tavLst>
                                    </p:anim>
                                    <p:animEffect transition="in" filter="fade">
                                      <p:cBhvr>
                                        <p:cTn id="75" dur="500"/>
                                        <p:tgtEl>
                                          <p:spTgt spid="4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 calcmode="lin" valueType="num">
                                      <p:cBhvr>
                                        <p:cTn id="78" dur="500" fill="hold"/>
                                        <p:tgtEl>
                                          <p:spTgt spid="43"/>
                                        </p:tgtEl>
                                        <p:attrNameLst>
                                          <p:attrName>ppt_w</p:attrName>
                                        </p:attrNameLst>
                                      </p:cBhvr>
                                      <p:tavLst>
                                        <p:tav tm="0">
                                          <p:val>
                                            <p:fltVal val="0"/>
                                          </p:val>
                                        </p:tav>
                                        <p:tav tm="100000">
                                          <p:val>
                                            <p:strVal val="#ppt_w"/>
                                          </p:val>
                                        </p:tav>
                                      </p:tavLst>
                                    </p:anim>
                                    <p:anim calcmode="lin" valueType="num">
                                      <p:cBhvr>
                                        <p:cTn id="79" dur="500" fill="hold"/>
                                        <p:tgtEl>
                                          <p:spTgt spid="43"/>
                                        </p:tgtEl>
                                        <p:attrNameLst>
                                          <p:attrName>ppt_h</p:attrName>
                                        </p:attrNameLst>
                                      </p:cBhvr>
                                      <p:tavLst>
                                        <p:tav tm="0">
                                          <p:val>
                                            <p:fltVal val="0"/>
                                          </p:val>
                                        </p:tav>
                                        <p:tav tm="100000">
                                          <p:val>
                                            <p:strVal val="#ppt_h"/>
                                          </p:val>
                                        </p:tav>
                                      </p:tavLst>
                                    </p:anim>
                                    <p:animEffect transition="in" filter="fade">
                                      <p:cBhvr>
                                        <p:cTn id="80" dur="500"/>
                                        <p:tgtEl>
                                          <p:spTgt spid="43"/>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anim calcmode="lin" valueType="num">
                                      <p:cBhvr>
                                        <p:cTn id="83" dur="500" fill="hold"/>
                                        <p:tgtEl>
                                          <p:spTgt spid="44"/>
                                        </p:tgtEl>
                                        <p:attrNameLst>
                                          <p:attrName>ppt_w</p:attrName>
                                        </p:attrNameLst>
                                      </p:cBhvr>
                                      <p:tavLst>
                                        <p:tav tm="0">
                                          <p:val>
                                            <p:fltVal val="0"/>
                                          </p:val>
                                        </p:tav>
                                        <p:tav tm="100000">
                                          <p:val>
                                            <p:strVal val="#ppt_w"/>
                                          </p:val>
                                        </p:tav>
                                      </p:tavLst>
                                    </p:anim>
                                    <p:anim calcmode="lin" valueType="num">
                                      <p:cBhvr>
                                        <p:cTn id="84" dur="500" fill="hold"/>
                                        <p:tgtEl>
                                          <p:spTgt spid="44"/>
                                        </p:tgtEl>
                                        <p:attrNameLst>
                                          <p:attrName>ppt_h</p:attrName>
                                        </p:attrNameLst>
                                      </p:cBhvr>
                                      <p:tavLst>
                                        <p:tav tm="0">
                                          <p:val>
                                            <p:fltVal val="0"/>
                                          </p:val>
                                        </p:tav>
                                        <p:tav tm="100000">
                                          <p:val>
                                            <p:strVal val="#ppt_h"/>
                                          </p:val>
                                        </p:tav>
                                      </p:tavLst>
                                    </p:anim>
                                    <p:animEffect transition="in" filter="fade">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48"/>
                                        </p:tgtEl>
                                        <p:attrNameLst>
                                          <p:attrName>style.visibility</p:attrName>
                                        </p:attrNameLst>
                                      </p:cBhvr>
                                      <p:to>
                                        <p:strVal val="visible"/>
                                      </p:to>
                                    </p:set>
                                    <p:anim calcmode="lin" valueType="num">
                                      <p:cBhvr>
                                        <p:cTn id="90" dur="500" fill="hold"/>
                                        <p:tgtEl>
                                          <p:spTgt spid="48"/>
                                        </p:tgtEl>
                                        <p:attrNameLst>
                                          <p:attrName>ppt_w</p:attrName>
                                        </p:attrNameLst>
                                      </p:cBhvr>
                                      <p:tavLst>
                                        <p:tav tm="0">
                                          <p:val>
                                            <p:fltVal val="0"/>
                                          </p:val>
                                        </p:tav>
                                        <p:tav tm="100000">
                                          <p:val>
                                            <p:strVal val="#ppt_w"/>
                                          </p:val>
                                        </p:tav>
                                      </p:tavLst>
                                    </p:anim>
                                    <p:anim calcmode="lin" valueType="num">
                                      <p:cBhvr>
                                        <p:cTn id="91" dur="500" fill="hold"/>
                                        <p:tgtEl>
                                          <p:spTgt spid="48"/>
                                        </p:tgtEl>
                                        <p:attrNameLst>
                                          <p:attrName>ppt_h</p:attrName>
                                        </p:attrNameLst>
                                      </p:cBhvr>
                                      <p:tavLst>
                                        <p:tav tm="0">
                                          <p:val>
                                            <p:fltVal val="0"/>
                                          </p:val>
                                        </p:tav>
                                        <p:tav tm="100000">
                                          <p:val>
                                            <p:strVal val="#ppt_h"/>
                                          </p:val>
                                        </p:tav>
                                      </p:tavLst>
                                    </p:anim>
                                    <p:animEffect transition="in" filter="fade">
                                      <p:cBhvr>
                                        <p:cTn id="92" dur="500"/>
                                        <p:tgtEl>
                                          <p:spTgt spid="48"/>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p:cTn id="95" dur="500" fill="hold"/>
                                        <p:tgtEl>
                                          <p:spTgt spid="27"/>
                                        </p:tgtEl>
                                        <p:attrNameLst>
                                          <p:attrName>ppt_w</p:attrName>
                                        </p:attrNameLst>
                                      </p:cBhvr>
                                      <p:tavLst>
                                        <p:tav tm="0">
                                          <p:val>
                                            <p:fltVal val="0"/>
                                          </p:val>
                                        </p:tav>
                                        <p:tav tm="100000">
                                          <p:val>
                                            <p:strVal val="#ppt_w"/>
                                          </p:val>
                                        </p:tav>
                                      </p:tavLst>
                                    </p:anim>
                                    <p:anim calcmode="lin" valueType="num">
                                      <p:cBhvr>
                                        <p:cTn id="96" dur="500" fill="hold"/>
                                        <p:tgtEl>
                                          <p:spTgt spid="27"/>
                                        </p:tgtEl>
                                        <p:attrNameLst>
                                          <p:attrName>ppt_h</p:attrName>
                                        </p:attrNameLst>
                                      </p:cBhvr>
                                      <p:tavLst>
                                        <p:tav tm="0">
                                          <p:val>
                                            <p:fltVal val="0"/>
                                          </p:val>
                                        </p:tav>
                                        <p:tav tm="100000">
                                          <p:val>
                                            <p:strVal val="#ppt_h"/>
                                          </p:val>
                                        </p:tav>
                                      </p:tavLst>
                                    </p:anim>
                                    <p:animEffect transition="in" filter="fade">
                                      <p:cBhvr>
                                        <p:cTn id="97" dur="500"/>
                                        <p:tgtEl>
                                          <p:spTgt spid="27"/>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8"/>
                                        </p:tgtEl>
                                        <p:attrNameLst>
                                          <p:attrName>style.visibility</p:attrName>
                                        </p:attrNameLst>
                                      </p:cBhvr>
                                      <p:to>
                                        <p:strVal val="visible"/>
                                      </p:to>
                                    </p:set>
                                    <p:anim calcmode="lin" valueType="num">
                                      <p:cBhvr>
                                        <p:cTn id="100" dur="500" fill="hold"/>
                                        <p:tgtEl>
                                          <p:spTgt spid="28"/>
                                        </p:tgtEl>
                                        <p:attrNameLst>
                                          <p:attrName>ppt_w</p:attrName>
                                        </p:attrNameLst>
                                      </p:cBhvr>
                                      <p:tavLst>
                                        <p:tav tm="0">
                                          <p:val>
                                            <p:fltVal val="0"/>
                                          </p:val>
                                        </p:tav>
                                        <p:tav tm="100000">
                                          <p:val>
                                            <p:strVal val="#ppt_w"/>
                                          </p:val>
                                        </p:tav>
                                      </p:tavLst>
                                    </p:anim>
                                    <p:anim calcmode="lin" valueType="num">
                                      <p:cBhvr>
                                        <p:cTn id="101" dur="500" fill="hold"/>
                                        <p:tgtEl>
                                          <p:spTgt spid="28"/>
                                        </p:tgtEl>
                                        <p:attrNameLst>
                                          <p:attrName>ppt_h</p:attrName>
                                        </p:attrNameLst>
                                      </p:cBhvr>
                                      <p:tavLst>
                                        <p:tav tm="0">
                                          <p:val>
                                            <p:fltVal val="0"/>
                                          </p:val>
                                        </p:tav>
                                        <p:tav tm="100000">
                                          <p:val>
                                            <p:strVal val="#ppt_h"/>
                                          </p:val>
                                        </p:tav>
                                      </p:tavLst>
                                    </p:anim>
                                    <p:animEffect transition="in" filter="fade">
                                      <p:cBhvr>
                                        <p:cTn id="102" dur="500"/>
                                        <p:tgtEl>
                                          <p:spTgt spid="28"/>
                                        </p:tgtEl>
                                      </p:cBhvr>
                                    </p:animEffect>
                                  </p:childTnLst>
                                </p:cTn>
                              </p:par>
                              <p:par>
                                <p:cTn id="103" presetID="53" presetClass="entr" presetSubtype="16" fill="hold" nodeType="withEffect">
                                  <p:stCondLst>
                                    <p:cond delay="0"/>
                                  </p:stCondLst>
                                  <p:childTnLst>
                                    <p:set>
                                      <p:cBhvr>
                                        <p:cTn id="104" dur="1" fill="hold">
                                          <p:stCondLst>
                                            <p:cond delay="0"/>
                                          </p:stCondLst>
                                        </p:cTn>
                                        <p:tgtEl>
                                          <p:spTgt spid="31"/>
                                        </p:tgtEl>
                                        <p:attrNameLst>
                                          <p:attrName>style.visibility</p:attrName>
                                        </p:attrNameLst>
                                      </p:cBhvr>
                                      <p:to>
                                        <p:strVal val="visible"/>
                                      </p:to>
                                    </p:set>
                                    <p:anim calcmode="lin" valueType="num">
                                      <p:cBhvr>
                                        <p:cTn id="105" dur="500" fill="hold"/>
                                        <p:tgtEl>
                                          <p:spTgt spid="31"/>
                                        </p:tgtEl>
                                        <p:attrNameLst>
                                          <p:attrName>ppt_w</p:attrName>
                                        </p:attrNameLst>
                                      </p:cBhvr>
                                      <p:tavLst>
                                        <p:tav tm="0">
                                          <p:val>
                                            <p:fltVal val="0"/>
                                          </p:val>
                                        </p:tav>
                                        <p:tav tm="100000">
                                          <p:val>
                                            <p:strVal val="#ppt_w"/>
                                          </p:val>
                                        </p:tav>
                                      </p:tavLst>
                                    </p:anim>
                                    <p:anim calcmode="lin" valueType="num">
                                      <p:cBhvr>
                                        <p:cTn id="106" dur="500" fill="hold"/>
                                        <p:tgtEl>
                                          <p:spTgt spid="31"/>
                                        </p:tgtEl>
                                        <p:attrNameLst>
                                          <p:attrName>ppt_h</p:attrName>
                                        </p:attrNameLst>
                                      </p:cBhvr>
                                      <p:tavLst>
                                        <p:tav tm="0">
                                          <p:val>
                                            <p:fltVal val="0"/>
                                          </p:val>
                                        </p:tav>
                                        <p:tav tm="100000">
                                          <p:val>
                                            <p:strVal val="#ppt_h"/>
                                          </p:val>
                                        </p:tav>
                                      </p:tavLst>
                                    </p:anim>
                                    <p:animEffect transition="in" filter="fade">
                                      <p:cBhvr>
                                        <p:cTn id="107" dur="500"/>
                                        <p:tgtEl>
                                          <p:spTgt spid="31"/>
                                        </p:tgtEl>
                                      </p:cBhvr>
                                    </p:animEffect>
                                  </p:childTnLst>
                                </p:cTn>
                              </p:par>
                              <p:par>
                                <p:cTn id="108" presetID="53" presetClass="entr" presetSubtype="16" fill="hold" nodeType="withEffect">
                                  <p:stCondLst>
                                    <p:cond delay="0"/>
                                  </p:stCondLst>
                                  <p:childTnLst>
                                    <p:set>
                                      <p:cBhvr>
                                        <p:cTn id="109" dur="1" fill="hold">
                                          <p:stCondLst>
                                            <p:cond delay="0"/>
                                          </p:stCondLst>
                                        </p:cTn>
                                        <p:tgtEl>
                                          <p:spTgt spid="34"/>
                                        </p:tgtEl>
                                        <p:attrNameLst>
                                          <p:attrName>style.visibility</p:attrName>
                                        </p:attrNameLst>
                                      </p:cBhvr>
                                      <p:to>
                                        <p:strVal val="visible"/>
                                      </p:to>
                                    </p:set>
                                    <p:anim calcmode="lin" valueType="num">
                                      <p:cBhvr>
                                        <p:cTn id="110" dur="500" fill="hold"/>
                                        <p:tgtEl>
                                          <p:spTgt spid="34"/>
                                        </p:tgtEl>
                                        <p:attrNameLst>
                                          <p:attrName>ppt_w</p:attrName>
                                        </p:attrNameLst>
                                      </p:cBhvr>
                                      <p:tavLst>
                                        <p:tav tm="0">
                                          <p:val>
                                            <p:fltVal val="0"/>
                                          </p:val>
                                        </p:tav>
                                        <p:tav tm="100000">
                                          <p:val>
                                            <p:strVal val="#ppt_w"/>
                                          </p:val>
                                        </p:tav>
                                      </p:tavLst>
                                    </p:anim>
                                    <p:anim calcmode="lin" valueType="num">
                                      <p:cBhvr>
                                        <p:cTn id="111" dur="500" fill="hold"/>
                                        <p:tgtEl>
                                          <p:spTgt spid="34"/>
                                        </p:tgtEl>
                                        <p:attrNameLst>
                                          <p:attrName>ppt_h</p:attrName>
                                        </p:attrNameLst>
                                      </p:cBhvr>
                                      <p:tavLst>
                                        <p:tav tm="0">
                                          <p:val>
                                            <p:fltVal val="0"/>
                                          </p:val>
                                        </p:tav>
                                        <p:tav tm="100000">
                                          <p:val>
                                            <p:strVal val="#ppt_h"/>
                                          </p:val>
                                        </p:tav>
                                      </p:tavLst>
                                    </p:anim>
                                    <p:animEffect transition="in" filter="fade">
                                      <p:cBhvr>
                                        <p:cTn id="112" dur="500"/>
                                        <p:tgtEl>
                                          <p:spTgt spid="34"/>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29"/>
                                        </p:tgtEl>
                                        <p:attrNameLst>
                                          <p:attrName>style.visibility</p:attrName>
                                        </p:attrNameLst>
                                      </p:cBhvr>
                                      <p:to>
                                        <p:strVal val="visible"/>
                                      </p:to>
                                    </p:set>
                                    <p:anim calcmode="lin" valueType="num">
                                      <p:cBhvr>
                                        <p:cTn id="115" dur="500" fill="hold"/>
                                        <p:tgtEl>
                                          <p:spTgt spid="29"/>
                                        </p:tgtEl>
                                        <p:attrNameLst>
                                          <p:attrName>ppt_w</p:attrName>
                                        </p:attrNameLst>
                                      </p:cBhvr>
                                      <p:tavLst>
                                        <p:tav tm="0">
                                          <p:val>
                                            <p:fltVal val="0"/>
                                          </p:val>
                                        </p:tav>
                                        <p:tav tm="100000">
                                          <p:val>
                                            <p:strVal val="#ppt_w"/>
                                          </p:val>
                                        </p:tav>
                                      </p:tavLst>
                                    </p:anim>
                                    <p:anim calcmode="lin" valueType="num">
                                      <p:cBhvr>
                                        <p:cTn id="116" dur="500" fill="hold"/>
                                        <p:tgtEl>
                                          <p:spTgt spid="29"/>
                                        </p:tgtEl>
                                        <p:attrNameLst>
                                          <p:attrName>ppt_h</p:attrName>
                                        </p:attrNameLst>
                                      </p:cBhvr>
                                      <p:tavLst>
                                        <p:tav tm="0">
                                          <p:val>
                                            <p:fltVal val="0"/>
                                          </p:val>
                                        </p:tav>
                                        <p:tav tm="100000">
                                          <p:val>
                                            <p:strVal val="#ppt_h"/>
                                          </p:val>
                                        </p:tav>
                                      </p:tavLst>
                                    </p:anim>
                                    <p:animEffect transition="in" filter="fade">
                                      <p:cBhvr>
                                        <p:cTn id="117" dur="500"/>
                                        <p:tgtEl>
                                          <p:spTgt spid="29"/>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32"/>
                                        </p:tgtEl>
                                        <p:attrNameLst>
                                          <p:attrName>style.visibility</p:attrName>
                                        </p:attrNameLst>
                                      </p:cBhvr>
                                      <p:to>
                                        <p:strVal val="visible"/>
                                      </p:to>
                                    </p:set>
                                    <p:anim calcmode="lin" valueType="num">
                                      <p:cBhvr>
                                        <p:cTn id="120" dur="500" fill="hold"/>
                                        <p:tgtEl>
                                          <p:spTgt spid="32"/>
                                        </p:tgtEl>
                                        <p:attrNameLst>
                                          <p:attrName>ppt_w</p:attrName>
                                        </p:attrNameLst>
                                      </p:cBhvr>
                                      <p:tavLst>
                                        <p:tav tm="0">
                                          <p:val>
                                            <p:fltVal val="0"/>
                                          </p:val>
                                        </p:tav>
                                        <p:tav tm="100000">
                                          <p:val>
                                            <p:strVal val="#ppt_w"/>
                                          </p:val>
                                        </p:tav>
                                      </p:tavLst>
                                    </p:anim>
                                    <p:anim calcmode="lin" valueType="num">
                                      <p:cBhvr>
                                        <p:cTn id="121" dur="500" fill="hold"/>
                                        <p:tgtEl>
                                          <p:spTgt spid="32"/>
                                        </p:tgtEl>
                                        <p:attrNameLst>
                                          <p:attrName>ppt_h</p:attrName>
                                        </p:attrNameLst>
                                      </p:cBhvr>
                                      <p:tavLst>
                                        <p:tav tm="0">
                                          <p:val>
                                            <p:fltVal val="0"/>
                                          </p:val>
                                        </p:tav>
                                        <p:tav tm="100000">
                                          <p:val>
                                            <p:strVal val="#ppt_h"/>
                                          </p:val>
                                        </p:tav>
                                      </p:tavLst>
                                    </p:anim>
                                    <p:animEffect transition="in" filter="fade">
                                      <p:cBhvr>
                                        <p:cTn id="122" dur="500"/>
                                        <p:tgtEl>
                                          <p:spTgt spid="32"/>
                                        </p:tgtEl>
                                      </p:cBhvr>
                                    </p:animEffect>
                                  </p:childTnLst>
                                </p:cTn>
                              </p:par>
                              <p:par>
                                <p:cTn id="123" presetID="53" presetClass="entr" presetSubtype="16" fill="hold" nodeType="withEffect">
                                  <p:stCondLst>
                                    <p:cond delay="0"/>
                                  </p:stCondLst>
                                  <p:childTnLst>
                                    <p:set>
                                      <p:cBhvr>
                                        <p:cTn id="124" dur="1" fill="hold">
                                          <p:stCondLst>
                                            <p:cond delay="0"/>
                                          </p:stCondLst>
                                        </p:cTn>
                                        <p:tgtEl>
                                          <p:spTgt spid="38"/>
                                        </p:tgtEl>
                                        <p:attrNameLst>
                                          <p:attrName>style.visibility</p:attrName>
                                        </p:attrNameLst>
                                      </p:cBhvr>
                                      <p:to>
                                        <p:strVal val="visible"/>
                                      </p:to>
                                    </p:set>
                                    <p:anim calcmode="lin" valueType="num">
                                      <p:cBhvr>
                                        <p:cTn id="125" dur="500" fill="hold"/>
                                        <p:tgtEl>
                                          <p:spTgt spid="38"/>
                                        </p:tgtEl>
                                        <p:attrNameLst>
                                          <p:attrName>ppt_w</p:attrName>
                                        </p:attrNameLst>
                                      </p:cBhvr>
                                      <p:tavLst>
                                        <p:tav tm="0">
                                          <p:val>
                                            <p:fltVal val="0"/>
                                          </p:val>
                                        </p:tav>
                                        <p:tav tm="100000">
                                          <p:val>
                                            <p:strVal val="#ppt_w"/>
                                          </p:val>
                                        </p:tav>
                                      </p:tavLst>
                                    </p:anim>
                                    <p:anim calcmode="lin" valueType="num">
                                      <p:cBhvr>
                                        <p:cTn id="126" dur="500" fill="hold"/>
                                        <p:tgtEl>
                                          <p:spTgt spid="38"/>
                                        </p:tgtEl>
                                        <p:attrNameLst>
                                          <p:attrName>ppt_h</p:attrName>
                                        </p:attrNameLst>
                                      </p:cBhvr>
                                      <p:tavLst>
                                        <p:tav tm="0">
                                          <p:val>
                                            <p:fltVal val="0"/>
                                          </p:val>
                                        </p:tav>
                                        <p:tav tm="100000">
                                          <p:val>
                                            <p:strVal val="#ppt_h"/>
                                          </p:val>
                                        </p:tav>
                                      </p:tavLst>
                                    </p:anim>
                                    <p:animEffect transition="in" filter="fade">
                                      <p:cBhvr>
                                        <p:cTn id="127" dur="500"/>
                                        <p:tgtEl>
                                          <p:spTgt spid="38"/>
                                        </p:tgtEl>
                                      </p:cBhvr>
                                    </p:animEffect>
                                  </p:childTnLst>
                                </p:cTn>
                              </p:par>
                              <p:par>
                                <p:cTn id="128" presetID="53" presetClass="entr" presetSubtype="16" fill="hold" nodeType="withEffect">
                                  <p:stCondLst>
                                    <p:cond delay="0"/>
                                  </p:stCondLst>
                                  <p:childTnLst>
                                    <p:set>
                                      <p:cBhvr>
                                        <p:cTn id="129" dur="1" fill="hold">
                                          <p:stCondLst>
                                            <p:cond delay="0"/>
                                          </p:stCondLst>
                                        </p:cTn>
                                        <p:tgtEl>
                                          <p:spTgt spid="40"/>
                                        </p:tgtEl>
                                        <p:attrNameLst>
                                          <p:attrName>style.visibility</p:attrName>
                                        </p:attrNameLst>
                                      </p:cBhvr>
                                      <p:to>
                                        <p:strVal val="visible"/>
                                      </p:to>
                                    </p:set>
                                    <p:anim calcmode="lin" valueType="num">
                                      <p:cBhvr>
                                        <p:cTn id="130" dur="500" fill="hold"/>
                                        <p:tgtEl>
                                          <p:spTgt spid="40"/>
                                        </p:tgtEl>
                                        <p:attrNameLst>
                                          <p:attrName>ppt_w</p:attrName>
                                        </p:attrNameLst>
                                      </p:cBhvr>
                                      <p:tavLst>
                                        <p:tav tm="0">
                                          <p:val>
                                            <p:fltVal val="0"/>
                                          </p:val>
                                        </p:tav>
                                        <p:tav tm="100000">
                                          <p:val>
                                            <p:strVal val="#ppt_w"/>
                                          </p:val>
                                        </p:tav>
                                      </p:tavLst>
                                    </p:anim>
                                    <p:anim calcmode="lin" valueType="num">
                                      <p:cBhvr>
                                        <p:cTn id="131" dur="500" fill="hold"/>
                                        <p:tgtEl>
                                          <p:spTgt spid="40"/>
                                        </p:tgtEl>
                                        <p:attrNameLst>
                                          <p:attrName>ppt_h</p:attrName>
                                        </p:attrNameLst>
                                      </p:cBhvr>
                                      <p:tavLst>
                                        <p:tav tm="0">
                                          <p:val>
                                            <p:fltVal val="0"/>
                                          </p:val>
                                        </p:tav>
                                        <p:tav tm="100000">
                                          <p:val>
                                            <p:strVal val="#ppt_h"/>
                                          </p:val>
                                        </p:tav>
                                      </p:tavLst>
                                    </p:anim>
                                    <p:animEffect transition="in" filter="fade">
                                      <p:cBhvr>
                                        <p:cTn id="132" dur="500"/>
                                        <p:tgtEl>
                                          <p:spTgt spid="40"/>
                                        </p:tgtEl>
                                      </p:cBhvr>
                                    </p:animEffect>
                                  </p:childTnLst>
                                </p:cTn>
                              </p:par>
                              <p:par>
                                <p:cTn id="133" presetID="53" presetClass="entr" presetSubtype="16" fill="hold" grpId="0" nodeType="withEffect">
                                  <p:stCondLst>
                                    <p:cond delay="0"/>
                                  </p:stCondLst>
                                  <p:childTnLst>
                                    <p:set>
                                      <p:cBhvr>
                                        <p:cTn id="134" dur="1" fill="hold">
                                          <p:stCondLst>
                                            <p:cond delay="0"/>
                                          </p:stCondLst>
                                        </p:cTn>
                                        <p:tgtEl>
                                          <p:spTgt spid="35"/>
                                        </p:tgtEl>
                                        <p:attrNameLst>
                                          <p:attrName>style.visibility</p:attrName>
                                        </p:attrNameLst>
                                      </p:cBhvr>
                                      <p:to>
                                        <p:strVal val="visible"/>
                                      </p:to>
                                    </p:set>
                                    <p:anim calcmode="lin" valueType="num">
                                      <p:cBhvr>
                                        <p:cTn id="135" dur="500" fill="hold"/>
                                        <p:tgtEl>
                                          <p:spTgt spid="35"/>
                                        </p:tgtEl>
                                        <p:attrNameLst>
                                          <p:attrName>ppt_w</p:attrName>
                                        </p:attrNameLst>
                                      </p:cBhvr>
                                      <p:tavLst>
                                        <p:tav tm="0">
                                          <p:val>
                                            <p:fltVal val="0"/>
                                          </p:val>
                                        </p:tav>
                                        <p:tav tm="100000">
                                          <p:val>
                                            <p:strVal val="#ppt_w"/>
                                          </p:val>
                                        </p:tav>
                                      </p:tavLst>
                                    </p:anim>
                                    <p:anim calcmode="lin" valueType="num">
                                      <p:cBhvr>
                                        <p:cTn id="136" dur="500" fill="hold"/>
                                        <p:tgtEl>
                                          <p:spTgt spid="35"/>
                                        </p:tgtEl>
                                        <p:attrNameLst>
                                          <p:attrName>ppt_h</p:attrName>
                                        </p:attrNameLst>
                                      </p:cBhvr>
                                      <p:tavLst>
                                        <p:tav tm="0">
                                          <p:val>
                                            <p:fltVal val="0"/>
                                          </p:val>
                                        </p:tav>
                                        <p:tav tm="100000">
                                          <p:val>
                                            <p:strVal val="#ppt_h"/>
                                          </p:val>
                                        </p:tav>
                                      </p:tavLst>
                                    </p:anim>
                                    <p:animEffect transition="in" filter="fade">
                                      <p:cBhvr>
                                        <p:cTn id="137" dur="500"/>
                                        <p:tgtEl>
                                          <p:spTgt spid="35"/>
                                        </p:tgtEl>
                                      </p:cBhvr>
                                    </p:animEffect>
                                  </p:childTnLst>
                                </p:cTn>
                              </p:par>
                              <p:par>
                                <p:cTn id="138" presetID="53" presetClass="entr" presetSubtype="16" fill="hold" grpId="0" nodeType="withEffect">
                                  <p:stCondLst>
                                    <p:cond delay="0"/>
                                  </p:stCondLst>
                                  <p:childTnLst>
                                    <p:set>
                                      <p:cBhvr>
                                        <p:cTn id="139" dur="1" fill="hold">
                                          <p:stCondLst>
                                            <p:cond delay="0"/>
                                          </p:stCondLst>
                                        </p:cTn>
                                        <p:tgtEl>
                                          <p:spTgt spid="36"/>
                                        </p:tgtEl>
                                        <p:attrNameLst>
                                          <p:attrName>style.visibility</p:attrName>
                                        </p:attrNameLst>
                                      </p:cBhvr>
                                      <p:to>
                                        <p:strVal val="visible"/>
                                      </p:to>
                                    </p:set>
                                    <p:anim calcmode="lin" valueType="num">
                                      <p:cBhvr>
                                        <p:cTn id="140" dur="500" fill="hold"/>
                                        <p:tgtEl>
                                          <p:spTgt spid="36"/>
                                        </p:tgtEl>
                                        <p:attrNameLst>
                                          <p:attrName>ppt_w</p:attrName>
                                        </p:attrNameLst>
                                      </p:cBhvr>
                                      <p:tavLst>
                                        <p:tav tm="0">
                                          <p:val>
                                            <p:fltVal val="0"/>
                                          </p:val>
                                        </p:tav>
                                        <p:tav tm="100000">
                                          <p:val>
                                            <p:strVal val="#ppt_w"/>
                                          </p:val>
                                        </p:tav>
                                      </p:tavLst>
                                    </p:anim>
                                    <p:anim calcmode="lin" valueType="num">
                                      <p:cBhvr>
                                        <p:cTn id="141" dur="500" fill="hold"/>
                                        <p:tgtEl>
                                          <p:spTgt spid="36"/>
                                        </p:tgtEl>
                                        <p:attrNameLst>
                                          <p:attrName>ppt_h</p:attrName>
                                        </p:attrNameLst>
                                      </p:cBhvr>
                                      <p:tavLst>
                                        <p:tav tm="0">
                                          <p:val>
                                            <p:fltVal val="0"/>
                                          </p:val>
                                        </p:tav>
                                        <p:tav tm="100000">
                                          <p:val>
                                            <p:strVal val="#ppt_h"/>
                                          </p:val>
                                        </p:tav>
                                      </p:tavLst>
                                    </p:anim>
                                    <p:animEffect transition="in" filter="fade">
                                      <p:cBhvr>
                                        <p:cTn id="142" dur="500"/>
                                        <p:tgtEl>
                                          <p:spTgt spid="36"/>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grpId="0" nodeType="clickEffect">
                                  <p:stCondLst>
                                    <p:cond delay="0"/>
                                  </p:stCondLst>
                                  <p:childTnLst>
                                    <p:set>
                                      <p:cBhvr>
                                        <p:cTn id="146" dur="1" fill="hold">
                                          <p:stCondLst>
                                            <p:cond delay="0"/>
                                          </p:stCondLst>
                                        </p:cTn>
                                        <p:tgtEl>
                                          <p:spTgt spid="49"/>
                                        </p:tgtEl>
                                        <p:attrNameLst>
                                          <p:attrName>style.visibility</p:attrName>
                                        </p:attrNameLst>
                                      </p:cBhvr>
                                      <p:to>
                                        <p:strVal val="visible"/>
                                      </p:to>
                                    </p:set>
                                    <p:anim calcmode="lin" valueType="num">
                                      <p:cBhvr>
                                        <p:cTn id="147" dur="500" fill="hold"/>
                                        <p:tgtEl>
                                          <p:spTgt spid="49"/>
                                        </p:tgtEl>
                                        <p:attrNameLst>
                                          <p:attrName>ppt_w</p:attrName>
                                        </p:attrNameLst>
                                      </p:cBhvr>
                                      <p:tavLst>
                                        <p:tav tm="0">
                                          <p:val>
                                            <p:fltVal val="0"/>
                                          </p:val>
                                        </p:tav>
                                        <p:tav tm="100000">
                                          <p:val>
                                            <p:strVal val="#ppt_w"/>
                                          </p:val>
                                        </p:tav>
                                      </p:tavLst>
                                    </p:anim>
                                    <p:anim calcmode="lin" valueType="num">
                                      <p:cBhvr>
                                        <p:cTn id="148" dur="500" fill="hold"/>
                                        <p:tgtEl>
                                          <p:spTgt spid="49"/>
                                        </p:tgtEl>
                                        <p:attrNameLst>
                                          <p:attrName>ppt_h</p:attrName>
                                        </p:attrNameLst>
                                      </p:cBhvr>
                                      <p:tavLst>
                                        <p:tav tm="0">
                                          <p:val>
                                            <p:fltVal val="0"/>
                                          </p:val>
                                        </p:tav>
                                        <p:tav tm="100000">
                                          <p:val>
                                            <p:strVal val="#ppt_h"/>
                                          </p:val>
                                        </p:tav>
                                      </p:tavLst>
                                    </p:anim>
                                    <p:animEffect transition="in" filter="fade">
                                      <p:cBhvr>
                                        <p:cTn id="14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P spid="16" grpId="0" animBg="1"/>
      <p:bldP spid="17" grpId="0" animBg="1"/>
      <p:bldP spid="25" grpId="0"/>
      <p:bldP spid="26" grpId="0"/>
      <p:bldP spid="27" grpId="0"/>
      <p:bldP spid="28" grpId="0" animBg="1"/>
      <p:bldP spid="29" grpId="0" animBg="1"/>
      <p:bldP spid="32" grpId="0" animBg="1"/>
      <p:bldP spid="35" grpId="0" animBg="1"/>
      <p:bldP spid="36" grpId="0" animBg="1"/>
      <p:bldP spid="41" grpId="0"/>
      <p:bldP spid="42" grpId="0" animBg="1"/>
      <p:bldP spid="43" grpId="0" animBg="1"/>
      <p:bldP spid="44" grpId="0" animBg="1"/>
      <p:bldP spid="47" grpId="0" animBg="1"/>
      <p:bldP spid="48" grpId="0" animBg="1"/>
      <p:bldP spid="4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文本框 24"/>
              <p:cNvSpPr txBox="1"/>
              <p:nvPr/>
            </p:nvSpPr>
            <p:spPr>
              <a:xfrm>
                <a:off x="4543095" y="2770628"/>
                <a:ext cx="4188774" cy="8238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zh-CN" altLang="en-US" b="0" i="1" smtClean="0">
                          <a:latin typeface="Cambria Math" panose="02040503050406030204" pitchFamily="18" charset="0"/>
                          <a:ea typeface="Microsoft YaHei" charset="0"/>
                        </a:rPr>
                        <m:t> </m:t>
                      </m:r>
                      <m:d>
                        <m:dPr>
                          <m:begChr m:val="{"/>
                          <m:endChr m:val=""/>
                          <m:ctrlPr>
                            <a:rPr lang="en-US" altLang="zh-CN" b="0" i="1" smtClean="0">
                              <a:latin typeface="Cambria Math" panose="02040503050406030204" pitchFamily="18" charset="0"/>
                              <a:ea typeface="Microsoft YaHei" charset="0"/>
                            </a:rPr>
                          </m:ctrlPr>
                        </m:dPr>
                        <m:e>
                          <m:eqArr>
                            <m:eqArrPr>
                              <m:ctrlPr>
                                <a:rPr lang="en-US" altLang="zh-CN" b="0" i="1" smtClean="0">
                                  <a:latin typeface="Cambria Math" panose="02040503050406030204" pitchFamily="18" charset="0"/>
                                  <a:ea typeface="Microsoft YaHei" charset="0"/>
                                </a:rPr>
                              </m:ctrlPr>
                            </m:eqArrPr>
                            <m:e>
                              <m:r>
                                <a:rPr lang="en-US" altLang="zh-CN" b="0" i="1" smtClean="0">
                                  <a:latin typeface="Cambria Math" panose="02040503050406030204" pitchFamily="18" charset="0"/>
                                  <a:ea typeface="Microsoft YaHei" charset="0"/>
                                </a:rPr>
                                <m:t>6.24  </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Cambria Math" panose="02040503050406030204" pitchFamily="18" charset="0"/>
                                </a:rPr>
                                <m:t>&lt;</m:t>
                              </m:r>
                              <m:r>
                                <a:rPr lang="en-US" altLang="zh-CN" b="0" i="1" smtClean="0">
                                  <a:latin typeface="Cambria Math" panose="02040503050406030204" pitchFamily="18" charset="0"/>
                                  <a:ea typeface="Microsoft YaHei" charset="0"/>
                                </a:rPr>
                                <m:t>6.5</m:t>
                              </m:r>
                            </m:e>
                            <m:e>
                              <m:r>
                                <a:rPr lang="en-US" altLang="zh-CN" b="0" i="1">
                                  <a:latin typeface="Cambria Math" panose="02040503050406030204" pitchFamily="18" charset="0"/>
                                </a:rPr>
                                <m:t>8.91  </m:t>
                              </m:r>
                              <m:r>
                                <a:rPr lang="en-US" altLang="zh-CN" b="0" i="1">
                                  <a:latin typeface="Cambria Math" panose="02040503050406030204" pitchFamily="18" charset="0"/>
                                </a:rPr>
                                <m:t>𝑥</m:t>
                              </m:r>
                              <m:r>
                                <a:rPr lang="en-US" altLang="zh-CN" b="0" i="1">
                                  <a:latin typeface="Cambria Math" panose="02040503050406030204" pitchFamily="18" charset="0"/>
                                  <a:ea typeface="Cambria Math" panose="02040503050406030204" pitchFamily="18" charset="0"/>
                                </a:rPr>
                                <m:t>≥6.5</m:t>
                              </m:r>
                            </m:e>
                          </m:eqArr>
                        </m:e>
                      </m:d>
                    </m:oMath>
                  </m:oMathPara>
                </a14:m>
                <a:endParaRPr lang="en-US" altLang="zh-CN" b="0">
                  <a:ea typeface="Microsoft YaHei"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4543095" y="2770628"/>
                <a:ext cx="4188774" cy="823815"/>
              </a:xfrm>
              <a:prstGeom prst="rect">
                <a:avLst/>
              </a:prstGeom>
              <a:blipFill>
                <a:blip r:embed="rId3"/>
                <a:stretch>
                  <a:fillRect l="-1813" t="-219403" r="-1208" b="-319403"/>
                </a:stretch>
              </a:blipFill>
            </p:spPr>
            <p:txBody>
              <a:bodyPr/>
              <a:lstStyle/>
              <a:p>
                <a:r>
                  <a:rPr lang="ko-Kore-KR" altLang="en-US">
                    <a:noFill/>
                  </a:rPr>
                  <a:t> </a:t>
                </a:r>
              </a:p>
            </p:txBody>
          </p:sp>
        </mc:Fallback>
      </mc:AlternateContent>
      <p:sp>
        <p:nvSpPr>
          <p:cNvPr id="5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 name="椭圆 14">
            <a:extLst>
              <a:ext uri="{FF2B5EF4-FFF2-40B4-BE49-F238E27FC236}">
                <a16:creationId xmlns:a16="http://schemas.microsoft.com/office/drawing/2014/main" id="{26F4C102-B743-F011-CABA-36E46405507C}"/>
              </a:ext>
            </a:extLst>
          </p:cNvPr>
          <p:cNvSpPr/>
          <p:nvPr/>
        </p:nvSpPr>
        <p:spPr>
          <a:xfrm>
            <a:off x="10003533" y="2748665"/>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4" name="矩形 15">
            <a:extLst>
              <a:ext uri="{FF2B5EF4-FFF2-40B4-BE49-F238E27FC236}">
                <a16:creationId xmlns:a16="http://schemas.microsoft.com/office/drawing/2014/main" id="{DBB59B94-1010-FA07-03D1-0A86D69674AE}"/>
              </a:ext>
            </a:extLst>
          </p:cNvPr>
          <p:cNvSpPr/>
          <p:nvPr/>
        </p:nvSpPr>
        <p:spPr>
          <a:xfrm>
            <a:off x="9381226" y="3336336"/>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6.24</a:t>
            </a:r>
            <a:endParaRPr lang="zh-CN" altLang="en-US" dirty="0">
              <a:ea typeface="Microsoft YaHei" charset="0"/>
            </a:endParaRPr>
          </a:p>
        </p:txBody>
      </p:sp>
      <p:sp>
        <p:nvSpPr>
          <p:cNvPr id="5" name="矩形 16">
            <a:extLst>
              <a:ext uri="{FF2B5EF4-FFF2-40B4-BE49-F238E27FC236}">
                <a16:creationId xmlns:a16="http://schemas.microsoft.com/office/drawing/2014/main" id="{F572F47D-3404-53B5-14D5-2BA4CB58F357}"/>
              </a:ext>
            </a:extLst>
          </p:cNvPr>
          <p:cNvSpPr/>
          <p:nvPr/>
        </p:nvSpPr>
        <p:spPr>
          <a:xfrm>
            <a:off x="10787660" y="3336336"/>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8.91</a:t>
            </a:r>
            <a:endParaRPr lang="zh-CN" altLang="en-US" sz="2000" dirty="0">
              <a:ea typeface="Microsoft YaHei" charset="0"/>
            </a:endParaRPr>
          </a:p>
        </p:txBody>
      </p:sp>
      <p:cxnSp>
        <p:nvCxnSpPr>
          <p:cNvPr id="6" name="直接连接符 18">
            <a:extLst>
              <a:ext uri="{FF2B5EF4-FFF2-40B4-BE49-F238E27FC236}">
                <a16:creationId xmlns:a16="http://schemas.microsoft.com/office/drawing/2014/main" id="{55C5C9DD-0CED-70D4-C237-923CA9BF5B74}"/>
              </a:ext>
            </a:extLst>
          </p:cNvPr>
          <p:cNvCxnSpPr>
            <a:cxnSpLocks/>
            <a:stCxn id="2" idx="4"/>
            <a:endCxn id="4" idx="0"/>
          </p:cNvCxnSpPr>
          <p:nvPr/>
        </p:nvCxnSpPr>
        <p:spPr>
          <a:xfrm flipH="1">
            <a:off x="9773112" y="3131842"/>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7" name="直接连接符 20">
            <a:extLst>
              <a:ext uri="{FF2B5EF4-FFF2-40B4-BE49-F238E27FC236}">
                <a16:creationId xmlns:a16="http://schemas.microsoft.com/office/drawing/2014/main" id="{C671D626-E2F2-1F33-6AEA-70B49EC8CB2F}"/>
              </a:ext>
            </a:extLst>
          </p:cNvPr>
          <p:cNvCxnSpPr>
            <a:cxnSpLocks/>
            <a:stCxn id="2" idx="4"/>
            <a:endCxn id="5" idx="0"/>
          </p:cNvCxnSpPr>
          <p:nvPr/>
        </p:nvCxnSpPr>
        <p:spPr>
          <a:xfrm>
            <a:off x="10493568" y="3131842"/>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本框 9">
                <a:extLst>
                  <a:ext uri="{FF2B5EF4-FFF2-40B4-BE49-F238E27FC236}">
                    <a16:creationId xmlns:a16="http://schemas.microsoft.com/office/drawing/2014/main" id="{534A63B3-6923-6817-7B80-E680F6243899}"/>
                  </a:ext>
                </a:extLst>
              </p:cNvPr>
              <p:cNvSpPr txBox="1"/>
              <p:nvPr/>
            </p:nvSpPr>
            <p:spPr>
              <a:xfrm>
                <a:off x="3972298" y="3869667"/>
                <a:ext cx="418877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2</m:t>
                          </m:r>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1</m:t>
                          </m:r>
                        </m:sub>
                      </m:sSub>
                      <m:d>
                        <m:dPr>
                          <m:ctrlPr>
                            <a:rPr lang="en-US" altLang="zh-CN" sz="2000" b="0" i="1" smtClean="0">
                              <a:latin typeface="Cambria Math" panose="02040503050406030204" pitchFamily="18" charset="0"/>
                              <a:ea typeface="Microsoft YaHei" charset="0"/>
                            </a:rPr>
                          </m:ctrlPr>
                        </m:dPr>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e>
                      </m:d>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=1,2,…10</m:t>
                      </m:r>
                    </m:oMath>
                  </m:oMathPara>
                </a14:m>
                <a:endParaRPr lang="zh-CN" altLang="en-US" sz="2000" dirty="0">
                  <a:ea typeface="Microsoft YaHei" charset="0"/>
                </a:endParaRPr>
              </a:p>
            </p:txBody>
          </p:sp>
        </mc:Choice>
        <mc:Fallback xmlns="">
          <p:sp>
            <p:nvSpPr>
              <p:cNvPr id="8" name="文本框 9">
                <a:extLst>
                  <a:ext uri="{FF2B5EF4-FFF2-40B4-BE49-F238E27FC236}">
                    <a16:creationId xmlns:a16="http://schemas.microsoft.com/office/drawing/2014/main" id="{534A63B3-6923-6817-7B80-E680F6243899}"/>
                  </a:ext>
                </a:extLst>
              </p:cNvPr>
              <p:cNvSpPr txBox="1">
                <a:spLocks noRot="1" noChangeAspect="1" noMove="1" noResize="1" noEditPoints="1" noAdjustHandles="1" noChangeArrowheads="1" noChangeShapeType="1" noTextEdit="1"/>
              </p:cNvSpPr>
              <p:nvPr/>
            </p:nvSpPr>
            <p:spPr>
              <a:xfrm>
                <a:off x="3972298" y="3869667"/>
                <a:ext cx="4188774" cy="307777"/>
              </a:xfrm>
              <a:prstGeom prst="rect">
                <a:avLst/>
              </a:prstGeom>
              <a:blipFill>
                <a:blip r:embed="rId4"/>
                <a:stretch>
                  <a:fillRect b="-3200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493E5AB-6D82-0AC0-24B9-6281F3328C2B}"/>
                  </a:ext>
                </a:extLst>
              </p:cNvPr>
              <p:cNvSpPr txBox="1"/>
              <p:nvPr/>
            </p:nvSpPr>
            <p:spPr>
              <a:xfrm>
                <a:off x="354000" y="1393704"/>
                <a:ext cx="2727501" cy="461665"/>
              </a:xfrm>
              <a:prstGeom prst="rect">
                <a:avLst/>
              </a:prstGeom>
              <a:noFill/>
            </p:spPr>
            <p:txBody>
              <a:bodyPr wrap="square" rtlCol="0">
                <a:spAutoFit/>
              </a:bodyPr>
              <a:lstStyle/>
              <a:p>
                <a:r>
                  <a:rPr kumimoji="1" lang="en-US" altLang="ko-Kore-KR" b="1">
                    <a:latin typeface="+mj-ea"/>
                    <a:ea typeface="+mj-ea"/>
                  </a:rPr>
                  <a:t>Step</a:t>
                </a:r>
                <a:r>
                  <a:rPr kumimoji="1" lang="en-US" altLang="zh-CN" b="1">
                    <a:latin typeface="+mj-ea"/>
                    <a:ea typeface="+mj-ea"/>
                  </a:rPr>
                  <a:t>1</a:t>
                </a:r>
                <a:r>
                  <a:rPr kumimoji="1" lang="en-US" altLang="ko-Kore-KR" b="1">
                    <a:latin typeface="+mj-ea"/>
                    <a:ea typeface="+mj-ea"/>
                  </a:rPr>
                  <a:t>:</a:t>
                </a:r>
                <a:r>
                  <a:rPr kumimoji="1" lang="zh-CN" altLang="en-US" b="1">
                    <a:latin typeface="+mj-ea"/>
                    <a:ea typeface="+mj-ea"/>
                  </a:rPr>
                  <a:t> 求</a:t>
                </a:r>
                <a14:m>
                  <m:oMath xmlns:m="http://schemas.openxmlformats.org/officeDocument/2006/math">
                    <m:sSub>
                      <m:sSubPr>
                        <m:ctrlPr>
                          <a:rPr lang="en-US" altLang="zh-CN" b="1" i="1" smtClean="0">
                            <a:latin typeface="Cambria Math" panose="02040503050406030204" pitchFamily="18" charset="0"/>
                            <a:ea typeface="+mj-ea"/>
                          </a:rPr>
                        </m:ctrlPr>
                      </m:sSubPr>
                      <m:e>
                        <m:r>
                          <a:rPr lang="en-US" altLang="zh-CN" b="1" i="1" smtClean="0">
                            <a:latin typeface="Cambria Math" panose="02040503050406030204" pitchFamily="18" charset="0"/>
                            <a:ea typeface="+mj-ea"/>
                          </a:rPr>
                          <m:t>𝒇</m:t>
                        </m:r>
                      </m:e>
                      <m:sub>
                        <m:r>
                          <a:rPr lang="en-US" altLang="zh-CN" b="1" i="1" smtClean="0">
                            <a:latin typeface="Cambria Math" panose="02040503050406030204" pitchFamily="18" charset="0"/>
                            <a:ea typeface="+mj-ea"/>
                          </a:rPr>
                          <m:t>𝟏</m:t>
                        </m:r>
                      </m:sub>
                    </m:sSub>
                    <m:d>
                      <m:dPr>
                        <m:ctrlPr>
                          <a:rPr lang="en-US" altLang="zh-CN" b="1" i="1" smtClean="0">
                            <a:latin typeface="Cambria Math" panose="02040503050406030204" pitchFamily="18" charset="0"/>
                            <a:ea typeface="+mj-ea"/>
                          </a:rPr>
                        </m:ctrlPr>
                      </m:dPr>
                      <m:e>
                        <m:r>
                          <a:rPr lang="en-US" altLang="zh-CN" b="1" i="1" smtClean="0">
                            <a:latin typeface="Cambria Math" panose="02040503050406030204" pitchFamily="18" charset="0"/>
                            <a:ea typeface="+mj-ea"/>
                          </a:rPr>
                          <m:t>𝒙</m:t>
                        </m:r>
                      </m:e>
                    </m:d>
                  </m:oMath>
                </a14:m>
                <a:endParaRPr kumimoji="1" lang="ko-Kore-KR" altLang="en-US" b="1">
                  <a:latin typeface="+mj-ea"/>
                  <a:ea typeface="+mj-ea"/>
                </a:endParaRPr>
              </a:p>
            </p:txBody>
          </p:sp>
        </mc:Choice>
        <mc:Fallback xmlns="">
          <p:sp>
            <p:nvSpPr>
              <p:cNvPr id="16" name="TextBox 15">
                <a:extLst>
                  <a:ext uri="{FF2B5EF4-FFF2-40B4-BE49-F238E27FC236}">
                    <a16:creationId xmlns:a16="http://schemas.microsoft.com/office/drawing/2014/main" id="{3493E5AB-6D82-0AC0-24B9-6281F3328C2B}"/>
                  </a:ext>
                </a:extLst>
              </p:cNvPr>
              <p:cNvSpPr txBox="1">
                <a:spLocks noRot="1" noChangeAspect="1" noMove="1" noResize="1" noEditPoints="1" noAdjustHandles="1" noChangeArrowheads="1" noChangeShapeType="1" noTextEdit="1"/>
              </p:cNvSpPr>
              <p:nvPr/>
            </p:nvSpPr>
            <p:spPr>
              <a:xfrm>
                <a:off x="354000" y="1393704"/>
                <a:ext cx="2727501" cy="461665"/>
              </a:xfrm>
              <a:prstGeom prst="rect">
                <a:avLst/>
              </a:prstGeom>
              <a:blipFill>
                <a:blip r:embed="rId5"/>
                <a:stretch>
                  <a:fillRect l="-3241" t="-8108" b="-2973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17" name="文本框 11">
                <a:extLst>
                  <a:ext uri="{FF2B5EF4-FFF2-40B4-BE49-F238E27FC236}">
                    <a16:creationId xmlns:a16="http://schemas.microsoft.com/office/drawing/2014/main" id="{F857118F-E3CD-B897-B3AF-A1CCC8271ED7}"/>
                  </a:ext>
                </a:extLst>
              </p:cNvPr>
              <p:cNvSpPr txBox="1"/>
              <p:nvPr/>
            </p:nvSpPr>
            <p:spPr>
              <a:xfrm>
                <a:off x="3302180" y="1786465"/>
                <a:ext cx="826925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𝑠</m:t>
                      </m:r>
                      <m:r>
                        <a:rPr lang="en-US" altLang="zh-CN" b="0" i="1" smtClean="0">
                          <a:latin typeface="Cambria Math" panose="02040503050406030204" pitchFamily="18" charset="0"/>
                          <a:ea typeface="Microsoft YaHei" charset="0"/>
                        </a:rPr>
                        <m:t>=6.5</m:t>
                      </m:r>
                      <m:r>
                        <a:rPr lang="zh-CN" altLang="en-US"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1,2</m:t>
                          </m:r>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6</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7,8,…,10</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=6.24,</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=0.22</m:t>
                      </m:r>
                    </m:oMath>
                  </m:oMathPara>
                </a14:m>
                <a:endParaRPr lang="zh-CN" altLang="en-US" dirty="0">
                  <a:ea typeface="Microsoft YaHei" charset="0"/>
                </a:endParaRPr>
              </a:p>
            </p:txBody>
          </p:sp>
        </mc:Choice>
        <mc:Fallback xmlns="">
          <p:sp>
            <p:nvSpPr>
              <p:cNvPr id="17" name="文本框 11">
                <a:extLst>
                  <a:ext uri="{FF2B5EF4-FFF2-40B4-BE49-F238E27FC236}">
                    <a16:creationId xmlns:a16="http://schemas.microsoft.com/office/drawing/2014/main" id="{F857118F-E3CD-B897-B3AF-A1CCC8271ED7}"/>
                  </a:ext>
                </a:extLst>
              </p:cNvPr>
              <p:cNvSpPr txBox="1">
                <a:spLocks noRot="1" noChangeAspect="1" noMove="1" noResize="1" noEditPoints="1" noAdjustHandles="1" noChangeArrowheads="1" noChangeShapeType="1" noTextEdit="1"/>
              </p:cNvSpPr>
              <p:nvPr/>
            </p:nvSpPr>
            <p:spPr>
              <a:xfrm>
                <a:off x="3302180" y="1786465"/>
                <a:ext cx="8269251" cy="369332"/>
              </a:xfrm>
              <a:prstGeom prst="rect">
                <a:avLst/>
              </a:prstGeom>
              <a:blipFill>
                <a:blip r:embed="rId6"/>
                <a:stretch>
                  <a:fillRect r="-153" b="-16667"/>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graphicFrame>
            <p:nvGraphicFramePr>
              <p:cNvPr id="18" name="표 17">
                <a:extLst>
                  <a:ext uri="{FF2B5EF4-FFF2-40B4-BE49-F238E27FC236}">
                    <a16:creationId xmlns:a16="http://schemas.microsoft.com/office/drawing/2014/main" id="{ED60AC50-E949-35FF-F1B8-D40F2DA57C46}"/>
                  </a:ext>
                </a:extLst>
              </p:cNvPr>
              <p:cNvGraphicFramePr>
                <a:graphicFrameLocks noGrp="1"/>
              </p:cNvGraphicFramePr>
              <p:nvPr>
                <p:extLst>
                  <p:ext uri="{D42A27DB-BD31-4B8C-83A1-F6EECF244321}">
                    <p14:modId xmlns:p14="http://schemas.microsoft.com/office/powerpoint/2010/main" val="93013155"/>
                  </p:ext>
                </p:extLst>
              </p:nvPr>
            </p:nvGraphicFramePr>
            <p:xfrm>
              <a:off x="383740" y="2335312"/>
              <a:ext cx="2895908" cy="4081351"/>
            </p:xfrm>
            <a:graphic>
              <a:graphicData uri="http://schemas.openxmlformats.org/drawingml/2006/table">
                <a:tbl>
                  <a:tblPr firstRow="1" firstCol="1" bandRow="1">
                    <a:tableStyleId>{5C22544A-7EE6-4342-B048-85BDC9FD1C3A}</a:tableStyleId>
                  </a:tblPr>
                  <a:tblGrid>
                    <a:gridCol w="502920">
                      <a:extLst>
                        <a:ext uri="{9D8B030D-6E8A-4147-A177-3AD203B41FA5}">
                          <a16:colId xmlns:a16="http://schemas.microsoft.com/office/drawing/2014/main" val="1673750994"/>
                        </a:ext>
                      </a:extLst>
                    </a:gridCol>
                    <a:gridCol w="780288">
                      <a:extLst>
                        <a:ext uri="{9D8B030D-6E8A-4147-A177-3AD203B41FA5}">
                          <a16:colId xmlns:a16="http://schemas.microsoft.com/office/drawing/2014/main" val="1208137533"/>
                        </a:ext>
                      </a:extLst>
                    </a:gridCol>
                    <a:gridCol w="853440">
                      <a:extLst>
                        <a:ext uri="{9D8B030D-6E8A-4147-A177-3AD203B41FA5}">
                          <a16:colId xmlns:a16="http://schemas.microsoft.com/office/drawing/2014/main" val="3853099168"/>
                        </a:ext>
                      </a:extLst>
                    </a:gridCol>
                    <a:gridCol w="759260">
                      <a:extLst>
                        <a:ext uri="{9D8B030D-6E8A-4147-A177-3AD203B41FA5}">
                          <a16:colId xmlns:a16="http://schemas.microsoft.com/office/drawing/2014/main" val="1846357083"/>
                        </a:ext>
                      </a:extLst>
                    </a:gridCol>
                  </a:tblGrid>
                  <a:tr h="533621">
                    <a:tc>
                      <a:txBody>
                        <a:bodyPr/>
                        <a:lstStyle/>
                        <a:p>
                          <a:pPr algn="ctr"/>
                          <a:r>
                            <a:rPr lang="en-US" sz="1400" kern="100">
                              <a:effectLst/>
                              <a:latin typeface="KaiTi" panose="02010609060101010101" pitchFamily="49" charset="-122"/>
                              <a:ea typeface="KaiTi" panose="02010609060101010101" pitchFamily="49" charset="-122"/>
                            </a:rPr>
                            <a:t>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y</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f₁(x)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𝑟</m:t>
                                    </m:r>
                                  </m:e>
                                  <m:sub>
                                    <m:r>
                                      <a:rPr lang="en-US" altLang="zh-CN" sz="1400" b="0" i="1" smtClean="0">
                                        <a:latin typeface="Cambria Math" panose="02040503050406030204" pitchFamily="18" charset="0"/>
                                        <a:ea typeface="Microsoft YaHei" charset="0"/>
                                      </a:rPr>
                                      <m:t>2</m:t>
                                    </m:r>
                                    <m:r>
                                      <a:rPr lang="en-US" altLang="zh-CN" sz="1400" b="0" i="1" smtClean="0">
                                        <a:latin typeface="Cambria Math" panose="02040503050406030204" pitchFamily="18" charset="0"/>
                                        <a:ea typeface="Microsoft YaHei" charset="0"/>
                                      </a:rPr>
                                      <m:t>𝑖</m:t>
                                    </m:r>
                                  </m:sub>
                                </m:sSub>
                              </m:oMath>
                            </m:oMathPara>
                          </a14:m>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25295332"/>
                      </a:ext>
                    </a:extLst>
                  </a:tr>
                  <a:tr h="354773">
                    <a:tc>
                      <a:txBody>
                        <a:bodyPr/>
                        <a:lstStyle/>
                        <a:p>
                          <a:pPr algn="ctr"/>
                          <a:r>
                            <a:rPr lang="en-US" sz="1400" kern="100">
                              <a:effectLst/>
                              <a:latin typeface="KaiTi" panose="02010609060101010101" pitchFamily="49" charset="-122"/>
                              <a:ea typeface="KaiTi" panose="02010609060101010101" pitchFamily="49" charset="-122"/>
                            </a:rPr>
                            <a:t>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5.56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-0.68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6468457"/>
                      </a:ext>
                    </a:extLst>
                  </a:tr>
                  <a:tr h="354773">
                    <a:tc>
                      <a:txBody>
                        <a:bodyPr/>
                        <a:lstStyle/>
                        <a:p>
                          <a:pPr algn="ctr"/>
                          <a:r>
                            <a:rPr lang="en-US" sz="1400" kern="100">
                              <a:effectLst/>
                              <a:latin typeface="KaiTi" panose="02010609060101010101" pitchFamily="49" charset="-122"/>
                              <a:ea typeface="KaiTi" panose="02010609060101010101" pitchFamily="49" charset="-122"/>
                            </a:rPr>
                            <a:t>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93401630"/>
                      </a:ext>
                    </a:extLst>
                  </a:tr>
                  <a:tr h="354773">
                    <a:tc>
                      <a:txBody>
                        <a:bodyPr/>
                        <a:lstStyle/>
                        <a:p>
                          <a:pPr algn="ctr"/>
                          <a:r>
                            <a:rPr lang="en-US" sz="1400" kern="100">
                              <a:effectLst/>
                              <a:latin typeface="KaiTi" panose="02010609060101010101" pitchFamily="49" charset="-122"/>
                              <a:ea typeface="KaiTi" panose="02010609060101010101" pitchFamily="49" charset="-122"/>
                            </a:rPr>
                            <a:t>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-0.33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0570429"/>
                      </a:ext>
                    </a:extLst>
                  </a:tr>
                  <a:tr h="354773">
                    <a:tc>
                      <a:txBody>
                        <a:bodyPr/>
                        <a:lstStyle/>
                        <a:p>
                          <a:pPr algn="ctr"/>
                          <a:r>
                            <a:rPr lang="en-US" sz="1400" kern="100">
                              <a:effectLst/>
                              <a:latin typeface="KaiTi" panose="02010609060101010101" pitchFamily="49" charset="-122"/>
                              <a:ea typeface="KaiTi" panose="02010609060101010101" pitchFamily="49" charset="-122"/>
                            </a:rPr>
                            <a:t>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0.16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17800101"/>
                      </a:ext>
                    </a:extLst>
                  </a:tr>
                  <a:tr h="354773">
                    <a:tc>
                      <a:txBody>
                        <a:bodyPr/>
                        <a:lstStyle/>
                        <a:p>
                          <a:pPr algn="ctr"/>
                          <a:r>
                            <a:rPr lang="en-US" sz="1400" kern="100">
                              <a:effectLst/>
                              <a:latin typeface="KaiTi" panose="02010609060101010101" pitchFamily="49" charset="-122"/>
                              <a:ea typeface="KaiTi" panose="02010609060101010101" pitchFamily="49" charset="-122"/>
                            </a:rPr>
                            <a:t>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6.80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82423077"/>
                      </a:ext>
                    </a:extLst>
                  </a:tr>
                  <a:tr h="354773">
                    <a:tc>
                      <a:txBody>
                        <a:bodyPr/>
                        <a:lstStyle/>
                        <a:p>
                          <a:pPr algn="ctr"/>
                          <a:r>
                            <a:rPr lang="en-US" sz="1400" kern="100">
                              <a:effectLst/>
                              <a:latin typeface="KaiTi" panose="02010609060101010101" pitchFamily="49" charset="-122"/>
                              <a:ea typeface="KaiTi" panose="02010609060101010101" pitchFamily="49" charset="-122"/>
                            </a:rPr>
                            <a:t>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7.05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0.81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10121039"/>
                      </a:ext>
                    </a:extLst>
                  </a:tr>
                  <a:tr h="354773">
                    <a:tc>
                      <a:txBody>
                        <a:bodyPr/>
                        <a:lstStyle/>
                        <a:p>
                          <a:pPr algn="ctr"/>
                          <a:r>
                            <a:rPr lang="en-US" sz="1400" kern="100">
                              <a:effectLst/>
                              <a:latin typeface="KaiTi" panose="02010609060101010101" pitchFamily="49" charset="-122"/>
                              <a:ea typeface="KaiTi" panose="02010609060101010101" pitchFamily="49" charset="-122"/>
                            </a:rPr>
                            <a:t>7</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-0.01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682339122"/>
                      </a:ext>
                    </a:extLst>
                  </a:tr>
                  <a:tr h="354773">
                    <a:tc>
                      <a:txBody>
                        <a:bodyPr/>
                        <a:lstStyle/>
                        <a:p>
                          <a:pPr algn="ctr"/>
                          <a:r>
                            <a:rPr lang="en-US" sz="1400" kern="100">
                              <a:effectLst/>
                              <a:latin typeface="KaiTi" panose="02010609060101010101" pitchFamily="49" charset="-122"/>
                              <a:ea typeface="KaiTi" panose="02010609060101010101" pitchFamily="49" charset="-122"/>
                            </a:rPr>
                            <a:t>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80350187"/>
                      </a:ext>
                    </a:extLst>
                  </a:tr>
                  <a:tr h="354773">
                    <a:tc>
                      <a:txBody>
                        <a:bodyPr/>
                        <a:lstStyle/>
                        <a:p>
                          <a:pPr algn="ctr"/>
                          <a:r>
                            <a:rPr lang="en-US" sz="1400" kern="100">
                              <a:effectLst/>
                              <a:latin typeface="KaiTi" panose="02010609060101010101" pitchFamily="49" charset="-122"/>
                              <a:ea typeface="KaiTi" panose="02010609060101010101" pitchFamily="49" charset="-122"/>
                            </a:rPr>
                            <a:t>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0.09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64908468"/>
                      </a:ext>
                    </a:extLst>
                  </a:tr>
                  <a:tr h="354773">
                    <a:tc>
                      <a:txBody>
                        <a:bodyPr/>
                        <a:lstStyle/>
                        <a:p>
                          <a:pPr algn="ctr"/>
                          <a:r>
                            <a:rPr lang="en-US" sz="1400" kern="100">
                              <a:effectLst/>
                              <a:latin typeface="KaiTi" panose="02010609060101010101" pitchFamily="49" charset="-122"/>
                              <a:ea typeface="KaiTi" panose="02010609060101010101" pitchFamily="49" charset="-122"/>
                            </a:rPr>
                            <a:t>10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0.14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43005143"/>
                      </a:ext>
                    </a:extLst>
                  </a:tr>
                </a:tbl>
              </a:graphicData>
            </a:graphic>
          </p:graphicFrame>
        </mc:Choice>
        <mc:Fallback xmlns="">
          <p:graphicFrame>
            <p:nvGraphicFramePr>
              <p:cNvPr id="18" name="표 17">
                <a:extLst>
                  <a:ext uri="{FF2B5EF4-FFF2-40B4-BE49-F238E27FC236}">
                    <a16:creationId xmlns:a16="http://schemas.microsoft.com/office/drawing/2014/main" id="{ED60AC50-E949-35FF-F1B8-D40F2DA57C46}"/>
                  </a:ext>
                </a:extLst>
              </p:cNvPr>
              <p:cNvGraphicFramePr>
                <a:graphicFrameLocks noGrp="1"/>
              </p:cNvGraphicFramePr>
              <p:nvPr>
                <p:extLst>
                  <p:ext uri="{D42A27DB-BD31-4B8C-83A1-F6EECF244321}">
                    <p14:modId xmlns:p14="http://schemas.microsoft.com/office/powerpoint/2010/main" val="93013155"/>
                  </p:ext>
                </p:extLst>
              </p:nvPr>
            </p:nvGraphicFramePr>
            <p:xfrm>
              <a:off x="383740" y="2335312"/>
              <a:ext cx="2895908" cy="4081351"/>
            </p:xfrm>
            <a:graphic>
              <a:graphicData uri="http://schemas.openxmlformats.org/drawingml/2006/table">
                <a:tbl>
                  <a:tblPr firstRow="1" firstCol="1" bandRow="1">
                    <a:tableStyleId>{5C22544A-7EE6-4342-B048-85BDC9FD1C3A}</a:tableStyleId>
                  </a:tblPr>
                  <a:tblGrid>
                    <a:gridCol w="502920">
                      <a:extLst>
                        <a:ext uri="{9D8B030D-6E8A-4147-A177-3AD203B41FA5}">
                          <a16:colId xmlns:a16="http://schemas.microsoft.com/office/drawing/2014/main" val="1673750994"/>
                        </a:ext>
                      </a:extLst>
                    </a:gridCol>
                    <a:gridCol w="780288">
                      <a:extLst>
                        <a:ext uri="{9D8B030D-6E8A-4147-A177-3AD203B41FA5}">
                          <a16:colId xmlns:a16="http://schemas.microsoft.com/office/drawing/2014/main" val="1208137533"/>
                        </a:ext>
                      </a:extLst>
                    </a:gridCol>
                    <a:gridCol w="853440">
                      <a:extLst>
                        <a:ext uri="{9D8B030D-6E8A-4147-A177-3AD203B41FA5}">
                          <a16:colId xmlns:a16="http://schemas.microsoft.com/office/drawing/2014/main" val="3853099168"/>
                        </a:ext>
                      </a:extLst>
                    </a:gridCol>
                    <a:gridCol w="759260">
                      <a:extLst>
                        <a:ext uri="{9D8B030D-6E8A-4147-A177-3AD203B41FA5}">
                          <a16:colId xmlns:a16="http://schemas.microsoft.com/office/drawing/2014/main" val="1846357083"/>
                        </a:ext>
                      </a:extLst>
                    </a:gridCol>
                  </a:tblGrid>
                  <a:tr h="533621">
                    <a:tc>
                      <a:txBody>
                        <a:bodyPr/>
                        <a:lstStyle/>
                        <a:p>
                          <a:pPr algn="ctr"/>
                          <a:r>
                            <a:rPr lang="en-US" sz="1400" kern="100">
                              <a:effectLst/>
                              <a:latin typeface="KaiTi" panose="02010609060101010101" pitchFamily="49" charset="-122"/>
                              <a:ea typeface="KaiTi" panose="02010609060101010101" pitchFamily="49" charset="-122"/>
                            </a:rPr>
                            <a:t>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y</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f₁(x)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ko-Kore-KR"/>
                        </a:p>
                      </a:txBody>
                      <a:tcPr marL="68580" marR="68580" marT="0" marB="0" anchor="ctr">
                        <a:blipFill>
                          <a:blip r:embed="rId7"/>
                          <a:stretch>
                            <a:fillRect l="-283333" r="-3333" b="-673810"/>
                          </a:stretch>
                        </a:blipFill>
                      </a:tcPr>
                    </a:tc>
                    <a:extLst>
                      <a:ext uri="{0D108BD9-81ED-4DB2-BD59-A6C34878D82A}">
                        <a16:rowId xmlns:a16="http://schemas.microsoft.com/office/drawing/2014/main" val="1625295332"/>
                      </a:ext>
                    </a:extLst>
                  </a:tr>
                  <a:tr h="354773">
                    <a:tc>
                      <a:txBody>
                        <a:bodyPr/>
                        <a:lstStyle/>
                        <a:p>
                          <a:pPr algn="ctr"/>
                          <a:r>
                            <a:rPr lang="en-US" sz="1400" kern="100">
                              <a:effectLst/>
                              <a:latin typeface="KaiTi" panose="02010609060101010101" pitchFamily="49" charset="-122"/>
                              <a:ea typeface="KaiTi" panose="02010609060101010101" pitchFamily="49" charset="-122"/>
                            </a:rPr>
                            <a:t>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5.56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-0.68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6468457"/>
                      </a:ext>
                    </a:extLst>
                  </a:tr>
                  <a:tr h="354773">
                    <a:tc>
                      <a:txBody>
                        <a:bodyPr/>
                        <a:lstStyle/>
                        <a:p>
                          <a:pPr algn="ctr"/>
                          <a:r>
                            <a:rPr lang="en-US" sz="1400" kern="100">
                              <a:effectLst/>
                              <a:latin typeface="KaiTi" panose="02010609060101010101" pitchFamily="49" charset="-122"/>
                              <a:ea typeface="KaiTi" panose="02010609060101010101" pitchFamily="49" charset="-122"/>
                            </a:rPr>
                            <a:t>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93401630"/>
                      </a:ext>
                    </a:extLst>
                  </a:tr>
                  <a:tr h="354773">
                    <a:tc>
                      <a:txBody>
                        <a:bodyPr/>
                        <a:lstStyle/>
                        <a:p>
                          <a:pPr algn="ctr"/>
                          <a:r>
                            <a:rPr lang="en-US" sz="1400" kern="100">
                              <a:effectLst/>
                              <a:latin typeface="KaiTi" panose="02010609060101010101" pitchFamily="49" charset="-122"/>
                              <a:ea typeface="KaiTi" panose="02010609060101010101" pitchFamily="49" charset="-122"/>
                            </a:rPr>
                            <a:t>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-0.33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0570429"/>
                      </a:ext>
                    </a:extLst>
                  </a:tr>
                  <a:tr h="354773">
                    <a:tc>
                      <a:txBody>
                        <a:bodyPr/>
                        <a:lstStyle/>
                        <a:p>
                          <a:pPr algn="ctr"/>
                          <a:r>
                            <a:rPr lang="en-US" sz="1400" kern="100">
                              <a:effectLst/>
                              <a:latin typeface="KaiTi" panose="02010609060101010101" pitchFamily="49" charset="-122"/>
                              <a:ea typeface="KaiTi" panose="02010609060101010101" pitchFamily="49" charset="-122"/>
                            </a:rPr>
                            <a:t>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0.16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217800101"/>
                      </a:ext>
                    </a:extLst>
                  </a:tr>
                  <a:tr h="354773">
                    <a:tc>
                      <a:txBody>
                        <a:bodyPr/>
                        <a:lstStyle/>
                        <a:p>
                          <a:pPr algn="ctr"/>
                          <a:r>
                            <a:rPr lang="en-US" sz="1400" kern="100">
                              <a:effectLst/>
                              <a:latin typeface="KaiTi" panose="02010609060101010101" pitchFamily="49" charset="-122"/>
                              <a:ea typeface="KaiTi" panose="02010609060101010101" pitchFamily="49" charset="-122"/>
                            </a:rPr>
                            <a:t>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6.80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82423077"/>
                      </a:ext>
                    </a:extLst>
                  </a:tr>
                  <a:tr h="354773">
                    <a:tc>
                      <a:txBody>
                        <a:bodyPr/>
                        <a:lstStyle/>
                        <a:p>
                          <a:pPr algn="ctr"/>
                          <a:r>
                            <a:rPr lang="en-US" sz="1400" kern="100">
                              <a:effectLst/>
                              <a:latin typeface="KaiTi" panose="02010609060101010101" pitchFamily="49" charset="-122"/>
                              <a:ea typeface="KaiTi" panose="02010609060101010101" pitchFamily="49" charset="-122"/>
                            </a:rPr>
                            <a:t>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7.05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0.81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610121039"/>
                      </a:ext>
                    </a:extLst>
                  </a:tr>
                  <a:tr h="354773">
                    <a:tc>
                      <a:txBody>
                        <a:bodyPr/>
                        <a:lstStyle/>
                        <a:p>
                          <a:pPr algn="ctr"/>
                          <a:r>
                            <a:rPr lang="en-US" sz="1400" kern="100">
                              <a:effectLst/>
                              <a:latin typeface="KaiTi" panose="02010609060101010101" pitchFamily="49" charset="-122"/>
                              <a:ea typeface="KaiTi" panose="02010609060101010101" pitchFamily="49" charset="-122"/>
                            </a:rPr>
                            <a:t>7</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-0.01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682339122"/>
                      </a:ext>
                    </a:extLst>
                  </a:tr>
                  <a:tr h="354773">
                    <a:tc>
                      <a:txBody>
                        <a:bodyPr/>
                        <a:lstStyle/>
                        <a:p>
                          <a:pPr algn="ctr"/>
                          <a:r>
                            <a:rPr lang="en-US" sz="1400" kern="100">
                              <a:effectLst/>
                              <a:latin typeface="KaiTi" panose="02010609060101010101" pitchFamily="49" charset="-122"/>
                              <a:ea typeface="KaiTi" panose="02010609060101010101" pitchFamily="49" charset="-122"/>
                            </a:rPr>
                            <a:t>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80350187"/>
                      </a:ext>
                    </a:extLst>
                  </a:tr>
                  <a:tr h="354773">
                    <a:tc>
                      <a:txBody>
                        <a:bodyPr/>
                        <a:lstStyle/>
                        <a:p>
                          <a:pPr algn="ctr"/>
                          <a:r>
                            <a:rPr lang="en-US" sz="1400" kern="100">
                              <a:effectLst/>
                              <a:latin typeface="KaiTi" panose="02010609060101010101" pitchFamily="49" charset="-122"/>
                              <a:ea typeface="KaiTi" panose="02010609060101010101" pitchFamily="49" charset="-122"/>
                            </a:rPr>
                            <a:t>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0.09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64908468"/>
                      </a:ext>
                    </a:extLst>
                  </a:tr>
                  <a:tr h="354773">
                    <a:tc>
                      <a:txBody>
                        <a:bodyPr/>
                        <a:lstStyle/>
                        <a:p>
                          <a:pPr algn="ctr"/>
                          <a:r>
                            <a:rPr lang="en-US" sz="1400" kern="100">
                              <a:effectLst/>
                              <a:latin typeface="KaiTi" panose="02010609060101010101" pitchFamily="49" charset="-122"/>
                              <a:ea typeface="KaiTi" panose="02010609060101010101" pitchFamily="49" charset="-122"/>
                            </a:rPr>
                            <a:t>10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0.14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43005143"/>
                      </a:ext>
                    </a:extLst>
                  </a:tr>
                </a:tbl>
              </a:graphicData>
            </a:graphic>
          </p:graphicFrame>
        </mc:Fallback>
      </mc:AlternateContent>
      <mc:AlternateContent xmlns:mc="http://schemas.openxmlformats.org/markup-compatibility/2006" xmlns:a14="http://schemas.microsoft.com/office/drawing/2010/main">
        <mc:Choice Requires="a14">
          <p:sp>
            <p:nvSpPr>
              <p:cNvPr id="19" name="文本框 25">
                <a:extLst>
                  <a:ext uri="{FF2B5EF4-FFF2-40B4-BE49-F238E27FC236}">
                    <a16:creationId xmlns:a16="http://schemas.microsoft.com/office/drawing/2014/main" id="{2DA265B6-5B4F-EFAA-A1AB-B549249FF3D4}"/>
                  </a:ext>
                </a:extLst>
              </p:cNvPr>
              <p:cNvSpPr txBox="1"/>
              <p:nvPr/>
            </p:nvSpPr>
            <p:spPr>
              <a:xfrm>
                <a:off x="4873938" y="4700007"/>
                <a:ext cx="4319196"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𝐿</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𝑦</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1</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10</m:t>
                          </m:r>
                        </m:sup>
                        <m:e>
                          <m:sSup>
                            <m:sSupPr>
                              <m:ctrlPr>
                                <a:rPr lang="en-US" altLang="zh-CN" sz="2000" i="1" smtClean="0">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i="1">
                                      <a:latin typeface="Cambria Math" panose="02040503050406030204" pitchFamily="18" charset="0"/>
                                      <a:ea typeface="Microsoft YaHei" charset="0"/>
                                    </a:rPr>
                                    <m:t>1</m:t>
                                  </m:r>
                                </m:sub>
                              </m:sSub>
                              <m:r>
                                <a:rPr lang="en-US" altLang="zh-CN" sz="200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i="1" smtClean="0">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r>
                            <m:rPr>
                              <m:nor/>
                            </m:rPr>
                            <a:rPr lang="zh-CN" altLang="en-US" sz="2000" dirty="0">
                              <a:ea typeface="Microsoft YaHei" charset="0"/>
                            </a:rPr>
                            <m:t> </m:t>
                          </m:r>
                        </m:e>
                      </m:nary>
                      <m:r>
                        <a:rPr lang="en-US" altLang="zh-CN" sz="2000" b="0" i="1" smtClean="0">
                          <a:latin typeface="Cambria Math" panose="02040503050406030204" pitchFamily="18" charset="0"/>
                          <a:ea typeface="Microsoft YaHei" charset="0"/>
                        </a:rPr>
                        <m:t>=1.93</m:t>
                      </m:r>
                    </m:oMath>
                  </m:oMathPara>
                </a14:m>
                <a:endParaRPr lang="zh-CN" altLang="en-US" sz="2000" dirty="0">
                  <a:ea typeface="Microsoft YaHei" charset="0"/>
                </a:endParaRPr>
              </a:p>
            </p:txBody>
          </p:sp>
        </mc:Choice>
        <mc:Fallback xmlns="">
          <p:sp>
            <p:nvSpPr>
              <p:cNvPr id="19" name="文本框 25">
                <a:extLst>
                  <a:ext uri="{FF2B5EF4-FFF2-40B4-BE49-F238E27FC236}">
                    <a16:creationId xmlns:a16="http://schemas.microsoft.com/office/drawing/2014/main" id="{2DA265B6-5B4F-EFAA-A1AB-B549249FF3D4}"/>
                  </a:ext>
                </a:extLst>
              </p:cNvPr>
              <p:cNvSpPr txBox="1">
                <a:spLocks noRot="1" noChangeAspect="1" noMove="1" noResize="1" noEditPoints="1" noAdjustHandles="1" noChangeArrowheads="1" noChangeShapeType="1" noTextEdit="1"/>
              </p:cNvSpPr>
              <p:nvPr/>
            </p:nvSpPr>
            <p:spPr>
              <a:xfrm>
                <a:off x="4873938" y="4700007"/>
                <a:ext cx="4319196" cy="865301"/>
              </a:xfrm>
              <a:prstGeom prst="rect">
                <a:avLst/>
              </a:prstGeom>
              <a:blipFill>
                <a:blip r:embed="rId8"/>
                <a:stretch>
                  <a:fillRect l="-882" t="-114493" r="-882" b="-173913"/>
                </a:stretch>
              </a:blipFill>
            </p:spPr>
            <p:txBody>
              <a:bodyPr/>
              <a:lstStyle/>
              <a:p>
                <a:r>
                  <a:rPr lang="ko-Kore-KR" altLang="en-US">
                    <a:noFill/>
                  </a:rPr>
                  <a:t> </a:t>
                </a:r>
              </a:p>
            </p:txBody>
          </p:sp>
        </mc:Fallback>
      </mc:AlternateContent>
      <p:sp>
        <p:nvSpPr>
          <p:cNvPr id="9" name="Rectangle 2">
            <a:extLst>
              <a:ext uri="{FF2B5EF4-FFF2-40B4-BE49-F238E27FC236}">
                <a16:creationId xmlns:a16="http://schemas.microsoft.com/office/drawing/2014/main" id="{F8FEC602-6182-8488-88A4-6C8722512ECC}"/>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221434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par>
                                <p:cTn id="20" presetID="53" presetClass="entr" presetSubtype="16"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animEffect transition="in" filter="fade">
                                      <p:cBhvr>
                                        <p:cTn id="29" dur="500"/>
                                        <p:tgtEl>
                                          <p:spTgt spid="4"/>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Effect transition="in" filter="fade">
                                      <p:cBhvr>
                                        <p:cTn id="34" dur="500"/>
                                        <p:tgtEl>
                                          <p:spTgt spid="5"/>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00" fill="hold"/>
                                        <p:tgtEl>
                                          <p:spTgt spid="17"/>
                                        </p:tgtEl>
                                        <p:attrNameLst>
                                          <p:attrName>ppt_w</p:attrName>
                                        </p:attrNameLst>
                                      </p:cBhvr>
                                      <p:tavLst>
                                        <p:tav tm="0">
                                          <p:val>
                                            <p:fltVal val="0"/>
                                          </p:val>
                                        </p:tav>
                                        <p:tav tm="100000">
                                          <p:val>
                                            <p:strVal val="#ppt_w"/>
                                          </p:val>
                                        </p:tav>
                                      </p:tavLst>
                                    </p:anim>
                                    <p:anim calcmode="lin" valueType="num">
                                      <p:cBhvr>
                                        <p:cTn id="45" dur="500" fill="hold"/>
                                        <p:tgtEl>
                                          <p:spTgt spid="17"/>
                                        </p:tgtEl>
                                        <p:attrNameLst>
                                          <p:attrName>ppt_h</p:attrName>
                                        </p:attrNameLst>
                                      </p:cBhvr>
                                      <p:tavLst>
                                        <p:tav tm="0">
                                          <p:val>
                                            <p:fltVal val="0"/>
                                          </p:val>
                                        </p:tav>
                                        <p:tav tm="100000">
                                          <p:val>
                                            <p:strVal val="#ppt_h"/>
                                          </p:val>
                                        </p:tav>
                                      </p:tavLst>
                                    </p:anim>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p:cTn id="51" dur="500" fill="hold"/>
                                        <p:tgtEl>
                                          <p:spTgt spid="19"/>
                                        </p:tgtEl>
                                        <p:attrNameLst>
                                          <p:attrName>ppt_w</p:attrName>
                                        </p:attrNameLst>
                                      </p:cBhvr>
                                      <p:tavLst>
                                        <p:tav tm="0">
                                          <p:val>
                                            <p:fltVal val="0"/>
                                          </p:val>
                                        </p:tav>
                                        <p:tav tm="100000">
                                          <p:val>
                                            <p:strVal val="#ppt_w"/>
                                          </p:val>
                                        </p:tav>
                                      </p:tavLst>
                                    </p:anim>
                                    <p:anim calcmode="lin" valueType="num">
                                      <p:cBhvr>
                                        <p:cTn id="52" dur="500" fill="hold"/>
                                        <p:tgtEl>
                                          <p:spTgt spid="19"/>
                                        </p:tgtEl>
                                        <p:attrNameLst>
                                          <p:attrName>ppt_h</p:attrName>
                                        </p:attrNameLst>
                                      </p:cBhvr>
                                      <p:tavLst>
                                        <p:tav tm="0">
                                          <p:val>
                                            <p:fltVal val="0"/>
                                          </p:val>
                                        </p:tav>
                                        <p:tav tm="100000">
                                          <p:val>
                                            <p:strVal val="#ppt_h"/>
                                          </p:val>
                                        </p:tav>
                                      </p:tavLst>
                                    </p:anim>
                                    <p:animEffect transition="in" filter="fade">
                                      <p:cBhvr>
                                        <p:cTn id="5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 grpId="0" animBg="1"/>
      <p:bldP spid="4" grpId="0" animBg="1"/>
      <p:bldP spid="5" grpId="0" animBg="1"/>
      <p:bldP spid="8" grpId="0"/>
      <p:bldP spid="17" grpId="0"/>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文本框 24"/>
              <p:cNvSpPr txBox="1"/>
              <p:nvPr/>
            </p:nvSpPr>
            <p:spPr>
              <a:xfrm>
                <a:off x="4457665" y="2080380"/>
                <a:ext cx="3416320" cy="8238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2</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zh-CN" altLang="en-US" b="0" i="1" smtClean="0">
                          <a:latin typeface="Cambria Math" panose="02040503050406030204" pitchFamily="18" charset="0"/>
                          <a:ea typeface="Microsoft YaHei" charset="0"/>
                        </a:rPr>
                        <m:t> </m:t>
                      </m:r>
                      <m:d>
                        <m:dPr>
                          <m:begChr m:val="{"/>
                          <m:endChr m:val=""/>
                          <m:ctrlPr>
                            <a:rPr lang="en-US" altLang="zh-CN" b="0" i="1" smtClean="0">
                              <a:latin typeface="Cambria Math" panose="02040503050406030204" pitchFamily="18" charset="0"/>
                              <a:ea typeface="Microsoft YaHei" charset="0"/>
                            </a:rPr>
                          </m:ctrlPr>
                        </m:dPr>
                        <m:e>
                          <m:eqArr>
                            <m:eqArrPr>
                              <m:ctrlPr>
                                <a:rPr lang="en-US" altLang="zh-CN" b="0" i="1" smtClean="0">
                                  <a:latin typeface="Cambria Math" panose="02040503050406030204" pitchFamily="18" charset="0"/>
                                  <a:ea typeface="Microsoft YaHei" charset="0"/>
                                </a:rPr>
                              </m:ctrlPr>
                            </m:eqArrPr>
                            <m:e>
                              <m:r>
                                <a:rPr lang="en-US" altLang="zh-CN" b="0" i="1" smtClean="0">
                                  <a:latin typeface="Cambria Math" panose="02040503050406030204" pitchFamily="18" charset="0"/>
                                  <a:ea typeface="Microsoft YaHei" charset="0"/>
                                </a:rPr>
                                <m:t>−0.52  </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Cambria Math" panose="02040503050406030204" pitchFamily="18" charset="0"/>
                                </a:rPr>
                                <m:t>&lt;3</m:t>
                              </m:r>
                              <m:r>
                                <a:rPr lang="en-US" altLang="zh-CN" b="0" i="1" smtClean="0">
                                  <a:latin typeface="Cambria Math" panose="02040503050406030204" pitchFamily="18" charset="0"/>
                                  <a:ea typeface="Microsoft YaHei" charset="0"/>
                                </a:rPr>
                                <m:t>.5</m:t>
                              </m:r>
                            </m:e>
                            <m:e>
                              <m:r>
                                <a:rPr lang="en-US" altLang="ko-Kore-KR" b="0" i="1">
                                  <a:latin typeface="Cambria Math" panose="02040503050406030204" pitchFamily="18" charset="0"/>
                                </a:rPr>
                                <m:t>0.22</m:t>
                              </m:r>
                              <m:r>
                                <a:rPr lang="en-US" altLang="zh-CN" b="0" i="1">
                                  <a:latin typeface="Cambria Math" panose="02040503050406030204" pitchFamily="18" charset="0"/>
                                </a:rPr>
                                <m:t>  </m:t>
                              </m:r>
                              <m:r>
                                <a:rPr lang="en-US" altLang="zh-CN" b="0" i="1">
                                  <a:latin typeface="Cambria Math" panose="02040503050406030204" pitchFamily="18" charset="0"/>
                                </a:rPr>
                                <m:t>𝑥</m:t>
                              </m:r>
                              <m:r>
                                <a:rPr lang="en-US" altLang="zh-CN" b="0" i="1">
                                  <a:latin typeface="Cambria Math" panose="02040503050406030204" pitchFamily="18" charset="0"/>
                                  <a:ea typeface="Cambria Math" panose="02040503050406030204" pitchFamily="18" charset="0"/>
                                </a:rPr>
                                <m:t>≥3.5</m:t>
                              </m:r>
                            </m:e>
                          </m:eqArr>
                        </m:e>
                      </m:d>
                    </m:oMath>
                  </m:oMathPara>
                </a14:m>
                <a:endParaRPr lang="en-US" altLang="zh-CN" b="0">
                  <a:ea typeface="Microsoft YaHei" charset="0"/>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4457665" y="2080380"/>
                <a:ext cx="3416320" cy="823815"/>
              </a:xfrm>
              <a:prstGeom prst="rect">
                <a:avLst/>
              </a:prstGeom>
              <a:blipFill>
                <a:blip r:embed="rId3"/>
                <a:stretch>
                  <a:fillRect l="-8118" t="-224242" r="-369" b="-325758"/>
                </a:stretch>
              </a:blipFill>
            </p:spPr>
            <p:txBody>
              <a:bodyPr/>
              <a:lstStyle/>
              <a:p>
                <a:r>
                  <a:rPr lang="ko-Kore-KR" altLang="en-US">
                    <a:noFill/>
                  </a:rPr>
                  <a:t> </a:t>
                </a:r>
              </a:p>
            </p:txBody>
          </p:sp>
        </mc:Fallback>
      </mc:AlternateContent>
      <p:sp>
        <p:nvSpPr>
          <p:cNvPr id="5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8" name="文本框 9">
                <a:extLst>
                  <a:ext uri="{FF2B5EF4-FFF2-40B4-BE49-F238E27FC236}">
                    <a16:creationId xmlns:a16="http://schemas.microsoft.com/office/drawing/2014/main" id="{534A63B3-6923-6817-7B80-E680F6243899}"/>
                  </a:ext>
                </a:extLst>
              </p:cNvPr>
              <p:cNvSpPr txBox="1"/>
              <p:nvPr/>
            </p:nvSpPr>
            <p:spPr>
              <a:xfrm>
                <a:off x="3617718" y="4699554"/>
                <a:ext cx="418877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3</m:t>
                          </m:r>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2</m:t>
                          </m:r>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d>
                        <m:dPr>
                          <m:ctrlPr>
                            <a:rPr lang="en-US" altLang="zh-CN" sz="2000" b="0" i="1" smtClean="0">
                              <a:latin typeface="Cambria Math" panose="02040503050406030204" pitchFamily="18" charset="0"/>
                              <a:ea typeface="Microsoft YaHei" charset="0"/>
                            </a:rPr>
                          </m:ctrlPr>
                        </m:dPr>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e>
                      </m:d>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=1,2,…10</m:t>
                      </m:r>
                    </m:oMath>
                  </m:oMathPara>
                </a14:m>
                <a:endParaRPr lang="zh-CN" altLang="en-US" sz="2000" dirty="0">
                  <a:ea typeface="Microsoft YaHei" charset="0"/>
                </a:endParaRPr>
              </a:p>
            </p:txBody>
          </p:sp>
        </mc:Choice>
        <mc:Fallback xmlns="">
          <p:sp>
            <p:nvSpPr>
              <p:cNvPr id="8" name="文本框 9">
                <a:extLst>
                  <a:ext uri="{FF2B5EF4-FFF2-40B4-BE49-F238E27FC236}">
                    <a16:creationId xmlns:a16="http://schemas.microsoft.com/office/drawing/2014/main" id="{534A63B3-6923-6817-7B80-E680F6243899}"/>
                  </a:ext>
                </a:extLst>
              </p:cNvPr>
              <p:cNvSpPr txBox="1">
                <a:spLocks noRot="1" noChangeAspect="1" noMove="1" noResize="1" noEditPoints="1" noAdjustHandles="1" noChangeArrowheads="1" noChangeShapeType="1" noTextEdit="1"/>
              </p:cNvSpPr>
              <p:nvPr/>
            </p:nvSpPr>
            <p:spPr>
              <a:xfrm>
                <a:off x="3617718" y="4699554"/>
                <a:ext cx="4188774" cy="307777"/>
              </a:xfrm>
              <a:prstGeom prst="rect">
                <a:avLst/>
              </a:prstGeom>
              <a:blipFill>
                <a:blip r:embed="rId4"/>
                <a:stretch>
                  <a:fillRect b="-32000"/>
                </a:stretch>
              </a:blipFill>
            </p:spPr>
            <p:txBody>
              <a:bodyPr/>
              <a:lstStyle/>
              <a:p>
                <a:r>
                  <a:rPr lang="ko-Kore-KR" altLang="en-US">
                    <a:noFill/>
                  </a:rPr>
                  <a:t> </a:t>
                </a:r>
              </a:p>
            </p:txBody>
          </p:sp>
        </mc:Fallback>
      </mc:AlternateContent>
      <p:sp>
        <p:nvSpPr>
          <p:cNvPr id="9" name="椭圆 41">
            <a:extLst>
              <a:ext uri="{FF2B5EF4-FFF2-40B4-BE49-F238E27FC236}">
                <a16:creationId xmlns:a16="http://schemas.microsoft.com/office/drawing/2014/main" id="{3C594889-FECE-C6B8-1F02-14280C0219C9}"/>
              </a:ext>
            </a:extLst>
          </p:cNvPr>
          <p:cNvSpPr/>
          <p:nvPr/>
        </p:nvSpPr>
        <p:spPr>
          <a:xfrm>
            <a:off x="10198656" y="2124238"/>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dirty="0">
              <a:solidFill>
                <a:schemeClr val="bg1"/>
              </a:solidFill>
              <a:ea typeface="Microsoft YaHei" charset="0"/>
            </a:endParaRPr>
          </a:p>
        </p:txBody>
      </p:sp>
      <p:sp>
        <p:nvSpPr>
          <p:cNvPr id="10" name="矩形 42">
            <a:extLst>
              <a:ext uri="{FF2B5EF4-FFF2-40B4-BE49-F238E27FC236}">
                <a16:creationId xmlns:a16="http://schemas.microsoft.com/office/drawing/2014/main" id="{FF896EFF-B200-546A-63B9-FD3D4808C55B}"/>
              </a:ext>
            </a:extLst>
          </p:cNvPr>
          <p:cNvSpPr/>
          <p:nvPr/>
        </p:nvSpPr>
        <p:spPr>
          <a:xfrm>
            <a:off x="9576349" y="271190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-0.52</a:t>
            </a:r>
            <a:endParaRPr lang="zh-CN" altLang="en-US" sz="2000" dirty="0">
              <a:ea typeface="Microsoft YaHei" charset="0"/>
            </a:endParaRPr>
          </a:p>
        </p:txBody>
      </p:sp>
      <p:sp>
        <p:nvSpPr>
          <p:cNvPr id="11" name="矩形 43">
            <a:extLst>
              <a:ext uri="{FF2B5EF4-FFF2-40B4-BE49-F238E27FC236}">
                <a16:creationId xmlns:a16="http://schemas.microsoft.com/office/drawing/2014/main" id="{312DCBD5-C922-2094-90FF-C213C790A7CD}"/>
              </a:ext>
            </a:extLst>
          </p:cNvPr>
          <p:cNvSpPr/>
          <p:nvPr/>
        </p:nvSpPr>
        <p:spPr>
          <a:xfrm>
            <a:off x="10982783" y="271190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0.22</a:t>
            </a:r>
            <a:endParaRPr lang="zh-CN" altLang="en-US" sz="2000" dirty="0">
              <a:ea typeface="Microsoft YaHei" charset="0"/>
            </a:endParaRPr>
          </a:p>
        </p:txBody>
      </p:sp>
      <p:cxnSp>
        <p:nvCxnSpPr>
          <p:cNvPr id="13" name="直接连接符 44">
            <a:extLst>
              <a:ext uri="{FF2B5EF4-FFF2-40B4-BE49-F238E27FC236}">
                <a16:creationId xmlns:a16="http://schemas.microsoft.com/office/drawing/2014/main" id="{DAB09B62-30F1-D621-7516-B4C8474F0879}"/>
              </a:ext>
            </a:extLst>
          </p:cNvPr>
          <p:cNvCxnSpPr>
            <a:stCxn id="9" idx="4"/>
            <a:endCxn id="10" idx="0"/>
          </p:cNvCxnSpPr>
          <p:nvPr/>
        </p:nvCxnSpPr>
        <p:spPr>
          <a:xfrm flipH="1">
            <a:off x="9968235" y="2507415"/>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14" name="直接连接符 45">
            <a:extLst>
              <a:ext uri="{FF2B5EF4-FFF2-40B4-BE49-F238E27FC236}">
                <a16:creationId xmlns:a16="http://schemas.microsoft.com/office/drawing/2014/main" id="{5255CD86-4D1B-4FAB-53EC-2B8697A5FDFB}"/>
              </a:ext>
            </a:extLst>
          </p:cNvPr>
          <p:cNvCxnSpPr>
            <a:stCxn id="9" idx="4"/>
            <a:endCxn id="11" idx="0"/>
          </p:cNvCxnSpPr>
          <p:nvPr/>
        </p:nvCxnSpPr>
        <p:spPr>
          <a:xfrm>
            <a:off x="10688691" y="2507415"/>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4066621-A24C-7990-72FD-44236DC907FF}"/>
                  </a:ext>
                </a:extLst>
              </p:cNvPr>
              <p:cNvSpPr txBox="1"/>
              <p:nvPr/>
            </p:nvSpPr>
            <p:spPr>
              <a:xfrm>
                <a:off x="4093467" y="3287372"/>
                <a:ext cx="6630850" cy="12714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a:latin typeface="Cambria Math" panose="02040503050406030204" pitchFamily="18" charset="0"/>
                                  <a:ea typeface="Microsoft YaHei" charset="0"/>
                                </a:rPr>
                                <m:t>2</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1</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2</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r>
                        <a:rPr lang="zh-CN" altLang="en-US" b="0" i="1" smtClean="0">
                          <a:latin typeface="Cambria Math" panose="02040503050406030204" pitchFamily="18" charset="0"/>
                          <a:ea typeface="Microsoft YaHei" charset="0"/>
                        </a:rPr>
                        <m:t> </m:t>
                      </m:r>
                      <m:d>
                        <m:dPr>
                          <m:begChr m:val="{"/>
                          <m:endChr m:val=""/>
                          <m:ctrlPr>
                            <a:rPr lang="en-US" altLang="zh-CN" b="0" i="1" smtClean="0">
                              <a:latin typeface="Cambria Math" panose="02040503050406030204" pitchFamily="18" charset="0"/>
                              <a:ea typeface="Microsoft YaHei" charset="0"/>
                            </a:rPr>
                          </m:ctrlPr>
                        </m:dPr>
                        <m:e>
                          <m:eqArr>
                            <m:eqArrPr>
                              <m:ctrlPr>
                                <a:rPr lang="en-US" altLang="zh-CN" b="0" i="1" smtClean="0">
                                  <a:latin typeface="Cambria Math" panose="02040503050406030204" pitchFamily="18" charset="0"/>
                                  <a:ea typeface="Microsoft YaHei" charset="0"/>
                                </a:rPr>
                              </m:ctrlPr>
                            </m:eqArrPr>
                            <m:e>
                              <m:r>
                                <a:rPr lang="en-US" altLang="zh-CN" b="0" i="1" smtClean="0">
                                  <a:latin typeface="Cambria Math" panose="02040503050406030204" pitchFamily="18" charset="0"/>
                                  <a:ea typeface="Microsoft YaHei" charset="0"/>
                                </a:rPr>
                                <m:t>5.72   </m:t>
                              </m:r>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Cambria Math" panose="02040503050406030204" pitchFamily="18" charset="0"/>
                                </a:rPr>
                                <m:t>&lt;3</m:t>
                              </m:r>
                              <m:r>
                                <a:rPr lang="en-US" altLang="zh-CN" b="0" i="1" smtClean="0">
                                  <a:latin typeface="Cambria Math" panose="02040503050406030204" pitchFamily="18" charset="0"/>
                                  <a:ea typeface="Microsoft YaHei" charset="0"/>
                                </a:rPr>
                                <m:t>.5</m:t>
                              </m:r>
                            </m:e>
                            <m:e>
                              <m:r>
                                <a:rPr lang="en-US" altLang="zh-CN" b="0" i="1" smtClean="0">
                                  <a:latin typeface="Cambria Math" panose="02040503050406030204" pitchFamily="18" charset="0"/>
                                  <a:ea typeface="Microsoft YaHei" charset="0"/>
                                </a:rPr>
                                <m:t>6.46 3.5 </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&lt;6.5</m:t>
                              </m:r>
                            </m:e>
                            <m:e>
                              <m:r>
                                <a:rPr lang="en-US" altLang="zh-CN" b="0" i="1" smtClean="0">
                                  <a:latin typeface="Cambria Math" panose="02040503050406030204" pitchFamily="18" charset="0"/>
                                  <a:ea typeface="Microsoft YaHei" charset="0"/>
                                </a:rPr>
                                <m:t>9</m:t>
                              </m:r>
                              <m:r>
                                <a:rPr lang="en-US" altLang="ko-Kore-KR" b="0" i="1">
                                  <a:latin typeface="Cambria Math" panose="02040503050406030204" pitchFamily="18" charset="0"/>
                                </a:rPr>
                                <m:t>.13</m:t>
                              </m:r>
                              <m:r>
                                <a:rPr lang="en-US" altLang="zh-CN" b="0" i="1">
                                  <a:latin typeface="Cambria Math" panose="02040503050406030204" pitchFamily="18" charset="0"/>
                                </a:rPr>
                                <m:t>   </m:t>
                              </m:r>
                              <m:r>
                                <a:rPr lang="en-US" altLang="zh-CN" b="0" i="1">
                                  <a:latin typeface="Cambria Math" panose="02040503050406030204" pitchFamily="18" charset="0"/>
                                </a:rPr>
                                <m:t>𝑥</m:t>
                              </m:r>
                              <m:r>
                                <a:rPr lang="en-US" altLang="zh-CN" b="0" i="1">
                                  <a:latin typeface="Cambria Math" panose="02040503050406030204" pitchFamily="18" charset="0"/>
                                  <a:ea typeface="Cambria Math" panose="02040503050406030204" pitchFamily="18" charset="0"/>
                                </a:rPr>
                                <m:t>≥6.5</m:t>
                              </m:r>
                            </m:e>
                          </m:eqArr>
                        </m:e>
                      </m:d>
                    </m:oMath>
                  </m:oMathPara>
                </a14:m>
                <a:endParaRPr lang="en-US" altLang="zh-CN" b="0">
                  <a:ea typeface="Microsoft YaHei" charset="0"/>
                </a:endParaRPr>
              </a:p>
            </p:txBody>
          </p:sp>
        </mc:Choice>
        <mc:Fallback xmlns="">
          <p:sp>
            <p:nvSpPr>
              <p:cNvPr id="20" name="TextBox 19">
                <a:extLst>
                  <a:ext uri="{FF2B5EF4-FFF2-40B4-BE49-F238E27FC236}">
                    <a16:creationId xmlns:a16="http://schemas.microsoft.com/office/drawing/2014/main" id="{84066621-A24C-7990-72FD-44236DC907FF}"/>
                  </a:ext>
                </a:extLst>
              </p:cNvPr>
              <p:cNvSpPr txBox="1">
                <a:spLocks noRot="1" noChangeAspect="1" noMove="1" noResize="1" noEditPoints="1" noAdjustHandles="1" noChangeArrowheads="1" noChangeShapeType="1" noTextEdit="1"/>
              </p:cNvSpPr>
              <p:nvPr/>
            </p:nvSpPr>
            <p:spPr>
              <a:xfrm>
                <a:off x="4093467" y="3287372"/>
                <a:ext cx="6630850" cy="1271438"/>
              </a:xfrm>
              <a:prstGeom prst="rect">
                <a:avLst/>
              </a:prstGeom>
              <a:blipFill>
                <a:blip r:embed="rId5"/>
                <a:stretch>
                  <a:fillRect t="-207843" b="-297059"/>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AE76F64-155D-DED9-9CEC-50D707AC4EEF}"/>
                  </a:ext>
                </a:extLst>
              </p:cNvPr>
              <p:cNvSpPr txBox="1"/>
              <p:nvPr/>
            </p:nvSpPr>
            <p:spPr>
              <a:xfrm>
                <a:off x="354000" y="1393704"/>
                <a:ext cx="2727501" cy="461665"/>
              </a:xfrm>
              <a:prstGeom prst="rect">
                <a:avLst/>
              </a:prstGeom>
              <a:noFill/>
            </p:spPr>
            <p:txBody>
              <a:bodyPr wrap="square" rtlCol="0">
                <a:spAutoFit/>
              </a:bodyPr>
              <a:lstStyle/>
              <a:p>
                <a:r>
                  <a:rPr kumimoji="1" lang="en-US" altLang="ko-Kore-KR" b="1">
                    <a:latin typeface="+mj-ea"/>
                    <a:ea typeface="+mj-ea"/>
                  </a:rPr>
                  <a:t>Step</a:t>
                </a:r>
                <a:r>
                  <a:rPr kumimoji="1" lang="en-US" altLang="zh-CN" b="1">
                    <a:latin typeface="+mj-ea"/>
                    <a:ea typeface="+mj-ea"/>
                  </a:rPr>
                  <a:t>1</a:t>
                </a:r>
                <a:r>
                  <a:rPr kumimoji="1" lang="en-US" altLang="ko-Kore-KR" b="1">
                    <a:latin typeface="+mj-ea"/>
                    <a:ea typeface="+mj-ea"/>
                  </a:rPr>
                  <a:t>:</a:t>
                </a:r>
                <a:r>
                  <a:rPr kumimoji="1" lang="zh-CN" altLang="en-US" b="1">
                    <a:latin typeface="+mj-ea"/>
                    <a:ea typeface="+mj-ea"/>
                  </a:rPr>
                  <a:t> 求</a:t>
                </a:r>
                <a14:m>
                  <m:oMath xmlns:m="http://schemas.openxmlformats.org/officeDocument/2006/math">
                    <m:sSub>
                      <m:sSubPr>
                        <m:ctrlPr>
                          <a:rPr lang="en-US" altLang="zh-CN" b="1" i="1" smtClean="0">
                            <a:latin typeface="Cambria Math" panose="02040503050406030204" pitchFamily="18" charset="0"/>
                            <a:ea typeface="+mj-ea"/>
                          </a:rPr>
                        </m:ctrlPr>
                      </m:sSubPr>
                      <m:e>
                        <m:r>
                          <a:rPr lang="en-US" altLang="zh-CN" b="1" i="1" smtClean="0">
                            <a:latin typeface="Cambria Math" panose="02040503050406030204" pitchFamily="18" charset="0"/>
                            <a:ea typeface="+mj-ea"/>
                          </a:rPr>
                          <m:t>𝒇</m:t>
                        </m:r>
                      </m:e>
                      <m:sub>
                        <m:r>
                          <a:rPr lang="en-US" altLang="zh-CN" b="1" i="1" smtClean="0">
                            <a:latin typeface="Cambria Math" panose="02040503050406030204" pitchFamily="18" charset="0"/>
                            <a:ea typeface="+mj-ea"/>
                          </a:rPr>
                          <m:t>𝟐</m:t>
                        </m:r>
                      </m:sub>
                    </m:sSub>
                    <m:d>
                      <m:dPr>
                        <m:ctrlPr>
                          <a:rPr lang="en-US" altLang="zh-CN" b="1" i="1" smtClean="0">
                            <a:latin typeface="Cambria Math" panose="02040503050406030204" pitchFamily="18" charset="0"/>
                            <a:ea typeface="+mj-ea"/>
                          </a:rPr>
                        </m:ctrlPr>
                      </m:dPr>
                      <m:e>
                        <m:r>
                          <a:rPr lang="en-US" altLang="zh-CN" b="1" i="1" smtClean="0">
                            <a:latin typeface="Cambria Math" panose="02040503050406030204" pitchFamily="18" charset="0"/>
                            <a:ea typeface="+mj-ea"/>
                          </a:rPr>
                          <m:t>𝒙</m:t>
                        </m:r>
                      </m:e>
                    </m:d>
                  </m:oMath>
                </a14:m>
                <a:endParaRPr kumimoji="1" lang="ko-Kore-KR" altLang="en-US" b="1">
                  <a:latin typeface="+mj-ea"/>
                  <a:ea typeface="+mj-ea"/>
                </a:endParaRPr>
              </a:p>
            </p:txBody>
          </p:sp>
        </mc:Choice>
        <mc:Fallback xmlns="">
          <p:sp>
            <p:nvSpPr>
              <p:cNvPr id="22" name="TextBox 21">
                <a:extLst>
                  <a:ext uri="{FF2B5EF4-FFF2-40B4-BE49-F238E27FC236}">
                    <a16:creationId xmlns:a16="http://schemas.microsoft.com/office/drawing/2014/main" id="{9AE76F64-155D-DED9-9CEC-50D707AC4EEF}"/>
                  </a:ext>
                </a:extLst>
              </p:cNvPr>
              <p:cNvSpPr txBox="1">
                <a:spLocks noRot="1" noChangeAspect="1" noMove="1" noResize="1" noEditPoints="1" noAdjustHandles="1" noChangeArrowheads="1" noChangeShapeType="1" noTextEdit="1"/>
              </p:cNvSpPr>
              <p:nvPr/>
            </p:nvSpPr>
            <p:spPr>
              <a:xfrm>
                <a:off x="354000" y="1393704"/>
                <a:ext cx="2727501" cy="461665"/>
              </a:xfrm>
              <a:prstGeom prst="rect">
                <a:avLst/>
              </a:prstGeom>
              <a:blipFill>
                <a:blip r:embed="rId6"/>
                <a:stretch>
                  <a:fillRect l="-3241" t="-8108" b="-2973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3" name="文本框 11">
                <a:extLst>
                  <a:ext uri="{FF2B5EF4-FFF2-40B4-BE49-F238E27FC236}">
                    <a16:creationId xmlns:a16="http://schemas.microsoft.com/office/drawing/2014/main" id="{8267C1DB-F975-59E2-084E-C5DF7DF07D9E}"/>
                  </a:ext>
                </a:extLst>
              </p:cNvPr>
              <p:cNvSpPr txBox="1"/>
              <p:nvPr/>
            </p:nvSpPr>
            <p:spPr>
              <a:xfrm>
                <a:off x="3576488" y="1402147"/>
                <a:ext cx="84600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𝑠</m:t>
                      </m:r>
                      <m:r>
                        <a:rPr lang="en-US" altLang="zh-CN" b="0" i="1" smtClean="0">
                          <a:latin typeface="Cambria Math" panose="02040503050406030204" pitchFamily="18" charset="0"/>
                          <a:ea typeface="Microsoft YaHei" charset="0"/>
                        </a:rPr>
                        <m:t>=3.5</m:t>
                      </m:r>
                      <m:r>
                        <a:rPr lang="zh-CN" altLang="en-US"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1,2,3</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𝑅</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m:t>
                      </m:r>
                      <m:d>
                        <m:dPr>
                          <m:begChr m:val="{"/>
                          <m:endChr m:val="}"/>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4,5,6,…,10</m:t>
                          </m:r>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1</m:t>
                          </m:r>
                        </m:sub>
                      </m:sSub>
                      <m:r>
                        <a:rPr lang="en-US" altLang="zh-CN" b="0" i="1" smtClean="0">
                          <a:latin typeface="Cambria Math" panose="02040503050406030204" pitchFamily="18" charset="0"/>
                          <a:ea typeface="Microsoft YaHei" charset="0"/>
                        </a:rPr>
                        <m:t>=−0.52,</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𝑐</m:t>
                          </m:r>
                        </m:e>
                        <m:sub>
                          <m:r>
                            <a:rPr lang="en-US" altLang="zh-CN" b="0" i="1" smtClean="0">
                              <a:latin typeface="Cambria Math" panose="02040503050406030204" pitchFamily="18" charset="0"/>
                              <a:ea typeface="Microsoft YaHei" charset="0"/>
                            </a:rPr>
                            <m:t>2</m:t>
                          </m:r>
                        </m:sub>
                      </m:sSub>
                      <m:r>
                        <a:rPr lang="en-US" altLang="zh-CN" b="0" i="1" smtClean="0">
                          <a:latin typeface="Cambria Math" panose="02040503050406030204" pitchFamily="18" charset="0"/>
                          <a:ea typeface="Microsoft YaHei" charset="0"/>
                        </a:rPr>
                        <m:t>=8.91</m:t>
                      </m:r>
                    </m:oMath>
                  </m:oMathPara>
                </a14:m>
                <a:endParaRPr lang="zh-CN" altLang="en-US" dirty="0">
                  <a:ea typeface="Microsoft YaHei" charset="0"/>
                </a:endParaRPr>
              </a:p>
            </p:txBody>
          </p:sp>
        </mc:Choice>
        <mc:Fallback xmlns="">
          <p:sp>
            <p:nvSpPr>
              <p:cNvPr id="23" name="文本框 11">
                <a:extLst>
                  <a:ext uri="{FF2B5EF4-FFF2-40B4-BE49-F238E27FC236}">
                    <a16:creationId xmlns:a16="http://schemas.microsoft.com/office/drawing/2014/main" id="{8267C1DB-F975-59E2-084E-C5DF7DF07D9E}"/>
                  </a:ext>
                </a:extLst>
              </p:cNvPr>
              <p:cNvSpPr txBox="1">
                <a:spLocks noRot="1" noChangeAspect="1" noMove="1" noResize="1" noEditPoints="1" noAdjustHandles="1" noChangeArrowheads="1" noChangeShapeType="1" noTextEdit="1"/>
              </p:cNvSpPr>
              <p:nvPr/>
            </p:nvSpPr>
            <p:spPr>
              <a:xfrm>
                <a:off x="3576488" y="1402147"/>
                <a:ext cx="8460008" cy="369332"/>
              </a:xfrm>
              <a:prstGeom prst="rect">
                <a:avLst/>
              </a:prstGeom>
              <a:blipFill>
                <a:blip r:embed="rId7"/>
                <a:stretch>
                  <a:fillRect r="-300" b="-13333"/>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graphicFrame>
            <p:nvGraphicFramePr>
              <p:cNvPr id="4" name="표 3">
                <a:extLst>
                  <a:ext uri="{FF2B5EF4-FFF2-40B4-BE49-F238E27FC236}">
                    <a16:creationId xmlns:a16="http://schemas.microsoft.com/office/drawing/2014/main" id="{AF43F221-D699-D8A8-15B6-81372762932D}"/>
                  </a:ext>
                </a:extLst>
              </p:cNvPr>
              <p:cNvGraphicFramePr>
                <a:graphicFrameLocks noGrp="1"/>
              </p:cNvGraphicFramePr>
              <p:nvPr>
                <p:extLst>
                  <p:ext uri="{D42A27DB-BD31-4B8C-83A1-F6EECF244321}">
                    <p14:modId xmlns:p14="http://schemas.microsoft.com/office/powerpoint/2010/main" val="3357245334"/>
                  </p:ext>
                </p:extLst>
              </p:nvPr>
            </p:nvGraphicFramePr>
            <p:xfrm>
              <a:off x="155575" y="2487169"/>
              <a:ext cx="3616112" cy="3702527"/>
            </p:xfrm>
            <a:graphic>
              <a:graphicData uri="http://schemas.openxmlformats.org/drawingml/2006/table">
                <a:tbl>
                  <a:tblPr firstRow="1" firstCol="1" bandRow="1">
                    <a:tableStyleId>{5C22544A-7EE6-4342-B048-85BDC9FD1C3A}</a:tableStyleId>
                  </a:tblPr>
                  <a:tblGrid>
                    <a:gridCol w="329349">
                      <a:extLst>
                        <a:ext uri="{9D8B030D-6E8A-4147-A177-3AD203B41FA5}">
                          <a16:colId xmlns:a16="http://schemas.microsoft.com/office/drawing/2014/main" val="2546156020"/>
                        </a:ext>
                      </a:extLst>
                    </a:gridCol>
                    <a:gridCol w="595399">
                      <a:extLst>
                        <a:ext uri="{9D8B030D-6E8A-4147-A177-3AD203B41FA5}">
                          <a16:colId xmlns:a16="http://schemas.microsoft.com/office/drawing/2014/main" val="2382238830"/>
                        </a:ext>
                      </a:extLst>
                    </a:gridCol>
                    <a:gridCol w="595399">
                      <a:extLst>
                        <a:ext uri="{9D8B030D-6E8A-4147-A177-3AD203B41FA5}">
                          <a16:colId xmlns:a16="http://schemas.microsoft.com/office/drawing/2014/main" val="3905756126"/>
                        </a:ext>
                      </a:extLst>
                    </a:gridCol>
                    <a:gridCol w="655693">
                      <a:extLst>
                        <a:ext uri="{9D8B030D-6E8A-4147-A177-3AD203B41FA5}">
                          <a16:colId xmlns:a16="http://schemas.microsoft.com/office/drawing/2014/main" val="3599029787"/>
                        </a:ext>
                      </a:extLst>
                    </a:gridCol>
                    <a:gridCol w="720136">
                      <a:extLst>
                        <a:ext uri="{9D8B030D-6E8A-4147-A177-3AD203B41FA5}">
                          <a16:colId xmlns:a16="http://schemas.microsoft.com/office/drawing/2014/main" val="3933086368"/>
                        </a:ext>
                      </a:extLst>
                    </a:gridCol>
                    <a:gridCol w="720136">
                      <a:extLst>
                        <a:ext uri="{9D8B030D-6E8A-4147-A177-3AD203B41FA5}">
                          <a16:colId xmlns:a16="http://schemas.microsoft.com/office/drawing/2014/main" val="3539704666"/>
                        </a:ext>
                      </a:extLst>
                    </a:gridCol>
                  </a:tblGrid>
                  <a:tr h="413851">
                    <a:tc>
                      <a:txBody>
                        <a:bodyPr/>
                        <a:lstStyle/>
                        <a:p>
                          <a:pPr algn="ctr"/>
                          <a:r>
                            <a:rPr lang="en-US" sz="1400" kern="100">
                              <a:effectLst/>
                              <a:latin typeface="KaiTi" panose="02010609060101010101" pitchFamily="49" charset="-122"/>
                              <a:ea typeface="KaiTi" panose="02010609060101010101" pitchFamily="49" charset="-122"/>
                            </a:rPr>
                            <a:t>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y</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f₁(x)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T₂(x)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f₂(x)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𝑟</m:t>
                                    </m:r>
                                  </m:e>
                                  <m:sub>
                                    <m:r>
                                      <a:rPr lang="en-US" altLang="zh-CN" sz="1400" b="0" i="1" smtClean="0">
                                        <a:latin typeface="Cambria Math" panose="02040503050406030204" pitchFamily="18" charset="0"/>
                                        <a:ea typeface="Microsoft YaHei" charset="0"/>
                                      </a:rPr>
                                      <m:t>3</m:t>
                                    </m:r>
                                    <m:r>
                                      <a:rPr lang="en-US" altLang="zh-CN" sz="1400" b="0" i="1" smtClean="0">
                                        <a:latin typeface="Cambria Math" panose="02040503050406030204" pitchFamily="18" charset="0"/>
                                        <a:ea typeface="Microsoft YaHei" charset="0"/>
                                      </a:rPr>
                                      <m:t>𝑖</m:t>
                                    </m:r>
                                  </m:sub>
                                </m:sSub>
                              </m:oMath>
                            </m:oMathPara>
                          </a14:m>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211587411"/>
                      </a:ext>
                    </a:extLst>
                  </a:tr>
                  <a:tr h="319425">
                    <a:tc>
                      <a:txBody>
                        <a:bodyPr/>
                        <a:lstStyle/>
                        <a:p>
                          <a:pPr algn="ctr"/>
                          <a:r>
                            <a:rPr lang="en-US" sz="1400" kern="100">
                              <a:effectLst/>
                              <a:latin typeface="KaiTi" panose="02010609060101010101" pitchFamily="49" charset="-122"/>
                              <a:ea typeface="KaiTi" panose="02010609060101010101" pitchFamily="49" charset="-122"/>
                            </a:rPr>
                            <a:t>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5.56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551254059"/>
                      </a:ext>
                    </a:extLst>
                  </a:tr>
                  <a:tr h="319425">
                    <a:tc>
                      <a:txBody>
                        <a:bodyPr/>
                        <a:lstStyle/>
                        <a:p>
                          <a:pPr algn="ctr"/>
                          <a:r>
                            <a:rPr lang="en-US" sz="1400" kern="100">
                              <a:effectLst/>
                              <a:latin typeface="KaiTi" panose="02010609060101010101" pitchFamily="49" charset="-122"/>
                              <a:ea typeface="KaiTi" panose="02010609060101010101" pitchFamily="49" charset="-122"/>
                            </a:rPr>
                            <a:t>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-0.02</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554212050"/>
                      </a:ext>
                    </a:extLst>
                  </a:tr>
                  <a:tr h="319425">
                    <a:tc>
                      <a:txBody>
                        <a:bodyPr/>
                        <a:lstStyle/>
                        <a:p>
                          <a:pPr algn="ctr"/>
                          <a:r>
                            <a:rPr lang="en-US" sz="1400" kern="100">
                              <a:effectLst/>
                              <a:latin typeface="KaiTi" panose="02010609060101010101" pitchFamily="49" charset="-122"/>
                              <a:ea typeface="KaiTi" panose="02010609060101010101" pitchFamily="49" charset="-122"/>
                            </a:rPr>
                            <a:t>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27543705"/>
                      </a:ext>
                    </a:extLst>
                  </a:tr>
                  <a:tr h="319425">
                    <a:tc>
                      <a:txBody>
                        <a:bodyPr/>
                        <a:lstStyle/>
                        <a:p>
                          <a:pPr algn="ctr"/>
                          <a:r>
                            <a:rPr lang="en-US" sz="1400" kern="100">
                              <a:effectLst/>
                              <a:latin typeface="KaiTi" panose="02010609060101010101" pitchFamily="49" charset="-122"/>
                              <a:ea typeface="KaiTi" panose="02010609060101010101" pitchFamily="49" charset="-122"/>
                            </a:rPr>
                            <a:t>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cs typeface="Times New Roman" panose="02020603050405020304" pitchFamily="18" charset="0"/>
                            </a:rPr>
                            <a:t>-0.06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601314153"/>
                      </a:ext>
                    </a:extLst>
                  </a:tr>
                  <a:tr h="319425">
                    <a:tc>
                      <a:txBody>
                        <a:bodyPr/>
                        <a:lstStyle/>
                        <a:p>
                          <a:pPr algn="ctr"/>
                          <a:r>
                            <a:rPr lang="en-US" sz="1400" kern="100">
                              <a:effectLst/>
                              <a:latin typeface="KaiTi" panose="02010609060101010101" pitchFamily="49" charset="-122"/>
                              <a:ea typeface="KaiTi" panose="02010609060101010101" pitchFamily="49" charset="-122"/>
                            </a:rPr>
                            <a:t>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6.80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0.34</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92021617"/>
                      </a:ext>
                    </a:extLst>
                  </a:tr>
                  <a:tr h="319425">
                    <a:tc>
                      <a:txBody>
                        <a:bodyPr/>
                        <a:lstStyle/>
                        <a:p>
                          <a:pPr algn="ctr"/>
                          <a:r>
                            <a:rPr lang="en-US" sz="1400" kern="100">
                              <a:effectLst/>
                              <a:latin typeface="KaiTi" panose="02010609060101010101" pitchFamily="49" charset="-122"/>
                              <a:ea typeface="KaiTi" panose="02010609060101010101" pitchFamily="49" charset="-122"/>
                            </a:rPr>
                            <a:t>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7.05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0.59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166686996"/>
                      </a:ext>
                    </a:extLst>
                  </a:tr>
                  <a:tr h="319425">
                    <a:tc>
                      <a:txBody>
                        <a:bodyPr/>
                        <a:lstStyle/>
                        <a:p>
                          <a:pPr algn="ctr"/>
                          <a:r>
                            <a:rPr lang="en-US" sz="1400" kern="100">
                              <a:effectLst/>
                              <a:latin typeface="KaiTi" panose="02010609060101010101" pitchFamily="49" charset="-122"/>
                              <a:ea typeface="KaiTi" panose="02010609060101010101" pitchFamily="49" charset="-122"/>
                            </a:rPr>
                            <a:t>7</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-0.23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161931668"/>
                      </a:ext>
                    </a:extLst>
                  </a:tr>
                  <a:tr h="319425">
                    <a:tc>
                      <a:txBody>
                        <a:bodyPr/>
                        <a:lstStyle/>
                        <a:p>
                          <a:pPr algn="ctr"/>
                          <a:r>
                            <a:rPr lang="en-US" sz="1400" kern="100">
                              <a:effectLst/>
                              <a:latin typeface="KaiTi" panose="02010609060101010101" pitchFamily="49" charset="-122"/>
                              <a:ea typeface="KaiTi" panose="02010609060101010101" pitchFamily="49" charset="-122"/>
                            </a:rPr>
                            <a:t>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-0.43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673571045"/>
                      </a:ext>
                    </a:extLst>
                  </a:tr>
                  <a:tr h="319425">
                    <a:tc>
                      <a:txBody>
                        <a:bodyPr/>
                        <a:lstStyle/>
                        <a:p>
                          <a:pPr algn="ctr"/>
                          <a:r>
                            <a:rPr lang="en-US" sz="1400" kern="100">
                              <a:effectLst/>
                              <a:latin typeface="KaiTi" panose="02010609060101010101" pitchFamily="49" charset="-122"/>
                              <a:ea typeface="KaiTi" panose="02010609060101010101" pitchFamily="49" charset="-122"/>
                            </a:rPr>
                            <a:t>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0.13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47249726"/>
                      </a:ext>
                    </a:extLst>
                  </a:tr>
                  <a:tr h="413851">
                    <a:tc>
                      <a:txBody>
                        <a:bodyPr/>
                        <a:lstStyle/>
                        <a:p>
                          <a:pPr algn="ctr"/>
                          <a:r>
                            <a:rPr lang="en-US" sz="1400" kern="100">
                              <a:effectLst/>
                              <a:latin typeface="KaiTi" panose="02010609060101010101" pitchFamily="49" charset="-122"/>
                              <a:ea typeface="KaiTi" panose="02010609060101010101" pitchFamily="49" charset="-122"/>
                            </a:rPr>
                            <a:t>10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0.08</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099551568"/>
                      </a:ext>
                    </a:extLst>
                  </a:tr>
                </a:tbl>
              </a:graphicData>
            </a:graphic>
          </p:graphicFrame>
        </mc:Choice>
        <mc:Fallback xmlns="">
          <p:graphicFrame>
            <p:nvGraphicFramePr>
              <p:cNvPr id="4" name="표 3">
                <a:extLst>
                  <a:ext uri="{FF2B5EF4-FFF2-40B4-BE49-F238E27FC236}">
                    <a16:creationId xmlns:a16="http://schemas.microsoft.com/office/drawing/2014/main" id="{AF43F221-D699-D8A8-15B6-81372762932D}"/>
                  </a:ext>
                </a:extLst>
              </p:cNvPr>
              <p:cNvGraphicFramePr>
                <a:graphicFrameLocks noGrp="1"/>
              </p:cNvGraphicFramePr>
              <p:nvPr>
                <p:extLst>
                  <p:ext uri="{D42A27DB-BD31-4B8C-83A1-F6EECF244321}">
                    <p14:modId xmlns:p14="http://schemas.microsoft.com/office/powerpoint/2010/main" val="3357245334"/>
                  </p:ext>
                </p:extLst>
              </p:nvPr>
            </p:nvGraphicFramePr>
            <p:xfrm>
              <a:off x="155575" y="2487169"/>
              <a:ext cx="3616112" cy="3702527"/>
            </p:xfrm>
            <a:graphic>
              <a:graphicData uri="http://schemas.openxmlformats.org/drawingml/2006/table">
                <a:tbl>
                  <a:tblPr firstRow="1" firstCol="1" bandRow="1">
                    <a:tableStyleId>{5C22544A-7EE6-4342-B048-85BDC9FD1C3A}</a:tableStyleId>
                  </a:tblPr>
                  <a:tblGrid>
                    <a:gridCol w="329349">
                      <a:extLst>
                        <a:ext uri="{9D8B030D-6E8A-4147-A177-3AD203B41FA5}">
                          <a16:colId xmlns:a16="http://schemas.microsoft.com/office/drawing/2014/main" val="2546156020"/>
                        </a:ext>
                      </a:extLst>
                    </a:gridCol>
                    <a:gridCol w="595399">
                      <a:extLst>
                        <a:ext uri="{9D8B030D-6E8A-4147-A177-3AD203B41FA5}">
                          <a16:colId xmlns:a16="http://schemas.microsoft.com/office/drawing/2014/main" val="2382238830"/>
                        </a:ext>
                      </a:extLst>
                    </a:gridCol>
                    <a:gridCol w="595399">
                      <a:extLst>
                        <a:ext uri="{9D8B030D-6E8A-4147-A177-3AD203B41FA5}">
                          <a16:colId xmlns:a16="http://schemas.microsoft.com/office/drawing/2014/main" val="3905756126"/>
                        </a:ext>
                      </a:extLst>
                    </a:gridCol>
                    <a:gridCol w="655693">
                      <a:extLst>
                        <a:ext uri="{9D8B030D-6E8A-4147-A177-3AD203B41FA5}">
                          <a16:colId xmlns:a16="http://schemas.microsoft.com/office/drawing/2014/main" val="3599029787"/>
                        </a:ext>
                      </a:extLst>
                    </a:gridCol>
                    <a:gridCol w="720136">
                      <a:extLst>
                        <a:ext uri="{9D8B030D-6E8A-4147-A177-3AD203B41FA5}">
                          <a16:colId xmlns:a16="http://schemas.microsoft.com/office/drawing/2014/main" val="3933086368"/>
                        </a:ext>
                      </a:extLst>
                    </a:gridCol>
                    <a:gridCol w="720136">
                      <a:extLst>
                        <a:ext uri="{9D8B030D-6E8A-4147-A177-3AD203B41FA5}">
                          <a16:colId xmlns:a16="http://schemas.microsoft.com/office/drawing/2014/main" val="3539704666"/>
                        </a:ext>
                      </a:extLst>
                    </a:gridCol>
                  </a:tblGrid>
                  <a:tr h="413851">
                    <a:tc>
                      <a:txBody>
                        <a:bodyPr/>
                        <a:lstStyle/>
                        <a:p>
                          <a:pPr algn="ctr"/>
                          <a:r>
                            <a:rPr lang="en-US" sz="1400" kern="100">
                              <a:effectLst/>
                              <a:latin typeface="KaiTi" panose="02010609060101010101" pitchFamily="49" charset="-122"/>
                              <a:ea typeface="KaiTi" panose="02010609060101010101" pitchFamily="49" charset="-122"/>
                            </a:rPr>
                            <a:t>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y</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f₁(x)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T₂(x)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f₂(x)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ko-Kore-KR"/>
                        </a:p>
                      </a:txBody>
                      <a:tcPr marL="9525" marR="9525" marT="9525" marB="9525" anchor="ctr">
                        <a:blipFill>
                          <a:blip r:embed="rId8"/>
                          <a:stretch>
                            <a:fillRect l="-401754" t="-3030" r="-5263" b="-790909"/>
                          </a:stretch>
                        </a:blipFill>
                      </a:tcPr>
                    </a:tc>
                    <a:extLst>
                      <a:ext uri="{0D108BD9-81ED-4DB2-BD59-A6C34878D82A}">
                        <a16:rowId xmlns:a16="http://schemas.microsoft.com/office/drawing/2014/main" val="4211587411"/>
                      </a:ext>
                    </a:extLst>
                  </a:tr>
                  <a:tr h="319425">
                    <a:tc>
                      <a:txBody>
                        <a:bodyPr/>
                        <a:lstStyle/>
                        <a:p>
                          <a:pPr algn="ctr"/>
                          <a:r>
                            <a:rPr lang="en-US" sz="1400" kern="100">
                              <a:effectLst/>
                              <a:latin typeface="KaiTi" panose="02010609060101010101" pitchFamily="49" charset="-122"/>
                              <a:ea typeface="KaiTi" panose="02010609060101010101" pitchFamily="49" charset="-122"/>
                            </a:rPr>
                            <a:t>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5.56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551254059"/>
                      </a:ext>
                    </a:extLst>
                  </a:tr>
                  <a:tr h="319425">
                    <a:tc>
                      <a:txBody>
                        <a:bodyPr/>
                        <a:lstStyle/>
                        <a:p>
                          <a:pPr algn="ctr"/>
                          <a:r>
                            <a:rPr lang="en-US" sz="1400" kern="100">
                              <a:effectLst/>
                              <a:latin typeface="KaiTi" panose="02010609060101010101" pitchFamily="49" charset="-122"/>
                              <a:ea typeface="KaiTi" panose="02010609060101010101" pitchFamily="49" charset="-122"/>
                            </a:rPr>
                            <a:t>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-0.02</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554212050"/>
                      </a:ext>
                    </a:extLst>
                  </a:tr>
                  <a:tr h="319425">
                    <a:tc>
                      <a:txBody>
                        <a:bodyPr/>
                        <a:lstStyle/>
                        <a:p>
                          <a:pPr algn="ctr"/>
                          <a:r>
                            <a:rPr lang="en-US" sz="1400" kern="100">
                              <a:effectLst/>
                              <a:latin typeface="KaiTi" panose="02010609060101010101" pitchFamily="49" charset="-122"/>
                              <a:ea typeface="KaiTi" panose="02010609060101010101" pitchFamily="49" charset="-122"/>
                            </a:rPr>
                            <a:t>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27543705"/>
                      </a:ext>
                    </a:extLst>
                  </a:tr>
                  <a:tr h="319425">
                    <a:tc>
                      <a:txBody>
                        <a:bodyPr/>
                        <a:lstStyle/>
                        <a:p>
                          <a:pPr algn="ctr"/>
                          <a:r>
                            <a:rPr lang="en-US" sz="1400" kern="100">
                              <a:effectLst/>
                              <a:latin typeface="KaiTi" panose="02010609060101010101" pitchFamily="49" charset="-122"/>
                              <a:ea typeface="KaiTi" panose="02010609060101010101" pitchFamily="49" charset="-122"/>
                            </a:rPr>
                            <a:t>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cs typeface="Times New Roman" panose="02020603050405020304" pitchFamily="18" charset="0"/>
                            </a:rPr>
                            <a:t>-0.06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601314153"/>
                      </a:ext>
                    </a:extLst>
                  </a:tr>
                  <a:tr h="319425">
                    <a:tc>
                      <a:txBody>
                        <a:bodyPr/>
                        <a:lstStyle/>
                        <a:p>
                          <a:pPr algn="ctr"/>
                          <a:r>
                            <a:rPr lang="en-US" sz="1400" kern="100">
                              <a:effectLst/>
                              <a:latin typeface="KaiTi" panose="02010609060101010101" pitchFamily="49" charset="-122"/>
                              <a:ea typeface="KaiTi" panose="02010609060101010101" pitchFamily="49" charset="-122"/>
                            </a:rPr>
                            <a:t>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6.80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0.34</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92021617"/>
                      </a:ext>
                    </a:extLst>
                  </a:tr>
                  <a:tr h="319425">
                    <a:tc>
                      <a:txBody>
                        <a:bodyPr/>
                        <a:lstStyle/>
                        <a:p>
                          <a:pPr algn="ctr"/>
                          <a:r>
                            <a:rPr lang="en-US" sz="1400" kern="100">
                              <a:effectLst/>
                              <a:latin typeface="KaiTi" panose="02010609060101010101" pitchFamily="49" charset="-122"/>
                              <a:ea typeface="KaiTi" panose="02010609060101010101" pitchFamily="49" charset="-122"/>
                            </a:rPr>
                            <a:t>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7.05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0.59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166686996"/>
                      </a:ext>
                    </a:extLst>
                  </a:tr>
                  <a:tr h="319425">
                    <a:tc>
                      <a:txBody>
                        <a:bodyPr/>
                        <a:lstStyle/>
                        <a:p>
                          <a:pPr algn="ctr"/>
                          <a:r>
                            <a:rPr lang="en-US" sz="1400" kern="100">
                              <a:effectLst/>
                              <a:latin typeface="KaiTi" panose="02010609060101010101" pitchFamily="49" charset="-122"/>
                              <a:ea typeface="KaiTi" panose="02010609060101010101" pitchFamily="49" charset="-122"/>
                            </a:rPr>
                            <a:t>7</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-0.23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161931668"/>
                      </a:ext>
                    </a:extLst>
                  </a:tr>
                  <a:tr h="319425">
                    <a:tc>
                      <a:txBody>
                        <a:bodyPr/>
                        <a:lstStyle/>
                        <a:p>
                          <a:pPr algn="ctr"/>
                          <a:r>
                            <a:rPr lang="en-US" sz="1400" kern="100">
                              <a:effectLst/>
                              <a:latin typeface="KaiTi" panose="02010609060101010101" pitchFamily="49" charset="-122"/>
                              <a:ea typeface="KaiTi" panose="02010609060101010101" pitchFamily="49" charset="-122"/>
                            </a:rPr>
                            <a:t>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8.70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-0.43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673571045"/>
                      </a:ext>
                    </a:extLst>
                  </a:tr>
                  <a:tr h="319425">
                    <a:tc>
                      <a:txBody>
                        <a:bodyPr/>
                        <a:lstStyle/>
                        <a:p>
                          <a:pPr algn="ctr"/>
                          <a:r>
                            <a:rPr lang="en-US" sz="1400" kern="100">
                              <a:effectLst/>
                              <a:latin typeface="KaiTi" panose="02010609060101010101" pitchFamily="49" charset="-122"/>
                              <a:ea typeface="KaiTi" panose="02010609060101010101" pitchFamily="49" charset="-122"/>
                            </a:rPr>
                            <a:t>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0.13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47249726"/>
                      </a:ext>
                    </a:extLst>
                  </a:tr>
                  <a:tr h="413851">
                    <a:tc>
                      <a:txBody>
                        <a:bodyPr/>
                        <a:lstStyle/>
                        <a:p>
                          <a:pPr algn="ctr"/>
                          <a:r>
                            <a:rPr lang="en-US" sz="1400" kern="100">
                              <a:effectLst/>
                              <a:latin typeface="KaiTi" panose="02010609060101010101" pitchFamily="49" charset="-122"/>
                              <a:ea typeface="KaiTi" panose="02010609060101010101" pitchFamily="49" charset="-122"/>
                            </a:rPr>
                            <a:t>10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8.91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0.08</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099551568"/>
                      </a:ext>
                    </a:extLst>
                  </a:tr>
                </a:tbl>
              </a:graphicData>
            </a:graphic>
          </p:graphicFrame>
        </mc:Fallback>
      </mc:AlternateContent>
      <mc:AlternateContent xmlns:mc="http://schemas.openxmlformats.org/markup-compatibility/2006" xmlns:a14="http://schemas.microsoft.com/office/drawing/2010/main">
        <mc:Choice Requires="a14">
          <p:sp>
            <p:nvSpPr>
              <p:cNvPr id="5" name="文本框 48">
                <a:extLst>
                  <a:ext uri="{FF2B5EF4-FFF2-40B4-BE49-F238E27FC236}">
                    <a16:creationId xmlns:a16="http://schemas.microsoft.com/office/drawing/2014/main" id="{7D490F5A-0CF8-EB6A-4081-EF2EAC372917}"/>
                  </a:ext>
                </a:extLst>
              </p:cNvPr>
              <p:cNvSpPr txBox="1"/>
              <p:nvPr/>
            </p:nvSpPr>
            <p:spPr>
              <a:xfrm>
                <a:off x="6514331" y="5324397"/>
                <a:ext cx="4331122"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𝐿</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𝑦</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10</m:t>
                          </m:r>
                        </m:sup>
                        <m:e>
                          <m:sSup>
                            <m:sSupPr>
                              <m:ctrlPr>
                                <a:rPr lang="en-US" altLang="zh-CN" sz="2000" i="1" smtClean="0">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r>
                                <a:rPr lang="en-US" altLang="zh-CN" sz="200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i="1" smtClean="0">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r>
                            <m:rPr>
                              <m:nor/>
                            </m:rPr>
                            <a:rPr lang="zh-CN" altLang="en-US" sz="2000" dirty="0">
                              <a:ea typeface="Microsoft YaHei" charset="0"/>
                            </a:rPr>
                            <m:t> </m:t>
                          </m:r>
                        </m:e>
                      </m:nary>
                      <m:r>
                        <a:rPr lang="en-US" altLang="zh-CN" sz="2000" b="0" i="1" smtClean="0">
                          <a:latin typeface="Cambria Math" panose="02040503050406030204" pitchFamily="18" charset="0"/>
                          <a:ea typeface="Microsoft YaHei" charset="0"/>
                        </a:rPr>
                        <m:t>=0.79</m:t>
                      </m:r>
                    </m:oMath>
                  </m:oMathPara>
                </a14:m>
                <a:endParaRPr lang="zh-CN" altLang="en-US" sz="2000" dirty="0">
                  <a:ea typeface="Microsoft YaHei" charset="0"/>
                </a:endParaRPr>
              </a:p>
            </p:txBody>
          </p:sp>
        </mc:Choice>
        <mc:Fallback xmlns="">
          <p:sp>
            <p:nvSpPr>
              <p:cNvPr id="5" name="文本框 48">
                <a:extLst>
                  <a:ext uri="{FF2B5EF4-FFF2-40B4-BE49-F238E27FC236}">
                    <a16:creationId xmlns:a16="http://schemas.microsoft.com/office/drawing/2014/main" id="{7D490F5A-0CF8-EB6A-4081-EF2EAC372917}"/>
                  </a:ext>
                </a:extLst>
              </p:cNvPr>
              <p:cNvSpPr txBox="1">
                <a:spLocks noRot="1" noChangeAspect="1" noMove="1" noResize="1" noEditPoints="1" noAdjustHandles="1" noChangeArrowheads="1" noChangeShapeType="1" noTextEdit="1"/>
              </p:cNvSpPr>
              <p:nvPr/>
            </p:nvSpPr>
            <p:spPr>
              <a:xfrm>
                <a:off x="6514331" y="5324397"/>
                <a:ext cx="4331122" cy="865301"/>
              </a:xfrm>
              <a:prstGeom prst="rect">
                <a:avLst/>
              </a:prstGeom>
              <a:blipFill>
                <a:blip r:embed="rId9"/>
                <a:stretch>
                  <a:fillRect l="-880" t="-114493" r="-880" b="-173913"/>
                </a:stretch>
              </a:blipFill>
            </p:spPr>
            <p:txBody>
              <a:bodyPr/>
              <a:lstStyle/>
              <a:p>
                <a:r>
                  <a:rPr lang="ko-Kore-KR" altLang="en-US">
                    <a:noFill/>
                  </a:rPr>
                  <a:t> </a:t>
                </a:r>
              </a:p>
            </p:txBody>
          </p:sp>
        </mc:Fallback>
      </mc:AlternateContent>
      <p:sp>
        <p:nvSpPr>
          <p:cNvPr id="3" name="Rectangle 2">
            <a:extLst>
              <a:ext uri="{FF2B5EF4-FFF2-40B4-BE49-F238E27FC236}">
                <a16:creationId xmlns:a16="http://schemas.microsoft.com/office/drawing/2014/main" id="{68CBAC9C-C2C5-CFD5-A18D-795CD15DFC5B}"/>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257813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 calcmode="lin" valueType="num">
                                      <p:cBhvr>
                                        <p:cTn id="44" dur="500" fill="hold"/>
                                        <p:tgtEl>
                                          <p:spTgt spid="23"/>
                                        </p:tgtEl>
                                        <p:attrNameLst>
                                          <p:attrName>ppt_w</p:attrName>
                                        </p:attrNameLst>
                                      </p:cBhvr>
                                      <p:tavLst>
                                        <p:tav tm="0">
                                          <p:val>
                                            <p:fltVal val="0"/>
                                          </p:val>
                                        </p:tav>
                                        <p:tav tm="100000">
                                          <p:val>
                                            <p:strVal val="#ppt_w"/>
                                          </p:val>
                                        </p:tav>
                                      </p:tavLst>
                                    </p:anim>
                                    <p:anim calcmode="lin" valueType="num">
                                      <p:cBhvr>
                                        <p:cTn id="45" dur="500" fill="hold"/>
                                        <p:tgtEl>
                                          <p:spTgt spid="23"/>
                                        </p:tgtEl>
                                        <p:attrNameLst>
                                          <p:attrName>ppt_h</p:attrName>
                                        </p:attrNameLst>
                                      </p:cBhvr>
                                      <p:tavLst>
                                        <p:tav tm="0">
                                          <p:val>
                                            <p:fltVal val="0"/>
                                          </p:val>
                                        </p:tav>
                                        <p:tav tm="100000">
                                          <p:val>
                                            <p:strVal val="#ppt_h"/>
                                          </p:val>
                                        </p:tav>
                                      </p:tavLst>
                                    </p:anim>
                                    <p:animEffect transition="in" filter="fade">
                                      <p:cBhvr>
                                        <p:cTn id="46" dur="5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500" fill="hold"/>
                                        <p:tgtEl>
                                          <p:spTgt spid="5"/>
                                        </p:tgtEl>
                                        <p:attrNameLst>
                                          <p:attrName>ppt_w</p:attrName>
                                        </p:attrNameLst>
                                      </p:cBhvr>
                                      <p:tavLst>
                                        <p:tav tm="0">
                                          <p:val>
                                            <p:fltVal val="0"/>
                                          </p:val>
                                        </p:tav>
                                        <p:tav tm="100000">
                                          <p:val>
                                            <p:strVal val="#ppt_w"/>
                                          </p:val>
                                        </p:tav>
                                      </p:tavLst>
                                    </p:anim>
                                    <p:anim calcmode="lin" valueType="num">
                                      <p:cBhvr>
                                        <p:cTn id="52" dur="500" fill="hold"/>
                                        <p:tgtEl>
                                          <p:spTgt spid="5"/>
                                        </p:tgtEl>
                                        <p:attrNameLst>
                                          <p:attrName>ppt_h</p:attrName>
                                        </p:attrNameLst>
                                      </p:cBhvr>
                                      <p:tavLst>
                                        <p:tav tm="0">
                                          <p:val>
                                            <p:fltVal val="0"/>
                                          </p:val>
                                        </p:tav>
                                        <p:tav tm="100000">
                                          <p:val>
                                            <p:strVal val="#ppt_h"/>
                                          </p:val>
                                        </p:tav>
                                      </p:tavLst>
                                    </p:anim>
                                    <p:animEffect transition="in" filter="fade">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8" grpId="0"/>
      <p:bldP spid="9" grpId="0" animBg="1"/>
      <p:bldP spid="10" grpId="0" animBg="1"/>
      <p:bldP spid="11" grpId="0" animBg="1"/>
      <p:bldP spid="23"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16FA07B4-3C5E-47F2-B669-D8CB6F05B4AD}"/>
                  </a:ext>
                </a:extLst>
              </p:cNvPr>
              <p:cNvGraphicFramePr>
                <a:graphicFrameLocks noGrp="1"/>
              </p:cNvGraphicFramePr>
              <p:nvPr>
                <p:extLst>
                  <p:ext uri="{D42A27DB-BD31-4B8C-83A1-F6EECF244321}">
                    <p14:modId xmlns:p14="http://schemas.microsoft.com/office/powerpoint/2010/main" val="252071549"/>
                  </p:ext>
                </p:extLst>
              </p:nvPr>
            </p:nvGraphicFramePr>
            <p:xfrm>
              <a:off x="237645" y="2147127"/>
              <a:ext cx="2546192" cy="4108753"/>
            </p:xfrm>
            <a:graphic>
              <a:graphicData uri="http://schemas.openxmlformats.org/drawingml/2006/table">
                <a:tbl>
                  <a:tblPr firstRow="1" firstCol="1" bandRow="1">
                    <a:tableStyleId>{5C22544A-7EE6-4342-B048-85BDC9FD1C3A}</a:tableStyleId>
                  </a:tblPr>
                  <a:tblGrid>
                    <a:gridCol w="636548">
                      <a:extLst>
                        <a:ext uri="{9D8B030D-6E8A-4147-A177-3AD203B41FA5}">
                          <a16:colId xmlns:a16="http://schemas.microsoft.com/office/drawing/2014/main" val="4196313495"/>
                        </a:ext>
                      </a:extLst>
                    </a:gridCol>
                    <a:gridCol w="636548">
                      <a:extLst>
                        <a:ext uri="{9D8B030D-6E8A-4147-A177-3AD203B41FA5}">
                          <a16:colId xmlns:a16="http://schemas.microsoft.com/office/drawing/2014/main" val="3411175974"/>
                        </a:ext>
                      </a:extLst>
                    </a:gridCol>
                    <a:gridCol w="636548">
                      <a:extLst>
                        <a:ext uri="{9D8B030D-6E8A-4147-A177-3AD203B41FA5}">
                          <a16:colId xmlns:a16="http://schemas.microsoft.com/office/drawing/2014/main" val="3982776189"/>
                        </a:ext>
                      </a:extLst>
                    </a:gridCol>
                    <a:gridCol w="636548">
                      <a:extLst>
                        <a:ext uri="{9D8B030D-6E8A-4147-A177-3AD203B41FA5}">
                          <a16:colId xmlns:a16="http://schemas.microsoft.com/office/drawing/2014/main" val="173195034"/>
                        </a:ext>
                      </a:extLst>
                    </a:gridCol>
                  </a:tblGrid>
                  <a:tr h="373523">
                    <a:tc>
                      <a:txBody>
                        <a:bodyPr/>
                        <a:lstStyle/>
                        <a:p>
                          <a:pPr algn="ctr"/>
                          <a:r>
                            <a:rPr lang="en-US" sz="1400" kern="0" dirty="0">
                              <a:effectLst/>
                              <a:latin typeface="KaiTi" panose="02010609060101010101" pitchFamily="49" charset="-122"/>
                              <a:ea typeface="KaiTi" panose="02010609060101010101" pitchFamily="49" charset="-122"/>
                            </a:rPr>
                            <a:t>x</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y</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𝑓</m:t>
                                    </m:r>
                                  </m:e>
                                  <m:sub>
                                    <m:r>
                                      <a:rPr lang="en-US" altLang="zh-CN" sz="1400" b="0" i="1" smtClean="0">
                                        <a:latin typeface="Cambria Math" panose="02040503050406030204" pitchFamily="18" charset="0"/>
                                        <a:ea typeface="Microsoft YaHei" charset="0"/>
                                      </a:rPr>
                                      <m:t>2</m:t>
                                    </m:r>
                                  </m:sub>
                                </m:sSub>
                                <m:d>
                                  <m:dPr>
                                    <m:ctrlPr>
                                      <a:rPr lang="en-US" altLang="zh-CN" sz="1400" b="0" i="1" smtClean="0">
                                        <a:latin typeface="Cambria Math" panose="02040503050406030204" pitchFamily="18" charset="0"/>
                                        <a:ea typeface="Microsoft YaHei" charset="0"/>
                                      </a:rPr>
                                    </m:ctrlPr>
                                  </m:dPr>
                                  <m:e>
                                    <m:sSub>
                                      <m:sSubPr>
                                        <m:ctrlPr>
                                          <a:rPr lang="en-US" altLang="zh-CN" sz="1400" b="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𝑥</m:t>
                                        </m:r>
                                      </m:e>
                                      <m:sub>
                                        <m:r>
                                          <a:rPr lang="en-US" altLang="zh-CN" sz="1400" b="0" i="1" smtClean="0">
                                            <a:latin typeface="Cambria Math" panose="02040503050406030204" pitchFamily="18" charset="0"/>
                                            <a:ea typeface="Microsoft YaHei" charset="0"/>
                                          </a:rPr>
                                          <m:t>𝑖</m:t>
                                        </m:r>
                                      </m:sub>
                                    </m:sSub>
                                  </m:e>
                                </m:d>
                              </m:oMath>
                            </m:oMathPara>
                          </a14:m>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𝑟</m:t>
                                    </m:r>
                                  </m:e>
                                  <m:sub>
                                    <m:r>
                                      <a:rPr lang="en-US" altLang="zh-CN" sz="1400" b="0" i="1" smtClean="0">
                                        <a:latin typeface="Cambria Math" panose="02040503050406030204" pitchFamily="18" charset="0"/>
                                        <a:ea typeface="Microsoft YaHei" charset="0"/>
                                      </a:rPr>
                                      <m:t>3</m:t>
                                    </m:r>
                                    <m:r>
                                      <a:rPr lang="en-US" altLang="zh-CN" sz="1400" b="0" i="1" smtClean="0">
                                        <a:latin typeface="Cambria Math" panose="02040503050406030204" pitchFamily="18" charset="0"/>
                                        <a:ea typeface="Microsoft YaHei" charset="0"/>
                                      </a:rPr>
                                      <m:t>𝑖</m:t>
                                    </m:r>
                                  </m:sub>
                                </m:sSub>
                              </m:oMath>
                            </m:oMathPara>
                          </a14:m>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30188544"/>
                      </a:ext>
                    </a:extLst>
                  </a:tr>
                  <a:tr h="373523">
                    <a:tc>
                      <a:txBody>
                        <a:bodyPr/>
                        <a:lstStyle/>
                        <a:p>
                          <a:pPr algn="ctr"/>
                          <a:r>
                            <a:rPr lang="en-US" sz="1400" kern="0">
                              <a:effectLst/>
                              <a:latin typeface="KaiTi" panose="02010609060101010101" pitchFamily="49" charset="-122"/>
                              <a:ea typeface="KaiTi" panose="02010609060101010101" pitchFamily="49" charset="-122"/>
                            </a:rPr>
                            <a:t>1</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5.56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90985678"/>
                      </a:ext>
                    </a:extLst>
                  </a:tr>
                  <a:tr h="373523">
                    <a:tc>
                      <a:txBody>
                        <a:bodyPr/>
                        <a:lstStyle/>
                        <a:p>
                          <a:pPr algn="ctr"/>
                          <a:r>
                            <a:rPr lang="en-US" sz="1400" kern="0">
                              <a:effectLst/>
                              <a:latin typeface="KaiTi" panose="02010609060101010101" pitchFamily="49" charset="-122"/>
                              <a:ea typeface="KaiTi" panose="02010609060101010101" pitchFamily="49" charset="-122"/>
                            </a:rPr>
                            <a:t>2</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5.7</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-0.02</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8295147"/>
                      </a:ext>
                    </a:extLst>
                  </a:tr>
                  <a:tr h="373523">
                    <a:tc>
                      <a:txBody>
                        <a:bodyPr/>
                        <a:lstStyle/>
                        <a:p>
                          <a:pPr algn="ctr"/>
                          <a:r>
                            <a:rPr lang="en-US" sz="1400" kern="0">
                              <a:effectLst/>
                              <a:latin typeface="KaiTi" panose="02010609060101010101" pitchFamily="49" charset="-122"/>
                              <a:ea typeface="KaiTi" panose="02010609060101010101" pitchFamily="49" charset="-122"/>
                            </a:rPr>
                            <a:t>3</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5.91</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870242738"/>
                      </a:ext>
                    </a:extLst>
                  </a:tr>
                  <a:tr h="373523">
                    <a:tc>
                      <a:txBody>
                        <a:bodyPr/>
                        <a:lstStyle/>
                        <a:p>
                          <a:pPr algn="ctr"/>
                          <a:r>
                            <a:rPr lang="en-US" sz="1400" kern="0">
                              <a:effectLst/>
                              <a:latin typeface="KaiTi" panose="02010609060101010101" pitchFamily="49" charset="-122"/>
                              <a:ea typeface="KaiTi" panose="02010609060101010101" pitchFamily="49" charset="-122"/>
                            </a:rPr>
                            <a:t>4</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6.4</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cs typeface="Times New Roman" panose="02020603050405020304" pitchFamily="18" charset="0"/>
                            </a:rPr>
                            <a:t>-0.06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13667405"/>
                      </a:ext>
                    </a:extLst>
                  </a:tr>
                  <a:tr h="373523">
                    <a:tc>
                      <a:txBody>
                        <a:bodyPr/>
                        <a:lstStyle/>
                        <a:p>
                          <a:pPr algn="ctr"/>
                          <a:r>
                            <a:rPr lang="en-US" sz="1400" kern="0">
                              <a:effectLst/>
                              <a:latin typeface="KaiTi" panose="02010609060101010101" pitchFamily="49" charset="-122"/>
                              <a:ea typeface="KaiTi" panose="02010609060101010101" pitchFamily="49" charset="-122"/>
                            </a:rPr>
                            <a:t>5</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6.8</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0.34</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41832788"/>
                      </a:ext>
                    </a:extLst>
                  </a:tr>
                  <a:tr h="373523">
                    <a:tc>
                      <a:txBody>
                        <a:bodyPr/>
                        <a:lstStyle/>
                        <a:p>
                          <a:pPr algn="ctr"/>
                          <a:r>
                            <a:rPr lang="en-US" sz="1400" kern="0">
                              <a:effectLst/>
                              <a:latin typeface="KaiTi" panose="02010609060101010101" pitchFamily="49" charset="-122"/>
                              <a:ea typeface="KaiTi" panose="02010609060101010101" pitchFamily="49" charset="-122"/>
                            </a:rPr>
                            <a:t>6</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7.05</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0.59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253376855"/>
                      </a:ext>
                    </a:extLst>
                  </a:tr>
                  <a:tr h="373523">
                    <a:tc>
                      <a:txBody>
                        <a:bodyPr/>
                        <a:lstStyle/>
                        <a:p>
                          <a:pPr algn="ctr"/>
                          <a:r>
                            <a:rPr lang="en-US" sz="1400" kern="0">
                              <a:effectLst/>
                              <a:latin typeface="KaiTi" panose="02010609060101010101" pitchFamily="49" charset="-122"/>
                              <a:ea typeface="KaiTi" panose="02010609060101010101" pitchFamily="49" charset="-122"/>
                            </a:rPr>
                            <a:t>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8.9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-0.23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1235451"/>
                      </a:ext>
                    </a:extLst>
                  </a:tr>
                  <a:tr h="373523">
                    <a:tc>
                      <a:txBody>
                        <a:bodyPr/>
                        <a:lstStyle/>
                        <a:p>
                          <a:pPr algn="ctr"/>
                          <a:r>
                            <a:rPr lang="en-US" sz="1400" kern="0">
                              <a:effectLst/>
                              <a:latin typeface="KaiTi" panose="02010609060101010101" pitchFamily="49" charset="-122"/>
                              <a:ea typeface="KaiTi" panose="02010609060101010101" pitchFamily="49" charset="-122"/>
                            </a:rPr>
                            <a:t>8</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8.7</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-0.43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395916712"/>
                      </a:ext>
                    </a:extLst>
                  </a:tr>
                  <a:tr h="373523">
                    <a:tc>
                      <a:txBody>
                        <a:bodyPr/>
                        <a:lstStyle/>
                        <a:p>
                          <a:pPr algn="ctr"/>
                          <a:r>
                            <a:rPr lang="en-US" sz="1400" kern="0">
                              <a:effectLst/>
                              <a:latin typeface="KaiTi" panose="02010609060101010101" pitchFamily="49" charset="-122"/>
                              <a:ea typeface="KaiTi" panose="02010609060101010101" pitchFamily="49" charset="-122"/>
                            </a:rPr>
                            <a:t>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0.13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86454354"/>
                      </a:ext>
                    </a:extLst>
                  </a:tr>
                  <a:tr h="373523">
                    <a:tc>
                      <a:txBody>
                        <a:bodyPr/>
                        <a:lstStyle/>
                        <a:p>
                          <a:pPr algn="ctr"/>
                          <a:r>
                            <a:rPr lang="en-US" sz="1400" kern="0">
                              <a:effectLst/>
                              <a:latin typeface="KaiTi" panose="02010609060101010101" pitchFamily="49" charset="-122"/>
                              <a:ea typeface="KaiTi" panose="02010609060101010101" pitchFamily="49" charset="-122"/>
                            </a:rPr>
                            <a:t>10</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9.05</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0.08</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66046342"/>
                      </a:ext>
                    </a:extLst>
                  </a:tr>
                </a:tbl>
              </a:graphicData>
            </a:graphic>
          </p:graphicFrame>
        </mc:Choice>
        <mc:Fallback xmlns="">
          <p:graphicFrame>
            <p:nvGraphicFramePr>
              <p:cNvPr id="3" name="表格 2">
                <a:extLst>
                  <a:ext uri="{FF2B5EF4-FFF2-40B4-BE49-F238E27FC236}">
                    <a16:creationId xmlns:a16="http://schemas.microsoft.com/office/drawing/2014/main" id="{16FA07B4-3C5E-47F2-B669-D8CB6F05B4AD}"/>
                  </a:ext>
                </a:extLst>
              </p:cNvPr>
              <p:cNvGraphicFramePr>
                <a:graphicFrameLocks noGrp="1"/>
              </p:cNvGraphicFramePr>
              <p:nvPr>
                <p:extLst>
                  <p:ext uri="{D42A27DB-BD31-4B8C-83A1-F6EECF244321}">
                    <p14:modId xmlns:p14="http://schemas.microsoft.com/office/powerpoint/2010/main" val="252071549"/>
                  </p:ext>
                </p:extLst>
              </p:nvPr>
            </p:nvGraphicFramePr>
            <p:xfrm>
              <a:off x="237645" y="2147127"/>
              <a:ext cx="2546192" cy="4108753"/>
            </p:xfrm>
            <a:graphic>
              <a:graphicData uri="http://schemas.openxmlformats.org/drawingml/2006/table">
                <a:tbl>
                  <a:tblPr firstRow="1" firstCol="1" bandRow="1">
                    <a:tableStyleId>{5C22544A-7EE6-4342-B048-85BDC9FD1C3A}</a:tableStyleId>
                  </a:tblPr>
                  <a:tblGrid>
                    <a:gridCol w="636548">
                      <a:extLst>
                        <a:ext uri="{9D8B030D-6E8A-4147-A177-3AD203B41FA5}">
                          <a16:colId xmlns:a16="http://schemas.microsoft.com/office/drawing/2014/main" val="4196313495"/>
                        </a:ext>
                      </a:extLst>
                    </a:gridCol>
                    <a:gridCol w="636548">
                      <a:extLst>
                        <a:ext uri="{9D8B030D-6E8A-4147-A177-3AD203B41FA5}">
                          <a16:colId xmlns:a16="http://schemas.microsoft.com/office/drawing/2014/main" val="3411175974"/>
                        </a:ext>
                      </a:extLst>
                    </a:gridCol>
                    <a:gridCol w="636548">
                      <a:extLst>
                        <a:ext uri="{9D8B030D-6E8A-4147-A177-3AD203B41FA5}">
                          <a16:colId xmlns:a16="http://schemas.microsoft.com/office/drawing/2014/main" val="3982776189"/>
                        </a:ext>
                      </a:extLst>
                    </a:gridCol>
                    <a:gridCol w="636548">
                      <a:extLst>
                        <a:ext uri="{9D8B030D-6E8A-4147-A177-3AD203B41FA5}">
                          <a16:colId xmlns:a16="http://schemas.microsoft.com/office/drawing/2014/main" val="173195034"/>
                        </a:ext>
                      </a:extLst>
                    </a:gridCol>
                  </a:tblGrid>
                  <a:tr h="373523">
                    <a:tc>
                      <a:txBody>
                        <a:bodyPr/>
                        <a:lstStyle/>
                        <a:p>
                          <a:pPr algn="ctr"/>
                          <a:r>
                            <a:rPr lang="en-US" sz="1400" kern="0" dirty="0">
                              <a:effectLst/>
                              <a:latin typeface="KaiTi" panose="02010609060101010101" pitchFamily="49" charset="-122"/>
                              <a:ea typeface="KaiTi" panose="02010609060101010101" pitchFamily="49" charset="-122"/>
                            </a:rPr>
                            <a:t>x</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y</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endParaRPr lang="ko-Kore-KR"/>
                        </a:p>
                      </a:txBody>
                      <a:tcPr marL="9525" marR="9525" marT="9525" marB="9525" anchor="ctr">
                        <a:blipFill>
                          <a:blip r:embed="rId3"/>
                          <a:stretch>
                            <a:fillRect l="-200000" t="-3448" r="-101961" b="-1024138"/>
                          </a:stretch>
                        </a:blipFill>
                      </a:tcPr>
                    </a:tc>
                    <a:tc>
                      <a:txBody>
                        <a:bodyPr/>
                        <a:lstStyle/>
                        <a:p>
                          <a:endParaRPr lang="ko-Kore-KR"/>
                        </a:p>
                      </a:txBody>
                      <a:tcPr marL="9525" marR="9525" marT="9525" marB="9525" anchor="ctr">
                        <a:blipFill>
                          <a:blip r:embed="rId3"/>
                          <a:stretch>
                            <a:fillRect l="-306000" t="-3448" r="-4000" b="-1024138"/>
                          </a:stretch>
                        </a:blipFill>
                      </a:tcPr>
                    </a:tc>
                    <a:extLst>
                      <a:ext uri="{0D108BD9-81ED-4DB2-BD59-A6C34878D82A}">
                        <a16:rowId xmlns:a16="http://schemas.microsoft.com/office/drawing/2014/main" val="3130188544"/>
                      </a:ext>
                    </a:extLst>
                  </a:tr>
                  <a:tr h="373523">
                    <a:tc>
                      <a:txBody>
                        <a:bodyPr/>
                        <a:lstStyle/>
                        <a:p>
                          <a:pPr algn="ctr"/>
                          <a:r>
                            <a:rPr lang="en-US" sz="1400" kern="0">
                              <a:effectLst/>
                              <a:latin typeface="KaiTi" panose="02010609060101010101" pitchFamily="49" charset="-122"/>
                              <a:ea typeface="KaiTi" panose="02010609060101010101" pitchFamily="49" charset="-122"/>
                            </a:rPr>
                            <a:t>1</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5.56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90985678"/>
                      </a:ext>
                    </a:extLst>
                  </a:tr>
                  <a:tr h="373523">
                    <a:tc>
                      <a:txBody>
                        <a:bodyPr/>
                        <a:lstStyle/>
                        <a:p>
                          <a:pPr algn="ctr"/>
                          <a:r>
                            <a:rPr lang="en-US" sz="1400" kern="0">
                              <a:effectLst/>
                              <a:latin typeface="KaiTi" panose="02010609060101010101" pitchFamily="49" charset="-122"/>
                              <a:ea typeface="KaiTi" panose="02010609060101010101" pitchFamily="49" charset="-122"/>
                            </a:rPr>
                            <a:t>2</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5.7</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-0.02</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8295147"/>
                      </a:ext>
                    </a:extLst>
                  </a:tr>
                  <a:tr h="373523">
                    <a:tc>
                      <a:txBody>
                        <a:bodyPr/>
                        <a:lstStyle/>
                        <a:p>
                          <a:pPr algn="ctr"/>
                          <a:r>
                            <a:rPr lang="en-US" sz="1400" kern="0">
                              <a:effectLst/>
                              <a:latin typeface="KaiTi" panose="02010609060101010101" pitchFamily="49" charset="-122"/>
                              <a:ea typeface="KaiTi" panose="02010609060101010101" pitchFamily="49" charset="-122"/>
                            </a:rPr>
                            <a:t>3</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5.91</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0.19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870242738"/>
                      </a:ext>
                    </a:extLst>
                  </a:tr>
                  <a:tr h="373523">
                    <a:tc>
                      <a:txBody>
                        <a:bodyPr/>
                        <a:lstStyle/>
                        <a:p>
                          <a:pPr algn="ctr"/>
                          <a:r>
                            <a:rPr lang="en-US" sz="1400" kern="0">
                              <a:effectLst/>
                              <a:latin typeface="KaiTi" panose="02010609060101010101" pitchFamily="49" charset="-122"/>
                              <a:ea typeface="KaiTi" panose="02010609060101010101" pitchFamily="49" charset="-122"/>
                            </a:rPr>
                            <a:t>4</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6.4</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cs typeface="Times New Roman" panose="02020603050405020304" pitchFamily="18" charset="0"/>
                            </a:rPr>
                            <a:t>-0.06</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13667405"/>
                      </a:ext>
                    </a:extLst>
                  </a:tr>
                  <a:tr h="373523">
                    <a:tc>
                      <a:txBody>
                        <a:bodyPr/>
                        <a:lstStyle/>
                        <a:p>
                          <a:pPr algn="ctr"/>
                          <a:r>
                            <a:rPr lang="en-US" sz="1400" kern="0">
                              <a:effectLst/>
                              <a:latin typeface="KaiTi" panose="02010609060101010101" pitchFamily="49" charset="-122"/>
                              <a:ea typeface="KaiTi" panose="02010609060101010101" pitchFamily="49" charset="-122"/>
                            </a:rPr>
                            <a:t>5</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6.8</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0.34</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41832788"/>
                      </a:ext>
                    </a:extLst>
                  </a:tr>
                  <a:tr h="373523">
                    <a:tc>
                      <a:txBody>
                        <a:bodyPr/>
                        <a:lstStyle/>
                        <a:p>
                          <a:pPr algn="ctr"/>
                          <a:r>
                            <a:rPr lang="en-US" sz="1400" kern="0">
                              <a:effectLst/>
                              <a:latin typeface="KaiTi" panose="02010609060101010101" pitchFamily="49" charset="-122"/>
                              <a:ea typeface="KaiTi" panose="02010609060101010101" pitchFamily="49" charset="-122"/>
                            </a:rPr>
                            <a:t>6</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7.05</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0.59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253376855"/>
                      </a:ext>
                    </a:extLst>
                  </a:tr>
                  <a:tr h="373523">
                    <a:tc>
                      <a:txBody>
                        <a:bodyPr/>
                        <a:lstStyle/>
                        <a:p>
                          <a:pPr algn="ctr"/>
                          <a:r>
                            <a:rPr lang="en-US" sz="1400" kern="0">
                              <a:effectLst/>
                              <a:latin typeface="KaiTi" panose="02010609060101010101" pitchFamily="49" charset="-122"/>
                              <a:ea typeface="KaiTi" panose="02010609060101010101" pitchFamily="49" charset="-122"/>
                            </a:rPr>
                            <a:t>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8.9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-0.23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1235451"/>
                      </a:ext>
                    </a:extLst>
                  </a:tr>
                  <a:tr h="373523">
                    <a:tc>
                      <a:txBody>
                        <a:bodyPr/>
                        <a:lstStyle/>
                        <a:p>
                          <a:pPr algn="ctr"/>
                          <a:r>
                            <a:rPr lang="en-US" sz="1400" kern="0">
                              <a:effectLst/>
                              <a:latin typeface="KaiTi" panose="02010609060101010101" pitchFamily="49" charset="-122"/>
                              <a:ea typeface="KaiTi" panose="02010609060101010101" pitchFamily="49" charset="-122"/>
                            </a:rPr>
                            <a:t>8</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8.7</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0" dirty="0">
                              <a:effectLst/>
                              <a:latin typeface="KaiTi" panose="02010609060101010101" pitchFamily="49" charset="-122"/>
                              <a:ea typeface="KaiTi" panose="02010609060101010101" pitchFamily="49" charset="-122"/>
                            </a:rPr>
                            <a:t>-0.43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395916712"/>
                      </a:ext>
                    </a:extLst>
                  </a:tr>
                  <a:tr h="373523">
                    <a:tc>
                      <a:txBody>
                        <a:bodyPr/>
                        <a:lstStyle/>
                        <a:p>
                          <a:pPr algn="ctr"/>
                          <a:r>
                            <a:rPr lang="en-US" sz="1400" kern="0">
                              <a:effectLst/>
                              <a:latin typeface="KaiTi" panose="02010609060101010101" pitchFamily="49" charset="-122"/>
                              <a:ea typeface="KaiTi" panose="02010609060101010101" pitchFamily="49" charset="-122"/>
                            </a:rPr>
                            <a:t>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9</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0.13</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086454354"/>
                      </a:ext>
                    </a:extLst>
                  </a:tr>
                  <a:tr h="373523">
                    <a:tc>
                      <a:txBody>
                        <a:bodyPr/>
                        <a:lstStyle/>
                        <a:p>
                          <a:pPr algn="ctr"/>
                          <a:r>
                            <a:rPr lang="en-US" sz="1400" kern="0">
                              <a:effectLst/>
                              <a:latin typeface="KaiTi" panose="02010609060101010101" pitchFamily="49" charset="-122"/>
                              <a:ea typeface="KaiTi" panose="02010609060101010101" pitchFamily="49" charset="-122"/>
                            </a:rPr>
                            <a:t>10</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0" dirty="0">
                              <a:effectLst/>
                              <a:latin typeface="KaiTi" panose="02010609060101010101" pitchFamily="49" charset="-122"/>
                              <a:ea typeface="KaiTi" panose="02010609060101010101" pitchFamily="49" charset="-122"/>
                            </a:rPr>
                            <a:t>9.05</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0" dirty="0">
                              <a:effectLst/>
                              <a:latin typeface="KaiTi" panose="02010609060101010101" pitchFamily="49" charset="-122"/>
                              <a:ea typeface="KaiTi" panose="02010609060101010101" pitchFamily="49" charset="-122"/>
                            </a:rPr>
                            <a:t>-</a:t>
                          </a:r>
                          <a:r>
                            <a:rPr lang="en-US" sz="1400" kern="0" dirty="0">
                              <a:effectLst/>
                              <a:latin typeface="KaiTi" panose="02010609060101010101" pitchFamily="49" charset="-122"/>
                              <a:ea typeface="KaiTi" panose="02010609060101010101" pitchFamily="49" charset="-122"/>
                            </a:rPr>
                            <a:t>0.08</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166046342"/>
                      </a:ext>
                    </a:extLst>
                  </a:tr>
                </a:tbl>
              </a:graphicData>
            </a:graphic>
          </p:graphicFrame>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4066621-A24C-7990-72FD-44236DC907FF}"/>
                  </a:ext>
                </a:extLst>
              </p:cNvPr>
              <p:cNvSpPr txBox="1"/>
              <p:nvPr/>
            </p:nvSpPr>
            <p:spPr>
              <a:xfrm>
                <a:off x="5178129" y="4217811"/>
                <a:ext cx="292696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a:latin typeface="Cambria Math" panose="02040503050406030204" pitchFamily="18" charset="0"/>
                                  <a:ea typeface="Microsoft YaHei" charset="0"/>
                                </a:rPr>
                                <m:t>3</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r>
                            <a:rPr lang="en-US" altLang="zh-CN" sz="2000" i="1">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2</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𝑇</m:t>
                          </m:r>
                        </m:e>
                        <m:sub>
                          <m:r>
                            <a:rPr lang="en-US" altLang="zh-CN" sz="2000" b="0" i="1" smtClean="0">
                              <a:latin typeface="Cambria Math" panose="02040503050406030204" pitchFamily="18" charset="0"/>
                              <a:ea typeface="Microsoft YaHei" charset="0"/>
                            </a:rPr>
                            <m:t>3</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oMath>
                  </m:oMathPara>
                </a14:m>
                <a:endParaRPr lang="en-US" altLang="zh-CN" sz="2000" b="0">
                  <a:ea typeface="Microsoft YaHei" charset="0"/>
                </a:endParaRPr>
              </a:p>
            </p:txBody>
          </p:sp>
        </mc:Choice>
        <mc:Fallback xmlns="">
          <p:sp>
            <p:nvSpPr>
              <p:cNvPr id="20" name="TextBox 19">
                <a:extLst>
                  <a:ext uri="{FF2B5EF4-FFF2-40B4-BE49-F238E27FC236}">
                    <a16:creationId xmlns:a16="http://schemas.microsoft.com/office/drawing/2014/main" id="{84066621-A24C-7990-72FD-44236DC907FF}"/>
                  </a:ext>
                </a:extLst>
              </p:cNvPr>
              <p:cNvSpPr txBox="1">
                <a:spLocks noRot="1" noChangeAspect="1" noMove="1" noResize="1" noEditPoints="1" noAdjustHandles="1" noChangeArrowheads="1" noChangeShapeType="1" noTextEdit="1"/>
              </p:cNvSpPr>
              <p:nvPr/>
            </p:nvSpPr>
            <p:spPr>
              <a:xfrm>
                <a:off x="5178129" y="4217811"/>
                <a:ext cx="2926962" cy="400110"/>
              </a:xfrm>
              <a:prstGeom prst="rect">
                <a:avLst/>
              </a:prstGeom>
              <a:blipFill>
                <a:blip r:embed="rId4"/>
                <a:stretch>
                  <a:fillRect b="-1562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AE76F64-155D-DED9-9CEC-50D707AC4EEF}"/>
                  </a:ext>
                </a:extLst>
              </p:cNvPr>
              <p:cNvSpPr txBox="1"/>
              <p:nvPr/>
            </p:nvSpPr>
            <p:spPr>
              <a:xfrm>
                <a:off x="354000" y="1393704"/>
                <a:ext cx="2727501" cy="461665"/>
              </a:xfrm>
              <a:prstGeom prst="rect">
                <a:avLst/>
              </a:prstGeom>
              <a:noFill/>
            </p:spPr>
            <p:txBody>
              <a:bodyPr wrap="square" rtlCol="0">
                <a:spAutoFit/>
              </a:bodyPr>
              <a:lstStyle/>
              <a:p>
                <a:r>
                  <a:rPr kumimoji="1" lang="en-US" altLang="ko-Kore-KR" b="1">
                    <a:latin typeface="+mj-ea"/>
                    <a:ea typeface="+mj-ea"/>
                  </a:rPr>
                  <a:t>Step</a:t>
                </a:r>
                <a:r>
                  <a:rPr kumimoji="1" lang="en-US" altLang="zh-CN" b="1">
                    <a:latin typeface="+mj-ea"/>
                    <a:ea typeface="+mj-ea"/>
                  </a:rPr>
                  <a:t>1</a:t>
                </a:r>
                <a:r>
                  <a:rPr kumimoji="1" lang="en-US" altLang="ko-Kore-KR" b="1">
                    <a:latin typeface="+mj-ea"/>
                    <a:ea typeface="+mj-ea"/>
                  </a:rPr>
                  <a:t>:</a:t>
                </a:r>
                <a:r>
                  <a:rPr kumimoji="1" lang="zh-CN" altLang="en-US" b="1">
                    <a:latin typeface="+mj-ea"/>
                    <a:ea typeface="+mj-ea"/>
                  </a:rPr>
                  <a:t> 求</a:t>
                </a:r>
                <a14:m>
                  <m:oMath xmlns:m="http://schemas.openxmlformats.org/officeDocument/2006/math">
                    <m:sSub>
                      <m:sSubPr>
                        <m:ctrlPr>
                          <a:rPr lang="en-US" altLang="zh-CN" b="1" i="1" smtClean="0">
                            <a:latin typeface="Cambria Math" panose="02040503050406030204" pitchFamily="18" charset="0"/>
                            <a:ea typeface="+mj-ea"/>
                          </a:rPr>
                        </m:ctrlPr>
                      </m:sSubPr>
                      <m:e>
                        <m:r>
                          <a:rPr lang="en-US" altLang="zh-CN" b="1" i="1" smtClean="0">
                            <a:latin typeface="Cambria Math" panose="02040503050406030204" pitchFamily="18" charset="0"/>
                            <a:ea typeface="+mj-ea"/>
                          </a:rPr>
                          <m:t>𝒇</m:t>
                        </m:r>
                      </m:e>
                      <m:sub>
                        <m:r>
                          <a:rPr lang="en-US" altLang="zh-CN" b="1" i="1" smtClean="0">
                            <a:latin typeface="Cambria Math" panose="02040503050406030204" pitchFamily="18" charset="0"/>
                            <a:ea typeface="+mj-ea"/>
                          </a:rPr>
                          <m:t>𝟑</m:t>
                        </m:r>
                      </m:sub>
                    </m:sSub>
                    <m:d>
                      <m:dPr>
                        <m:ctrlPr>
                          <a:rPr lang="en-US" altLang="zh-CN" b="1" i="1" smtClean="0">
                            <a:latin typeface="Cambria Math" panose="02040503050406030204" pitchFamily="18" charset="0"/>
                            <a:ea typeface="+mj-ea"/>
                          </a:rPr>
                        </m:ctrlPr>
                      </m:dPr>
                      <m:e>
                        <m:r>
                          <a:rPr lang="en-US" altLang="zh-CN" b="1" i="1" smtClean="0">
                            <a:latin typeface="Cambria Math" panose="02040503050406030204" pitchFamily="18" charset="0"/>
                            <a:ea typeface="+mj-ea"/>
                          </a:rPr>
                          <m:t>𝒙</m:t>
                        </m:r>
                      </m:e>
                    </m:d>
                  </m:oMath>
                </a14:m>
                <a:endParaRPr kumimoji="1" lang="ko-Kore-KR" altLang="en-US" b="1">
                  <a:latin typeface="+mj-ea"/>
                  <a:ea typeface="+mj-ea"/>
                </a:endParaRPr>
              </a:p>
            </p:txBody>
          </p:sp>
        </mc:Choice>
        <mc:Fallback xmlns="">
          <p:sp>
            <p:nvSpPr>
              <p:cNvPr id="22" name="TextBox 21">
                <a:extLst>
                  <a:ext uri="{FF2B5EF4-FFF2-40B4-BE49-F238E27FC236}">
                    <a16:creationId xmlns:a16="http://schemas.microsoft.com/office/drawing/2014/main" id="{9AE76F64-155D-DED9-9CEC-50D707AC4EEF}"/>
                  </a:ext>
                </a:extLst>
              </p:cNvPr>
              <p:cNvSpPr txBox="1">
                <a:spLocks noRot="1" noChangeAspect="1" noMove="1" noResize="1" noEditPoints="1" noAdjustHandles="1" noChangeArrowheads="1" noChangeShapeType="1" noTextEdit="1"/>
              </p:cNvSpPr>
              <p:nvPr/>
            </p:nvSpPr>
            <p:spPr>
              <a:xfrm>
                <a:off x="354000" y="1393704"/>
                <a:ext cx="2727501" cy="461665"/>
              </a:xfrm>
              <a:prstGeom prst="rect">
                <a:avLst/>
              </a:prstGeom>
              <a:blipFill>
                <a:blip r:embed="rId5"/>
                <a:stretch>
                  <a:fillRect l="-3241" t="-8108" b="-29730"/>
                </a:stretch>
              </a:blipFill>
            </p:spPr>
            <p:txBody>
              <a:bodyPr/>
              <a:lstStyle/>
              <a:p>
                <a:r>
                  <a:rPr lang="ko-Kore-KR" altLang="en-US">
                    <a:noFill/>
                  </a:rPr>
                  <a:t> </a:t>
                </a:r>
              </a:p>
            </p:txBody>
          </p:sp>
        </mc:Fallback>
      </mc:AlternateContent>
      <p:sp>
        <p:nvSpPr>
          <p:cNvPr id="50" name="직사각형 49">
            <a:extLst>
              <a:ext uri="{FF2B5EF4-FFF2-40B4-BE49-F238E27FC236}">
                <a16:creationId xmlns:a16="http://schemas.microsoft.com/office/drawing/2014/main" id="{10A80242-A3C8-D815-AE96-B6F65083E552}"/>
              </a:ext>
            </a:extLst>
          </p:cNvPr>
          <p:cNvSpPr/>
          <p:nvPr/>
        </p:nvSpPr>
        <p:spPr>
          <a:xfrm>
            <a:off x="2157923" y="2147126"/>
            <a:ext cx="692205" cy="41087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mc:AlternateContent xmlns:mc="http://schemas.openxmlformats.org/markup-compatibility/2006" xmlns:a14="http://schemas.microsoft.com/office/drawing/2010/main">
        <mc:Choice Requires="a14">
          <p:sp>
            <p:nvSpPr>
              <p:cNvPr id="51" name="文本框 11">
                <a:extLst>
                  <a:ext uri="{FF2B5EF4-FFF2-40B4-BE49-F238E27FC236}">
                    <a16:creationId xmlns:a16="http://schemas.microsoft.com/office/drawing/2014/main" id="{D76176CD-843C-59B1-727E-824339312D87}"/>
                  </a:ext>
                </a:extLst>
              </p:cNvPr>
              <p:cNvSpPr txBox="1"/>
              <p:nvPr/>
            </p:nvSpPr>
            <p:spPr>
              <a:xfrm>
                <a:off x="3081501" y="2739143"/>
                <a:ext cx="712021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𝑠</m:t>
                      </m:r>
                      <m:r>
                        <a:rPr lang="en-US" altLang="zh-CN" sz="2000" b="0" i="1" smtClean="0">
                          <a:latin typeface="Cambria Math" panose="02040503050406030204" pitchFamily="18" charset="0"/>
                          <a:ea typeface="Microsoft YaHei" charset="0"/>
                        </a:rPr>
                        <m:t>=6.5</m:t>
                      </m:r>
                      <m:r>
                        <a:rPr lang="zh-CN" altLang="en-US"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m:t>
                      </m:r>
                      <m:d>
                        <m:dPr>
                          <m:begChr m:val="{"/>
                          <m:endChr m:val="}"/>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1,2</m:t>
                          </m:r>
                          <m:r>
                            <a:rPr lang="en-US" altLang="zh-CN" sz="2000" i="1">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6</m:t>
                          </m:r>
                        </m:e>
                      </m:d>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𝑅</m:t>
                          </m:r>
                        </m:e>
                        <m:sub>
                          <m:r>
                            <a:rPr lang="en-US" altLang="zh-CN" sz="2000" b="0" i="1" smtClean="0">
                              <a:latin typeface="Cambria Math" panose="02040503050406030204" pitchFamily="18" charset="0"/>
                              <a:ea typeface="Microsoft YaHei" charset="0"/>
                            </a:rPr>
                            <m:t>2</m:t>
                          </m:r>
                        </m:sub>
                      </m:sSub>
                      <m:r>
                        <a:rPr lang="en-US" altLang="zh-CN" sz="2000" b="0" i="1" smtClean="0">
                          <a:latin typeface="Cambria Math" panose="02040503050406030204" pitchFamily="18" charset="0"/>
                          <a:ea typeface="Microsoft YaHei" charset="0"/>
                        </a:rPr>
                        <m:t>=</m:t>
                      </m:r>
                      <m:d>
                        <m:dPr>
                          <m:begChr m:val="{"/>
                          <m:endChr m:val="}"/>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7,8,…,10</m:t>
                          </m:r>
                        </m:e>
                      </m:d>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1</m:t>
                          </m:r>
                        </m:sub>
                      </m:sSub>
                      <m:r>
                        <a:rPr lang="en-US" altLang="zh-CN" sz="2000" b="0" i="1" smtClean="0">
                          <a:latin typeface="Cambria Math" panose="02040503050406030204" pitchFamily="18" charset="0"/>
                          <a:ea typeface="Microsoft YaHei" charset="0"/>
                        </a:rPr>
                        <m:t>=0.15,</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𝑐</m:t>
                          </m:r>
                        </m:e>
                        <m:sub>
                          <m:r>
                            <a:rPr lang="en-US" altLang="zh-CN" sz="2000" b="0" i="1" smtClean="0">
                              <a:latin typeface="Cambria Math" panose="02040503050406030204" pitchFamily="18" charset="0"/>
                              <a:ea typeface="Microsoft YaHei" charset="0"/>
                            </a:rPr>
                            <m:t>2</m:t>
                          </m:r>
                        </m:sub>
                      </m:sSub>
                      <m:r>
                        <a:rPr lang="en-US" altLang="zh-CN" sz="2000" b="0" i="1" smtClean="0">
                          <a:latin typeface="Cambria Math" panose="02040503050406030204" pitchFamily="18" charset="0"/>
                          <a:ea typeface="Microsoft YaHei" charset="0"/>
                        </a:rPr>
                        <m:t>=−0.22</m:t>
                      </m:r>
                    </m:oMath>
                  </m:oMathPara>
                </a14:m>
                <a:endParaRPr lang="zh-CN" altLang="en-US" sz="2000" dirty="0">
                  <a:ea typeface="Microsoft YaHei" charset="0"/>
                </a:endParaRPr>
              </a:p>
            </p:txBody>
          </p:sp>
        </mc:Choice>
        <mc:Fallback xmlns="">
          <p:sp>
            <p:nvSpPr>
              <p:cNvPr id="51" name="文本框 11">
                <a:extLst>
                  <a:ext uri="{FF2B5EF4-FFF2-40B4-BE49-F238E27FC236}">
                    <a16:creationId xmlns:a16="http://schemas.microsoft.com/office/drawing/2014/main" id="{D76176CD-843C-59B1-727E-824339312D87}"/>
                  </a:ext>
                </a:extLst>
              </p:cNvPr>
              <p:cNvSpPr txBox="1">
                <a:spLocks noRot="1" noChangeAspect="1" noMove="1" noResize="1" noEditPoints="1" noAdjustHandles="1" noChangeArrowheads="1" noChangeShapeType="1" noTextEdit="1"/>
              </p:cNvSpPr>
              <p:nvPr/>
            </p:nvSpPr>
            <p:spPr>
              <a:xfrm>
                <a:off x="3081501" y="2739143"/>
                <a:ext cx="7120219" cy="307777"/>
              </a:xfrm>
              <a:prstGeom prst="rect">
                <a:avLst/>
              </a:prstGeom>
              <a:blipFill>
                <a:blip r:embed="rId6"/>
                <a:stretch>
                  <a:fillRect r="-178" b="-11538"/>
                </a:stretch>
              </a:blipFill>
            </p:spPr>
            <p:txBody>
              <a:bodyPr/>
              <a:lstStyle/>
              <a:p>
                <a:r>
                  <a:rPr lang="ko-Kore-KR" altLang="en-US">
                    <a:noFill/>
                  </a:rPr>
                  <a:t> </a:t>
                </a:r>
              </a:p>
            </p:txBody>
          </p:sp>
        </mc:Fallback>
      </mc:AlternateContent>
      <p:sp>
        <p:nvSpPr>
          <p:cNvPr id="52" name="椭圆 41">
            <a:extLst>
              <a:ext uri="{FF2B5EF4-FFF2-40B4-BE49-F238E27FC236}">
                <a16:creationId xmlns:a16="http://schemas.microsoft.com/office/drawing/2014/main" id="{B19F69AA-837A-0ED5-44D7-37322EDA218C}"/>
              </a:ext>
            </a:extLst>
          </p:cNvPr>
          <p:cNvSpPr/>
          <p:nvPr/>
        </p:nvSpPr>
        <p:spPr>
          <a:xfrm>
            <a:off x="3905795" y="4281009"/>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53" name="矩形 42">
            <a:extLst>
              <a:ext uri="{FF2B5EF4-FFF2-40B4-BE49-F238E27FC236}">
                <a16:creationId xmlns:a16="http://schemas.microsoft.com/office/drawing/2014/main" id="{B4432FB5-225E-E41B-A53A-E5160C9FE79D}"/>
              </a:ext>
            </a:extLst>
          </p:cNvPr>
          <p:cNvSpPr/>
          <p:nvPr/>
        </p:nvSpPr>
        <p:spPr>
          <a:xfrm>
            <a:off x="3283488" y="486868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ea typeface="Microsoft YaHei" charset="0"/>
              </a:rPr>
              <a:t>0.15</a:t>
            </a:r>
            <a:endParaRPr lang="zh-CN" altLang="en-US" sz="1400" dirty="0">
              <a:ea typeface="Microsoft YaHei" charset="0"/>
            </a:endParaRPr>
          </a:p>
        </p:txBody>
      </p:sp>
      <p:sp>
        <p:nvSpPr>
          <p:cNvPr id="54" name="矩形 43">
            <a:extLst>
              <a:ext uri="{FF2B5EF4-FFF2-40B4-BE49-F238E27FC236}">
                <a16:creationId xmlns:a16="http://schemas.microsoft.com/office/drawing/2014/main" id="{3EE4E213-EBE8-8322-282A-57FABC161DFF}"/>
              </a:ext>
            </a:extLst>
          </p:cNvPr>
          <p:cNvSpPr/>
          <p:nvPr/>
        </p:nvSpPr>
        <p:spPr>
          <a:xfrm>
            <a:off x="4689922" y="486868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ea typeface="Microsoft YaHei" charset="0"/>
              </a:rPr>
              <a:t>-0.22</a:t>
            </a:r>
            <a:endParaRPr lang="zh-CN" altLang="en-US" sz="1400" dirty="0">
              <a:ea typeface="Microsoft YaHei" charset="0"/>
            </a:endParaRPr>
          </a:p>
        </p:txBody>
      </p:sp>
      <p:cxnSp>
        <p:nvCxnSpPr>
          <p:cNvPr id="56" name="直接连接符 44">
            <a:extLst>
              <a:ext uri="{FF2B5EF4-FFF2-40B4-BE49-F238E27FC236}">
                <a16:creationId xmlns:a16="http://schemas.microsoft.com/office/drawing/2014/main" id="{54C26958-0172-9AC9-E402-F0D52BA27FB3}"/>
              </a:ext>
            </a:extLst>
          </p:cNvPr>
          <p:cNvCxnSpPr>
            <a:cxnSpLocks/>
            <a:stCxn id="52" idx="4"/>
            <a:endCxn id="53" idx="0"/>
          </p:cNvCxnSpPr>
          <p:nvPr/>
        </p:nvCxnSpPr>
        <p:spPr>
          <a:xfrm flipH="1">
            <a:off x="3675374" y="4664186"/>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57" name="直接连接符 45">
            <a:extLst>
              <a:ext uri="{FF2B5EF4-FFF2-40B4-BE49-F238E27FC236}">
                <a16:creationId xmlns:a16="http://schemas.microsoft.com/office/drawing/2014/main" id="{496190F9-27B2-2717-32D6-1F3C4665DF7C}"/>
              </a:ext>
            </a:extLst>
          </p:cNvPr>
          <p:cNvCxnSpPr>
            <a:stCxn id="52" idx="4"/>
            <a:endCxn id="54" idx="0"/>
          </p:cNvCxnSpPr>
          <p:nvPr/>
        </p:nvCxnSpPr>
        <p:spPr>
          <a:xfrm>
            <a:off x="4395830" y="4664186"/>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本框 24">
                <a:extLst>
                  <a:ext uri="{FF2B5EF4-FFF2-40B4-BE49-F238E27FC236}">
                    <a16:creationId xmlns:a16="http://schemas.microsoft.com/office/drawing/2014/main" id="{EF5A5F99-380B-99A6-41DA-7B0D401EAC37}"/>
                  </a:ext>
                </a:extLst>
              </p:cNvPr>
              <p:cNvSpPr txBox="1"/>
              <p:nvPr/>
            </p:nvSpPr>
            <p:spPr>
              <a:xfrm>
                <a:off x="3320497" y="3326782"/>
                <a:ext cx="2779672" cy="6865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𝑇</m:t>
                          </m:r>
                        </m:e>
                        <m:sub>
                          <m:r>
                            <a:rPr lang="en-US" altLang="zh-CN" sz="2000" b="0" i="1" smtClean="0">
                              <a:latin typeface="Cambria Math" panose="02040503050406030204" pitchFamily="18" charset="0"/>
                              <a:ea typeface="Microsoft YaHei" charset="0"/>
                            </a:rPr>
                            <m:t>3</m:t>
                          </m:r>
                        </m:sub>
                      </m:sSub>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𝑥</m:t>
                          </m:r>
                        </m:e>
                      </m:d>
                      <m:r>
                        <a:rPr lang="en-US" altLang="zh-CN" sz="2000" b="0" i="1" smtClean="0">
                          <a:latin typeface="Cambria Math" panose="02040503050406030204" pitchFamily="18" charset="0"/>
                          <a:ea typeface="Microsoft YaHei" charset="0"/>
                        </a:rPr>
                        <m:t>=</m:t>
                      </m:r>
                      <m:r>
                        <a:rPr lang="zh-CN" altLang="en-US" sz="2000" b="0" i="1" smtClean="0">
                          <a:latin typeface="Cambria Math" panose="02040503050406030204" pitchFamily="18" charset="0"/>
                          <a:ea typeface="Microsoft YaHei" charset="0"/>
                        </a:rPr>
                        <m:t> </m:t>
                      </m:r>
                      <m:d>
                        <m:dPr>
                          <m:begChr m:val="{"/>
                          <m:endChr m:val=""/>
                          <m:ctrlPr>
                            <a:rPr lang="en-US" altLang="zh-CN" sz="2000" b="0" i="1" smtClean="0">
                              <a:latin typeface="Cambria Math" panose="02040503050406030204" pitchFamily="18" charset="0"/>
                              <a:ea typeface="Microsoft YaHei" charset="0"/>
                            </a:rPr>
                          </m:ctrlPr>
                        </m:dPr>
                        <m:e>
                          <m:eqArr>
                            <m:eqArrPr>
                              <m:ctrlPr>
                                <a:rPr lang="en-US" altLang="zh-CN" sz="2000" b="0" i="1" smtClean="0">
                                  <a:latin typeface="Cambria Math" panose="02040503050406030204" pitchFamily="18" charset="0"/>
                                  <a:ea typeface="Microsoft YaHei" charset="0"/>
                                </a:rPr>
                              </m:ctrlPr>
                            </m:eqArrPr>
                            <m:e>
                              <m:r>
                                <a:rPr lang="en-US" altLang="zh-CN" sz="2000" b="0" i="1" smtClean="0">
                                  <a:latin typeface="Cambria Math" panose="02040503050406030204" pitchFamily="18" charset="0"/>
                                  <a:ea typeface="Microsoft YaHei" charset="0"/>
                                </a:rPr>
                                <m:t>0.15  </m:t>
                              </m:r>
                              <m:r>
                                <a:rPr lang="en-US" altLang="zh-CN" sz="2000" b="0" i="1" smtClean="0">
                                  <a:latin typeface="Cambria Math" panose="02040503050406030204" pitchFamily="18" charset="0"/>
                                  <a:ea typeface="Microsoft YaHei" charset="0"/>
                                </a:rPr>
                                <m:t>𝑥</m:t>
                              </m:r>
                              <m:r>
                                <a:rPr lang="en-US" altLang="zh-CN" sz="2000" b="0" i="1" smtClean="0">
                                  <a:latin typeface="Cambria Math" panose="02040503050406030204" pitchFamily="18" charset="0"/>
                                  <a:ea typeface="Cambria Math" panose="02040503050406030204" pitchFamily="18" charset="0"/>
                                </a:rPr>
                                <m:t>&lt;6</m:t>
                              </m:r>
                              <m:r>
                                <a:rPr lang="en-US" altLang="zh-CN" sz="2000" b="0" i="1" smtClean="0">
                                  <a:latin typeface="Cambria Math" panose="02040503050406030204" pitchFamily="18" charset="0"/>
                                  <a:ea typeface="Microsoft YaHei" charset="0"/>
                                </a:rPr>
                                <m:t>.5</m:t>
                              </m:r>
                            </m:e>
                            <m:e>
                              <m:r>
                                <a:rPr lang="en-US" altLang="zh-CN" sz="2000" b="0" i="1">
                                  <a:latin typeface="Cambria Math" panose="02040503050406030204" pitchFamily="18" charset="0"/>
                                </a:rPr>
                                <m:t>−0. 22 </m:t>
                              </m:r>
                              <m:r>
                                <a:rPr lang="en-US" altLang="zh-CN" sz="2000" b="0" i="1">
                                  <a:latin typeface="Cambria Math" panose="02040503050406030204" pitchFamily="18" charset="0"/>
                                </a:rPr>
                                <m:t>𝑥</m:t>
                              </m:r>
                              <m:r>
                                <a:rPr lang="en-US" altLang="zh-CN" sz="2000" b="0" i="1">
                                  <a:latin typeface="Cambria Math" panose="02040503050406030204" pitchFamily="18" charset="0"/>
                                  <a:ea typeface="Cambria Math" panose="02040503050406030204" pitchFamily="18" charset="0"/>
                                </a:rPr>
                                <m:t>≥6.5</m:t>
                              </m:r>
                            </m:e>
                          </m:eqArr>
                        </m:e>
                      </m:d>
                    </m:oMath>
                  </m:oMathPara>
                </a14:m>
                <a:endParaRPr lang="en-US" altLang="zh-CN" sz="2000" b="0">
                  <a:ea typeface="Microsoft YaHei" charset="0"/>
                </a:endParaRPr>
              </a:p>
            </p:txBody>
          </p:sp>
        </mc:Choice>
        <mc:Fallback xmlns="">
          <p:sp>
            <p:nvSpPr>
              <p:cNvPr id="58" name="文本框 24">
                <a:extLst>
                  <a:ext uri="{FF2B5EF4-FFF2-40B4-BE49-F238E27FC236}">
                    <a16:creationId xmlns:a16="http://schemas.microsoft.com/office/drawing/2014/main" id="{EF5A5F99-380B-99A6-41DA-7B0D401EAC37}"/>
                  </a:ext>
                </a:extLst>
              </p:cNvPr>
              <p:cNvSpPr txBox="1">
                <a:spLocks noRot="1" noChangeAspect="1" noMove="1" noResize="1" noEditPoints="1" noAdjustHandles="1" noChangeArrowheads="1" noChangeShapeType="1" noTextEdit="1"/>
              </p:cNvSpPr>
              <p:nvPr/>
            </p:nvSpPr>
            <p:spPr>
              <a:xfrm>
                <a:off x="3320497" y="3326782"/>
                <a:ext cx="2779672" cy="686535"/>
              </a:xfrm>
              <a:prstGeom prst="rect">
                <a:avLst/>
              </a:prstGeom>
              <a:blipFill>
                <a:blip r:embed="rId7"/>
                <a:stretch>
                  <a:fillRect l="-9545" t="-231481" r="-1364" b="-333333"/>
                </a:stretch>
              </a:blipFill>
            </p:spPr>
            <p:txBody>
              <a:bodyPr/>
              <a:lstStyle/>
              <a:p>
                <a:r>
                  <a:rPr lang="ko-Kore-KR" altLang="en-US">
                    <a:noFill/>
                  </a:rPr>
                  <a:t> </a:t>
                </a:r>
              </a:p>
            </p:txBody>
          </p:sp>
        </mc:Fallback>
      </mc:AlternateContent>
      <p:graphicFrame>
        <p:nvGraphicFramePr>
          <p:cNvPr id="61" name="표 60">
            <a:extLst>
              <a:ext uri="{FF2B5EF4-FFF2-40B4-BE49-F238E27FC236}">
                <a16:creationId xmlns:a16="http://schemas.microsoft.com/office/drawing/2014/main" id="{C51BCEB1-FD9A-4108-01DF-B539C2E55DF7}"/>
              </a:ext>
            </a:extLst>
          </p:cNvPr>
          <p:cNvGraphicFramePr>
            <a:graphicFrameLocks noGrp="1"/>
          </p:cNvGraphicFramePr>
          <p:nvPr>
            <p:extLst>
              <p:ext uri="{D42A27DB-BD31-4B8C-83A1-F6EECF244321}">
                <p14:modId xmlns:p14="http://schemas.microsoft.com/office/powerpoint/2010/main" val="1949822537"/>
              </p:ext>
            </p:extLst>
          </p:nvPr>
        </p:nvGraphicFramePr>
        <p:xfrm>
          <a:off x="3380538" y="1482938"/>
          <a:ext cx="8037140" cy="697682"/>
        </p:xfrm>
        <a:graphic>
          <a:graphicData uri="http://schemas.openxmlformats.org/drawingml/2006/table">
            <a:tbl>
              <a:tblPr firstRow="1" firstCol="1" bandRow="1">
                <a:tableStyleId>{5C22544A-7EE6-4342-B048-85BDC9FD1C3A}</a:tableStyleId>
              </a:tblPr>
              <a:tblGrid>
                <a:gridCol w="803714">
                  <a:extLst>
                    <a:ext uri="{9D8B030D-6E8A-4147-A177-3AD203B41FA5}">
                      <a16:colId xmlns:a16="http://schemas.microsoft.com/office/drawing/2014/main" val="3529274267"/>
                    </a:ext>
                  </a:extLst>
                </a:gridCol>
                <a:gridCol w="803714">
                  <a:extLst>
                    <a:ext uri="{9D8B030D-6E8A-4147-A177-3AD203B41FA5}">
                      <a16:colId xmlns:a16="http://schemas.microsoft.com/office/drawing/2014/main" val="4099814562"/>
                    </a:ext>
                  </a:extLst>
                </a:gridCol>
                <a:gridCol w="803714">
                  <a:extLst>
                    <a:ext uri="{9D8B030D-6E8A-4147-A177-3AD203B41FA5}">
                      <a16:colId xmlns:a16="http://schemas.microsoft.com/office/drawing/2014/main" val="3931499385"/>
                    </a:ext>
                  </a:extLst>
                </a:gridCol>
                <a:gridCol w="803714">
                  <a:extLst>
                    <a:ext uri="{9D8B030D-6E8A-4147-A177-3AD203B41FA5}">
                      <a16:colId xmlns:a16="http://schemas.microsoft.com/office/drawing/2014/main" val="813650805"/>
                    </a:ext>
                  </a:extLst>
                </a:gridCol>
                <a:gridCol w="803714">
                  <a:extLst>
                    <a:ext uri="{9D8B030D-6E8A-4147-A177-3AD203B41FA5}">
                      <a16:colId xmlns:a16="http://schemas.microsoft.com/office/drawing/2014/main" val="2531805902"/>
                    </a:ext>
                  </a:extLst>
                </a:gridCol>
                <a:gridCol w="803714">
                  <a:extLst>
                    <a:ext uri="{9D8B030D-6E8A-4147-A177-3AD203B41FA5}">
                      <a16:colId xmlns:a16="http://schemas.microsoft.com/office/drawing/2014/main" val="2168924636"/>
                    </a:ext>
                  </a:extLst>
                </a:gridCol>
                <a:gridCol w="803714">
                  <a:extLst>
                    <a:ext uri="{9D8B030D-6E8A-4147-A177-3AD203B41FA5}">
                      <a16:colId xmlns:a16="http://schemas.microsoft.com/office/drawing/2014/main" val="2377789465"/>
                    </a:ext>
                  </a:extLst>
                </a:gridCol>
                <a:gridCol w="803714">
                  <a:extLst>
                    <a:ext uri="{9D8B030D-6E8A-4147-A177-3AD203B41FA5}">
                      <a16:colId xmlns:a16="http://schemas.microsoft.com/office/drawing/2014/main" val="2024812462"/>
                    </a:ext>
                  </a:extLst>
                </a:gridCol>
                <a:gridCol w="803714">
                  <a:extLst>
                    <a:ext uri="{9D8B030D-6E8A-4147-A177-3AD203B41FA5}">
                      <a16:colId xmlns:a16="http://schemas.microsoft.com/office/drawing/2014/main" val="3725058089"/>
                    </a:ext>
                  </a:extLst>
                </a:gridCol>
                <a:gridCol w="803714">
                  <a:extLst>
                    <a:ext uri="{9D8B030D-6E8A-4147-A177-3AD203B41FA5}">
                      <a16:colId xmlns:a16="http://schemas.microsoft.com/office/drawing/2014/main" val="4043461374"/>
                    </a:ext>
                  </a:extLst>
                </a:gridCol>
              </a:tblGrid>
              <a:tr h="348841">
                <a:tc>
                  <a:txBody>
                    <a:bodyPr/>
                    <a:lstStyle/>
                    <a:p>
                      <a:pPr algn="ctr"/>
                      <a:r>
                        <a:rPr lang="en-US" sz="1400" kern="100">
                          <a:effectLst/>
                          <a:latin typeface="KaiTi" panose="02010609060101010101" pitchFamily="49" charset="-122"/>
                          <a:ea typeface="KaiTi" panose="02010609060101010101" pitchFamily="49" charset="-122"/>
                        </a:rPr>
                        <a:t>s</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1.5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2.5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3.5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4.5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7.5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8.5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55594573"/>
                  </a:ext>
                </a:extLst>
              </a:tr>
              <a:tr h="348841">
                <a:tc>
                  <a:txBody>
                    <a:bodyPr/>
                    <a:lstStyle/>
                    <a:p>
                      <a:pPr algn="ctr"/>
                      <a:r>
                        <a:rPr lang="en-US" sz="1400" kern="100">
                          <a:effectLst/>
                          <a:latin typeface="KaiTi" panose="02010609060101010101" pitchFamily="49" charset="-122"/>
                          <a:ea typeface="KaiTi" panose="02010609060101010101" pitchFamily="49" charset="-122"/>
                        </a:rPr>
                        <a:t>SSE(s)</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0.7617</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0.7698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0.7905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0.7893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0.7580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0.4722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0.5936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0.7624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0.7832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79139420"/>
                  </a:ext>
                </a:extLst>
              </a:tr>
            </a:tbl>
          </a:graphicData>
        </a:graphic>
      </p:graphicFrame>
      <p:sp>
        <p:nvSpPr>
          <p:cNvPr id="62" name="직사각형 61">
            <a:extLst>
              <a:ext uri="{FF2B5EF4-FFF2-40B4-BE49-F238E27FC236}">
                <a16:creationId xmlns:a16="http://schemas.microsoft.com/office/drawing/2014/main" id="{23ECEBAB-AB22-8DE3-FEBB-6DD2B240618C}"/>
              </a:ext>
            </a:extLst>
          </p:cNvPr>
          <p:cNvSpPr/>
          <p:nvPr/>
        </p:nvSpPr>
        <p:spPr>
          <a:xfrm>
            <a:off x="8231990" y="1551868"/>
            <a:ext cx="799329" cy="6886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mc:AlternateContent xmlns:mc="http://schemas.openxmlformats.org/markup-compatibility/2006" xmlns:a14="http://schemas.microsoft.com/office/drawing/2010/main">
        <mc:Choice Requires="a14">
          <p:graphicFrame>
            <p:nvGraphicFramePr>
              <p:cNvPr id="63" name="표 62">
                <a:extLst>
                  <a:ext uri="{FF2B5EF4-FFF2-40B4-BE49-F238E27FC236}">
                    <a16:creationId xmlns:a16="http://schemas.microsoft.com/office/drawing/2014/main" id="{D1ADDFE9-54B4-6939-1B9D-677DC2A0563C}"/>
                  </a:ext>
                </a:extLst>
              </p:cNvPr>
              <p:cNvGraphicFramePr>
                <a:graphicFrameLocks noGrp="1"/>
              </p:cNvGraphicFramePr>
              <p:nvPr>
                <p:extLst>
                  <p:ext uri="{D42A27DB-BD31-4B8C-83A1-F6EECF244321}">
                    <p14:modId xmlns:p14="http://schemas.microsoft.com/office/powerpoint/2010/main" val="346940423"/>
                  </p:ext>
                </p:extLst>
              </p:nvPr>
            </p:nvGraphicFramePr>
            <p:xfrm>
              <a:off x="8028278" y="3261752"/>
              <a:ext cx="3307080" cy="3328413"/>
            </p:xfrm>
            <a:graphic>
              <a:graphicData uri="http://schemas.openxmlformats.org/drawingml/2006/table">
                <a:tbl>
                  <a:tblPr firstRow="1" firstCol="1" bandRow="1">
                    <a:tableStyleId>{5C22544A-7EE6-4342-B048-85BDC9FD1C3A}</a:tableStyleId>
                  </a:tblPr>
                  <a:tblGrid>
                    <a:gridCol w="561216">
                      <a:extLst>
                        <a:ext uri="{9D8B030D-6E8A-4147-A177-3AD203B41FA5}">
                          <a16:colId xmlns:a16="http://schemas.microsoft.com/office/drawing/2014/main" val="2154397755"/>
                        </a:ext>
                      </a:extLst>
                    </a:gridCol>
                    <a:gridCol w="693692">
                      <a:extLst>
                        <a:ext uri="{9D8B030D-6E8A-4147-A177-3AD203B41FA5}">
                          <a16:colId xmlns:a16="http://schemas.microsoft.com/office/drawing/2014/main" val="3584318941"/>
                        </a:ext>
                      </a:extLst>
                    </a:gridCol>
                    <a:gridCol w="664788">
                      <a:extLst>
                        <a:ext uri="{9D8B030D-6E8A-4147-A177-3AD203B41FA5}">
                          <a16:colId xmlns:a16="http://schemas.microsoft.com/office/drawing/2014/main" val="23810642"/>
                        </a:ext>
                      </a:extLst>
                    </a:gridCol>
                    <a:gridCol w="693692">
                      <a:extLst>
                        <a:ext uri="{9D8B030D-6E8A-4147-A177-3AD203B41FA5}">
                          <a16:colId xmlns:a16="http://schemas.microsoft.com/office/drawing/2014/main" val="1136671073"/>
                        </a:ext>
                      </a:extLst>
                    </a:gridCol>
                    <a:gridCol w="693692">
                      <a:extLst>
                        <a:ext uri="{9D8B030D-6E8A-4147-A177-3AD203B41FA5}">
                          <a16:colId xmlns:a16="http://schemas.microsoft.com/office/drawing/2014/main" val="3390685773"/>
                        </a:ext>
                      </a:extLst>
                    </a:gridCol>
                  </a:tblGrid>
                  <a:tr h="512173">
                    <a:tc>
                      <a:txBody>
                        <a:bodyPr/>
                        <a:lstStyle/>
                        <a:p>
                          <a:pPr algn="ctr"/>
                          <a:r>
                            <a:rPr lang="en-US" sz="1400" kern="100">
                              <a:effectLst/>
                              <a:latin typeface="KaiTi" panose="02010609060101010101" pitchFamily="49" charset="-122"/>
                              <a:ea typeface="KaiTi" panose="02010609060101010101" pitchFamily="49" charset="-122"/>
                            </a:rPr>
                            <a:t>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𝑓</m:t>
                                    </m:r>
                                  </m:e>
                                  <m:sub>
                                    <m:r>
                                      <a:rPr lang="en-US" altLang="zh-CN" sz="1400" b="0" i="1" smtClean="0">
                                        <a:latin typeface="Cambria Math" panose="02040503050406030204" pitchFamily="18" charset="0"/>
                                        <a:ea typeface="Microsoft YaHei" charset="0"/>
                                      </a:rPr>
                                      <m:t>2</m:t>
                                    </m:r>
                                  </m:sub>
                                </m:sSub>
                                <m:d>
                                  <m:dPr>
                                    <m:ctrlPr>
                                      <a:rPr lang="en-US" altLang="zh-CN" sz="1400" b="0" i="1" smtClean="0">
                                        <a:latin typeface="Cambria Math" panose="02040503050406030204" pitchFamily="18" charset="0"/>
                                        <a:ea typeface="Microsoft YaHei" charset="0"/>
                                      </a:rPr>
                                    </m:ctrlPr>
                                  </m:dPr>
                                  <m:e>
                                    <m:sSub>
                                      <m:sSubPr>
                                        <m:ctrlPr>
                                          <a:rPr lang="en-US" altLang="zh-CN" sz="1400" b="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𝑥</m:t>
                                        </m:r>
                                      </m:e>
                                      <m:sub>
                                        <m:r>
                                          <a:rPr lang="en-US" altLang="zh-CN" sz="1400" b="0" i="1" smtClean="0">
                                            <a:latin typeface="Cambria Math" panose="02040503050406030204" pitchFamily="18" charset="0"/>
                                            <a:ea typeface="Microsoft YaHei" charset="0"/>
                                          </a:rPr>
                                          <m:t>𝑖</m:t>
                                        </m:r>
                                      </m:sub>
                                    </m:sSub>
                                  </m:e>
                                </m:d>
                              </m:oMath>
                            </m:oMathPara>
                          </a14:m>
                          <a:endParaRPr lang="zh-CN" altLang="ko-Kore-KR"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T3(x)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𝑓</m:t>
                                    </m:r>
                                  </m:e>
                                  <m:sub>
                                    <m:r>
                                      <a:rPr lang="en-US" altLang="zh-CN" sz="1400" b="0" i="1" smtClean="0">
                                        <a:latin typeface="Cambria Math" panose="02040503050406030204" pitchFamily="18" charset="0"/>
                                        <a:ea typeface="Microsoft YaHei" charset="0"/>
                                      </a:rPr>
                                      <m:t>3</m:t>
                                    </m:r>
                                  </m:sub>
                                </m:sSub>
                                <m:d>
                                  <m:dPr>
                                    <m:ctrlPr>
                                      <a:rPr lang="en-US" altLang="zh-CN" sz="1400" b="0" i="1" smtClean="0">
                                        <a:latin typeface="Cambria Math" panose="02040503050406030204" pitchFamily="18" charset="0"/>
                                        <a:ea typeface="Microsoft YaHei" charset="0"/>
                                      </a:rPr>
                                    </m:ctrlPr>
                                  </m:dPr>
                                  <m:e>
                                    <m:sSub>
                                      <m:sSubPr>
                                        <m:ctrlPr>
                                          <a:rPr lang="en-US" altLang="zh-CN" sz="1400" b="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𝑥</m:t>
                                        </m:r>
                                      </m:e>
                                      <m:sub>
                                        <m:r>
                                          <a:rPr lang="en-US" altLang="zh-CN" sz="1400" b="0" i="1" smtClean="0">
                                            <a:latin typeface="Cambria Math" panose="02040503050406030204" pitchFamily="18" charset="0"/>
                                            <a:ea typeface="Microsoft YaHei" charset="0"/>
                                          </a:rPr>
                                          <m:t>𝑖</m:t>
                                        </m:r>
                                      </m:sub>
                                    </m:sSub>
                                  </m:e>
                                </m:d>
                              </m:oMath>
                            </m:oMathPara>
                          </a14:m>
                          <a:endParaRPr lang="zh-CN" altLang="ko-Kore-KR"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CN" sz="1400" i="1" smtClean="0">
                                        <a:latin typeface="Cambria Math" panose="02040503050406030204" pitchFamily="18" charset="0"/>
                                        <a:ea typeface="Microsoft YaHei" charset="0"/>
                                      </a:rPr>
                                    </m:ctrlPr>
                                  </m:sSubPr>
                                  <m:e>
                                    <m:r>
                                      <a:rPr lang="en-US" altLang="zh-CN" sz="1400" b="0" i="1" smtClean="0">
                                        <a:latin typeface="Cambria Math" panose="02040503050406030204" pitchFamily="18" charset="0"/>
                                        <a:ea typeface="Microsoft YaHei" charset="0"/>
                                      </a:rPr>
                                      <m:t>𝑟</m:t>
                                    </m:r>
                                  </m:e>
                                  <m:sub>
                                    <m:r>
                                      <a:rPr lang="en-US" altLang="zh-CN" sz="1400" b="0" i="1" smtClean="0">
                                        <a:latin typeface="Cambria Math" panose="02040503050406030204" pitchFamily="18" charset="0"/>
                                        <a:ea typeface="Microsoft YaHei" charset="0"/>
                                      </a:rPr>
                                      <m:t>4</m:t>
                                    </m:r>
                                    <m:r>
                                      <a:rPr lang="en-US" altLang="zh-CN" sz="1400" b="0" i="1" smtClean="0">
                                        <a:latin typeface="Cambria Math" panose="02040503050406030204" pitchFamily="18" charset="0"/>
                                        <a:ea typeface="Microsoft YaHei" charset="0"/>
                                      </a:rPr>
                                      <m:t>𝑖</m:t>
                                    </m:r>
                                  </m:sub>
                                </m:sSub>
                              </m:oMath>
                            </m:oMathPara>
                          </a14:m>
                          <a:endParaRPr lang="zh-CN" altLang="ko-Kore-KR"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06522307"/>
                      </a:ext>
                    </a:extLst>
                  </a:tr>
                  <a:tr h="281624">
                    <a:tc>
                      <a:txBody>
                        <a:bodyPr/>
                        <a:lstStyle/>
                        <a:p>
                          <a:pPr algn="ctr"/>
                          <a:r>
                            <a:rPr lang="en-US" sz="1400" kern="100">
                              <a:effectLst/>
                              <a:latin typeface="KaiTi" panose="02010609060101010101" pitchFamily="49" charset="-122"/>
                              <a:ea typeface="KaiTi" panose="02010609060101010101" pitchFamily="49" charset="-122"/>
                            </a:rPr>
                            <a:t>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100">
                              <a:effectLst/>
                              <a:latin typeface="KaiTi" panose="02010609060101010101" pitchFamily="49" charset="-122"/>
                              <a:ea typeface="KaiTi" panose="02010609060101010101" pitchFamily="49" charset="-122"/>
                            </a:rPr>
                            <a:t>0.15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3961220737"/>
                      </a:ext>
                    </a:extLst>
                  </a:tr>
                  <a:tr h="281624">
                    <a:tc>
                      <a:txBody>
                        <a:bodyPr/>
                        <a:lstStyle/>
                        <a:p>
                          <a:pPr algn="ctr"/>
                          <a:r>
                            <a:rPr lang="en-US" sz="1400" kern="100">
                              <a:effectLst/>
                              <a:latin typeface="KaiTi" panose="02010609060101010101" pitchFamily="49" charset="-122"/>
                              <a:ea typeface="KaiTi" panose="02010609060101010101" pitchFamily="49" charset="-122"/>
                            </a:rPr>
                            <a:t>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1298101076"/>
                      </a:ext>
                    </a:extLst>
                  </a:tr>
                  <a:tr h="281624">
                    <a:tc>
                      <a:txBody>
                        <a:bodyPr/>
                        <a:lstStyle/>
                        <a:p>
                          <a:pPr algn="ctr"/>
                          <a:r>
                            <a:rPr lang="en-US" sz="1400" kern="100">
                              <a:effectLst/>
                              <a:latin typeface="KaiTi" panose="02010609060101010101" pitchFamily="49" charset="-122"/>
                              <a:ea typeface="KaiTi" panose="02010609060101010101" pitchFamily="49" charset="-122"/>
                            </a:rPr>
                            <a:t>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3909293187"/>
                      </a:ext>
                    </a:extLst>
                  </a:tr>
                  <a:tr h="281624">
                    <a:tc>
                      <a:txBody>
                        <a:bodyPr/>
                        <a:lstStyle/>
                        <a:p>
                          <a:pPr algn="ctr"/>
                          <a:r>
                            <a:rPr lang="en-US" sz="1400" kern="100">
                              <a:effectLst/>
                              <a:latin typeface="KaiTi" panose="02010609060101010101" pitchFamily="49" charset="-122"/>
                              <a:ea typeface="KaiTi" panose="02010609060101010101" pitchFamily="49" charset="-122"/>
                            </a:rPr>
                            <a:t>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102653253"/>
                      </a:ext>
                    </a:extLst>
                  </a:tr>
                  <a:tr h="281624">
                    <a:tc>
                      <a:txBody>
                        <a:bodyPr/>
                        <a:lstStyle/>
                        <a:p>
                          <a:pPr algn="ctr"/>
                          <a:r>
                            <a:rPr lang="en-US" sz="1400" kern="100">
                              <a:effectLst/>
                              <a:latin typeface="KaiTi" panose="02010609060101010101" pitchFamily="49" charset="-122"/>
                              <a:ea typeface="KaiTi" panose="02010609060101010101" pitchFamily="49" charset="-122"/>
                            </a:rPr>
                            <a:t>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119723892"/>
                      </a:ext>
                    </a:extLst>
                  </a:tr>
                  <a:tr h="281624">
                    <a:tc>
                      <a:txBody>
                        <a:bodyPr/>
                        <a:lstStyle/>
                        <a:p>
                          <a:pPr algn="ctr"/>
                          <a:r>
                            <a:rPr lang="en-US" sz="1400" kern="100">
                              <a:effectLst/>
                              <a:latin typeface="KaiTi" panose="02010609060101010101" pitchFamily="49" charset="-122"/>
                              <a:ea typeface="KaiTi" panose="02010609060101010101" pitchFamily="49" charset="-122"/>
                            </a:rPr>
                            <a:t>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1489335037"/>
                      </a:ext>
                    </a:extLst>
                  </a:tr>
                  <a:tr h="281624">
                    <a:tc>
                      <a:txBody>
                        <a:bodyPr/>
                        <a:lstStyle/>
                        <a:p>
                          <a:pPr algn="ctr"/>
                          <a:r>
                            <a:rPr lang="en-US" sz="1400" kern="100">
                              <a:effectLst/>
                              <a:latin typeface="KaiTi" panose="02010609060101010101" pitchFamily="49" charset="-122"/>
                              <a:ea typeface="KaiTi" panose="02010609060101010101" pitchFamily="49" charset="-122"/>
                            </a:rPr>
                            <a:t>7</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a:t>
                          </a:r>
                          <a:r>
                            <a:rPr lang="en-US" altLang="zh-CN" sz="1400" kern="100">
                              <a:effectLst/>
                              <a:latin typeface="KaiTi" panose="02010609060101010101" pitchFamily="49" charset="-122"/>
                              <a:ea typeface="KaiTi" panose="02010609060101010101" pitchFamily="49" charset="-122"/>
                            </a:rPr>
                            <a:t>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235488416"/>
                      </a:ext>
                    </a:extLst>
                  </a:tr>
                  <a:tr h="281624">
                    <a:tc>
                      <a:txBody>
                        <a:bodyPr/>
                        <a:lstStyle/>
                        <a:p>
                          <a:pPr algn="ctr"/>
                          <a:r>
                            <a:rPr lang="en-US" sz="1400" kern="100">
                              <a:effectLst/>
                              <a:latin typeface="KaiTi" panose="02010609060101010101" pitchFamily="49" charset="-122"/>
                              <a:ea typeface="KaiTi" panose="02010609060101010101" pitchFamily="49" charset="-122"/>
                            </a:rPr>
                            <a:t>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ore-KR"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a:t>
                          </a: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22</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566343268"/>
                      </a:ext>
                    </a:extLst>
                  </a:tr>
                  <a:tr h="281624">
                    <a:tc>
                      <a:txBody>
                        <a:bodyPr/>
                        <a:lstStyle/>
                        <a:p>
                          <a:pPr algn="ctr"/>
                          <a:r>
                            <a:rPr lang="en-US" sz="1400" kern="100">
                              <a:effectLst/>
                              <a:latin typeface="KaiTi" panose="02010609060101010101" pitchFamily="49" charset="-122"/>
                              <a:ea typeface="KaiTi" panose="02010609060101010101" pitchFamily="49" charset="-122"/>
                            </a:rPr>
                            <a:t>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ore-KR"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a:t>
                          </a: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22</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9726611"/>
                      </a:ext>
                    </a:extLst>
                  </a:tr>
                  <a:tr h="281624">
                    <a:tc>
                      <a:txBody>
                        <a:bodyPr/>
                        <a:lstStyle/>
                        <a:p>
                          <a:pPr algn="ctr"/>
                          <a:r>
                            <a:rPr lang="en-US" sz="1400" kern="100">
                              <a:effectLst/>
                              <a:latin typeface="KaiTi" panose="02010609060101010101" pitchFamily="49" charset="-122"/>
                              <a:ea typeface="KaiTi" panose="02010609060101010101" pitchFamily="49" charset="-122"/>
                            </a:rPr>
                            <a:t>10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ore-KR"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a:t>
                          </a: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22</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623516463"/>
                      </a:ext>
                    </a:extLst>
                  </a:tr>
                </a:tbl>
              </a:graphicData>
            </a:graphic>
          </p:graphicFrame>
        </mc:Choice>
        <mc:Fallback xmlns="">
          <p:graphicFrame>
            <p:nvGraphicFramePr>
              <p:cNvPr id="63" name="표 62">
                <a:extLst>
                  <a:ext uri="{FF2B5EF4-FFF2-40B4-BE49-F238E27FC236}">
                    <a16:creationId xmlns:a16="http://schemas.microsoft.com/office/drawing/2014/main" id="{D1ADDFE9-54B4-6939-1B9D-677DC2A0563C}"/>
                  </a:ext>
                </a:extLst>
              </p:cNvPr>
              <p:cNvGraphicFramePr>
                <a:graphicFrameLocks noGrp="1"/>
              </p:cNvGraphicFramePr>
              <p:nvPr>
                <p:extLst>
                  <p:ext uri="{D42A27DB-BD31-4B8C-83A1-F6EECF244321}">
                    <p14:modId xmlns:p14="http://schemas.microsoft.com/office/powerpoint/2010/main" val="346940423"/>
                  </p:ext>
                </p:extLst>
              </p:nvPr>
            </p:nvGraphicFramePr>
            <p:xfrm>
              <a:off x="8028278" y="3261752"/>
              <a:ext cx="3307080" cy="3328413"/>
            </p:xfrm>
            <a:graphic>
              <a:graphicData uri="http://schemas.openxmlformats.org/drawingml/2006/table">
                <a:tbl>
                  <a:tblPr firstRow="1" firstCol="1" bandRow="1">
                    <a:tableStyleId>{5C22544A-7EE6-4342-B048-85BDC9FD1C3A}</a:tableStyleId>
                  </a:tblPr>
                  <a:tblGrid>
                    <a:gridCol w="561216">
                      <a:extLst>
                        <a:ext uri="{9D8B030D-6E8A-4147-A177-3AD203B41FA5}">
                          <a16:colId xmlns:a16="http://schemas.microsoft.com/office/drawing/2014/main" val="2154397755"/>
                        </a:ext>
                      </a:extLst>
                    </a:gridCol>
                    <a:gridCol w="693692">
                      <a:extLst>
                        <a:ext uri="{9D8B030D-6E8A-4147-A177-3AD203B41FA5}">
                          <a16:colId xmlns:a16="http://schemas.microsoft.com/office/drawing/2014/main" val="3584318941"/>
                        </a:ext>
                      </a:extLst>
                    </a:gridCol>
                    <a:gridCol w="664788">
                      <a:extLst>
                        <a:ext uri="{9D8B030D-6E8A-4147-A177-3AD203B41FA5}">
                          <a16:colId xmlns:a16="http://schemas.microsoft.com/office/drawing/2014/main" val="23810642"/>
                        </a:ext>
                      </a:extLst>
                    </a:gridCol>
                    <a:gridCol w="693692">
                      <a:extLst>
                        <a:ext uri="{9D8B030D-6E8A-4147-A177-3AD203B41FA5}">
                          <a16:colId xmlns:a16="http://schemas.microsoft.com/office/drawing/2014/main" val="1136671073"/>
                        </a:ext>
                      </a:extLst>
                    </a:gridCol>
                    <a:gridCol w="693692">
                      <a:extLst>
                        <a:ext uri="{9D8B030D-6E8A-4147-A177-3AD203B41FA5}">
                          <a16:colId xmlns:a16="http://schemas.microsoft.com/office/drawing/2014/main" val="3390685773"/>
                        </a:ext>
                      </a:extLst>
                    </a:gridCol>
                  </a:tblGrid>
                  <a:tr h="512173">
                    <a:tc>
                      <a:txBody>
                        <a:bodyPr/>
                        <a:lstStyle/>
                        <a:p>
                          <a:pPr algn="ctr"/>
                          <a:r>
                            <a:rPr lang="en-US" sz="1400" kern="100">
                              <a:effectLst/>
                              <a:latin typeface="KaiTi" panose="02010609060101010101" pitchFamily="49" charset="-122"/>
                              <a:ea typeface="KaiTi" panose="02010609060101010101" pitchFamily="49" charset="-122"/>
                            </a:rPr>
                            <a:t>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ko-Kore-KR"/>
                        </a:p>
                      </a:txBody>
                      <a:tcPr marL="68580" marR="68580" marT="0" marB="0" anchor="ctr">
                        <a:blipFill>
                          <a:blip r:embed="rId8"/>
                          <a:stretch>
                            <a:fillRect l="-81818" r="-298182" b="-572500"/>
                          </a:stretch>
                        </a:blipFill>
                      </a:tcPr>
                    </a:tc>
                    <a:tc>
                      <a:txBody>
                        <a:bodyPr/>
                        <a:lstStyle/>
                        <a:p>
                          <a:pPr algn="ctr"/>
                          <a:r>
                            <a:rPr lang="en-US" sz="1400" kern="100">
                              <a:effectLst/>
                              <a:latin typeface="KaiTi" panose="02010609060101010101" pitchFamily="49" charset="-122"/>
                              <a:ea typeface="KaiTi" panose="02010609060101010101" pitchFamily="49" charset="-122"/>
                            </a:rPr>
                            <a:t>T3(x)</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ko-Kore-KR"/>
                        </a:p>
                      </a:txBody>
                      <a:tcPr marL="68580" marR="68580" marT="0" marB="0" anchor="ctr">
                        <a:blipFill>
                          <a:blip r:embed="rId8"/>
                          <a:stretch>
                            <a:fillRect l="-283333" r="-105556" b="-572500"/>
                          </a:stretch>
                        </a:blipFill>
                      </a:tcPr>
                    </a:tc>
                    <a:tc>
                      <a:txBody>
                        <a:bodyPr/>
                        <a:lstStyle/>
                        <a:p>
                          <a:endParaRPr lang="ko-Kore-KR"/>
                        </a:p>
                      </a:txBody>
                      <a:tcPr marL="68580" marR="68580" marT="0" marB="0" anchor="ctr">
                        <a:blipFill>
                          <a:blip r:embed="rId8"/>
                          <a:stretch>
                            <a:fillRect l="-376364" r="-3636" b="-572500"/>
                          </a:stretch>
                        </a:blipFill>
                      </a:tcPr>
                    </a:tc>
                    <a:extLst>
                      <a:ext uri="{0D108BD9-81ED-4DB2-BD59-A6C34878D82A}">
                        <a16:rowId xmlns:a16="http://schemas.microsoft.com/office/drawing/2014/main" val="1406522307"/>
                      </a:ext>
                    </a:extLst>
                  </a:tr>
                  <a:tr h="281624">
                    <a:tc>
                      <a:txBody>
                        <a:bodyPr/>
                        <a:lstStyle/>
                        <a:p>
                          <a:pPr algn="ctr"/>
                          <a:r>
                            <a:rPr lang="en-US" sz="1400" kern="100">
                              <a:effectLst/>
                              <a:latin typeface="KaiTi" panose="02010609060101010101" pitchFamily="49" charset="-122"/>
                              <a:ea typeface="KaiTi" panose="02010609060101010101" pitchFamily="49" charset="-122"/>
                            </a:rPr>
                            <a:t>1</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altLang="zh-CN" sz="1400" kern="100">
                              <a:effectLst/>
                              <a:latin typeface="KaiTi" panose="02010609060101010101" pitchFamily="49" charset="-122"/>
                              <a:ea typeface="KaiTi" panose="02010609060101010101" pitchFamily="49" charset="-122"/>
                            </a:rPr>
                            <a:t>0.15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3961220737"/>
                      </a:ext>
                    </a:extLst>
                  </a:tr>
                  <a:tr h="281624">
                    <a:tc>
                      <a:txBody>
                        <a:bodyPr/>
                        <a:lstStyle/>
                        <a:p>
                          <a:pPr algn="ctr"/>
                          <a:r>
                            <a:rPr lang="en-US" sz="1400" kern="100">
                              <a:effectLst/>
                              <a:latin typeface="KaiTi" panose="02010609060101010101" pitchFamily="49" charset="-122"/>
                              <a:ea typeface="KaiTi" panose="02010609060101010101" pitchFamily="49" charset="-122"/>
                            </a:rPr>
                            <a:t>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1298101076"/>
                      </a:ext>
                    </a:extLst>
                  </a:tr>
                  <a:tr h="281624">
                    <a:tc>
                      <a:txBody>
                        <a:bodyPr/>
                        <a:lstStyle/>
                        <a:p>
                          <a:pPr algn="ctr"/>
                          <a:r>
                            <a:rPr lang="en-US" sz="1400" kern="100">
                              <a:effectLst/>
                              <a:latin typeface="KaiTi" panose="02010609060101010101" pitchFamily="49" charset="-122"/>
                              <a:ea typeface="KaiTi" panose="02010609060101010101" pitchFamily="49" charset="-122"/>
                            </a:rPr>
                            <a:t>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5.72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3909293187"/>
                      </a:ext>
                    </a:extLst>
                  </a:tr>
                  <a:tr h="281624">
                    <a:tc>
                      <a:txBody>
                        <a:bodyPr/>
                        <a:lstStyle/>
                        <a:p>
                          <a:pPr algn="ctr"/>
                          <a:r>
                            <a:rPr lang="en-US" sz="1400" kern="100">
                              <a:effectLst/>
                              <a:latin typeface="KaiTi" panose="02010609060101010101" pitchFamily="49" charset="-122"/>
                              <a:ea typeface="KaiTi" panose="02010609060101010101" pitchFamily="49" charset="-122"/>
                            </a:rPr>
                            <a:t>4</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102653253"/>
                      </a:ext>
                    </a:extLst>
                  </a:tr>
                  <a:tr h="281624">
                    <a:tc>
                      <a:txBody>
                        <a:bodyPr/>
                        <a:lstStyle/>
                        <a:p>
                          <a:pPr algn="ctr"/>
                          <a:r>
                            <a:rPr lang="en-US" sz="1400" kern="100">
                              <a:effectLst/>
                              <a:latin typeface="KaiTi" panose="02010609060101010101" pitchFamily="49" charset="-122"/>
                              <a:ea typeface="KaiTi" panose="02010609060101010101" pitchFamily="49" charset="-122"/>
                            </a:rPr>
                            <a:t>5</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119723892"/>
                      </a:ext>
                    </a:extLst>
                  </a:tr>
                  <a:tr h="281624">
                    <a:tc>
                      <a:txBody>
                        <a:bodyPr/>
                        <a:lstStyle/>
                        <a:p>
                          <a:pPr algn="ctr"/>
                          <a:r>
                            <a:rPr lang="en-US" sz="1400" kern="100">
                              <a:effectLst/>
                              <a:latin typeface="KaiTi" panose="02010609060101010101" pitchFamily="49" charset="-122"/>
                              <a:ea typeface="KaiTi" panose="02010609060101010101" pitchFamily="49" charset="-122"/>
                            </a:rPr>
                            <a:t>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6.46</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0.15</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1489335037"/>
                      </a:ext>
                    </a:extLst>
                  </a:tr>
                  <a:tr h="281624">
                    <a:tc>
                      <a:txBody>
                        <a:bodyPr/>
                        <a:lstStyle/>
                        <a:p>
                          <a:pPr algn="ctr"/>
                          <a:r>
                            <a:rPr lang="en-US" sz="1400" kern="100">
                              <a:effectLst/>
                              <a:latin typeface="KaiTi" panose="02010609060101010101" pitchFamily="49" charset="-122"/>
                              <a:ea typeface="KaiTi" panose="02010609060101010101" pitchFamily="49" charset="-122"/>
                            </a:rPr>
                            <a:t>7</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-0.</a:t>
                          </a:r>
                          <a:r>
                            <a:rPr lang="en-US" altLang="zh-CN" sz="1400" kern="100">
                              <a:effectLst/>
                              <a:latin typeface="KaiTi" panose="02010609060101010101" pitchFamily="49" charset="-122"/>
                              <a:ea typeface="KaiTi" panose="02010609060101010101" pitchFamily="49" charset="-122"/>
                            </a:rPr>
                            <a:t>22</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235488416"/>
                      </a:ext>
                    </a:extLst>
                  </a:tr>
                  <a:tr h="281624">
                    <a:tc>
                      <a:txBody>
                        <a:bodyPr/>
                        <a:lstStyle/>
                        <a:p>
                          <a:pPr algn="ctr"/>
                          <a:r>
                            <a:rPr lang="en-US" sz="1400" kern="100">
                              <a:effectLst/>
                              <a:latin typeface="KaiTi" panose="02010609060101010101" pitchFamily="49" charset="-122"/>
                              <a:ea typeface="KaiTi" panose="02010609060101010101" pitchFamily="49" charset="-122"/>
                            </a:rPr>
                            <a:t>8</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ore-KR"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a:t>
                          </a: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22</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566343268"/>
                      </a:ext>
                    </a:extLst>
                  </a:tr>
                  <a:tr h="281624">
                    <a:tc>
                      <a:txBody>
                        <a:bodyPr/>
                        <a:lstStyle/>
                        <a:p>
                          <a:pPr algn="ctr"/>
                          <a:r>
                            <a:rPr lang="en-US" sz="1400" kern="100">
                              <a:effectLst/>
                              <a:latin typeface="KaiTi" panose="02010609060101010101" pitchFamily="49" charset="-122"/>
                              <a:ea typeface="KaiTi" panose="02010609060101010101" pitchFamily="49" charset="-122"/>
                            </a:rPr>
                            <a:t>9</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ore-KR"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a:t>
                          </a: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22</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29726611"/>
                      </a:ext>
                    </a:extLst>
                  </a:tr>
                  <a:tr h="281624">
                    <a:tc>
                      <a:txBody>
                        <a:bodyPr/>
                        <a:lstStyle/>
                        <a:p>
                          <a:pPr algn="ctr"/>
                          <a:r>
                            <a:rPr lang="en-US" sz="1400" kern="100">
                              <a:effectLst/>
                              <a:latin typeface="KaiTi" panose="02010609060101010101" pitchFamily="49" charset="-122"/>
                              <a:ea typeface="KaiTi" panose="02010609060101010101" pitchFamily="49" charset="-122"/>
                            </a:rPr>
                            <a:t>10</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r>
                            <a:rPr lang="en-US" sz="1400" kern="100">
                              <a:effectLst/>
                              <a:latin typeface="KaiTi" panose="02010609060101010101" pitchFamily="49" charset="-122"/>
                              <a:ea typeface="KaiTi" panose="02010609060101010101" pitchFamily="49" charset="-122"/>
                            </a:rPr>
                            <a:t>9.13</a:t>
                          </a: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ore-KR"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-0.</a:t>
                          </a:r>
                          <a:r>
                            <a:rPr kumimoji="0" lang="en-US" altLang="zh-CN" sz="1400" b="0" i="0" u="none" strike="noStrike" kern="100" cap="none" spc="0" normalizeH="0" baseline="0" noProof="0">
                              <a:ln>
                                <a:noFill/>
                              </a:ln>
                              <a:solidFill>
                                <a:srgbClr val="000000"/>
                              </a:solidFill>
                              <a:effectLst/>
                              <a:uLnTx/>
                              <a:uFillTx/>
                              <a:latin typeface="KaiTi" panose="02010609060101010101" pitchFamily="49" charset="-122"/>
                              <a:ea typeface="KaiTi" panose="02010609060101010101" pitchFamily="49" charset="-122"/>
                              <a:cs typeface="+mn-cs"/>
                            </a:rPr>
                            <a:t>22</a:t>
                          </a:r>
                          <a:endParaRPr kumimoji="0" lang="ko-Kore-KR" altLang="ko-Kore-KR" sz="1400" b="0" i="0" u="none" strike="noStrike" kern="100" cap="none" spc="0" normalizeH="0" baseline="0" noProof="0">
                            <a:ln>
                              <a:noFill/>
                            </a:ln>
                            <a:solidFill>
                              <a:srgbClr val="000000"/>
                            </a:solidFill>
                            <a:effectLst/>
                            <a:uLnTx/>
                            <a:uFillTx/>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a:endParaRPr lang="ko-Kore-KR" sz="1400" kern="100">
                            <a:effectLst/>
                            <a:latin typeface="KaiTi" panose="02010609060101010101" pitchFamily="49" charset="-122"/>
                            <a:ea typeface="Times New Roman" panose="02020603050405020304" pitchFamily="18" charset="0"/>
                            <a:cs typeface="Times New Roman" panose="02020603050405020304" pitchFamily="18" charset="0"/>
                          </a:endParaRPr>
                        </a:p>
                      </a:txBody>
                      <a:tcPr marL="68580" marR="68580" marT="0" marB="0" anchor="ctr"/>
                    </a:tc>
                    <a:tc>
                      <a:txBody>
                        <a:bodyPr/>
                        <a:lstStyle/>
                        <a:p>
                          <a:pPr algn="ctr" fontAlgn="ctr"/>
                          <a:endParaRPr lang="en-US" altLang="ko-Kore-KR" sz="1400" b="0" i="0" u="none" strike="noStrike">
                            <a:solidFill>
                              <a:srgbClr val="000000"/>
                            </a:solidFill>
                            <a:effectLst/>
                            <a:latin typeface="KaiTi" panose="02010609060101010101" pitchFamily="49" charset="-122"/>
                            <a:ea typeface="KaiTi" panose="02010609060101010101" pitchFamily="49" charset="-122"/>
                          </a:endParaRPr>
                        </a:p>
                      </a:txBody>
                      <a:tcPr marL="9525" marR="9525" marT="9525" marB="0" anchor="ctr"/>
                    </a:tc>
                    <a:extLst>
                      <a:ext uri="{0D108BD9-81ED-4DB2-BD59-A6C34878D82A}">
                        <a16:rowId xmlns:a16="http://schemas.microsoft.com/office/drawing/2014/main" val="623516463"/>
                      </a:ext>
                    </a:extLst>
                  </a:tr>
                </a:tbl>
              </a:graphicData>
            </a:graphic>
          </p:graphicFrame>
        </mc:Fallback>
      </mc:AlternateContent>
      <mc:AlternateContent xmlns:mc="http://schemas.openxmlformats.org/markup-compatibility/2006" xmlns:a14="http://schemas.microsoft.com/office/drawing/2010/main">
        <mc:Choice Requires="a14">
          <p:sp>
            <p:nvSpPr>
              <p:cNvPr id="65" name="文本框 9">
                <a:extLst>
                  <a:ext uri="{FF2B5EF4-FFF2-40B4-BE49-F238E27FC236}">
                    <a16:creationId xmlns:a16="http://schemas.microsoft.com/office/drawing/2014/main" id="{24C4A958-A6DD-EC78-583B-54806E727635}"/>
                  </a:ext>
                </a:extLst>
              </p:cNvPr>
              <p:cNvSpPr txBox="1"/>
              <p:nvPr/>
            </p:nvSpPr>
            <p:spPr>
              <a:xfrm>
                <a:off x="3041895" y="5519549"/>
                <a:ext cx="418877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𝑟</m:t>
                          </m:r>
                        </m:e>
                        <m:sub>
                          <m:r>
                            <a:rPr lang="en-US" altLang="zh-CN" sz="2000" b="0" i="1" smtClean="0">
                              <a:latin typeface="Cambria Math" panose="02040503050406030204" pitchFamily="18" charset="0"/>
                              <a:ea typeface="Microsoft YaHei" charset="0"/>
                            </a:rPr>
                            <m:t>4</m:t>
                          </m:r>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3</m:t>
                          </m:r>
                          <m:r>
                            <a:rPr lang="en-US" altLang="zh-CN" sz="2000" b="0" i="1" smtClean="0">
                              <a:latin typeface="Cambria Math" panose="02040503050406030204" pitchFamily="18" charset="0"/>
                              <a:ea typeface="Microsoft YaHei" charset="0"/>
                            </a:rPr>
                            <m:t>𝑖</m:t>
                          </m:r>
                        </m:sub>
                      </m:sSub>
                      <m:r>
                        <a:rPr lang="en-US" altLang="zh-CN" sz="2000" b="0" i="1" smtClean="0">
                          <a:latin typeface="Cambria Math" panose="02040503050406030204" pitchFamily="18" charset="0"/>
                          <a:ea typeface="Microsoft YaHei" charset="0"/>
                        </a:rPr>
                        <m:t>−</m:t>
                      </m:r>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𝑓</m:t>
                          </m:r>
                        </m:e>
                        <m:sub>
                          <m:r>
                            <a:rPr lang="en-US" altLang="zh-CN" sz="2000" b="0" i="1" smtClean="0">
                              <a:latin typeface="Cambria Math" panose="02040503050406030204" pitchFamily="18" charset="0"/>
                              <a:ea typeface="Microsoft YaHei" charset="0"/>
                            </a:rPr>
                            <m:t>3</m:t>
                          </m:r>
                        </m:sub>
                      </m:sSub>
                      <m:d>
                        <m:dPr>
                          <m:ctrlPr>
                            <a:rPr lang="en-US" altLang="zh-CN" sz="2000" b="0" i="1" smtClean="0">
                              <a:latin typeface="Cambria Math" panose="02040503050406030204" pitchFamily="18" charset="0"/>
                              <a:ea typeface="Microsoft YaHei" charset="0"/>
                            </a:rPr>
                          </m:ctrlPr>
                        </m:dPr>
                        <m:e>
                          <m:sSub>
                            <m:sSubPr>
                              <m:ctrlPr>
                                <a:rPr lang="en-US" altLang="zh-CN" sz="2000" b="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e>
                      </m:d>
                      <m:r>
                        <a:rPr lang="en-US" altLang="zh-CN" sz="2000" b="0" i="1" smtClean="0">
                          <a:latin typeface="Cambria Math" panose="02040503050406030204" pitchFamily="18" charset="0"/>
                          <a:ea typeface="Microsoft YaHei" charset="0"/>
                        </a:rPr>
                        <m:t>,</m:t>
                      </m:r>
                      <m: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=1,2,…10</m:t>
                      </m:r>
                    </m:oMath>
                  </m:oMathPara>
                </a14:m>
                <a:endParaRPr lang="zh-CN" altLang="en-US" sz="2000" dirty="0">
                  <a:ea typeface="Microsoft YaHei" charset="0"/>
                </a:endParaRPr>
              </a:p>
            </p:txBody>
          </p:sp>
        </mc:Choice>
        <mc:Fallback xmlns="">
          <p:sp>
            <p:nvSpPr>
              <p:cNvPr id="65" name="文本框 9">
                <a:extLst>
                  <a:ext uri="{FF2B5EF4-FFF2-40B4-BE49-F238E27FC236}">
                    <a16:creationId xmlns:a16="http://schemas.microsoft.com/office/drawing/2014/main" id="{24C4A958-A6DD-EC78-583B-54806E727635}"/>
                  </a:ext>
                </a:extLst>
              </p:cNvPr>
              <p:cNvSpPr txBox="1">
                <a:spLocks noRot="1" noChangeAspect="1" noMove="1" noResize="1" noEditPoints="1" noAdjustHandles="1" noChangeArrowheads="1" noChangeShapeType="1" noTextEdit="1"/>
              </p:cNvSpPr>
              <p:nvPr/>
            </p:nvSpPr>
            <p:spPr>
              <a:xfrm>
                <a:off x="3041895" y="5519549"/>
                <a:ext cx="4188774" cy="307777"/>
              </a:xfrm>
              <a:prstGeom prst="rect">
                <a:avLst/>
              </a:prstGeom>
              <a:blipFill>
                <a:blip r:embed="rId9"/>
                <a:stretch>
                  <a:fillRect b="-36000"/>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66" name="文本框 48">
                <a:extLst>
                  <a:ext uri="{FF2B5EF4-FFF2-40B4-BE49-F238E27FC236}">
                    <a16:creationId xmlns:a16="http://schemas.microsoft.com/office/drawing/2014/main" id="{9E6C58C2-870B-FFF9-6291-B17200622ECE}"/>
                  </a:ext>
                </a:extLst>
              </p:cNvPr>
              <p:cNvSpPr txBox="1"/>
              <p:nvPr/>
            </p:nvSpPr>
            <p:spPr>
              <a:xfrm>
                <a:off x="3320497" y="5863653"/>
                <a:ext cx="4331122"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𝐿</m:t>
                      </m:r>
                      <m:d>
                        <m:dPr>
                          <m:ctrlPr>
                            <a:rPr lang="en-US" altLang="zh-CN" sz="2000" b="0" i="1" smtClean="0">
                              <a:latin typeface="Cambria Math" panose="02040503050406030204" pitchFamily="18" charset="0"/>
                              <a:ea typeface="Microsoft YaHei" charset="0"/>
                            </a:rPr>
                          </m:ctrlPr>
                        </m:dPr>
                        <m:e>
                          <m:r>
                            <a:rPr lang="en-US" altLang="zh-CN" sz="2000" b="0" i="1" smtClean="0">
                              <a:latin typeface="Cambria Math" panose="02040503050406030204" pitchFamily="18" charset="0"/>
                              <a:ea typeface="Microsoft YaHei" charset="0"/>
                            </a:rPr>
                            <m:t>𝑦</m:t>
                          </m:r>
                          <m:r>
                            <a:rPr lang="en-US" altLang="zh-CN" sz="2000" b="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a:latin typeface="Cambria Math" panose="02040503050406030204" pitchFamily="18" charset="0"/>
                                  <a:ea typeface="Microsoft YaHei" charset="0"/>
                                </a:rPr>
                                <m:t>3</m:t>
                              </m:r>
                            </m:sub>
                          </m:sSub>
                          <m:d>
                            <m:dPr>
                              <m:ctrlPr>
                                <a:rPr lang="en-US" altLang="zh-CN" sz="2000" i="1">
                                  <a:latin typeface="Cambria Math" panose="02040503050406030204" pitchFamily="18" charset="0"/>
                                  <a:ea typeface="Microsoft YaHei" charset="0"/>
                                </a:rPr>
                              </m:ctrlPr>
                            </m:dPr>
                            <m:e>
                              <m:r>
                                <a:rPr lang="en-US" altLang="zh-CN" sz="2000" i="1">
                                  <a:latin typeface="Cambria Math" panose="02040503050406030204" pitchFamily="18" charset="0"/>
                                  <a:ea typeface="Microsoft YaHei" charset="0"/>
                                </a:rPr>
                                <m:t>𝑥</m:t>
                              </m:r>
                            </m:e>
                          </m:d>
                        </m:e>
                      </m:d>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𝑖</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10</m:t>
                          </m:r>
                        </m:sup>
                        <m:e>
                          <m:sSup>
                            <m:sSupPr>
                              <m:ctrlPr>
                                <a:rPr lang="en-US" altLang="zh-CN" sz="2000" i="1" smtClean="0">
                                  <a:latin typeface="Cambria Math" panose="02040503050406030204" pitchFamily="18" charset="0"/>
                                  <a:ea typeface="Microsoft YaHei" charset="0"/>
                                </a:rPr>
                              </m:ctrlPr>
                            </m:sSupPr>
                            <m:e>
                              <m:r>
                                <a:rPr lang="en-US" altLang="zh-CN" sz="2000" i="1">
                                  <a:latin typeface="Cambria Math" panose="02040503050406030204" pitchFamily="18" charset="0"/>
                                  <a:ea typeface="Microsoft YaHei" charset="0"/>
                                </a:rPr>
                                <m:t>(</m:t>
                              </m:r>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𝑦</m:t>
                                  </m:r>
                                </m:e>
                                <m:sub>
                                  <m:r>
                                    <a:rPr lang="en-US" altLang="zh-CN" sz="2000" b="0" i="1" smtClean="0">
                                      <a:latin typeface="Cambria Math" panose="02040503050406030204" pitchFamily="18" charset="0"/>
                                      <a:ea typeface="Microsoft YaHei" charset="0"/>
                                    </a:rPr>
                                    <m:t>𝑖</m:t>
                                  </m:r>
                                </m:sub>
                              </m:sSub>
                              <m:r>
                                <a:rPr lang="en-US" altLang="zh-CN" sz="2000" i="1">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𝑓</m:t>
                                  </m:r>
                                </m:e>
                                <m:sub>
                                  <m:r>
                                    <a:rPr lang="en-US" altLang="zh-CN" sz="2000" b="0" i="1">
                                      <a:latin typeface="Cambria Math" panose="02040503050406030204" pitchFamily="18" charset="0"/>
                                      <a:ea typeface="Microsoft YaHei" charset="0"/>
                                    </a:rPr>
                                    <m:t>3</m:t>
                                  </m:r>
                                </m:sub>
                              </m:sSub>
                              <m:r>
                                <a:rPr lang="en-US" altLang="zh-CN" sz="2000" i="1" smtClean="0">
                                  <a:latin typeface="Cambria Math" panose="02040503050406030204" pitchFamily="18" charset="0"/>
                                  <a:ea typeface="Microsoft YaHei" charset="0"/>
                                </a:rPr>
                                <m:t>(</m:t>
                              </m:r>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𝑥</m:t>
                                  </m:r>
                                </m:e>
                                <m:sub>
                                  <m:r>
                                    <a:rPr lang="en-US" altLang="zh-CN" sz="2000" b="0" i="1" smtClean="0">
                                      <a:latin typeface="Cambria Math" panose="02040503050406030204" pitchFamily="18" charset="0"/>
                                      <a:ea typeface="Microsoft YaHei" charset="0"/>
                                    </a:rPr>
                                    <m:t>𝑖</m:t>
                                  </m:r>
                                </m:sub>
                              </m:sSub>
                              <m:r>
                                <a:rPr lang="en-US" altLang="zh-CN" sz="2000" i="1" smtClean="0">
                                  <a:latin typeface="Cambria Math" panose="02040503050406030204" pitchFamily="18" charset="0"/>
                                  <a:ea typeface="Microsoft YaHei" charset="0"/>
                                </a:rPr>
                                <m:t>)</m:t>
                              </m:r>
                              <m:r>
                                <a:rPr lang="en-US" altLang="zh-CN" sz="2000" i="1">
                                  <a:latin typeface="Cambria Math" panose="02040503050406030204" pitchFamily="18" charset="0"/>
                                  <a:ea typeface="Microsoft YaHei" charset="0"/>
                                </a:rPr>
                                <m:t>)</m:t>
                              </m:r>
                            </m:e>
                            <m:sup>
                              <m:r>
                                <a:rPr lang="en-US" altLang="zh-CN" sz="2000" i="1">
                                  <a:latin typeface="Cambria Math" panose="02040503050406030204" pitchFamily="18" charset="0"/>
                                  <a:ea typeface="Microsoft YaHei" charset="0"/>
                                </a:rPr>
                                <m:t>2</m:t>
                              </m:r>
                            </m:sup>
                          </m:sSup>
                          <m:r>
                            <m:rPr>
                              <m:nor/>
                            </m:rPr>
                            <a:rPr lang="zh-CN" altLang="en-US" sz="2000" dirty="0">
                              <a:ea typeface="Microsoft YaHei" charset="0"/>
                            </a:rPr>
                            <m:t> </m:t>
                          </m:r>
                        </m:e>
                      </m:nary>
                      <m:r>
                        <a:rPr lang="en-US" altLang="zh-CN" sz="2000" b="0" i="1" smtClean="0">
                          <a:latin typeface="Cambria Math" panose="02040503050406030204" pitchFamily="18" charset="0"/>
                          <a:ea typeface="Microsoft YaHei" charset="0"/>
                        </a:rPr>
                        <m:t>=0.49</m:t>
                      </m:r>
                    </m:oMath>
                  </m:oMathPara>
                </a14:m>
                <a:endParaRPr lang="zh-CN" altLang="en-US" sz="2000" dirty="0">
                  <a:ea typeface="Microsoft YaHei" charset="0"/>
                </a:endParaRPr>
              </a:p>
            </p:txBody>
          </p:sp>
        </mc:Choice>
        <mc:Fallback xmlns="">
          <p:sp>
            <p:nvSpPr>
              <p:cNvPr id="66" name="文本框 48">
                <a:extLst>
                  <a:ext uri="{FF2B5EF4-FFF2-40B4-BE49-F238E27FC236}">
                    <a16:creationId xmlns:a16="http://schemas.microsoft.com/office/drawing/2014/main" id="{9E6C58C2-870B-FFF9-6291-B17200622ECE}"/>
                  </a:ext>
                </a:extLst>
              </p:cNvPr>
              <p:cNvSpPr txBox="1">
                <a:spLocks noRot="1" noChangeAspect="1" noMove="1" noResize="1" noEditPoints="1" noAdjustHandles="1" noChangeArrowheads="1" noChangeShapeType="1" noTextEdit="1"/>
              </p:cNvSpPr>
              <p:nvPr/>
            </p:nvSpPr>
            <p:spPr>
              <a:xfrm>
                <a:off x="3320497" y="5863653"/>
                <a:ext cx="4331122" cy="865301"/>
              </a:xfrm>
              <a:prstGeom prst="rect">
                <a:avLst/>
              </a:prstGeom>
              <a:blipFill>
                <a:blip r:embed="rId10"/>
                <a:stretch>
                  <a:fillRect l="-585" t="-113043" r="-585" b="-173913"/>
                </a:stretch>
              </a:blipFill>
            </p:spPr>
            <p:txBody>
              <a:bodyPr/>
              <a:lstStyle/>
              <a:p>
                <a:r>
                  <a:rPr lang="ko-Kore-KR" altLang="en-US">
                    <a:noFill/>
                  </a:rPr>
                  <a:t> </a:t>
                </a:r>
              </a:p>
            </p:txBody>
          </p:sp>
        </mc:Fallback>
      </mc:AlternateContent>
      <p:sp>
        <p:nvSpPr>
          <p:cNvPr id="4" name="Rectangle 2">
            <a:extLst>
              <a:ext uri="{FF2B5EF4-FFF2-40B4-BE49-F238E27FC236}">
                <a16:creationId xmlns:a16="http://schemas.microsoft.com/office/drawing/2014/main" id="{3D21AABE-8D0B-E1F7-550B-249019EFDAEE}"/>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161919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fltVal val="0"/>
                                          </p:val>
                                        </p:tav>
                                        <p:tav tm="100000">
                                          <p:val>
                                            <p:strVal val="#ppt_w"/>
                                          </p:val>
                                        </p:tav>
                                      </p:tavLst>
                                    </p:anim>
                                    <p:anim calcmode="lin" valueType="num">
                                      <p:cBhvr>
                                        <p:cTn id="8" dur="500" fill="hold"/>
                                        <p:tgtEl>
                                          <p:spTgt spid="51"/>
                                        </p:tgtEl>
                                        <p:attrNameLst>
                                          <p:attrName>ppt_h</p:attrName>
                                        </p:attrNameLst>
                                      </p:cBhvr>
                                      <p:tavLst>
                                        <p:tav tm="0">
                                          <p:val>
                                            <p:fltVal val="0"/>
                                          </p:val>
                                        </p:tav>
                                        <p:tav tm="100000">
                                          <p:val>
                                            <p:strVal val="#ppt_h"/>
                                          </p:val>
                                        </p:tav>
                                      </p:tavLst>
                                    </p:anim>
                                    <p:animEffect transition="in" filter="fade">
                                      <p:cBhvr>
                                        <p:cTn id="9" dur="500"/>
                                        <p:tgtEl>
                                          <p:spTgt spid="5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2"/>
                                        </p:tgtEl>
                                        <p:attrNameLst>
                                          <p:attrName>style.visibility</p:attrName>
                                        </p:attrNameLst>
                                      </p:cBhvr>
                                      <p:to>
                                        <p:strVal val="visible"/>
                                      </p:to>
                                    </p:set>
                                    <p:anim calcmode="lin" valueType="num">
                                      <p:cBhvr>
                                        <p:cTn id="12" dur="500" fill="hold"/>
                                        <p:tgtEl>
                                          <p:spTgt spid="52"/>
                                        </p:tgtEl>
                                        <p:attrNameLst>
                                          <p:attrName>ppt_w</p:attrName>
                                        </p:attrNameLst>
                                      </p:cBhvr>
                                      <p:tavLst>
                                        <p:tav tm="0">
                                          <p:val>
                                            <p:fltVal val="0"/>
                                          </p:val>
                                        </p:tav>
                                        <p:tav tm="100000">
                                          <p:val>
                                            <p:strVal val="#ppt_w"/>
                                          </p:val>
                                        </p:tav>
                                      </p:tavLst>
                                    </p:anim>
                                    <p:anim calcmode="lin" valueType="num">
                                      <p:cBhvr>
                                        <p:cTn id="13" dur="500" fill="hold"/>
                                        <p:tgtEl>
                                          <p:spTgt spid="52"/>
                                        </p:tgtEl>
                                        <p:attrNameLst>
                                          <p:attrName>ppt_h</p:attrName>
                                        </p:attrNameLst>
                                      </p:cBhvr>
                                      <p:tavLst>
                                        <p:tav tm="0">
                                          <p:val>
                                            <p:fltVal val="0"/>
                                          </p:val>
                                        </p:tav>
                                        <p:tav tm="100000">
                                          <p:val>
                                            <p:strVal val="#ppt_h"/>
                                          </p:val>
                                        </p:tav>
                                      </p:tavLst>
                                    </p:anim>
                                    <p:animEffect transition="in" filter="fade">
                                      <p:cBhvr>
                                        <p:cTn id="14" dur="500"/>
                                        <p:tgtEl>
                                          <p:spTgt spid="52"/>
                                        </p:tgtEl>
                                      </p:cBhvr>
                                    </p:animEffect>
                                  </p:childTnLst>
                                </p:cTn>
                              </p:par>
                              <p:par>
                                <p:cTn id="15" presetID="53" presetClass="entr" presetSubtype="16"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anim calcmode="lin" valueType="num">
                                      <p:cBhvr>
                                        <p:cTn id="17" dur="500" fill="hold"/>
                                        <p:tgtEl>
                                          <p:spTgt spid="56"/>
                                        </p:tgtEl>
                                        <p:attrNameLst>
                                          <p:attrName>ppt_w</p:attrName>
                                        </p:attrNameLst>
                                      </p:cBhvr>
                                      <p:tavLst>
                                        <p:tav tm="0">
                                          <p:val>
                                            <p:fltVal val="0"/>
                                          </p:val>
                                        </p:tav>
                                        <p:tav tm="100000">
                                          <p:val>
                                            <p:strVal val="#ppt_w"/>
                                          </p:val>
                                        </p:tav>
                                      </p:tavLst>
                                    </p:anim>
                                    <p:anim calcmode="lin" valueType="num">
                                      <p:cBhvr>
                                        <p:cTn id="18" dur="500" fill="hold"/>
                                        <p:tgtEl>
                                          <p:spTgt spid="56"/>
                                        </p:tgtEl>
                                        <p:attrNameLst>
                                          <p:attrName>ppt_h</p:attrName>
                                        </p:attrNameLst>
                                      </p:cBhvr>
                                      <p:tavLst>
                                        <p:tav tm="0">
                                          <p:val>
                                            <p:fltVal val="0"/>
                                          </p:val>
                                        </p:tav>
                                        <p:tav tm="100000">
                                          <p:val>
                                            <p:strVal val="#ppt_h"/>
                                          </p:val>
                                        </p:tav>
                                      </p:tavLst>
                                    </p:anim>
                                    <p:animEffect transition="in" filter="fade">
                                      <p:cBhvr>
                                        <p:cTn id="19" dur="500"/>
                                        <p:tgtEl>
                                          <p:spTgt spid="56"/>
                                        </p:tgtEl>
                                      </p:cBhvr>
                                    </p:animEffect>
                                  </p:childTnLst>
                                </p:cTn>
                              </p:par>
                              <p:par>
                                <p:cTn id="20" presetID="53" presetClass="entr" presetSubtype="16" fill="hold" nodeType="with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p:cTn id="22" dur="500" fill="hold"/>
                                        <p:tgtEl>
                                          <p:spTgt spid="57"/>
                                        </p:tgtEl>
                                        <p:attrNameLst>
                                          <p:attrName>ppt_w</p:attrName>
                                        </p:attrNameLst>
                                      </p:cBhvr>
                                      <p:tavLst>
                                        <p:tav tm="0">
                                          <p:val>
                                            <p:fltVal val="0"/>
                                          </p:val>
                                        </p:tav>
                                        <p:tav tm="100000">
                                          <p:val>
                                            <p:strVal val="#ppt_w"/>
                                          </p:val>
                                        </p:tav>
                                      </p:tavLst>
                                    </p:anim>
                                    <p:anim calcmode="lin" valueType="num">
                                      <p:cBhvr>
                                        <p:cTn id="23" dur="500" fill="hold"/>
                                        <p:tgtEl>
                                          <p:spTgt spid="57"/>
                                        </p:tgtEl>
                                        <p:attrNameLst>
                                          <p:attrName>ppt_h</p:attrName>
                                        </p:attrNameLst>
                                      </p:cBhvr>
                                      <p:tavLst>
                                        <p:tav tm="0">
                                          <p:val>
                                            <p:fltVal val="0"/>
                                          </p:val>
                                        </p:tav>
                                        <p:tav tm="100000">
                                          <p:val>
                                            <p:strVal val="#ppt_h"/>
                                          </p:val>
                                        </p:tav>
                                      </p:tavLst>
                                    </p:anim>
                                    <p:animEffect transition="in" filter="fade">
                                      <p:cBhvr>
                                        <p:cTn id="24" dur="500"/>
                                        <p:tgtEl>
                                          <p:spTgt spid="5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anim calcmode="lin" valueType="num">
                                      <p:cBhvr>
                                        <p:cTn id="27" dur="500" fill="hold"/>
                                        <p:tgtEl>
                                          <p:spTgt spid="53"/>
                                        </p:tgtEl>
                                        <p:attrNameLst>
                                          <p:attrName>ppt_w</p:attrName>
                                        </p:attrNameLst>
                                      </p:cBhvr>
                                      <p:tavLst>
                                        <p:tav tm="0">
                                          <p:val>
                                            <p:fltVal val="0"/>
                                          </p:val>
                                        </p:tav>
                                        <p:tav tm="100000">
                                          <p:val>
                                            <p:strVal val="#ppt_w"/>
                                          </p:val>
                                        </p:tav>
                                      </p:tavLst>
                                    </p:anim>
                                    <p:anim calcmode="lin" valueType="num">
                                      <p:cBhvr>
                                        <p:cTn id="28" dur="500" fill="hold"/>
                                        <p:tgtEl>
                                          <p:spTgt spid="53"/>
                                        </p:tgtEl>
                                        <p:attrNameLst>
                                          <p:attrName>ppt_h</p:attrName>
                                        </p:attrNameLst>
                                      </p:cBhvr>
                                      <p:tavLst>
                                        <p:tav tm="0">
                                          <p:val>
                                            <p:fltVal val="0"/>
                                          </p:val>
                                        </p:tav>
                                        <p:tav tm="100000">
                                          <p:val>
                                            <p:strVal val="#ppt_h"/>
                                          </p:val>
                                        </p:tav>
                                      </p:tavLst>
                                    </p:anim>
                                    <p:animEffect transition="in" filter="fade">
                                      <p:cBhvr>
                                        <p:cTn id="29" dur="500"/>
                                        <p:tgtEl>
                                          <p:spTgt spid="53"/>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54"/>
                                        </p:tgtEl>
                                        <p:attrNameLst>
                                          <p:attrName>style.visibility</p:attrName>
                                        </p:attrNameLst>
                                      </p:cBhvr>
                                      <p:to>
                                        <p:strVal val="visible"/>
                                      </p:to>
                                    </p:set>
                                    <p:anim calcmode="lin" valueType="num">
                                      <p:cBhvr>
                                        <p:cTn id="32" dur="500" fill="hold"/>
                                        <p:tgtEl>
                                          <p:spTgt spid="54"/>
                                        </p:tgtEl>
                                        <p:attrNameLst>
                                          <p:attrName>ppt_w</p:attrName>
                                        </p:attrNameLst>
                                      </p:cBhvr>
                                      <p:tavLst>
                                        <p:tav tm="0">
                                          <p:val>
                                            <p:fltVal val="0"/>
                                          </p:val>
                                        </p:tav>
                                        <p:tav tm="100000">
                                          <p:val>
                                            <p:strVal val="#ppt_w"/>
                                          </p:val>
                                        </p:tav>
                                      </p:tavLst>
                                    </p:anim>
                                    <p:anim calcmode="lin" valueType="num">
                                      <p:cBhvr>
                                        <p:cTn id="33" dur="500" fill="hold"/>
                                        <p:tgtEl>
                                          <p:spTgt spid="54"/>
                                        </p:tgtEl>
                                        <p:attrNameLst>
                                          <p:attrName>ppt_h</p:attrName>
                                        </p:attrNameLst>
                                      </p:cBhvr>
                                      <p:tavLst>
                                        <p:tav tm="0">
                                          <p:val>
                                            <p:fltVal val="0"/>
                                          </p:val>
                                        </p:tav>
                                        <p:tav tm="100000">
                                          <p:val>
                                            <p:strVal val="#ppt_h"/>
                                          </p:val>
                                        </p:tav>
                                      </p:tavLst>
                                    </p:anim>
                                    <p:animEffect transition="in" filter="fade">
                                      <p:cBhvr>
                                        <p:cTn id="34" dur="500"/>
                                        <p:tgtEl>
                                          <p:spTgt spid="54"/>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58"/>
                                        </p:tgtEl>
                                        <p:attrNameLst>
                                          <p:attrName>style.visibility</p:attrName>
                                        </p:attrNameLst>
                                      </p:cBhvr>
                                      <p:to>
                                        <p:strVal val="visible"/>
                                      </p:to>
                                    </p:set>
                                    <p:anim calcmode="lin" valueType="num">
                                      <p:cBhvr>
                                        <p:cTn id="39" dur="500" fill="hold"/>
                                        <p:tgtEl>
                                          <p:spTgt spid="58"/>
                                        </p:tgtEl>
                                        <p:attrNameLst>
                                          <p:attrName>ppt_w</p:attrName>
                                        </p:attrNameLst>
                                      </p:cBhvr>
                                      <p:tavLst>
                                        <p:tav tm="0">
                                          <p:val>
                                            <p:fltVal val="0"/>
                                          </p:val>
                                        </p:tav>
                                        <p:tav tm="100000">
                                          <p:val>
                                            <p:strVal val="#ppt_w"/>
                                          </p:val>
                                        </p:tav>
                                      </p:tavLst>
                                    </p:anim>
                                    <p:anim calcmode="lin" valueType="num">
                                      <p:cBhvr>
                                        <p:cTn id="40" dur="500" fill="hold"/>
                                        <p:tgtEl>
                                          <p:spTgt spid="58"/>
                                        </p:tgtEl>
                                        <p:attrNameLst>
                                          <p:attrName>ppt_h</p:attrName>
                                        </p:attrNameLst>
                                      </p:cBhvr>
                                      <p:tavLst>
                                        <p:tav tm="0">
                                          <p:val>
                                            <p:fltVal val="0"/>
                                          </p:val>
                                        </p:tav>
                                        <p:tav tm="100000">
                                          <p:val>
                                            <p:strVal val="#ppt_h"/>
                                          </p:val>
                                        </p:tav>
                                      </p:tavLst>
                                    </p:anim>
                                    <p:animEffect transition="in" filter="fade">
                                      <p:cBhvr>
                                        <p:cTn id="41" dur="500"/>
                                        <p:tgtEl>
                                          <p:spTgt spid="5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65"/>
                                        </p:tgtEl>
                                        <p:attrNameLst>
                                          <p:attrName>style.visibility</p:attrName>
                                        </p:attrNameLst>
                                      </p:cBhvr>
                                      <p:to>
                                        <p:strVal val="visible"/>
                                      </p:to>
                                    </p:set>
                                    <p:anim calcmode="lin" valueType="num">
                                      <p:cBhvr>
                                        <p:cTn id="44" dur="500" fill="hold"/>
                                        <p:tgtEl>
                                          <p:spTgt spid="65"/>
                                        </p:tgtEl>
                                        <p:attrNameLst>
                                          <p:attrName>ppt_w</p:attrName>
                                        </p:attrNameLst>
                                      </p:cBhvr>
                                      <p:tavLst>
                                        <p:tav tm="0">
                                          <p:val>
                                            <p:fltVal val="0"/>
                                          </p:val>
                                        </p:tav>
                                        <p:tav tm="100000">
                                          <p:val>
                                            <p:strVal val="#ppt_w"/>
                                          </p:val>
                                        </p:tav>
                                      </p:tavLst>
                                    </p:anim>
                                    <p:anim calcmode="lin" valueType="num">
                                      <p:cBhvr>
                                        <p:cTn id="45" dur="500" fill="hold"/>
                                        <p:tgtEl>
                                          <p:spTgt spid="65"/>
                                        </p:tgtEl>
                                        <p:attrNameLst>
                                          <p:attrName>ppt_h</p:attrName>
                                        </p:attrNameLst>
                                      </p:cBhvr>
                                      <p:tavLst>
                                        <p:tav tm="0">
                                          <p:val>
                                            <p:fltVal val="0"/>
                                          </p:val>
                                        </p:tav>
                                        <p:tav tm="100000">
                                          <p:val>
                                            <p:strVal val="#ppt_h"/>
                                          </p:val>
                                        </p:tav>
                                      </p:tavLst>
                                    </p:anim>
                                    <p:animEffect transition="in" filter="fade">
                                      <p:cBhvr>
                                        <p:cTn id="46" dur="500"/>
                                        <p:tgtEl>
                                          <p:spTgt spid="65"/>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66"/>
                                        </p:tgtEl>
                                        <p:attrNameLst>
                                          <p:attrName>style.visibility</p:attrName>
                                        </p:attrNameLst>
                                      </p:cBhvr>
                                      <p:to>
                                        <p:strVal val="visible"/>
                                      </p:to>
                                    </p:set>
                                    <p:anim calcmode="lin" valueType="num">
                                      <p:cBhvr>
                                        <p:cTn id="51" dur="500" fill="hold"/>
                                        <p:tgtEl>
                                          <p:spTgt spid="66"/>
                                        </p:tgtEl>
                                        <p:attrNameLst>
                                          <p:attrName>ppt_w</p:attrName>
                                        </p:attrNameLst>
                                      </p:cBhvr>
                                      <p:tavLst>
                                        <p:tav tm="0">
                                          <p:val>
                                            <p:fltVal val="0"/>
                                          </p:val>
                                        </p:tav>
                                        <p:tav tm="100000">
                                          <p:val>
                                            <p:strVal val="#ppt_w"/>
                                          </p:val>
                                        </p:tav>
                                      </p:tavLst>
                                    </p:anim>
                                    <p:anim calcmode="lin" valueType="num">
                                      <p:cBhvr>
                                        <p:cTn id="52" dur="500" fill="hold"/>
                                        <p:tgtEl>
                                          <p:spTgt spid="66"/>
                                        </p:tgtEl>
                                        <p:attrNameLst>
                                          <p:attrName>ppt_h</p:attrName>
                                        </p:attrNameLst>
                                      </p:cBhvr>
                                      <p:tavLst>
                                        <p:tav tm="0">
                                          <p:val>
                                            <p:fltVal val="0"/>
                                          </p:val>
                                        </p:tav>
                                        <p:tav tm="100000">
                                          <p:val>
                                            <p:strVal val="#ppt_h"/>
                                          </p:val>
                                        </p:tav>
                                      </p:tavLst>
                                    </p:anim>
                                    <p:animEffect transition="in" filter="fade">
                                      <p:cBhvr>
                                        <p:cTn id="53"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animBg="1"/>
      <p:bldP spid="53" grpId="0" animBg="1"/>
      <p:bldP spid="54" grpId="0" animBg="1"/>
      <p:bldP spid="58" grpId="0"/>
      <p:bldP spid="65" grpId="0"/>
      <p:bldP spid="6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865426" y="1625374"/>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3</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865426" y="1625374"/>
                <a:ext cx="1017202" cy="369332"/>
              </a:xfrm>
              <a:prstGeom prst="rect">
                <a:avLst/>
              </a:prstGeom>
              <a:blipFill>
                <a:blip r:embed="rId3"/>
                <a:stretch>
                  <a:fillRect l="-1796" r="-16168" b="-30000"/>
                </a:stretch>
              </a:blipFill>
            </p:spPr>
            <p:txBody>
              <a:bodyPr/>
              <a:lstStyle/>
              <a:p>
                <a:r>
                  <a:rPr lang="zh-CN" altLang="en-US">
                    <a:noFill/>
                  </a:rPr>
                  <a:t> </a:t>
                </a:r>
              </a:p>
            </p:txBody>
          </p:sp>
        </mc:Fallback>
      </mc:AlternateContent>
      <p:sp>
        <p:nvSpPr>
          <p:cNvPr id="6" name="椭圆 5"/>
          <p:cNvSpPr/>
          <p:nvPr/>
        </p:nvSpPr>
        <p:spPr>
          <a:xfrm>
            <a:off x="2473277" y="1391919"/>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dirty="0">
              <a:solidFill>
                <a:schemeClr val="bg1"/>
              </a:solidFill>
              <a:ea typeface="Microsoft YaHei" charset="0"/>
            </a:endParaRPr>
          </a:p>
        </p:txBody>
      </p:sp>
      <p:sp>
        <p:nvSpPr>
          <p:cNvPr id="7" name="矩形 6"/>
          <p:cNvSpPr/>
          <p:nvPr/>
        </p:nvSpPr>
        <p:spPr>
          <a:xfrm>
            <a:off x="1850970" y="197959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0.15</a:t>
            </a:r>
            <a:endParaRPr lang="zh-CN" altLang="en-US" sz="2000" dirty="0">
              <a:ea typeface="Microsoft YaHei" charset="0"/>
            </a:endParaRPr>
          </a:p>
        </p:txBody>
      </p:sp>
      <p:sp>
        <p:nvSpPr>
          <p:cNvPr id="8" name="矩形 7"/>
          <p:cNvSpPr/>
          <p:nvPr/>
        </p:nvSpPr>
        <p:spPr>
          <a:xfrm>
            <a:off x="3257404" y="197959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-0.22</a:t>
            </a:r>
            <a:endParaRPr lang="zh-CN" altLang="en-US" sz="2000" dirty="0">
              <a:ea typeface="Microsoft YaHei" charset="0"/>
            </a:endParaRPr>
          </a:p>
        </p:txBody>
      </p:sp>
      <p:cxnSp>
        <p:nvCxnSpPr>
          <p:cNvPr id="9" name="直接连接符 8"/>
          <p:cNvCxnSpPr>
            <a:cxnSpLocks/>
            <a:stCxn id="6" idx="4"/>
            <a:endCxn id="7" idx="0"/>
          </p:cNvCxnSpPr>
          <p:nvPr/>
        </p:nvCxnSpPr>
        <p:spPr>
          <a:xfrm flipH="1">
            <a:off x="2242856" y="1775096"/>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cxnSpLocks/>
            <a:stCxn id="6" idx="4"/>
            <a:endCxn id="8" idx="0"/>
          </p:cNvCxnSpPr>
          <p:nvPr/>
        </p:nvCxnSpPr>
        <p:spPr>
          <a:xfrm>
            <a:off x="2963312" y="1775096"/>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矩形 16"/>
              <p:cNvSpPr/>
              <p:nvPr/>
            </p:nvSpPr>
            <p:spPr>
              <a:xfrm>
                <a:off x="865426" y="2966053"/>
                <a:ext cx="10104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4</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17" name="矩形 16"/>
              <p:cNvSpPr>
                <a:spLocks noRot="1" noChangeAspect="1" noMove="1" noResize="1" noEditPoints="1" noAdjustHandles="1" noChangeArrowheads="1" noChangeShapeType="1" noTextEdit="1"/>
              </p:cNvSpPr>
              <p:nvPr/>
            </p:nvSpPr>
            <p:spPr>
              <a:xfrm>
                <a:off x="865426" y="2966053"/>
                <a:ext cx="1010468" cy="369332"/>
              </a:xfrm>
              <a:prstGeom prst="rect">
                <a:avLst/>
              </a:prstGeom>
              <a:blipFill>
                <a:blip r:embed="rId4"/>
                <a:stretch>
                  <a:fillRect l="-1807" r="-15663" b="-30000"/>
                </a:stretch>
              </a:blipFill>
            </p:spPr>
            <p:txBody>
              <a:bodyPr/>
              <a:lstStyle/>
              <a:p>
                <a:r>
                  <a:rPr lang="zh-CN" altLang="en-US">
                    <a:noFill/>
                  </a:rPr>
                  <a:t> </a:t>
                </a:r>
              </a:p>
            </p:txBody>
          </p:sp>
        </mc:Fallback>
      </mc:AlternateContent>
      <p:sp>
        <p:nvSpPr>
          <p:cNvPr id="18" name="椭圆 17"/>
          <p:cNvSpPr/>
          <p:nvPr/>
        </p:nvSpPr>
        <p:spPr>
          <a:xfrm>
            <a:off x="2473277" y="2732598"/>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x&lt;4.5</a:t>
            </a:r>
            <a:endParaRPr lang="zh-CN" altLang="en-US" dirty="0">
              <a:solidFill>
                <a:schemeClr val="bg1"/>
              </a:solidFill>
              <a:ea typeface="Microsoft YaHei" charset="0"/>
            </a:endParaRPr>
          </a:p>
        </p:txBody>
      </p:sp>
      <p:sp>
        <p:nvSpPr>
          <p:cNvPr id="19" name="矩形 18"/>
          <p:cNvSpPr/>
          <p:nvPr/>
        </p:nvSpPr>
        <p:spPr>
          <a:xfrm>
            <a:off x="1850970" y="332026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-0.16</a:t>
            </a:r>
            <a:endParaRPr lang="zh-CN" altLang="en-US" sz="2000" dirty="0">
              <a:ea typeface="Microsoft YaHei" charset="0"/>
            </a:endParaRPr>
          </a:p>
        </p:txBody>
      </p:sp>
      <p:sp>
        <p:nvSpPr>
          <p:cNvPr id="20" name="矩形 19"/>
          <p:cNvSpPr/>
          <p:nvPr/>
        </p:nvSpPr>
        <p:spPr>
          <a:xfrm>
            <a:off x="3257404" y="332026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0.11</a:t>
            </a:r>
            <a:endParaRPr lang="zh-CN" altLang="en-US" sz="2000" dirty="0">
              <a:ea typeface="Microsoft YaHei" charset="0"/>
            </a:endParaRPr>
          </a:p>
        </p:txBody>
      </p:sp>
      <p:cxnSp>
        <p:nvCxnSpPr>
          <p:cNvPr id="21" name="直接连接符 20"/>
          <p:cNvCxnSpPr>
            <a:stCxn id="18" idx="4"/>
            <a:endCxn id="19" idx="0"/>
          </p:cNvCxnSpPr>
          <p:nvPr/>
        </p:nvCxnSpPr>
        <p:spPr>
          <a:xfrm flipH="1">
            <a:off x="2242856" y="3115775"/>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8" idx="4"/>
            <a:endCxn id="20" idx="0"/>
          </p:cNvCxnSpPr>
          <p:nvPr/>
        </p:nvCxnSpPr>
        <p:spPr>
          <a:xfrm>
            <a:off x="2963312" y="3115775"/>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22"/>
              <p:cNvSpPr/>
              <p:nvPr/>
            </p:nvSpPr>
            <p:spPr>
              <a:xfrm>
                <a:off x="850585" y="4305536"/>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3" name="矩形 22"/>
              <p:cNvSpPr>
                <a:spLocks noRot="1" noChangeAspect="1" noMove="1" noResize="1" noEditPoints="1" noAdjustHandles="1" noChangeArrowheads="1" noChangeShapeType="1" noTextEdit="1"/>
              </p:cNvSpPr>
              <p:nvPr/>
            </p:nvSpPr>
            <p:spPr>
              <a:xfrm>
                <a:off x="850585" y="4305536"/>
                <a:ext cx="1017202" cy="369332"/>
              </a:xfrm>
              <a:prstGeom prst="rect">
                <a:avLst/>
              </a:prstGeom>
              <a:blipFill>
                <a:blip r:embed="rId5"/>
                <a:stretch>
                  <a:fillRect l="-1807" r="-16867" b="-29508"/>
                </a:stretch>
              </a:blipFill>
            </p:spPr>
            <p:txBody>
              <a:bodyPr/>
              <a:lstStyle/>
              <a:p>
                <a:r>
                  <a:rPr lang="zh-CN" altLang="en-US">
                    <a:noFill/>
                  </a:rPr>
                  <a:t> </a:t>
                </a:r>
              </a:p>
            </p:txBody>
          </p:sp>
        </mc:Fallback>
      </mc:AlternateContent>
      <p:sp>
        <p:nvSpPr>
          <p:cNvPr id="24" name="椭圆 23"/>
          <p:cNvSpPr/>
          <p:nvPr/>
        </p:nvSpPr>
        <p:spPr>
          <a:xfrm>
            <a:off x="2458436" y="4072081"/>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25" name="矩形 24"/>
          <p:cNvSpPr/>
          <p:nvPr/>
        </p:nvSpPr>
        <p:spPr>
          <a:xfrm>
            <a:off x="1836129" y="465975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0.07</a:t>
            </a:r>
            <a:endParaRPr lang="zh-CN" altLang="en-US" sz="2000" dirty="0">
              <a:ea typeface="Microsoft YaHei" charset="0"/>
            </a:endParaRPr>
          </a:p>
        </p:txBody>
      </p:sp>
      <p:sp>
        <p:nvSpPr>
          <p:cNvPr id="26" name="矩形 25"/>
          <p:cNvSpPr/>
          <p:nvPr/>
        </p:nvSpPr>
        <p:spPr>
          <a:xfrm>
            <a:off x="3242563" y="465975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-0.11</a:t>
            </a:r>
            <a:endParaRPr lang="zh-CN" altLang="en-US" sz="2000" dirty="0">
              <a:ea typeface="Microsoft YaHei" charset="0"/>
            </a:endParaRPr>
          </a:p>
        </p:txBody>
      </p:sp>
      <p:cxnSp>
        <p:nvCxnSpPr>
          <p:cNvPr id="27" name="直接连接符 26"/>
          <p:cNvCxnSpPr>
            <a:stCxn id="24" idx="4"/>
            <a:endCxn id="25" idx="0"/>
          </p:cNvCxnSpPr>
          <p:nvPr/>
        </p:nvCxnSpPr>
        <p:spPr>
          <a:xfrm flipH="1">
            <a:off x="2228015" y="4455258"/>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4" idx="4"/>
            <a:endCxn id="26" idx="0"/>
          </p:cNvCxnSpPr>
          <p:nvPr/>
        </p:nvCxnSpPr>
        <p:spPr>
          <a:xfrm>
            <a:off x="2948471" y="4455258"/>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矩形 28"/>
              <p:cNvSpPr/>
              <p:nvPr/>
            </p:nvSpPr>
            <p:spPr>
              <a:xfrm>
                <a:off x="865426" y="5645019"/>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9" name="矩形 28"/>
              <p:cNvSpPr>
                <a:spLocks noRot="1" noChangeAspect="1" noMove="1" noResize="1" noEditPoints="1" noAdjustHandles="1" noChangeArrowheads="1" noChangeShapeType="1" noTextEdit="1"/>
              </p:cNvSpPr>
              <p:nvPr/>
            </p:nvSpPr>
            <p:spPr>
              <a:xfrm>
                <a:off x="865426" y="5645019"/>
                <a:ext cx="1017202" cy="369332"/>
              </a:xfrm>
              <a:prstGeom prst="rect">
                <a:avLst/>
              </a:prstGeom>
              <a:blipFill>
                <a:blip r:embed="rId6"/>
                <a:stretch>
                  <a:fillRect l="-1796" r="-16168" b="-29508"/>
                </a:stretch>
              </a:blipFill>
            </p:spPr>
            <p:txBody>
              <a:bodyPr/>
              <a:lstStyle/>
              <a:p>
                <a:r>
                  <a:rPr lang="zh-CN" altLang="en-US">
                    <a:noFill/>
                  </a:rPr>
                  <a:t> </a:t>
                </a:r>
              </a:p>
            </p:txBody>
          </p:sp>
        </mc:Fallback>
      </mc:AlternateContent>
      <p:sp>
        <p:nvSpPr>
          <p:cNvPr id="30" name="椭圆 29"/>
          <p:cNvSpPr/>
          <p:nvPr/>
        </p:nvSpPr>
        <p:spPr>
          <a:xfrm>
            <a:off x="2473277" y="5411564"/>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x&lt;2.5</a:t>
            </a:r>
            <a:endParaRPr lang="zh-CN" altLang="en-US" dirty="0">
              <a:solidFill>
                <a:schemeClr val="bg1"/>
              </a:solidFill>
              <a:ea typeface="Microsoft YaHei" charset="0"/>
            </a:endParaRPr>
          </a:p>
        </p:txBody>
      </p:sp>
      <p:sp>
        <p:nvSpPr>
          <p:cNvPr id="31" name="矩形 30"/>
          <p:cNvSpPr/>
          <p:nvPr/>
        </p:nvSpPr>
        <p:spPr>
          <a:xfrm>
            <a:off x="1850970" y="5999235"/>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-0.15</a:t>
            </a:r>
            <a:endParaRPr lang="zh-CN" altLang="en-US" sz="2000" dirty="0">
              <a:ea typeface="Microsoft YaHei" charset="0"/>
            </a:endParaRPr>
          </a:p>
        </p:txBody>
      </p:sp>
      <p:sp>
        <p:nvSpPr>
          <p:cNvPr id="32" name="矩形 31"/>
          <p:cNvSpPr/>
          <p:nvPr/>
        </p:nvSpPr>
        <p:spPr>
          <a:xfrm>
            <a:off x="3257404" y="5999235"/>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0.04</a:t>
            </a:r>
            <a:endParaRPr lang="zh-CN" altLang="en-US" sz="2000" dirty="0">
              <a:ea typeface="Microsoft YaHei" charset="0"/>
            </a:endParaRPr>
          </a:p>
        </p:txBody>
      </p:sp>
      <p:cxnSp>
        <p:nvCxnSpPr>
          <p:cNvPr id="33" name="直接连接符 32"/>
          <p:cNvCxnSpPr>
            <a:stCxn id="30" idx="4"/>
            <a:endCxn id="31" idx="0"/>
          </p:cNvCxnSpPr>
          <p:nvPr/>
        </p:nvCxnSpPr>
        <p:spPr>
          <a:xfrm flipH="1">
            <a:off x="2242856" y="5794741"/>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4"/>
            <a:endCxn id="32" idx="0"/>
          </p:cNvCxnSpPr>
          <p:nvPr/>
        </p:nvCxnSpPr>
        <p:spPr>
          <a:xfrm>
            <a:off x="2963312" y="5794741"/>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矩形 35"/>
              <p:cNvSpPr/>
              <p:nvPr/>
            </p:nvSpPr>
            <p:spPr>
              <a:xfrm>
                <a:off x="4452587" y="1572604"/>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3</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0.47</a:t>
                </a:r>
                <a:endParaRPr lang="zh-CN" altLang="en-US" dirty="0">
                  <a:ea typeface="Microsoft YaHei" charset="0"/>
                </a:endParaRPr>
              </a:p>
            </p:txBody>
          </p:sp>
        </mc:Choice>
        <mc:Fallback xmlns="">
          <p:sp>
            <p:nvSpPr>
              <p:cNvPr id="36" name="矩形 35"/>
              <p:cNvSpPr>
                <a:spLocks noRot="1" noChangeAspect="1" noMove="1" noResize="1" noEditPoints="1" noAdjustHandles="1" noChangeArrowheads="1" noChangeShapeType="1" noTextEdit="1"/>
              </p:cNvSpPr>
              <p:nvPr/>
            </p:nvSpPr>
            <p:spPr>
              <a:xfrm>
                <a:off x="4452587" y="1572604"/>
                <a:ext cx="1906548" cy="404983"/>
              </a:xfrm>
              <a:prstGeom prst="rect">
                <a:avLst/>
              </a:prstGeom>
              <a:blipFill rotWithShape="0">
                <a:blip r:embed="rId7"/>
                <a:stretch>
                  <a:fillRect t="-3030" r="-1917" b="-21212"/>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7" name="矩形 36"/>
              <p:cNvSpPr/>
              <p:nvPr/>
            </p:nvSpPr>
            <p:spPr>
              <a:xfrm>
                <a:off x="4461628" y="2930402"/>
                <a:ext cx="1897507"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4</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0.30</a:t>
                </a:r>
                <a:endParaRPr lang="zh-CN" altLang="en-US" dirty="0">
                  <a:ea typeface="Microsoft YaHei" charset="0"/>
                </a:endParaRPr>
              </a:p>
            </p:txBody>
          </p:sp>
        </mc:Choice>
        <mc:Fallback xmlns="">
          <p:sp>
            <p:nvSpPr>
              <p:cNvPr id="37" name="矩形 36"/>
              <p:cNvSpPr>
                <a:spLocks noRot="1" noChangeAspect="1" noMove="1" noResize="1" noEditPoints="1" noAdjustHandles="1" noChangeArrowheads="1" noChangeShapeType="1" noTextEdit="1"/>
              </p:cNvSpPr>
              <p:nvPr/>
            </p:nvSpPr>
            <p:spPr>
              <a:xfrm>
                <a:off x="4461628" y="2930402"/>
                <a:ext cx="1897507" cy="404983"/>
              </a:xfrm>
              <a:prstGeom prst="rect">
                <a:avLst/>
              </a:prstGeom>
              <a:blipFill rotWithShape="0">
                <a:blip r:embed="rId8"/>
                <a:stretch>
                  <a:fillRect t="-3030" r="-1929" b="-21212"/>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38" name="矩形 37"/>
              <p:cNvSpPr/>
              <p:nvPr/>
            </p:nvSpPr>
            <p:spPr>
              <a:xfrm>
                <a:off x="4461628" y="4252766"/>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0.23</a:t>
                </a:r>
                <a:endParaRPr lang="zh-CN" altLang="en-US" dirty="0">
                  <a:ea typeface="Microsoft YaHei" charset="0"/>
                </a:endParaRPr>
              </a:p>
            </p:txBody>
          </p:sp>
        </mc:Choice>
        <mc:Fallback xmlns="">
          <p:sp>
            <p:nvSpPr>
              <p:cNvPr id="38" name="矩形 37"/>
              <p:cNvSpPr>
                <a:spLocks noRot="1" noChangeAspect="1" noMove="1" noResize="1" noEditPoints="1" noAdjustHandles="1" noChangeArrowheads="1" noChangeShapeType="1" noTextEdit="1"/>
              </p:cNvSpPr>
              <p:nvPr/>
            </p:nvSpPr>
            <p:spPr>
              <a:xfrm>
                <a:off x="4461628" y="4252766"/>
                <a:ext cx="1906548" cy="404983"/>
              </a:xfrm>
              <a:prstGeom prst="rect">
                <a:avLst/>
              </a:prstGeom>
              <a:blipFill rotWithShape="0">
                <a:blip r:embed="rId9"/>
                <a:stretch>
                  <a:fillRect t="-3030" r="-1597" b="-21212"/>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40" name="矩形 39"/>
              <p:cNvSpPr/>
              <p:nvPr/>
            </p:nvSpPr>
            <p:spPr>
              <a:xfrm>
                <a:off x="4391889" y="5594252"/>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0.17</a:t>
                </a:r>
                <a:endParaRPr lang="zh-CN" altLang="en-US" dirty="0">
                  <a:ea typeface="Microsoft YaHei" charset="0"/>
                </a:endParaRPr>
              </a:p>
            </p:txBody>
          </p:sp>
        </mc:Choice>
        <mc:Fallback xmlns="">
          <p:sp>
            <p:nvSpPr>
              <p:cNvPr id="40" name="矩形 39"/>
              <p:cNvSpPr>
                <a:spLocks noRot="1" noChangeAspect="1" noMove="1" noResize="1" noEditPoints="1" noAdjustHandles="1" noChangeArrowheads="1" noChangeShapeType="1" noTextEdit="1"/>
              </p:cNvSpPr>
              <p:nvPr/>
            </p:nvSpPr>
            <p:spPr>
              <a:xfrm>
                <a:off x="4391889" y="5594252"/>
                <a:ext cx="1906548" cy="404983"/>
              </a:xfrm>
              <a:prstGeom prst="rect">
                <a:avLst/>
              </a:prstGeom>
              <a:blipFill rotWithShape="0">
                <a:blip r:embed="rId11"/>
                <a:stretch>
                  <a:fillRect t="-3030" r="-1917" b="-21212"/>
                </a:stretch>
              </a:blipFill>
            </p:spPr>
            <p:txBody>
              <a:bodyPr/>
              <a:lstStyle/>
              <a:p>
                <a:r>
                  <a:rPr lang="zh-CN" altLang="en-US">
                    <a:noFill/>
                  </a:rPr>
                  <a:t> </a:t>
                </a:r>
                <a:endParaRPr lang="zh-CN" altLang="en-US">
                  <a:noFill/>
                </a:endParaRPr>
              </a:p>
            </p:txBody>
          </p:sp>
        </mc:Fallback>
      </mc:AlternateContent>
      <p:sp>
        <p:nvSpPr>
          <p:cNvPr id="68"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aphicFrame>
        <p:nvGraphicFramePr>
          <p:cNvPr id="3" name="表格 15">
            <a:extLst>
              <a:ext uri="{FF2B5EF4-FFF2-40B4-BE49-F238E27FC236}">
                <a16:creationId xmlns:a16="http://schemas.microsoft.com/office/drawing/2014/main" id="{74133C1E-0E9D-662D-615C-D357E367F78F}"/>
              </a:ext>
            </a:extLst>
          </p:cNvPr>
          <p:cNvGraphicFramePr>
            <a:graphicFrameLocks noGrp="1"/>
          </p:cNvGraphicFramePr>
          <p:nvPr>
            <p:extLst>
              <p:ext uri="{D42A27DB-BD31-4B8C-83A1-F6EECF244321}">
                <p14:modId xmlns:p14="http://schemas.microsoft.com/office/powerpoint/2010/main" val="3964235343"/>
              </p:ext>
            </p:extLst>
          </p:nvPr>
        </p:nvGraphicFramePr>
        <p:xfrm>
          <a:off x="8788802" y="1667814"/>
          <a:ext cx="2350365" cy="3227070"/>
        </p:xfrm>
        <a:graphic>
          <a:graphicData uri="http://schemas.openxmlformats.org/drawingml/2006/table">
            <a:tbl>
              <a:tblPr firstRow="1" firstCol="1" bandRow="1">
                <a:tableStyleId>{5C22544A-7EE6-4342-B048-85BDC9FD1C3A}</a:tableStyleId>
              </a:tblPr>
              <a:tblGrid>
                <a:gridCol w="1174787">
                  <a:extLst>
                    <a:ext uri="{9D8B030D-6E8A-4147-A177-3AD203B41FA5}">
                      <a16:colId xmlns:a16="http://schemas.microsoft.com/office/drawing/2014/main" val="3761725486"/>
                    </a:ext>
                  </a:extLst>
                </a:gridCol>
                <a:gridCol w="1175578">
                  <a:extLst>
                    <a:ext uri="{9D8B030D-6E8A-4147-A177-3AD203B41FA5}">
                      <a16:colId xmlns:a16="http://schemas.microsoft.com/office/drawing/2014/main" val="2291884616"/>
                    </a:ext>
                  </a:extLst>
                </a:gridCol>
              </a:tblGrid>
              <a:tr h="255231">
                <a:tc>
                  <a:txBody>
                    <a:bodyPr/>
                    <a:lstStyle/>
                    <a:p>
                      <a:pPr algn="ctr"/>
                      <a:r>
                        <a:rPr lang="en-US" sz="1800" kern="0" dirty="0">
                          <a:effectLst/>
                          <a:latin typeface="KaiTi" panose="02010609060101010101" pitchFamily="49" charset="-122"/>
                          <a:ea typeface="KaiTi" panose="02010609060101010101" pitchFamily="49" charset="-122"/>
                        </a:rPr>
                        <a:t>x</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y</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844232833"/>
                  </a:ext>
                </a:extLst>
              </a:tr>
              <a:tr h="255231">
                <a:tc>
                  <a:txBody>
                    <a:bodyPr/>
                    <a:lstStyle/>
                    <a:p>
                      <a:pPr algn="ctr"/>
                      <a:r>
                        <a:rPr lang="en-US" sz="1800" kern="0">
                          <a:effectLst/>
                          <a:latin typeface="KaiTi" panose="02010609060101010101" pitchFamily="49" charset="-122"/>
                          <a:ea typeface="KaiTi" panose="02010609060101010101" pitchFamily="49" charset="-122"/>
                        </a:rPr>
                        <a:t>1</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5.56</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70480225"/>
                  </a:ext>
                </a:extLst>
              </a:tr>
              <a:tr h="255231">
                <a:tc>
                  <a:txBody>
                    <a:bodyPr/>
                    <a:lstStyle/>
                    <a:p>
                      <a:pPr algn="ctr"/>
                      <a:r>
                        <a:rPr lang="en-US" sz="1800" kern="0">
                          <a:effectLst/>
                          <a:latin typeface="KaiTi" panose="02010609060101010101" pitchFamily="49" charset="-122"/>
                          <a:ea typeface="KaiTi" panose="02010609060101010101" pitchFamily="49" charset="-122"/>
                        </a:rPr>
                        <a:t>2</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5.7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113396346"/>
                  </a:ext>
                </a:extLst>
              </a:tr>
              <a:tr h="255231">
                <a:tc>
                  <a:txBody>
                    <a:bodyPr/>
                    <a:lstStyle/>
                    <a:p>
                      <a:pPr algn="ctr"/>
                      <a:r>
                        <a:rPr lang="en-US" sz="1800" kern="0">
                          <a:effectLst/>
                          <a:latin typeface="KaiTi" panose="02010609060101010101" pitchFamily="49" charset="-122"/>
                          <a:ea typeface="KaiTi" panose="02010609060101010101" pitchFamily="49" charset="-122"/>
                        </a:rPr>
                        <a:t>3</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5.91</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10422272"/>
                  </a:ext>
                </a:extLst>
              </a:tr>
              <a:tr h="255231">
                <a:tc>
                  <a:txBody>
                    <a:bodyPr/>
                    <a:lstStyle/>
                    <a:p>
                      <a:pPr algn="ctr"/>
                      <a:r>
                        <a:rPr lang="en-US" sz="1800" kern="0">
                          <a:effectLst/>
                          <a:latin typeface="KaiTi" panose="02010609060101010101" pitchFamily="49" charset="-122"/>
                          <a:ea typeface="KaiTi" panose="02010609060101010101" pitchFamily="49" charset="-122"/>
                        </a:rPr>
                        <a:t>4</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6.4</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72873394"/>
                  </a:ext>
                </a:extLst>
              </a:tr>
              <a:tr h="255231">
                <a:tc>
                  <a:txBody>
                    <a:bodyPr/>
                    <a:lstStyle/>
                    <a:p>
                      <a:pPr algn="ctr"/>
                      <a:r>
                        <a:rPr lang="en-US" sz="1800" kern="0">
                          <a:effectLst/>
                          <a:latin typeface="KaiTi" panose="02010609060101010101" pitchFamily="49" charset="-122"/>
                          <a:ea typeface="KaiTi" panose="02010609060101010101" pitchFamily="49" charset="-122"/>
                        </a:rPr>
                        <a:t>5</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6.8</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338625861"/>
                  </a:ext>
                </a:extLst>
              </a:tr>
              <a:tr h="255231">
                <a:tc>
                  <a:txBody>
                    <a:bodyPr/>
                    <a:lstStyle/>
                    <a:p>
                      <a:pPr algn="ctr"/>
                      <a:r>
                        <a:rPr lang="en-US" sz="1800" kern="0">
                          <a:effectLst/>
                          <a:latin typeface="KaiTi" panose="02010609060101010101" pitchFamily="49" charset="-122"/>
                          <a:ea typeface="KaiTi" panose="02010609060101010101" pitchFamily="49" charset="-122"/>
                        </a:rPr>
                        <a:t>6</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7.05</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39204452"/>
                  </a:ext>
                </a:extLst>
              </a:tr>
              <a:tr h="255231">
                <a:tc>
                  <a:txBody>
                    <a:bodyPr/>
                    <a:lstStyle/>
                    <a:p>
                      <a:pPr algn="ctr"/>
                      <a:r>
                        <a:rPr lang="en-US" sz="1800" kern="0">
                          <a:effectLst/>
                          <a:latin typeface="KaiTi" panose="02010609060101010101" pitchFamily="49" charset="-122"/>
                          <a:ea typeface="KaiTi" panose="02010609060101010101" pitchFamily="49" charset="-122"/>
                        </a:rPr>
                        <a:t>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8.9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83689442"/>
                  </a:ext>
                </a:extLst>
              </a:tr>
              <a:tr h="255231">
                <a:tc>
                  <a:txBody>
                    <a:bodyPr/>
                    <a:lstStyle/>
                    <a:p>
                      <a:pPr algn="ctr"/>
                      <a:r>
                        <a:rPr lang="en-US" sz="1800" kern="0">
                          <a:effectLst/>
                          <a:latin typeface="KaiTi" panose="02010609060101010101" pitchFamily="49" charset="-122"/>
                          <a:ea typeface="KaiTi" panose="02010609060101010101" pitchFamily="49" charset="-122"/>
                        </a:rPr>
                        <a:t>8</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8.7</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712791023"/>
                  </a:ext>
                </a:extLst>
              </a:tr>
              <a:tr h="255231">
                <a:tc>
                  <a:txBody>
                    <a:bodyPr/>
                    <a:lstStyle/>
                    <a:p>
                      <a:pPr algn="ctr"/>
                      <a:r>
                        <a:rPr lang="en-US" sz="1800" kern="0">
                          <a:effectLst/>
                          <a:latin typeface="KaiTi" panose="02010609060101010101" pitchFamily="49" charset="-122"/>
                          <a:ea typeface="KaiTi" panose="02010609060101010101" pitchFamily="49" charset="-122"/>
                        </a:rPr>
                        <a:t>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a:effectLst/>
                          <a:latin typeface="KaiTi" panose="02010609060101010101" pitchFamily="49" charset="-122"/>
                          <a:ea typeface="KaiTi" panose="02010609060101010101" pitchFamily="49" charset="-122"/>
                        </a:rPr>
                        <a:t>9</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90619470"/>
                  </a:ext>
                </a:extLst>
              </a:tr>
              <a:tr h="255231">
                <a:tc>
                  <a:txBody>
                    <a:bodyPr/>
                    <a:lstStyle/>
                    <a:p>
                      <a:pPr algn="ctr"/>
                      <a:r>
                        <a:rPr lang="en-US" sz="1800" kern="0">
                          <a:effectLst/>
                          <a:latin typeface="KaiTi" panose="02010609060101010101" pitchFamily="49" charset="-122"/>
                          <a:ea typeface="KaiTi" panose="02010609060101010101" pitchFamily="49" charset="-122"/>
                        </a:rPr>
                        <a:t>10</a:t>
                      </a:r>
                      <a:endParaRPr lang="zh-CN" sz="1400" kern="10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tc>
                  <a:txBody>
                    <a:bodyPr/>
                    <a:lstStyle/>
                    <a:p>
                      <a:pPr algn="ctr"/>
                      <a:r>
                        <a:rPr lang="en-US" sz="1800" kern="0" dirty="0">
                          <a:effectLst/>
                          <a:latin typeface="KaiTi" panose="02010609060101010101" pitchFamily="49" charset="-122"/>
                          <a:ea typeface="KaiTi" panose="02010609060101010101" pitchFamily="49" charset="-122"/>
                        </a:rPr>
                        <a:t>9.05</a:t>
                      </a:r>
                      <a:endParaRPr lang="zh-CN" sz="1400" kern="100" dirty="0">
                        <a:effectLst/>
                        <a:latin typeface="KaiTi" panose="02010609060101010101" pitchFamily="49" charset="-122"/>
                        <a:ea typeface="KaiTi" panose="02010609060101010101" pitchFamily="49"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721034113"/>
                  </a:ext>
                </a:extLst>
              </a:tr>
            </a:tbl>
          </a:graphicData>
        </a:graphic>
      </p:graphicFrame>
      <p:sp>
        <p:nvSpPr>
          <p:cNvPr id="4" name="Rectangle 2">
            <a:extLst>
              <a:ext uri="{FF2B5EF4-FFF2-40B4-BE49-F238E27FC236}">
                <a16:creationId xmlns:a16="http://schemas.microsoft.com/office/drawing/2014/main" id="{5EF9CA96-9BC0-DCA4-A659-494C3D9C9BD3}"/>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362048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par>
                                <p:cTn id="30" presetID="53" presetClass="entr" presetSubtype="16"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p:cTn id="37" dur="500" fill="hold"/>
                                        <p:tgtEl>
                                          <p:spTgt spid="36"/>
                                        </p:tgtEl>
                                        <p:attrNameLst>
                                          <p:attrName>ppt_w</p:attrName>
                                        </p:attrNameLst>
                                      </p:cBhvr>
                                      <p:tavLst>
                                        <p:tav tm="0">
                                          <p:val>
                                            <p:fltVal val="0"/>
                                          </p:val>
                                        </p:tav>
                                        <p:tav tm="100000">
                                          <p:val>
                                            <p:strVal val="#ppt_w"/>
                                          </p:val>
                                        </p:tav>
                                      </p:tavLst>
                                    </p:anim>
                                    <p:anim calcmode="lin" valueType="num">
                                      <p:cBhvr>
                                        <p:cTn id="38" dur="500" fill="hold"/>
                                        <p:tgtEl>
                                          <p:spTgt spid="36"/>
                                        </p:tgtEl>
                                        <p:attrNameLst>
                                          <p:attrName>ppt_h</p:attrName>
                                        </p:attrNameLst>
                                      </p:cBhvr>
                                      <p:tavLst>
                                        <p:tav tm="0">
                                          <p:val>
                                            <p:fltVal val="0"/>
                                          </p:val>
                                        </p:tav>
                                        <p:tav tm="100000">
                                          <p:val>
                                            <p:strVal val="#ppt_h"/>
                                          </p:val>
                                        </p:tav>
                                      </p:tavLst>
                                    </p:anim>
                                    <p:animEffect transition="in" filter="fade">
                                      <p:cBhvr>
                                        <p:cTn id="39" dur="5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00" fill="hold"/>
                                        <p:tgtEl>
                                          <p:spTgt spid="17"/>
                                        </p:tgtEl>
                                        <p:attrNameLst>
                                          <p:attrName>ppt_w</p:attrName>
                                        </p:attrNameLst>
                                      </p:cBhvr>
                                      <p:tavLst>
                                        <p:tav tm="0">
                                          <p:val>
                                            <p:fltVal val="0"/>
                                          </p:val>
                                        </p:tav>
                                        <p:tav tm="100000">
                                          <p:val>
                                            <p:strVal val="#ppt_w"/>
                                          </p:val>
                                        </p:tav>
                                      </p:tavLst>
                                    </p:anim>
                                    <p:anim calcmode="lin" valueType="num">
                                      <p:cBhvr>
                                        <p:cTn id="45" dur="500" fill="hold"/>
                                        <p:tgtEl>
                                          <p:spTgt spid="17"/>
                                        </p:tgtEl>
                                        <p:attrNameLst>
                                          <p:attrName>ppt_h</p:attrName>
                                        </p:attrNameLst>
                                      </p:cBhvr>
                                      <p:tavLst>
                                        <p:tav tm="0">
                                          <p:val>
                                            <p:fltVal val="0"/>
                                          </p:val>
                                        </p:tav>
                                        <p:tav tm="100000">
                                          <p:val>
                                            <p:strVal val="#ppt_h"/>
                                          </p:val>
                                        </p:tav>
                                      </p:tavLst>
                                    </p:anim>
                                    <p:animEffect transition="in" filter="fade">
                                      <p:cBhvr>
                                        <p:cTn id="46" dur="500"/>
                                        <p:tgtEl>
                                          <p:spTgt spid="17"/>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ppt_w</p:attrName>
                                        </p:attrNameLst>
                                      </p:cBhvr>
                                      <p:tavLst>
                                        <p:tav tm="0">
                                          <p:val>
                                            <p:fltVal val="0"/>
                                          </p:val>
                                        </p:tav>
                                        <p:tav tm="100000">
                                          <p:val>
                                            <p:strVal val="#ppt_w"/>
                                          </p:val>
                                        </p:tav>
                                      </p:tavLst>
                                    </p:anim>
                                    <p:anim calcmode="lin" valueType="num">
                                      <p:cBhvr>
                                        <p:cTn id="50" dur="500" fill="hold"/>
                                        <p:tgtEl>
                                          <p:spTgt spid="18"/>
                                        </p:tgtEl>
                                        <p:attrNameLst>
                                          <p:attrName>ppt_h</p:attrName>
                                        </p:attrNameLst>
                                      </p:cBhvr>
                                      <p:tavLst>
                                        <p:tav tm="0">
                                          <p:val>
                                            <p:fltVal val="0"/>
                                          </p:val>
                                        </p:tav>
                                        <p:tav tm="100000">
                                          <p:val>
                                            <p:strVal val="#ppt_h"/>
                                          </p:val>
                                        </p:tav>
                                      </p:tavLst>
                                    </p:anim>
                                    <p:animEffect transition="in" filter="fade">
                                      <p:cBhvr>
                                        <p:cTn id="51" dur="500"/>
                                        <p:tgtEl>
                                          <p:spTgt spid="18"/>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p:cTn id="59" dur="500" fill="hold"/>
                                        <p:tgtEl>
                                          <p:spTgt spid="20"/>
                                        </p:tgtEl>
                                        <p:attrNameLst>
                                          <p:attrName>ppt_w</p:attrName>
                                        </p:attrNameLst>
                                      </p:cBhvr>
                                      <p:tavLst>
                                        <p:tav tm="0">
                                          <p:val>
                                            <p:fltVal val="0"/>
                                          </p:val>
                                        </p:tav>
                                        <p:tav tm="100000">
                                          <p:val>
                                            <p:strVal val="#ppt_w"/>
                                          </p:val>
                                        </p:tav>
                                      </p:tavLst>
                                    </p:anim>
                                    <p:anim calcmode="lin" valueType="num">
                                      <p:cBhvr>
                                        <p:cTn id="60" dur="500" fill="hold"/>
                                        <p:tgtEl>
                                          <p:spTgt spid="20"/>
                                        </p:tgtEl>
                                        <p:attrNameLst>
                                          <p:attrName>ppt_h</p:attrName>
                                        </p:attrNameLst>
                                      </p:cBhvr>
                                      <p:tavLst>
                                        <p:tav tm="0">
                                          <p:val>
                                            <p:fltVal val="0"/>
                                          </p:val>
                                        </p:tav>
                                        <p:tav tm="100000">
                                          <p:val>
                                            <p:strVal val="#ppt_h"/>
                                          </p:val>
                                        </p:tav>
                                      </p:tavLst>
                                    </p:anim>
                                    <p:animEffect transition="in" filter="fade">
                                      <p:cBhvr>
                                        <p:cTn id="61" dur="500"/>
                                        <p:tgtEl>
                                          <p:spTgt spid="20"/>
                                        </p:tgtEl>
                                      </p:cBhvr>
                                    </p:animEffect>
                                  </p:childTnLst>
                                </p:cTn>
                              </p:par>
                              <p:par>
                                <p:cTn id="62" presetID="53" presetClass="entr" presetSubtype="16"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p:cTn id="64" dur="500" fill="hold"/>
                                        <p:tgtEl>
                                          <p:spTgt spid="21"/>
                                        </p:tgtEl>
                                        <p:attrNameLst>
                                          <p:attrName>ppt_w</p:attrName>
                                        </p:attrNameLst>
                                      </p:cBhvr>
                                      <p:tavLst>
                                        <p:tav tm="0">
                                          <p:val>
                                            <p:fltVal val="0"/>
                                          </p:val>
                                        </p:tav>
                                        <p:tav tm="100000">
                                          <p:val>
                                            <p:strVal val="#ppt_w"/>
                                          </p:val>
                                        </p:tav>
                                      </p:tavLst>
                                    </p:anim>
                                    <p:anim calcmode="lin" valueType="num">
                                      <p:cBhvr>
                                        <p:cTn id="65" dur="500" fill="hold"/>
                                        <p:tgtEl>
                                          <p:spTgt spid="21"/>
                                        </p:tgtEl>
                                        <p:attrNameLst>
                                          <p:attrName>ppt_h</p:attrName>
                                        </p:attrNameLst>
                                      </p:cBhvr>
                                      <p:tavLst>
                                        <p:tav tm="0">
                                          <p:val>
                                            <p:fltVal val="0"/>
                                          </p:val>
                                        </p:tav>
                                        <p:tav tm="100000">
                                          <p:val>
                                            <p:strVal val="#ppt_h"/>
                                          </p:val>
                                        </p:tav>
                                      </p:tavLst>
                                    </p:anim>
                                    <p:animEffect transition="in" filter="fade">
                                      <p:cBhvr>
                                        <p:cTn id="66" dur="500"/>
                                        <p:tgtEl>
                                          <p:spTgt spid="21"/>
                                        </p:tgtEl>
                                      </p:cBhvr>
                                    </p:animEffect>
                                  </p:childTnLst>
                                </p:cTn>
                              </p:par>
                              <p:par>
                                <p:cTn id="67" presetID="53" presetClass="entr" presetSubtype="16"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00" fill="hold"/>
                                        <p:tgtEl>
                                          <p:spTgt spid="22"/>
                                        </p:tgtEl>
                                        <p:attrNameLst>
                                          <p:attrName>ppt_w</p:attrName>
                                        </p:attrNameLst>
                                      </p:cBhvr>
                                      <p:tavLst>
                                        <p:tav tm="0">
                                          <p:val>
                                            <p:fltVal val="0"/>
                                          </p:val>
                                        </p:tav>
                                        <p:tav tm="100000">
                                          <p:val>
                                            <p:strVal val="#ppt_w"/>
                                          </p:val>
                                        </p:tav>
                                      </p:tavLst>
                                    </p:anim>
                                    <p:anim calcmode="lin" valueType="num">
                                      <p:cBhvr>
                                        <p:cTn id="70" dur="500" fill="hold"/>
                                        <p:tgtEl>
                                          <p:spTgt spid="22"/>
                                        </p:tgtEl>
                                        <p:attrNameLst>
                                          <p:attrName>ppt_h</p:attrName>
                                        </p:attrNameLst>
                                      </p:cBhvr>
                                      <p:tavLst>
                                        <p:tav tm="0">
                                          <p:val>
                                            <p:fltVal val="0"/>
                                          </p:val>
                                        </p:tav>
                                        <p:tav tm="100000">
                                          <p:val>
                                            <p:strVal val="#ppt_h"/>
                                          </p:val>
                                        </p:tav>
                                      </p:tavLst>
                                    </p:anim>
                                    <p:animEffect transition="in" filter="fade">
                                      <p:cBhvr>
                                        <p:cTn id="71" dur="500"/>
                                        <p:tgtEl>
                                          <p:spTgt spid="22"/>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 calcmode="lin" valueType="num">
                                      <p:cBhvr>
                                        <p:cTn id="74" dur="500" fill="hold"/>
                                        <p:tgtEl>
                                          <p:spTgt spid="37"/>
                                        </p:tgtEl>
                                        <p:attrNameLst>
                                          <p:attrName>ppt_w</p:attrName>
                                        </p:attrNameLst>
                                      </p:cBhvr>
                                      <p:tavLst>
                                        <p:tav tm="0">
                                          <p:val>
                                            <p:fltVal val="0"/>
                                          </p:val>
                                        </p:tav>
                                        <p:tav tm="100000">
                                          <p:val>
                                            <p:strVal val="#ppt_w"/>
                                          </p:val>
                                        </p:tav>
                                      </p:tavLst>
                                    </p:anim>
                                    <p:anim calcmode="lin" valueType="num">
                                      <p:cBhvr>
                                        <p:cTn id="75" dur="500" fill="hold"/>
                                        <p:tgtEl>
                                          <p:spTgt spid="37"/>
                                        </p:tgtEl>
                                        <p:attrNameLst>
                                          <p:attrName>ppt_h</p:attrName>
                                        </p:attrNameLst>
                                      </p:cBhvr>
                                      <p:tavLst>
                                        <p:tav tm="0">
                                          <p:val>
                                            <p:fltVal val="0"/>
                                          </p:val>
                                        </p:tav>
                                        <p:tav tm="100000">
                                          <p:val>
                                            <p:strVal val="#ppt_h"/>
                                          </p:val>
                                        </p:tav>
                                      </p:tavLst>
                                    </p:anim>
                                    <p:animEffect transition="in" filter="fade">
                                      <p:cBhvr>
                                        <p:cTn id="76" dur="500"/>
                                        <p:tgtEl>
                                          <p:spTgt spid="37"/>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p:cTn id="81" dur="500" fill="hold"/>
                                        <p:tgtEl>
                                          <p:spTgt spid="23"/>
                                        </p:tgtEl>
                                        <p:attrNameLst>
                                          <p:attrName>ppt_w</p:attrName>
                                        </p:attrNameLst>
                                      </p:cBhvr>
                                      <p:tavLst>
                                        <p:tav tm="0">
                                          <p:val>
                                            <p:fltVal val="0"/>
                                          </p:val>
                                        </p:tav>
                                        <p:tav tm="100000">
                                          <p:val>
                                            <p:strVal val="#ppt_w"/>
                                          </p:val>
                                        </p:tav>
                                      </p:tavLst>
                                    </p:anim>
                                    <p:anim calcmode="lin" valueType="num">
                                      <p:cBhvr>
                                        <p:cTn id="82" dur="500" fill="hold"/>
                                        <p:tgtEl>
                                          <p:spTgt spid="23"/>
                                        </p:tgtEl>
                                        <p:attrNameLst>
                                          <p:attrName>ppt_h</p:attrName>
                                        </p:attrNameLst>
                                      </p:cBhvr>
                                      <p:tavLst>
                                        <p:tav tm="0">
                                          <p:val>
                                            <p:fltVal val="0"/>
                                          </p:val>
                                        </p:tav>
                                        <p:tav tm="100000">
                                          <p:val>
                                            <p:strVal val="#ppt_h"/>
                                          </p:val>
                                        </p:tav>
                                      </p:tavLst>
                                    </p:anim>
                                    <p:animEffect transition="in" filter="fade">
                                      <p:cBhvr>
                                        <p:cTn id="83" dur="500"/>
                                        <p:tgtEl>
                                          <p:spTgt spid="23"/>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 calcmode="lin" valueType="num">
                                      <p:cBhvr>
                                        <p:cTn id="86" dur="500" fill="hold"/>
                                        <p:tgtEl>
                                          <p:spTgt spid="24"/>
                                        </p:tgtEl>
                                        <p:attrNameLst>
                                          <p:attrName>ppt_w</p:attrName>
                                        </p:attrNameLst>
                                      </p:cBhvr>
                                      <p:tavLst>
                                        <p:tav tm="0">
                                          <p:val>
                                            <p:fltVal val="0"/>
                                          </p:val>
                                        </p:tav>
                                        <p:tav tm="100000">
                                          <p:val>
                                            <p:strVal val="#ppt_w"/>
                                          </p:val>
                                        </p:tav>
                                      </p:tavLst>
                                    </p:anim>
                                    <p:anim calcmode="lin" valueType="num">
                                      <p:cBhvr>
                                        <p:cTn id="87" dur="500" fill="hold"/>
                                        <p:tgtEl>
                                          <p:spTgt spid="24"/>
                                        </p:tgtEl>
                                        <p:attrNameLst>
                                          <p:attrName>ppt_h</p:attrName>
                                        </p:attrNameLst>
                                      </p:cBhvr>
                                      <p:tavLst>
                                        <p:tav tm="0">
                                          <p:val>
                                            <p:fltVal val="0"/>
                                          </p:val>
                                        </p:tav>
                                        <p:tav tm="100000">
                                          <p:val>
                                            <p:strVal val="#ppt_h"/>
                                          </p:val>
                                        </p:tav>
                                      </p:tavLst>
                                    </p:anim>
                                    <p:animEffect transition="in" filter="fade">
                                      <p:cBhvr>
                                        <p:cTn id="88" dur="500"/>
                                        <p:tgtEl>
                                          <p:spTgt spid="24"/>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p:cTn id="91" dur="500" fill="hold"/>
                                        <p:tgtEl>
                                          <p:spTgt spid="25"/>
                                        </p:tgtEl>
                                        <p:attrNameLst>
                                          <p:attrName>ppt_w</p:attrName>
                                        </p:attrNameLst>
                                      </p:cBhvr>
                                      <p:tavLst>
                                        <p:tav tm="0">
                                          <p:val>
                                            <p:fltVal val="0"/>
                                          </p:val>
                                        </p:tav>
                                        <p:tav tm="100000">
                                          <p:val>
                                            <p:strVal val="#ppt_w"/>
                                          </p:val>
                                        </p:tav>
                                      </p:tavLst>
                                    </p:anim>
                                    <p:anim calcmode="lin" valueType="num">
                                      <p:cBhvr>
                                        <p:cTn id="92" dur="500" fill="hold"/>
                                        <p:tgtEl>
                                          <p:spTgt spid="25"/>
                                        </p:tgtEl>
                                        <p:attrNameLst>
                                          <p:attrName>ppt_h</p:attrName>
                                        </p:attrNameLst>
                                      </p:cBhvr>
                                      <p:tavLst>
                                        <p:tav tm="0">
                                          <p:val>
                                            <p:fltVal val="0"/>
                                          </p:val>
                                        </p:tav>
                                        <p:tav tm="100000">
                                          <p:val>
                                            <p:strVal val="#ppt_h"/>
                                          </p:val>
                                        </p:tav>
                                      </p:tavLst>
                                    </p:anim>
                                    <p:animEffect transition="in" filter="fade">
                                      <p:cBhvr>
                                        <p:cTn id="93" dur="500"/>
                                        <p:tgtEl>
                                          <p:spTgt spid="25"/>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p:cTn id="96" dur="500" fill="hold"/>
                                        <p:tgtEl>
                                          <p:spTgt spid="26"/>
                                        </p:tgtEl>
                                        <p:attrNameLst>
                                          <p:attrName>ppt_w</p:attrName>
                                        </p:attrNameLst>
                                      </p:cBhvr>
                                      <p:tavLst>
                                        <p:tav tm="0">
                                          <p:val>
                                            <p:fltVal val="0"/>
                                          </p:val>
                                        </p:tav>
                                        <p:tav tm="100000">
                                          <p:val>
                                            <p:strVal val="#ppt_w"/>
                                          </p:val>
                                        </p:tav>
                                      </p:tavLst>
                                    </p:anim>
                                    <p:anim calcmode="lin" valueType="num">
                                      <p:cBhvr>
                                        <p:cTn id="97" dur="500" fill="hold"/>
                                        <p:tgtEl>
                                          <p:spTgt spid="26"/>
                                        </p:tgtEl>
                                        <p:attrNameLst>
                                          <p:attrName>ppt_h</p:attrName>
                                        </p:attrNameLst>
                                      </p:cBhvr>
                                      <p:tavLst>
                                        <p:tav tm="0">
                                          <p:val>
                                            <p:fltVal val="0"/>
                                          </p:val>
                                        </p:tav>
                                        <p:tav tm="100000">
                                          <p:val>
                                            <p:strVal val="#ppt_h"/>
                                          </p:val>
                                        </p:tav>
                                      </p:tavLst>
                                    </p:anim>
                                    <p:animEffect transition="in" filter="fade">
                                      <p:cBhvr>
                                        <p:cTn id="98" dur="500"/>
                                        <p:tgtEl>
                                          <p:spTgt spid="26"/>
                                        </p:tgtEl>
                                      </p:cBhvr>
                                    </p:animEffect>
                                  </p:childTnLst>
                                </p:cTn>
                              </p:par>
                              <p:par>
                                <p:cTn id="99" presetID="53" presetClass="entr" presetSubtype="16" fill="hold" nodeType="withEffect">
                                  <p:stCondLst>
                                    <p:cond delay="0"/>
                                  </p:stCondLst>
                                  <p:childTnLst>
                                    <p:set>
                                      <p:cBhvr>
                                        <p:cTn id="100" dur="1" fill="hold">
                                          <p:stCondLst>
                                            <p:cond delay="0"/>
                                          </p:stCondLst>
                                        </p:cTn>
                                        <p:tgtEl>
                                          <p:spTgt spid="27"/>
                                        </p:tgtEl>
                                        <p:attrNameLst>
                                          <p:attrName>style.visibility</p:attrName>
                                        </p:attrNameLst>
                                      </p:cBhvr>
                                      <p:to>
                                        <p:strVal val="visible"/>
                                      </p:to>
                                    </p:set>
                                    <p:anim calcmode="lin" valueType="num">
                                      <p:cBhvr>
                                        <p:cTn id="101" dur="500" fill="hold"/>
                                        <p:tgtEl>
                                          <p:spTgt spid="27"/>
                                        </p:tgtEl>
                                        <p:attrNameLst>
                                          <p:attrName>ppt_w</p:attrName>
                                        </p:attrNameLst>
                                      </p:cBhvr>
                                      <p:tavLst>
                                        <p:tav tm="0">
                                          <p:val>
                                            <p:fltVal val="0"/>
                                          </p:val>
                                        </p:tav>
                                        <p:tav tm="100000">
                                          <p:val>
                                            <p:strVal val="#ppt_w"/>
                                          </p:val>
                                        </p:tav>
                                      </p:tavLst>
                                    </p:anim>
                                    <p:anim calcmode="lin" valueType="num">
                                      <p:cBhvr>
                                        <p:cTn id="102" dur="500" fill="hold"/>
                                        <p:tgtEl>
                                          <p:spTgt spid="27"/>
                                        </p:tgtEl>
                                        <p:attrNameLst>
                                          <p:attrName>ppt_h</p:attrName>
                                        </p:attrNameLst>
                                      </p:cBhvr>
                                      <p:tavLst>
                                        <p:tav tm="0">
                                          <p:val>
                                            <p:fltVal val="0"/>
                                          </p:val>
                                        </p:tav>
                                        <p:tav tm="100000">
                                          <p:val>
                                            <p:strVal val="#ppt_h"/>
                                          </p:val>
                                        </p:tav>
                                      </p:tavLst>
                                    </p:anim>
                                    <p:animEffect transition="in" filter="fade">
                                      <p:cBhvr>
                                        <p:cTn id="103" dur="500"/>
                                        <p:tgtEl>
                                          <p:spTgt spid="27"/>
                                        </p:tgtEl>
                                      </p:cBhvr>
                                    </p:animEffect>
                                  </p:childTnLst>
                                </p:cTn>
                              </p:par>
                              <p:par>
                                <p:cTn id="104" presetID="53" presetClass="entr" presetSubtype="16" fill="hold" nodeType="withEffect">
                                  <p:stCondLst>
                                    <p:cond delay="0"/>
                                  </p:stCondLst>
                                  <p:childTnLst>
                                    <p:set>
                                      <p:cBhvr>
                                        <p:cTn id="105" dur="1" fill="hold">
                                          <p:stCondLst>
                                            <p:cond delay="0"/>
                                          </p:stCondLst>
                                        </p:cTn>
                                        <p:tgtEl>
                                          <p:spTgt spid="28"/>
                                        </p:tgtEl>
                                        <p:attrNameLst>
                                          <p:attrName>style.visibility</p:attrName>
                                        </p:attrNameLst>
                                      </p:cBhvr>
                                      <p:to>
                                        <p:strVal val="visible"/>
                                      </p:to>
                                    </p:set>
                                    <p:anim calcmode="lin" valueType="num">
                                      <p:cBhvr>
                                        <p:cTn id="106" dur="500" fill="hold"/>
                                        <p:tgtEl>
                                          <p:spTgt spid="28"/>
                                        </p:tgtEl>
                                        <p:attrNameLst>
                                          <p:attrName>ppt_w</p:attrName>
                                        </p:attrNameLst>
                                      </p:cBhvr>
                                      <p:tavLst>
                                        <p:tav tm="0">
                                          <p:val>
                                            <p:fltVal val="0"/>
                                          </p:val>
                                        </p:tav>
                                        <p:tav tm="100000">
                                          <p:val>
                                            <p:strVal val="#ppt_w"/>
                                          </p:val>
                                        </p:tav>
                                      </p:tavLst>
                                    </p:anim>
                                    <p:anim calcmode="lin" valueType="num">
                                      <p:cBhvr>
                                        <p:cTn id="107" dur="500" fill="hold"/>
                                        <p:tgtEl>
                                          <p:spTgt spid="28"/>
                                        </p:tgtEl>
                                        <p:attrNameLst>
                                          <p:attrName>ppt_h</p:attrName>
                                        </p:attrNameLst>
                                      </p:cBhvr>
                                      <p:tavLst>
                                        <p:tav tm="0">
                                          <p:val>
                                            <p:fltVal val="0"/>
                                          </p:val>
                                        </p:tav>
                                        <p:tav tm="100000">
                                          <p:val>
                                            <p:strVal val="#ppt_h"/>
                                          </p:val>
                                        </p:tav>
                                      </p:tavLst>
                                    </p:anim>
                                    <p:animEffect transition="in" filter="fade">
                                      <p:cBhvr>
                                        <p:cTn id="108" dur="500"/>
                                        <p:tgtEl>
                                          <p:spTgt spid="28"/>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 calcmode="lin" valueType="num">
                                      <p:cBhvr>
                                        <p:cTn id="111" dur="500" fill="hold"/>
                                        <p:tgtEl>
                                          <p:spTgt spid="38"/>
                                        </p:tgtEl>
                                        <p:attrNameLst>
                                          <p:attrName>ppt_w</p:attrName>
                                        </p:attrNameLst>
                                      </p:cBhvr>
                                      <p:tavLst>
                                        <p:tav tm="0">
                                          <p:val>
                                            <p:fltVal val="0"/>
                                          </p:val>
                                        </p:tav>
                                        <p:tav tm="100000">
                                          <p:val>
                                            <p:strVal val="#ppt_w"/>
                                          </p:val>
                                        </p:tav>
                                      </p:tavLst>
                                    </p:anim>
                                    <p:anim calcmode="lin" valueType="num">
                                      <p:cBhvr>
                                        <p:cTn id="112" dur="500" fill="hold"/>
                                        <p:tgtEl>
                                          <p:spTgt spid="38"/>
                                        </p:tgtEl>
                                        <p:attrNameLst>
                                          <p:attrName>ppt_h</p:attrName>
                                        </p:attrNameLst>
                                      </p:cBhvr>
                                      <p:tavLst>
                                        <p:tav tm="0">
                                          <p:val>
                                            <p:fltVal val="0"/>
                                          </p:val>
                                        </p:tav>
                                        <p:tav tm="100000">
                                          <p:val>
                                            <p:strVal val="#ppt_h"/>
                                          </p:val>
                                        </p:tav>
                                      </p:tavLst>
                                    </p:anim>
                                    <p:animEffect transition="in" filter="fade">
                                      <p:cBhvr>
                                        <p:cTn id="113" dur="500"/>
                                        <p:tgtEl>
                                          <p:spTgt spid="38"/>
                                        </p:tgtEl>
                                      </p:cBhvr>
                                    </p:animEffect>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grpId="0" nodeType="clickEffect">
                                  <p:stCondLst>
                                    <p:cond delay="0"/>
                                  </p:stCondLst>
                                  <p:childTnLst>
                                    <p:set>
                                      <p:cBhvr>
                                        <p:cTn id="117" dur="1" fill="hold">
                                          <p:stCondLst>
                                            <p:cond delay="0"/>
                                          </p:stCondLst>
                                        </p:cTn>
                                        <p:tgtEl>
                                          <p:spTgt spid="29"/>
                                        </p:tgtEl>
                                        <p:attrNameLst>
                                          <p:attrName>style.visibility</p:attrName>
                                        </p:attrNameLst>
                                      </p:cBhvr>
                                      <p:to>
                                        <p:strVal val="visible"/>
                                      </p:to>
                                    </p:set>
                                    <p:anim calcmode="lin" valueType="num">
                                      <p:cBhvr>
                                        <p:cTn id="118" dur="500" fill="hold"/>
                                        <p:tgtEl>
                                          <p:spTgt spid="29"/>
                                        </p:tgtEl>
                                        <p:attrNameLst>
                                          <p:attrName>ppt_w</p:attrName>
                                        </p:attrNameLst>
                                      </p:cBhvr>
                                      <p:tavLst>
                                        <p:tav tm="0">
                                          <p:val>
                                            <p:fltVal val="0"/>
                                          </p:val>
                                        </p:tav>
                                        <p:tav tm="100000">
                                          <p:val>
                                            <p:strVal val="#ppt_w"/>
                                          </p:val>
                                        </p:tav>
                                      </p:tavLst>
                                    </p:anim>
                                    <p:anim calcmode="lin" valueType="num">
                                      <p:cBhvr>
                                        <p:cTn id="119" dur="500" fill="hold"/>
                                        <p:tgtEl>
                                          <p:spTgt spid="29"/>
                                        </p:tgtEl>
                                        <p:attrNameLst>
                                          <p:attrName>ppt_h</p:attrName>
                                        </p:attrNameLst>
                                      </p:cBhvr>
                                      <p:tavLst>
                                        <p:tav tm="0">
                                          <p:val>
                                            <p:fltVal val="0"/>
                                          </p:val>
                                        </p:tav>
                                        <p:tav tm="100000">
                                          <p:val>
                                            <p:strVal val="#ppt_h"/>
                                          </p:val>
                                        </p:tav>
                                      </p:tavLst>
                                    </p:anim>
                                    <p:animEffect transition="in" filter="fade">
                                      <p:cBhvr>
                                        <p:cTn id="120" dur="500"/>
                                        <p:tgtEl>
                                          <p:spTgt spid="29"/>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30"/>
                                        </p:tgtEl>
                                        <p:attrNameLst>
                                          <p:attrName>style.visibility</p:attrName>
                                        </p:attrNameLst>
                                      </p:cBhvr>
                                      <p:to>
                                        <p:strVal val="visible"/>
                                      </p:to>
                                    </p:set>
                                    <p:anim calcmode="lin" valueType="num">
                                      <p:cBhvr>
                                        <p:cTn id="123" dur="500" fill="hold"/>
                                        <p:tgtEl>
                                          <p:spTgt spid="30"/>
                                        </p:tgtEl>
                                        <p:attrNameLst>
                                          <p:attrName>ppt_w</p:attrName>
                                        </p:attrNameLst>
                                      </p:cBhvr>
                                      <p:tavLst>
                                        <p:tav tm="0">
                                          <p:val>
                                            <p:fltVal val="0"/>
                                          </p:val>
                                        </p:tav>
                                        <p:tav tm="100000">
                                          <p:val>
                                            <p:strVal val="#ppt_w"/>
                                          </p:val>
                                        </p:tav>
                                      </p:tavLst>
                                    </p:anim>
                                    <p:anim calcmode="lin" valueType="num">
                                      <p:cBhvr>
                                        <p:cTn id="124" dur="500" fill="hold"/>
                                        <p:tgtEl>
                                          <p:spTgt spid="30"/>
                                        </p:tgtEl>
                                        <p:attrNameLst>
                                          <p:attrName>ppt_h</p:attrName>
                                        </p:attrNameLst>
                                      </p:cBhvr>
                                      <p:tavLst>
                                        <p:tav tm="0">
                                          <p:val>
                                            <p:fltVal val="0"/>
                                          </p:val>
                                        </p:tav>
                                        <p:tav tm="100000">
                                          <p:val>
                                            <p:strVal val="#ppt_h"/>
                                          </p:val>
                                        </p:tav>
                                      </p:tavLst>
                                    </p:anim>
                                    <p:animEffect transition="in" filter="fade">
                                      <p:cBhvr>
                                        <p:cTn id="125" dur="500"/>
                                        <p:tgtEl>
                                          <p:spTgt spid="30"/>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31"/>
                                        </p:tgtEl>
                                        <p:attrNameLst>
                                          <p:attrName>style.visibility</p:attrName>
                                        </p:attrNameLst>
                                      </p:cBhvr>
                                      <p:to>
                                        <p:strVal val="visible"/>
                                      </p:to>
                                    </p:set>
                                    <p:anim calcmode="lin" valueType="num">
                                      <p:cBhvr>
                                        <p:cTn id="128" dur="500" fill="hold"/>
                                        <p:tgtEl>
                                          <p:spTgt spid="31"/>
                                        </p:tgtEl>
                                        <p:attrNameLst>
                                          <p:attrName>ppt_w</p:attrName>
                                        </p:attrNameLst>
                                      </p:cBhvr>
                                      <p:tavLst>
                                        <p:tav tm="0">
                                          <p:val>
                                            <p:fltVal val="0"/>
                                          </p:val>
                                        </p:tav>
                                        <p:tav tm="100000">
                                          <p:val>
                                            <p:strVal val="#ppt_w"/>
                                          </p:val>
                                        </p:tav>
                                      </p:tavLst>
                                    </p:anim>
                                    <p:anim calcmode="lin" valueType="num">
                                      <p:cBhvr>
                                        <p:cTn id="129" dur="500" fill="hold"/>
                                        <p:tgtEl>
                                          <p:spTgt spid="31"/>
                                        </p:tgtEl>
                                        <p:attrNameLst>
                                          <p:attrName>ppt_h</p:attrName>
                                        </p:attrNameLst>
                                      </p:cBhvr>
                                      <p:tavLst>
                                        <p:tav tm="0">
                                          <p:val>
                                            <p:fltVal val="0"/>
                                          </p:val>
                                        </p:tav>
                                        <p:tav tm="100000">
                                          <p:val>
                                            <p:strVal val="#ppt_h"/>
                                          </p:val>
                                        </p:tav>
                                      </p:tavLst>
                                    </p:anim>
                                    <p:animEffect transition="in" filter="fade">
                                      <p:cBhvr>
                                        <p:cTn id="130" dur="500"/>
                                        <p:tgtEl>
                                          <p:spTgt spid="31"/>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500" fill="hold"/>
                                        <p:tgtEl>
                                          <p:spTgt spid="32"/>
                                        </p:tgtEl>
                                        <p:attrNameLst>
                                          <p:attrName>ppt_w</p:attrName>
                                        </p:attrNameLst>
                                      </p:cBhvr>
                                      <p:tavLst>
                                        <p:tav tm="0">
                                          <p:val>
                                            <p:fltVal val="0"/>
                                          </p:val>
                                        </p:tav>
                                        <p:tav tm="100000">
                                          <p:val>
                                            <p:strVal val="#ppt_w"/>
                                          </p:val>
                                        </p:tav>
                                      </p:tavLst>
                                    </p:anim>
                                    <p:anim calcmode="lin" valueType="num">
                                      <p:cBhvr>
                                        <p:cTn id="134" dur="500" fill="hold"/>
                                        <p:tgtEl>
                                          <p:spTgt spid="32"/>
                                        </p:tgtEl>
                                        <p:attrNameLst>
                                          <p:attrName>ppt_h</p:attrName>
                                        </p:attrNameLst>
                                      </p:cBhvr>
                                      <p:tavLst>
                                        <p:tav tm="0">
                                          <p:val>
                                            <p:fltVal val="0"/>
                                          </p:val>
                                        </p:tav>
                                        <p:tav tm="100000">
                                          <p:val>
                                            <p:strVal val="#ppt_h"/>
                                          </p:val>
                                        </p:tav>
                                      </p:tavLst>
                                    </p:anim>
                                    <p:animEffect transition="in" filter="fade">
                                      <p:cBhvr>
                                        <p:cTn id="135" dur="500"/>
                                        <p:tgtEl>
                                          <p:spTgt spid="32"/>
                                        </p:tgtEl>
                                      </p:cBhvr>
                                    </p:animEffect>
                                  </p:childTnLst>
                                </p:cTn>
                              </p:par>
                              <p:par>
                                <p:cTn id="136" presetID="53" presetClass="entr" presetSubtype="16" fill="hold" nodeType="withEffect">
                                  <p:stCondLst>
                                    <p:cond delay="0"/>
                                  </p:stCondLst>
                                  <p:childTnLst>
                                    <p:set>
                                      <p:cBhvr>
                                        <p:cTn id="137" dur="1" fill="hold">
                                          <p:stCondLst>
                                            <p:cond delay="0"/>
                                          </p:stCondLst>
                                        </p:cTn>
                                        <p:tgtEl>
                                          <p:spTgt spid="33"/>
                                        </p:tgtEl>
                                        <p:attrNameLst>
                                          <p:attrName>style.visibility</p:attrName>
                                        </p:attrNameLst>
                                      </p:cBhvr>
                                      <p:to>
                                        <p:strVal val="visible"/>
                                      </p:to>
                                    </p:set>
                                    <p:anim calcmode="lin" valueType="num">
                                      <p:cBhvr>
                                        <p:cTn id="138" dur="500" fill="hold"/>
                                        <p:tgtEl>
                                          <p:spTgt spid="33"/>
                                        </p:tgtEl>
                                        <p:attrNameLst>
                                          <p:attrName>ppt_w</p:attrName>
                                        </p:attrNameLst>
                                      </p:cBhvr>
                                      <p:tavLst>
                                        <p:tav tm="0">
                                          <p:val>
                                            <p:fltVal val="0"/>
                                          </p:val>
                                        </p:tav>
                                        <p:tav tm="100000">
                                          <p:val>
                                            <p:strVal val="#ppt_w"/>
                                          </p:val>
                                        </p:tav>
                                      </p:tavLst>
                                    </p:anim>
                                    <p:anim calcmode="lin" valueType="num">
                                      <p:cBhvr>
                                        <p:cTn id="139" dur="500" fill="hold"/>
                                        <p:tgtEl>
                                          <p:spTgt spid="33"/>
                                        </p:tgtEl>
                                        <p:attrNameLst>
                                          <p:attrName>ppt_h</p:attrName>
                                        </p:attrNameLst>
                                      </p:cBhvr>
                                      <p:tavLst>
                                        <p:tav tm="0">
                                          <p:val>
                                            <p:fltVal val="0"/>
                                          </p:val>
                                        </p:tav>
                                        <p:tav tm="100000">
                                          <p:val>
                                            <p:strVal val="#ppt_h"/>
                                          </p:val>
                                        </p:tav>
                                      </p:tavLst>
                                    </p:anim>
                                    <p:animEffect transition="in" filter="fade">
                                      <p:cBhvr>
                                        <p:cTn id="140" dur="500"/>
                                        <p:tgtEl>
                                          <p:spTgt spid="33"/>
                                        </p:tgtEl>
                                      </p:cBhvr>
                                    </p:animEffect>
                                  </p:childTnLst>
                                </p:cTn>
                              </p:par>
                              <p:par>
                                <p:cTn id="141" presetID="53" presetClass="entr" presetSubtype="16" fill="hold" nodeType="withEffect">
                                  <p:stCondLst>
                                    <p:cond delay="0"/>
                                  </p:stCondLst>
                                  <p:childTnLst>
                                    <p:set>
                                      <p:cBhvr>
                                        <p:cTn id="142" dur="1" fill="hold">
                                          <p:stCondLst>
                                            <p:cond delay="0"/>
                                          </p:stCondLst>
                                        </p:cTn>
                                        <p:tgtEl>
                                          <p:spTgt spid="34"/>
                                        </p:tgtEl>
                                        <p:attrNameLst>
                                          <p:attrName>style.visibility</p:attrName>
                                        </p:attrNameLst>
                                      </p:cBhvr>
                                      <p:to>
                                        <p:strVal val="visible"/>
                                      </p:to>
                                    </p:set>
                                    <p:anim calcmode="lin" valueType="num">
                                      <p:cBhvr>
                                        <p:cTn id="143" dur="500" fill="hold"/>
                                        <p:tgtEl>
                                          <p:spTgt spid="34"/>
                                        </p:tgtEl>
                                        <p:attrNameLst>
                                          <p:attrName>ppt_w</p:attrName>
                                        </p:attrNameLst>
                                      </p:cBhvr>
                                      <p:tavLst>
                                        <p:tav tm="0">
                                          <p:val>
                                            <p:fltVal val="0"/>
                                          </p:val>
                                        </p:tav>
                                        <p:tav tm="100000">
                                          <p:val>
                                            <p:strVal val="#ppt_w"/>
                                          </p:val>
                                        </p:tav>
                                      </p:tavLst>
                                    </p:anim>
                                    <p:anim calcmode="lin" valueType="num">
                                      <p:cBhvr>
                                        <p:cTn id="144" dur="500" fill="hold"/>
                                        <p:tgtEl>
                                          <p:spTgt spid="34"/>
                                        </p:tgtEl>
                                        <p:attrNameLst>
                                          <p:attrName>ppt_h</p:attrName>
                                        </p:attrNameLst>
                                      </p:cBhvr>
                                      <p:tavLst>
                                        <p:tav tm="0">
                                          <p:val>
                                            <p:fltVal val="0"/>
                                          </p:val>
                                        </p:tav>
                                        <p:tav tm="100000">
                                          <p:val>
                                            <p:strVal val="#ppt_h"/>
                                          </p:val>
                                        </p:tav>
                                      </p:tavLst>
                                    </p:anim>
                                    <p:animEffect transition="in" filter="fade">
                                      <p:cBhvr>
                                        <p:cTn id="145" dur="500"/>
                                        <p:tgtEl>
                                          <p:spTgt spid="34"/>
                                        </p:tgtEl>
                                      </p:cBhvr>
                                    </p:animEffect>
                                  </p:childTnLst>
                                </p:cTn>
                              </p:par>
                              <p:par>
                                <p:cTn id="146" presetID="53" presetClass="entr" presetSubtype="16" fill="hold" grpId="0" nodeType="withEffect">
                                  <p:stCondLst>
                                    <p:cond delay="0"/>
                                  </p:stCondLst>
                                  <p:childTnLst>
                                    <p:set>
                                      <p:cBhvr>
                                        <p:cTn id="147" dur="1" fill="hold">
                                          <p:stCondLst>
                                            <p:cond delay="0"/>
                                          </p:stCondLst>
                                        </p:cTn>
                                        <p:tgtEl>
                                          <p:spTgt spid="40"/>
                                        </p:tgtEl>
                                        <p:attrNameLst>
                                          <p:attrName>style.visibility</p:attrName>
                                        </p:attrNameLst>
                                      </p:cBhvr>
                                      <p:to>
                                        <p:strVal val="visible"/>
                                      </p:to>
                                    </p:set>
                                    <p:anim calcmode="lin" valueType="num">
                                      <p:cBhvr>
                                        <p:cTn id="148" dur="500" fill="hold"/>
                                        <p:tgtEl>
                                          <p:spTgt spid="40"/>
                                        </p:tgtEl>
                                        <p:attrNameLst>
                                          <p:attrName>ppt_w</p:attrName>
                                        </p:attrNameLst>
                                      </p:cBhvr>
                                      <p:tavLst>
                                        <p:tav tm="0">
                                          <p:val>
                                            <p:fltVal val="0"/>
                                          </p:val>
                                        </p:tav>
                                        <p:tav tm="100000">
                                          <p:val>
                                            <p:strVal val="#ppt_w"/>
                                          </p:val>
                                        </p:tav>
                                      </p:tavLst>
                                    </p:anim>
                                    <p:anim calcmode="lin" valueType="num">
                                      <p:cBhvr>
                                        <p:cTn id="149" dur="500" fill="hold"/>
                                        <p:tgtEl>
                                          <p:spTgt spid="40"/>
                                        </p:tgtEl>
                                        <p:attrNameLst>
                                          <p:attrName>ppt_h</p:attrName>
                                        </p:attrNameLst>
                                      </p:cBhvr>
                                      <p:tavLst>
                                        <p:tav tm="0">
                                          <p:val>
                                            <p:fltVal val="0"/>
                                          </p:val>
                                        </p:tav>
                                        <p:tav tm="100000">
                                          <p:val>
                                            <p:strVal val="#ppt_h"/>
                                          </p:val>
                                        </p:tav>
                                      </p:tavLst>
                                    </p:anim>
                                    <p:animEffect transition="in" filter="fade">
                                      <p:cBhvr>
                                        <p:cTn id="150" dur="500"/>
                                        <p:tgtEl>
                                          <p:spTgt spid="40"/>
                                        </p:tgtEl>
                                      </p:cBhvr>
                                    </p:animEffect>
                                  </p:childTnLst>
                                </p:cTn>
                              </p:par>
                            </p:childTnLst>
                          </p:cTn>
                        </p:par>
                      </p:childTnLst>
                    </p:cTn>
                  </p:par>
                  <p:par>
                    <p:cTn id="151" fill="hold">
                      <p:stCondLst>
                        <p:cond delay="indefinite"/>
                      </p:stCondLst>
                      <p:childTnLst>
                        <p:par>
                          <p:cTn id="152" fill="hold">
                            <p:stCondLst>
                              <p:cond delay="0"/>
                            </p:stCondLst>
                            <p:childTnLst>
                              <p:par>
                                <p:cTn id="153" presetID="53" presetClass="exit" presetSubtype="32" fill="hold" grpId="1" nodeType="clickEffect">
                                  <p:stCondLst>
                                    <p:cond delay="0"/>
                                  </p:stCondLst>
                                  <p:childTnLst>
                                    <p:anim calcmode="lin" valueType="num">
                                      <p:cBhvr>
                                        <p:cTn id="154" dur="500"/>
                                        <p:tgtEl>
                                          <p:spTgt spid="36"/>
                                        </p:tgtEl>
                                        <p:attrNameLst>
                                          <p:attrName>ppt_w</p:attrName>
                                        </p:attrNameLst>
                                      </p:cBhvr>
                                      <p:tavLst>
                                        <p:tav tm="0">
                                          <p:val>
                                            <p:strVal val="ppt_w"/>
                                          </p:val>
                                        </p:tav>
                                        <p:tav tm="100000">
                                          <p:val>
                                            <p:fltVal val="0"/>
                                          </p:val>
                                        </p:tav>
                                      </p:tavLst>
                                    </p:anim>
                                    <p:anim calcmode="lin" valueType="num">
                                      <p:cBhvr>
                                        <p:cTn id="155" dur="500"/>
                                        <p:tgtEl>
                                          <p:spTgt spid="36"/>
                                        </p:tgtEl>
                                        <p:attrNameLst>
                                          <p:attrName>ppt_h</p:attrName>
                                        </p:attrNameLst>
                                      </p:cBhvr>
                                      <p:tavLst>
                                        <p:tav tm="0">
                                          <p:val>
                                            <p:strVal val="ppt_h"/>
                                          </p:val>
                                        </p:tav>
                                        <p:tav tm="100000">
                                          <p:val>
                                            <p:fltVal val="0"/>
                                          </p:val>
                                        </p:tav>
                                      </p:tavLst>
                                    </p:anim>
                                    <p:animEffect transition="out" filter="fade">
                                      <p:cBhvr>
                                        <p:cTn id="156" dur="500"/>
                                        <p:tgtEl>
                                          <p:spTgt spid="36"/>
                                        </p:tgtEl>
                                      </p:cBhvr>
                                    </p:animEffect>
                                    <p:set>
                                      <p:cBhvr>
                                        <p:cTn id="157" dur="1" fill="hold">
                                          <p:stCondLst>
                                            <p:cond delay="499"/>
                                          </p:stCondLst>
                                        </p:cTn>
                                        <p:tgtEl>
                                          <p:spTgt spid="36"/>
                                        </p:tgtEl>
                                        <p:attrNameLst>
                                          <p:attrName>style.visibility</p:attrName>
                                        </p:attrNameLst>
                                      </p:cBhvr>
                                      <p:to>
                                        <p:strVal val="hidden"/>
                                      </p:to>
                                    </p:set>
                                  </p:childTnLst>
                                </p:cTn>
                              </p:par>
                              <p:par>
                                <p:cTn id="158" presetID="53" presetClass="exit" presetSubtype="32" fill="hold" grpId="1" nodeType="withEffect">
                                  <p:stCondLst>
                                    <p:cond delay="0"/>
                                  </p:stCondLst>
                                  <p:childTnLst>
                                    <p:anim calcmode="lin" valueType="num">
                                      <p:cBhvr>
                                        <p:cTn id="159" dur="500"/>
                                        <p:tgtEl>
                                          <p:spTgt spid="37"/>
                                        </p:tgtEl>
                                        <p:attrNameLst>
                                          <p:attrName>ppt_w</p:attrName>
                                        </p:attrNameLst>
                                      </p:cBhvr>
                                      <p:tavLst>
                                        <p:tav tm="0">
                                          <p:val>
                                            <p:strVal val="ppt_w"/>
                                          </p:val>
                                        </p:tav>
                                        <p:tav tm="100000">
                                          <p:val>
                                            <p:fltVal val="0"/>
                                          </p:val>
                                        </p:tav>
                                      </p:tavLst>
                                    </p:anim>
                                    <p:anim calcmode="lin" valueType="num">
                                      <p:cBhvr>
                                        <p:cTn id="160" dur="500"/>
                                        <p:tgtEl>
                                          <p:spTgt spid="37"/>
                                        </p:tgtEl>
                                        <p:attrNameLst>
                                          <p:attrName>ppt_h</p:attrName>
                                        </p:attrNameLst>
                                      </p:cBhvr>
                                      <p:tavLst>
                                        <p:tav tm="0">
                                          <p:val>
                                            <p:strVal val="ppt_h"/>
                                          </p:val>
                                        </p:tav>
                                        <p:tav tm="100000">
                                          <p:val>
                                            <p:fltVal val="0"/>
                                          </p:val>
                                        </p:tav>
                                      </p:tavLst>
                                    </p:anim>
                                    <p:animEffect transition="out" filter="fade">
                                      <p:cBhvr>
                                        <p:cTn id="161" dur="500"/>
                                        <p:tgtEl>
                                          <p:spTgt spid="37"/>
                                        </p:tgtEl>
                                      </p:cBhvr>
                                    </p:animEffect>
                                    <p:set>
                                      <p:cBhvr>
                                        <p:cTn id="162" dur="1" fill="hold">
                                          <p:stCondLst>
                                            <p:cond delay="499"/>
                                          </p:stCondLst>
                                        </p:cTn>
                                        <p:tgtEl>
                                          <p:spTgt spid="37"/>
                                        </p:tgtEl>
                                        <p:attrNameLst>
                                          <p:attrName>style.visibility</p:attrName>
                                        </p:attrNameLst>
                                      </p:cBhvr>
                                      <p:to>
                                        <p:strVal val="hidden"/>
                                      </p:to>
                                    </p:set>
                                  </p:childTnLst>
                                </p:cTn>
                              </p:par>
                              <p:par>
                                <p:cTn id="163" presetID="53" presetClass="exit" presetSubtype="32" fill="hold" grpId="1" nodeType="withEffect">
                                  <p:stCondLst>
                                    <p:cond delay="0"/>
                                  </p:stCondLst>
                                  <p:childTnLst>
                                    <p:anim calcmode="lin" valueType="num">
                                      <p:cBhvr>
                                        <p:cTn id="164" dur="500"/>
                                        <p:tgtEl>
                                          <p:spTgt spid="38"/>
                                        </p:tgtEl>
                                        <p:attrNameLst>
                                          <p:attrName>ppt_w</p:attrName>
                                        </p:attrNameLst>
                                      </p:cBhvr>
                                      <p:tavLst>
                                        <p:tav tm="0">
                                          <p:val>
                                            <p:strVal val="ppt_w"/>
                                          </p:val>
                                        </p:tav>
                                        <p:tav tm="100000">
                                          <p:val>
                                            <p:fltVal val="0"/>
                                          </p:val>
                                        </p:tav>
                                      </p:tavLst>
                                    </p:anim>
                                    <p:anim calcmode="lin" valueType="num">
                                      <p:cBhvr>
                                        <p:cTn id="165" dur="500"/>
                                        <p:tgtEl>
                                          <p:spTgt spid="38"/>
                                        </p:tgtEl>
                                        <p:attrNameLst>
                                          <p:attrName>ppt_h</p:attrName>
                                        </p:attrNameLst>
                                      </p:cBhvr>
                                      <p:tavLst>
                                        <p:tav tm="0">
                                          <p:val>
                                            <p:strVal val="ppt_h"/>
                                          </p:val>
                                        </p:tav>
                                        <p:tav tm="100000">
                                          <p:val>
                                            <p:fltVal val="0"/>
                                          </p:val>
                                        </p:tav>
                                      </p:tavLst>
                                    </p:anim>
                                    <p:animEffect transition="out" filter="fade">
                                      <p:cBhvr>
                                        <p:cTn id="166" dur="500"/>
                                        <p:tgtEl>
                                          <p:spTgt spid="38"/>
                                        </p:tgtEl>
                                      </p:cBhvr>
                                    </p:animEffect>
                                    <p:set>
                                      <p:cBhvr>
                                        <p:cTn id="167" dur="1" fill="hold">
                                          <p:stCondLst>
                                            <p:cond delay="499"/>
                                          </p:stCondLst>
                                        </p:cTn>
                                        <p:tgtEl>
                                          <p:spTgt spid="38"/>
                                        </p:tgtEl>
                                        <p:attrNameLst>
                                          <p:attrName>style.visibility</p:attrName>
                                        </p:attrNameLst>
                                      </p:cBhvr>
                                      <p:to>
                                        <p:strVal val="hidden"/>
                                      </p:to>
                                    </p:set>
                                  </p:childTnLst>
                                </p:cTn>
                              </p:par>
                              <p:par>
                                <p:cTn id="168" presetID="53" presetClass="exit" presetSubtype="32" fill="hold" grpId="1" nodeType="withEffect">
                                  <p:stCondLst>
                                    <p:cond delay="0"/>
                                  </p:stCondLst>
                                  <p:childTnLst>
                                    <p:anim calcmode="lin" valueType="num">
                                      <p:cBhvr>
                                        <p:cTn id="169" dur="500"/>
                                        <p:tgtEl>
                                          <p:spTgt spid="40"/>
                                        </p:tgtEl>
                                        <p:attrNameLst>
                                          <p:attrName>ppt_w</p:attrName>
                                        </p:attrNameLst>
                                      </p:cBhvr>
                                      <p:tavLst>
                                        <p:tav tm="0">
                                          <p:val>
                                            <p:strVal val="ppt_w"/>
                                          </p:val>
                                        </p:tav>
                                        <p:tav tm="100000">
                                          <p:val>
                                            <p:fltVal val="0"/>
                                          </p:val>
                                        </p:tav>
                                      </p:tavLst>
                                    </p:anim>
                                    <p:anim calcmode="lin" valueType="num">
                                      <p:cBhvr>
                                        <p:cTn id="170" dur="500"/>
                                        <p:tgtEl>
                                          <p:spTgt spid="40"/>
                                        </p:tgtEl>
                                        <p:attrNameLst>
                                          <p:attrName>ppt_h</p:attrName>
                                        </p:attrNameLst>
                                      </p:cBhvr>
                                      <p:tavLst>
                                        <p:tav tm="0">
                                          <p:val>
                                            <p:strVal val="ppt_h"/>
                                          </p:val>
                                        </p:tav>
                                        <p:tav tm="100000">
                                          <p:val>
                                            <p:fltVal val="0"/>
                                          </p:val>
                                        </p:tav>
                                      </p:tavLst>
                                    </p:anim>
                                    <p:animEffect transition="out" filter="fade">
                                      <p:cBhvr>
                                        <p:cTn id="171" dur="500"/>
                                        <p:tgtEl>
                                          <p:spTgt spid="40"/>
                                        </p:tgtEl>
                                      </p:cBhvr>
                                    </p:animEffect>
                                    <p:set>
                                      <p:cBhvr>
                                        <p:cTn id="172" dur="1" fill="hold">
                                          <p:stCondLst>
                                            <p:cond delay="499"/>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17" grpId="0"/>
      <p:bldP spid="18" grpId="0" animBg="1"/>
      <p:bldP spid="19" grpId="0" animBg="1"/>
      <p:bldP spid="20" grpId="0" animBg="1"/>
      <p:bldP spid="23" grpId="0"/>
      <p:bldP spid="24" grpId="0" animBg="1"/>
      <p:bldP spid="25" grpId="0" animBg="1"/>
      <p:bldP spid="26" grpId="0" animBg="1"/>
      <p:bldP spid="29" grpId="0"/>
      <p:bldP spid="30" grpId="0" animBg="1"/>
      <p:bldP spid="31" grpId="0" animBg="1"/>
      <p:bldP spid="32" grpId="0" animBg="1"/>
      <p:bldP spid="36" grpId="0"/>
      <p:bldP spid="36" grpId="1"/>
      <p:bldP spid="37" grpId="0"/>
      <p:bldP spid="37" grpId="1"/>
      <p:bldP spid="38" grpId="0"/>
      <p:bldP spid="38" grpId="1"/>
      <p:bldP spid="40" grpId="0"/>
      <p:bldP spid="40"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BD82-59E1-2EF2-0038-848151EC311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0251254-4B00-5A42-D598-52950CA03B22}"/>
                  </a:ext>
                </a:extLst>
              </p:cNvPr>
              <p:cNvSpPr/>
              <p:nvPr/>
            </p:nvSpPr>
            <p:spPr>
              <a:xfrm>
                <a:off x="865426" y="1625374"/>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3</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5" name="矩形 4">
                <a:extLst>
                  <a:ext uri="{FF2B5EF4-FFF2-40B4-BE49-F238E27FC236}">
                    <a16:creationId xmlns:a16="http://schemas.microsoft.com/office/drawing/2014/main" id="{50251254-4B00-5A42-D598-52950CA03B22}"/>
                  </a:ext>
                </a:extLst>
              </p:cNvPr>
              <p:cNvSpPr>
                <a:spLocks noRot="1" noChangeAspect="1" noMove="1" noResize="1" noEditPoints="1" noAdjustHandles="1" noChangeArrowheads="1" noChangeShapeType="1" noTextEdit="1"/>
              </p:cNvSpPr>
              <p:nvPr/>
            </p:nvSpPr>
            <p:spPr>
              <a:xfrm>
                <a:off x="865426" y="1625374"/>
                <a:ext cx="1017202" cy="369332"/>
              </a:xfrm>
              <a:prstGeom prst="rect">
                <a:avLst/>
              </a:prstGeom>
              <a:blipFill>
                <a:blip r:embed="rId3"/>
                <a:stretch>
                  <a:fillRect l="-1235" r="-16049" b="-31034"/>
                </a:stretch>
              </a:blipFill>
            </p:spPr>
            <p:txBody>
              <a:bodyPr/>
              <a:lstStyle/>
              <a:p>
                <a:r>
                  <a:rPr lang="ko-Kore-KR" altLang="en-US">
                    <a:noFill/>
                  </a:rPr>
                  <a:t> </a:t>
                </a:r>
              </a:p>
            </p:txBody>
          </p:sp>
        </mc:Fallback>
      </mc:AlternateContent>
      <p:sp>
        <p:nvSpPr>
          <p:cNvPr id="6" name="椭圆 5">
            <a:extLst>
              <a:ext uri="{FF2B5EF4-FFF2-40B4-BE49-F238E27FC236}">
                <a16:creationId xmlns:a16="http://schemas.microsoft.com/office/drawing/2014/main" id="{567998FD-13A9-ABBF-0B9A-E9A96DD2AC14}"/>
              </a:ext>
            </a:extLst>
          </p:cNvPr>
          <p:cNvSpPr/>
          <p:nvPr/>
        </p:nvSpPr>
        <p:spPr>
          <a:xfrm>
            <a:off x="2473277" y="1391919"/>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dirty="0">
              <a:solidFill>
                <a:schemeClr val="bg1"/>
              </a:solidFill>
              <a:ea typeface="Microsoft YaHei" charset="0"/>
            </a:endParaRPr>
          </a:p>
        </p:txBody>
      </p:sp>
      <p:sp>
        <p:nvSpPr>
          <p:cNvPr id="7" name="矩形 6">
            <a:extLst>
              <a:ext uri="{FF2B5EF4-FFF2-40B4-BE49-F238E27FC236}">
                <a16:creationId xmlns:a16="http://schemas.microsoft.com/office/drawing/2014/main" id="{732C985C-BCB3-392E-B085-54CCDAF9A51A}"/>
              </a:ext>
            </a:extLst>
          </p:cNvPr>
          <p:cNvSpPr/>
          <p:nvPr/>
        </p:nvSpPr>
        <p:spPr>
          <a:xfrm>
            <a:off x="1850970" y="197959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0.15</a:t>
            </a:r>
            <a:endParaRPr lang="zh-CN" altLang="en-US" sz="2000" dirty="0">
              <a:ea typeface="Microsoft YaHei" charset="0"/>
            </a:endParaRPr>
          </a:p>
        </p:txBody>
      </p:sp>
      <p:sp>
        <p:nvSpPr>
          <p:cNvPr id="8" name="矩形 7">
            <a:extLst>
              <a:ext uri="{FF2B5EF4-FFF2-40B4-BE49-F238E27FC236}">
                <a16:creationId xmlns:a16="http://schemas.microsoft.com/office/drawing/2014/main" id="{C5DADC6A-DBE6-CEF2-7C8C-AF86CF48C066}"/>
              </a:ext>
            </a:extLst>
          </p:cNvPr>
          <p:cNvSpPr/>
          <p:nvPr/>
        </p:nvSpPr>
        <p:spPr>
          <a:xfrm>
            <a:off x="3257404" y="1979590"/>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-0.22</a:t>
            </a:r>
            <a:endParaRPr lang="zh-CN" altLang="en-US" sz="2000" dirty="0">
              <a:ea typeface="Microsoft YaHei" charset="0"/>
            </a:endParaRPr>
          </a:p>
        </p:txBody>
      </p:sp>
      <p:cxnSp>
        <p:nvCxnSpPr>
          <p:cNvPr id="9" name="直接连接符 8">
            <a:extLst>
              <a:ext uri="{FF2B5EF4-FFF2-40B4-BE49-F238E27FC236}">
                <a16:creationId xmlns:a16="http://schemas.microsoft.com/office/drawing/2014/main" id="{A33FDE94-1FAF-1CFA-7FA7-5D6E253FFD6E}"/>
              </a:ext>
            </a:extLst>
          </p:cNvPr>
          <p:cNvCxnSpPr>
            <a:cxnSpLocks/>
            <a:stCxn id="6" idx="4"/>
            <a:endCxn id="7" idx="0"/>
          </p:cNvCxnSpPr>
          <p:nvPr/>
        </p:nvCxnSpPr>
        <p:spPr>
          <a:xfrm flipH="1">
            <a:off x="2242856" y="1775096"/>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E2E1BE23-1177-A444-5781-815C91E90013}"/>
              </a:ext>
            </a:extLst>
          </p:cNvPr>
          <p:cNvCxnSpPr>
            <a:cxnSpLocks/>
            <a:stCxn id="6" idx="4"/>
            <a:endCxn id="8" idx="0"/>
          </p:cNvCxnSpPr>
          <p:nvPr/>
        </p:nvCxnSpPr>
        <p:spPr>
          <a:xfrm>
            <a:off x="2963312" y="1775096"/>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45F14921-F6F5-BC30-9D8C-05BC35EE4CD4}"/>
                  </a:ext>
                </a:extLst>
              </p:cNvPr>
              <p:cNvSpPr/>
              <p:nvPr/>
            </p:nvSpPr>
            <p:spPr>
              <a:xfrm>
                <a:off x="865426" y="2966053"/>
                <a:ext cx="10104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4</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17" name="矩形 16">
                <a:extLst>
                  <a:ext uri="{FF2B5EF4-FFF2-40B4-BE49-F238E27FC236}">
                    <a16:creationId xmlns:a16="http://schemas.microsoft.com/office/drawing/2014/main" id="{45F14921-F6F5-BC30-9D8C-05BC35EE4CD4}"/>
                  </a:ext>
                </a:extLst>
              </p:cNvPr>
              <p:cNvSpPr>
                <a:spLocks noRot="1" noChangeAspect="1" noMove="1" noResize="1" noEditPoints="1" noAdjustHandles="1" noChangeArrowheads="1" noChangeShapeType="1" noTextEdit="1"/>
              </p:cNvSpPr>
              <p:nvPr/>
            </p:nvSpPr>
            <p:spPr>
              <a:xfrm>
                <a:off x="865426" y="2966053"/>
                <a:ext cx="1010468" cy="369332"/>
              </a:xfrm>
              <a:prstGeom prst="rect">
                <a:avLst/>
              </a:prstGeom>
              <a:blipFill>
                <a:blip r:embed="rId4"/>
                <a:stretch>
                  <a:fillRect l="-1250" r="-16250" b="-26667"/>
                </a:stretch>
              </a:blipFill>
            </p:spPr>
            <p:txBody>
              <a:bodyPr/>
              <a:lstStyle/>
              <a:p>
                <a:r>
                  <a:rPr lang="ko-Kore-KR" altLang="en-US">
                    <a:noFill/>
                  </a:rPr>
                  <a:t> </a:t>
                </a:r>
              </a:p>
            </p:txBody>
          </p:sp>
        </mc:Fallback>
      </mc:AlternateContent>
      <p:sp>
        <p:nvSpPr>
          <p:cNvPr id="18" name="椭圆 17">
            <a:extLst>
              <a:ext uri="{FF2B5EF4-FFF2-40B4-BE49-F238E27FC236}">
                <a16:creationId xmlns:a16="http://schemas.microsoft.com/office/drawing/2014/main" id="{30EA0B67-9628-131F-1FBA-117ED56E29EE}"/>
              </a:ext>
            </a:extLst>
          </p:cNvPr>
          <p:cNvSpPr/>
          <p:nvPr/>
        </p:nvSpPr>
        <p:spPr>
          <a:xfrm>
            <a:off x="2473277" y="2732598"/>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x&lt;4.5</a:t>
            </a:r>
            <a:endParaRPr lang="zh-CN" altLang="en-US" dirty="0">
              <a:solidFill>
                <a:schemeClr val="bg1"/>
              </a:solidFill>
              <a:ea typeface="Microsoft YaHei" charset="0"/>
            </a:endParaRPr>
          </a:p>
        </p:txBody>
      </p:sp>
      <p:sp>
        <p:nvSpPr>
          <p:cNvPr id="19" name="矩形 18">
            <a:extLst>
              <a:ext uri="{FF2B5EF4-FFF2-40B4-BE49-F238E27FC236}">
                <a16:creationId xmlns:a16="http://schemas.microsoft.com/office/drawing/2014/main" id="{0DA1F913-E6CC-8260-50D4-3A4D27CA1A22}"/>
              </a:ext>
            </a:extLst>
          </p:cNvPr>
          <p:cNvSpPr/>
          <p:nvPr/>
        </p:nvSpPr>
        <p:spPr>
          <a:xfrm>
            <a:off x="1850970" y="332026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-0.16</a:t>
            </a:r>
            <a:endParaRPr lang="zh-CN" altLang="en-US" sz="2000" dirty="0">
              <a:ea typeface="Microsoft YaHei" charset="0"/>
            </a:endParaRPr>
          </a:p>
        </p:txBody>
      </p:sp>
      <p:sp>
        <p:nvSpPr>
          <p:cNvPr id="20" name="矩形 19">
            <a:extLst>
              <a:ext uri="{FF2B5EF4-FFF2-40B4-BE49-F238E27FC236}">
                <a16:creationId xmlns:a16="http://schemas.microsoft.com/office/drawing/2014/main" id="{C39894E2-445B-C8F9-6D4D-AE2AE469AF91}"/>
              </a:ext>
            </a:extLst>
          </p:cNvPr>
          <p:cNvSpPr/>
          <p:nvPr/>
        </p:nvSpPr>
        <p:spPr>
          <a:xfrm>
            <a:off x="3257404" y="332026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0.11</a:t>
            </a:r>
            <a:endParaRPr lang="zh-CN" altLang="en-US" sz="2000" dirty="0">
              <a:ea typeface="Microsoft YaHei" charset="0"/>
            </a:endParaRPr>
          </a:p>
        </p:txBody>
      </p:sp>
      <p:cxnSp>
        <p:nvCxnSpPr>
          <p:cNvPr id="21" name="直接连接符 20">
            <a:extLst>
              <a:ext uri="{FF2B5EF4-FFF2-40B4-BE49-F238E27FC236}">
                <a16:creationId xmlns:a16="http://schemas.microsoft.com/office/drawing/2014/main" id="{3C93518F-4A96-C1A0-1320-563BD5A8E247}"/>
              </a:ext>
            </a:extLst>
          </p:cNvPr>
          <p:cNvCxnSpPr>
            <a:stCxn id="18" idx="4"/>
            <a:endCxn id="19" idx="0"/>
          </p:cNvCxnSpPr>
          <p:nvPr/>
        </p:nvCxnSpPr>
        <p:spPr>
          <a:xfrm flipH="1">
            <a:off x="2242856" y="3115775"/>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B475D89-708D-7133-2D1B-4571BD9036D6}"/>
              </a:ext>
            </a:extLst>
          </p:cNvPr>
          <p:cNvCxnSpPr>
            <a:stCxn id="18" idx="4"/>
            <a:endCxn id="20" idx="0"/>
          </p:cNvCxnSpPr>
          <p:nvPr/>
        </p:nvCxnSpPr>
        <p:spPr>
          <a:xfrm>
            <a:off x="2963312" y="3115775"/>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1BD0AD4C-4EEA-E1D0-5EE0-243C9E11B8E4}"/>
                  </a:ext>
                </a:extLst>
              </p:cNvPr>
              <p:cNvSpPr/>
              <p:nvPr/>
            </p:nvSpPr>
            <p:spPr>
              <a:xfrm>
                <a:off x="850585" y="4305536"/>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3" name="矩形 22">
                <a:extLst>
                  <a:ext uri="{FF2B5EF4-FFF2-40B4-BE49-F238E27FC236}">
                    <a16:creationId xmlns:a16="http://schemas.microsoft.com/office/drawing/2014/main" id="{1BD0AD4C-4EEA-E1D0-5EE0-243C9E11B8E4}"/>
                  </a:ext>
                </a:extLst>
              </p:cNvPr>
              <p:cNvSpPr>
                <a:spLocks noRot="1" noChangeAspect="1" noMove="1" noResize="1" noEditPoints="1" noAdjustHandles="1" noChangeArrowheads="1" noChangeShapeType="1" noTextEdit="1"/>
              </p:cNvSpPr>
              <p:nvPr/>
            </p:nvSpPr>
            <p:spPr>
              <a:xfrm>
                <a:off x="850585" y="4305536"/>
                <a:ext cx="1017202" cy="369332"/>
              </a:xfrm>
              <a:prstGeom prst="rect">
                <a:avLst/>
              </a:prstGeom>
              <a:blipFill>
                <a:blip r:embed="rId5"/>
                <a:stretch>
                  <a:fillRect l="-2500" r="-17500" b="-25806"/>
                </a:stretch>
              </a:blipFill>
            </p:spPr>
            <p:txBody>
              <a:bodyPr/>
              <a:lstStyle/>
              <a:p>
                <a:r>
                  <a:rPr lang="ko-Kore-KR" altLang="en-US">
                    <a:noFill/>
                  </a:rPr>
                  <a:t> </a:t>
                </a:r>
              </a:p>
            </p:txBody>
          </p:sp>
        </mc:Fallback>
      </mc:AlternateContent>
      <p:sp>
        <p:nvSpPr>
          <p:cNvPr id="24" name="椭圆 23">
            <a:extLst>
              <a:ext uri="{FF2B5EF4-FFF2-40B4-BE49-F238E27FC236}">
                <a16:creationId xmlns:a16="http://schemas.microsoft.com/office/drawing/2014/main" id="{9124B3C3-662C-B100-537F-A5B0A6F95421}"/>
              </a:ext>
            </a:extLst>
          </p:cNvPr>
          <p:cNvSpPr/>
          <p:nvPr/>
        </p:nvSpPr>
        <p:spPr>
          <a:xfrm>
            <a:off x="2458436" y="4072081"/>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25" name="矩形 24">
            <a:extLst>
              <a:ext uri="{FF2B5EF4-FFF2-40B4-BE49-F238E27FC236}">
                <a16:creationId xmlns:a16="http://schemas.microsoft.com/office/drawing/2014/main" id="{783E4F8D-D7B5-DCF4-9F21-2082EDDE79A0}"/>
              </a:ext>
            </a:extLst>
          </p:cNvPr>
          <p:cNvSpPr/>
          <p:nvPr/>
        </p:nvSpPr>
        <p:spPr>
          <a:xfrm>
            <a:off x="1836129" y="465975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0.07</a:t>
            </a:r>
            <a:endParaRPr lang="zh-CN" altLang="en-US" sz="2000" dirty="0">
              <a:ea typeface="Microsoft YaHei" charset="0"/>
            </a:endParaRPr>
          </a:p>
        </p:txBody>
      </p:sp>
      <p:sp>
        <p:nvSpPr>
          <p:cNvPr id="26" name="矩形 25">
            <a:extLst>
              <a:ext uri="{FF2B5EF4-FFF2-40B4-BE49-F238E27FC236}">
                <a16:creationId xmlns:a16="http://schemas.microsoft.com/office/drawing/2014/main" id="{5DFA212A-26B2-0FBD-AE73-056496A8F54B}"/>
              </a:ext>
            </a:extLst>
          </p:cNvPr>
          <p:cNvSpPr/>
          <p:nvPr/>
        </p:nvSpPr>
        <p:spPr>
          <a:xfrm>
            <a:off x="3242563" y="4659752"/>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-0.11</a:t>
            </a:r>
            <a:endParaRPr lang="zh-CN" altLang="en-US" sz="2000" dirty="0">
              <a:ea typeface="Microsoft YaHei" charset="0"/>
            </a:endParaRPr>
          </a:p>
        </p:txBody>
      </p:sp>
      <p:cxnSp>
        <p:nvCxnSpPr>
          <p:cNvPr id="27" name="直接连接符 26">
            <a:extLst>
              <a:ext uri="{FF2B5EF4-FFF2-40B4-BE49-F238E27FC236}">
                <a16:creationId xmlns:a16="http://schemas.microsoft.com/office/drawing/2014/main" id="{098E64B1-5F58-B48D-2C93-658751C8F47E}"/>
              </a:ext>
            </a:extLst>
          </p:cNvPr>
          <p:cNvCxnSpPr>
            <a:stCxn id="24" idx="4"/>
            <a:endCxn id="25" idx="0"/>
          </p:cNvCxnSpPr>
          <p:nvPr/>
        </p:nvCxnSpPr>
        <p:spPr>
          <a:xfrm flipH="1">
            <a:off x="2228015" y="4455258"/>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E1819D25-2D89-60E9-020F-FD56B6C13609}"/>
              </a:ext>
            </a:extLst>
          </p:cNvPr>
          <p:cNvCxnSpPr>
            <a:stCxn id="24" idx="4"/>
            <a:endCxn id="26" idx="0"/>
          </p:cNvCxnSpPr>
          <p:nvPr/>
        </p:nvCxnSpPr>
        <p:spPr>
          <a:xfrm>
            <a:off x="2948471" y="4455258"/>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7172FA9-9BFB-87DD-BAD0-B28C82981F3C}"/>
                  </a:ext>
                </a:extLst>
              </p:cNvPr>
              <p:cNvSpPr/>
              <p:nvPr/>
            </p:nvSpPr>
            <p:spPr>
              <a:xfrm>
                <a:off x="865426" y="5645019"/>
                <a:ext cx="101720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i="1">
                          <a:latin typeface="Cambria Math" panose="02040503050406030204" pitchFamily="18" charset="0"/>
                          <a:ea typeface="Microsoft YaHei" charset="0"/>
                        </a:rPr>
                        <m:t>=</m:t>
                      </m:r>
                    </m:oMath>
                  </m:oMathPara>
                </a14:m>
                <a:endParaRPr lang="zh-CN" altLang="en-US" dirty="0">
                  <a:ea typeface="Microsoft YaHei" charset="0"/>
                </a:endParaRPr>
              </a:p>
            </p:txBody>
          </p:sp>
        </mc:Choice>
        <mc:Fallback xmlns="">
          <p:sp>
            <p:nvSpPr>
              <p:cNvPr id="29" name="矩形 28">
                <a:extLst>
                  <a:ext uri="{FF2B5EF4-FFF2-40B4-BE49-F238E27FC236}">
                    <a16:creationId xmlns:a16="http://schemas.microsoft.com/office/drawing/2014/main" id="{D7172FA9-9BFB-87DD-BAD0-B28C82981F3C}"/>
                  </a:ext>
                </a:extLst>
              </p:cNvPr>
              <p:cNvSpPr>
                <a:spLocks noRot="1" noChangeAspect="1" noMove="1" noResize="1" noEditPoints="1" noAdjustHandles="1" noChangeArrowheads="1" noChangeShapeType="1" noTextEdit="1"/>
              </p:cNvSpPr>
              <p:nvPr/>
            </p:nvSpPr>
            <p:spPr>
              <a:xfrm>
                <a:off x="865426" y="5645019"/>
                <a:ext cx="1017202" cy="369332"/>
              </a:xfrm>
              <a:prstGeom prst="rect">
                <a:avLst/>
              </a:prstGeom>
              <a:blipFill>
                <a:blip r:embed="rId6"/>
                <a:stretch>
                  <a:fillRect l="-1235" r="-16049" b="-26667"/>
                </a:stretch>
              </a:blipFill>
            </p:spPr>
            <p:txBody>
              <a:bodyPr/>
              <a:lstStyle/>
              <a:p>
                <a:r>
                  <a:rPr lang="ko-Kore-KR" altLang="en-US">
                    <a:noFill/>
                  </a:rPr>
                  <a:t> </a:t>
                </a:r>
              </a:p>
            </p:txBody>
          </p:sp>
        </mc:Fallback>
      </mc:AlternateContent>
      <p:sp>
        <p:nvSpPr>
          <p:cNvPr id="30" name="椭圆 29">
            <a:extLst>
              <a:ext uri="{FF2B5EF4-FFF2-40B4-BE49-F238E27FC236}">
                <a16:creationId xmlns:a16="http://schemas.microsoft.com/office/drawing/2014/main" id="{8B2E59AC-77E4-31EE-DFBC-0C4C1CE1199B}"/>
              </a:ext>
            </a:extLst>
          </p:cNvPr>
          <p:cNvSpPr/>
          <p:nvPr/>
        </p:nvSpPr>
        <p:spPr>
          <a:xfrm>
            <a:off x="2473277" y="5411564"/>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x&lt;2.5</a:t>
            </a:r>
            <a:endParaRPr lang="zh-CN" altLang="en-US" dirty="0">
              <a:solidFill>
                <a:schemeClr val="bg1"/>
              </a:solidFill>
              <a:ea typeface="Microsoft YaHei" charset="0"/>
            </a:endParaRPr>
          </a:p>
        </p:txBody>
      </p:sp>
      <p:sp>
        <p:nvSpPr>
          <p:cNvPr id="31" name="矩形 30">
            <a:extLst>
              <a:ext uri="{FF2B5EF4-FFF2-40B4-BE49-F238E27FC236}">
                <a16:creationId xmlns:a16="http://schemas.microsoft.com/office/drawing/2014/main" id="{5B934874-CA28-2F1F-24B8-C6C17EAE749B}"/>
              </a:ext>
            </a:extLst>
          </p:cNvPr>
          <p:cNvSpPr/>
          <p:nvPr/>
        </p:nvSpPr>
        <p:spPr>
          <a:xfrm>
            <a:off x="1850970" y="5999235"/>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-0.15</a:t>
            </a:r>
            <a:endParaRPr lang="zh-CN" altLang="en-US" sz="2000" dirty="0">
              <a:ea typeface="Microsoft YaHei" charset="0"/>
            </a:endParaRPr>
          </a:p>
        </p:txBody>
      </p:sp>
      <p:sp>
        <p:nvSpPr>
          <p:cNvPr id="32" name="矩形 31">
            <a:extLst>
              <a:ext uri="{FF2B5EF4-FFF2-40B4-BE49-F238E27FC236}">
                <a16:creationId xmlns:a16="http://schemas.microsoft.com/office/drawing/2014/main" id="{A8F0D8F2-B65A-D81D-7F96-34DDBBE1DA81}"/>
              </a:ext>
            </a:extLst>
          </p:cNvPr>
          <p:cNvSpPr/>
          <p:nvPr/>
        </p:nvSpPr>
        <p:spPr>
          <a:xfrm>
            <a:off x="3257404" y="5999235"/>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0.04</a:t>
            </a:r>
            <a:endParaRPr lang="zh-CN" altLang="en-US" sz="2000" dirty="0">
              <a:ea typeface="Microsoft YaHei" charset="0"/>
            </a:endParaRPr>
          </a:p>
        </p:txBody>
      </p:sp>
      <p:cxnSp>
        <p:nvCxnSpPr>
          <p:cNvPr id="33" name="直接连接符 32">
            <a:extLst>
              <a:ext uri="{FF2B5EF4-FFF2-40B4-BE49-F238E27FC236}">
                <a16:creationId xmlns:a16="http://schemas.microsoft.com/office/drawing/2014/main" id="{4C41909C-8841-F8AB-9D8C-585F08028F48}"/>
              </a:ext>
            </a:extLst>
          </p:cNvPr>
          <p:cNvCxnSpPr>
            <a:stCxn id="30" idx="4"/>
            <a:endCxn id="31" idx="0"/>
          </p:cNvCxnSpPr>
          <p:nvPr/>
        </p:nvCxnSpPr>
        <p:spPr>
          <a:xfrm flipH="1">
            <a:off x="2242856" y="5794741"/>
            <a:ext cx="720456"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0A0A508-C43F-86A1-CBDB-BE3919376D38}"/>
              </a:ext>
            </a:extLst>
          </p:cNvPr>
          <p:cNvCxnSpPr>
            <a:stCxn id="30" idx="4"/>
            <a:endCxn id="32" idx="0"/>
          </p:cNvCxnSpPr>
          <p:nvPr/>
        </p:nvCxnSpPr>
        <p:spPr>
          <a:xfrm>
            <a:off x="2963312" y="5794741"/>
            <a:ext cx="685978" cy="20449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FA5A2DFA-5FC2-15DB-677C-CAD5ACF11129}"/>
                  </a:ext>
                </a:extLst>
              </p:cNvPr>
              <p:cNvSpPr/>
              <p:nvPr/>
            </p:nvSpPr>
            <p:spPr>
              <a:xfrm>
                <a:off x="4461628" y="2180103"/>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3</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0.47</a:t>
                </a:r>
                <a:endParaRPr lang="zh-CN" altLang="en-US" dirty="0">
                  <a:ea typeface="Microsoft YaHei" charset="0"/>
                </a:endParaRPr>
              </a:p>
            </p:txBody>
          </p:sp>
        </mc:Choice>
        <mc:Fallback xmlns="">
          <p:sp>
            <p:nvSpPr>
              <p:cNvPr id="36" name="矩形 35">
                <a:extLst>
                  <a:ext uri="{FF2B5EF4-FFF2-40B4-BE49-F238E27FC236}">
                    <a16:creationId xmlns:a16="http://schemas.microsoft.com/office/drawing/2014/main" id="{FA5A2DFA-5FC2-15DB-677C-CAD5ACF11129}"/>
                  </a:ext>
                </a:extLst>
              </p:cNvPr>
              <p:cNvSpPr>
                <a:spLocks noRot="1" noChangeAspect="1" noMove="1" noResize="1" noEditPoints="1" noAdjustHandles="1" noChangeArrowheads="1" noChangeShapeType="1" noTextEdit="1"/>
              </p:cNvSpPr>
              <p:nvPr/>
            </p:nvSpPr>
            <p:spPr>
              <a:xfrm>
                <a:off x="4461628" y="2180103"/>
                <a:ext cx="1906548" cy="404983"/>
              </a:xfrm>
              <a:prstGeom prst="rect">
                <a:avLst/>
              </a:prstGeom>
              <a:blipFill>
                <a:blip r:embed="rId7"/>
                <a:stretch>
                  <a:fillRect l="-662" t="-6061" r="-35762" b="-4848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70BA5A5E-7D02-CAAD-DD6B-BD17023E36E6}"/>
                  </a:ext>
                </a:extLst>
              </p:cNvPr>
              <p:cNvSpPr/>
              <p:nvPr/>
            </p:nvSpPr>
            <p:spPr>
              <a:xfrm>
                <a:off x="4461268" y="3367498"/>
                <a:ext cx="1897507"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4</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0.30</a:t>
                </a:r>
                <a:endParaRPr lang="zh-CN" altLang="en-US" dirty="0">
                  <a:ea typeface="Microsoft YaHei" charset="0"/>
                </a:endParaRPr>
              </a:p>
            </p:txBody>
          </p:sp>
        </mc:Choice>
        <mc:Fallback xmlns="">
          <p:sp>
            <p:nvSpPr>
              <p:cNvPr id="37" name="矩形 36">
                <a:extLst>
                  <a:ext uri="{FF2B5EF4-FFF2-40B4-BE49-F238E27FC236}">
                    <a16:creationId xmlns:a16="http://schemas.microsoft.com/office/drawing/2014/main" id="{70BA5A5E-7D02-CAAD-DD6B-BD17023E36E6}"/>
                  </a:ext>
                </a:extLst>
              </p:cNvPr>
              <p:cNvSpPr>
                <a:spLocks noRot="1" noChangeAspect="1" noMove="1" noResize="1" noEditPoints="1" noAdjustHandles="1" noChangeArrowheads="1" noChangeShapeType="1" noTextEdit="1"/>
              </p:cNvSpPr>
              <p:nvPr/>
            </p:nvSpPr>
            <p:spPr>
              <a:xfrm>
                <a:off x="4461268" y="3367498"/>
                <a:ext cx="1897507" cy="404983"/>
              </a:xfrm>
              <a:prstGeom prst="rect">
                <a:avLst/>
              </a:prstGeom>
              <a:blipFill>
                <a:blip r:embed="rId8"/>
                <a:stretch>
                  <a:fillRect l="-667" t="-2941" r="-36000" b="-47059"/>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CA1F700-D830-F2DA-E5F3-64508DD1FCED}"/>
                  </a:ext>
                </a:extLst>
              </p:cNvPr>
              <p:cNvSpPr/>
              <p:nvPr/>
            </p:nvSpPr>
            <p:spPr>
              <a:xfrm>
                <a:off x="4456748" y="4521883"/>
                <a:ext cx="1906548" cy="404983"/>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𝐿</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𝑦</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i="1">
                        <a:latin typeface="Cambria Math" panose="02040503050406030204" pitchFamily="18" charset="0"/>
                        <a:ea typeface="Microsoft YaHei" charset="0"/>
                      </a:rPr>
                      <m:t>=</m:t>
                    </m:r>
                  </m:oMath>
                </a14:m>
                <a:r>
                  <a:rPr lang="en-US" altLang="zh-CN" dirty="0">
                    <a:ea typeface="Microsoft YaHei" charset="0"/>
                  </a:rPr>
                  <a:t>0.23</a:t>
                </a:r>
                <a:endParaRPr lang="zh-CN" altLang="en-US" dirty="0">
                  <a:ea typeface="Microsoft YaHei" charset="0"/>
                </a:endParaRPr>
              </a:p>
            </p:txBody>
          </p:sp>
        </mc:Choice>
        <mc:Fallback xmlns="">
          <p:sp>
            <p:nvSpPr>
              <p:cNvPr id="38" name="矩形 37">
                <a:extLst>
                  <a:ext uri="{FF2B5EF4-FFF2-40B4-BE49-F238E27FC236}">
                    <a16:creationId xmlns:a16="http://schemas.microsoft.com/office/drawing/2014/main" id="{1CA1F700-D830-F2DA-E5F3-64508DD1FCED}"/>
                  </a:ext>
                </a:extLst>
              </p:cNvPr>
              <p:cNvSpPr>
                <a:spLocks noRot="1" noChangeAspect="1" noMove="1" noResize="1" noEditPoints="1" noAdjustHandles="1" noChangeArrowheads="1" noChangeShapeType="1" noTextEdit="1"/>
              </p:cNvSpPr>
              <p:nvPr/>
            </p:nvSpPr>
            <p:spPr>
              <a:xfrm>
                <a:off x="4456748" y="4521883"/>
                <a:ext cx="1906548" cy="404983"/>
              </a:xfrm>
              <a:prstGeom prst="rect">
                <a:avLst/>
              </a:prstGeom>
              <a:blipFill>
                <a:blip r:embed="rId9"/>
                <a:stretch>
                  <a:fillRect l="-658" t="-6250" r="-35526" b="-53125"/>
                </a:stretch>
              </a:blipFill>
            </p:spPr>
            <p:txBody>
              <a:bodyPr/>
              <a:lstStyle/>
              <a:p>
                <a:r>
                  <a:rPr lang="ko-Kore-KR"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150E42AB-E8A3-3F77-D857-B2B6EDFED0AE}"/>
                  </a:ext>
                </a:extLst>
              </p:cNvPr>
              <p:cNvSpPr txBox="1"/>
              <p:nvPr/>
            </p:nvSpPr>
            <p:spPr>
              <a:xfrm>
                <a:off x="4696339" y="1345877"/>
                <a:ext cx="5152436" cy="369332"/>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6</m:t>
                        </m:r>
                      </m:sub>
                    </m:sSub>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5</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r>
                  <a:rPr lang="en-US" altLang="zh-CN" dirty="0">
                    <a:ea typeface="Microsoft YaHei" charset="0"/>
                  </a:rPr>
                  <a:t>=</a:t>
                </a:r>
                <a14:m>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b="0" i="1" smtClean="0">
                            <a:latin typeface="Cambria Math" panose="02040503050406030204" pitchFamily="18" charset="0"/>
                            <a:ea typeface="Microsoft YaHei" charset="0"/>
                          </a:rPr>
                          <m:t>1</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r>
                  <a:rPr lang="en-US" altLang="zh-CN" dirty="0">
                    <a:ea typeface="Microsoft YaHei" charset="0"/>
                  </a:rPr>
                  <a:t>+…+</a:t>
                </a:r>
                <a14:m>
                  <m:oMath xmlns:m="http://schemas.openxmlformats.org/officeDocument/2006/math">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𝑇</m:t>
                        </m:r>
                      </m:e>
                      <m:sub>
                        <m:r>
                          <a:rPr lang="en-US" altLang="zh-CN" i="1">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oMath>
                </a14:m>
                <a:endParaRPr lang="zh-CN" altLang="en-US" dirty="0">
                  <a:ea typeface="Microsoft YaHei" charset="0"/>
                </a:endParaRPr>
              </a:p>
            </p:txBody>
          </p:sp>
        </mc:Choice>
        <mc:Fallback xmlns="">
          <p:sp>
            <p:nvSpPr>
              <p:cNvPr id="39" name="文本框 38">
                <a:extLst>
                  <a:ext uri="{FF2B5EF4-FFF2-40B4-BE49-F238E27FC236}">
                    <a16:creationId xmlns:a16="http://schemas.microsoft.com/office/drawing/2014/main" id="{150E42AB-E8A3-3F77-D857-B2B6EDFED0AE}"/>
                  </a:ext>
                </a:extLst>
              </p:cNvPr>
              <p:cNvSpPr txBox="1">
                <a:spLocks noRot="1" noChangeAspect="1" noMove="1" noResize="1" noEditPoints="1" noAdjustHandles="1" noChangeArrowheads="1" noChangeShapeType="1" noTextEdit="1"/>
              </p:cNvSpPr>
              <p:nvPr/>
            </p:nvSpPr>
            <p:spPr>
              <a:xfrm>
                <a:off x="4696339" y="1345877"/>
                <a:ext cx="5152436" cy="369332"/>
              </a:xfrm>
              <a:prstGeom prst="rect">
                <a:avLst/>
              </a:prstGeom>
              <a:blipFill>
                <a:blip r:embed="rId10"/>
                <a:stretch>
                  <a:fillRect l="-2703" t="-27586" b="-48276"/>
                </a:stretch>
              </a:blipFill>
            </p:spPr>
            <p:txBody>
              <a:bodyPr/>
              <a:lstStyle/>
              <a:p>
                <a:r>
                  <a:rPr lang="ko-Kore-KR" altLang="en-US">
                    <a:noFill/>
                  </a:rPr>
                  <a:t> </a:t>
                </a:r>
              </a:p>
            </p:txBody>
          </p:sp>
        </mc:Fallback>
      </mc:AlternateContent>
      <p:sp>
        <p:nvSpPr>
          <p:cNvPr id="41" name="椭圆 40">
            <a:extLst>
              <a:ext uri="{FF2B5EF4-FFF2-40B4-BE49-F238E27FC236}">
                <a16:creationId xmlns:a16="http://schemas.microsoft.com/office/drawing/2014/main" id="{810CAB22-F18E-2AAC-B3B8-FEA04AEC514E}"/>
              </a:ext>
            </a:extLst>
          </p:cNvPr>
          <p:cNvSpPr/>
          <p:nvPr/>
        </p:nvSpPr>
        <p:spPr>
          <a:xfrm>
            <a:off x="9963985" y="1405204"/>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x&lt;6.5</a:t>
            </a:r>
            <a:endParaRPr lang="zh-CN" altLang="en-US" dirty="0">
              <a:solidFill>
                <a:schemeClr val="bg1"/>
              </a:solidFill>
              <a:ea typeface="Microsoft YaHei" charset="0"/>
            </a:endParaRPr>
          </a:p>
        </p:txBody>
      </p:sp>
      <p:sp>
        <p:nvSpPr>
          <p:cNvPr id="42" name="椭圆 41">
            <a:extLst>
              <a:ext uri="{FF2B5EF4-FFF2-40B4-BE49-F238E27FC236}">
                <a16:creationId xmlns:a16="http://schemas.microsoft.com/office/drawing/2014/main" id="{42250924-28AD-D652-24BA-C0F4703A1B40}"/>
              </a:ext>
            </a:extLst>
          </p:cNvPr>
          <p:cNvSpPr/>
          <p:nvPr/>
        </p:nvSpPr>
        <p:spPr>
          <a:xfrm>
            <a:off x="9243529" y="2263477"/>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x&lt;4.5</a:t>
            </a:r>
            <a:endParaRPr lang="zh-CN" altLang="en-US" sz="1600" dirty="0">
              <a:solidFill>
                <a:schemeClr val="bg1"/>
              </a:solidFill>
              <a:ea typeface="Microsoft YaHei" charset="0"/>
            </a:endParaRPr>
          </a:p>
        </p:txBody>
      </p:sp>
      <p:sp>
        <p:nvSpPr>
          <p:cNvPr id="43" name="矩形 42">
            <a:extLst>
              <a:ext uri="{FF2B5EF4-FFF2-40B4-BE49-F238E27FC236}">
                <a16:creationId xmlns:a16="http://schemas.microsoft.com/office/drawing/2014/main" id="{FA1DDA8E-044A-AE73-2D79-04E76040C3B4}"/>
              </a:ext>
            </a:extLst>
          </p:cNvPr>
          <p:cNvSpPr/>
          <p:nvPr/>
        </p:nvSpPr>
        <p:spPr>
          <a:xfrm>
            <a:off x="10912570" y="2336649"/>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8.95</a:t>
            </a:r>
            <a:endParaRPr lang="zh-CN" altLang="en-US" sz="2000" dirty="0">
              <a:ea typeface="Microsoft YaHei" charset="0"/>
            </a:endParaRPr>
          </a:p>
        </p:txBody>
      </p:sp>
      <p:cxnSp>
        <p:nvCxnSpPr>
          <p:cNvPr id="44" name="直接连接符 43">
            <a:extLst>
              <a:ext uri="{FF2B5EF4-FFF2-40B4-BE49-F238E27FC236}">
                <a16:creationId xmlns:a16="http://schemas.microsoft.com/office/drawing/2014/main" id="{DD71EF46-9DD3-2B54-0F3D-CCD4EEB5BC9A}"/>
              </a:ext>
            </a:extLst>
          </p:cNvPr>
          <p:cNvCxnSpPr>
            <a:stCxn id="41" idx="4"/>
            <a:endCxn id="43" idx="0"/>
          </p:cNvCxnSpPr>
          <p:nvPr/>
        </p:nvCxnSpPr>
        <p:spPr>
          <a:xfrm>
            <a:off x="10454020" y="1788381"/>
            <a:ext cx="850436" cy="548268"/>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B3B8762F-5368-721D-63E4-9BCBDF2FE10B}"/>
              </a:ext>
            </a:extLst>
          </p:cNvPr>
          <p:cNvSpPr/>
          <p:nvPr/>
        </p:nvSpPr>
        <p:spPr>
          <a:xfrm>
            <a:off x="8753494" y="3069620"/>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x&lt;3.5</a:t>
            </a:r>
            <a:endParaRPr lang="zh-CN" altLang="en-US" sz="1600" dirty="0">
              <a:solidFill>
                <a:schemeClr val="bg1"/>
              </a:solidFill>
              <a:ea typeface="Microsoft YaHei" charset="0"/>
            </a:endParaRPr>
          </a:p>
        </p:txBody>
      </p:sp>
      <p:sp>
        <p:nvSpPr>
          <p:cNvPr id="47" name="椭圆 46">
            <a:extLst>
              <a:ext uri="{FF2B5EF4-FFF2-40B4-BE49-F238E27FC236}">
                <a16:creationId xmlns:a16="http://schemas.microsoft.com/office/drawing/2014/main" id="{7594AC2C-B8AE-54E6-47FE-69A3690E170F}"/>
              </a:ext>
            </a:extLst>
          </p:cNvPr>
          <p:cNvSpPr/>
          <p:nvPr/>
        </p:nvSpPr>
        <p:spPr>
          <a:xfrm>
            <a:off x="8263459" y="3875763"/>
            <a:ext cx="980069" cy="383177"/>
          </a:xfrm>
          <a:prstGeom prst="ellipse">
            <a:avLst/>
          </a:prstGeom>
          <a:solidFill>
            <a:schemeClr val="accent2"/>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bg1"/>
                </a:solidFill>
                <a:ea typeface="Microsoft YaHei" charset="0"/>
              </a:rPr>
              <a:t>x&lt;2.5</a:t>
            </a:r>
            <a:endParaRPr lang="zh-CN" altLang="en-US" sz="1600" dirty="0">
              <a:solidFill>
                <a:schemeClr val="bg1"/>
              </a:solidFill>
              <a:ea typeface="Microsoft YaHei" charset="0"/>
            </a:endParaRPr>
          </a:p>
        </p:txBody>
      </p:sp>
      <p:cxnSp>
        <p:nvCxnSpPr>
          <p:cNvPr id="49" name="直接连接符 48">
            <a:extLst>
              <a:ext uri="{FF2B5EF4-FFF2-40B4-BE49-F238E27FC236}">
                <a16:creationId xmlns:a16="http://schemas.microsoft.com/office/drawing/2014/main" id="{420A0438-1D8A-D605-7BEE-9B6082AA6233}"/>
              </a:ext>
            </a:extLst>
          </p:cNvPr>
          <p:cNvCxnSpPr>
            <a:stCxn id="41" idx="4"/>
            <a:endCxn id="42" idx="0"/>
          </p:cNvCxnSpPr>
          <p:nvPr/>
        </p:nvCxnSpPr>
        <p:spPr>
          <a:xfrm flipH="1">
            <a:off x="9733564" y="1788381"/>
            <a:ext cx="720456" cy="475096"/>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AA49FDB7-5803-1A93-739E-42EBC768981E}"/>
              </a:ext>
            </a:extLst>
          </p:cNvPr>
          <p:cNvCxnSpPr>
            <a:stCxn id="42" idx="4"/>
            <a:endCxn id="46" idx="0"/>
          </p:cNvCxnSpPr>
          <p:nvPr/>
        </p:nvCxnSpPr>
        <p:spPr>
          <a:xfrm flipH="1">
            <a:off x="9243529" y="2646654"/>
            <a:ext cx="490035" cy="422966"/>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5A386C76-3C4C-3BED-1D9B-470F2B8BF100}"/>
              </a:ext>
            </a:extLst>
          </p:cNvPr>
          <p:cNvCxnSpPr>
            <a:stCxn id="46" idx="4"/>
            <a:endCxn id="47" idx="0"/>
          </p:cNvCxnSpPr>
          <p:nvPr/>
        </p:nvCxnSpPr>
        <p:spPr>
          <a:xfrm flipH="1">
            <a:off x="8753494" y="3452797"/>
            <a:ext cx="490035" cy="422966"/>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172DB1F8-807B-CAE4-3591-DE3A565072E9}"/>
              </a:ext>
            </a:extLst>
          </p:cNvPr>
          <p:cNvSpPr/>
          <p:nvPr/>
        </p:nvSpPr>
        <p:spPr>
          <a:xfrm>
            <a:off x="7773425" y="4608041"/>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5.63</a:t>
            </a:r>
            <a:endParaRPr lang="zh-CN" altLang="en-US" sz="2000" dirty="0">
              <a:ea typeface="Microsoft YaHei" charset="0"/>
            </a:endParaRPr>
          </a:p>
        </p:txBody>
      </p:sp>
      <p:cxnSp>
        <p:nvCxnSpPr>
          <p:cNvPr id="55" name="直接连接符 54">
            <a:extLst>
              <a:ext uri="{FF2B5EF4-FFF2-40B4-BE49-F238E27FC236}">
                <a16:creationId xmlns:a16="http://schemas.microsoft.com/office/drawing/2014/main" id="{5FFB8BFA-0203-DCEF-38F5-F61DCB29C395}"/>
              </a:ext>
            </a:extLst>
          </p:cNvPr>
          <p:cNvCxnSpPr>
            <a:stCxn id="47" idx="4"/>
            <a:endCxn id="54" idx="0"/>
          </p:cNvCxnSpPr>
          <p:nvPr/>
        </p:nvCxnSpPr>
        <p:spPr>
          <a:xfrm flipH="1">
            <a:off x="8165311" y="4258940"/>
            <a:ext cx="588183" cy="34910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949B4397-0148-4FD2-175C-0A94CF2D76F2}"/>
              </a:ext>
            </a:extLst>
          </p:cNvPr>
          <p:cNvSpPr/>
          <p:nvPr/>
        </p:nvSpPr>
        <p:spPr>
          <a:xfrm>
            <a:off x="10062135" y="3151201"/>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6.83</a:t>
            </a:r>
            <a:endParaRPr lang="zh-CN" altLang="en-US" sz="2000" dirty="0">
              <a:ea typeface="Microsoft YaHei" charset="0"/>
            </a:endParaRPr>
          </a:p>
        </p:txBody>
      </p:sp>
      <p:cxnSp>
        <p:nvCxnSpPr>
          <p:cNvPr id="59" name="直接连接符 58">
            <a:extLst>
              <a:ext uri="{FF2B5EF4-FFF2-40B4-BE49-F238E27FC236}">
                <a16:creationId xmlns:a16="http://schemas.microsoft.com/office/drawing/2014/main" id="{01CC7AC1-A059-3190-151B-43BFBE61E544}"/>
              </a:ext>
            </a:extLst>
          </p:cNvPr>
          <p:cNvCxnSpPr>
            <a:stCxn id="42" idx="4"/>
            <a:endCxn id="58" idx="0"/>
          </p:cNvCxnSpPr>
          <p:nvPr/>
        </p:nvCxnSpPr>
        <p:spPr>
          <a:xfrm>
            <a:off x="9733564" y="2646654"/>
            <a:ext cx="720457" cy="504547"/>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916B8CB6-1D4A-9778-845F-6AE9B70DD675}"/>
              </a:ext>
            </a:extLst>
          </p:cNvPr>
          <p:cNvSpPr/>
          <p:nvPr/>
        </p:nvSpPr>
        <p:spPr>
          <a:xfrm>
            <a:off x="9488545" y="3953348"/>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6.56</a:t>
            </a:r>
            <a:endParaRPr lang="zh-CN" altLang="en-US" sz="2000" dirty="0">
              <a:ea typeface="Microsoft YaHei" charset="0"/>
            </a:endParaRPr>
          </a:p>
        </p:txBody>
      </p:sp>
      <p:cxnSp>
        <p:nvCxnSpPr>
          <p:cNvPr id="62" name="直接连接符 61">
            <a:extLst>
              <a:ext uri="{FF2B5EF4-FFF2-40B4-BE49-F238E27FC236}">
                <a16:creationId xmlns:a16="http://schemas.microsoft.com/office/drawing/2014/main" id="{8B442C37-081A-C4EE-A26F-D0B6B12105B3}"/>
              </a:ext>
            </a:extLst>
          </p:cNvPr>
          <p:cNvCxnSpPr>
            <a:stCxn id="46" idx="4"/>
            <a:endCxn id="61" idx="0"/>
          </p:cNvCxnSpPr>
          <p:nvPr/>
        </p:nvCxnSpPr>
        <p:spPr>
          <a:xfrm>
            <a:off x="9243529" y="3452797"/>
            <a:ext cx="636902" cy="50055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A6CC73DD-6012-905B-CD7E-07F020146BD2}"/>
              </a:ext>
            </a:extLst>
          </p:cNvPr>
          <p:cNvSpPr/>
          <p:nvPr/>
        </p:nvSpPr>
        <p:spPr>
          <a:xfrm>
            <a:off x="9096660" y="4608041"/>
            <a:ext cx="783771" cy="235132"/>
          </a:xfrm>
          <a:prstGeom prst="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ea typeface="Microsoft YaHei" charset="0"/>
              </a:rPr>
              <a:t>5.82</a:t>
            </a:r>
            <a:endParaRPr lang="zh-CN" altLang="en-US" sz="2000" dirty="0">
              <a:ea typeface="Microsoft YaHei" charset="0"/>
            </a:endParaRPr>
          </a:p>
        </p:txBody>
      </p:sp>
      <p:cxnSp>
        <p:nvCxnSpPr>
          <p:cNvPr id="66" name="直接连接符 65">
            <a:extLst>
              <a:ext uri="{FF2B5EF4-FFF2-40B4-BE49-F238E27FC236}">
                <a16:creationId xmlns:a16="http://schemas.microsoft.com/office/drawing/2014/main" id="{9C451CA9-79E2-96A3-83AF-226A4733E747}"/>
              </a:ext>
            </a:extLst>
          </p:cNvPr>
          <p:cNvCxnSpPr>
            <a:stCxn id="47" idx="4"/>
            <a:endCxn id="65" idx="0"/>
          </p:cNvCxnSpPr>
          <p:nvPr/>
        </p:nvCxnSpPr>
        <p:spPr>
          <a:xfrm>
            <a:off x="8753494" y="4258940"/>
            <a:ext cx="735052" cy="349101"/>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sp>
        <p:nvSpPr>
          <p:cNvPr id="68"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a:extLst>
              <a:ext uri="{FF2B5EF4-FFF2-40B4-BE49-F238E27FC236}">
                <a16:creationId xmlns:a16="http://schemas.microsoft.com/office/drawing/2014/main" id="{DEAA2A69-4992-CFD0-F547-014033C95A3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C033372-3DAE-0334-75F5-50E62886C32D}"/>
                  </a:ext>
                </a:extLst>
              </p:cNvPr>
              <p:cNvSpPr txBox="1"/>
              <p:nvPr/>
            </p:nvSpPr>
            <p:spPr>
              <a:xfrm>
                <a:off x="4456748" y="5620665"/>
                <a:ext cx="5186869" cy="1038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𝐿</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𝑦</m:t>
                          </m:r>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6</m:t>
                              </m:r>
                            </m:sub>
                          </m:sSub>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𝑥</m:t>
                              </m:r>
                            </m:e>
                          </m:d>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10</m:t>
                          </m:r>
                        </m:sup>
                        <m:e>
                          <m:sSup>
                            <m:sSupPr>
                              <m:ctrlPr>
                                <a:rPr lang="en-US" altLang="zh-CN" i="1" smtClean="0">
                                  <a:latin typeface="Cambria Math" panose="02040503050406030204" pitchFamily="18" charset="0"/>
                                  <a:ea typeface="Microsoft YaHei" charset="0"/>
                                </a:rPr>
                              </m:ctrlPr>
                            </m:sSupPr>
                            <m:e>
                              <m:r>
                                <a:rPr lang="en-US" altLang="zh-CN" i="1">
                                  <a:latin typeface="Cambria Math" panose="02040503050406030204" pitchFamily="18" charset="0"/>
                                  <a:ea typeface="Microsoft YaHei" charset="0"/>
                                </a:rPr>
                                <m:t>(</m:t>
                              </m:r>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6</m:t>
                                  </m:r>
                                </m:sub>
                              </m:sSub>
                              <m:r>
                                <a:rPr lang="en-US" altLang="zh-CN"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r>
                                <a:rPr lang="en-US" altLang="zh-CN"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m:t>
                              </m:r>
                            </m:e>
                            <m:sup>
                              <m:r>
                                <a:rPr lang="en-US" altLang="zh-CN" i="1">
                                  <a:latin typeface="Cambria Math" panose="02040503050406030204" pitchFamily="18" charset="0"/>
                                  <a:ea typeface="Microsoft YaHei" charset="0"/>
                                </a:rPr>
                                <m:t>2</m:t>
                              </m:r>
                            </m:sup>
                          </m:sSup>
                          <m:r>
                            <m:rPr>
                              <m:nor/>
                            </m:rPr>
                            <a:rPr lang="zh-CN" altLang="en-US" dirty="0">
                              <a:ea typeface="Microsoft YaHei" charset="0"/>
                            </a:rPr>
                            <m:t> </m:t>
                          </m:r>
                        </m:e>
                      </m:nary>
                      <m:r>
                        <a:rPr lang="en-US" altLang="zh-CN" b="0" i="1" smtClean="0">
                          <a:latin typeface="Cambria Math" panose="02040503050406030204" pitchFamily="18" charset="0"/>
                          <a:ea typeface="Microsoft YaHei" charset="0"/>
                        </a:rPr>
                        <m:t>=0.17</m:t>
                      </m:r>
                    </m:oMath>
                  </m:oMathPara>
                </a14:m>
                <a:endParaRPr lang="zh-CN" altLang="en-US" dirty="0">
                  <a:ea typeface="Microsoft YaHei" charset="0"/>
                </a:endParaRPr>
              </a:p>
            </p:txBody>
          </p:sp>
        </mc:Choice>
        <mc:Fallback xmlns="">
          <p:sp>
            <p:nvSpPr>
              <p:cNvPr id="2" name="文本框 1">
                <a:extLst>
                  <a:ext uri="{FF2B5EF4-FFF2-40B4-BE49-F238E27FC236}">
                    <a16:creationId xmlns:a16="http://schemas.microsoft.com/office/drawing/2014/main" id="{3C033372-3DAE-0334-75F5-50E62886C32D}"/>
                  </a:ext>
                </a:extLst>
              </p:cNvPr>
              <p:cNvSpPr txBox="1">
                <a:spLocks noRot="1" noChangeAspect="1" noMove="1" noResize="1" noEditPoints="1" noAdjustHandles="1" noChangeArrowheads="1" noChangeShapeType="1" noTextEdit="1"/>
              </p:cNvSpPr>
              <p:nvPr/>
            </p:nvSpPr>
            <p:spPr>
              <a:xfrm>
                <a:off x="4456748" y="5620665"/>
                <a:ext cx="5186869" cy="1038298"/>
              </a:xfrm>
              <a:prstGeom prst="rect">
                <a:avLst/>
              </a:prstGeom>
              <a:blipFill>
                <a:blip r:embed="rId11"/>
                <a:stretch>
                  <a:fillRect/>
                </a:stretch>
              </a:blipFill>
            </p:spPr>
            <p:txBody>
              <a:bodyPr/>
              <a:lstStyle/>
              <a:p>
                <a:r>
                  <a:rPr lang="zh-CN" altLang="en-US">
                    <a:noFill/>
                  </a:rPr>
                  <a:t> </a:t>
                </a:r>
              </a:p>
            </p:txBody>
          </p:sp>
        </mc:Fallback>
      </mc:AlternateContent>
      <p:sp>
        <p:nvSpPr>
          <p:cNvPr id="12" name="Rectangle 2">
            <a:extLst>
              <a:ext uri="{FF2B5EF4-FFF2-40B4-BE49-F238E27FC236}">
                <a16:creationId xmlns:a16="http://schemas.microsoft.com/office/drawing/2014/main" id="{2EE21B40-8A2B-A3A3-CA4C-6C353B8A4170}"/>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a:t>
            </a:r>
          </a:p>
        </p:txBody>
      </p:sp>
    </p:spTree>
    <p:extLst>
      <p:ext uri="{BB962C8B-B14F-4D97-AF65-F5344CB8AC3E}">
        <p14:creationId xmlns:p14="http://schemas.microsoft.com/office/powerpoint/2010/main" val="304510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fill="hold"/>
                                        <p:tgtEl>
                                          <p:spTgt spid="41"/>
                                        </p:tgtEl>
                                        <p:attrNameLst>
                                          <p:attrName>ppt_w</p:attrName>
                                        </p:attrNameLst>
                                      </p:cBhvr>
                                      <p:tavLst>
                                        <p:tav tm="0">
                                          <p:val>
                                            <p:fltVal val="0"/>
                                          </p:val>
                                        </p:tav>
                                        <p:tav tm="100000">
                                          <p:val>
                                            <p:strVal val="#ppt_w"/>
                                          </p:val>
                                        </p:tav>
                                      </p:tavLst>
                                    </p:anim>
                                    <p:anim calcmode="lin" valueType="num">
                                      <p:cBhvr>
                                        <p:cTn id="8" dur="500" fill="hold"/>
                                        <p:tgtEl>
                                          <p:spTgt spid="41"/>
                                        </p:tgtEl>
                                        <p:attrNameLst>
                                          <p:attrName>ppt_h</p:attrName>
                                        </p:attrNameLst>
                                      </p:cBhvr>
                                      <p:tavLst>
                                        <p:tav tm="0">
                                          <p:val>
                                            <p:fltVal val="0"/>
                                          </p:val>
                                        </p:tav>
                                        <p:tav tm="100000">
                                          <p:val>
                                            <p:strVal val="#ppt_h"/>
                                          </p:val>
                                        </p:tav>
                                      </p:tavLst>
                                    </p:anim>
                                    <p:animEffect transition="in" filter="fade">
                                      <p:cBhvr>
                                        <p:cTn id="9" dur="500"/>
                                        <p:tgtEl>
                                          <p:spTgt spid="41"/>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p:cTn id="12" dur="500" fill="hold"/>
                                        <p:tgtEl>
                                          <p:spTgt spid="42"/>
                                        </p:tgtEl>
                                        <p:attrNameLst>
                                          <p:attrName>ppt_w</p:attrName>
                                        </p:attrNameLst>
                                      </p:cBhvr>
                                      <p:tavLst>
                                        <p:tav tm="0">
                                          <p:val>
                                            <p:fltVal val="0"/>
                                          </p:val>
                                        </p:tav>
                                        <p:tav tm="100000">
                                          <p:val>
                                            <p:strVal val="#ppt_w"/>
                                          </p:val>
                                        </p:tav>
                                      </p:tavLst>
                                    </p:anim>
                                    <p:anim calcmode="lin" valueType="num">
                                      <p:cBhvr>
                                        <p:cTn id="13" dur="500" fill="hold"/>
                                        <p:tgtEl>
                                          <p:spTgt spid="42"/>
                                        </p:tgtEl>
                                        <p:attrNameLst>
                                          <p:attrName>ppt_h</p:attrName>
                                        </p:attrNameLst>
                                      </p:cBhvr>
                                      <p:tavLst>
                                        <p:tav tm="0">
                                          <p:val>
                                            <p:fltVal val="0"/>
                                          </p:val>
                                        </p:tav>
                                        <p:tav tm="100000">
                                          <p:val>
                                            <p:strVal val="#ppt_h"/>
                                          </p:val>
                                        </p:tav>
                                      </p:tavLst>
                                    </p:anim>
                                    <p:animEffect transition="in" filter="fade">
                                      <p:cBhvr>
                                        <p:cTn id="14" dur="500"/>
                                        <p:tgtEl>
                                          <p:spTgt spid="4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 calcmode="lin" valueType="num">
                                      <p:cBhvr>
                                        <p:cTn id="17" dur="500" fill="hold"/>
                                        <p:tgtEl>
                                          <p:spTgt spid="43"/>
                                        </p:tgtEl>
                                        <p:attrNameLst>
                                          <p:attrName>ppt_w</p:attrName>
                                        </p:attrNameLst>
                                      </p:cBhvr>
                                      <p:tavLst>
                                        <p:tav tm="0">
                                          <p:val>
                                            <p:fltVal val="0"/>
                                          </p:val>
                                        </p:tav>
                                        <p:tav tm="100000">
                                          <p:val>
                                            <p:strVal val="#ppt_w"/>
                                          </p:val>
                                        </p:tav>
                                      </p:tavLst>
                                    </p:anim>
                                    <p:anim calcmode="lin" valueType="num">
                                      <p:cBhvr>
                                        <p:cTn id="18" dur="500" fill="hold"/>
                                        <p:tgtEl>
                                          <p:spTgt spid="43"/>
                                        </p:tgtEl>
                                        <p:attrNameLst>
                                          <p:attrName>ppt_h</p:attrName>
                                        </p:attrNameLst>
                                      </p:cBhvr>
                                      <p:tavLst>
                                        <p:tav tm="0">
                                          <p:val>
                                            <p:fltVal val="0"/>
                                          </p:val>
                                        </p:tav>
                                        <p:tav tm="100000">
                                          <p:val>
                                            <p:strVal val="#ppt_h"/>
                                          </p:val>
                                        </p:tav>
                                      </p:tavLst>
                                    </p:anim>
                                    <p:animEffect transition="in" filter="fade">
                                      <p:cBhvr>
                                        <p:cTn id="19" dur="500"/>
                                        <p:tgtEl>
                                          <p:spTgt spid="43"/>
                                        </p:tgtEl>
                                      </p:cBhvr>
                                    </p:animEffect>
                                  </p:childTnLst>
                                </p:cTn>
                              </p:par>
                              <p:par>
                                <p:cTn id="20" presetID="53" presetClass="entr" presetSubtype="16" fill="hold" nodeType="withEffect">
                                  <p:stCondLst>
                                    <p:cond delay="0"/>
                                  </p:stCondLst>
                                  <p:childTnLst>
                                    <p:set>
                                      <p:cBhvr>
                                        <p:cTn id="21" dur="1" fill="hold">
                                          <p:stCondLst>
                                            <p:cond delay="0"/>
                                          </p:stCondLst>
                                        </p:cTn>
                                        <p:tgtEl>
                                          <p:spTgt spid="44"/>
                                        </p:tgtEl>
                                        <p:attrNameLst>
                                          <p:attrName>style.visibility</p:attrName>
                                        </p:attrNameLst>
                                      </p:cBhvr>
                                      <p:to>
                                        <p:strVal val="visible"/>
                                      </p:to>
                                    </p:set>
                                    <p:anim calcmode="lin" valueType="num">
                                      <p:cBhvr>
                                        <p:cTn id="22" dur="500" fill="hold"/>
                                        <p:tgtEl>
                                          <p:spTgt spid="44"/>
                                        </p:tgtEl>
                                        <p:attrNameLst>
                                          <p:attrName>ppt_w</p:attrName>
                                        </p:attrNameLst>
                                      </p:cBhvr>
                                      <p:tavLst>
                                        <p:tav tm="0">
                                          <p:val>
                                            <p:fltVal val="0"/>
                                          </p:val>
                                        </p:tav>
                                        <p:tav tm="100000">
                                          <p:val>
                                            <p:strVal val="#ppt_w"/>
                                          </p:val>
                                        </p:tav>
                                      </p:tavLst>
                                    </p:anim>
                                    <p:anim calcmode="lin" valueType="num">
                                      <p:cBhvr>
                                        <p:cTn id="23" dur="500" fill="hold"/>
                                        <p:tgtEl>
                                          <p:spTgt spid="44"/>
                                        </p:tgtEl>
                                        <p:attrNameLst>
                                          <p:attrName>ppt_h</p:attrName>
                                        </p:attrNameLst>
                                      </p:cBhvr>
                                      <p:tavLst>
                                        <p:tav tm="0">
                                          <p:val>
                                            <p:fltVal val="0"/>
                                          </p:val>
                                        </p:tav>
                                        <p:tav tm="100000">
                                          <p:val>
                                            <p:strVal val="#ppt_h"/>
                                          </p:val>
                                        </p:tav>
                                      </p:tavLst>
                                    </p:anim>
                                    <p:animEffect transition="in" filter="fade">
                                      <p:cBhvr>
                                        <p:cTn id="24" dur="500"/>
                                        <p:tgtEl>
                                          <p:spTgt spid="4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anim calcmode="lin" valueType="num">
                                      <p:cBhvr>
                                        <p:cTn id="27" dur="500" fill="hold"/>
                                        <p:tgtEl>
                                          <p:spTgt spid="46"/>
                                        </p:tgtEl>
                                        <p:attrNameLst>
                                          <p:attrName>ppt_w</p:attrName>
                                        </p:attrNameLst>
                                      </p:cBhvr>
                                      <p:tavLst>
                                        <p:tav tm="0">
                                          <p:val>
                                            <p:fltVal val="0"/>
                                          </p:val>
                                        </p:tav>
                                        <p:tav tm="100000">
                                          <p:val>
                                            <p:strVal val="#ppt_w"/>
                                          </p:val>
                                        </p:tav>
                                      </p:tavLst>
                                    </p:anim>
                                    <p:anim calcmode="lin" valueType="num">
                                      <p:cBhvr>
                                        <p:cTn id="28" dur="500" fill="hold"/>
                                        <p:tgtEl>
                                          <p:spTgt spid="46"/>
                                        </p:tgtEl>
                                        <p:attrNameLst>
                                          <p:attrName>ppt_h</p:attrName>
                                        </p:attrNameLst>
                                      </p:cBhvr>
                                      <p:tavLst>
                                        <p:tav tm="0">
                                          <p:val>
                                            <p:fltVal val="0"/>
                                          </p:val>
                                        </p:tav>
                                        <p:tav tm="100000">
                                          <p:val>
                                            <p:strVal val="#ppt_h"/>
                                          </p:val>
                                        </p:tav>
                                      </p:tavLst>
                                    </p:anim>
                                    <p:animEffect transition="in" filter="fade">
                                      <p:cBhvr>
                                        <p:cTn id="29" dur="500"/>
                                        <p:tgtEl>
                                          <p:spTgt spid="4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 calcmode="lin" valueType="num">
                                      <p:cBhvr>
                                        <p:cTn id="32" dur="500" fill="hold"/>
                                        <p:tgtEl>
                                          <p:spTgt spid="47"/>
                                        </p:tgtEl>
                                        <p:attrNameLst>
                                          <p:attrName>ppt_w</p:attrName>
                                        </p:attrNameLst>
                                      </p:cBhvr>
                                      <p:tavLst>
                                        <p:tav tm="0">
                                          <p:val>
                                            <p:fltVal val="0"/>
                                          </p:val>
                                        </p:tav>
                                        <p:tav tm="100000">
                                          <p:val>
                                            <p:strVal val="#ppt_w"/>
                                          </p:val>
                                        </p:tav>
                                      </p:tavLst>
                                    </p:anim>
                                    <p:anim calcmode="lin" valueType="num">
                                      <p:cBhvr>
                                        <p:cTn id="33" dur="500" fill="hold"/>
                                        <p:tgtEl>
                                          <p:spTgt spid="47"/>
                                        </p:tgtEl>
                                        <p:attrNameLst>
                                          <p:attrName>ppt_h</p:attrName>
                                        </p:attrNameLst>
                                      </p:cBhvr>
                                      <p:tavLst>
                                        <p:tav tm="0">
                                          <p:val>
                                            <p:fltVal val="0"/>
                                          </p:val>
                                        </p:tav>
                                        <p:tav tm="100000">
                                          <p:val>
                                            <p:strVal val="#ppt_h"/>
                                          </p:val>
                                        </p:tav>
                                      </p:tavLst>
                                    </p:anim>
                                    <p:animEffect transition="in" filter="fade">
                                      <p:cBhvr>
                                        <p:cTn id="34" dur="500"/>
                                        <p:tgtEl>
                                          <p:spTgt spid="47"/>
                                        </p:tgtEl>
                                      </p:cBhvr>
                                    </p:animEffect>
                                  </p:childTnLst>
                                </p:cTn>
                              </p:par>
                              <p:par>
                                <p:cTn id="35" presetID="53" presetClass="entr" presetSubtype="16"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anim calcmode="lin" valueType="num">
                                      <p:cBhvr>
                                        <p:cTn id="37" dur="500" fill="hold"/>
                                        <p:tgtEl>
                                          <p:spTgt spid="49"/>
                                        </p:tgtEl>
                                        <p:attrNameLst>
                                          <p:attrName>ppt_w</p:attrName>
                                        </p:attrNameLst>
                                      </p:cBhvr>
                                      <p:tavLst>
                                        <p:tav tm="0">
                                          <p:val>
                                            <p:fltVal val="0"/>
                                          </p:val>
                                        </p:tav>
                                        <p:tav tm="100000">
                                          <p:val>
                                            <p:strVal val="#ppt_w"/>
                                          </p:val>
                                        </p:tav>
                                      </p:tavLst>
                                    </p:anim>
                                    <p:anim calcmode="lin" valueType="num">
                                      <p:cBhvr>
                                        <p:cTn id="38" dur="500" fill="hold"/>
                                        <p:tgtEl>
                                          <p:spTgt spid="49"/>
                                        </p:tgtEl>
                                        <p:attrNameLst>
                                          <p:attrName>ppt_h</p:attrName>
                                        </p:attrNameLst>
                                      </p:cBhvr>
                                      <p:tavLst>
                                        <p:tav tm="0">
                                          <p:val>
                                            <p:fltVal val="0"/>
                                          </p:val>
                                        </p:tav>
                                        <p:tav tm="100000">
                                          <p:val>
                                            <p:strVal val="#ppt_h"/>
                                          </p:val>
                                        </p:tav>
                                      </p:tavLst>
                                    </p:anim>
                                    <p:animEffect transition="in" filter="fade">
                                      <p:cBhvr>
                                        <p:cTn id="39" dur="500"/>
                                        <p:tgtEl>
                                          <p:spTgt spid="49"/>
                                        </p:tgtEl>
                                      </p:cBhvr>
                                    </p:animEffect>
                                  </p:childTnLst>
                                </p:cTn>
                              </p:par>
                              <p:par>
                                <p:cTn id="40" presetID="53" presetClass="entr" presetSubtype="16" fill="hold" nodeType="withEffect">
                                  <p:stCondLst>
                                    <p:cond delay="0"/>
                                  </p:stCondLst>
                                  <p:childTnLst>
                                    <p:set>
                                      <p:cBhvr>
                                        <p:cTn id="41" dur="1" fill="hold">
                                          <p:stCondLst>
                                            <p:cond delay="0"/>
                                          </p:stCondLst>
                                        </p:cTn>
                                        <p:tgtEl>
                                          <p:spTgt spid="51"/>
                                        </p:tgtEl>
                                        <p:attrNameLst>
                                          <p:attrName>style.visibility</p:attrName>
                                        </p:attrNameLst>
                                      </p:cBhvr>
                                      <p:to>
                                        <p:strVal val="visible"/>
                                      </p:to>
                                    </p:set>
                                    <p:anim calcmode="lin" valueType="num">
                                      <p:cBhvr>
                                        <p:cTn id="42" dur="500" fill="hold"/>
                                        <p:tgtEl>
                                          <p:spTgt spid="51"/>
                                        </p:tgtEl>
                                        <p:attrNameLst>
                                          <p:attrName>ppt_w</p:attrName>
                                        </p:attrNameLst>
                                      </p:cBhvr>
                                      <p:tavLst>
                                        <p:tav tm="0">
                                          <p:val>
                                            <p:fltVal val="0"/>
                                          </p:val>
                                        </p:tav>
                                        <p:tav tm="100000">
                                          <p:val>
                                            <p:strVal val="#ppt_w"/>
                                          </p:val>
                                        </p:tav>
                                      </p:tavLst>
                                    </p:anim>
                                    <p:anim calcmode="lin" valueType="num">
                                      <p:cBhvr>
                                        <p:cTn id="43" dur="500" fill="hold"/>
                                        <p:tgtEl>
                                          <p:spTgt spid="51"/>
                                        </p:tgtEl>
                                        <p:attrNameLst>
                                          <p:attrName>ppt_h</p:attrName>
                                        </p:attrNameLst>
                                      </p:cBhvr>
                                      <p:tavLst>
                                        <p:tav tm="0">
                                          <p:val>
                                            <p:fltVal val="0"/>
                                          </p:val>
                                        </p:tav>
                                        <p:tav tm="100000">
                                          <p:val>
                                            <p:strVal val="#ppt_h"/>
                                          </p:val>
                                        </p:tav>
                                      </p:tavLst>
                                    </p:anim>
                                    <p:animEffect transition="in" filter="fade">
                                      <p:cBhvr>
                                        <p:cTn id="44" dur="500"/>
                                        <p:tgtEl>
                                          <p:spTgt spid="51"/>
                                        </p:tgtEl>
                                      </p:cBhvr>
                                    </p:animEffect>
                                  </p:childTnLst>
                                </p:cTn>
                              </p:par>
                              <p:par>
                                <p:cTn id="45" presetID="53" presetClass="entr" presetSubtype="16"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anim calcmode="lin" valueType="num">
                                      <p:cBhvr>
                                        <p:cTn id="47" dur="500" fill="hold"/>
                                        <p:tgtEl>
                                          <p:spTgt spid="53"/>
                                        </p:tgtEl>
                                        <p:attrNameLst>
                                          <p:attrName>ppt_w</p:attrName>
                                        </p:attrNameLst>
                                      </p:cBhvr>
                                      <p:tavLst>
                                        <p:tav tm="0">
                                          <p:val>
                                            <p:fltVal val="0"/>
                                          </p:val>
                                        </p:tav>
                                        <p:tav tm="100000">
                                          <p:val>
                                            <p:strVal val="#ppt_w"/>
                                          </p:val>
                                        </p:tav>
                                      </p:tavLst>
                                    </p:anim>
                                    <p:anim calcmode="lin" valueType="num">
                                      <p:cBhvr>
                                        <p:cTn id="48" dur="500" fill="hold"/>
                                        <p:tgtEl>
                                          <p:spTgt spid="53"/>
                                        </p:tgtEl>
                                        <p:attrNameLst>
                                          <p:attrName>ppt_h</p:attrName>
                                        </p:attrNameLst>
                                      </p:cBhvr>
                                      <p:tavLst>
                                        <p:tav tm="0">
                                          <p:val>
                                            <p:fltVal val="0"/>
                                          </p:val>
                                        </p:tav>
                                        <p:tav tm="100000">
                                          <p:val>
                                            <p:strVal val="#ppt_h"/>
                                          </p:val>
                                        </p:tav>
                                      </p:tavLst>
                                    </p:anim>
                                    <p:animEffect transition="in" filter="fade">
                                      <p:cBhvr>
                                        <p:cTn id="49" dur="500"/>
                                        <p:tgtEl>
                                          <p:spTgt spid="53"/>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54"/>
                                        </p:tgtEl>
                                        <p:attrNameLst>
                                          <p:attrName>style.visibility</p:attrName>
                                        </p:attrNameLst>
                                      </p:cBhvr>
                                      <p:to>
                                        <p:strVal val="visible"/>
                                      </p:to>
                                    </p:set>
                                    <p:anim calcmode="lin" valueType="num">
                                      <p:cBhvr>
                                        <p:cTn id="52" dur="500" fill="hold"/>
                                        <p:tgtEl>
                                          <p:spTgt spid="54"/>
                                        </p:tgtEl>
                                        <p:attrNameLst>
                                          <p:attrName>ppt_w</p:attrName>
                                        </p:attrNameLst>
                                      </p:cBhvr>
                                      <p:tavLst>
                                        <p:tav tm="0">
                                          <p:val>
                                            <p:fltVal val="0"/>
                                          </p:val>
                                        </p:tav>
                                        <p:tav tm="100000">
                                          <p:val>
                                            <p:strVal val="#ppt_w"/>
                                          </p:val>
                                        </p:tav>
                                      </p:tavLst>
                                    </p:anim>
                                    <p:anim calcmode="lin" valueType="num">
                                      <p:cBhvr>
                                        <p:cTn id="53" dur="500" fill="hold"/>
                                        <p:tgtEl>
                                          <p:spTgt spid="54"/>
                                        </p:tgtEl>
                                        <p:attrNameLst>
                                          <p:attrName>ppt_h</p:attrName>
                                        </p:attrNameLst>
                                      </p:cBhvr>
                                      <p:tavLst>
                                        <p:tav tm="0">
                                          <p:val>
                                            <p:fltVal val="0"/>
                                          </p:val>
                                        </p:tav>
                                        <p:tav tm="100000">
                                          <p:val>
                                            <p:strVal val="#ppt_h"/>
                                          </p:val>
                                        </p:tav>
                                      </p:tavLst>
                                    </p:anim>
                                    <p:animEffect transition="in" filter="fade">
                                      <p:cBhvr>
                                        <p:cTn id="54" dur="500"/>
                                        <p:tgtEl>
                                          <p:spTgt spid="54"/>
                                        </p:tgtEl>
                                      </p:cBhvr>
                                    </p:animEffect>
                                  </p:childTnLst>
                                </p:cTn>
                              </p:par>
                              <p:par>
                                <p:cTn id="55" presetID="53" presetClass="entr" presetSubtype="16" fill="hold" nodeType="withEffect">
                                  <p:stCondLst>
                                    <p:cond delay="0"/>
                                  </p:stCondLst>
                                  <p:childTnLst>
                                    <p:set>
                                      <p:cBhvr>
                                        <p:cTn id="56" dur="1" fill="hold">
                                          <p:stCondLst>
                                            <p:cond delay="0"/>
                                          </p:stCondLst>
                                        </p:cTn>
                                        <p:tgtEl>
                                          <p:spTgt spid="55"/>
                                        </p:tgtEl>
                                        <p:attrNameLst>
                                          <p:attrName>style.visibility</p:attrName>
                                        </p:attrNameLst>
                                      </p:cBhvr>
                                      <p:to>
                                        <p:strVal val="visible"/>
                                      </p:to>
                                    </p:set>
                                    <p:anim calcmode="lin" valueType="num">
                                      <p:cBhvr>
                                        <p:cTn id="57" dur="500" fill="hold"/>
                                        <p:tgtEl>
                                          <p:spTgt spid="55"/>
                                        </p:tgtEl>
                                        <p:attrNameLst>
                                          <p:attrName>ppt_w</p:attrName>
                                        </p:attrNameLst>
                                      </p:cBhvr>
                                      <p:tavLst>
                                        <p:tav tm="0">
                                          <p:val>
                                            <p:fltVal val="0"/>
                                          </p:val>
                                        </p:tav>
                                        <p:tav tm="100000">
                                          <p:val>
                                            <p:strVal val="#ppt_w"/>
                                          </p:val>
                                        </p:tav>
                                      </p:tavLst>
                                    </p:anim>
                                    <p:anim calcmode="lin" valueType="num">
                                      <p:cBhvr>
                                        <p:cTn id="58" dur="500" fill="hold"/>
                                        <p:tgtEl>
                                          <p:spTgt spid="55"/>
                                        </p:tgtEl>
                                        <p:attrNameLst>
                                          <p:attrName>ppt_h</p:attrName>
                                        </p:attrNameLst>
                                      </p:cBhvr>
                                      <p:tavLst>
                                        <p:tav tm="0">
                                          <p:val>
                                            <p:fltVal val="0"/>
                                          </p:val>
                                        </p:tav>
                                        <p:tav tm="100000">
                                          <p:val>
                                            <p:strVal val="#ppt_h"/>
                                          </p:val>
                                        </p:tav>
                                      </p:tavLst>
                                    </p:anim>
                                    <p:animEffect transition="in" filter="fade">
                                      <p:cBhvr>
                                        <p:cTn id="59" dur="500"/>
                                        <p:tgtEl>
                                          <p:spTgt spid="5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58"/>
                                        </p:tgtEl>
                                        <p:attrNameLst>
                                          <p:attrName>style.visibility</p:attrName>
                                        </p:attrNameLst>
                                      </p:cBhvr>
                                      <p:to>
                                        <p:strVal val="visible"/>
                                      </p:to>
                                    </p:set>
                                    <p:anim calcmode="lin" valueType="num">
                                      <p:cBhvr>
                                        <p:cTn id="62" dur="500" fill="hold"/>
                                        <p:tgtEl>
                                          <p:spTgt spid="58"/>
                                        </p:tgtEl>
                                        <p:attrNameLst>
                                          <p:attrName>ppt_w</p:attrName>
                                        </p:attrNameLst>
                                      </p:cBhvr>
                                      <p:tavLst>
                                        <p:tav tm="0">
                                          <p:val>
                                            <p:fltVal val="0"/>
                                          </p:val>
                                        </p:tav>
                                        <p:tav tm="100000">
                                          <p:val>
                                            <p:strVal val="#ppt_w"/>
                                          </p:val>
                                        </p:tav>
                                      </p:tavLst>
                                    </p:anim>
                                    <p:anim calcmode="lin" valueType="num">
                                      <p:cBhvr>
                                        <p:cTn id="63" dur="500" fill="hold"/>
                                        <p:tgtEl>
                                          <p:spTgt spid="58"/>
                                        </p:tgtEl>
                                        <p:attrNameLst>
                                          <p:attrName>ppt_h</p:attrName>
                                        </p:attrNameLst>
                                      </p:cBhvr>
                                      <p:tavLst>
                                        <p:tav tm="0">
                                          <p:val>
                                            <p:fltVal val="0"/>
                                          </p:val>
                                        </p:tav>
                                        <p:tav tm="100000">
                                          <p:val>
                                            <p:strVal val="#ppt_h"/>
                                          </p:val>
                                        </p:tav>
                                      </p:tavLst>
                                    </p:anim>
                                    <p:animEffect transition="in" filter="fade">
                                      <p:cBhvr>
                                        <p:cTn id="64" dur="500"/>
                                        <p:tgtEl>
                                          <p:spTgt spid="58"/>
                                        </p:tgtEl>
                                      </p:cBhvr>
                                    </p:animEffect>
                                  </p:childTnLst>
                                </p:cTn>
                              </p:par>
                              <p:par>
                                <p:cTn id="65" presetID="53" presetClass="entr" presetSubtype="16" fill="hold" nodeType="withEffect">
                                  <p:stCondLst>
                                    <p:cond delay="0"/>
                                  </p:stCondLst>
                                  <p:childTnLst>
                                    <p:set>
                                      <p:cBhvr>
                                        <p:cTn id="66" dur="1" fill="hold">
                                          <p:stCondLst>
                                            <p:cond delay="0"/>
                                          </p:stCondLst>
                                        </p:cTn>
                                        <p:tgtEl>
                                          <p:spTgt spid="59"/>
                                        </p:tgtEl>
                                        <p:attrNameLst>
                                          <p:attrName>style.visibility</p:attrName>
                                        </p:attrNameLst>
                                      </p:cBhvr>
                                      <p:to>
                                        <p:strVal val="visible"/>
                                      </p:to>
                                    </p:set>
                                    <p:anim calcmode="lin" valueType="num">
                                      <p:cBhvr>
                                        <p:cTn id="67" dur="500" fill="hold"/>
                                        <p:tgtEl>
                                          <p:spTgt spid="59"/>
                                        </p:tgtEl>
                                        <p:attrNameLst>
                                          <p:attrName>ppt_w</p:attrName>
                                        </p:attrNameLst>
                                      </p:cBhvr>
                                      <p:tavLst>
                                        <p:tav tm="0">
                                          <p:val>
                                            <p:fltVal val="0"/>
                                          </p:val>
                                        </p:tav>
                                        <p:tav tm="100000">
                                          <p:val>
                                            <p:strVal val="#ppt_w"/>
                                          </p:val>
                                        </p:tav>
                                      </p:tavLst>
                                    </p:anim>
                                    <p:anim calcmode="lin" valueType="num">
                                      <p:cBhvr>
                                        <p:cTn id="68" dur="500" fill="hold"/>
                                        <p:tgtEl>
                                          <p:spTgt spid="59"/>
                                        </p:tgtEl>
                                        <p:attrNameLst>
                                          <p:attrName>ppt_h</p:attrName>
                                        </p:attrNameLst>
                                      </p:cBhvr>
                                      <p:tavLst>
                                        <p:tav tm="0">
                                          <p:val>
                                            <p:fltVal val="0"/>
                                          </p:val>
                                        </p:tav>
                                        <p:tav tm="100000">
                                          <p:val>
                                            <p:strVal val="#ppt_h"/>
                                          </p:val>
                                        </p:tav>
                                      </p:tavLst>
                                    </p:anim>
                                    <p:animEffect transition="in" filter="fade">
                                      <p:cBhvr>
                                        <p:cTn id="69" dur="500"/>
                                        <p:tgtEl>
                                          <p:spTgt spid="59"/>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61"/>
                                        </p:tgtEl>
                                        <p:attrNameLst>
                                          <p:attrName>style.visibility</p:attrName>
                                        </p:attrNameLst>
                                      </p:cBhvr>
                                      <p:to>
                                        <p:strVal val="visible"/>
                                      </p:to>
                                    </p:set>
                                    <p:anim calcmode="lin" valueType="num">
                                      <p:cBhvr>
                                        <p:cTn id="72" dur="500" fill="hold"/>
                                        <p:tgtEl>
                                          <p:spTgt spid="61"/>
                                        </p:tgtEl>
                                        <p:attrNameLst>
                                          <p:attrName>ppt_w</p:attrName>
                                        </p:attrNameLst>
                                      </p:cBhvr>
                                      <p:tavLst>
                                        <p:tav tm="0">
                                          <p:val>
                                            <p:fltVal val="0"/>
                                          </p:val>
                                        </p:tav>
                                        <p:tav tm="100000">
                                          <p:val>
                                            <p:strVal val="#ppt_w"/>
                                          </p:val>
                                        </p:tav>
                                      </p:tavLst>
                                    </p:anim>
                                    <p:anim calcmode="lin" valueType="num">
                                      <p:cBhvr>
                                        <p:cTn id="73" dur="500" fill="hold"/>
                                        <p:tgtEl>
                                          <p:spTgt spid="61"/>
                                        </p:tgtEl>
                                        <p:attrNameLst>
                                          <p:attrName>ppt_h</p:attrName>
                                        </p:attrNameLst>
                                      </p:cBhvr>
                                      <p:tavLst>
                                        <p:tav tm="0">
                                          <p:val>
                                            <p:fltVal val="0"/>
                                          </p:val>
                                        </p:tav>
                                        <p:tav tm="100000">
                                          <p:val>
                                            <p:strVal val="#ppt_h"/>
                                          </p:val>
                                        </p:tav>
                                      </p:tavLst>
                                    </p:anim>
                                    <p:animEffect transition="in" filter="fade">
                                      <p:cBhvr>
                                        <p:cTn id="74" dur="500"/>
                                        <p:tgtEl>
                                          <p:spTgt spid="61"/>
                                        </p:tgtEl>
                                      </p:cBhvr>
                                    </p:animEffect>
                                  </p:childTnLst>
                                </p:cTn>
                              </p:par>
                              <p:par>
                                <p:cTn id="75" presetID="53" presetClass="entr" presetSubtype="16" fill="hold" nodeType="withEffect">
                                  <p:stCondLst>
                                    <p:cond delay="0"/>
                                  </p:stCondLst>
                                  <p:childTnLst>
                                    <p:set>
                                      <p:cBhvr>
                                        <p:cTn id="76" dur="1" fill="hold">
                                          <p:stCondLst>
                                            <p:cond delay="0"/>
                                          </p:stCondLst>
                                        </p:cTn>
                                        <p:tgtEl>
                                          <p:spTgt spid="62"/>
                                        </p:tgtEl>
                                        <p:attrNameLst>
                                          <p:attrName>style.visibility</p:attrName>
                                        </p:attrNameLst>
                                      </p:cBhvr>
                                      <p:to>
                                        <p:strVal val="visible"/>
                                      </p:to>
                                    </p:set>
                                    <p:anim calcmode="lin" valueType="num">
                                      <p:cBhvr>
                                        <p:cTn id="77" dur="500" fill="hold"/>
                                        <p:tgtEl>
                                          <p:spTgt spid="62"/>
                                        </p:tgtEl>
                                        <p:attrNameLst>
                                          <p:attrName>ppt_w</p:attrName>
                                        </p:attrNameLst>
                                      </p:cBhvr>
                                      <p:tavLst>
                                        <p:tav tm="0">
                                          <p:val>
                                            <p:fltVal val="0"/>
                                          </p:val>
                                        </p:tav>
                                        <p:tav tm="100000">
                                          <p:val>
                                            <p:strVal val="#ppt_w"/>
                                          </p:val>
                                        </p:tav>
                                      </p:tavLst>
                                    </p:anim>
                                    <p:anim calcmode="lin" valueType="num">
                                      <p:cBhvr>
                                        <p:cTn id="78" dur="500" fill="hold"/>
                                        <p:tgtEl>
                                          <p:spTgt spid="62"/>
                                        </p:tgtEl>
                                        <p:attrNameLst>
                                          <p:attrName>ppt_h</p:attrName>
                                        </p:attrNameLst>
                                      </p:cBhvr>
                                      <p:tavLst>
                                        <p:tav tm="0">
                                          <p:val>
                                            <p:fltVal val="0"/>
                                          </p:val>
                                        </p:tav>
                                        <p:tav tm="100000">
                                          <p:val>
                                            <p:strVal val="#ppt_h"/>
                                          </p:val>
                                        </p:tav>
                                      </p:tavLst>
                                    </p:anim>
                                    <p:animEffect transition="in" filter="fade">
                                      <p:cBhvr>
                                        <p:cTn id="79" dur="500"/>
                                        <p:tgtEl>
                                          <p:spTgt spid="62"/>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65"/>
                                        </p:tgtEl>
                                        <p:attrNameLst>
                                          <p:attrName>style.visibility</p:attrName>
                                        </p:attrNameLst>
                                      </p:cBhvr>
                                      <p:to>
                                        <p:strVal val="visible"/>
                                      </p:to>
                                    </p:set>
                                    <p:anim calcmode="lin" valueType="num">
                                      <p:cBhvr>
                                        <p:cTn id="82" dur="500" fill="hold"/>
                                        <p:tgtEl>
                                          <p:spTgt spid="65"/>
                                        </p:tgtEl>
                                        <p:attrNameLst>
                                          <p:attrName>ppt_w</p:attrName>
                                        </p:attrNameLst>
                                      </p:cBhvr>
                                      <p:tavLst>
                                        <p:tav tm="0">
                                          <p:val>
                                            <p:fltVal val="0"/>
                                          </p:val>
                                        </p:tav>
                                        <p:tav tm="100000">
                                          <p:val>
                                            <p:strVal val="#ppt_w"/>
                                          </p:val>
                                        </p:tav>
                                      </p:tavLst>
                                    </p:anim>
                                    <p:anim calcmode="lin" valueType="num">
                                      <p:cBhvr>
                                        <p:cTn id="83" dur="500" fill="hold"/>
                                        <p:tgtEl>
                                          <p:spTgt spid="65"/>
                                        </p:tgtEl>
                                        <p:attrNameLst>
                                          <p:attrName>ppt_h</p:attrName>
                                        </p:attrNameLst>
                                      </p:cBhvr>
                                      <p:tavLst>
                                        <p:tav tm="0">
                                          <p:val>
                                            <p:fltVal val="0"/>
                                          </p:val>
                                        </p:tav>
                                        <p:tav tm="100000">
                                          <p:val>
                                            <p:strVal val="#ppt_h"/>
                                          </p:val>
                                        </p:tav>
                                      </p:tavLst>
                                    </p:anim>
                                    <p:animEffect transition="in" filter="fade">
                                      <p:cBhvr>
                                        <p:cTn id="84" dur="500"/>
                                        <p:tgtEl>
                                          <p:spTgt spid="65"/>
                                        </p:tgtEl>
                                      </p:cBhvr>
                                    </p:animEffect>
                                  </p:childTnLst>
                                </p:cTn>
                              </p:par>
                              <p:par>
                                <p:cTn id="85" presetID="53" presetClass="entr" presetSubtype="16" fill="hold" nodeType="withEffect">
                                  <p:stCondLst>
                                    <p:cond delay="0"/>
                                  </p:stCondLst>
                                  <p:childTnLst>
                                    <p:set>
                                      <p:cBhvr>
                                        <p:cTn id="86" dur="1" fill="hold">
                                          <p:stCondLst>
                                            <p:cond delay="0"/>
                                          </p:stCondLst>
                                        </p:cTn>
                                        <p:tgtEl>
                                          <p:spTgt spid="66"/>
                                        </p:tgtEl>
                                        <p:attrNameLst>
                                          <p:attrName>style.visibility</p:attrName>
                                        </p:attrNameLst>
                                      </p:cBhvr>
                                      <p:to>
                                        <p:strVal val="visible"/>
                                      </p:to>
                                    </p:set>
                                    <p:anim calcmode="lin" valueType="num">
                                      <p:cBhvr>
                                        <p:cTn id="87" dur="500" fill="hold"/>
                                        <p:tgtEl>
                                          <p:spTgt spid="66"/>
                                        </p:tgtEl>
                                        <p:attrNameLst>
                                          <p:attrName>ppt_w</p:attrName>
                                        </p:attrNameLst>
                                      </p:cBhvr>
                                      <p:tavLst>
                                        <p:tav tm="0">
                                          <p:val>
                                            <p:fltVal val="0"/>
                                          </p:val>
                                        </p:tav>
                                        <p:tav tm="100000">
                                          <p:val>
                                            <p:strVal val="#ppt_w"/>
                                          </p:val>
                                        </p:tav>
                                      </p:tavLst>
                                    </p:anim>
                                    <p:anim calcmode="lin" valueType="num">
                                      <p:cBhvr>
                                        <p:cTn id="88" dur="500" fill="hold"/>
                                        <p:tgtEl>
                                          <p:spTgt spid="66"/>
                                        </p:tgtEl>
                                        <p:attrNameLst>
                                          <p:attrName>ppt_h</p:attrName>
                                        </p:attrNameLst>
                                      </p:cBhvr>
                                      <p:tavLst>
                                        <p:tav tm="0">
                                          <p:val>
                                            <p:fltVal val="0"/>
                                          </p:val>
                                        </p:tav>
                                        <p:tav tm="100000">
                                          <p:val>
                                            <p:strVal val="#ppt_h"/>
                                          </p:val>
                                        </p:tav>
                                      </p:tavLst>
                                    </p:anim>
                                    <p:animEffect transition="in" filter="fade">
                                      <p:cBhvr>
                                        <p:cTn id="89" dur="500"/>
                                        <p:tgtEl>
                                          <p:spTgt spid="66"/>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39"/>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2"/>
                                        </p:tgtEl>
                                        <p:attrNameLst>
                                          <p:attrName>style.visibility</p:attrName>
                                        </p:attrNameLst>
                                      </p:cBhvr>
                                      <p:to>
                                        <p:strVal val="visible"/>
                                      </p:to>
                                    </p:set>
                                    <p:anim calcmode="lin" valueType="num">
                                      <p:cBhvr>
                                        <p:cTn id="98" dur="500" fill="hold"/>
                                        <p:tgtEl>
                                          <p:spTgt spid="2"/>
                                        </p:tgtEl>
                                        <p:attrNameLst>
                                          <p:attrName>ppt_w</p:attrName>
                                        </p:attrNameLst>
                                      </p:cBhvr>
                                      <p:tavLst>
                                        <p:tav tm="0">
                                          <p:val>
                                            <p:fltVal val="0"/>
                                          </p:val>
                                        </p:tav>
                                        <p:tav tm="100000">
                                          <p:val>
                                            <p:strVal val="#ppt_w"/>
                                          </p:val>
                                        </p:tav>
                                      </p:tavLst>
                                    </p:anim>
                                    <p:anim calcmode="lin" valueType="num">
                                      <p:cBhvr>
                                        <p:cTn id="99" dur="500" fill="hold"/>
                                        <p:tgtEl>
                                          <p:spTgt spid="2"/>
                                        </p:tgtEl>
                                        <p:attrNameLst>
                                          <p:attrName>ppt_h</p:attrName>
                                        </p:attrNameLst>
                                      </p:cBhvr>
                                      <p:tavLst>
                                        <p:tav tm="0">
                                          <p:val>
                                            <p:fltVal val="0"/>
                                          </p:val>
                                        </p:tav>
                                        <p:tav tm="100000">
                                          <p:val>
                                            <p:strVal val="#ppt_h"/>
                                          </p:val>
                                        </p:tav>
                                      </p:tavLst>
                                    </p:anim>
                                    <p:animEffect transition="in" filter="fade">
                                      <p:cBhvr>
                                        <p:cTn id="10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animBg="1"/>
      <p:bldP spid="42" grpId="0" animBg="1"/>
      <p:bldP spid="43" grpId="0" animBg="1"/>
      <p:bldP spid="46" grpId="0" animBg="1"/>
      <p:bldP spid="47" grpId="0" animBg="1"/>
      <p:bldP spid="54" grpId="0" animBg="1"/>
      <p:bldP spid="58" grpId="0" animBg="1"/>
      <p:bldP spid="61" grpId="0" animBg="1"/>
      <p:bldP spid="65" grpId="0" animBg="1"/>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1CF133AB-AB87-4A81-A5E6-DD585B451619}"/>
              </a:ext>
            </a:extLst>
          </p:cNvPr>
          <p:cNvPicPr>
            <a:picLocks noChangeAspect="1"/>
          </p:cNvPicPr>
          <p:nvPr/>
        </p:nvPicPr>
        <p:blipFill>
          <a:blip r:embed="rId2"/>
          <a:stretch>
            <a:fillRect/>
          </a:stretch>
        </p:blipFill>
        <p:spPr>
          <a:xfrm>
            <a:off x="293688" y="1350297"/>
            <a:ext cx="7772400" cy="5030862"/>
          </a:xfrm>
          <a:prstGeom prst="rect">
            <a:avLst/>
          </a:prstGeom>
        </p:spPr>
      </p:pic>
      <p:pic>
        <p:nvPicPr>
          <p:cNvPr id="6" name="그림 5">
            <a:extLst>
              <a:ext uri="{FF2B5EF4-FFF2-40B4-BE49-F238E27FC236}">
                <a16:creationId xmlns:a16="http://schemas.microsoft.com/office/drawing/2014/main" id="{0D2E18B5-A8B3-0469-E764-7ECAB6997616}"/>
              </a:ext>
            </a:extLst>
          </p:cNvPr>
          <p:cNvPicPr>
            <a:picLocks noChangeAspect="1"/>
          </p:cNvPicPr>
          <p:nvPr/>
        </p:nvPicPr>
        <p:blipFill>
          <a:blip r:embed="rId3"/>
          <a:stretch>
            <a:fillRect/>
          </a:stretch>
        </p:blipFill>
        <p:spPr>
          <a:xfrm>
            <a:off x="6096000" y="2569645"/>
            <a:ext cx="5802312" cy="4261698"/>
          </a:xfrm>
          <a:prstGeom prst="rect">
            <a:avLst/>
          </a:prstGeom>
        </p:spPr>
      </p:pic>
      <p:sp>
        <p:nvSpPr>
          <p:cNvPr id="7" name="Rectangle 2">
            <a:extLst>
              <a:ext uri="{FF2B5EF4-FFF2-40B4-BE49-F238E27FC236}">
                <a16:creationId xmlns:a16="http://schemas.microsoft.com/office/drawing/2014/main" id="{644E235E-A70C-13A4-03CC-29DC6EFACEE8}"/>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 </a:t>
            </a:r>
            <a:r>
              <a:rPr lang="en-US" altLang="zh-CN" dirty="0">
                <a:solidFill>
                  <a:schemeClr val="tx1"/>
                </a:solidFill>
                <a:latin typeface="KaiTi" panose="02010609060101010101" pitchFamily="49" charset="-122"/>
                <a:ea typeface="KaiTi" panose="02010609060101010101" pitchFamily="49" charset="-122"/>
              </a:rPr>
              <a:t>–</a:t>
            </a:r>
            <a:r>
              <a:rPr lang="zh-CN" altLang="en-US" dirty="0">
                <a:solidFill>
                  <a:schemeClr val="tx1"/>
                </a:solidFill>
                <a:latin typeface="KaiTi" panose="02010609060101010101" pitchFamily="49" charset="-122"/>
                <a:ea typeface="KaiTi" panose="02010609060101010101" pitchFamily="49" charset="-122"/>
              </a:rPr>
              <a:t> 代码（分类）</a:t>
            </a:r>
          </a:p>
        </p:txBody>
      </p:sp>
    </p:spTree>
    <p:extLst>
      <p:ext uri="{BB962C8B-B14F-4D97-AF65-F5344CB8AC3E}">
        <p14:creationId xmlns:p14="http://schemas.microsoft.com/office/powerpoint/2010/main" val="42769377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639963AF-B24E-5A33-08CC-FBE1C0A63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688" y="1461397"/>
            <a:ext cx="4643468" cy="3642481"/>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a:extLst>
              <a:ext uri="{FF2B5EF4-FFF2-40B4-BE49-F238E27FC236}">
                <a16:creationId xmlns:a16="http://schemas.microsoft.com/office/drawing/2014/main" id="{F63BEC91-5E00-0FE0-1B9F-B173EAA87B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9932" y="2618158"/>
            <a:ext cx="6557418" cy="401759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D3C7E70-6D44-8B92-EB5A-612C384176F1}"/>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 </a:t>
            </a:r>
            <a:r>
              <a:rPr lang="en-US" altLang="zh-CN" dirty="0">
                <a:solidFill>
                  <a:schemeClr val="tx1"/>
                </a:solidFill>
                <a:latin typeface="KaiTi" panose="02010609060101010101" pitchFamily="49" charset="-122"/>
                <a:ea typeface="KaiTi" panose="02010609060101010101" pitchFamily="49" charset="-122"/>
              </a:rPr>
              <a:t>–</a:t>
            </a:r>
            <a:r>
              <a:rPr lang="zh-CN" altLang="en-US" dirty="0">
                <a:solidFill>
                  <a:schemeClr val="tx1"/>
                </a:solidFill>
                <a:latin typeface="KaiTi" panose="02010609060101010101" pitchFamily="49" charset="-122"/>
                <a:ea typeface="KaiTi" panose="02010609060101010101" pitchFamily="49" charset="-122"/>
              </a:rPr>
              <a:t> 代码（分类）</a:t>
            </a:r>
          </a:p>
        </p:txBody>
      </p:sp>
    </p:spTree>
    <p:extLst>
      <p:ext uri="{BB962C8B-B14F-4D97-AF65-F5344CB8AC3E}">
        <p14:creationId xmlns:p14="http://schemas.microsoft.com/office/powerpoint/2010/main" val="31380837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D02018D-F394-BD70-6AA9-FE8C606F25E0}"/>
              </a:ext>
            </a:extLst>
          </p:cNvPr>
          <p:cNvPicPr>
            <a:picLocks noChangeAspect="1"/>
          </p:cNvPicPr>
          <p:nvPr/>
        </p:nvPicPr>
        <p:blipFill>
          <a:blip r:embed="rId2"/>
          <a:stretch>
            <a:fillRect/>
          </a:stretch>
        </p:blipFill>
        <p:spPr>
          <a:xfrm>
            <a:off x="293688" y="1266436"/>
            <a:ext cx="5124473" cy="5472242"/>
          </a:xfrm>
          <a:prstGeom prst="rect">
            <a:avLst/>
          </a:prstGeom>
        </p:spPr>
      </p:pic>
      <p:pic>
        <p:nvPicPr>
          <p:cNvPr id="5" name="그림 4">
            <a:extLst>
              <a:ext uri="{FF2B5EF4-FFF2-40B4-BE49-F238E27FC236}">
                <a16:creationId xmlns:a16="http://schemas.microsoft.com/office/drawing/2014/main" id="{44688499-F205-8BE0-7EEB-9BDF444B8BAA}"/>
              </a:ext>
            </a:extLst>
          </p:cNvPr>
          <p:cNvPicPr>
            <a:picLocks noChangeAspect="1"/>
          </p:cNvPicPr>
          <p:nvPr/>
        </p:nvPicPr>
        <p:blipFill>
          <a:blip r:embed="rId3"/>
          <a:stretch>
            <a:fillRect/>
          </a:stretch>
        </p:blipFill>
        <p:spPr>
          <a:xfrm>
            <a:off x="5418161" y="2004866"/>
            <a:ext cx="6274463" cy="4514958"/>
          </a:xfrm>
          <a:prstGeom prst="rect">
            <a:avLst/>
          </a:prstGeom>
        </p:spPr>
      </p:pic>
      <p:sp>
        <p:nvSpPr>
          <p:cNvPr id="7" name="Rectangle 2">
            <a:extLst>
              <a:ext uri="{FF2B5EF4-FFF2-40B4-BE49-F238E27FC236}">
                <a16:creationId xmlns:a16="http://schemas.microsoft.com/office/drawing/2014/main" id="{8CE6C2A7-690E-F47D-0A3E-6FB483DEBA5E}"/>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 </a:t>
            </a:r>
            <a:r>
              <a:rPr lang="en-US" altLang="zh-CN" dirty="0">
                <a:solidFill>
                  <a:schemeClr val="tx1"/>
                </a:solidFill>
                <a:latin typeface="KaiTi" panose="02010609060101010101" pitchFamily="49" charset="-122"/>
                <a:ea typeface="KaiTi" panose="02010609060101010101" pitchFamily="49" charset="-122"/>
              </a:rPr>
              <a:t>–</a:t>
            </a:r>
            <a:r>
              <a:rPr lang="zh-CN" altLang="en-US" dirty="0">
                <a:solidFill>
                  <a:schemeClr val="tx1"/>
                </a:solidFill>
                <a:latin typeface="KaiTi" panose="02010609060101010101" pitchFamily="49" charset="-122"/>
                <a:ea typeface="KaiTi" panose="02010609060101010101" pitchFamily="49" charset="-122"/>
              </a:rPr>
              <a:t> 代码（回归）</a:t>
            </a:r>
          </a:p>
        </p:txBody>
      </p:sp>
    </p:spTree>
    <p:extLst>
      <p:ext uri="{BB962C8B-B14F-4D97-AF65-F5344CB8AC3E}">
        <p14:creationId xmlns:p14="http://schemas.microsoft.com/office/powerpoint/2010/main" val="33466799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ED1EF67-2F91-0AF6-779A-0BE5E26BD55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算法练习</a:t>
            </a:r>
          </a:p>
        </p:txBody>
      </p:sp>
      <p:graphicFrame>
        <p:nvGraphicFramePr>
          <p:cNvPr id="6" name="표 5">
            <a:extLst>
              <a:ext uri="{FF2B5EF4-FFF2-40B4-BE49-F238E27FC236}">
                <a16:creationId xmlns:a16="http://schemas.microsoft.com/office/drawing/2014/main" id="{F0C2B01E-EB5F-B2E0-C702-3DC6FB62C591}"/>
              </a:ext>
            </a:extLst>
          </p:cNvPr>
          <p:cNvGraphicFramePr>
            <a:graphicFrameLocks noGrp="1"/>
          </p:cNvGraphicFramePr>
          <p:nvPr>
            <p:extLst>
              <p:ext uri="{D42A27DB-BD31-4B8C-83A1-F6EECF244321}">
                <p14:modId xmlns:p14="http://schemas.microsoft.com/office/powerpoint/2010/main" val="1397268314"/>
              </p:ext>
            </p:extLst>
          </p:nvPr>
        </p:nvGraphicFramePr>
        <p:xfrm>
          <a:off x="818465" y="1526607"/>
          <a:ext cx="7028998" cy="2243205"/>
        </p:xfrm>
        <a:graphic>
          <a:graphicData uri="http://schemas.openxmlformats.org/drawingml/2006/table">
            <a:tbl>
              <a:tblPr firstRow="1" firstCol="1" bandRow="1">
                <a:tableStyleId>{5C22544A-7EE6-4342-B048-85BDC9FD1C3A}</a:tableStyleId>
              </a:tblPr>
              <a:tblGrid>
                <a:gridCol w="1080908">
                  <a:extLst>
                    <a:ext uri="{9D8B030D-6E8A-4147-A177-3AD203B41FA5}">
                      <a16:colId xmlns:a16="http://schemas.microsoft.com/office/drawing/2014/main" val="3663817368"/>
                    </a:ext>
                  </a:extLst>
                </a:gridCol>
                <a:gridCol w="1372636">
                  <a:extLst>
                    <a:ext uri="{9D8B030D-6E8A-4147-A177-3AD203B41FA5}">
                      <a16:colId xmlns:a16="http://schemas.microsoft.com/office/drawing/2014/main" val="4141271971"/>
                    </a:ext>
                  </a:extLst>
                </a:gridCol>
                <a:gridCol w="1095867">
                  <a:extLst>
                    <a:ext uri="{9D8B030D-6E8A-4147-A177-3AD203B41FA5}">
                      <a16:colId xmlns:a16="http://schemas.microsoft.com/office/drawing/2014/main" val="967634981"/>
                    </a:ext>
                  </a:extLst>
                </a:gridCol>
                <a:gridCol w="1745171">
                  <a:extLst>
                    <a:ext uri="{9D8B030D-6E8A-4147-A177-3AD203B41FA5}">
                      <a16:colId xmlns:a16="http://schemas.microsoft.com/office/drawing/2014/main" val="2291527324"/>
                    </a:ext>
                  </a:extLst>
                </a:gridCol>
                <a:gridCol w="1734416">
                  <a:extLst>
                    <a:ext uri="{9D8B030D-6E8A-4147-A177-3AD203B41FA5}">
                      <a16:colId xmlns:a16="http://schemas.microsoft.com/office/drawing/2014/main" val="3801501418"/>
                    </a:ext>
                  </a:extLst>
                </a:gridCol>
              </a:tblGrid>
              <a:tr h="581035">
                <a:tc>
                  <a:txBody>
                    <a:bodyPr/>
                    <a:lstStyle/>
                    <a:p>
                      <a:pPr algn="ctr" latinLnBrk="0"/>
                      <a:r>
                        <a:rPr lang="ko-Kore-KR" sz="1600" kern="0">
                          <a:effectLst/>
                          <a:latin typeface="KaiTi" panose="02010609060101010101" pitchFamily="49" charset="-122"/>
                        </a:rPr>
                        <a:t>编号</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ko-Kore-KR" sz="1600" kern="0">
                          <a:effectLst/>
                          <a:latin typeface="KaiTi" panose="02010609060101010101" pitchFamily="49" charset="-122"/>
                        </a:rPr>
                        <a:t>年龄</a:t>
                      </a:r>
                      <a:endParaRPr lang="en-US" altLang="ko-Kore-KR" sz="1600" kern="0">
                        <a:effectLst/>
                        <a:latin typeface="KaiTi" panose="02010609060101010101" pitchFamily="49" charset="-122"/>
                      </a:endParaRPr>
                    </a:p>
                    <a:p>
                      <a:pPr algn="ctr" latinLnBrk="0"/>
                      <a:r>
                        <a:rPr lang="ko-Kore-KR" sz="1600" kern="0">
                          <a:effectLst/>
                          <a:latin typeface="KaiTi" panose="02010609060101010101" pitchFamily="49" charset="-122"/>
                        </a:rPr>
                        <a:t>（岁）</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ko-Kore-KR" sz="1600" kern="0">
                          <a:effectLst/>
                          <a:latin typeface="KaiTi" panose="02010609060101010101" pitchFamily="49" charset="-122"/>
                        </a:rPr>
                        <a:t>体重</a:t>
                      </a:r>
                      <a:endParaRPr lang="en-US" altLang="ko-Kore-KR" sz="1600" kern="0">
                        <a:effectLst/>
                        <a:latin typeface="KaiTi" panose="02010609060101010101" pitchFamily="49" charset="-122"/>
                      </a:endParaRPr>
                    </a:p>
                    <a:p>
                      <a:pPr algn="ctr" latinLnBrk="0"/>
                      <a:r>
                        <a:rPr lang="ko-Kore-KR" sz="1600" kern="0">
                          <a:effectLst/>
                          <a:latin typeface="KaiTi" panose="02010609060101010101" pitchFamily="49" charset="-122"/>
                        </a:rPr>
                        <a:t>（</a:t>
                      </a:r>
                      <a:r>
                        <a:rPr lang="en-US" sz="1600" kern="0">
                          <a:effectLst/>
                          <a:latin typeface="KaiTi" panose="02010609060101010101" pitchFamily="49" charset="-122"/>
                          <a:ea typeface="KaiTi" panose="02010609060101010101" pitchFamily="49" charset="-122"/>
                        </a:rPr>
                        <a:t>kg</a:t>
                      </a:r>
                      <a:r>
                        <a:rPr lang="ko-Kore-KR" sz="1600" kern="0">
                          <a:effectLst/>
                          <a:latin typeface="KaiTi" panose="02010609060101010101" pitchFamily="49" charset="-122"/>
                        </a:rPr>
                        <a:t>）</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marL="0" algn="ctr" defTabSz="914400" rtl="0" eaLnBrk="1" latinLnBrk="0" hangingPunct="1"/>
                      <a:r>
                        <a:rPr lang="ko-Kore-KR" altLang="en-US" sz="1600" b="1" kern="0">
                          <a:solidFill>
                            <a:schemeClr val="lt1"/>
                          </a:solidFill>
                          <a:effectLst/>
                          <a:latin typeface="KaiTi" panose="02010609060101010101" pitchFamily="49" charset="-122"/>
                          <a:ea typeface="+mn-ea"/>
                          <a:cs typeface="+mn-cs"/>
                        </a:rPr>
                        <a:t>身高（</a:t>
                      </a:r>
                      <a:r>
                        <a:rPr lang="en-US" sz="1600" b="1" kern="0">
                          <a:solidFill>
                            <a:schemeClr val="lt1"/>
                          </a:solidFill>
                          <a:effectLst/>
                          <a:latin typeface="KaiTi" panose="02010609060101010101" pitchFamily="49" charset="-122"/>
                          <a:ea typeface="KaiTi" panose="02010609060101010101" pitchFamily="49" charset="-122"/>
                          <a:cs typeface="+mn-cs"/>
                        </a:rPr>
                        <a:t>m</a:t>
                      </a:r>
                      <a:r>
                        <a:rPr lang="ko-Kore-KR" altLang="en-US" sz="1600" b="1" kern="0">
                          <a:solidFill>
                            <a:schemeClr val="lt1"/>
                          </a:solidFill>
                          <a:effectLst/>
                          <a:latin typeface="KaiTi" panose="02010609060101010101" pitchFamily="49" charset="-122"/>
                          <a:ea typeface="+mn-ea"/>
                          <a:cs typeface="+mn-cs"/>
                        </a:rPr>
                        <a:t>）</a:t>
                      </a:r>
                      <a:endParaRPr lang="en-US" altLang="ko-Kore-KR" sz="1600" b="1" kern="0">
                        <a:solidFill>
                          <a:schemeClr val="lt1"/>
                        </a:solidFill>
                        <a:effectLst/>
                        <a:latin typeface="KaiTi" panose="02010609060101010101" pitchFamily="49" charset="-122"/>
                        <a:ea typeface="+mn-ea"/>
                        <a:cs typeface="+mn-cs"/>
                      </a:endParaRPr>
                    </a:p>
                    <a:p>
                      <a:pPr marL="0" algn="ctr" defTabSz="914400" rtl="0" eaLnBrk="1" latinLnBrk="0" hangingPunct="1"/>
                      <a:r>
                        <a:rPr lang="ko-Kore-KR" altLang="en-US" sz="1600" b="1" kern="0">
                          <a:solidFill>
                            <a:schemeClr val="lt1"/>
                          </a:solidFill>
                          <a:effectLst/>
                          <a:latin typeface="KaiTi" panose="02010609060101010101" pitchFamily="49" charset="-122"/>
                          <a:ea typeface="+mn-ea"/>
                          <a:cs typeface="+mn-cs"/>
                        </a:rPr>
                        <a:t>（标签）</a:t>
                      </a:r>
                    </a:p>
                  </a:txBody>
                  <a:tcPr marL="68580" marR="68580" marT="0" marB="0" anchor="ctr"/>
                </a:tc>
                <a:tc>
                  <a:txBody>
                    <a:bodyPr/>
                    <a:lstStyle/>
                    <a:p>
                      <a:pPr marL="0" algn="ctr" defTabSz="914400" rtl="0" eaLnBrk="1" latinLnBrk="0" hangingPunct="1"/>
                      <a:r>
                        <a:rPr lang="ko-KR" altLang="en-US" sz="1600" b="1" kern="0">
                          <a:solidFill>
                            <a:schemeClr val="lt1"/>
                          </a:solidFill>
                          <a:effectLst/>
                          <a:latin typeface="KaiTi" panose="02010609060101010101" pitchFamily="49" charset="-122"/>
                          <a:ea typeface="+mn-ea"/>
                          <a:cs typeface="+mn-cs"/>
                        </a:rPr>
                        <a:t>分类标签</a:t>
                      </a:r>
                      <a:endParaRPr lang="en-US" altLang="ko-KR" sz="1600" b="1" kern="0">
                        <a:solidFill>
                          <a:schemeClr val="lt1"/>
                        </a:solidFill>
                        <a:effectLst/>
                        <a:latin typeface="KaiTi" panose="02010609060101010101" pitchFamily="49" charset="-122"/>
                        <a:ea typeface="+mn-ea"/>
                        <a:cs typeface="+mn-cs"/>
                      </a:endParaRPr>
                    </a:p>
                    <a:p>
                      <a:pPr marL="0" algn="ctr" defTabSz="914400" rtl="0" eaLnBrk="1" latinLnBrk="0" hangingPunct="1"/>
                      <a:r>
                        <a:rPr lang="ko-KR" altLang="en-US" sz="1600" b="1" kern="0">
                          <a:solidFill>
                            <a:schemeClr val="lt1"/>
                          </a:solidFill>
                          <a:effectLst/>
                          <a:latin typeface="KaiTi" panose="02010609060101010101" pitchFamily="49" charset="-122"/>
                          <a:ea typeface="+mn-ea"/>
                          <a:cs typeface="+mn-cs"/>
                        </a:rPr>
                        <a:t>（≥</a:t>
                      </a:r>
                      <a:r>
                        <a:rPr lang="en-US" altLang="ko-KR" sz="1600" b="1" kern="0">
                          <a:solidFill>
                            <a:schemeClr val="lt1"/>
                          </a:solidFill>
                          <a:effectLst/>
                          <a:latin typeface="KaiTi" panose="02010609060101010101" pitchFamily="49" charset="-122"/>
                          <a:ea typeface="KaiTi" panose="02010609060101010101" pitchFamily="49" charset="-122"/>
                          <a:cs typeface="+mn-cs"/>
                        </a:rPr>
                        <a:t>1.6</a:t>
                      </a:r>
                      <a:r>
                        <a:rPr lang="en" altLang="ko-Kore-KR" sz="1600" b="1" kern="0">
                          <a:solidFill>
                            <a:schemeClr val="lt1"/>
                          </a:solidFill>
                          <a:effectLst/>
                          <a:latin typeface="KaiTi" panose="02010609060101010101" pitchFamily="49" charset="-122"/>
                          <a:ea typeface="KaiTi" panose="02010609060101010101" pitchFamily="49" charset="-122"/>
                          <a:cs typeface="+mn-cs"/>
                        </a:rPr>
                        <a:t>m</a:t>
                      </a:r>
                      <a:r>
                        <a:rPr lang="ko-Kore-KR" altLang="en" sz="1600" b="1" kern="0">
                          <a:solidFill>
                            <a:schemeClr val="lt1"/>
                          </a:solidFill>
                          <a:effectLst/>
                          <a:latin typeface="KaiTi" panose="02010609060101010101" pitchFamily="49" charset="-122"/>
                          <a:ea typeface="+mn-ea"/>
                          <a:cs typeface="+mn-cs"/>
                        </a:rPr>
                        <a:t>）</a:t>
                      </a:r>
                      <a:endParaRPr lang="ko-Kore-KR" altLang="en-US" sz="1600" b="1" kern="0">
                        <a:solidFill>
                          <a:schemeClr val="lt1"/>
                        </a:solidFill>
                        <a:effectLst/>
                        <a:latin typeface="KaiTi" panose="02010609060101010101" pitchFamily="49" charset="-122"/>
                        <a:ea typeface="+mn-ea"/>
                        <a:cs typeface="+mn-cs"/>
                      </a:endParaRPr>
                    </a:p>
                  </a:txBody>
                  <a:tcPr marL="68580" marR="68580" marT="0" marB="0" anchor="ctr"/>
                </a:tc>
                <a:extLst>
                  <a:ext uri="{0D108BD9-81ED-4DB2-BD59-A6C34878D82A}">
                    <a16:rowId xmlns:a16="http://schemas.microsoft.com/office/drawing/2014/main" val="364531324"/>
                  </a:ext>
                </a:extLst>
              </a:tr>
              <a:tr h="332434">
                <a:tc>
                  <a:txBody>
                    <a:bodyPr/>
                    <a:lstStyle/>
                    <a:p>
                      <a:pPr algn="ctr" latinLnBrk="0"/>
                      <a:r>
                        <a:rPr lang="en-US" sz="1600" kern="0">
                          <a:effectLst/>
                          <a:latin typeface="KaiTi" panose="02010609060101010101" pitchFamily="49" charset="-122"/>
                          <a:ea typeface="KaiTi" panose="02010609060101010101" pitchFamily="49" charset="-122"/>
                        </a:rPr>
                        <a:t>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5</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20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1.10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altLang="zh-CN" sz="1600" kern="100">
                          <a:effectLst/>
                          <a:latin typeface="KaiTi" panose="02010609060101010101" pitchFamily="49" charset="-122"/>
                          <a:ea typeface="KaiTi" panose="02010609060101010101" pitchFamily="49" charset="-122"/>
                          <a:cs typeface="Times New Roman" panose="02020603050405020304" pitchFamily="18" charset="0"/>
                        </a:rPr>
                        <a:t>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31028600"/>
                  </a:ext>
                </a:extLst>
              </a:tr>
              <a:tr h="332434">
                <a:tc>
                  <a:txBody>
                    <a:bodyPr/>
                    <a:lstStyle/>
                    <a:p>
                      <a:pPr algn="ctr" latinLnBrk="0"/>
                      <a:r>
                        <a:rPr lang="en-US" sz="1600" kern="0">
                          <a:effectLst/>
                          <a:latin typeface="KaiTi" panose="02010609060101010101" pitchFamily="49" charset="-122"/>
                          <a:ea typeface="KaiTi" panose="02010609060101010101" pitchFamily="49" charset="-122"/>
                        </a:rPr>
                        <a:t>1</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7</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30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1.30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altLang="zh-CN" sz="1600" kern="100">
                          <a:effectLst/>
                          <a:latin typeface="KaiTi" panose="02010609060101010101" pitchFamily="49" charset="-122"/>
                          <a:ea typeface="KaiTi" panose="02010609060101010101" pitchFamily="49" charset="-122"/>
                          <a:cs typeface="Times New Roman" panose="02020603050405020304" pitchFamily="18" charset="0"/>
                        </a:rPr>
                        <a:t>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32525874"/>
                  </a:ext>
                </a:extLst>
              </a:tr>
              <a:tr h="332434">
                <a:tc>
                  <a:txBody>
                    <a:bodyPr/>
                    <a:lstStyle/>
                    <a:p>
                      <a:pPr algn="ctr" latinLnBrk="0"/>
                      <a:r>
                        <a:rPr lang="en-US" sz="1600" kern="0">
                          <a:effectLst/>
                          <a:latin typeface="KaiTi" panose="02010609060101010101" pitchFamily="49" charset="-122"/>
                          <a:ea typeface="KaiTi" panose="02010609060101010101" pitchFamily="49" charset="-122"/>
                        </a:rPr>
                        <a:t>2</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21</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70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1.70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altLang="zh-CN" sz="1600" kern="100">
                          <a:effectLst/>
                          <a:latin typeface="KaiTi" panose="02010609060101010101" pitchFamily="49" charset="-122"/>
                          <a:ea typeface="KaiTi" panose="02010609060101010101" pitchFamily="49" charset="-122"/>
                          <a:cs typeface="Times New Roman" panose="02020603050405020304" pitchFamily="18" charset="0"/>
                        </a:rPr>
                        <a:t>1</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465288999"/>
                  </a:ext>
                </a:extLst>
              </a:tr>
              <a:tr h="332434">
                <a:tc>
                  <a:txBody>
                    <a:bodyPr/>
                    <a:lstStyle/>
                    <a:p>
                      <a:pPr algn="ctr" latinLnBrk="0"/>
                      <a:r>
                        <a:rPr lang="en-US" sz="1600" kern="0">
                          <a:effectLst/>
                          <a:latin typeface="KaiTi" panose="02010609060101010101" pitchFamily="49" charset="-122"/>
                          <a:ea typeface="KaiTi" panose="02010609060101010101" pitchFamily="49" charset="-122"/>
                        </a:rPr>
                        <a:t>3</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30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60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1.80</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altLang="zh-CN" sz="1600" kern="100">
                          <a:effectLst/>
                          <a:latin typeface="KaiTi" panose="02010609060101010101" pitchFamily="49" charset="-122"/>
                          <a:ea typeface="KaiTi" panose="02010609060101010101" pitchFamily="49" charset="-122"/>
                          <a:cs typeface="Times New Roman" panose="02020603050405020304" pitchFamily="18" charset="0"/>
                        </a:rPr>
                        <a:t>1</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437073025"/>
                  </a:ext>
                </a:extLst>
              </a:tr>
              <a:tr h="332434">
                <a:tc>
                  <a:txBody>
                    <a:bodyPr/>
                    <a:lstStyle/>
                    <a:p>
                      <a:pPr algn="ctr" latinLnBrk="0"/>
                      <a:r>
                        <a:rPr lang="en-US" sz="1600" kern="0">
                          <a:effectLst/>
                          <a:latin typeface="KaiTi" panose="02010609060101010101" pitchFamily="49" charset="-122"/>
                          <a:ea typeface="KaiTi" panose="02010609060101010101" pitchFamily="49" charset="-122"/>
                        </a:rPr>
                        <a:t>4</a:t>
                      </a:r>
                      <a:r>
                        <a:rPr lang="ko-Kore-KR" sz="1600" kern="0">
                          <a:effectLst/>
                          <a:latin typeface="KaiTi" panose="02010609060101010101" pitchFamily="49" charset="-122"/>
                        </a:rPr>
                        <a:t>（预测）</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25</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65</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zh-CN" altLang="en-US" sz="1600" kern="100">
                          <a:effectLst/>
                          <a:latin typeface="KaiTi" panose="02010609060101010101" pitchFamily="49" charset="-122"/>
                          <a:ea typeface="KaiTi" panose="02010609060101010101" pitchFamily="49" charset="-122"/>
                          <a:cs typeface="Times New Roman" panose="02020603050405020304" pitchFamily="18" charset="0"/>
                        </a:rPr>
                        <a:t>？</a:t>
                      </a:r>
                      <a:endParaRPr lang="ko-Kore-KR" sz="16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68239746"/>
                  </a:ext>
                </a:extLst>
              </a:tr>
            </a:tbl>
          </a:graphicData>
        </a:graphic>
      </p:graphicFrame>
      <p:graphicFrame>
        <p:nvGraphicFramePr>
          <p:cNvPr id="2" name="표 1">
            <a:extLst>
              <a:ext uri="{FF2B5EF4-FFF2-40B4-BE49-F238E27FC236}">
                <a16:creationId xmlns:a16="http://schemas.microsoft.com/office/drawing/2014/main" id="{E55CC27F-04B1-88D1-0E58-29DB54221F01}"/>
              </a:ext>
            </a:extLst>
          </p:cNvPr>
          <p:cNvGraphicFramePr>
            <a:graphicFrameLocks noGrp="1"/>
          </p:cNvGraphicFramePr>
          <p:nvPr>
            <p:extLst>
              <p:ext uri="{D42A27DB-BD31-4B8C-83A1-F6EECF244321}">
                <p14:modId xmlns:p14="http://schemas.microsoft.com/office/powerpoint/2010/main" val="3965352391"/>
              </p:ext>
            </p:extLst>
          </p:nvPr>
        </p:nvGraphicFramePr>
        <p:xfrm>
          <a:off x="668338" y="4671455"/>
          <a:ext cx="9192904" cy="1833125"/>
        </p:xfrm>
        <a:graphic>
          <a:graphicData uri="http://schemas.openxmlformats.org/drawingml/2006/table">
            <a:tbl>
              <a:tblPr firstRow="1" firstCol="1" bandRow="1">
                <a:tableStyleId>{5C22544A-7EE6-4342-B048-85BDC9FD1C3A}</a:tableStyleId>
              </a:tblPr>
              <a:tblGrid>
                <a:gridCol w="2298226">
                  <a:extLst>
                    <a:ext uri="{9D8B030D-6E8A-4147-A177-3AD203B41FA5}">
                      <a16:colId xmlns:a16="http://schemas.microsoft.com/office/drawing/2014/main" val="824968170"/>
                    </a:ext>
                  </a:extLst>
                </a:gridCol>
                <a:gridCol w="2298226">
                  <a:extLst>
                    <a:ext uri="{9D8B030D-6E8A-4147-A177-3AD203B41FA5}">
                      <a16:colId xmlns:a16="http://schemas.microsoft.com/office/drawing/2014/main" val="549552011"/>
                    </a:ext>
                  </a:extLst>
                </a:gridCol>
                <a:gridCol w="2298226">
                  <a:extLst>
                    <a:ext uri="{9D8B030D-6E8A-4147-A177-3AD203B41FA5}">
                      <a16:colId xmlns:a16="http://schemas.microsoft.com/office/drawing/2014/main" val="2686398690"/>
                    </a:ext>
                  </a:extLst>
                </a:gridCol>
                <a:gridCol w="2298226">
                  <a:extLst>
                    <a:ext uri="{9D8B030D-6E8A-4147-A177-3AD203B41FA5}">
                      <a16:colId xmlns:a16="http://schemas.microsoft.com/office/drawing/2014/main" val="1575047304"/>
                    </a:ext>
                  </a:extLst>
                </a:gridCol>
              </a:tblGrid>
              <a:tr h="366625">
                <a:tc>
                  <a:txBody>
                    <a:bodyPr/>
                    <a:lstStyle/>
                    <a:p>
                      <a:pPr algn="ctr" latinLnBrk="0"/>
                      <a:r>
                        <a:rPr lang="ko-Kore-KR" sz="1600" kern="0">
                          <a:effectLst/>
                          <a:latin typeface="KaiTi" panose="02010609060101010101" pitchFamily="49" charset="-122"/>
                        </a:rPr>
                        <a:t>编号</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ko-Kore-KR" sz="1600" kern="0">
                          <a:effectLst/>
                          <a:latin typeface="KaiTi" panose="02010609060101010101" pitchFamily="49" charset="-122"/>
                        </a:rPr>
                        <a:t>身高</a:t>
                      </a:r>
                      <a:r>
                        <a:rPr lang="en-US" sz="1600" kern="0">
                          <a:effectLst/>
                          <a:latin typeface="KaiTi" panose="02010609060101010101" pitchFamily="49" charset="-122"/>
                          <a:ea typeface="KaiTi" panose="02010609060101010101" pitchFamily="49" charset="-122"/>
                        </a:rPr>
                        <a:t> y</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ko-Kore-KR" sz="1600" kern="0">
                          <a:effectLst/>
                          <a:latin typeface="KaiTi" panose="02010609060101010101" pitchFamily="49" charset="-122"/>
                        </a:rPr>
                        <a:t>初始预测</a:t>
                      </a:r>
                      <a:r>
                        <a:rPr lang="en-US" sz="1600" kern="0">
                          <a:effectLst/>
                          <a:latin typeface="KaiTi" panose="02010609060101010101" pitchFamily="49" charset="-122"/>
                          <a:ea typeface="KaiTi" panose="02010609060101010101" pitchFamily="49" charset="-122"/>
                        </a:rPr>
                        <a:t> f₀</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ko-Kore-KR" sz="1600" kern="0">
                          <a:effectLst/>
                          <a:latin typeface="KaiTi" panose="02010609060101010101" pitchFamily="49" charset="-122"/>
                        </a:rPr>
                        <a:t>残差</a:t>
                      </a:r>
                      <a:r>
                        <a:rPr lang="en-US" sz="1600" kern="0">
                          <a:effectLst/>
                          <a:latin typeface="KaiTi" panose="02010609060101010101" pitchFamily="49" charset="-122"/>
                          <a:ea typeface="KaiTi" panose="02010609060101010101" pitchFamily="49" charset="-122"/>
                        </a:rPr>
                        <a:t> rᵢ</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582982121"/>
                  </a:ext>
                </a:extLst>
              </a:tr>
              <a:tr h="366625">
                <a:tc>
                  <a:txBody>
                    <a:bodyPr/>
                    <a:lstStyle/>
                    <a:p>
                      <a:pPr algn="ctr" latinLnBrk="0"/>
                      <a:r>
                        <a:rPr lang="en-US" sz="1600" kern="0">
                          <a:effectLst/>
                          <a:latin typeface="KaiTi" panose="02010609060101010101" pitchFamily="49" charset="-122"/>
                          <a:ea typeface="KaiTi" panose="02010609060101010101" pitchFamily="49" charset="-122"/>
                        </a:rPr>
                        <a:t>0</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1.10</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91460300"/>
                  </a:ext>
                </a:extLst>
              </a:tr>
              <a:tr h="366625">
                <a:tc>
                  <a:txBody>
                    <a:bodyPr/>
                    <a:lstStyle/>
                    <a:p>
                      <a:pPr algn="ctr" latinLnBrk="0"/>
                      <a:r>
                        <a:rPr lang="en-US" sz="1600" kern="0">
                          <a:effectLst/>
                          <a:latin typeface="KaiTi" panose="02010609060101010101" pitchFamily="49" charset="-122"/>
                          <a:ea typeface="KaiTi" panose="02010609060101010101" pitchFamily="49" charset="-122"/>
                        </a:rPr>
                        <a:t>1</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1.30</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518535741"/>
                  </a:ext>
                </a:extLst>
              </a:tr>
              <a:tr h="366625">
                <a:tc>
                  <a:txBody>
                    <a:bodyPr/>
                    <a:lstStyle/>
                    <a:p>
                      <a:pPr algn="ctr" latinLnBrk="0"/>
                      <a:r>
                        <a:rPr lang="en-US" sz="1600" kern="0">
                          <a:effectLst/>
                          <a:latin typeface="KaiTi" panose="02010609060101010101" pitchFamily="49" charset="-122"/>
                          <a:ea typeface="KaiTi" panose="02010609060101010101" pitchFamily="49" charset="-122"/>
                        </a:rPr>
                        <a:t>2</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1.70</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804254958"/>
                  </a:ext>
                </a:extLst>
              </a:tr>
              <a:tr h="366625">
                <a:tc>
                  <a:txBody>
                    <a:bodyPr/>
                    <a:lstStyle/>
                    <a:p>
                      <a:pPr algn="ctr" latinLnBrk="0"/>
                      <a:r>
                        <a:rPr lang="en-US" sz="1600" kern="0">
                          <a:effectLst/>
                          <a:latin typeface="KaiTi" panose="02010609060101010101" pitchFamily="49" charset="-122"/>
                          <a:ea typeface="KaiTi" panose="02010609060101010101" pitchFamily="49" charset="-122"/>
                        </a:rPr>
                        <a:t>3</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1.80</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a:effectLst/>
                          <a:latin typeface="KaiTi" panose="02010609060101010101" pitchFamily="49" charset="-122"/>
                          <a:ea typeface="KaiTi" panose="02010609060101010101" pitchFamily="49" charset="-122"/>
                        </a:rPr>
                        <a:t>?</a:t>
                      </a:r>
                      <a:endParaRPr lang="ko-Kore-KR" sz="1100" kern="10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tc>
                  <a:txBody>
                    <a:bodyPr/>
                    <a:lstStyle/>
                    <a:p>
                      <a:pPr algn="ctr" latinLnBrk="0"/>
                      <a:r>
                        <a:rPr lang="en-US" sz="1600" kern="0" dirty="0">
                          <a:effectLst/>
                          <a:latin typeface="KaiTi" panose="02010609060101010101" pitchFamily="49" charset="-122"/>
                          <a:ea typeface="KaiTi" panose="02010609060101010101" pitchFamily="49" charset="-122"/>
                        </a:rPr>
                        <a:t>?</a:t>
                      </a:r>
                      <a:endParaRPr lang="ko-Kore-KR" sz="1100" kern="100" dirty="0">
                        <a:effectLst/>
                        <a:latin typeface="KaiTi" panose="02010609060101010101" pitchFamily="49" charset="-122"/>
                        <a:ea typeface="맑은 고딕" panose="020B0503020000020004" pitchFamily="34"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34989895"/>
                  </a:ext>
                </a:extLst>
              </a:tr>
            </a:tbl>
          </a:graphicData>
        </a:graphic>
      </p:graphicFrame>
      <p:sp>
        <p:nvSpPr>
          <p:cNvPr id="8" name="TextBox 7">
            <a:extLst>
              <a:ext uri="{FF2B5EF4-FFF2-40B4-BE49-F238E27FC236}">
                <a16:creationId xmlns:a16="http://schemas.microsoft.com/office/drawing/2014/main" id="{2B95959A-D68E-B74F-3674-3994EEAB975B}"/>
              </a:ext>
            </a:extLst>
          </p:cNvPr>
          <p:cNvSpPr txBox="1"/>
          <p:nvPr/>
        </p:nvSpPr>
        <p:spPr>
          <a:xfrm>
            <a:off x="668338" y="4118473"/>
            <a:ext cx="6093724" cy="461665"/>
          </a:xfrm>
          <a:prstGeom prst="rect">
            <a:avLst/>
          </a:prstGeom>
          <a:noFill/>
        </p:spPr>
        <p:txBody>
          <a:bodyPr wrap="square">
            <a:spAutoFit/>
          </a:bodyPr>
          <a:lstStyle/>
          <a:p>
            <a:pPr algn="just" latinLnBrk="1"/>
            <a:r>
              <a:rPr lang="en-US" altLang="ko-Kore-KR" kern="100">
                <a:latin typeface="Calibri" panose="020F0502020204030204" pitchFamily="34" charset="0"/>
                <a:ea typeface="KaiTi" panose="02010609060101010101" pitchFamily="49" charset="-122"/>
                <a:cs typeface="Times New Roman" panose="02020603050405020304" pitchFamily="18" charset="0"/>
              </a:rPr>
              <a:t>Q</a:t>
            </a:r>
            <a:r>
              <a:rPr lang="en-US" altLang="zh-CN" kern="100">
                <a:latin typeface="Calibri" panose="020F0502020204030204" pitchFamily="34" charset="0"/>
                <a:ea typeface="KaiTi" panose="02010609060101010101" pitchFamily="49" charset="-122"/>
                <a:cs typeface="Times New Roman" panose="02020603050405020304" pitchFamily="18" charset="0"/>
              </a:rPr>
              <a:t>1</a:t>
            </a:r>
            <a:r>
              <a:rPr lang="zh-CN"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：（回归）</a:t>
            </a:r>
            <a:r>
              <a:rPr lang="ko-Kore-KR" altLang="ko-Kore-KR" sz="2400" kern="100">
                <a:effectLst/>
                <a:latin typeface="Calibri" panose="020F0502020204030204" pitchFamily="34" charset="0"/>
                <a:ea typeface="KaiTi" panose="02010609060101010101" pitchFamily="49" charset="-122"/>
                <a:cs typeface="Microsoft YaHei" panose="020B0503020204020204" pitchFamily="34" charset="-122"/>
              </a:rPr>
              <a:t>计</a:t>
            </a:r>
            <a:r>
              <a:rPr lang="ko-Kore-KR" altLang="ko-Kore-KR" sz="2400" kern="100">
                <a:effectLst/>
                <a:latin typeface="Calibri" panose="020F0502020204030204" pitchFamily="34" charset="0"/>
                <a:ea typeface="KaiTi" panose="02010609060101010101" pitchFamily="49" charset="-122"/>
                <a:cs typeface="Times New Roman" panose="02020603050405020304" pitchFamily="18" charset="0"/>
              </a:rPr>
              <a:t>算第</a:t>
            </a:r>
            <a:r>
              <a:rPr lang="en-US" altLang="ko-Kore-KR" sz="2400" kern="100">
                <a:effectLst/>
                <a:latin typeface="Calibri" panose="020F0502020204030204" pitchFamily="34" charset="0"/>
                <a:ea typeface="KaiTi" panose="02010609060101010101" pitchFamily="49" charset="-122"/>
                <a:cs typeface="Times New Roman" panose="02020603050405020304" pitchFamily="18" charset="0"/>
              </a:rPr>
              <a:t> 1 </a:t>
            </a:r>
            <a:r>
              <a:rPr lang="ko-Kore-KR" altLang="ko-Kore-KR" sz="2400" kern="100">
                <a:effectLst/>
                <a:latin typeface="Calibri" panose="020F0502020204030204" pitchFamily="34" charset="0"/>
                <a:ea typeface="KaiTi" panose="02010609060101010101" pitchFamily="49" charset="-122"/>
                <a:cs typeface="Microsoft YaHei" panose="020B0503020204020204" pitchFamily="34" charset="-122"/>
              </a:rPr>
              <a:t>颗树</a:t>
            </a:r>
            <a:r>
              <a:rPr lang="ko-Kore-KR" altLang="ko-Kore-KR" sz="2400" kern="100">
                <a:effectLst/>
                <a:latin typeface="Calibri" panose="020F0502020204030204" pitchFamily="34" charset="0"/>
                <a:ea typeface="KaiTi" panose="02010609060101010101" pitchFamily="49" charset="-122"/>
                <a:cs typeface="Times New Roman" panose="02020603050405020304" pitchFamily="18" charset="0"/>
              </a:rPr>
              <a:t>的</a:t>
            </a:r>
            <a:r>
              <a:rPr lang="ko-Kore-KR" altLang="ko-Kore-KR" sz="2400" kern="100">
                <a:effectLst/>
                <a:latin typeface="Calibri" panose="020F0502020204030204" pitchFamily="34" charset="0"/>
                <a:ea typeface="KaiTi" panose="02010609060101010101" pitchFamily="49" charset="-122"/>
                <a:cs typeface="Microsoft YaHei" panose="020B0503020204020204" pitchFamily="34" charset="-122"/>
              </a:rPr>
              <a:t>残</a:t>
            </a:r>
            <a:r>
              <a:rPr lang="ko-Kore-KR" altLang="ko-Kore-KR" sz="2400" kern="100">
                <a:effectLst/>
                <a:latin typeface="Calibri" panose="020F0502020204030204" pitchFamily="34" charset="0"/>
                <a:ea typeface="KaiTi" panose="02010609060101010101" pitchFamily="49" charset="-122"/>
                <a:cs typeface="바탕" panose="02030600000101010101" pitchFamily="18" charset="-127"/>
              </a:rPr>
              <a:t>差</a:t>
            </a:r>
            <a:endParaRPr lang="ko-Kore-KR" altLang="ko-Kore-KR" sz="24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
        <p:nvSpPr>
          <p:cNvPr id="11" name="TextBox 10">
            <a:extLst>
              <a:ext uri="{FF2B5EF4-FFF2-40B4-BE49-F238E27FC236}">
                <a16:creationId xmlns:a16="http://schemas.microsoft.com/office/drawing/2014/main" id="{A906B018-3671-EAB5-7E4A-1657E18730B7}"/>
              </a:ext>
            </a:extLst>
          </p:cNvPr>
          <p:cNvSpPr txBox="1"/>
          <p:nvPr/>
        </p:nvSpPr>
        <p:spPr>
          <a:xfrm>
            <a:off x="8053648" y="2186545"/>
            <a:ext cx="3615187" cy="923330"/>
          </a:xfrm>
          <a:prstGeom prst="rect">
            <a:avLst/>
          </a:prstGeom>
          <a:noFill/>
        </p:spPr>
        <p:txBody>
          <a:bodyPr wrap="square">
            <a:spAutoFit/>
          </a:bodyPr>
          <a:lstStyle/>
          <a:p>
            <a:pPr indent="50800"/>
            <a:r>
              <a:rPr lang="zh-CN" altLang="ko-Kore-KR" sz="1800">
                <a:effectLst/>
                <a:latin typeface="Times New Roman" panose="02020603050405020304" pitchFamily="18" charset="0"/>
                <a:ea typeface="KaiTi" panose="02010609060101010101" pitchFamily="49" charset="-122"/>
                <a:cs typeface="Times New Roman" panose="02020603050405020304" pitchFamily="18" charset="0"/>
              </a:rPr>
              <a:t>学习率：</a:t>
            </a:r>
            <a:r>
              <a:rPr lang="en-US" altLang="ko-Kore-KR" sz="1800">
                <a:effectLst/>
                <a:latin typeface="KaiTi" panose="02010609060101010101" pitchFamily="49" charset="-122"/>
                <a:ea typeface="Times New Roman" panose="02020603050405020304" pitchFamily="18" charset="0"/>
                <a:cs typeface="Times New Roman" panose="02020603050405020304" pitchFamily="18" charset="0"/>
              </a:rPr>
              <a:t>learning_rate=0.1</a:t>
            </a:r>
            <a:endParaRPr lang="ko-Kore-KR" altLang="ko-Kore-KR" sz="1800">
              <a:effectLst/>
              <a:latin typeface="Times New Roman" panose="02020603050405020304" pitchFamily="18" charset="0"/>
              <a:ea typeface="Times New Roman" panose="02020603050405020304" pitchFamily="18" charset="0"/>
            </a:endParaRPr>
          </a:p>
          <a:p>
            <a:pPr indent="50800"/>
            <a:r>
              <a:rPr lang="zh-CN" altLang="ko-Kore-KR" sz="1800">
                <a:effectLst/>
                <a:latin typeface="Times New Roman" panose="02020603050405020304" pitchFamily="18" charset="0"/>
                <a:ea typeface="KaiTi" panose="02010609060101010101" pitchFamily="49" charset="-122"/>
                <a:cs typeface="Times New Roman" panose="02020603050405020304" pitchFamily="18" charset="0"/>
              </a:rPr>
              <a:t>迭代次数：</a:t>
            </a:r>
            <a:r>
              <a:rPr lang="en-US" altLang="ko-Kore-KR" sz="1800">
                <a:effectLst/>
                <a:latin typeface="KaiTi" panose="02010609060101010101" pitchFamily="49" charset="-122"/>
                <a:ea typeface="Times New Roman" panose="02020603050405020304" pitchFamily="18" charset="0"/>
                <a:cs typeface="Times New Roman" panose="02020603050405020304" pitchFamily="18" charset="0"/>
              </a:rPr>
              <a:t>n_trees=5</a:t>
            </a:r>
            <a:endParaRPr lang="ko-Kore-KR" altLang="ko-Kore-KR" sz="1800">
              <a:effectLst/>
              <a:latin typeface="Times New Roman" panose="02020603050405020304" pitchFamily="18" charset="0"/>
              <a:ea typeface="Times New Roman" panose="02020603050405020304" pitchFamily="18" charset="0"/>
            </a:endParaRPr>
          </a:p>
          <a:p>
            <a:pPr indent="50800"/>
            <a:r>
              <a:rPr lang="zh-CN" altLang="ko-Kore-KR" sz="1800">
                <a:effectLst/>
                <a:latin typeface="Times New Roman" panose="02020603050405020304" pitchFamily="18" charset="0"/>
                <a:ea typeface="KaiTi" panose="02010609060101010101" pitchFamily="49" charset="-122"/>
                <a:cs typeface="Times New Roman" panose="02020603050405020304" pitchFamily="18" charset="0"/>
              </a:rPr>
              <a:t>树的深度：</a:t>
            </a:r>
            <a:r>
              <a:rPr lang="en-US" altLang="ko-Kore-KR" sz="1800">
                <a:effectLst/>
                <a:latin typeface="KaiTi" panose="02010609060101010101" pitchFamily="49" charset="-122"/>
                <a:ea typeface="Times New Roman" panose="02020603050405020304" pitchFamily="18" charset="0"/>
                <a:cs typeface="Times New Roman" panose="02020603050405020304" pitchFamily="18" charset="0"/>
              </a:rPr>
              <a:t>max_depth=3</a:t>
            </a:r>
            <a:endParaRPr lang="ko-Kore-KR" altLang="ko-Kore-KR" sz="18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310844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ED1EF67-2F91-0AF6-779A-0BE5E26BD552}"/>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GBDT</a:t>
            </a:r>
            <a:r>
              <a:rPr lang="zh-CN" altLang="en-US" dirty="0">
                <a:solidFill>
                  <a:schemeClr val="tx1"/>
                </a:solidFill>
                <a:latin typeface="KaiTi" panose="02010609060101010101" pitchFamily="49" charset="-122"/>
                <a:ea typeface="KaiTi" panose="02010609060101010101" pitchFamily="49" charset="-122"/>
              </a:rPr>
              <a:t>算法练习</a:t>
            </a:r>
          </a:p>
        </p:txBody>
      </p:sp>
      <p:sp>
        <p:nvSpPr>
          <p:cNvPr id="3" name="TextBox 2">
            <a:extLst>
              <a:ext uri="{FF2B5EF4-FFF2-40B4-BE49-F238E27FC236}">
                <a16:creationId xmlns:a16="http://schemas.microsoft.com/office/drawing/2014/main" id="{97BFF768-26B9-1C1E-575D-9ACA2B9BDC63}"/>
              </a:ext>
            </a:extLst>
          </p:cNvPr>
          <p:cNvSpPr txBox="1"/>
          <p:nvPr/>
        </p:nvSpPr>
        <p:spPr>
          <a:xfrm>
            <a:off x="668338" y="1688639"/>
            <a:ext cx="6093724" cy="461665"/>
          </a:xfrm>
          <a:prstGeom prst="rect">
            <a:avLst/>
          </a:prstGeom>
          <a:noFill/>
        </p:spPr>
        <p:txBody>
          <a:bodyPr wrap="square">
            <a:spAutoFit/>
          </a:bodyPr>
          <a:lstStyle/>
          <a:p>
            <a:pPr algn="just" latinLnBrk="1"/>
            <a:r>
              <a:rPr lang="en-US" altLang="ko-Kore-KR" kern="100">
                <a:latin typeface="Calibri" panose="020F0502020204030204" pitchFamily="34" charset="0"/>
                <a:ea typeface="KaiTi" panose="02010609060101010101" pitchFamily="49" charset="-122"/>
                <a:cs typeface="Times New Roman" panose="02020603050405020304" pitchFamily="18" charset="0"/>
              </a:rPr>
              <a:t>Q</a:t>
            </a:r>
            <a:r>
              <a:rPr lang="en-US" altLang="zh-CN" kern="100">
                <a:latin typeface="Calibri" panose="020F0502020204030204" pitchFamily="34" charset="0"/>
                <a:ea typeface="KaiTi" panose="02010609060101010101" pitchFamily="49" charset="-122"/>
                <a:cs typeface="Times New Roman" panose="02020603050405020304" pitchFamily="18" charset="0"/>
              </a:rPr>
              <a:t>2</a:t>
            </a:r>
            <a:r>
              <a:rPr lang="zh-CN"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a:t>
            </a:r>
            <a:r>
              <a:rPr lang="ko-Kore-KR"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回归</a:t>
            </a:r>
            <a:r>
              <a:rPr lang="zh-CN"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a:t>
            </a:r>
            <a:r>
              <a:rPr lang="ko-KR" altLang="en-US" sz="2400" kern="100">
                <a:effectLst/>
                <a:latin typeface="Calibri" panose="020F0502020204030204" pitchFamily="34" charset="0"/>
                <a:ea typeface="KaiTi" panose="02010609060101010101" pitchFamily="49" charset="-122"/>
                <a:cs typeface="Microsoft YaHei" panose="020B0503020204020204" pitchFamily="34" charset="-122"/>
              </a:rPr>
              <a:t>第一颗回归树如何划分？</a:t>
            </a:r>
            <a:endParaRPr lang="ko-Kore-KR" altLang="ko-Kore-KR" sz="24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
        <p:nvSpPr>
          <p:cNvPr id="13" name="TextBox 12">
            <a:extLst>
              <a:ext uri="{FF2B5EF4-FFF2-40B4-BE49-F238E27FC236}">
                <a16:creationId xmlns:a16="http://schemas.microsoft.com/office/drawing/2014/main" id="{546C7967-2E77-E70F-B96D-244086A16380}"/>
              </a:ext>
            </a:extLst>
          </p:cNvPr>
          <p:cNvSpPr txBox="1"/>
          <p:nvPr/>
        </p:nvSpPr>
        <p:spPr>
          <a:xfrm>
            <a:off x="668338" y="2925182"/>
            <a:ext cx="6093724" cy="461665"/>
          </a:xfrm>
          <a:prstGeom prst="rect">
            <a:avLst/>
          </a:prstGeom>
          <a:noFill/>
        </p:spPr>
        <p:txBody>
          <a:bodyPr wrap="square">
            <a:spAutoFit/>
          </a:bodyPr>
          <a:lstStyle/>
          <a:p>
            <a:pPr algn="just" latinLnBrk="1"/>
            <a:r>
              <a:rPr lang="en-US" altLang="ko-Kore-KR" kern="100">
                <a:latin typeface="Calibri" panose="020F0502020204030204" pitchFamily="34" charset="0"/>
                <a:ea typeface="KaiTi" panose="02010609060101010101" pitchFamily="49" charset="-122"/>
                <a:cs typeface="Times New Roman" panose="02020603050405020304" pitchFamily="18" charset="0"/>
              </a:rPr>
              <a:t>Q</a:t>
            </a:r>
            <a:r>
              <a:rPr lang="en-US" altLang="zh-CN" kern="100">
                <a:latin typeface="Calibri" panose="020F0502020204030204" pitchFamily="34" charset="0"/>
                <a:ea typeface="KaiTi" panose="02010609060101010101" pitchFamily="49" charset="-122"/>
                <a:cs typeface="Times New Roman" panose="02020603050405020304" pitchFamily="18" charset="0"/>
              </a:rPr>
              <a:t>3</a:t>
            </a:r>
            <a:r>
              <a:rPr lang="zh-CN"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：（分类）</a:t>
            </a:r>
            <a:r>
              <a:rPr lang="ko-Kore-KR" altLang="ko-Kore-KR" sz="2400" kern="100">
                <a:effectLst/>
                <a:latin typeface="Calibri" panose="020F0502020204030204" pitchFamily="34" charset="0"/>
                <a:ea typeface="KaiTi" panose="02010609060101010101" pitchFamily="49" charset="-122"/>
                <a:cs typeface="Microsoft YaHei" panose="020B0503020204020204" pitchFamily="34" charset="-122"/>
              </a:rPr>
              <a:t>计</a:t>
            </a:r>
            <a:r>
              <a:rPr lang="ko-Kore-KR" altLang="ko-Kore-KR" sz="2400" kern="100">
                <a:effectLst/>
                <a:latin typeface="Calibri" panose="020F0502020204030204" pitchFamily="34" charset="0"/>
                <a:ea typeface="KaiTi" panose="02010609060101010101" pitchFamily="49" charset="-122"/>
                <a:cs typeface="Times New Roman" panose="02020603050405020304" pitchFamily="18" charset="0"/>
              </a:rPr>
              <a:t>算第</a:t>
            </a:r>
            <a:r>
              <a:rPr lang="en-US" altLang="ko-Kore-KR" sz="2400" kern="100">
                <a:effectLst/>
                <a:latin typeface="Calibri" panose="020F0502020204030204" pitchFamily="34" charset="0"/>
                <a:ea typeface="KaiTi" panose="02010609060101010101" pitchFamily="49" charset="-122"/>
                <a:cs typeface="Times New Roman" panose="02020603050405020304" pitchFamily="18" charset="0"/>
              </a:rPr>
              <a:t> 1 </a:t>
            </a:r>
            <a:r>
              <a:rPr lang="ko-Kore-KR" altLang="ko-Kore-KR" sz="2400" kern="100">
                <a:effectLst/>
                <a:latin typeface="Calibri" panose="020F0502020204030204" pitchFamily="34" charset="0"/>
                <a:ea typeface="KaiTi" panose="02010609060101010101" pitchFamily="49" charset="-122"/>
                <a:cs typeface="Microsoft YaHei" panose="020B0503020204020204" pitchFamily="34" charset="-122"/>
              </a:rPr>
              <a:t>颗树</a:t>
            </a:r>
            <a:r>
              <a:rPr lang="ko-Kore-KR" altLang="ko-Kore-KR" sz="2400" kern="100">
                <a:effectLst/>
                <a:latin typeface="Calibri" panose="020F0502020204030204" pitchFamily="34" charset="0"/>
                <a:ea typeface="KaiTi" panose="02010609060101010101" pitchFamily="49" charset="-122"/>
                <a:cs typeface="Times New Roman" panose="02020603050405020304" pitchFamily="18" charset="0"/>
              </a:rPr>
              <a:t>的</a:t>
            </a:r>
            <a:r>
              <a:rPr lang="ko-Kore-KR" altLang="ko-Kore-KR" sz="2400" kern="100">
                <a:effectLst/>
                <a:latin typeface="Calibri" panose="020F0502020204030204" pitchFamily="34" charset="0"/>
                <a:ea typeface="KaiTi" panose="02010609060101010101" pitchFamily="49" charset="-122"/>
                <a:cs typeface="Microsoft YaHei" panose="020B0503020204020204" pitchFamily="34" charset="-122"/>
              </a:rPr>
              <a:t>残</a:t>
            </a:r>
            <a:r>
              <a:rPr lang="ko-Kore-KR" altLang="ko-Kore-KR" sz="2400" kern="100">
                <a:effectLst/>
                <a:latin typeface="Calibri" panose="020F0502020204030204" pitchFamily="34" charset="0"/>
                <a:ea typeface="KaiTi" panose="02010609060101010101" pitchFamily="49" charset="-122"/>
                <a:cs typeface="바탕" panose="02030600000101010101" pitchFamily="18" charset="-127"/>
              </a:rPr>
              <a:t>差</a:t>
            </a:r>
            <a:endParaRPr lang="ko-Kore-KR" altLang="ko-Kore-KR" sz="24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
        <p:nvSpPr>
          <p:cNvPr id="14" name="TextBox 13">
            <a:extLst>
              <a:ext uri="{FF2B5EF4-FFF2-40B4-BE49-F238E27FC236}">
                <a16:creationId xmlns:a16="http://schemas.microsoft.com/office/drawing/2014/main" id="{202B2BC9-747B-09EB-A24D-4B8395744CCF}"/>
              </a:ext>
            </a:extLst>
          </p:cNvPr>
          <p:cNvSpPr txBox="1"/>
          <p:nvPr/>
        </p:nvSpPr>
        <p:spPr>
          <a:xfrm>
            <a:off x="668338" y="3700498"/>
            <a:ext cx="6093724" cy="461665"/>
          </a:xfrm>
          <a:prstGeom prst="rect">
            <a:avLst/>
          </a:prstGeom>
          <a:noFill/>
        </p:spPr>
        <p:txBody>
          <a:bodyPr wrap="square">
            <a:spAutoFit/>
          </a:bodyPr>
          <a:lstStyle/>
          <a:p>
            <a:pPr algn="just" latinLnBrk="1"/>
            <a:r>
              <a:rPr lang="en-US" altLang="ko-Kore-KR" kern="100">
                <a:latin typeface="Calibri" panose="020F0502020204030204" pitchFamily="34" charset="0"/>
                <a:ea typeface="KaiTi" panose="02010609060101010101" pitchFamily="49" charset="-122"/>
                <a:cs typeface="Times New Roman" panose="02020603050405020304" pitchFamily="18" charset="0"/>
              </a:rPr>
              <a:t>Q</a:t>
            </a:r>
            <a:r>
              <a:rPr lang="en-US" altLang="zh-CN" kern="100">
                <a:latin typeface="Calibri" panose="020F0502020204030204" pitchFamily="34" charset="0"/>
                <a:ea typeface="KaiTi" panose="02010609060101010101" pitchFamily="49" charset="-122"/>
                <a:cs typeface="Times New Roman" panose="02020603050405020304" pitchFamily="18" charset="0"/>
              </a:rPr>
              <a:t>4</a:t>
            </a:r>
            <a:r>
              <a:rPr lang="zh-CN"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a:t>
            </a:r>
            <a:r>
              <a:rPr lang="ko-Kore-KR"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分类</a:t>
            </a:r>
            <a:r>
              <a:rPr lang="zh-CN" altLang="en-US" kern="100">
                <a:latin typeface="Calibri" panose="020F0502020204030204" pitchFamily="34" charset="0"/>
                <a:ea typeface="KaiTi" panose="02010609060101010101" pitchFamily="49" charset="-122"/>
                <a:cs typeface="Times New Roman" panose="02020603050405020304" pitchFamily="18" charset="0"/>
                <a:sym typeface="Wingdings" pitchFamily="2" charset="2"/>
              </a:rPr>
              <a:t>）</a:t>
            </a:r>
            <a:r>
              <a:rPr lang="ko-KR" altLang="en-US" sz="2400" kern="100">
                <a:effectLst/>
                <a:latin typeface="Calibri" panose="020F0502020204030204" pitchFamily="34" charset="0"/>
                <a:ea typeface="KaiTi" panose="02010609060101010101" pitchFamily="49" charset="-122"/>
                <a:cs typeface="Microsoft YaHei" panose="020B0503020204020204" pitchFamily="34" charset="-122"/>
              </a:rPr>
              <a:t>第一颗回归树如何划分？</a:t>
            </a:r>
            <a:endParaRPr lang="ko-Kore-KR" altLang="ko-Kore-KR" sz="2400" kern="100">
              <a:effectLst/>
              <a:latin typeface="Calibri" panose="020F0502020204030204" pitchFamily="34" charset="0"/>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3909200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33C8D-E33F-653E-231A-4E679B40F389}"/>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132A5F85-4C95-A3D7-B7E7-757F96AAFE9C}"/>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4.XGBoost</a:t>
            </a:r>
            <a:endParaRPr lang="zh-CN" altLang="en-US" dirty="0">
              <a:solidFill>
                <a:schemeClr val="tx1"/>
              </a:solidFill>
            </a:endParaRPr>
          </a:p>
        </p:txBody>
      </p:sp>
      <p:sp>
        <p:nvSpPr>
          <p:cNvPr id="2" name="对角圆角矩形 8">
            <a:extLst>
              <a:ext uri="{FF2B5EF4-FFF2-40B4-BE49-F238E27FC236}">
                <a16:creationId xmlns:a16="http://schemas.microsoft.com/office/drawing/2014/main" id="{00588349-6529-7FE4-14F8-EA4DD287DBA2}"/>
              </a:ext>
            </a:extLst>
          </p:cNvPr>
          <p:cNvSpPr/>
          <p:nvPr/>
        </p:nvSpPr>
        <p:spPr>
          <a:xfrm>
            <a:off x="2399299" y="4192060"/>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3" name="TextBox 6">
            <a:extLst>
              <a:ext uri="{FF2B5EF4-FFF2-40B4-BE49-F238E27FC236}">
                <a16:creationId xmlns:a16="http://schemas.microsoft.com/office/drawing/2014/main" id="{C8C75BC2-2540-8B9C-832B-1BA6B7A45A5E}"/>
              </a:ext>
            </a:extLst>
          </p:cNvPr>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4" name="TextBox 10">
            <a:extLst>
              <a:ext uri="{FF2B5EF4-FFF2-40B4-BE49-F238E27FC236}">
                <a16:creationId xmlns:a16="http://schemas.microsoft.com/office/drawing/2014/main" id="{6355DA81-6820-761E-1C1F-E4C43FE409CC}"/>
              </a:ext>
            </a:extLst>
          </p:cNvPr>
          <p:cNvSpPr txBox="1">
            <a:spLocks noChangeArrowheads="1"/>
          </p:cNvSpPr>
          <p:nvPr/>
        </p:nvSpPr>
        <p:spPr bwMode="auto">
          <a:xfrm>
            <a:off x="3002508" y="2683725"/>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t>
            </a:r>
            <a:r>
              <a:rPr lang="zh-CN" altLang="en-US" sz="3600" dirty="0">
                <a:latin typeface="Impact" pitchFamily="34" charset="0"/>
                <a:ea typeface="微软雅黑" pitchFamily="34" charset="-122"/>
              </a:rPr>
              <a:t>随机森林算法</a:t>
            </a:r>
          </a:p>
        </p:txBody>
      </p:sp>
      <p:sp>
        <p:nvSpPr>
          <p:cNvPr id="5" name="TextBox 11">
            <a:extLst>
              <a:ext uri="{FF2B5EF4-FFF2-40B4-BE49-F238E27FC236}">
                <a16:creationId xmlns:a16="http://schemas.microsoft.com/office/drawing/2014/main" id="{2D86D76D-AF91-062E-B40B-1D7F5FADDDEF}"/>
              </a:ext>
            </a:extLst>
          </p:cNvPr>
          <p:cNvSpPr txBox="1">
            <a:spLocks noChangeArrowheads="1"/>
          </p:cNvSpPr>
          <p:nvPr/>
        </p:nvSpPr>
        <p:spPr bwMode="auto">
          <a:xfrm>
            <a:off x="3002507" y="4238911"/>
            <a:ext cx="392148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04    XGBoost</a:t>
            </a:r>
            <a:endParaRPr lang="zh-CN" altLang="en-US" sz="3600" dirty="0">
              <a:solidFill>
                <a:schemeClr val="bg1"/>
              </a:solidFill>
              <a:latin typeface="Impact" pitchFamily="34" charset="0"/>
              <a:ea typeface="微软雅黑" pitchFamily="34" charset="-122"/>
            </a:endParaRPr>
          </a:p>
        </p:txBody>
      </p:sp>
      <p:sp>
        <p:nvSpPr>
          <p:cNvPr id="6" name="TextBox 10">
            <a:extLst>
              <a:ext uri="{FF2B5EF4-FFF2-40B4-BE49-F238E27FC236}">
                <a16:creationId xmlns:a16="http://schemas.microsoft.com/office/drawing/2014/main" id="{03FC686D-B52A-D4C6-65B5-ADEA48B0EA3F}"/>
              </a:ext>
            </a:extLst>
          </p:cNvPr>
          <p:cNvSpPr txBox="1">
            <a:spLocks noChangeArrowheads="1"/>
          </p:cNvSpPr>
          <p:nvPr/>
        </p:nvSpPr>
        <p:spPr bwMode="auto">
          <a:xfrm>
            <a:off x="3002507" y="5054092"/>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05    </a:t>
            </a:r>
            <a:r>
              <a:rPr lang="en-US" altLang="zh-CN" sz="3600" dirty="0" err="1">
                <a:latin typeface="Impact" pitchFamily="34" charset="0"/>
                <a:ea typeface="微软雅黑" pitchFamily="34" charset="-122"/>
              </a:rPr>
              <a:t>LightGBM</a:t>
            </a:r>
            <a:endParaRPr lang="zh-CN" altLang="en-US" sz="3600" dirty="0">
              <a:latin typeface="Impact" pitchFamily="34" charset="0"/>
              <a:ea typeface="微软雅黑" pitchFamily="34" charset="-122"/>
            </a:endParaRPr>
          </a:p>
        </p:txBody>
      </p:sp>
      <p:sp>
        <p:nvSpPr>
          <p:cNvPr id="11" name="TextBox 10">
            <a:extLst>
              <a:ext uri="{FF2B5EF4-FFF2-40B4-BE49-F238E27FC236}">
                <a16:creationId xmlns:a16="http://schemas.microsoft.com/office/drawing/2014/main" id="{AB7B95AA-DCF4-2A03-BFA8-F6FE6F457C86}"/>
              </a:ext>
            </a:extLst>
          </p:cNvPr>
          <p:cNvSpPr txBox="1">
            <a:spLocks noChangeArrowheads="1"/>
          </p:cNvSpPr>
          <p:nvPr/>
        </p:nvSpPr>
        <p:spPr bwMode="auto">
          <a:xfrm>
            <a:off x="3002507" y="3423730"/>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Tree>
    <p:extLst>
      <p:ext uri="{BB962C8B-B14F-4D97-AF65-F5344CB8AC3E}">
        <p14:creationId xmlns:p14="http://schemas.microsoft.com/office/powerpoint/2010/main" val="291489800"/>
      </p:ext>
    </p:extLst>
  </p:cSld>
  <p:clrMapOvr>
    <a:masterClrMapping/>
  </p:clrMapOvr>
  <p:transition advTm="8005"/>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1" name="Rectangle 2">
            <a:extLst>
              <a:ext uri="{FF2B5EF4-FFF2-40B4-BE49-F238E27FC236}">
                <a16:creationId xmlns:a16="http://schemas.microsoft.com/office/drawing/2014/main" id="{75281330-1D9F-4B36-B79C-54261453B8C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p:sp>
        <p:nvSpPr>
          <p:cNvPr id="12" name="文本框 11">
            <a:extLst>
              <a:ext uri="{FF2B5EF4-FFF2-40B4-BE49-F238E27FC236}">
                <a16:creationId xmlns:a16="http://schemas.microsoft.com/office/drawing/2014/main" id="{15FBDA44-DD7C-4455-B535-31374581910A}"/>
              </a:ext>
            </a:extLst>
          </p:cNvPr>
          <p:cNvSpPr txBox="1"/>
          <p:nvPr/>
        </p:nvSpPr>
        <p:spPr>
          <a:xfrm>
            <a:off x="668338" y="1600200"/>
            <a:ext cx="6817530" cy="3351046"/>
          </a:xfrm>
          <a:prstGeom prst="rect">
            <a:avLst/>
          </a:prstGeom>
          <a:noFill/>
        </p:spPr>
        <p:txBody>
          <a:bodyPr wrap="square">
            <a:spAutoFit/>
          </a:bodyPr>
          <a:lstStyle/>
          <a:p>
            <a:pPr>
              <a:lnSpc>
                <a:spcPct val="150000"/>
              </a:lnSpc>
            </a:pPr>
            <a:r>
              <a:rPr lang="en-US" altLang="zh-CN" sz="2400" b="1" kern="100" dirty="0">
                <a:effectLst/>
                <a:latin typeface="KaiTi" panose="02010609060101010101" pitchFamily="49" charset="-122"/>
                <a:ea typeface="KaiTi" panose="02010609060101010101" pitchFamily="49" charset="-122"/>
                <a:cs typeface="Times New Roman" panose="02020603050405020304" pitchFamily="18" charset="0"/>
              </a:rPr>
              <a:t>XGBoost</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是大规模并行</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 boosting tree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的工具，它是目前最快最好的开源</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 boosting tree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工具包，比常见的工具包快</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 10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倍以上。</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XGBoost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和</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 GBDT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两者都是</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 boosting </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方法，除了工程实现、解决问题上的一些差异外，最大的不同就是目标函数的定义。</a:t>
            </a:r>
            <a:endParaRPr lang="zh-CN" altLang="en-US" dirty="0">
              <a:latin typeface="KaiTi" panose="02010609060101010101" pitchFamily="49" charset="-122"/>
              <a:ea typeface="KaiTi" panose="02010609060101010101" pitchFamily="49" charset="-122"/>
            </a:endParaRPr>
          </a:p>
        </p:txBody>
      </p:sp>
      <p:pic>
        <p:nvPicPr>
          <p:cNvPr id="1026" name="Picture 2" descr="【转】XGBoost参数调优完全指南（附Python代码）">
            <a:extLst>
              <a:ext uri="{FF2B5EF4-FFF2-40B4-BE49-F238E27FC236}">
                <a16:creationId xmlns:a16="http://schemas.microsoft.com/office/drawing/2014/main" id="{A5621CA9-8BA6-4D56-93E9-BBAE4E5CDD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5868" y="1790557"/>
            <a:ext cx="4037794" cy="1708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0463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8893-2FB8-BCCC-B632-155BF83AF7AA}"/>
            </a:ext>
          </a:extLst>
        </p:cNvPr>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a:extLst>
              <a:ext uri="{FF2B5EF4-FFF2-40B4-BE49-F238E27FC236}">
                <a16:creationId xmlns:a16="http://schemas.microsoft.com/office/drawing/2014/main" id="{41C129FE-0C7F-87B2-EB97-F6CED55083E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1" name="Rectangle 2">
            <a:extLst>
              <a:ext uri="{FF2B5EF4-FFF2-40B4-BE49-F238E27FC236}">
                <a16:creationId xmlns:a16="http://schemas.microsoft.com/office/drawing/2014/main" id="{73A0AB08-E122-3491-9E4F-6A51D069C503}"/>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48563A1D-6BBE-DBA3-C38E-0A517C15427B}"/>
              </a:ext>
            </a:extLst>
          </p:cNvPr>
          <p:cNvSpPr txBox="1"/>
          <p:nvPr/>
        </p:nvSpPr>
        <p:spPr>
          <a:xfrm>
            <a:off x="460375" y="1290963"/>
            <a:ext cx="11049180" cy="4862357"/>
          </a:xfrm>
          <a:prstGeom prst="rect">
            <a:avLst/>
          </a:prstGeom>
          <a:noFill/>
        </p:spPr>
        <p:txBody>
          <a:bodyPr wrap="square">
            <a:spAutoFit/>
          </a:bodyPr>
          <a:lstStyle/>
          <a:p>
            <a:pPr algn="just">
              <a:lnSpc>
                <a:spcPct val="150000"/>
              </a:lnSpc>
            </a:pPr>
            <a:r>
              <a:rPr lang="en-US" altLang="zh-CN" sz="2400" kern="100" dirty="0">
                <a:effectLst/>
                <a:latin typeface="KaiTi" panose="02010609060101010101" pitchFamily="49" charset="-122"/>
                <a:ea typeface="KaiTi" panose="02010609060101010101" pitchFamily="49" charset="-122"/>
              </a:rPr>
              <a:t>XGBoost</a:t>
            </a:r>
            <a:r>
              <a:rPr lang="zh-CN" altLang="zh-CN" sz="2400" kern="100" dirty="0">
                <a:effectLst/>
                <a:latin typeface="KaiTi" panose="02010609060101010101" pitchFamily="49" charset="-122"/>
                <a:ea typeface="KaiTi" panose="02010609060101010101" pitchFamily="49" charset="-122"/>
              </a:rPr>
              <a:t>是算法竞赛中最热门的算法之一，它将</a:t>
            </a:r>
            <a:r>
              <a:rPr lang="en-US" altLang="zh-CN" sz="2400" kern="100" dirty="0">
                <a:effectLst/>
                <a:latin typeface="KaiTi" panose="02010609060101010101" pitchFamily="49" charset="-122"/>
                <a:ea typeface="KaiTi" panose="02010609060101010101" pitchFamily="49" charset="-122"/>
              </a:rPr>
              <a:t>GBDT</a:t>
            </a:r>
            <a:r>
              <a:rPr lang="zh-CN" altLang="zh-CN" sz="2400" kern="100" dirty="0">
                <a:effectLst/>
                <a:latin typeface="KaiTi" panose="02010609060101010101" pitchFamily="49" charset="-122"/>
                <a:ea typeface="KaiTi" panose="02010609060101010101" pitchFamily="49" charset="-122"/>
              </a:rPr>
              <a:t>的优化走向了一个极致：</a:t>
            </a:r>
          </a:p>
          <a:p>
            <a:pPr algn="just">
              <a:lnSpc>
                <a:spcPct val="200000"/>
              </a:lnSpc>
            </a:pPr>
            <a:r>
              <a:rPr lang="en-US" altLang="zh-CN" sz="2000" kern="100" dirty="0">
                <a:effectLst/>
                <a:latin typeface="KaiTi" panose="02010609060101010101" pitchFamily="49" charset="-122"/>
                <a:ea typeface="KaiTi" panose="02010609060101010101" pitchFamily="49" charset="-122"/>
              </a:rPr>
              <a:t>(1) XGBoost</a:t>
            </a:r>
            <a:r>
              <a:rPr lang="zh-CN" altLang="zh-CN" sz="2000" kern="100" dirty="0">
                <a:effectLst/>
                <a:latin typeface="KaiTi" panose="02010609060101010101" pitchFamily="49" charset="-122"/>
                <a:ea typeface="KaiTi" panose="02010609060101010101" pitchFamily="49" charset="-122"/>
              </a:rPr>
              <a:t>生成</a:t>
            </a:r>
            <a:r>
              <a:rPr lang="en-US" altLang="zh-CN" sz="2000" kern="100" dirty="0">
                <a:effectLst/>
                <a:latin typeface="KaiTi" panose="02010609060101010101" pitchFamily="49" charset="-122"/>
                <a:ea typeface="KaiTi" panose="02010609060101010101" pitchFamily="49" charset="-122"/>
              </a:rPr>
              <a:t>CART</a:t>
            </a:r>
            <a:r>
              <a:rPr lang="zh-CN" altLang="zh-CN" sz="2000" kern="100" dirty="0">
                <a:effectLst/>
                <a:latin typeface="KaiTi" panose="02010609060101010101" pitchFamily="49" charset="-122"/>
                <a:ea typeface="KaiTi" panose="02010609060101010101" pitchFamily="49" charset="-122"/>
              </a:rPr>
              <a:t>树考虑了</a:t>
            </a:r>
            <a:r>
              <a:rPr lang="zh-CN" altLang="zh-CN" sz="2000" b="1" kern="100" dirty="0">
                <a:effectLst/>
                <a:latin typeface="KaiTi" panose="02010609060101010101" pitchFamily="49" charset="-122"/>
                <a:ea typeface="KaiTi" panose="02010609060101010101" pitchFamily="49" charset="-122"/>
              </a:rPr>
              <a:t>树的复杂度</a:t>
            </a:r>
            <a:r>
              <a:rPr lang="zh-CN" altLang="zh-CN" sz="2000" kern="100" dirty="0">
                <a:effectLst/>
                <a:latin typeface="KaiTi" panose="02010609060101010101" pitchFamily="49" charset="-122"/>
                <a:ea typeface="KaiTi" panose="02010609060101010101" pitchFamily="49" charset="-122"/>
              </a:rPr>
              <a:t>，</a:t>
            </a:r>
            <a:r>
              <a:rPr lang="en-US" altLang="zh-CN" sz="2000" kern="100" dirty="0">
                <a:effectLst/>
                <a:latin typeface="KaiTi" panose="02010609060101010101" pitchFamily="49" charset="-122"/>
                <a:ea typeface="KaiTi" panose="02010609060101010101" pitchFamily="49" charset="-122"/>
              </a:rPr>
              <a:t>GDBT</a:t>
            </a:r>
            <a:r>
              <a:rPr lang="zh-CN" altLang="zh-CN" sz="2000" kern="100" dirty="0">
                <a:effectLst/>
                <a:latin typeface="KaiTi" panose="02010609060101010101" pitchFamily="49" charset="-122"/>
                <a:ea typeface="KaiTi" panose="02010609060101010101" pitchFamily="49" charset="-122"/>
              </a:rPr>
              <a:t>未考虑，</a:t>
            </a:r>
            <a:r>
              <a:rPr lang="en-US" altLang="zh-CN" sz="2000" kern="100" dirty="0">
                <a:effectLst/>
                <a:latin typeface="KaiTi" panose="02010609060101010101" pitchFamily="49" charset="-122"/>
                <a:ea typeface="KaiTi" panose="02010609060101010101" pitchFamily="49" charset="-122"/>
              </a:rPr>
              <a:t>GDBT</a:t>
            </a:r>
            <a:r>
              <a:rPr lang="zh-CN" altLang="zh-CN" sz="2000" kern="100" dirty="0">
                <a:effectLst/>
                <a:latin typeface="KaiTi" panose="02010609060101010101" pitchFamily="49" charset="-122"/>
                <a:ea typeface="KaiTi" panose="02010609060101010101" pitchFamily="49" charset="-122"/>
              </a:rPr>
              <a:t>在树的剪枝步骤中考虑了树的复杂度。</a:t>
            </a:r>
          </a:p>
          <a:p>
            <a:pPr algn="just">
              <a:lnSpc>
                <a:spcPct val="200000"/>
              </a:lnSpc>
            </a:pPr>
            <a:r>
              <a:rPr lang="en-US" altLang="zh-CN" sz="2000" kern="100" dirty="0">
                <a:effectLst/>
                <a:latin typeface="KaiTi" panose="02010609060101010101" pitchFamily="49" charset="-122"/>
                <a:ea typeface="KaiTi" panose="02010609060101010101" pitchFamily="49" charset="-122"/>
              </a:rPr>
              <a:t>(2) XGBoost</a:t>
            </a:r>
            <a:r>
              <a:rPr lang="zh-CN" altLang="zh-CN" sz="2000" kern="100" dirty="0">
                <a:effectLst/>
                <a:latin typeface="KaiTi" panose="02010609060101010101" pitchFamily="49" charset="-122"/>
                <a:ea typeface="KaiTi" panose="02010609060101010101" pitchFamily="49" charset="-122"/>
              </a:rPr>
              <a:t>是拟合上一轮损失函数的</a:t>
            </a:r>
            <a:r>
              <a:rPr lang="zh-CN" altLang="zh-CN" sz="2000" b="1" kern="100" dirty="0">
                <a:effectLst/>
                <a:latin typeface="KaiTi" panose="02010609060101010101" pitchFamily="49" charset="-122"/>
                <a:ea typeface="KaiTi" panose="02010609060101010101" pitchFamily="49" charset="-122"/>
              </a:rPr>
              <a:t>二阶导展开</a:t>
            </a:r>
            <a:r>
              <a:rPr lang="zh-CN" altLang="zh-CN" sz="2000" kern="100" dirty="0">
                <a:effectLst/>
                <a:latin typeface="KaiTi" panose="02010609060101010101" pitchFamily="49" charset="-122"/>
                <a:ea typeface="KaiTi" panose="02010609060101010101" pitchFamily="49" charset="-122"/>
              </a:rPr>
              <a:t>，</a:t>
            </a:r>
            <a:r>
              <a:rPr lang="en-US" altLang="zh-CN" sz="2000" kern="100" dirty="0">
                <a:effectLst/>
                <a:latin typeface="KaiTi" panose="02010609060101010101" pitchFamily="49" charset="-122"/>
                <a:ea typeface="KaiTi" panose="02010609060101010101" pitchFamily="49" charset="-122"/>
              </a:rPr>
              <a:t>GDBT</a:t>
            </a:r>
            <a:r>
              <a:rPr lang="zh-CN" altLang="zh-CN" sz="2000" kern="100" dirty="0">
                <a:effectLst/>
                <a:latin typeface="KaiTi" panose="02010609060101010101" pitchFamily="49" charset="-122"/>
                <a:ea typeface="KaiTi" panose="02010609060101010101" pitchFamily="49" charset="-122"/>
              </a:rPr>
              <a:t>是拟合上一轮损失函数的一阶导展开，因此，</a:t>
            </a:r>
            <a:r>
              <a:rPr lang="en-US" altLang="zh-CN" sz="2000" kern="100" dirty="0">
                <a:effectLst/>
                <a:latin typeface="KaiTi" panose="02010609060101010101" pitchFamily="49" charset="-122"/>
                <a:ea typeface="KaiTi" panose="02010609060101010101" pitchFamily="49" charset="-122"/>
              </a:rPr>
              <a:t>XGBoost</a:t>
            </a:r>
            <a:r>
              <a:rPr lang="zh-CN" altLang="zh-CN" sz="2000" kern="100" dirty="0">
                <a:effectLst/>
                <a:latin typeface="KaiTi" panose="02010609060101010101" pitchFamily="49" charset="-122"/>
                <a:ea typeface="KaiTi" panose="02010609060101010101" pitchFamily="49" charset="-122"/>
              </a:rPr>
              <a:t>的准确性更高，且满足相同的训练效果，需要的迭代次数更少。</a:t>
            </a:r>
          </a:p>
          <a:p>
            <a:pPr algn="just">
              <a:lnSpc>
                <a:spcPct val="200000"/>
              </a:lnSpc>
            </a:pPr>
            <a:r>
              <a:rPr lang="en-US" altLang="zh-CN" sz="2000" kern="100" dirty="0">
                <a:effectLst/>
                <a:latin typeface="KaiTi" panose="02010609060101010101" pitchFamily="49" charset="-122"/>
                <a:ea typeface="KaiTi" panose="02010609060101010101" pitchFamily="49" charset="-122"/>
              </a:rPr>
              <a:t>(3) XGBoost</a:t>
            </a:r>
            <a:r>
              <a:rPr lang="zh-CN" altLang="zh-CN" sz="2000" kern="100" dirty="0">
                <a:effectLst/>
                <a:latin typeface="KaiTi" panose="02010609060101010101" pitchFamily="49" charset="-122"/>
                <a:ea typeface="KaiTi" panose="02010609060101010101" pitchFamily="49" charset="-122"/>
              </a:rPr>
              <a:t>与</a:t>
            </a:r>
            <a:r>
              <a:rPr lang="en-US" altLang="zh-CN" sz="2000" kern="100" dirty="0">
                <a:effectLst/>
                <a:latin typeface="KaiTi" panose="02010609060101010101" pitchFamily="49" charset="-122"/>
                <a:ea typeface="KaiTi" panose="02010609060101010101" pitchFamily="49" charset="-122"/>
              </a:rPr>
              <a:t>GDBT</a:t>
            </a:r>
            <a:r>
              <a:rPr lang="zh-CN" altLang="zh-CN" sz="2000" kern="100" dirty="0">
                <a:effectLst/>
                <a:latin typeface="KaiTi" panose="02010609060101010101" pitchFamily="49" charset="-122"/>
                <a:ea typeface="KaiTi" panose="02010609060101010101" pitchFamily="49" charset="-122"/>
              </a:rPr>
              <a:t>都是逐次迭代来提高模型性能，但是</a:t>
            </a:r>
            <a:r>
              <a:rPr lang="en-US" altLang="zh-CN" sz="2000" kern="100" dirty="0">
                <a:effectLst/>
                <a:latin typeface="KaiTi" panose="02010609060101010101" pitchFamily="49" charset="-122"/>
                <a:ea typeface="KaiTi" panose="02010609060101010101" pitchFamily="49" charset="-122"/>
              </a:rPr>
              <a:t>XGBoost</a:t>
            </a:r>
            <a:r>
              <a:rPr lang="zh-CN" altLang="zh-CN" sz="2000" kern="100" dirty="0">
                <a:effectLst/>
                <a:latin typeface="KaiTi" panose="02010609060101010101" pitchFamily="49" charset="-122"/>
                <a:ea typeface="KaiTi" panose="02010609060101010101" pitchFamily="49" charset="-122"/>
              </a:rPr>
              <a:t>在选取最佳分割点时可以开启</a:t>
            </a:r>
            <a:r>
              <a:rPr lang="zh-CN" altLang="zh-CN" sz="2000" b="1" kern="100" dirty="0">
                <a:effectLst/>
                <a:latin typeface="KaiTi" panose="02010609060101010101" pitchFamily="49" charset="-122"/>
                <a:ea typeface="KaiTi" panose="02010609060101010101" pitchFamily="49" charset="-122"/>
              </a:rPr>
              <a:t>多线程进行</a:t>
            </a:r>
            <a:r>
              <a:rPr lang="zh-CN" altLang="zh-CN" sz="2000" kern="100" dirty="0">
                <a:effectLst/>
                <a:latin typeface="KaiTi" panose="02010609060101010101" pitchFamily="49" charset="-122"/>
                <a:ea typeface="KaiTi" panose="02010609060101010101" pitchFamily="49" charset="-122"/>
              </a:rPr>
              <a:t>，大大提高了运行速度。当然，后续微软又出了</a:t>
            </a:r>
            <a:r>
              <a:rPr lang="en-US" altLang="zh-CN" sz="2000" kern="100" dirty="0" err="1">
                <a:effectLst/>
                <a:latin typeface="KaiTi" panose="02010609060101010101" pitchFamily="49" charset="-122"/>
                <a:ea typeface="KaiTi" panose="02010609060101010101" pitchFamily="49" charset="-122"/>
              </a:rPr>
              <a:t>LightGBM</a:t>
            </a:r>
            <a:r>
              <a:rPr lang="zh-CN" altLang="zh-CN" sz="2000" kern="100" dirty="0">
                <a:effectLst/>
                <a:latin typeface="KaiTi" panose="02010609060101010101" pitchFamily="49" charset="-122"/>
                <a:ea typeface="KaiTi" panose="02010609060101010101" pitchFamily="49" charset="-122"/>
              </a:rPr>
              <a:t>，在内存占用和运行速度上又做了不少优化，但是从算法本身来说，优化点则并没有比</a:t>
            </a:r>
            <a:r>
              <a:rPr lang="en-US" altLang="zh-CN" sz="2000" kern="100" dirty="0">
                <a:effectLst/>
                <a:latin typeface="KaiTi" panose="02010609060101010101" pitchFamily="49" charset="-122"/>
                <a:ea typeface="KaiTi" panose="02010609060101010101" pitchFamily="49" charset="-122"/>
              </a:rPr>
              <a:t>XGBoost</a:t>
            </a:r>
            <a:r>
              <a:rPr lang="zh-CN" altLang="zh-CN" sz="2000" kern="100" dirty="0">
                <a:effectLst/>
                <a:latin typeface="KaiTi" panose="02010609060101010101" pitchFamily="49" charset="-122"/>
                <a:ea typeface="KaiTi" panose="02010609060101010101" pitchFamily="49" charset="-122"/>
              </a:rPr>
              <a:t>多。</a:t>
            </a:r>
          </a:p>
        </p:txBody>
      </p:sp>
    </p:spTree>
    <p:extLst>
      <p:ext uri="{BB962C8B-B14F-4D97-AF65-F5344CB8AC3E}">
        <p14:creationId xmlns:p14="http://schemas.microsoft.com/office/powerpoint/2010/main" val="29193672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1106863" y="1663996"/>
                <a:ext cx="7083349"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𝑡</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r>
                            <m:rPr>
                              <m:sty m:val="p"/>
                            </m:rPr>
                            <a:rPr lang="en-US" altLang="zh-CN" b="0" i="0" smtClean="0">
                              <a:latin typeface="Cambria Math" panose="02040503050406030204" pitchFamily="18" charset="0"/>
                              <a:ea typeface="Microsoft YaHei" charset="0"/>
                            </a:rPr>
                            <m:t>L</m:t>
                          </m:r>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Sup>
                                <m:sSupPr>
                                  <m:ctrlPr>
                                    <a:rPr lang="en-US" altLang="zh-CN" b="0" i="1" smtClean="0">
                                      <a:latin typeface="Cambria Math" panose="02040503050406030204" pitchFamily="18" charset="0"/>
                                      <a:ea typeface="Microsoft YaHei" charset="0"/>
                                    </a:rPr>
                                  </m:ctrlPr>
                                </m:sSupPr>
                                <m:e>
                                  <m:acc>
                                    <m:accPr>
                                      <m:chr m:val="̂"/>
                                      <m:ctrlPr>
                                        <a:rPr lang="en-US" altLang="zh-CN" b="0" i="1" smtClean="0">
                                          <a:latin typeface="Cambria Math" panose="02040503050406030204" pitchFamily="18" charset="0"/>
                                          <a:ea typeface="Microsoft YaHei" charset="0"/>
                                        </a:rPr>
                                      </m:ctrlPr>
                                    </m:accPr>
                                    <m:e>
                                      <m:r>
                                        <a:rPr lang="en-US" altLang="zh-CN" b="0" i="1" smtClean="0">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𝑡</m:t>
                                  </m:r>
                                  <m:r>
                                    <a:rPr lang="en-US" altLang="zh-CN" b="0" i="1" smtClean="0">
                                      <a:latin typeface="Cambria Math" panose="02040503050406030204" pitchFamily="18" charset="0"/>
                                      <a:ea typeface="Microsoft YaHei" charset="0"/>
                                    </a:rPr>
                                    <m:t>−1</m:t>
                                  </m:r>
                                </m:sup>
                              </m:sSup>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𝑡</m:t>
                                  </m:r>
                                </m:sub>
                              </m:sSub>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e>
                              </m:d>
                            </m:e>
                          </m:d>
                          <m:r>
                            <a:rPr lang="en-US" altLang="zh-CN" b="0" i="1" smtClean="0">
                              <a:latin typeface="Cambria Math" panose="02040503050406030204" pitchFamily="18" charset="0"/>
                              <a:ea typeface="Microsoft YaHei" charset="0"/>
                            </a:rPr>
                            <m:t>+</m:t>
                          </m:r>
                          <m:r>
                            <m:rPr>
                              <m:sty m:val="p"/>
                            </m:rPr>
                            <a:rPr lang="el-GR" altLang="zh-CN" b="0" i="1" smtClean="0">
                              <a:latin typeface="Cambria Math" panose="02040503050406030204" pitchFamily="18" charset="0"/>
                              <a:ea typeface="Cambria Math" panose="02040503050406030204" pitchFamily="18" charset="0"/>
                            </a:rPr>
                            <m:t>Ω</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𝑓</m:t>
                                  </m:r>
                                </m:e>
                                <m:sub>
                                  <m:r>
                                    <a:rPr lang="en-US" altLang="zh-CN" b="0" i="1" smtClean="0">
                                      <a:latin typeface="Cambria Math" panose="02040503050406030204" pitchFamily="18" charset="0"/>
                                      <a:ea typeface="Cambria Math" panose="02040503050406030204" pitchFamily="18" charset="0"/>
                                    </a:rPr>
                                    <m:t>𝑡</m:t>
                                  </m:r>
                                </m:sub>
                              </m:sSub>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𝑐𝑜𝑛𝑠𝑡𝑎𝑛𝑡</m:t>
                          </m:r>
                        </m:e>
                      </m:nary>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106863" y="1663996"/>
                <a:ext cx="7083349" cy="1008225"/>
              </a:xfrm>
              <a:prstGeom prst="rect">
                <a:avLst/>
              </a:prstGeom>
              <a:blipFill>
                <a:blip r:embed="rId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3868403" y="2749383"/>
                <a:ext cx="3159279" cy="103848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𝛾</m:t>
                      </m:r>
                      <m:r>
                        <a:rPr lang="en-US" altLang="zh-CN" b="0" i="1" smtClean="0">
                          <a:latin typeface="Cambria Math" panose="02040503050406030204" pitchFamily="18" charset="0"/>
                          <a:ea typeface="Cambria Math" panose="02040503050406030204" pitchFamily="18" charset="0"/>
                        </a:rPr>
                        <m:t>𝑇</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2</m:t>
                          </m:r>
                        </m:den>
                      </m:f>
                      <m:r>
                        <a:rPr lang="zh-CN" altLang="en-US" b="0" i="1" smtClean="0">
                          <a:latin typeface="Cambria Math" panose="02040503050406030204" pitchFamily="18" charset="0"/>
                          <a:ea typeface="Cambria Math" panose="02040503050406030204" pitchFamily="18" charset="0"/>
                        </a:rPr>
                        <m:t>𝜆</m:t>
                      </m:r>
                      <m:nary>
                        <m:naryPr>
                          <m:chr m:val="∑"/>
                          <m:ctrlPr>
                            <a:rPr lang="zh-CN" altLang="en-US" b="0"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𝑇</m:t>
                          </m:r>
                        </m:sup>
                        <m:e>
                          <m:sSup>
                            <m:sSupPr>
                              <m:ctrlPr>
                                <a:rPr lang="en-US" altLang="zh-CN" b="0" i="1" smtClean="0">
                                  <a:latin typeface="Cambria Math" panose="02040503050406030204" pitchFamily="18" charset="0"/>
                                  <a:ea typeface="Cambria Math" panose="02040503050406030204" pitchFamily="18" charset="0"/>
                                </a:rPr>
                              </m:ctrlPr>
                            </m:sSup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𝑤</m:t>
                                  </m:r>
                                </m:e>
                                <m:sub>
                                  <m:r>
                                    <a:rPr lang="en-US" altLang="zh-CN" b="0" i="1" smtClean="0">
                                      <a:latin typeface="Cambria Math" panose="02040503050406030204" pitchFamily="18" charset="0"/>
                                      <a:ea typeface="Cambria Math" panose="02040503050406030204" pitchFamily="18" charset="0"/>
                                    </a:rPr>
                                    <m:t>𝑗</m:t>
                                  </m:r>
                                </m:sub>
                              </m:sSub>
                            </m:e>
                            <m:sup>
                              <m:r>
                                <a:rPr lang="en-US" altLang="zh-CN" b="0" i="1" smtClean="0">
                                  <a:latin typeface="Cambria Math" panose="02040503050406030204" pitchFamily="18" charset="0"/>
                                  <a:ea typeface="Cambria Math" panose="02040503050406030204" pitchFamily="18" charset="0"/>
                                </a:rPr>
                                <m:t>2</m:t>
                              </m:r>
                            </m:sup>
                          </m:sSup>
                        </m:e>
                      </m:nary>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3868403" y="2749383"/>
                <a:ext cx="3159279" cy="1038489"/>
              </a:xfrm>
              <a:prstGeom prst="rect">
                <a:avLst/>
              </a:prstGeom>
              <a:blipFill>
                <a:blip r:embed="rId3"/>
                <a:stretch>
                  <a:fillRect/>
                </a:stretch>
              </a:blipFill>
            </p:spPr>
            <p:txBody>
              <a:bodyPr/>
              <a:lstStyle/>
              <a:p>
                <a:r>
                  <a:rPr lang="ko-KR" altLang="en-US">
                    <a:noFill/>
                  </a:rPr>
                  <a:t> </a:t>
                </a:r>
              </a:p>
            </p:txBody>
          </p:sp>
        </mc:Fallback>
      </mc:AlternateContent>
      <p:pic>
        <p:nvPicPr>
          <p:cNvPr id="5" name="图片 4"/>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3060006" y="3870544"/>
            <a:ext cx="6475262" cy="2760900"/>
          </a:xfrm>
          <a:prstGeom prst="rect">
            <a:avLst/>
          </a:prstGeom>
        </p:spPr>
      </p:pic>
      <p:sp>
        <p:nvSpPr>
          <p:cNvPr id="6" name="下箭头 5"/>
          <p:cNvSpPr/>
          <p:nvPr/>
        </p:nvSpPr>
        <p:spPr>
          <a:xfrm>
            <a:off x="5857547" y="2515266"/>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7" name="文本框 6"/>
              <p:cNvSpPr txBox="1"/>
              <p:nvPr/>
            </p:nvSpPr>
            <p:spPr>
              <a:xfrm>
                <a:off x="4660607" y="3682950"/>
                <a:ext cx="147546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𝑔𝑎𝑚𝑚𝑎</m:t>
                      </m:r>
                      <m:r>
                        <a:rPr lang="en-US" altLang="zh-CN" sz="1400" i="1">
                          <a:latin typeface="Cambria Math" panose="02040503050406030204" pitchFamily="18" charset="0"/>
                        </a:rPr>
                        <m:t>    </m:t>
                      </m:r>
                      <m:r>
                        <a:rPr lang="en-US" altLang="zh-CN" sz="1400" i="1">
                          <a:latin typeface="Cambria Math" panose="02040503050406030204" pitchFamily="18" charset="0"/>
                        </a:rPr>
                        <m:t>𝑙𝑎𝑚𝑏𝑑𝑎</m:t>
                      </m:r>
                    </m:oMath>
                  </m:oMathPara>
                </a14:m>
                <a:endParaRPr lang="zh-CN" altLang="en-US" sz="1400" dirty="0">
                  <a:latin typeface="KaiTi" panose="02010609060101010101" pitchFamily="49" charset="-122"/>
                  <a:ea typeface="KaiTi" panose="02010609060101010101" pitchFamily="49"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4660607" y="3682950"/>
                <a:ext cx="1475469" cy="215444"/>
              </a:xfrm>
              <a:prstGeom prst="rect">
                <a:avLst/>
              </a:prstGeom>
              <a:blipFill>
                <a:blip r:embed="rId6"/>
                <a:stretch>
                  <a:fillRect l="-1240" b="-27778"/>
                </a:stretch>
              </a:blipFill>
            </p:spPr>
            <p:txBody>
              <a:bodyPr/>
              <a:lstStyle/>
              <a:p>
                <a:r>
                  <a:rPr lang="ko-KR" altLang="en-US">
                    <a:noFill/>
                  </a:rPr>
                  <a:t> </a:t>
                </a:r>
              </a:p>
            </p:txBody>
          </p:sp>
        </mc:Fallback>
      </mc:AlternateContent>
      <p:sp>
        <p:nvSpPr>
          <p:cNvPr id="8" name="圆角矩形 7"/>
          <p:cNvSpPr/>
          <p:nvPr/>
        </p:nvSpPr>
        <p:spPr>
          <a:xfrm>
            <a:off x="4940601" y="3109346"/>
            <a:ext cx="200297" cy="426720"/>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9" name="圆角矩形 8"/>
          <p:cNvSpPr/>
          <p:nvPr/>
        </p:nvSpPr>
        <p:spPr>
          <a:xfrm>
            <a:off x="5902018" y="3109346"/>
            <a:ext cx="200297" cy="426720"/>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24"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2" name="Rectangle 2">
            <a:extLst>
              <a:ext uri="{FF2B5EF4-FFF2-40B4-BE49-F238E27FC236}">
                <a16:creationId xmlns:a16="http://schemas.microsoft.com/office/drawing/2014/main" id="{D1B79976-8244-460B-8D1B-52C2F4A509ED}"/>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E9970C6-77A6-4917-AC88-26501BB760BD}"/>
                  </a:ext>
                </a:extLst>
              </p:cNvPr>
              <p:cNvSpPr txBox="1"/>
              <p:nvPr/>
            </p:nvSpPr>
            <p:spPr>
              <a:xfrm>
                <a:off x="2257796" y="1298726"/>
                <a:ext cx="2225941" cy="276999"/>
              </a:xfrm>
              <a:prstGeom prst="rect">
                <a:avLst/>
              </a:prstGeom>
              <a:noFill/>
            </p:spPr>
            <p:txBody>
              <a:bodyPr wrap="square">
                <a:spAutoFit/>
              </a:bodyPr>
              <a:lstStyle/>
              <a:p>
                <a:r>
                  <a:rPr lang="zh-CN" altLang="en-US" sz="1200" dirty="0">
                    <a:solidFill>
                      <a:srgbClr val="FF0000"/>
                    </a:solidFill>
                    <a:latin typeface="KaiTi" panose="02010609060101010101" pitchFamily="49" charset="-122"/>
                    <a:ea typeface="KaiTi" panose="02010609060101010101" pitchFamily="49" charset="-122"/>
                  </a:rPr>
                  <a:t>保留</a:t>
                </a:r>
                <a14:m>
                  <m:oMath xmlns:m="http://schemas.openxmlformats.org/officeDocument/2006/math">
                    <m:r>
                      <a:rPr lang="en-US" altLang="zh-CN" sz="1200" b="0" i="1" smtClean="0">
                        <a:solidFill>
                          <a:srgbClr val="FF0000"/>
                        </a:solidFill>
                        <a:latin typeface="Cambria Math" panose="02040503050406030204" pitchFamily="18" charset="0"/>
                        <a:ea typeface="Microsoft YaHei" charset="0"/>
                      </a:rPr>
                      <m:t>𝑡</m:t>
                    </m:r>
                    <m:r>
                      <a:rPr lang="en-US" altLang="zh-CN" sz="1200" b="0" i="1" smtClean="0">
                        <a:solidFill>
                          <a:srgbClr val="FF0000"/>
                        </a:solidFill>
                        <a:latin typeface="Cambria Math" panose="02040503050406030204" pitchFamily="18" charset="0"/>
                        <a:ea typeface="Microsoft YaHei" charset="0"/>
                      </a:rPr>
                      <m:t>− </m:t>
                    </m:r>
                  </m:oMath>
                </a14:m>
                <a:r>
                  <a:rPr lang="en-US" altLang="zh-CN" sz="1200" dirty="0">
                    <a:solidFill>
                      <a:srgbClr val="FF0000"/>
                    </a:solidFill>
                    <a:latin typeface="KaiTi" panose="02010609060101010101" pitchFamily="49" charset="-122"/>
                    <a:ea typeface="KaiTi" panose="02010609060101010101" pitchFamily="49" charset="-122"/>
                  </a:rPr>
                  <a:t>1</a:t>
                </a:r>
                <a:r>
                  <a:rPr lang="zh-CN" altLang="en-US" sz="1200" dirty="0">
                    <a:solidFill>
                      <a:srgbClr val="FF0000"/>
                    </a:solidFill>
                    <a:latin typeface="KaiTi" panose="02010609060101010101" pitchFamily="49" charset="-122"/>
                    <a:ea typeface="KaiTi" panose="02010609060101010101" pitchFamily="49" charset="-122"/>
                  </a:rPr>
                  <a:t>轮的模型预测结果</a:t>
                </a:r>
              </a:p>
            </p:txBody>
          </p:sp>
        </mc:Choice>
        <mc:Fallback xmlns="">
          <p:sp>
            <p:nvSpPr>
              <p:cNvPr id="13" name="文本框 12">
                <a:extLst>
                  <a:ext uri="{FF2B5EF4-FFF2-40B4-BE49-F238E27FC236}">
                    <a16:creationId xmlns:a16="http://schemas.microsoft.com/office/drawing/2014/main" id="{4E9970C6-77A6-4917-AC88-26501BB760BD}"/>
                  </a:ext>
                </a:extLst>
              </p:cNvPr>
              <p:cNvSpPr txBox="1">
                <a:spLocks noRot="1" noChangeAspect="1" noMove="1" noResize="1" noEditPoints="1" noAdjustHandles="1" noChangeArrowheads="1" noChangeShapeType="1" noTextEdit="1"/>
              </p:cNvSpPr>
              <p:nvPr/>
            </p:nvSpPr>
            <p:spPr>
              <a:xfrm>
                <a:off x="2257796" y="1298726"/>
                <a:ext cx="2225941" cy="276999"/>
              </a:xfrm>
              <a:prstGeom prst="rect">
                <a:avLst/>
              </a:prstGeom>
              <a:blipFill>
                <a:blip r:embed="rId7"/>
                <a:stretch>
                  <a:fillRect b="-17778"/>
                </a:stretch>
              </a:blipFill>
            </p:spPr>
            <p:txBody>
              <a:bodyPr/>
              <a:lstStyle/>
              <a:p>
                <a:r>
                  <a:rPr lang="ko-KR" altLang="en-US">
                    <a:noFill/>
                  </a:rPr>
                  <a:t> </a:t>
                </a:r>
              </a:p>
            </p:txBody>
          </p:sp>
        </mc:Fallback>
      </mc:AlternateContent>
      <p:sp>
        <p:nvSpPr>
          <p:cNvPr id="10" name="箭头: 上 9">
            <a:extLst>
              <a:ext uri="{FF2B5EF4-FFF2-40B4-BE49-F238E27FC236}">
                <a16:creationId xmlns:a16="http://schemas.microsoft.com/office/drawing/2014/main" id="{58B4948E-7340-4DCF-9752-0C90F6CA3946}"/>
              </a:ext>
            </a:extLst>
          </p:cNvPr>
          <p:cNvSpPr/>
          <p:nvPr/>
        </p:nvSpPr>
        <p:spPr>
          <a:xfrm>
            <a:off x="3579866" y="1658397"/>
            <a:ext cx="154807" cy="307200"/>
          </a:xfrm>
          <a:prstGeom prst="upArrow">
            <a:avLst/>
          </a:prstGeom>
          <a:solidFill>
            <a:schemeClr val="accent2"/>
          </a:solidFill>
          <a:ln>
            <a:solidFill>
              <a:srgbClr val="00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6" name="文本框 15">
            <a:extLst>
              <a:ext uri="{FF2B5EF4-FFF2-40B4-BE49-F238E27FC236}">
                <a16:creationId xmlns:a16="http://schemas.microsoft.com/office/drawing/2014/main" id="{FD6355C0-19BA-43DF-AEE3-AE3F1FE914D2}"/>
              </a:ext>
            </a:extLst>
          </p:cNvPr>
          <p:cNvSpPr txBox="1"/>
          <p:nvPr/>
        </p:nvSpPr>
        <p:spPr>
          <a:xfrm>
            <a:off x="4431776" y="1284920"/>
            <a:ext cx="5961276" cy="276999"/>
          </a:xfrm>
          <a:prstGeom prst="rect">
            <a:avLst/>
          </a:prstGeom>
          <a:noFill/>
        </p:spPr>
        <p:txBody>
          <a:bodyPr wrap="square">
            <a:spAutoFit/>
          </a:bodyPr>
          <a:lstStyle>
            <a:defPPr>
              <a:defRPr lang="zh-CN"/>
            </a:defPPr>
            <a:lvl1pPr>
              <a:defRPr sz="1200"/>
            </a:lvl1pPr>
          </a:lstStyle>
          <a:p>
            <a:r>
              <a:rPr lang="zh-CN" altLang="en-US" dirty="0">
                <a:solidFill>
                  <a:srgbClr val="FF0000"/>
                </a:solidFill>
                <a:latin typeface="KaiTi" panose="02010609060101010101" pitchFamily="49" charset="-122"/>
                <a:ea typeface="KaiTi" panose="02010609060101010101" pitchFamily="49" charset="-122"/>
              </a:rPr>
              <a:t>加入新的预测函数</a:t>
            </a:r>
          </a:p>
        </p:txBody>
      </p:sp>
      <p:sp>
        <p:nvSpPr>
          <p:cNvPr id="17" name="箭头: 上 16">
            <a:extLst>
              <a:ext uri="{FF2B5EF4-FFF2-40B4-BE49-F238E27FC236}">
                <a16:creationId xmlns:a16="http://schemas.microsoft.com/office/drawing/2014/main" id="{B4329615-3FCE-4E4C-B137-B6192F8B2867}"/>
              </a:ext>
            </a:extLst>
          </p:cNvPr>
          <p:cNvSpPr/>
          <p:nvPr/>
        </p:nvSpPr>
        <p:spPr>
          <a:xfrm>
            <a:off x="4885943" y="1625878"/>
            <a:ext cx="154807" cy="307200"/>
          </a:xfrm>
          <a:prstGeom prst="upArrow">
            <a:avLst/>
          </a:prstGeom>
          <a:solidFill>
            <a:schemeClr val="accent2"/>
          </a:solidFill>
          <a:ln>
            <a:solidFill>
              <a:srgbClr val="00458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2" name="TextBox 1">
            <a:extLst>
              <a:ext uri="{FF2B5EF4-FFF2-40B4-BE49-F238E27FC236}">
                <a16:creationId xmlns:a16="http://schemas.microsoft.com/office/drawing/2014/main" id="{660363FA-01F8-52E3-A6FF-2E6197957DF4}"/>
              </a:ext>
            </a:extLst>
          </p:cNvPr>
          <p:cNvSpPr txBox="1"/>
          <p:nvPr/>
        </p:nvSpPr>
        <p:spPr>
          <a:xfrm>
            <a:off x="7168198" y="3403937"/>
            <a:ext cx="2671153" cy="830997"/>
          </a:xfrm>
          <a:prstGeom prst="rect">
            <a:avLst/>
          </a:prstGeom>
          <a:noFill/>
        </p:spPr>
        <p:txBody>
          <a:bodyPr wrap="square">
            <a:spAutoFit/>
          </a:bodyPr>
          <a:lstStyle/>
          <a:p>
            <a:r>
              <a:rPr lang="en-US" altLang="ko-Kore-KR" sz="1600">
                <a:effectLst/>
                <a:latin typeface="KaiTi" panose="02010609060101010101" pitchFamily="49" charset="-122"/>
                <a:ea typeface="KaiTi" panose="02010609060101010101" pitchFamily="49" charset="-122"/>
              </a:rPr>
              <a:t>·  γ</a:t>
            </a:r>
            <a:r>
              <a:rPr lang="ko-Kore-KR" altLang="ko-Kore-KR" sz="1600">
                <a:effectLst/>
                <a:latin typeface="KaiTi" panose="02010609060101010101" pitchFamily="49" charset="-122"/>
                <a:ea typeface="바탕" panose="02030600000101010101" pitchFamily="18" charset="-127"/>
                <a:cs typeface="바탕" panose="02030600000101010101" pitchFamily="18" charset="-127"/>
              </a:rPr>
              <a:t>：控制叶子</a:t>
            </a:r>
            <a:r>
              <a:rPr lang="ko-Kore-KR" altLang="ko-Kore-KR" sz="1600">
                <a:effectLst/>
                <a:latin typeface="KaiTi" panose="02010609060101010101" pitchFamily="49" charset="-122"/>
                <a:ea typeface="SimSun" panose="02010600030101010101" pitchFamily="2" charset="-122"/>
                <a:cs typeface="SimSun" panose="02010600030101010101" pitchFamily="2" charset="-122"/>
              </a:rPr>
              <a:t>数</a:t>
            </a:r>
            <a:r>
              <a:rPr lang="ko-Kore-KR" altLang="ko-Kore-KR" sz="1600">
                <a:effectLst/>
                <a:latin typeface="KaiTi" panose="02010609060101010101" pitchFamily="49" charset="-122"/>
                <a:ea typeface="바탕" panose="02030600000101010101" pitchFamily="18" charset="-127"/>
                <a:cs typeface="바탕" panose="02030600000101010101" pitchFamily="18" charset="-127"/>
              </a:rPr>
              <a:t>量</a:t>
            </a:r>
            <a:endParaRPr lang="ko-Kore-KR" altLang="ko-Kore-KR" sz="1600">
              <a:effectLst/>
              <a:latin typeface="KaiTi" panose="02010609060101010101" pitchFamily="49" charset="-122"/>
              <a:ea typeface="Times New Roman" panose="02020603050405020304" pitchFamily="18" charset="0"/>
            </a:endParaRPr>
          </a:p>
          <a:p>
            <a:r>
              <a:rPr lang="en-US" altLang="ko-Kore-KR" sz="1600">
                <a:effectLst/>
                <a:latin typeface="KaiTi" panose="02010609060101010101" pitchFamily="49" charset="-122"/>
                <a:ea typeface="KaiTi" panose="02010609060101010101" pitchFamily="49" charset="-122"/>
              </a:rPr>
              <a:t>·  λ</a:t>
            </a:r>
            <a:r>
              <a:rPr lang="ko-Kore-KR" altLang="ko-Kore-KR" sz="1600">
                <a:effectLst/>
                <a:latin typeface="KaiTi" panose="02010609060101010101" pitchFamily="49" charset="-122"/>
                <a:ea typeface="바탕" panose="02030600000101010101" pitchFamily="18" charset="-127"/>
                <a:cs typeface="바탕" panose="02030600000101010101" pitchFamily="18" charset="-127"/>
              </a:rPr>
              <a:t>：控制叶子</a:t>
            </a:r>
            <a:r>
              <a:rPr lang="ko-Kore-KR" altLang="ko-Kore-KR" sz="1600">
                <a:effectLst/>
                <a:latin typeface="KaiTi" panose="02010609060101010101" pitchFamily="49" charset="-122"/>
                <a:ea typeface="SimSun" panose="02010600030101010101" pitchFamily="2" charset="-122"/>
                <a:cs typeface="SimSun" panose="02010600030101010101" pitchFamily="2" charset="-122"/>
              </a:rPr>
              <a:t>值</a:t>
            </a:r>
            <a:r>
              <a:rPr lang="ko-Kore-KR" altLang="ko-Kore-KR" sz="1600">
                <a:effectLst/>
                <a:latin typeface="KaiTi" panose="02010609060101010101" pitchFamily="49" charset="-122"/>
                <a:ea typeface="바탕" panose="02030600000101010101" pitchFamily="18" charset="-127"/>
                <a:cs typeface="바탕" panose="02030600000101010101" pitchFamily="18" charset="-127"/>
              </a:rPr>
              <a:t>大小</a:t>
            </a:r>
            <a:endParaRPr lang="ko-Kore-KR" altLang="ko-Kore-KR" sz="1600">
              <a:effectLst/>
              <a:latin typeface="KaiTi" panose="02010609060101010101" pitchFamily="49" charset="-122"/>
              <a:ea typeface="Times New Roman" panose="02020603050405020304" pitchFamily="18" charset="0"/>
            </a:endParaRPr>
          </a:p>
          <a:p>
            <a:r>
              <a:rPr lang="en-US" altLang="ko-Kore-KR" sz="1600">
                <a:effectLst/>
                <a:latin typeface="KaiTi" panose="02010609060101010101" pitchFamily="49" charset="-122"/>
                <a:ea typeface="KaiTi" panose="02010609060101010101" pitchFamily="49" charset="-122"/>
              </a:rPr>
              <a:t>·  wⱼ</a:t>
            </a:r>
            <a:r>
              <a:rPr lang="ko-Kore-KR" altLang="ko-Kore-KR" sz="1600">
                <a:effectLst/>
                <a:latin typeface="KaiTi" panose="02010609060101010101" pitchFamily="49" charset="-122"/>
                <a:ea typeface="바탕" panose="02030600000101010101" pitchFamily="18" charset="-127"/>
                <a:cs typeface="바탕" panose="02030600000101010101" pitchFamily="18" charset="-127"/>
              </a:rPr>
              <a:t>：叶子</a:t>
            </a:r>
            <a:r>
              <a:rPr lang="ko-Kore-KR" altLang="ko-Kore-KR" sz="1600">
                <a:effectLst/>
                <a:latin typeface="KaiTi" panose="02010609060101010101" pitchFamily="49" charset="-122"/>
                <a:ea typeface="SimSun" panose="02010600030101010101" pitchFamily="2" charset="-122"/>
                <a:cs typeface="SimSun" panose="02010600030101010101" pitchFamily="2" charset="-122"/>
              </a:rPr>
              <a:t>区</a:t>
            </a:r>
            <a:r>
              <a:rPr lang="ko-Kore-KR" altLang="ko-Kore-KR" sz="1600">
                <a:effectLst/>
                <a:latin typeface="KaiTi" panose="02010609060101010101" pitchFamily="49" charset="-122"/>
                <a:ea typeface="바탕" panose="02030600000101010101" pitchFamily="18" charset="-127"/>
                <a:cs typeface="바탕" panose="02030600000101010101" pitchFamily="18" charset="-127"/>
              </a:rPr>
              <a:t>域的</a:t>
            </a:r>
            <a:r>
              <a:rPr lang="ko-Kore-KR" altLang="ko-Kore-KR" sz="1600">
                <a:effectLst/>
                <a:latin typeface="KaiTi" panose="02010609060101010101" pitchFamily="49" charset="-122"/>
                <a:ea typeface="SimSun" panose="02010600030101010101" pitchFamily="2" charset="-122"/>
                <a:cs typeface="SimSun" panose="02010600030101010101" pitchFamily="2" charset="-122"/>
              </a:rPr>
              <a:t>输</a:t>
            </a:r>
            <a:r>
              <a:rPr lang="ko-Kore-KR" altLang="ko-Kore-KR" sz="1600">
                <a:effectLst/>
                <a:latin typeface="KaiTi" panose="02010609060101010101" pitchFamily="49" charset="-122"/>
                <a:ea typeface="바탕" panose="02030600000101010101" pitchFamily="18" charset="-127"/>
                <a:cs typeface="바탕" panose="02030600000101010101" pitchFamily="18" charset="-127"/>
              </a:rPr>
              <a:t>出</a:t>
            </a:r>
            <a:r>
              <a:rPr lang="ko-Kore-KR" altLang="ko-Kore-KR" sz="1600">
                <a:effectLst/>
                <a:latin typeface="KaiTi" panose="02010609060101010101" pitchFamily="49" charset="-122"/>
                <a:ea typeface="SimSun" panose="02010600030101010101" pitchFamily="2" charset="-122"/>
                <a:cs typeface="SimSun" panose="02010600030101010101" pitchFamily="2" charset="-122"/>
              </a:rPr>
              <a:t>值</a:t>
            </a:r>
            <a:endParaRPr lang="ko-Kore-KR" altLang="ko-Kore-KR" sz="1600">
              <a:effectLst/>
              <a:latin typeface="KaiTi" panose="02010609060101010101" pitchFamily="49" charset="-122"/>
              <a:ea typeface="Times New Roman" panose="02020603050405020304" pitchFamily="18" charset="0"/>
            </a:endParaRPr>
          </a:p>
        </p:txBody>
      </p:sp>
    </p:spTree>
    <p:extLst>
      <p:ext uri="{BB962C8B-B14F-4D97-AF65-F5344CB8AC3E}">
        <p14:creationId xmlns:p14="http://schemas.microsoft.com/office/powerpoint/2010/main" val="225084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randombar(horizontal)">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500" fill="hold"/>
                                        <p:tgtEl>
                                          <p:spTgt spid="5"/>
                                        </p:tgtEl>
                                        <p:attrNameLst>
                                          <p:attrName>ppt_w</p:attrName>
                                        </p:attrNameLst>
                                      </p:cBhvr>
                                      <p:tavLst>
                                        <p:tav tm="0">
                                          <p:val>
                                            <p:fltVal val="0"/>
                                          </p:val>
                                        </p:tav>
                                        <p:tav tm="100000">
                                          <p:val>
                                            <p:strVal val="#ppt_w"/>
                                          </p:val>
                                        </p:tav>
                                      </p:tavLst>
                                    </p:anim>
                                    <p:anim calcmode="lin" valueType="num">
                                      <p:cBhvr>
                                        <p:cTn id="52" dur="500" fill="hold"/>
                                        <p:tgtEl>
                                          <p:spTgt spid="5"/>
                                        </p:tgtEl>
                                        <p:attrNameLst>
                                          <p:attrName>ppt_h</p:attrName>
                                        </p:attrNameLst>
                                      </p:cBhvr>
                                      <p:tavLst>
                                        <p:tav tm="0">
                                          <p:val>
                                            <p:fltVal val="0"/>
                                          </p:val>
                                        </p:tav>
                                        <p:tav tm="100000">
                                          <p:val>
                                            <p:strVal val="#ppt_h"/>
                                          </p:val>
                                        </p:tav>
                                      </p:tavLst>
                                    </p:anim>
                                    <p:animEffect transition="in" filter="fade">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P spid="7" grpId="0"/>
      <p:bldP spid="8" grpId="0" animBg="1"/>
      <p:bldP spid="9" grpId="0" animBg="1"/>
      <p:bldP spid="13" grpId="0"/>
      <p:bldP spid="10" grpId="0" animBg="1"/>
      <p:bldP spid="16" grpId="0"/>
      <p:bldP spid="1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FB083C6F-F655-4D3E-977E-E6A9CCDB4382}"/>
              </a:ext>
            </a:extLst>
          </p:cNvPr>
          <p:cNvSpPr/>
          <p:nvPr/>
        </p:nvSpPr>
        <p:spPr>
          <a:xfrm>
            <a:off x="1487042" y="5802136"/>
            <a:ext cx="7943388" cy="812109"/>
          </a:xfrm>
          <a:prstGeom prst="roundRect">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5" name="文本框 4"/>
              <p:cNvSpPr txBox="1"/>
              <p:nvPr/>
            </p:nvSpPr>
            <p:spPr>
              <a:xfrm>
                <a:off x="899159" y="1297652"/>
                <a:ext cx="7019101"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𝑡</m:t>
                          </m:r>
                        </m:e>
                      </m:d>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r>
                            <m:rPr>
                              <m:sty m:val="p"/>
                            </m:rPr>
                            <a:rPr lang="en-US" altLang="zh-CN" b="0" i="0" smtClean="0">
                              <a:latin typeface="Cambria Math" panose="02040503050406030204" pitchFamily="18" charset="0"/>
                              <a:ea typeface="Microsoft YaHei" charset="0"/>
                            </a:rPr>
                            <m:t>L</m:t>
                          </m:r>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𝑦</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Sup>
                                <m:sSupPr>
                                  <m:ctrlPr>
                                    <a:rPr lang="en-US" altLang="zh-CN" b="0" i="1" smtClean="0">
                                      <a:latin typeface="Cambria Math" panose="02040503050406030204" pitchFamily="18" charset="0"/>
                                      <a:ea typeface="Microsoft YaHei" charset="0"/>
                                    </a:rPr>
                                  </m:ctrlPr>
                                </m:sSupPr>
                                <m:e>
                                  <m:acc>
                                    <m:accPr>
                                      <m:chr m:val="̂"/>
                                      <m:ctrlPr>
                                        <a:rPr lang="en-US" altLang="zh-CN" b="0" i="1" smtClean="0">
                                          <a:latin typeface="Cambria Math" panose="02040503050406030204" pitchFamily="18" charset="0"/>
                                          <a:ea typeface="Microsoft YaHei" charset="0"/>
                                        </a:rPr>
                                      </m:ctrlPr>
                                    </m:accPr>
                                    <m:e>
                                      <m:r>
                                        <a:rPr lang="en-US" altLang="zh-CN" b="0" i="1" smtClean="0">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𝑡</m:t>
                                  </m:r>
                                  <m:r>
                                    <a:rPr lang="en-US" altLang="zh-CN" b="0" i="1" smtClean="0">
                                      <a:latin typeface="Cambria Math" panose="02040503050406030204" pitchFamily="18" charset="0"/>
                                      <a:ea typeface="Microsoft YaHei" charset="0"/>
                                    </a:rPr>
                                    <m:t>−1</m:t>
                                  </m:r>
                                </m:sup>
                              </m:sSup>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𝑡</m:t>
                                  </m:r>
                                </m:sub>
                              </m:sSub>
                              <m:d>
                                <m:dPr>
                                  <m:ctrlPr>
                                    <a:rPr lang="en-US" altLang="zh-CN" b="0" i="1" smtClean="0">
                                      <a:latin typeface="Cambria Math" panose="02040503050406030204" pitchFamily="18" charset="0"/>
                                      <a:ea typeface="Microsoft YaHei" charset="0"/>
                                    </a:rPr>
                                  </m:ctrlPr>
                                </m:d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e>
                              </m:d>
                            </m:e>
                          </m:d>
                          <m:r>
                            <a:rPr lang="en-US" altLang="zh-CN" b="0" i="1" smtClean="0">
                              <a:latin typeface="Cambria Math" panose="02040503050406030204" pitchFamily="18" charset="0"/>
                              <a:ea typeface="Microsoft YaHei" charset="0"/>
                            </a:rPr>
                            <m:t>+</m:t>
                          </m:r>
                          <m:r>
                            <m:rPr>
                              <m:sty m:val="p"/>
                            </m:rPr>
                            <a:rPr lang="el-GR" altLang="zh-CN" b="0" i="1" smtClean="0">
                              <a:latin typeface="Cambria Math" panose="02040503050406030204" pitchFamily="18" charset="0"/>
                              <a:ea typeface="Cambria Math" panose="02040503050406030204" pitchFamily="18" charset="0"/>
                            </a:rPr>
                            <m:t>Ω</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𝑓</m:t>
                                  </m:r>
                                </m:e>
                                <m:sub>
                                  <m:r>
                                    <a:rPr lang="en-US" altLang="zh-CN" b="0" i="1" smtClean="0">
                                      <a:latin typeface="Cambria Math" panose="02040503050406030204" pitchFamily="18" charset="0"/>
                                      <a:ea typeface="Cambria Math" panose="02040503050406030204" pitchFamily="18" charset="0"/>
                                    </a:rPr>
                                    <m:t>𝑡</m:t>
                                  </m:r>
                                </m:sub>
                              </m:sSub>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𝑐𝑜𝑛𝑠𝑡𝑎𝑛𝑡</m:t>
                          </m:r>
                        </m:e>
                      </m:nary>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899159" y="1297652"/>
                <a:ext cx="7019101" cy="1008225"/>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2215225" y="2269491"/>
                <a:ext cx="7338678" cy="69147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𝑓</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r>
                            <a:rPr lang="en-US" altLang="zh-CN" b="0" i="1" smtClean="0">
                              <a:latin typeface="Cambria Math" panose="02040503050406030204" pitchFamily="18" charset="0"/>
                              <a:ea typeface="Microsoft YaHei" charset="0"/>
                            </a:rPr>
                            <m:t>+</m:t>
                          </m:r>
                          <m:r>
                            <m:rPr>
                              <m:sty m:val="p"/>
                            </m:rPr>
                            <a:rPr lang="el-GR" altLang="zh-CN" b="0" i="1" smtClean="0">
                              <a:latin typeface="Cambria Math" panose="02040503050406030204" pitchFamily="18" charset="0"/>
                              <a:ea typeface="Cambria Math" panose="02040503050406030204" pitchFamily="18" charset="0"/>
                            </a:rPr>
                            <m:t>Δ</m:t>
                          </m:r>
                          <m:r>
                            <a:rPr lang="en-US" altLang="zh-CN" b="0" i="1" smtClean="0">
                              <a:latin typeface="Cambria Math" panose="02040503050406030204" pitchFamily="18" charset="0"/>
                              <a:ea typeface="Cambria Math" panose="02040503050406030204" pitchFamily="18" charset="0"/>
                            </a:rPr>
                            <m:t>𝑥</m:t>
                          </m:r>
                        </m:e>
                      </m:d>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𝑓</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a:rPr lang="en-US" altLang="zh-CN" b="0" i="1" smtClean="0">
                          <a:latin typeface="Cambria Math" panose="02040503050406030204" pitchFamily="18" charset="0"/>
                          <a:ea typeface="Microsoft YaHei" charset="0"/>
                        </a:rPr>
                        <m:t>+</m:t>
                      </m:r>
                      <m:sSup>
                        <m:sSupPr>
                          <m:ctrlPr>
                            <a:rPr lang="en-US" altLang="zh-CN" b="0" i="1" smtClean="0">
                              <a:latin typeface="Cambria Math" panose="02040503050406030204" pitchFamily="18" charset="0"/>
                              <a:ea typeface="Microsoft YaHei" charset="0"/>
                            </a:rPr>
                          </m:ctrlPr>
                        </m:sSupPr>
                        <m:e>
                          <m:r>
                            <a:rPr lang="en-US" altLang="zh-CN" b="0" i="1" smtClean="0">
                              <a:latin typeface="Cambria Math" panose="02040503050406030204" pitchFamily="18" charset="0"/>
                              <a:ea typeface="Microsoft YaHei" charset="0"/>
                            </a:rPr>
                            <m:t>𝑓</m:t>
                          </m:r>
                        </m:e>
                        <m:sup>
                          <m:r>
                            <a:rPr lang="en-US" altLang="zh-CN" b="0" i="1" smtClean="0">
                              <a:latin typeface="Cambria Math" panose="02040503050406030204" pitchFamily="18" charset="0"/>
                              <a:ea typeface="Microsoft YaHei" charset="0"/>
                            </a:rPr>
                            <m:t>′</m:t>
                          </m:r>
                        </m:sup>
                      </m:sSup>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𝑥</m:t>
                          </m:r>
                        </m:e>
                      </m:d>
                      <m:r>
                        <m:rPr>
                          <m:sty m:val="p"/>
                        </m:rPr>
                        <a:rPr lang="el-GR" altLang="zh-CN" i="1">
                          <a:latin typeface="Cambria Math" panose="02040503050406030204" pitchFamily="18" charset="0"/>
                          <a:ea typeface="Cambria Math" panose="02040503050406030204" pitchFamily="18" charset="0"/>
                        </a:rPr>
                        <m:t>Δ</m:t>
                      </m:r>
                      <m:r>
                        <a:rPr lang="en-US" altLang="zh-CN" i="1">
                          <a:latin typeface="Cambria Math" panose="02040503050406030204" pitchFamily="18" charset="0"/>
                          <a:ea typeface="Cambria Math" panose="02040503050406030204" pitchFamily="18" charset="0"/>
                        </a:rPr>
                        <m:t>𝑥</m:t>
                      </m:r>
                      <m:r>
                        <a:rPr lang="en-US" altLang="zh-CN" b="0" i="0"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2</m:t>
                          </m:r>
                        </m:den>
                      </m:f>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𝑓</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Δ</m:t>
                          </m:r>
                          <m:r>
                            <a:rPr lang="en-US" altLang="zh-CN" i="1">
                              <a:latin typeface="Cambria Math" panose="02040503050406030204" pitchFamily="18" charset="0"/>
                              <a:ea typeface="Cambria Math" panose="02040503050406030204" pitchFamily="18" charset="0"/>
                            </a:rPr>
                            <m:t>𝑥</m:t>
                          </m:r>
                        </m:e>
                        <m:sup>
                          <m:r>
                            <a:rPr lang="en-US" altLang="zh-CN" b="0" i="1" smtClean="0">
                              <a:latin typeface="Cambria Math" panose="02040503050406030204" pitchFamily="18" charset="0"/>
                              <a:ea typeface="Cambria Math" panose="02040503050406030204" pitchFamily="18" charset="0"/>
                            </a:rPr>
                            <m:t>2</m:t>
                          </m:r>
                        </m:sup>
                      </m:sSup>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215225" y="2269491"/>
                <a:ext cx="7338678" cy="691471"/>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899159" y="2443900"/>
                <a:ext cx="1384995" cy="3702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ea typeface="Microsoft YaHei" charset="0"/>
                        </a:rPr>
                        <m:t>泰勒展开</m:t>
                      </m:r>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899159" y="2443900"/>
                <a:ext cx="1384995" cy="370230"/>
              </a:xfrm>
              <a:prstGeom prst="rect">
                <a:avLst/>
              </a:prstGeom>
              <a:blipFill>
                <a:blip r:embed="rId5"/>
                <a:stretch>
                  <a:fillRect l="-4386" t="-9836" r="-4825" b="-3278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824229" y="3906935"/>
                <a:ext cx="9448036" cy="642355"/>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charset="0"/>
                      </a:rPr>
                      <m:t>𝑂𝑏𝑗</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𝑡</m:t>
                        </m:r>
                      </m:e>
                    </m:d>
                    <m:r>
                      <a:rPr lang="en-US" altLang="zh-CN" i="1">
                        <a:latin typeface="Cambria Math" panose="02040503050406030204" pitchFamily="18" charset="0"/>
                        <a:ea typeface="Microsoft YaHei" charset="0"/>
                      </a:rPr>
                      <m:t>=</m:t>
                    </m:r>
                    <m:nary>
                      <m:naryPr>
                        <m:chr m:val="∑"/>
                        <m:ctrlPr>
                          <a:rPr lang="en-US" altLang="zh-CN"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i="1" smtClean="0">
                                <a:latin typeface="Cambria Math" panose="02040503050406030204" pitchFamily="18" charset="0"/>
                                <a:ea typeface="Microsoft YaHei" charset="0"/>
                              </a:rPr>
                            </m:ctrlPr>
                          </m:dPr>
                          <m:e>
                            <m:r>
                              <m:rPr>
                                <m:sty m:val="p"/>
                              </m:rPr>
                              <a:rPr lang="en-US" altLang="zh-CN" b="0" i="0" smtClean="0">
                                <a:latin typeface="Cambria Math" panose="02040503050406030204" pitchFamily="18" charset="0"/>
                                <a:ea typeface="Microsoft YaHei" charset="0"/>
                              </a:rPr>
                              <m:t>L</m:t>
                            </m:r>
                            <m:d>
                              <m:dPr>
                                <m:ctrlPr>
                                  <a:rPr lang="en-US" altLang="zh-CN" b="0" i="1" smtClean="0">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𝑔</m:t>
                                </m:r>
                              </m:e>
                              <m:sub>
                                <m:r>
                                  <a:rPr lang="en-US" altLang="zh-CN" b="0" i="1" smtClean="0">
                                    <a:latin typeface="Cambria Math" panose="02040503050406030204" pitchFamily="18" charset="0"/>
                                    <a:ea typeface="Microsoft YaHei" charset="0"/>
                                  </a:rPr>
                                  <m:t>𝑖</m:t>
                                </m:r>
                              </m:sub>
                            </m:sSub>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e>
                            </m:d>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en-US" altLang="zh-CN" b="0" i="1" smtClean="0">
                                    <a:latin typeface="Cambria Math" panose="02040503050406030204" pitchFamily="18" charset="0"/>
                                    <a:ea typeface="Microsoft YaHei" charset="0"/>
                                  </a:rPr>
                                  <m:t>1</m:t>
                                </m:r>
                              </m:num>
                              <m:den>
                                <m:r>
                                  <a:rPr lang="en-US" altLang="zh-CN" b="0" i="1" smtClean="0">
                                    <a:latin typeface="Cambria Math" panose="02040503050406030204" pitchFamily="18" charset="0"/>
                                    <a:ea typeface="Microsoft YaHei" charset="0"/>
                                  </a:rPr>
                                  <m:t>2</m:t>
                                </m:r>
                              </m:den>
                            </m:f>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h</m:t>
                                </m:r>
                              </m:e>
                              <m:sub>
                                <m:r>
                                  <a:rPr lang="en-US" altLang="zh-CN" b="0" i="1" smtClean="0">
                                    <a:latin typeface="Cambria Math" panose="02040503050406030204" pitchFamily="18" charset="0"/>
                                    <a:ea typeface="Microsoft YaHei" charset="0"/>
                                  </a:rPr>
                                  <m:t>𝑖</m:t>
                                </m:r>
                              </m:sub>
                            </m:sSub>
                            <m:sSup>
                              <m:sSupPr>
                                <m:ctrlPr>
                                  <a:rPr lang="en-US" altLang="zh-CN" b="0" i="1" smtClean="0">
                                    <a:latin typeface="Cambria Math" panose="02040503050406030204" pitchFamily="18" charset="0"/>
                                    <a:ea typeface="Microsoft YaHei" charset="0"/>
                                  </a:rPr>
                                </m:ctrlPr>
                              </m:sSupPr>
                              <m:e>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𝑓</m:t>
                                    </m:r>
                                  </m:e>
                                  <m:sub>
                                    <m:r>
                                      <a:rPr lang="en-US" altLang="zh-CN" b="0" i="1" smtClean="0">
                                        <a:latin typeface="Cambria Math" panose="02040503050406030204" pitchFamily="18" charset="0"/>
                                        <a:ea typeface="Microsoft YaHei" charset="0"/>
                                      </a:rPr>
                                      <m:t>𝑡</m:t>
                                    </m:r>
                                  </m:sub>
                                </m:sSub>
                              </m:e>
                              <m:sup>
                                <m:r>
                                  <a:rPr lang="en-US" altLang="zh-CN" b="0" i="1" smtClean="0">
                                    <a:latin typeface="Cambria Math" panose="02040503050406030204" pitchFamily="18" charset="0"/>
                                    <a:ea typeface="Microsoft YaHei" charset="0"/>
                                  </a:rPr>
                                  <m:t>2</m:t>
                                </m:r>
                              </m:sup>
                            </m:sSup>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e>
                        </m:d>
                      </m:e>
                    </m:nary>
                  </m:oMath>
                </a14:m>
                <a:r>
                  <a:rPr lang="el-GR" altLang="zh-CN" dirty="0">
                    <a:latin typeface="KaiTi" panose="02010609060101010101" pitchFamily="49" charset="-122"/>
                    <a:ea typeface="KaiTi" panose="02010609060101010101" pitchFamily="49" charset="-122"/>
                  </a:rPr>
                  <a:t> </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𝑐𝑜𝑛𝑠𝑡𝑎𝑛𝑡</m:t>
                    </m:r>
                  </m:oMath>
                </a14:m>
                <a:endParaRPr lang="zh-CN" altLang="en-US" dirty="0">
                  <a:latin typeface="KaiTi" panose="02010609060101010101" pitchFamily="49" charset="-122"/>
                  <a:ea typeface="KaiTi" panose="02010609060101010101" pitchFamily="49" charset="-122"/>
                </a:endParaRPr>
              </a:p>
            </p:txBody>
          </p:sp>
        </mc:Choice>
        <mc:Fallback xmlns="">
          <p:sp>
            <p:nvSpPr>
              <p:cNvPr id="8" name="矩形 7"/>
              <p:cNvSpPr>
                <a:spLocks noRot="1" noChangeAspect="1" noMove="1" noResize="1" noEditPoints="1" noAdjustHandles="1" noChangeArrowheads="1" noChangeShapeType="1" noTextEdit="1"/>
              </p:cNvSpPr>
              <p:nvPr/>
            </p:nvSpPr>
            <p:spPr>
              <a:xfrm>
                <a:off x="824229" y="3906935"/>
                <a:ext cx="9448036" cy="642355"/>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686261" y="4790979"/>
                <a:ext cx="2602251" cy="8313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𝑔</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zh-CN" altLang="en-US" b="0" i="1" smtClean="0">
                              <a:latin typeface="Cambria Math" panose="02040503050406030204" pitchFamily="18" charset="0"/>
                              <a:ea typeface="Microsoft YaHei" charset="0"/>
                            </a:rPr>
                            <m:t>𝜕</m:t>
                          </m:r>
                          <m:r>
                            <m:rPr>
                              <m:sty m:val="p"/>
                            </m:rPr>
                            <a:rPr lang="en-US" altLang="zh-CN" b="0" i="0" smtClean="0">
                              <a:latin typeface="Cambria Math" panose="02040503050406030204" pitchFamily="18" charset="0"/>
                              <a:ea typeface="Microsoft YaHei" charset="0"/>
                            </a:rPr>
                            <m:t>L</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num>
                        <m:den>
                          <m:r>
                            <a:rPr lang="zh-CN" altLang="en-US"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den>
                      </m:f>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686261" y="4790979"/>
                <a:ext cx="2602251" cy="831381"/>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5719153" y="4780720"/>
                <a:ext cx="2753190" cy="8313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h</m:t>
                          </m:r>
                        </m:e>
                        <m:sub>
                          <m:r>
                            <a:rPr lang="en-US" altLang="zh-CN" i="1">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sSup>
                            <m:sSupPr>
                              <m:ctrlPr>
                                <a:rPr lang="en-US" altLang="zh-CN" b="0" i="1" smtClean="0">
                                  <a:latin typeface="Cambria Math" panose="02040503050406030204" pitchFamily="18" charset="0"/>
                                  <a:ea typeface="Microsoft YaHei" charset="0"/>
                                </a:rPr>
                              </m:ctrlPr>
                            </m:sSupPr>
                            <m:e>
                              <m:r>
                                <a:rPr lang="zh-CN" altLang="en-US" b="0" i="1" smtClean="0">
                                  <a:latin typeface="Cambria Math" panose="02040503050406030204" pitchFamily="18" charset="0"/>
                                  <a:ea typeface="Microsoft YaHei" charset="0"/>
                                </a:rPr>
                                <m:t>𝜕</m:t>
                              </m:r>
                            </m:e>
                            <m:sup>
                              <m:r>
                                <a:rPr lang="en-US" altLang="zh-CN" b="0" i="1" smtClean="0">
                                  <a:latin typeface="Cambria Math" panose="02040503050406030204" pitchFamily="18" charset="0"/>
                                  <a:ea typeface="Microsoft YaHei" charset="0"/>
                                </a:rPr>
                                <m:t>2</m:t>
                              </m:r>
                            </m:sup>
                          </m:sSup>
                          <m:r>
                            <m:rPr>
                              <m:sty m:val="p"/>
                            </m:rPr>
                            <a:rPr lang="en-US" altLang="zh-CN" b="0" i="0" smtClean="0">
                              <a:latin typeface="Cambria Math" panose="02040503050406030204" pitchFamily="18" charset="0"/>
                              <a:ea typeface="Microsoft YaHei" charset="0"/>
                            </a:rPr>
                            <m:t>L</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num>
                        <m:den>
                          <m:r>
                            <a:rPr lang="zh-CN" altLang="en-US"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i="1">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den>
                      </m:f>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5719153" y="4780720"/>
                <a:ext cx="2753190" cy="831381"/>
              </a:xfrm>
              <a:prstGeom prst="rect">
                <a:avLst/>
              </a:prstGeom>
              <a:blipFill>
                <a:blip r:embed="rId8"/>
                <a:stretch>
                  <a:fillRect/>
                </a:stretch>
              </a:blipFill>
            </p:spPr>
            <p:txBody>
              <a:bodyPr/>
              <a:lstStyle/>
              <a:p>
                <a:r>
                  <a:rPr lang="ko-KR" altLang="en-US">
                    <a:noFill/>
                  </a:rPr>
                  <a:t> </a:t>
                </a:r>
              </a:p>
            </p:txBody>
          </p:sp>
        </mc:Fallback>
      </mc:AlternateContent>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1" name="Rectangle 2">
            <a:extLst>
              <a:ext uri="{FF2B5EF4-FFF2-40B4-BE49-F238E27FC236}">
                <a16:creationId xmlns:a16="http://schemas.microsoft.com/office/drawing/2014/main" id="{75281330-1D9F-4B36-B79C-54261453B8C4}"/>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6024AF6-8F45-4876-AB9C-E3017D59CB00}"/>
                  </a:ext>
                </a:extLst>
              </p:cNvPr>
              <p:cNvSpPr txBox="1"/>
              <p:nvPr/>
            </p:nvSpPr>
            <p:spPr>
              <a:xfrm>
                <a:off x="1686261" y="5751293"/>
                <a:ext cx="7943388" cy="488660"/>
              </a:xfrm>
              <a:prstGeom prst="rect">
                <a:avLst/>
              </a:prstGeom>
              <a:noFill/>
            </p:spPr>
            <p:txBody>
              <a:bodyPr wrap="square">
                <a:spAutoFit/>
              </a:bodyPr>
              <a:lstStyle/>
              <a:p>
                <a:r>
                  <a:rPr lang="zh-CN" altLang="en-US" sz="1600" dirty="0">
                    <a:latin typeface="KaiTi" panose="02010609060101010101" pitchFamily="49" charset="-122"/>
                    <a:ea typeface="KaiTi" panose="02010609060101010101" pitchFamily="49" charset="-122"/>
                  </a:rPr>
                  <a:t>备注</a:t>
                </a:r>
                <a14:m>
                  <m:oMath xmlns:m="http://schemas.openxmlformats.org/officeDocument/2006/math">
                    <m:r>
                      <a:rPr lang="zh-CN" altLang="en-US" sz="1600" i="1">
                        <a:latin typeface="Cambria Math" panose="02040503050406030204" pitchFamily="18" charset="0"/>
                      </a:rPr>
                      <m:t>：</m:t>
                    </m:r>
                    <m:r>
                      <a:rPr lang="en-US" altLang="zh-CN" sz="1600" i="1" smtClean="0">
                        <a:latin typeface="Cambria Math" panose="02040503050406030204" pitchFamily="18" charset="0"/>
                      </a:rPr>
                      <m:t>𝑛</m:t>
                    </m:r>
                  </m:oMath>
                </a14:m>
                <a:r>
                  <a:rPr lang="zh-CN" altLang="zh-CN" sz="1600" dirty="0">
                    <a:latin typeface="KaiTi" panose="02010609060101010101" pitchFamily="49" charset="-122"/>
                    <a:ea typeface="KaiTi" panose="02010609060101010101" pitchFamily="49" charset="-122"/>
                  </a:rPr>
                  <a:t>阶泰勒公式：</a:t>
                </a:r>
                <a14:m>
                  <m:oMath xmlns:m="http://schemas.openxmlformats.org/officeDocument/2006/math">
                    <m:r>
                      <a:rPr lang="en-US" altLang="zh-CN" sz="1600" i="1">
                        <a:latin typeface="Cambria Math" panose="02040503050406030204" pitchFamily="18" charset="0"/>
                      </a:rPr>
                      <m:t>𝑓</m:t>
                    </m:r>
                    <m:r>
                      <a:rPr lang="en-US" altLang="zh-CN" sz="1600">
                        <a:latin typeface="Cambria Math" panose="02040503050406030204" pitchFamily="18" charset="0"/>
                      </a:rPr>
                      <m:t>(</m:t>
                    </m:r>
                    <m:r>
                      <a:rPr lang="en-US" altLang="zh-CN" sz="1600" i="1">
                        <a:latin typeface="Cambria Math" panose="02040503050406030204" pitchFamily="18" charset="0"/>
                      </a:rPr>
                      <m:t>𝑥</m:t>
                    </m:r>
                    <m:r>
                      <a:rPr lang="en-US" altLang="zh-CN" sz="1600">
                        <a:latin typeface="Cambria Math" panose="02040503050406030204" pitchFamily="18" charset="0"/>
                      </a:rPr>
                      <m:t>)=</m:t>
                    </m:r>
                    <m:r>
                      <a:rPr lang="en-US" altLang="zh-CN" sz="1600" i="1">
                        <a:latin typeface="Cambria Math" panose="02040503050406030204" pitchFamily="18" charset="0"/>
                      </a:rPr>
                      <m:t>𝑓</m:t>
                    </m:r>
                    <m:r>
                      <a:rPr lang="en-US" altLang="zh-CN" sz="1600">
                        <a:latin typeface="Cambria Math" panose="02040503050406030204" pitchFamily="18" charset="0"/>
                      </a:rPr>
                      <m:t>(0)+</m:t>
                    </m:r>
                    <m:r>
                      <a:rPr lang="en-US" altLang="zh-CN" sz="1600" i="1">
                        <a:latin typeface="Cambria Math" panose="02040503050406030204" pitchFamily="18" charset="0"/>
                      </a:rPr>
                      <m:t>𝑓</m:t>
                    </m:r>
                    <m:r>
                      <a:rPr lang="en-US" altLang="zh-CN" sz="1600" i="1">
                        <a:latin typeface="Cambria Math" panose="02040503050406030204" pitchFamily="18" charset="0"/>
                      </a:rPr>
                      <m:t>′</m:t>
                    </m:r>
                    <m:r>
                      <a:rPr lang="en-US" altLang="zh-CN" sz="1600">
                        <a:latin typeface="Cambria Math" panose="02040503050406030204" pitchFamily="18" charset="0"/>
                      </a:rPr>
                      <m:t>(0)</m:t>
                    </m:r>
                    <m:r>
                      <a:rPr lang="en-US" altLang="zh-CN" sz="1600" i="1">
                        <a:latin typeface="Cambria Math" panose="02040503050406030204" pitchFamily="18" charset="0"/>
                      </a:rPr>
                      <m:t>𝑥</m:t>
                    </m:r>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a:latin typeface="Cambria Math" panose="02040503050406030204" pitchFamily="18" charset="0"/>
                          </a:rPr>
                          <m:t>1</m:t>
                        </m:r>
                      </m:num>
                      <m:den>
                        <m:r>
                          <a:rPr lang="en-US" altLang="zh-CN" sz="1600">
                            <a:latin typeface="Cambria Math" panose="02040503050406030204" pitchFamily="18" charset="0"/>
                          </a:rPr>
                          <m:t>2!</m:t>
                        </m:r>
                      </m:den>
                    </m:f>
                    <m:r>
                      <a:rPr lang="en-US" altLang="zh-CN" sz="1600" i="1">
                        <a:latin typeface="Cambria Math" panose="02040503050406030204" pitchFamily="18" charset="0"/>
                      </a:rPr>
                      <m:t>𝑓</m:t>
                    </m:r>
                    <m:r>
                      <a:rPr lang="en-US" altLang="zh-CN" sz="1600">
                        <a:latin typeface="Cambria Math" panose="02040503050406030204" pitchFamily="18" charset="0"/>
                      </a:rPr>
                      <m:t>″(0)</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a:latin typeface="Cambria Math" panose="02040503050406030204" pitchFamily="18" charset="0"/>
                          </a:rPr>
                          <m:t>2</m:t>
                        </m:r>
                      </m:sup>
                    </m:sSup>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𝑓</m:t>
                            </m:r>
                          </m:e>
                          <m:sup>
                            <m:r>
                              <a:rPr lang="en-US" altLang="zh-CN" sz="1600">
                                <a:latin typeface="Cambria Math" panose="02040503050406030204" pitchFamily="18" charset="0"/>
                              </a:rPr>
                              <m:t>(</m:t>
                            </m:r>
                            <m:r>
                              <a:rPr lang="en-US" altLang="zh-CN" sz="1600" i="1">
                                <a:latin typeface="Cambria Math" panose="02040503050406030204" pitchFamily="18" charset="0"/>
                              </a:rPr>
                              <m:t>𝑛</m:t>
                            </m:r>
                            <m:r>
                              <a:rPr lang="en-US" altLang="zh-CN" sz="1600">
                                <a:latin typeface="Cambria Math" panose="02040503050406030204" pitchFamily="18" charset="0"/>
                              </a:rPr>
                              <m:t>)</m:t>
                            </m:r>
                          </m:sup>
                        </m:sSup>
                        <m:r>
                          <a:rPr lang="en-US" altLang="zh-CN" sz="1600">
                            <a:latin typeface="Cambria Math" panose="02040503050406030204" pitchFamily="18" charset="0"/>
                          </a:rPr>
                          <m:t>(0)</m:t>
                        </m:r>
                      </m:num>
                      <m:den>
                        <m:r>
                          <a:rPr lang="en-US" altLang="zh-CN" sz="1600" i="1">
                            <a:latin typeface="Cambria Math" panose="02040503050406030204" pitchFamily="18" charset="0"/>
                          </a:rPr>
                          <m:t>𝑛</m:t>
                        </m:r>
                        <m:r>
                          <a:rPr lang="en-US" altLang="zh-CN" sz="1600">
                            <a:latin typeface="Cambria Math" panose="02040503050406030204" pitchFamily="18" charset="0"/>
                          </a:rPr>
                          <m:t>!</m:t>
                        </m:r>
                      </m:den>
                    </m:f>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𝑥</m:t>
                        </m:r>
                      </m:e>
                      <m:sup>
                        <m:r>
                          <a:rPr lang="en-US" altLang="zh-CN" sz="1600" i="1">
                            <a:latin typeface="Cambria Math" panose="02040503050406030204" pitchFamily="18" charset="0"/>
                          </a:rPr>
                          <m:t>𝑛</m:t>
                        </m:r>
                      </m:sup>
                    </m:sSup>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𝑛</m:t>
                        </m:r>
                      </m:sub>
                    </m:sSub>
                    <m:r>
                      <a:rPr lang="en-US" altLang="zh-CN" sz="1600">
                        <a:latin typeface="Cambria Math" panose="02040503050406030204" pitchFamily="18" charset="0"/>
                      </a:rPr>
                      <m:t>(</m:t>
                    </m:r>
                    <m:r>
                      <a:rPr lang="en-US" altLang="zh-CN" sz="1600" i="1">
                        <a:latin typeface="Cambria Math" panose="02040503050406030204" pitchFamily="18" charset="0"/>
                      </a:rPr>
                      <m:t>𝑥</m:t>
                    </m:r>
                    <m:r>
                      <a:rPr lang="en-US" altLang="zh-CN" sz="1600">
                        <a:latin typeface="Cambria Math" panose="02040503050406030204" pitchFamily="18" charset="0"/>
                      </a:rPr>
                      <m:t>)</m:t>
                    </m:r>
                  </m:oMath>
                </a14:m>
                <a:r>
                  <a:rPr lang="en-US" altLang="zh-CN" sz="1600" dirty="0">
                    <a:latin typeface="KaiTi" panose="02010609060101010101" pitchFamily="49" charset="-122"/>
                    <a:ea typeface="KaiTi" panose="02010609060101010101" pitchFamily="49" charset="-122"/>
                  </a:rPr>
                  <a:t>……</a:t>
                </a:r>
                <a:endParaRPr lang="zh-CN" altLang="zh-CN" sz="1600" dirty="0">
                  <a:latin typeface="KaiTi" panose="02010609060101010101" pitchFamily="49" charset="-122"/>
                  <a:ea typeface="KaiTi" panose="02010609060101010101" pitchFamily="49" charset="-122"/>
                </a:endParaRPr>
              </a:p>
            </p:txBody>
          </p:sp>
        </mc:Choice>
        <mc:Fallback xmlns="">
          <p:sp>
            <p:nvSpPr>
              <p:cNvPr id="12" name="文本框 11">
                <a:extLst>
                  <a:ext uri="{FF2B5EF4-FFF2-40B4-BE49-F238E27FC236}">
                    <a16:creationId xmlns:a16="http://schemas.microsoft.com/office/drawing/2014/main" id="{F6024AF6-8F45-4876-AB9C-E3017D59CB00}"/>
                  </a:ext>
                </a:extLst>
              </p:cNvPr>
              <p:cNvSpPr txBox="1">
                <a:spLocks noRot="1" noChangeAspect="1" noMove="1" noResize="1" noEditPoints="1" noAdjustHandles="1" noChangeArrowheads="1" noChangeShapeType="1" noTextEdit="1"/>
              </p:cNvSpPr>
              <p:nvPr/>
            </p:nvSpPr>
            <p:spPr>
              <a:xfrm>
                <a:off x="1686261" y="5751293"/>
                <a:ext cx="7943388" cy="488660"/>
              </a:xfrm>
              <a:prstGeom prst="rect">
                <a:avLst/>
              </a:prstGeom>
              <a:blipFill>
                <a:blip r:embed="rId9"/>
                <a:stretch>
                  <a:fillRect l="-46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164CD2D-2E5F-44F6-9D57-2DDA38DC9F50}"/>
                  </a:ext>
                </a:extLst>
              </p:cNvPr>
              <p:cNvSpPr txBox="1"/>
              <p:nvPr/>
            </p:nvSpPr>
            <p:spPr>
              <a:xfrm>
                <a:off x="2500247" y="6155179"/>
                <a:ext cx="6096000" cy="466923"/>
              </a:xfrm>
              <a:prstGeom prst="rect">
                <a:avLst/>
              </a:prstGeom>
              <a:noFill/>
            </p:spPr>
            <p:txBody>
              <a:bodyPr wrap="square">
                <a:spAutoFit/>
              </a:bodyPr>
              <a:lstStyle/>
              <a:p>
                <a14:m>
                  <m:oMath xmlns:m="http://schemas.openxmlformats.org/officeDocument/2006/math">
                    <m:sSub>
                      <m:sSubPr>
                        <m:ctrlPr>
                          <a:rPr lang="zh-CN" altLang="zh-CN" sz="1400" i="1" smtClean="0">
                            <a:latin typeface="Cambria Math" panose="02040503050406030204" pitchFamily="18" charset="0"/>
                          </a:rPr>
                        </m:ctrlPr>
                      </m:sSubPr>
                      <m:e>
                        <m:r>
                          <a:rPr lang="en-US" altLang="zh-CN" sz="1400" i="1">
                            <a:latin typeface="Cambria Math" panose="02040503050406030204" pitchFamily="18" charset="0"/>
                          </a:rPr>
                          <m:t>𝑅</m:t>
                        </m:r>
                      </m:e>
                      <m:sub>
                        <m:r>
                          <a:rPr lang="en-US" altLang="zh-CN" sz="1400" i="1">
                            <a:latin typeface="Cambria Math" panose="02040503050406030204" pitchFamily="18" charset="0"/>
                          </a:rPr>
                          <m:t>𝑛</m:t>
                        </m:r>
                      </m:sub>
                    </m:sSub>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a:latin typeface="Cambria Math" panose="02040503050406030204" pitchFamily="18" charset="0"/>
                      </a:rPr>
                      <m:t>)=</m:t>
                    </m:r>
                    <m:f>
                      <m:fPr>
                        <m:ctrlPr>
                          <a:rPr lang="zh-CN" altLang="zh-CN" sz="1400" i="1">
                            <a:latin typeface="Cambria Math" panose="02040503050406030204" pitchFamily="18" charset="0"/>
                          </a:rPr>
                        </m:ctrlPr>
                      </m:fPr>
                      <m:num>
                        <m:sSup>
                          <m:sSupPr>
                            <m:ctrlPr>
                              <a:rPr lang="zh-CN" altLang="zh-CN" sz="1400" i="1">
                                <a:latin typeface="Cambria Math" panose="02040503050406030204" pitchFamily="18" charset="0"/>
                              </a:rPr>
                            </m:ctrlPr>
                          </m:sSupPr>
                          <m:e>
                            <m:r>
                              <a:rPr lang="en-US" altLang="zh-CN" sz="1400" i="1">
                                <a:latin typeface="Cambria Math" panose="02040503050406030204" pitchFamily="18" charset="0"/>
                              </a:rPr>
                              <m:t>𝑓</m:t>
                            </m:r>
                          </m:e>
                          <m:sup>
                            <m:r>
                              <a:rPr lang="en-US" altLang="zh-CN" sz="1400">
                                <a:latin typeface="Cambria Math" panose="02040503050406030204" pitchFamily="18" charset="0"/>
                              </a:rPr>
                              <m:t>(</m:t>
                            </m:r>
                            <m:r>
                              <a:rPr lang="en-US" altLang="zh-CN" sz="1400" i="1">
                                <a:latin typeface="Cambria Math" panose="02040503050406030204" pitchFamily="18" charset="0"/>
                              </a:rPr>
                              <m:t>𝑛</m:t>
                            </m:r>
                            <m:r>
                              <a:rPr lang="en-US" altLang="zh-CN" sz="1400">
                                <a:latin typeface="Cambria Math" panose="02040503050406030204" pitchFamily="18" charset="0"/>
                              </a:rPr>
                              <m:t>+1)</m:t>
                            </m:r>
                          </m:sup>
                        </m:sSup>
                        <m:r>
                          <a:rPr lang="en-US" altLang="zh-CN" sz="1400">
                            <a:latin typeface="Cambria Math" panose="02040503050406030204" pitchFamily="18" charset="0"/>
                          </a:rPr>
                          <m:t>(</m:t>
                        </m:r>
                        <m:r>
                          <a:rPr lang="en-US" altLang="zh-CN" sz="1400" i="1">
                            <a:latin typeface="Cambria Math" panose="02040503050406030204" pitchFamily="18" charset="0"/>
                          </a:rPr>
                          <m:t>𝜉</m:t>
                        </m:r>
                        <m:r>
                          <a:rPr lang="en-US" altLang="zh-CN" sz="1400">
                            <a:latin typeface="Cambria Math" panose="02040503050406030204" pitchFamily="18" charset="0"/>
                          </a:rPr>
                          <m:t>)</m:t>
                        </m:r>
                      </m:num>
                      <m:den>
                        <m:r>
                          <a:rPr lang="en-US" altLang="zh-CN" sz="1400">
                            <a:latin typeface="Cambria Math" panose="02040503050406030204" pitchFamily="18" charset="0"/>
                          </a:rPr>
                          <m:t>(</m:t>
                        </m:r>
                        <m:r>
                          <a:rPr lang="en-US" altLang="zh-CN" sz="1400" i="1">
                            <a:latin typeface="Cambria Math" panose="02040503050406030204" pitchFamily="18" charset="0"/>
                          </a:rPr>
                          <m:t>𝑛</m:t>
                        </m:r>
                        <m:r>
                          <a:rPr lang="en-US" altLang="zh-CN" sz="1400">
                            <a:latin typeface="Cambria Math" panose="02040503050406030204" pitchFamily="18" charset="0"/>
                          </a:rPr>
                          <m:t>+1)!</m:t>
                        </m:r>
                      </m:den>
                    </m:f>
                    <m:sSup>
                      <m:sSupPr>
                        <m:ctrlPr>
                          <a:rPr lang="zh-CN" altLang="zh-CN" sz="1400" i="1">
                            <a:latin typeface="Cambria Math" panose="02040503050406030204" pitchFamily="18" charset="0"/>
                          </a:rPr>
                        </m:ctrlPr>
                      </m:sSupPr>
                      <m:e>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a:latin typeface="Cambria Math" panose="02040503050406030204" pitchFamily="18" charset="0"/>
                              </a:rPr>
                              <m:t>0</m:t>
                            </m:r>
                          </m:sub>
                        </m:sSub>
                        <m:r>
                          <a:rPr lang="en-US" altLang="zh-CN" sz="1400">
                            <a:latin typeface="Cambria Math" panose="02040503050406030204" pitchFamily="18" charset="0"/>
                          </a:rPr>
                          <m:t>)</m:t>
                        </m:r>
                      </m:e>
                      <m:sup>
                        <m:r>
                          <a:rPr lang="en-US" altLang="zh-CN" sz="1400" i="1">
                            <a:latin typeface="Cambria Math" panose="02040503050406030204" pitchFamily="18" charset="0"/>
                          </a:rPr>
                          <m:t>𝑛</m:t>
                        </m:r>
                        <m:r>
                          <a:rPr lang="en-US" altLang="zh-CN" sz="1400">
                            <a:latin typeface="Cambria Math" panose="02040503050406030204" pitchFamily="18" charset="0"/>
                          </a:rPr>
                          <m:t>+1</m:t>
                        </m:r>
                      </m:sup>
                    </m:sSup>
                  </m:oMath>
                </a14:m>
                <a:r>
                  <a:rPr lang="zh-CN" altLang="zh-CN" sz="1400" dirty="0">
                    <a:latin typeface="KaiTi" panose="02010609060101010101" pitchFamily="49" charset="-122"/>
                    <a:ea typeface="KaiTi" panose="02010609060101010101" pitchFamily="49" charset="-122"/>
                  </a:rPr>
                  <a:t>称为</a:t>
                </a:r>
                <a14:m>
                  <m:oMath xmlns:m="http://schemas.openxmlformats.org/officeDocument/2006/math">
                    <m:r>
                      <a:rPr lang="en-US" altLang="zh-CN" sz="1400" i="1">
                        <a:latin typeface="Cambria Math" panose="02040503050406030204" pitchFamily="18" charset="0"/>
                      </a:rPr>
                      <m:t>𝑓</m:t>
                    </m:r>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a:latin typeface="Cambria Math" panose="02040503050406030204" pitchFamily="18" charset="0"/>
                      </a:rPr>
                      <m:t>)</m:t>
                    </m:r>
                  </m:oMath>
                </a14:m>
                <a:r>
                  <a:rPr lang="zh-CN" altLang="zh-CN" sz="1400" dirty="0">
                    <a:latin typeface="KaiTi" panose="02010609060101010101" pitchFamily="49" charset="-122"/>
                    <a:ea typeface="KaiTi" panose="02010609060101010101" pitchFamily="49" charset="-122"/>
                  </a:rPr>
                  <a:t>在点</a:t>
                </a:r>
                <a14:m>
                  <m:oMath xmlns:m="http://schemas.openxmlformats.org/officeDocument/2006/math">
                    <m:sSub>
                      <m:sSubPr>
                        <m:ctrlPr>
                          <a:rPr lang="zh-CN"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a:latin typeface="Cambria Math" panose="02040503050406030204" pitchFamily="18" charset="0"/>
                          </a:rPr>
                          <m:t>0</m:t>
                        </m:r>
                      </m:sub>
                    </m:sSub>
                  </m:oMath>
                </a14:m>
                <a:r>
                  <a:rPr lang="zh-CN" altLang="zh-CN" sz="1400" dirty="0">
                    <a:latin typeface="KaiTi" panose="02010609060101010101" pitchFamily="49" charset="-122"/>
                    <a:ea typeface="KaiTi" panose="02010609060101010101" pitchFamily="49" charset="-122"/>
                  </a:rPr>
                  <a:t>处的</a:t>
                </a:r>
                <a14:m>
                  <m:oMath xmlns:m="http://schemas.openxmlformats.org/officeDocument/2006/math">
                    <m:r>
                      <a:rPr lang="en-US" altLang="zh-CN" sz="1400" i="1">
                        <a:latin typeface="Cambria Math" panose="02040503050406030204" pitchFamily="18" charset="0"/>
                      </a:rPr>
                      <m:t>𝑛</m:t>
                    </m:r>
                  </m:oMath>
                </a14:m>
                <a:r>
                  <a:rPr lang="zh-CN" altLang="zh-CN" sz="1400" dirty="0">
                    <a:latin typeface="KaiTi" panose="02010609060101010101" pitchFamily="49" charset="-122"/>
                    <a:ea typeface="KaiTi" panose="02010609060101010101" pitchFamily="49" charset="-122"/>
                  </a:rPr>
                  <a:t>阶泰勒余项。</a:t>
                </a:r>
                <a:endParaRPr lang="zh-CN" altLang="en-US" sz="1400" dirty="0">
                  <a:latin typeface="KaiTi" panose="02010609060101010101" pitchFamily="49" charset="-122"/>
                  <a:ea typeface="KaiTi" panose="02010609060101010101" pitchFamily="49" charset="-122"/>
                </a:endParaRPr>
              </a:p>
            </p:txBody>
          </p:sp>
        </mc:Choice>
        <mc:Fallback xmlns="">
          <p:sp>
            <p:nvSpPr>
              <p:cNvPr id="13" name="文本框 12">
                <a:extLst>
                  <a:ext uri="{FF2B5EF4-FFF2-40B4-BE49-F238E27FC236}">
                    <a16:creationId xmlns:a16="http://schemas.microsoft.com/office/drawing/2014/main" id="{5164CD2D-2E5F-44F6-9D57-2DDA38DC9F50}"/>
                  </a:ext>
                </a:extLst>
              </p:cNvPr>
              <p:cNvSpPr txBox="1">
                <a:spLocks noRot="1" noChangeAspect="1" noMove="1" noResize="1" noEditPoints="1" noAdjustHandles="1" noChangeArrowheads="1" noChangeShapeType="1" noTextEdit="1"/>
              </p:cNvSpPr>
              <p:nvPr/>
            </p:nvSpPr>
            <p:spPr>
              <a:xfrm>
                <a:off x="2500247" y="6155179"/>
                <a:ext cx="6096000" cy="466923"/>
              </a:xfrm>
              <a:prstGeom prst="rect">
                <a:avLst/>
              </a:prstGeom>
              <a:blipFill>
                <a:blip r:embed="rId10"/>
                <a:stretch>
                  <a:fillRect b="-394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98F066E-8041-431A-A761-7CCE33FCA6F1}"/>
                  </a:ext>
                </a:extLst>
              </p:cNvPr>
              <p:cNvSpPr txBox="1"/>
              <p:nvPr/>
            </p:nvSpPr>
            <p:spPr>
              <a:xfrm>
                <a:off x="5070442" y="2954593"/>
                <a:ext cx="2890228" cy="523220"/>
              </a:xfrm>
              <a:prstGeom prst="rect">
                <a:avLst/>
              </a:prstGeom>
              <a:noFill/>
            </p:spPr>
            <p:txBody>
              <a:bodyPr wrap="square">
                <a:spAutoFit/>
              </a:bodyPr>
              <a:lstStyle/>
              <a:p>
                <a14:m>
                  <m:oMath xmlns:m="http://schemas.openxmlformats.org/officeDocument/2006/math">
                    <m:r>
                      <m:rPr>
                        <m:sty m:val="p"/>
                      </m:rPr>
                      <a:rPr lang="el-GR" altLang="zh-CN" sz="1400" i="1" smtClean="0">
                        <a:solidFill>
                          <a:srgbClr val="FF0000"/>
                        </a:solidFill>
                        <a:latin typeface="Cambria Math" panose="02040503050406030204" pitchFamily="18" charset="0"/>
                        <a:ea typeface="Cambria Math" panose="02040503050406030204" pitchFamily="18" charset="0"/>
                      </a:rPr>
                      <m:t>Δ</m:t>
                    </m:r>
                    <m:r>
                      <a:rPr lang="en-US" altLang="zh-CN" sz="1400" i="1">
                        <a:solidFill>
                          <a:srgbClr val="FF0000"/>
                        </a:solidFill>
                        <a:latin typeface="Cambria Math" panose="02040503050406030204" pitchFamily="18" charset="0"/>
                        <a:ea typeface="Cambria Math" panose="02040503050406030204" pitchFamily="18" charset="0"/>
                      </a:rPr>
                      <m:t>𝑥</m:t>
                    </m:r>
                  </m:oMath>
                </a14:m>
                <a:r>
                  <a:rPr lang="en-US" altLang="zh-CN" sz="1400" dirty="0">
                    <a:solidFill>
                      <a:srgbClr val="FF0000"/>
                    </a:solidFill>
                    <a:latin typeface="KaiTi" panose="02010609060101010101" pitchFamily="49" charset="-122"/>
                    <a:ea typeface="KaiTi" panose="02010609060101010101" pitchFamily="49" charset="-122"/>
                  </a:rPr>
                  <a:t>= </a:t>
                </a:r>
                <a14:m>
                  <m:oMath xmlns:m="http://schemas.openxmlformats.org/officeDocument/2006/math">
                    <m:sSub>
                      <m:sSubPr>
                        <m:ctrlPr>
                          <a:rPr lang="en-US" altLang="zh-CN" sz="1400" i="1">
                            <a:solidFill>
                              <a:srgbClr val="FF0000"/>
                            </a:solidFill>
                            <a:latin typeface="Cambria Math" panose="02040503050406030204" pitchFamily="18" charset="0"/>
                            <a:ea typeface="Microsoft YaHei" charset="0"/>
                          </a:rPr>
                        </m:ctrlPr>
                      </m:sSubPr>
                      <m:e>
                        <m:r>
                          <a:rPr lang="en-US" altLang="zh-CN" sz="1400" i="1">
                            <a:solidFill>
                              <a:srgbClr val="FF0000"/>
                            </a:solidFill>
                            <a:latin typeface="Cambria Math" panose="02040503050406030204" pitchFamily="18" charset="0"/>
                            <a:ea typeface="Microsoft YaHei" charset="0"/>
                          </a:rPr>
                          <m:t>𝑓</m:t>
                        </m:r>
                      </m:e>
                      <m:sub>
                        <m:r>
                          <a:rPr lang="en-US" altLang="zh-CN" sz="1400" i="1">
                            <a:solidFill>
                              <a:srgbClr val="FF0000"/>
                            </a:solidFill>
                            <a:latin typeface="Cambria Math" panose="02040503050406030204" pitchFamily="18" charset="0"/>
                            <a:ea typeface="Microsoft YaHei" charset="0"/>
                          </a:rPr>
                          <m:t>𝑡</m:t>
                        </m:r>
                      </m:sub>
                    </m:sSub>
                    <m:d>
                      <m:dPr>
                        <m:ctrlPr>
                          <a:rPr lang="en-US" altLang="zh-CN" sz="1400" i="1">
                            <a:solidFill>
                              <a:srgbClr val="FF0000"/>
                            </a:solidFill>
                            <a:latin typeface="Cambria Math" panose="02040503050406030204" pitchFamily="18" charset="0"/>
                            <a:ea typeface="Microsoft YaHei" charset="0"/>
                          </a:rPr>
                        </m:ctrlPr>
                      </m:dPr>
                      <m:e>
                        <m:sSub>
                          <m:sSubPr>
                            <m:ctrlPr>
                              <a:rPr lang="en-US" altLang="zh-CN" sz="1400" i="1">
                                <a:solidFill>
                                  <a:srgbClr val="FF0000"/>
                                </a:solidFill>
                                <a:latin typeface="Cambria Math" panose="02040503050406030204" pitchFamily="18" charset="0"/>
                                <a:ea typeface="Microsoft YaHei" charset="0"/>
                              </a:rPr>
                            </m:ctrlPr>
                          </m:sSubPr>
                          <m:e>
                            <m:r>
                              <a:rPr lang="en-US" altLang="zh-CN" sz="1400" i="1">
                                <a:solidFill>
                                  <a:srgbClr val="FF0000"/>
                                </a:solidFill>
                                <a:latin typeface="Cambria Math" panose="02040503050406030204" pitchFamily="18" charset="0"/>
                                <a:ea typeface="Microsoft YaHei" charset="0"/>
                              </a:rPr>
                              <m:t>𝑥</m:t>
                            </m:r>
                          </m:e>
                          <m:sub>
                            <m:r>
                              <a:rPr lang="en-US" altLang="zh-CN" sz="1400" i="1">
                                <a:solidFill>
                                  <a:srgbClr val="FF0000"/>
                                </a:solidFill>
                                <a:latin typeface="Cambria Math" panose="02040503050406030204" pitchFamily="18" charset="0"/>
                                <a:ea typeface="Microsoft YaHei" charset="0"/>
                              </a:rPr>
                              <m:t>𝑖</m:t>
                            </m:r>
                          </m:sub>
                        </m:sSub>
                      </m:e>
                    </m:d>
                  </m:oMath>
                </a14:m>
                <a:r>
                  <a:rPr lang="zh-CN" altLang="en-US" sz="1400" dirty="0">
                    <a:solidFill>
                      <a:srgbClr val="FF0000"/>
                    </a:solidFill>
                    <a:latin typeface="KaiTi" panose="02010609060101010101" pitchFamily="49" charset="-122"/>
                    <a:ea typeface="KaiTi" panose="02010609060101010101" pitchFamily="49" charset="-122"/>
                  </a:rPr>
                  <a:t>，表示第 </a:t>
                </a:r>
                <a14:m>
                  <m:oMath xmlns:m="http://schemas.openxmlformats.org/officeDocument/2006/math">
                    <m:r>
                      <a:rPr lang="en-US" altLang="zh-CN" sz="1400" i="1" dirty="0" smtClean="0">
                        <a:solidFill>
                          <a:srgbClr val="FF0000"/>
                        </a:solidFill>
                        <a:latin typeface="Cambria Math" panose="02040503050406030204" pitchFamily="18" charset="0"/>
                      </a:rPr>
                      <m:t>𝑡</m:t>
                    </m:r>
                    <m:r>
                      <a:rPr lang="en-US" altLang="zh-CN" sz="1400" i="1" dirty="0" smtClean="0">
                        <a:solidFill>
                          <a:srgbClr val="FF0000"/>
                        </a:solidFill>
                        <a:latin typeface="Cambria Math" panose="02040503050406030204" pitchFamily="18" charset="0"/>
                      </a:rPr>
                      <m:t> </m:t>
                    </m:r>
                  </m:oMath>
                </a14:m>
                <a:r>
                  <a:rPr lang="zh-CN" altLang="en-US" sz="1400" dirty="0">
                    <a:solidFill>
                      <a:srgbClr val="FF0000"/>
                    </a:solidFill>
                    <a:latin typeface="KaiTi" panose="02010609060101010101" pitchFamily="49" charset="-122"/>
                    <a:ea typeface="KaiTi" panose="02010609060101010101" pitchFamily="49" charset="-122"/>
                  </a:rPr>
                  <a:t>棵树的输出结果等于 </a:t>
                </a:r>
                <a14:m>
                  <m:oMath xmlns:m="http://schemas.openxmlformats.org/officeDocument/2006/math">
                    <m:r>
                      <a:rPr lang="en-US" altLang="zh-CN" sz="1400" i="1" dirty="0" smtClean="0">
                        <a:solidFill>
                          <a:srgbClr val="FF0000"/>
                        </a:solidFill>
                        <a:latin typeface="Cambria Math" panose="02040503050406030204" pitchFamily="18" charset="0"/>
                      </a:rPr>
                      <m:t>𝑡</m:t>
                    </m:r>
                    <m:r>
                      <a:rPr lang="en-US" altLang="zh-CN" sz="1400" i="1" dirty="0" smtClean="0">
                        <a:solidFill>
                          <a:srgbClr val="FF0000"/>
                        </a:solidFill>
                        <a:latin typeface="Cambria Math" panose="02040503050406030204" pitchFamily="18" charset="0"/>
                      </a:rPr>
                      <m:t>−1</m:t>
                    </m:r>
                  </m:oMath>
                </a14:m>
                <a:r>
                  <a:rPr lang="en-US" altLang="zh-CN" sz="1400" dirty="0">
                    <a:solidFill>
                      <a:srgbClr val="FF0000"/>
                    </a:solidFill>
                    <a:latin typeface="KaiTi" panose="02010609060101010101" pitchFamily="49" charset="-122"/>
                    <a:ea typeface="KaiTi" panose="02010609060101010101" pitchFamily="49" charset="-122"/>
                  </a:rPr>
                  <a:t> </a:t>
                </a:r>
                <a:r>
                  <a:rPr lang="zh-CN" altLang="en-US" sz="1400" dirty="0">
                    <a:solidFill>
                      <a:srgbClr val="FF0000"/>
                    </a:solidFill>
                    <a:latin typeface="KaiTi" panose="02010609060101010101" pitchFamily="49" charset="-122"/>
                    <a:ea typeface="KaiTi" panose="02010609060101010101" pitchFamily="49" charset="-122"/>
                  </a:rPr>
                  <a:t>时刻新增加的结果</a:t>
                </a:r>
              </a:p>
            </p:txBody>
          </p:sp>
        </mc:Choice>
        <mc:Fallback xmlns="">
          <p:sp>
            <p:nvSpPr>
              <p:cNvPr id="14" name="文本框 13">
                <a:extLst>
                  <a:ext uri="{FF2B5EF4-FFF2-40B4-BE49-F238E27FC236}">
                    <a16:creationId xmlns:a16="http://schemas.microsoft.com/office/drawing/2014/main" id="{B98F066E-8041-431A-A761-7CCE33FCA6F1}"/>
                  </a:ext>
                </a:extLst>
              </p:cNvPr>
              <p:cNvSpPr txBox="1">
                <a:spLocks noRot="1" noChangeAspect="1" noMove="1" noResize="1" noEditPoints="1" noAdjustHandles="1" noChangeArrowheads="1" noChangeShapeType="1" noTextEdit="1"/>
              </p:cNvSpPr>
              <p:nvPr/>
            </p:nvSpPr>
            <p:spPr>
              <a:xfrm>
                <a:off x="5070442" y="2954593"/>
                <a:ext cx="2890228" cy="523220"/>
              </a:xfrm>
              <a:prstGeom prst="rect">
                <a:avLst/>
              </a:prstGeom>
              <a:blipFill>
                <a:blip r:embed="rId11"/>
                <a:stretch>
                  <a:fillRect l="-633" t="-3488" r="-211" b="-9302"/>
                </a:stretch>
              </a:blipFill>
            </p:spPr>
            <p:txBody>
              <a:bodyPr/>
              <a:lstStyle/>
              <a:p>
                <a:r>
                  <a:rPr lang="ko-KR" altLang="en-US">
                    <a:noFill/>
                  </a:rPr>
                  <a:t> </a:t>
                </a:r>
              </a:p>
            </p:txBody>
          </p:sp>
        </mc:Fallback>
      </mc:AlternateContent>
      <p:sp>
        <p:nvSpPr>
          <p:cNvPr id="15" name="下箭头 5">
            <a:extLst>
              <a:ext uri="{FF2B5EF4-FFF2-40B4-BE49-F238E27FC236}">
                <a16:creationId xmlns:a16="http://schemas.microsoft.com/office/drawing/2014/main" id="{F1D642D2-F3D3-4721-9AF5-622CA2533464}"/>
              </a:ext>
            </a:extLst>
          </p:cNvPr>
          <p:cNvSpPr/>
          <p:nvPr/>
        </p:nvSpPr>
        <p:spPr>
          <a:xfrm flipH="1">
            <a:off x="5181826" y="3610106"/>
            <a:ext cx="138394"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6A2ADEA-F799-10CD-32E4-4202B5EA3E43}"/>
                  </a:ext>
                </a:extLst>
              </p:cNvPr>
              <p:cNvSpPr txBox="1"/>
              <p:nvPr/>
            </p:nvSpPr>
            <p:spPr>
              <a:xfrm>
                <a:off x="8546142" y="1442765"/>
                <a:ext cx="3452245" cy="7571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ko-Kore-KR" altLang="en-US" sz="2000">
                          <a:latin typeface="Cambria Math" panose="02040503050406030204" pitchFamily="18" charset="0"/>
                        </a:rPr>
                        <m:t>Ω</m:t>
                      </m:r>
                      <m:d>
                        <m:dPr>
                          <m:ctrlPr>
                            <a:rPr lang="ko-Kore-KR" altLang="en-US" sz="2000" i="1">
                              <a:solidFill>
                                <a:srgbClr val="836967"/>
                              </a:solidFill>
                              <a:latin typeface="Cambria Math" panose="02040503050406030204" pitchFamily="18" charset="0"/>
                            </a:rPr>
                          </m:ctrlPr>
                        </m:dPr>
                        <m:e>
                          <m:sSub>
                            <m:sSubPr>
                              <m:ctrlPr>
                                <a:rPr lang="ko-Kore-KR" altLang="en-US" sz="2000" i="1">
                                  <a:solidFill>
                                    <a:srgbClr val="836967"/>
                                  </a:solidFill>
                                  <a:latin typeface="Cambria Math" panose="02040503050406030204" pitchFamily="18" charset="0"/>
                                </a:rPr>
                              </m:ctrlPr>
                            </m:sSubPr>
                            <m:e>
                              <m:r>
                                <a:rPr lang="ko-Kore-KR" altLang="en-US" sz="2000" i="1">
                                  <a:latin typeface="Cambria Math" panose="02040503050406030204" pitchFamily="18" charset="0"/>
                                </a:rPr>
                                <m:t>𝑓</m:t>
                              </m:r>
                            </m:e>
                            <m:sub>
                              <m:r>
                                <a:rPr lang="ko-Kore-KR" altLang="en-US" sz="2000" i="1">
                                  <a:latin typeface="Cambria Math" panose="02040503050406030204" pitchFamily="18" charset="0"/>
                                </a:rPr>
                                <m:t>𝑡</m:t>
                              </m:r>
                            </m:sub>
                          </m:sSub>
                        </m:e>
                      </m:d>
                      <m:r>
                        <a:rPr lang="ko-Kore-KR" altLang="en-US" sz="2000" i="0">
                          <a:latin typeface="Cambria Math" panose="02040503050406030204" pitchFamily="18" charset="0"/>
                        </a:rPr>
                        <m:t>=</m:t>
                      </m:r>
                      <m:r>
                        <m:rPr>
                          <m:sty m:val="p"/>
                        </m:rPr>
                        <a:rPr lang="ko-Kore-KR" altLang="en-US" sz="2000" i="0">
                          <a:latin typeface="Cambria Math" panose="02040503050406030204" pitchFamily="18" charset="0"/>
                        </a:rPr>
                        <m:t>γ</m:t>
                      </m:r>
                      <m:r>
                        <a:rPr lang="ko-Kore-KR" altLang="en-US" sz="2000" i="1">
                          <a:latin typeface="Cambria Math" panose="02040503050406030204" pitchFamily="18" charset="0"/>
                        </a:rPr>
                        <m:t>𝑇</m:t>
                      </m:r>
                      <m:r>
                        <a:rPr lang="ko-Kore-KR" altLang="en-US" sz="2000" i="0">
                          <a:latin typeface="Cambria Math" panose="02040503050406030204" pitchFamily="18" charset="0"/>
                        </a:rPr>
                        <m:t>+</m:t>
                      </m:r>
                      <m:f>
                        <m:fPr>
                          <m:ctrlPr>
                            <a:rPr lang="ko-Kore-KR" altLang="en-US" sz="2000" i="1">
                              <a:solidFill>
                                <a:srgbClr val="836967"/>
                              </a:solidFill>
                              <a:latin typeface="Cambria Math" panose="02040503050406030204" pitchFamily="18" charset="0"/>
                            </a:rPr>
                          </m:ctrlPr>
                        </m:fPr>
                        <m:num>
                          <m:r>
                            <a:rPr lang="ko-Kore-KR" altLang="en-US" sz="2000" i="0">
                              <a:latin typeface="Cambria Math" panose="02040503050406030204" pitchFamily="18" charset="0"/>
                            </a:rPr>
                            <m:t>1</m:t>
                          </m:r>
                        </m:num>
                        <m:den>
                          <m:r>
                            <a:rPr lang="ko-Kore-KR" altLang="en-US" sz="2000" i="0">
                              <a:latin typeface="Cambria Math" panose="02040503050406030204" pitchFamily="18" charset="0"/>
                            </a:rPr>
                            <m:t>2</m:t>
                          </m:r>
                        </m:den>
                      </m:f>
                      <m:r>
                        <m:rPr>
                          <m:sty m:val="p"/>
                        </m:rPr>
                        <a:rPr lang="ko-Kore-KR" altLang="en-US" sz="2000" i="0">
                          <a:latin typeface="Cambria Math" panose="02040503050406030204" pitchFamily="18" charset="0"/>
                        </a:rPr>
                        <m:t>λ</m:t>
                      </m:r>
                      <m:nary>
                        <m:naryPr>
                          <m:chr m:val="∑"/>
                          <m:limLoc m:val="subSup"/>
                          <m:ctrlPr>
                            <a:rPr lang="ko-Kore-KR" altLang="en-US" sz="2000" i="1">
                              <a:latin typeface="Cambria Math" panose="02040503050406030204" pitchFamily="18" charset="0"/>
                            </a:rPr>
                          </m:ctrlPr>
                        </m:naryPr>
                        <m:sub>
                          <m:r>
                            <a:rPr lang="ko-Kore-KR" altLang="en-US" sz="2000" i="1">
                              <a:latin typeface="Cambria Math" panose="02040503050406030204" pitchFamily="18" charset="0"/>
                            </a:rPr>
                            <m:t>𝑗</m:t>
                          </m:r>
                          <m:r>
                            <a:rPr lang="ko-Kore-KR" altLang="en-US" sz="2000" i="0">
                              <a:latin typeface="Cambria Math" panose="02040503050406030204" pitchFamily="18" charset="0"/>
                            </a:rPr>
                            <m:t>=1</m:t>
                          </m:r>
                        </m:sub>
                        <m:sup>
                          <m:r>
                            <a:rPr lang="ko-Kore-KR" altLang="en-US" sz="2000" i="1">
                              <a:latin typeface="Cambria Math" panose="02040503050406030204" pitchFamily="18" charset="0"/>
                            </a:rPr>
                            <m:t>𝑇</m:t>
                          </m:r>
                        </m:sup>
                        <m:e>
                          <m:sSubSup>
                            <m:sSubSupPr>
                              <m:ctrlPr>
                                <a:rPr lang="ko-Kore-KR" altLang="en-US" sz="2000" i="1">
                                  <a:solidFill>
                                    <a:srgbClr val="836967"/>
                                  </a:solidFill>
                                  <a:latin typeface="Cambria Math" panose="02040503050406030204" pitchFamily="18" charset="0"/>
                                </a:rPr>
                              </m:ctrlPr>
                            </m:sSubSupPr>
                            <m:e>
                              <m:r>
                                <a:rPr lang="ko-Kore-KR" altLang="en-US" sz="2000" i="1">
                                  <a:latin typeface="Cambria Math" panose="02040503050406030204" pitchFamily="18" charset="0"/>
                                </a:rPr>
                                <m:t>𝑤</m:t>
                              </m:r>
                            </m:e>
                            <m:sub>
                              <m:r>
                                <a:rPr lang="ko-Kore-KR" altLang="en-US" sz="2000" i="1">
                                  <a:latin typeface="Cambria Math" panose="02040503050406030204" pitchFamily="18" charset="0"/>
                                </a:rPr>
                                <m:t>𝑗</m:t>
                              </m:r>
                            </m:sub>
                            <m:sup>
                              <m:r>
                                <a:rPr lang="ko-Kore-KR" altLang="en-US" sz="2000" i="0">
                                  <a:latin typeface="Cambria Math" panose="02040503050406030204" pitchFamily="18" charset="0"/>
                                </a:rPr>
                                <m:t>2</m:t>
                              </m:r>
                            </m:sup>
                          </m:sSubSup>
                        </m:e>
                      </m:nary>
                    </m:oMath>
                  </m:oMathPara>
                </a14:m>
                <a:endParaRPr lang="ko-Kore-KR" altLang="en-US" sz="2000">
                  <a:latin typeface="KaiTi" panose="02010609060101010101" pitchFamily="49" charset="-122"/>
                </a:endParaRPr>
              </a:p>
            </p:txBody>
          </p:sp>
        </mc:Choice>
        <mc:Fallback xmlns="">
          <p:sp>
            <p:nvSpPr>
              <p:cNvPr id="3" name="TextBox 2">
                <a:extLst>
                  <a:ext uri="{FF2B5EF4-FFF2-40B4-BE49-F238E27FC236}">
                    <a16:creationId xmlns:a16="http://schemas.microsoft.com/office/drawing/2014/main" id="{D6A2ADEA-F799-10CD-32E4-4202B5EA3E43}"/>
                  </a:ext>
                </a:extLst>
              </p:cNvPr>
              <p:cNvSpPr txBox="1">
                <a:spLocks noRot="1" noChangeAspect="1" noMove="1" noResize="1" noEditPoints="1" noAdjustHandles="1" noChangeArrowheads="1" noChangeShapeType="1" noTextEdit="1"/>
              </p:cNvSpPr>
              <p:nvPr/>
            </p:nvSpPr>
            <p:spPr>
              <a:xfrm>
                <a:off x="8546142" y="1442765"/>
                <a:ext cx="3452245" cy="757130"/>
              </a:xfrm>
              <a:prstGeom prst="rect">
                <a:avLst/>
              </a:prstGeom>
              <a:blipFill>
                <a:blip r:embed="rId12"/>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97033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p:cTn id="48" dur="500" fill="hold"/>
                                        <p:tgtEl>
                                          <p:spTgt spid="10"/>
                                        </p:tgtEl>
                                        <p:attrNameLst>
                                          <p:attrName>ppt_w</p:attrName>
                                        </p:attrNameLst>
                                      </p:cBhvr>
                                      <p:tavLst>
                                        <p:tav tm="0">
                                          <p:val>
                                            <p:fltVal val="0"/>
                                          </p:val>
                                        </p:tav>
                                        <p:tav tm="100000">
                                          <p:val>
                                            <p:strVal val="#ppt_w"/>
                                          </p:val>
                                        </p:tav>
                                      </p:tavLst>
                                    </p:anim>
                                    <p:anim calcmode="lin" valueType="num">
                                      <p:cBhvr>
                                        <p:cTn id="49" dur="500" fill="hold"/>
                                        <p:tgtEl>
                                          <p:spTgt spid="10"/>
                                        </p:tgtEl>
                                        <p:attrNameLst>
                                          <p:attrName>ppt_h</p:attrName>
                                        </p:attrNameLst>
                                      </p:cBhvr>
                                      <p:tavLst>
                                        <p:tav tm="0">
                                          <p:val>
                                            <p:fltVal val="0"/>
                                          </p:val>
                                        </p:tav>
                                        <p:tav tm="100000">
                                          <p:val>
                                            <p:strVal val="#ppt_h"/>
                                          </p:val>
                                        </p:tav>
                                      </p:tavLst>
                                    </p:anim>
                                    <p:animEffect transition="in" filter="fade">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P spid="9" grpId="0"/>
      <p:bldP spid="10" grpId="0"/>
      <p:bldP spid="12" grpId="0"/>
      <p:bldP spid="13" grpId="0"/>
      <p:bldP spid="14" grpId="0"/>
      <p:bldP spid="1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p:nvPr/>
            </p:nvSpPr>
            <p:spPr>
              <a:xfrm>
                <a:off x="654879" y="1242703"/>
                <a:ext cx="9650462" cy="11005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charset="0"/>
                        </a:rPr>
                        <m:t>𝑂𝑏𝑗</m:t>
                      </m:r>
                      <m:d>
                        <m:dPr>
                          <m:ctrlPr>
                            <a:rPr lang="en-US" altLang="zh-CN" i="1">
                              <a:latin typeface="Cambria Math" panose="02040503050406030204" pitchFamily="18" charset="0"/>
                              <a:ea typeface="Microsoft YaHei" charset="0"/>
                            </a:rPr>
                          </m:ctrlPr>
                        </m:dPr>
                        <m:e>
                          <m:r>
                            <a:rPr lang="en-US" altLang="zh-CN" i="1">
                              <a:latin typeface="Cambria Math" panose="02040503050406030204" pitchFamily="18" charset="0"/>
                              <a:ea typeface="Microsoft YaHei" charset="0"/>
                            </a:rPr>
                            <m:t>𝑡</m:t>
                          </m:r>
                        </m:e>
                      </m:d>
                      <m:r>
                        <a:rPr lang="en-US" altLang="zh-CN" i="1">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i="1">
                                  <a:latin typeface="Cambria Math" panose="02040503050406030204" pitchFamily="18" charset="0"/>
                                  <a:ea typeface="Microsoft YaHei" charset="0"/>
                                </a:rPr>
                              </m:ctrlPr>
                            </m:dPr>
                            <m:e>
                              <m:r>
                                <m:rPr>
                                  <m:sty m:val="p"/>
                                </m:rPr>
                                <a:rPr lang="en-US" altLang="zh-CN" i="0">
                                  <a:latin typeface="Cambria Math" panose="02040503050406030204" pitchFamily="18" charset="0"/>
                                  <a:ea typeface="Microsoft YaHei" charset="0"/>
                                </a:rPr>
                                <m:t>L</m:t>
                              </m:r>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𝑦</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Sup>
                                    <m:sSupPr>
                                      <m:ctrlPr>
                                        <a:rPr lang="en-US" altLang="zh-CN" i="1">
                                          <a:latin typeface="Cambria Math" panose="02040503050406030204" pitchFamily="18" charset="0"/>
                                          <a:ea typeface="Microsoft YaHei" charset="0"/>
                                        </a:rPr>
                                      </m:ctrlPr>
                                    </m:sSupPr>
                                    <m:e>
                                      <m:acc>
                                        <m:accPr>
                                          <m:chr m:val="̂"/>
                                          <m:ctrlPr>
                                            <a:rPr lang="en-US" altLang="zh-CN" i="1">
                                              <a:latin typeface="Cambria Math" panose="02040503050406030204" pitchFamily="18" charset="0"/>
                                              <a:ea typeface="Microsoft YaHei" charset="0"/>
                                            </a:rPr>
                                          </m:ctrlPr>
                                        </m:accPr>
                                        <m:e>
                                          <m:r>
                                            <a:rPr lang="en-US" altLang="zh-CN" i="1">
                                              <a:latin typeface="Cambria Math" panose="02040503050406030204" pitchFamily="18" charset="0"/>
                                              <a:ea typeface="Microsoft YaHei" charset="0"/>
                                            </a:rPr>
                                            <m:t>𝑦</m:t>
                                          </m:r>
                                        </m:e>
                                      </m:acc>
                                    </m:e>
                                    <m:sup>
                                      <m:r>
                                        <a:rPr lang="en-US" altLang="zh-CN" b="0" i="1" smtClean="0">
                                          <a:latin typeface="Cambria Math" panose="02040503050406030204" pitchFamily="18" charset="0"/>
                                          <a:ea typeface="Microsoft YaHei" charset="0"/>
                                        </a:rPr>
                                        <m:t>(</m:t>
                                      </m:r>
                                      <m:r>
                                        <a:rPr lang="en-US" altLang="zh-CN" i="1">
                                          <a:latin typeface="Cambria Math" panose="02040503050406030204" pitchFamily="18" charset="0"/>
                                          <a:ea typeface="Microsoft YaHei" charset="0"/>
                                        </a:rPr>
                                        <m:t>𝑡</m:t>
                                      </m:r>
                                      <m:r>
                                        <a:rPr lang="en-US" altLang="zh-CN" i="1">
                                          <a:latin typeface="Cambria Math" panose="02040503050406030204" pitchFamily="18" charset="0"/>
                                          <a:ea typeface="Microsoft YaHei" charset="0"/>
                                        </a:rPr>
                                        <m:t>−1)</m:t>
                                      </m:r>
                                    </m:sup>
                                  </m:sSup>
                                </m:e>
                              </m:d>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𝑔</m:t>
                                  </m:r>
                                </m:e>
                                <m:sub>
                                  <m:r>
                                    <a:rPr lang="en-US" altLang="zh-CN" i="1">
                                      <a:latin typeface="Cambria Math" panose="02040503050406030204" pitchFamily="18" charset="0"/>
                                      <a:ea typeface="Microsoft YaHei" charset="0"/>
                                    </a:rPr>
                                    <m:t>𝑖</m:t>
                                  </m:r>
                                </m:sub>
                              </m:sSub>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e>
                              </m:d>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h</m:t>
                                  </m:r>
                                </m:e>
                                <m:sub>
                                  <m:r>
                                    <a:rPr lang="en-US" altLang="zh-CN" i="1">
                                      <a:latin typeface="Cambria Math" panose="02040503050406030204" pitchFamily="18" charset="0"/>
                                      <a:ea typeface="Microsoft YaHei" charset="0"/>
                                    </a:rPr>
                                    <m:t>𝑖</m:t>
                                  </m:r>
                                </m:sub>
                              </m:sSub>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e>
                                <m:sup>
                                  <m:r>
                                    <a:rPr lang="en-US" altLang="zh-CN" i="1">
                                      <a:latin typeface="Cambria Math" panose="02040503050406030204" pitchFamily="18" charset="0"/>
                                      <a:ea typeface="Microsoft YaHei" charset="0"/>
                                    </a:rPr>
                                    <m:t>2</m:t>
                                  </m:r>
                                </m:sup>
                              </m:sSup>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e>
                          </m:d>
                        </m:e>
                      </m:nary>
                      <m:r>
                        <a:rPr lang="en-US" altLang="zh-CN">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𝑐𝑜𝑛𝑠𝑡𝑎𝑛𝑡</m:t>
                      </m:r>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654879" y="1242703"/>
                <a:ext cx="9650462" cy="1100558"/>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1546415" y="2332340"/>
                <a:ext cx="5582362"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b="0" i="1" smtClean="0">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𝑔</m:t>
                                  </m:r>
                                </m:e>
                                <m:sub>
                                  <m:r>
                                    <a:rPr lang="en-US" altLang="zh-CN" i="1">
                                      <a:latin typeface="Cambria Math" panose="02040503050406030204" pitchFamily="18" charset="0"/>
                                      <a:ea typeface="Microsoft YaHei" charset="0"/>
                                    </a:rPr>
                                    <m:t>𝑖</m:t>
                                  </m:r>
                                </m:sub>
                              </m:sSub>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d>
                                <m:dPr>
                                  <m:ctrlPr>
                                    <a:rPr lang="en-US" altLang="zh-CN" i="1">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e>
                              </m:d>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h</m:t>
                                  </m:r>
                                </m:e>
                                <m:sub>
                                  <m:r>
                                    <a:rPr lang="en-US" altLang="zh-CN" i="1">
                                      <a:latin typeface="Cambria Math" panose="02040503050406030204" pitchFamily="18" charset="0"/>
                                      <a:ea typeface="Microsoft YaHei" charset="0"/>
                                    </a:rPr>
                                    <m:t>𝑖</m:t>
                                  </m:r>
                                </m:sub>
                              </m:sSub>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𝑓</m:t>
                                      </m:r>
                                    </m:e>
                                    <m:sub>
                                      <m:r>
                                        <a:rPr lang="en-US" altLang="zh-CN" i="1">
                                          <a:latin typeface="Cambria Math" panose="02040503050406030204" pitchFamily="18" charset="0"/>
                                          <a:ea typeface="Microsoft YaHei" charset="0"/>
                                        </a:rPr>
                                        <m:t>𝑡</m:t>
                                      </m:r>
                                    </m:sub>
                                  </m:sSub>
                                </m:e>
                                <m:sup>
                                  <m:r>
                                    <a:rPr lang="en-US" altLang="zh-CN" i="1">
                                      <a:latin typeface="Cambria Math" panose="02040503050406030204" pitchFamily="18" charset="0"/>
                                      <a:ea typeface="Microsoft YaHei" charset="0"/>
                                    </a:rPr>
                                    <m:t>2</m:t>
                                  </m:r>
                                </m:sup>
                              </m:sSup>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e>
                          </m:d>
                          <m:r>
                            <a:rPr lang="en-US" altLang="zh-CN">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d>
                            <m:dPr>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𝑓</m:t>
                                  </m:r>
                                </m:e>
                                <m:sub>
                                  <m:r>
                                    <a:rPr lang="en-US" altLang="zh-CN" i="1">
                                      <a:latin typeface="Cambria Math" panose="02040503050406030204" pitchFamily="18" charset="0"/>
                                      <a:ea typeface="Cambria Math" panose="02040503050406030204" pitchFamily="18" charset="0"/>
                                    </a:rPr>
                                    <m:t>𝑡</m:t>
                                  </m:r>
                                </m:sub>
                              </m:sSub>
                            </m:e>
                          </m:d>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nary>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1546415" y="2332340"/>
                <a:ext cx="5582362" cy="1008225"/>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1494834" y="3311108"/>
                <a:ext cx="6977423"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m:t>
                      </m:r>
                      <m:nary>
                        <m:naryPr>
                          <m:chr m:val="∑"/>
                          <m:ctrlPr>
                            <a:rPr lang="en-US" altLang="zh-CN" b="0" i="1" smtClean="0">
                              <a:latin typeface="Cambria Math" panose="02040503050406030204" pitchFamily="18" charset="0"/>
                              <a:ea typeface="Microsoft YaHei" charset="0"/>
                            </a:rPr>
                          </m:ctrlPr>
                        </m:naryPr>
                        <m:sub>
                          <m:r>
                            <m:rPr>
                              <m:brk m:alnAt="23"/>
                            </m:rPr>
                            <a:rPr lang="en-US" altLang="zh-CN" b="0" i="1" smtClean="0">
                              <a:latin typeface="Cambria Math" panose="02040503050406030204" pitchFamily="18" charset="0"/>
                              <a:ea typeface="Microsoft YaHei" charset="0"/>
                            </a:rPr>
                            <m:t>𝑖</m:t>
                          </m:r>
                          <m:r>
                            <a:rPr lang="en-US" altLang="zh-CN" b="0" i="1" smtClean="0">
                              <a:latin typeface="Cambria Math" panose="02040503050406030204" pitchFamily="18" charset="0"/>
                              <a:ea typeface="Microsoft YaHei" charset="0"/>
                            </a:rPr>
                            <m:t>=1</m:t>
                          </m:r>
                        </m:sub>
                        <m:sup>
                          <m:r>
                            <a:rPr lang="en-US" altLang="zh-CN" b="0" i="1" smtClean="0">
                              <a:latin typeface="Cambria Math" panose="02040503050406030204" pitchFamily="18" charset="0"/>
                              <a:ea typeface="Microsoft YaHei" charset="0"/>
                            </a:rPr>
                            <m:t>𝑛</m:t>
                          </m:r>
                        </m:sup>
                        <m:e>
                          <m:d>
                            <m:dPr>
                              <m:begChr m:val="["/>
                              <m:endChr m:val="]"/>
                              <m:ctrlPr>
                                <a:rPr lang="en-US" altLang="zh-CN" b="0" i="1" smtClean="0">
                                  <a:latin typeface="Cambria Math" panose="02040503050406030204" pitchFamily="18" charset="0"/>
                                  <a:ea typeface="Microsoft YaHei" charset="0"/>
                                </a:rPr>
                              </m:ctrlPr>
                            </m:d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𝑔</m:t>
                                  </m:r>
                                </m:e>
                                <m:sub>
                                  <m:r>
                                    <a:rPr lang="en-US" altLang="zh-CN" i="1">
                                      <a:latin typeface="Cambria Math" panose="02040503050406030204" pitchFamily="18" charset="0"/>
                                      <a:ea typeface="Microsoft YaHei" charset="0"/>
                                    </a:rPr>
                                    <m:t>𝑖</m:t>
                                  </m:r>
                                </m:sub>
                              </m:sSub>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𝑞</m:t>
                                  </m:r>
                                  <m:r>
                                    <a:rPr lang="en-US" altLang="zh-CN" b="0" i="1" smtClean="0">
                                      <a:latin typeface="Cambria Math" panose="02040503050406030204" pitchFamily="18" charset="0"/>
                                      <a:ea typeface="Microsoft YaHei" charset="0"/>
                                    </a:rPr>
                                    <m:t>(</m:t>
                                  </m:r>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𝑥</m:t>
                                      </m:r>
                                    </m:e>
                                    <m:sub>
                                      <m:r>
                                        <a:rPr lang="en-US" altLang="zh-CN" b="0" i="1" smtClean="0">
                                          <a:latin typeface="Cambria Math" panose="02040503050406030204" pitchFamily="18" charset="0"/>
                                          <a:ea typeface="Microsoft YaHei" charset="0"/>
                                        </a:rPr>
                                        <m:t>𝑖</m:t>
                                      </m:r>
                                    </m:sub>
                                  </m:sSub>
                                  <m:r>
                                    <a:rPr lang="en-US" altLang="zh-CN" b="0" i="1" smtClean="0">
                                      <a:latin typeface="Cambria Math" panose="02040503050406030204" pitchFamily="18" charset="0"/>
                                      <a:ea typeface="Microsoft YaHei" charset="0"/>
                                    </a:rPr>
                                    <m:t>)</m:t>
                                  </m:r>
                                </m:sub>
                              </m:sSub>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en-US" altLang="zh-CN" b="0" i="1" smtClean="0">
                                      <a:latin typeface="Cambria Math" panose="02040503050406030204" pitchFamily="18" charset="0"/>
                                      <a:ea typeface="Microsoft YaHei" charset="0"/>
                                    </a:rPr>
                                    <m:t>1</m:t>
                                  </m:r>
                                </m:num>
                                <m:den>
                                  <m:r>
                                    <a:rPr lang="en-US" altLang="zh-CN" b="0" i="1" smtClean="0">
                                      <a:latin typeface="Cambria Math" panose="02040503050406030204" pitchFamily="18" charset="0"/>
                                      <a:ea typeface="Microsoft YaHei" charset="0"/>
                                    </a:rPr>
                                    <m:t>2</m:t>
                                  </m:r>
                                </m:den>
                              </m:f>
                              <m:sSub>
                                <m:sSubPr>
                                  <m:ctrlPr>
                                    <a:rPr lang="en-US" altLang="zh-CN" b="0"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h</m:t>
                                  </m:r>
                                </m:e>
                                <m:sub>
                                  <m:r>
                                    <a:rPr lang="en-US" altLang="zh-CN" b="0" i="1" smtClean="0">
                                      <a:latin typeface="Cambria Math" panose="02040503050406030204" pitchFamily="18" charset="0"/>
                                      <a:ea typeface="Microsoft YaHei" charset="0"/>
                                    </a:rPr>
                                    <m:t>𝑖</m:t>
                                  </m:r>
                                </m:sub>
                              </m:sSub>
                              <m:sSup>
                                <m:sSupPr>
                                  <m:ctrlPr>
                                    <a:rPr lang="en-US" altLang="zh-CN" b="0" i="1" smtClean="0">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𝑤</m:t>
                                      </m:r>
                                    </m:e>
                                    <m:sub>
                                      <m:r>
                                        <a:rPr lang="en-US" altLang="zh-CN" i="1">
                                          <a:latin typeface="Cambria Math" panose="02040503050406030204" pitchFamily="18" charset="0"/>
                                          <a:ea typeface="Microsoft YaHei" charset="0"/>
                                        </a:rPr>
                                        <m:t>𝑞</m:t>
                                      </m:r>
                                      <m:r>
                                        <a:rPr lang="en-US" altLang="zh-CN" i="1">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𝑥</m:t>
                                          </m:r>
                                        </m:e>
                                        <m:sub>
                                          <m:r>
                                            <a:rPr lang="en-US" altLang="zh-CN" i="1">
                                              <a:latin typeface="Cambria Math" panose="02040503050406030204" pitchFamily="18" charset="0"/>
                                              <a:ea typeface="Microsoft YaHei" charset="0"/>
                                            </a:rPr>
                                            <m:t>𝑖</m:t>
                                          </m:r>
                                        </m:sub>
                                      </m:sSub>
                                      <m:r>
                                        <a:rPr lang="en-US" altLang="zh-CN" i="1">
                                          <a:latin typeface="Cambria Math" panose="02040503050406030204" pitchFamily="18" charset="0"/>
                                          <a:ea typeface="Microsoft YaHei" charset="0"/>
                                        </a:rPr>
                                        <m:t>)</m:t>
                                      </m:r>
                                    </m:sub>
                                  </m:sSub>
                                </m:e>
                                <m:sup>
                                  <m:r>
                                    <a:rPr lang="en-US" altLang="zh-CN" b="0" i="1" smtClean="0">
                                      <a:latin typeface="Cambria Math" panose="02040503050406030204" pitchFamily="18" charset="0"/>
                                      <a:ea typeface="Microsoft YaHei" charset="0"/>
                                    </a:rPr>
                                    <m:t>2</m:t>
                                  </m:r>
                                </m:sup>
                              </m:sSup>
                            </m:e>
                          </m:d>
                          <m:r>
                            <a:rPr lang="en-US" altLang="zh-CN" b="0" i="1" smtClean="0">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r>
                            <a:rPr lang="en-US" altLang="zh-CN" i="1">
                              <a:latin typeface="Cambria Math" panose="02040503050406030204" pitchFamily="18" charset="0"/>
                              <a:ea typeface="Cambria Math" panose="02040503050406030204" pitchFamily="18" charset="0"/>
                            </a:rPr>
                            <m:t>𝑇</m:t>
                          </m:r>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r>
                                <a:rPr lang="en-US" altLang="zh-CN" i="1">
                                  <a:latin typeface="Cambria Math" panose="02040503050406030204" pitchFamily="18" charset="0"/>
                                  <a:ea typeface="Cambria Math" panose="02040503050406030204" pitchFamily="18" charset="0"/>
                                </a:rPr>
                                <m:t>2</m:t>
                              </m:r>
                            </m:den>
                          </m:f>
                          <m:r>
                            <a:rPr lang="zh-CN" altLang="en-US" i="1">
                              <a:latin typeface="Cambria Math" panose="02040503050406030204" pitchFamily="18" charset="0"/>
                              <a:ea typeface="Cambria Math" panose="02040503050406030204" pitchFamily="18" charset="0"/>
                            </a:rPr>
                            <m:t>𝜆</m:t>
                          </m:r>
                          <m:nary>
                            <m:naryPr>
                              <m:chr m:val="∑"/>
                              <m:ctrlPr>
                                <a:rPr lang="zh-CN" altLang="en-US" i="1">
                                  <a:latin typeface="Cambria Math" panose="02040503050406030204" pitchFamily="18" charset="0"/>
                                  <a:ea typeface="Cambria Math" panose="02040503050406030204" pitchFamily="18" charset="0"/>
                                </a:rPr>
                              </m:ctrlPr>
                            </m:naryPr>
                            <m:sub>
                              <m:r>
                                <m:rPr>
                                  <m:brk m:alnAt="23"/>
                                </m:rP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𝑇</m:t>
                              </m:r>
                            </m:sup>
                            <m:e>
                              <m:sSup>
                                <m:sSupPr>
                                  <m:ctrlPr>
                                    <a:rPr lang="en-US" altLang="zh-CN" i="1">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𝑤</m:t>
                                      </m:r>
                                    </m:e>
                                    <m:sub>
                                      <m:r>
                                        <a:rPr lang="en-US" altLang="zh-CN" i="1">
                                          <a:latin typeface="Cambria Math" panose="02040503050406030204" pitchFamily="18" charset="0"/>
                                          <a:ea typeface="Cambria Math" panose="02040503050406030204" pitchFamily="18" charset="0"/>
                                        </a:rPr>
                                        <m:t>𝑗</m:t>
                                      </m:r>
                                    </m:sub>
                                  </m:sSub>
                                </m:e>
                                <m:sup>
                                  <m:r>
                                    <a:rPr lang="en-US" altLang="zh-CN" i="1">
                                      <a:latin typeface="Cambria Math" panose="02040503050406030204" pitchFamily="18" charset="0"/>
                                      <a:ea typeface="Cambria Math" panose="02040503050406030204" pitchFamily="18" charset="0"/>
                                    </a:rPr>
                                    <m:t>2</m:t>
                                  </m:r>
                                </m:sup>
                              </m:sSup>
                            </m:e>
                          </m:nary>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e>
                      </m:nary>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494834" y="3311108"/>
                <a:ext cx="6977423" cy="1038489"/>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1494834" y="4566109"/>
                <a:ext cx="6510308" cy="936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m:t>
                      </m:r>
                      <m:nary>
                        <m:naryPr>
                          <m:chr m:val="∑"/>
                          <m:ctrlPr>
                            <a:rPr lang="en-US" altLang="zh-CN" sz="2000" b="0" i="1" smtClean="0">
                              <a:latin typeface="Cambria Math" panose="02040503050406030204" pitchFamily="18" charset="0"/>
                              <a:ea typeface="Microsoft YaHei" charset="0"/>
                            </a:rPr>
                          </m:ctrlPr>
                        </m:naryPr>
                        <m:sub>
                          <m:r>
                            <m:rPr>
                              <m:brk m:alnAt="23"/>
                            </m:rPr>
                            <a:rPr lang="en-US" altLang="zh-CN" sz="2000" b="0" i="1" smtClean="0">
                              <a:latin typeface="Cambria Math" panose="02040503050406030204" pitchFamily="18" charset="0"/>
                              <a:ea typeface="Microsoft YaHei" charset="0"/>
                            </a:rPr>
                            <m:t>𝑗</m:t>
                          </m:r>
                          <m:r>
                            <a:rPr lang="en-US" altLang="zh-CN" sz="2000" b="0" i="1" smtClean="0">
                              <a:latin typeface="Cambria Math" panose="02040503050406030204" pitchFamily="18" charset="0"/>
                              <a:ea typeface="Microsoft YaHei" charset="0"/>
                            </a:rPr>
                            <m:t>=1</m:t>
                          </m:r>
                        </m:sub>
                        <m:sup>
                          <m:r>
                            <a:rPr lang="en-US" altLang="zh-CN" sz="2000" b="0" i="1" smtClean="0">
                              <a:latin typeface="Cambria Math" panose="02040503050406030204" pitchFamily="18" charset="0"/>
                              <a:ea typeface="Microsoft YaHei" charset="0"/>
                            </a:rPr>
                            <m:t>𝑇</m:t>
                          </m:r>
                        </m:sup>
                        <m:e>
                          <m:d>
                            <m:dPr>
                              <m:begChr m:val="["/>
                              <m:endChr m:val="]"/>
                              <m:ctrlPr>
                                <a:rPr lang="en-US" altLang="zh-CN" sz="2000" b="0" i="1" smtClean="0">
                                  <a:latin typeface="Cambria Math" panose="02040503050406030204" pitchFamily="18" charset="0"/>
                                  <a:ea typeface="Microsoft YaHei" charset="0"/>
                                </a:rPr>
                              </m:ctrlPr>
                            </m:dPr>
                            <m:e>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𝑔</m:t>
                                          </m:r>
                                        </m:e>
                                        <m:sub>
                                          <m:r>
                                            <a:rPr lang="en-US" altLang="zh-CN" sz="2000" i="1">
                                              <a:latin typeface="Cambria Math" panose="02040503050406030204" pitchFamily="18" charset="0"/>
                                              <a:ea typeface="Microsoft YaHei" charset="0"/>
                                            </a:rPr>
                                            <m:t>𝑖</m:t>
                                          </m:r>
                                        </m:sub>
                                      </m:sSub>
                                    </m:e>
                                  </m:nary>
                                </m:e>
                              </m:d>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𝑤</m:t>
                                  </m:r>
                                </m:e>
                                <m:sub>
                                  <m:r>
                                    <a:rPr lang="en-US" altLang="zh-CN" sz="2000" i="1">
                                      <a:latin typeface="Cambria Math" panose="02040503050406030204" pitchFamily="18" charset="0"/>
                                      <a:ea typeface="Microsoft YaHei" charset="0"/>
                                    </a:rPr>
                                    <m:t>𝑗</m:t>
                                  </m:r>
                                </m:sub>
                              </m:sSub>
                              <m:r>
                                <a:rPr lang="en-US" altLang="zh-CN" sz="2000" b="0" i="1" smtClean="0">
                                  <a:latin typeface="Cambria Math" panose="02040503050406030204" pitchFamily="18" charset="0"/>
                                  <a:ea typeface="Microsoft YaHei" charset="0"/>
                                </a:rPr>
                                <m:t>+</m:t>
                              </m:r>
                              <m:f>
                                <m:fPr>
                                  <m:ctrlPr>
                                    <a:rPr lang="en-US" altLang="zh-CN" sz="2000" b="0" i="1" smtClean="0">
                                      <a:latin typeface="Cambria Math" panose="02040503050406030204" pitchFamily="18" charset="0"/>
                                      <a:ea typeface="Microsoft YaHei" charset="0"/>
                                    </a:rPr>
                                  </m:ctrlPr>
                                </m:fPr>
                                <m:num>
                                  <m:r>
                                    <a:rPr lang="en-US" altLang="zh-CN" sz="2000" b="0" i="1" smtClean="0">
                                      <a:latin typeface="Cambria Math" panose="02040503050406030204" pitchFamily="18" charset="0"/>
                                      <a:ea typeface="Microsoft YaHei" charset="0"/>
                                    </a:rPr>
                                    <m:t>1</m:t>
                                  </m:r>
                                </m:num>
                                <m:den>
                                  <m:r>
                                    <a:rPr lang="en-US" altLang="zh-CN" sz="2000" b="0" i="1" smtClean="0">
                                      <a:latin typeface="Cambria Math" panose="02040503050406030204" pitchFamily="18" charset="0"/>
                                      <a:ea typeface="Microsoft YaHei" charset="0"/>
                                    </a:rPr>
                                    <m:t>2</m:t>
                                  </m:r>
                                </m:den>
                              </m:f>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h</m:t>
                                          </m:r>
                                        </m:e>
                                        <m:sub>
                                          <m:r>
                                            <a:rPr lang="en-US" altLang="zh-CN" sz="2000" i="1">
                                              <a:latin typeface="Cambria Math" panose="02040503050406030204" pitchFamily="18" charset="0"/>
                                              <a:ea typeface="Microsoft YaHei" charset="0"/>
                                            </a:rPr>
                                            <m:t>𝑖</m:t>
                                          </m:r>
                                        </m:sub>
                                      </m:sSub>
                                    </m:e>
                                  </m:nary>
                                </m:e>
                              </m:d>
                              <m:sSup>
                                <m:sSupPr>
                                  <m:ctrlPr>
                                    <a:rPr lang="en-US" altLang="zh-CN" sz="2000" i="1" smtClean="0">
                                      <a:latin typeface="Cambria Math" panose="02040503050406030204" pitchFamily="18" charset="0"/>
                                      <a:ea typeface="Microsoft YaHei" charset="0"/>
                                    </a:rPr>
                                  </m:ctrlPr>
                                </m:sSupPr>
                                <m:e>
                                  <m:sSub>
                                    <m:sSubPr>
                                      <m:ctrlPr>
                                        <a:rPr lang="en-US" altLang="zh-CN" sz="2000" i="1" smtClean="0">
                                          <a:latin typeface="Cambria Math" panose="02040503050406030204" pitchFamily="18" charset="0"/>
                                          <a:ea typeface="Microsoft YaHei" charset="0"/>
                                        </a:rPr>
                                      </m:ctrlPr>
                                    </m:sSubPr>
                                    <m:e>
                                      <m:r>
                                        <a:rPr lang="en-US" altLang="zh-CN" sz="2000" b="0" i="1" smtClean="0">
                                          <a:latin typeface="Cambria Math" panose="02040503050406030204" pitchFamily="18" charset="0"/>
                                          <a:ea typeface="Microsoft YaHei" charset="0"/>
                                        </a:rPr>
                                        <m:t>𝑤</m:t>
                                      </m:r>
                                    </m:e>
                                    <m:sub>
                                      <m:r>
                                        <a:rPr lang="en-US" altLang="zh-CN" sz="2000" b="0" i="1" smtClean="0">
                                          <a:latin typeface="Cambria Math" panose="02040503050406030204" pitchFamily="18" charset="0"/>
                                          <a:ea typeface="Microsoft YaHei" charset="0"/>
                                        </a:rPr>
                                        <m:t>𝑗</m:t>
                                      </m:r>
                                    </m:sub>
                                  </m:sSub>
                                </m:e>
                                <m:sup>
                                  <m:r>
                                    <a:rPr lang="en-US" altLang="zh-CN" sz="2000" b="0" i="1" smtClean="0">
                                      <a:latin typeface="Cambria Math" panose="02040503050406030204" pitchFamily="18" charset="0"/>
                                      <a:ea typeface="Microsoft YaHei" charset="0"/>
                                    </a:rPr>
                                    <m:t>2</m:t>
                                  </m:r>
                                </m:sup>
                              </m:sSup>
                            </m:e>
                          </m:d>
                          <m:r>
                            <a:rPr lang="en-US" altLang="zh-CN" sz="2000" i="1">
                              <a:latin typeface="Cambria Math" panose="02040503050406030204" pitchFamily="18" charset="0"/>
                              <a:ea typeface="Microsoft YaHei" charset="0"/>
                            </a:rPr>
                            <m:t>+</m:t>
                          </m:r>
                          <m:r>
                            <a:rPr lang="zh-CN" altLang="en-US" sz="2000" i="1">
                              <a:latin typeface="Cambria Math" panose="02040503050406030204" pitchFamily="18" charset="0"/>
                              <a:ea typeface="Cambria Math" panose="02040503050406030204" pitchFamily="18" charset="0"/>
                            </a:rPr>
                            <m:t>𝛾</m:t>
                          </m:r>
                          <m:r>
                            <a:rPr lang="en-US" altLang="zh-CN" sz="2000" i="1">
                              <a:latin typeface="Cambria Math" panose="02040503050406030204" pitchFamily="18" charset="0"/>
                              <a:ea typeface="Cambria Math" panose="02040503050406030204" pitchFamily="18" charset="0"/>
                            </a:rPr>
                            <m:t>𝑇</m:t>
                          </m:r>
                          <m:r>
                            <a:rPr lang="en-US" altLang="zh-CN" sz="2000" i="1">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r>
                                <a:rPr lang="en-US" altLang="zh-CN" sz="2000" i="1">
                                  <a:latin typeface="Cambria Math" panose="02040503050406030204" pitchFamily="18" charset="0"/>
                                  <a:ea typeface="Cambria Math" panose="02040503050406030204" pitchFamily="18" charset="0"/>
                                </a:rPr>
                                <m:t>2</m:t>
                              </m:r>
                            </m:den>
                          </m:f>
                          <m:r>
                            <a:rPr lang="zh-CN" altLang="en-US" sz="2000" i="1">
                              <a:latin typeface="Cambria Math" panose="02040503050406030204" pitchFamily="18" charset="0"/>
                              <a:ea typeface="Cambria Math" panose="02040503050406030204" pitchFamily="18" charset="0"/>
                            </a:rPr>
                            <m:t>𝜆</m:t>
                          </m:r>
                          <m:nary>
                            <m:naryPr>
                              <m:chr m:val="∑"/>
                              <m:ctrlPr>
                                <a:rPr lang="zh-CN" altLang="en-US" sz="2000" i="1">
                                  <a:latin typeface="Cambria Math" panose="02040503050406030204" pitchFamily="18" charset="0"/>
                                  <a:ea typeface="Cambria Math" panose="02040503050406030204" pitchFamily="18" charset="0"/>
                                </a:rPr>
                              </m:ctrlPr>
                            </m:naryPr>
                            <m:sub>
                              <m:r>
                                <m:rPr>
                                  <m:brk m:alnAt="23"/>
                                </m:rPr>
                                <a:rPr lang="en-US" altLang="zh-CN" sz="2000" i="1">
                                  <a:latin typeface="Cambria Math" panose="02040503050406030204" pitchFamily="18" charset="0"/>
                                  <a:ea typeface="Cambria Math" panose="02040503050406030204" pitchFamily="18" charset="0"/>
                                </a:rPr>
                                <m:t>𝑖</m:t>
                              </m:r>
                              <m:r>
                                <a:rPr lang="en-US" altLang="zh-CN" sz="2000" i="1">
                                  <a:latin typeface="Cambria Math" panose="02040503050406030204" pitchFamily="18" charset="0"/>
                                  <a:ea typeface="Cambria Math" panose="02040503050406030204" pitchFamily="18" charset="0"/>
                                </a:rPr>
                                <m:t>=1</m:t>
                              </m:r>
                            </m:sub>
                            <m:sup>
                              <m:r>
                                <a:rPr lang="en-US" altLang="zh-CN" sz="2000" i="1">
                                  <a:latin typeface="Cambria Math" panose="02040503050406030204" pitchFamily="18" charset="0"/>
                                  <a:ea typeface="Cambria Math" panose="02040503050406030204" pitchFamily="18" charset="0"/>
                                </a:rPr>
                                <m:t>𝑇</m:t>
                              </m:r>
                            </m:sup>
                            <m:e>
                              <m:sSup>
                                <m:sSupPr>
                                  <m:ctrlPr>
                                    <a:rPr lang="en-US" altLang="zh-CN" sz="2000" i="1">
                                      <a:latin typeface="Cambria Math" panose="02040503050406030204" pitchFamily="18" charset="0"/>
                                      <a:ea typeface="Cambria Math" panose="02040503050406030204" pitchFamily="18" charset="0"/>
                                    </a:rPr>
                                  </m:ctrlPr>
                                </m:sSupPr>
                                <m:e>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𝑤</m:t>
                                      </m:r>
                                    </m:e>
                                    <m:sub>
                                      <m:r>
                                        <a:rPr lang="en-US" altLang="zh-CN" sz="2000" i="1">
                                          <a:latin typeface="Cambria Math" panose="02040503050406030204" pitchFamily="18" charset="0"/>
                                          <a:ea typeface="Cambria Math" panose="02040503050406030204" pitchFamily="18" charset="0"/>
                                        </a:rPr>
                                        <m:t>𝑗</m:t>
                                      </m:r>
                                    </m:sub>
                                  </m:sSub>
                                </m:e>
                                <m:sup>
                                  <m:r>
                                    <a:rPr lang="en-US" altLang="zh-CN" sz="2000" i="1">
                                      <a:latin typeface="Cambria Math" panose="02040503050406030204" pitchFamily="18" charset="0"/>
                                      <a:ea typeface="Cambria Math" panose="02040503050406030204" pitchFamily="18" charset="0"/>
                                    </a:rPr>
                                    <m:t>2</m:t>
                                  </m:r>
                                </m:sup>
                              </m:sSup>
                            </m:e>
                          </m:nary>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𝐶</m:t>
                          </m:r>
                        </m:e>
                      </m:nary>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1494834" y="4566109"/>
                <a:ext cx="6510308" cy="936410"/>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483614" y="5531325"/>
                <a:ext cx="5574347" cy="9364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Microsoft YaHei" charset="0"/>
                        </a:rPr>
                        <m:t>=</m:t>
                      </m:r>
                      <m:nary>
                        <m:naryPr>
                          <m:chr m:val="∑"/>
                          <m:ctrlPr>
                            <a:rPr lang="en-US" altLang="zh-CN" sz="2000" i="1">
                              <a:latin typeface="Cambria Math" panose="02040503050406030204" pitchFamily="18" charset="0"/>
                              <a:ea typeface="Microsoft YaHei" charset="0"/>
                            </a:rPr>
                          </m:ctrlPr>
                        </m:naryPr>
                        <m:sub>
                          <m:r>
                            <m:rPr>
                              <m:brk m:alnAt="23"/>
                            </m:rPr>
                            <a:rPr lang="en-US" altLang="zh-CN" sz="2000" i="1">
                              <a:latin typeface="Cambria Math" panose="02040503050406030204" pitchFamily="18" charset="0"/>
                              <a:ea typeface="Microsoft YaHei" charset="0"/>
                            </a:rPr>
                            <m:t>𝑗</m:t>
                          </m:r>
                          <m:r>
                            <a:rPr lang="en-US" altLang="zh-CN" sz="2000" i="1">
                              <a:latin typeface="Cambria Math" panose="02040503050406030204" pitchFamily="18" charset="0"/>
                              <a:ea typeface="Microsoft YaHei" charset="0"/>
                            </a:rPr>
                            <m:t>=1</m:t>
                          </m:r>
                        </m:sub>
                        <m:sup>
                          <m:r>
                            <a:rPr lang="en-US" altLang="zh-CN" sz="2000" i="1">
                              <a:latin typeface="Cambria Math" panose="02040503050406030204" pitchFamily="18" charset="0"/>
                              <a:ea typeface="Microsoft YaHei" charset="0"/>
                            </a:rPr>
                            <m:t>𝑇</m:t>
                          </m:r>
                        </m:sup>
                        <m:e>
                          <m:d>
                            <m:dPr>
                              <m:begChr m:val="["/>
                              <m:endChr m:val="]"/>
                              <m:ctrlPr>
                                <a:rPr lang="en-US" altLang="zh-CN" sz="2000" i="1">
                                  <a:latin typeface="Cambria Math" panose="02040503050406030204" pitchFamily="18" charset="0"/>
                                  <a:ea typeface="Microsoft YaHei" charset="0"/>
                                </a:rPr>
                              </m:ctrlPr>
                            </m:dPr>
                            <m:e>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𝑔</m:t>
                                          </m:r>
                                        </m:e>
                                        <m:sub>
                                          <m:r>
                                            <a:rPr lang="en-US" altLang="zh-CN" sz="2000" i="1">
                                              <a:latin typeface="Cambria Math" panose="02040503050406030204" pitchFamily="18" charset="0"/>
                                              <a:ea typeface="Microsoft YaHei" charset="0"/>
                                            </a:rPr>
                                            <m:t>𝑖</m:t>
                                          </m:r>
                                        </m:sub>
                                      </m:sSub>
                                    </m:e>
                                  </m:nary>
                                </m:e>
                              </m:d>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𝑤</m:t>
                                  </m:r>
                                </m:e>
                                <m:sub>
                                  <m:r>
                                    <a:rPr lang="en-US" altLang="zh-CN" sz="2000" i="1">
                                      <a:latin typeface="Cambria Math" panose="02040503050406030204" pitchFamily="18" charset="0"/>
                                      <a:ea typeface="Microsoft YaHei" charset="0"/>
                                    </a:rPr>
                                    <m:t>𝑗</m:t>
                                  </m:r>
                                </m:sub>
                              </m:sSub>
                              <m:r>
                                <a:rPr lang="en-US" altLang="zh-CN" sz="2000" i="1">
                                  <a:latin typeface="Cambria Math" panose="02040503050406030204" pitchFamily="18" charset="0"/>
                                  <a:ea typeface="Microsoft YaHei" charset="0"/>
                                </a:rPr>
                                <m:t>+</m:t>
                              </m:r>
                              <m:f>
                                <m:fPr>
                                  <m:ctrlPr>
                                    <a:rPr lang="en-US" altLang="zh-CN" sz="2000" i="1">
                                      <a:latin typeface="Cambria Math" panose="02040503050406030204" pitchFamily="18" charset="0"/>
                                      <a:ea typeface="Microsoft YaHei" charset="0"/>
                                    </a:rPr>
                                  </m:ctrlPr>
                                </m:fPr>
                                <m:num>
                                  <m:r>
                                    <a:rPr lang="en-US" altLang="zh-CN" sz="2000" i="1">
                                      <a:latin typeface="Cambria Math" panose="02040503050406030204" pitchFamily="18" charset="0"/>
                                      <a:ea typeface="Microsoft YaHei" charset="0"/>
                                    </a:rPr>
                                    <m:t>1</m:t>
                                  </m:r>
                                </m:num>
                                <m:den>
                                  <m:r>
                                    <a:rPr lang="en-US" altLang="zh-CN" sz="2000" i="1">
                                      <a:latin typeface="Cambria Math" panose="02040503050406030204" pitchFamily="18" charset="0"/>
                                      <a:ea typeface="Microsoft YaHei" charset="0"/>
                                    </a:rPr>
                                    <m:t>2</m:t>
                                  </m:r>
                                </m:den>
                              </m:f>
                              <m:d>
                                <m:dPr>
                                  <m:ctrlPr>
                                    <a:rPr lang="en-US" altLang="zh-CN" sz="2000" i="1">
                                      <a:latin typeface="Cambria Math" panose="02040503050406030204" pitchFamily="18" charset="0"/>
                                      <a:ea typeface="Microsoft YaHei" charset="0"/>
                                    </a:rPr>
                                  </m:ctrlPr>
                                </m:dPr>
                                <m:e>
                                  <m:nary>
                                    <m:naryPr>
                                      <m:chr m:val="∑"/>
                                      <m:supHide m:val="on"/>
                                      <m:ctrlPr>
                                        <a:rPr lang="en-US" altLang="zh-CN" sz="2000" i="1">
                                          <a:latin typeface="Cambria Math" panose="02040503050406030204" pitchFamily="18" charset="0"/>
                                          <a:ea typeface="Microsoft YaHei" charset="0"/>
                                        </a:rPr>
                                      </m:ctrlPr>
                                    </m:naryPr>
                                    <m:sub>
                                      <m:r>
                                        <m:rPr>
                                          <m:brk m:alnAt="7"/>
                                        </m:rPr>
                                        <a:rPr lang="en-US" altLang="zh-CN" sz="2000" i="1">
                                          <a:latin typeface="Cambria Math" panose="02040503050406030204" pitchFamily="18" charset="0"/>
                                          <a:ea typeface="Microsoft YaHei" charset="0"/>
                                        </a:rPr>
                                        <m:t>𝑖</m:t>
                                      </m:r>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𝐼</m:t>
                                          </m:r>
                                        </m:e>
                                        <m:sub>
                                          <m:r>
                                            <a:rPr lang="en-US" altLang="zh-CN" sz="2000" i="1">
                                              <a:latin typeface="Cambria Math" panose="02040503050406030204" pitchFamily="18" charset="0"/>
                                              <a:ea typeface="Cambria Math" panose="02040503050406030204" pitchFamily="18" charset="0"/>
                                            </a:rPr>
                                            <m:t>𝑗</m:t>
                                          </m:r>
                                        </m:sub>
                                      </m:sSub>
                                    </m:sub>
                                    <m:sup/>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h</m:t>
                                          </m:r>
                                        </m:e>
                                        <m:sub>
                                          <m:r>
                                            <a:rPr lang="en-US" altLang="zh-CN" sz="2000" i="1">
                                              <a:latin typeface="Cambria Math" panose="02040503050406030204" pitchFamily="18" charset="0"/>
                                              <a:ea typeface="Microsoft YaHei" charset="0"/>
                                            </a:rPr>
                                            <m:t>𝑖</m:t>
                                          </m:r>
                                        </m:sub>
                                      </m:sSub>
                                    </m:e>
                                  </m:nary>
                                  <m:r>
                                    <a:rPr lang="en-US" altLang="zh-CN" sz="2000" b="0" i="1" smtClean="0">
                                      <a:latin typeface="Cambria Math" panose="02040503050406030204" pitchFamily="18" charset="0"/>
                                      <a:ea typeface="Microsoft YaHei" charset="0"/>
                                    </a:rPr>
                                    <m:t>+</m:t>
                                  </m:r>
                                  <m:r>
                                    <a:rPr lang="zh-CN" altLang="en-US" sz="2000" i="1">
                                      <a:latin typeface="Cambria Math" panose="02040503050406030204" pitchFamily="18" charset="0"/>
                                      <a:ea typeface="Cambria Math" panose="02040503050406030204" pitchFamily="18" charset="0"/>
                                    </a:rPr>
                                    <m:t>𝜆</m:t>
                                  </m:r>
                                </m:e>
                              </m:d>
                              <m:sSup>
                                <m:sSupPr>
                                  <m:ctrlPr>
                                    <a:rPr lang="en-US" altLang="zh-CN" sz="2000" i="1">
                                      <a:latin typeface="Cambria Math" panose="02040503050406030204" pitchFamily="18" charset="0"/>
                                      <a:ea typeface="Microsoft YaHei" charset="0"/>
                                    </a:rPr>
                                  </m:ctrlPr>
                                </m:sSupPr>
                                <m:e>
                                  <m:sSub>
                                    <m:sSubPr>
                                      <m:ctrlPr>
                                        <a:rPr lang="en-US" altLang="zh-CN" sz="2000" i="1">
                                          <a:latin typeface="Cambria Math" panose="02040503050406030204" pitchFamily="18" charset="0"/>
                                          <a:ea typeface="Microsoft YaHei" charset="0"/>
                                        </a:rPr>
                                      </m:ctrlPr>
                                    </m:sSubPr>
                                    <m:e>
                                      <m:r>
                                        <a:rPr lang="en-US" altLang="zh-CN" sz="2000" i="1">
                                          <a:latin typeface="Cambria Math" panose="02040503050406030204" pitchFamily="18" charset="0"/>
                                          <a:ea typeface="Microsoft YaHei" charset="0"/>
                                        </a:rPr>
                                        <m:t>𝑤</m:t>
                                      </m:r>
                                    </m:e>
                                    <m:sub>
                                      <m:r>
                                        <a:rPr lang="en-US" altLang="zh-CN" sz="2000" i="1">
                                          <a:latin typeface="Cambria Math" panose="02040503050406030204" pitchFamily="18" charset="0"/>
                                          <a:ea typeface="Microsoft YaHei" charset="0"/>
                                        </a:rPr>
                                        <m:t>𝑗</m:t>
                                      </m:r>
                                    </m:sub>
                                  </m:sSub>
                                </m:e>
                                <m:sup>
                                  <m:r>
                                    <a:rPr lang="en-US" altLang="zh-CN" sz="2000" i="1">
                                      <a:latin typeface="Cambria Math" panose="02040503050406030204" pitchFamily="18" charset="0"/>
                                      <a:ea typeface="Microsoft YaHei" charset="0"/>
                                    </a:rPr>
                                    <m:t>2</m:t>
                                  </m:r>
                                </m:sup>
                              </m:sSup>
                            </m:e>
                          </m:d>
                          <m:r>
                            <a:rPr lang="en-US" altLang="zh-CN" sz="2000" i="1">
                              <a:latin typeface="Cambria Math" panose="02040503050406030204" pitchFamily="18" charset="0"/>
                              <a:ea typeface="Microsoft YaHei" charset="0"/>
                            </a:rPr>
                            <m:t>+</m:t>
                          </m:r>
                          <m:r>
                            <a:rPr lang="zh-CN" altLang="en-US" sz="2000" i="1">
                              <a:latin typeface="Cambria Math" panose="02040503050406030204" pitchFamily="18" charset="0"/>
                              <a:ea typeface="Cambria Math" panose="02040503050406030204" pitchFamily="18" charset="0"/>
                            </a:rPr>
                            <m:t>𝛾</m:t>
                          </m:r>
                          <m:r>
                            <a:rPr lang="en-US" altLang="zh-CN" sz="2000" i="1">
                              <a:latin typeface="Cambria Math" panose="02040503050406030204" pitchFamily="18" charset="0"/>
                              <a:ea typeface="Cambria Math" panose="02040503050406030204" pitchFamily="18" charset="0"/>
                            </a:rPr>
                            <m:t>𝑇</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𝐶</m:t>
                          </m:r>
                        </m:e>
                      </m:nary>
                    </m:oMath>
                  </m:oMathPara>
                </a14:m>
                <a:endParaRPr lang="zh-CN" altLang="en-US" sz="2000" dirty="0">
                  <a:latin typeface="KaiTi" panose="02010609060101010101" pitchFamily="49" charset="-122"/>
                  <a:ea typeface="KaiTi" panose="02010609060101010101" pitchFamily="49"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483614" y="5531325"/>
                <a:ext cx="5574347" cy="936410"/>
              </a:xfrm>
              <a:prstGeom prst="rect">
                <a:avLst/>
              </a:prstGeom>
              <a:blipFill>
                <a:blip r:embed="rId7"/>
                <a:stretch>
                  <a:fillRect/>
                </a:stretch>
              </a:blipFill>
            </p:spPr>
            <p:txBody>
              <a:bodyPr/>
              <a:lstStyle/>
              <a:p>
                <a:r>
                  <a:rPr lang="ko-KR" altLang="en-US">
                    <a:noFill/>
                  </a:rPr>
                  <a:t> </a:t>
                </a:r>
              </a:p>
            </p:txBody>
          </p:sp>
        </mc:Fallback>
      </mc:AlternateContent>
      <p:sp>
        <p:nvSpPr>
          <p:cNvPr id="10" name="圆角矩形 9"/>
          <p:cNvSpPr/>
          <p:nvPr/>
        </p:nvSpPr>
        <p:spPr>
          <a:xfrm>
            <a:off x="8641385" y="3762982"/>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latin typeface="KaiTi" panose="02010609060101010101" pitchFamily="49" charset="-122"/>
                <a:ea typeface="KaiTi" panose="02010609060101010101" pitchFamily="49" charset="-122"/>
              </a:rPr>
              <a:t>1,2,3</a:t>
            </a:r>
            <a:endParaRPr lang="zh-CN" altLang="en-US" sz="2000" dirty="0">
              <a:latin typeface="KaiTi" panose="02010609060101010101" pitchFamily="49" charset="-122"/>
              <a:ea typeface="KaiTi" panose="02010609060101010101" pitchFamily="49" charset="-122"/>
            </a:endParaRPr>
          </a:p>
        </p:txBody>
      </p:sp>
      <p:sp>
        <p:nvSpPr>
          <p:cNvPr id="11" name="圆角矩形 10"/>
          <p:cNvSpPr/>
          <p:nvPr/>
        </p:nvSpPr>
        <p:spPr>
          <a:xfrm>
            <a:off x="9488211" y="2877747"/>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p:sp>
        <p:nvSpPr>
          <p:cNvPr id="12" name="圆角矩形 11"/>
          <p:cNvSpPr/>
          <p:nvPr/>
        </p:nvSpPr>
        <p:spPr>
          <a:xfrm>
            <a:off x="10119582" y="3726833"/>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000" dirty="0">
              <a:latin typeface="KaiTi" panose="02010609060101010101" pitchFamily="49" charset="-122"/>
              <a:ea typeface="KaiTi" panose="02010609060101010101" pitchFamily="49" charset="-122"/>
            </a:endParaRPr>
          </a:p>
        </p:txBody>
      </p:sp>
      <p:sp>
        <p:nvSpPr>
          <p:cNvPr id="13" name="圆角矩形 12"/>
          <p:cNvSpPr/>
          <p:nvPr/>
        </p:nvSpPr>
        <p:spPr>
          <a:xfrm>
            <a:off x="9588359" y="4517744"/>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latin typeface="KaiTi" panose="02010609060101010101" pitchFamily="49" charset="-122"/>
                <a:ea typeface="KaiTi" panose="02010609060101010101" pitchFamily="49" charset="-122"/>
              </a:rPr>
              <a:t>4,5,6</a:t>
            </a:r>
            <a:endParaRPr lang="zh-CN" altLang="en-US" sz="2000" dirty="0">
              <a:latin typeface="KaiTi" panose="02010609060101010101" pitchFamily="49" charset="-122"/>
              <a:ea typeface="KaiTi" panose="02010609060101010101" pitchFamily="49" charset="-122"/>
            </a:endParaRPr>
          </a:p>
        </p:txBody>
      </p:sp>
      <p:sp>
        <p:nvSpPr>
          <p:cNvPr id="14" name="圆角矩形 13"/>
          <p:cNvSpPr/>
          <p:nvPr/>
        </p:nvSpPr>
        <p:spPr>
          <a:xfrm>
            <a:off x="11118860" y="4530158"/>
            <a:ext cx="940526" cy="323622"/>
          </a:xfrm>
          <a:prstGeom prst="roundRect">
            <a:avLst/>
          </a:prstGeom>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000" dirty="0">
                <a:latin typeface="KaiTi" panose="02010609060101010101" pitchFamily="49" charset="-122"/>
                <a:ea typeface="KaiTi" panose="02010609060101010101" pitchFamily="49" charset="-122"/>
              </a:rPr>
              <a:t>7,8,9</a:t>
            </a:r>
            <a:endParaRPr lang="zh-CN" altLang="en-US" sz="2000" dirty="0">
              <a:latin typeface="KaiTi" panose="02010609060101010101" pitchFamily="49" charset="-122"/>
              <a:ea typeface="KaiTi" panose="02010609060101010101" pitchFamily="49" charset="-122"/>
            </a:endParaRPr>
          </a:p>
        </p:txBody>
      </p:sp>
      <p:cxnSp>
        <p:nvCxnSpPr>
          <p:cNvPr id="16" name="直接连接符 15"/>
          <p:cNvCxnSpPr>
            <a:cxnSpLocks/>
            <a:stCxn id="11" idx="2"/>
          </p:cNvCxnSpPr>
          <p:nvPr/>
        </p:nvCxnSpPr>
        <p:spPr>
          <a:xfrm flipH="1">
            <a:off x="9218248" y="3201369"/>
            <a:ext cx="740226" cy="52546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1" idx="2"/>
            <a:endCxn id="12" idx="0"/>
          </p:cNvCxnSpPr>
          <p:nvPr/>
        </p:nvCxnSpPr>
        <p:spPr>
          <a:xfrm>
            <a:off x="9958474" y="3201369"/>
            <a:ext cx="631371" cy="525464"/>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2" idx="2"/>
            <a:endCxn id="13" idx="0"/>
          </p:cNvCxnSpPr>
          <p:nvPr/>
        </p:nvCxnSpPr>
        <p:spPr>
          <a:xfrm flipH="1">
            <a:off x="10058622" y="4050455"/>
            <a:ext cx="531223" cy="467289"/>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2" idx="2"/>
          </p:cNvCxnSpPr>
          <p:nvPr/>
        </p:nvCxnSpPr>
        <p:spPr>
          <a:xfrm>
            <a:off x="10589845" y="4050455"/>
            <a:ext cx="705393" cy="467289"/>
          </a:xfrm>
          <a:prstGeom prst="line">
            <a:avLst/>
          </a:prstGeom>
          <a:ln>
            <a:solidFill>
              <a:srgbClr val="00458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p:cNvSpPr txBox="1"/>
              <p:nvPr/>
            </p:nvSpPr>
            <p:spPr>
              <a:xfrm>
                <a:off x="8747981" y="4152486"/>
                <a:ext cx="50680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1</m:t>
                          </m:r>
                        </m:sub>
                      </m:sSub>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23" name="文本框 22"/>
              <p:cNvSpPr txBox="1">
                <a:spLocks noRot="1" noChangeAspect="1" noMove="1" noResize="1" noEditPoints="1" noAdjustHandles="1" noChangeArrowheads="1" noChangeShapeType="1" noTextEdit="1"/>
              </p:cNvSpPr>
              <p:nvPr/>
            </p:nvSpPr>
            <p:spPr>
              <a:xfrm>
                <a:off x="8747981" y="4152486"/>
                <a:ext cx="506805" cy="369332"/>
              </a:xfrm>
              <a:prstGeom prst="rect">
                <a:avLst/>
              </a:prstGeom>
              <a:blipFill>
                <a:blip r:embed="rId8"/>
                <a:stretch>
                  <a:fillRect b="-1639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9900053" y="4846533"/>
                <a:ext cx="5139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2</m:t>
                          </m:r>
                        </m:sub>
                      </m:sSub>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24" name="文本框 23"/>
              <p:cNvSpPr txBox="1">
                <a:spLocks noRot="1" noChangeAspect="1" noMove="1" noResize="1" noEditPoints="1" noAdjustHandles="1" noChangeArrowheads="1" noChangeShapeType="1" noTextEdit="1"/>
              </p:cNvSpPr>
              <p:nvPr/>
            </p:nvSpPr>
            <p:spPr>
              <a:xfrm>
                <a:off x="9900053" y="4846533"/>
                <a:ext cx="513923" cy="369332"/>
              </a:xfrm>
              <a:prstGeom prst="rect">
                <a:avLst/>
              </a:prstGeom>
              <a:blipFill>
                <a:blip r:embed="rId9"/>
                <a:stretch>
                  <a:fillRect b="-1639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文本框 24"/>
              <p:cNvSpPr txBox="1"/>
              <p:nvPr/>
            </p:nvSpPr>
            <p:spPr>
              <a:xfrm>
                <a:off x="11136669" y="4846533"/>
                <a:ext cx="5139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ea typeface="Microsoft YaHei" charset="0"/>
                            </a:rPr>
                          </m:ctrlPr>
                        </m:sSubPr>
                        <m:e>
                          <m:r>
                            <a:rPr lang="en-US" altLang="zh-CN" b="0" i="1" smtClean="0">
                              <a:latin typeface="Cambria Math" panose="02040503050406030204" pitchFamily="18" charset="0"/>
                              <a:ea typeface="Microsoft YaHei" charset="0"/>
                            </a:rPr>
                            <m:t>𝑤</m:t>
                          </m:r>
                        </m:e>
                        <m:sub>
                          <m:r>
                            <a:rPr lang="en-US" altLang="zh-CN" b="0" i="1" smtClean="0">
                              <a:latin typeface="Cambria Math" panose="02040503050406030204" pitchFamily="18" charset="0"/>
                              <a:ea typeface="Microsoft YaHei" charset="0"/>
                            </a:rPr>
                            <m:t>3</m:t>
                          </m:r>
                        </m:sub>
                      </m:sSub>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11136669" y="4846533"/>
                <a:ext cx="513923" cy="369332"/>
              </a:xfrm>
              <a:prstGeom prst="rect">
                <a:avLst/>
              </a:prstGeom>
              <a:blipFill>
                <a:blip r:embed="rId10"/>
                <a:stretch>
                  <a:fillRect b="-16393"/>
                </a:stretch>
              </a:blipFill>
            </p:spPr>
            <p:txBody>
              <a:bodyPr/>
              <a:lstStyle/>
              <a:p>
                <a:r>
                  <a:rPr lang="ko-KR" altLang="en-US">
                    <a:noFill/>
                  </a:rPr>
                  <a:t> </a:t>
                </a:r>
              </a:p>
            </p:txBody>
          </p:sp>
        </mc:Fallback>
      </mc:AlternateContent>
      <p:sp>
        <p:nvSpPr>
          <p:cNvPr id="26" name="圆角矩形 25"/>
          <p:cNvSpPr/>
          <p:nvPr/>
        </p:nvSpPr>
        <p:spPr>
          <a:xfrm>
            <a:off x="1751738" y="3319494"/>
            <a:ext cx="481788" cy="1076173"/>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27" name="圆角矩形 26"/>
          <p:cNvSpPr/>
          <p:nvPr/>
        </p:nvSpPr>
        <p:spPr>
          <a:xfrm>
            <a:off x="1751738" y="4535431"/>
            <a:ext cx="442823" cy="960962"/>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28" name="圆角矩形 27"/>
          <p:cNvSpPr/>
          <p:nvPr/>
        </p:nvSpPr>
        <p:spPr>
          <a:xfrm>
            <a:off x="2564738" y="1561514"/>
            <a:ext cx="1650880" cy="447474"/>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29" name="圆角矩形 28"/>
          <p:cNvSpPr/>
          <p:nvPr/>
        </p:nvSpPr>
        <p:spPr>
          <a:xfrm>
            <a:off x="5637381" y="2567285"/>
            <a:ext cx="744662" cy="537734"/>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30" name="圆角矩形 29"/>
          <p:cNvSpPr/>
          <p:nvPr/>
        </p:nvSpPr>
        <p:spPr>
          <a:xfrm>
            <a:off x="6261449" y="4484770"/>
            <a:ext cx="1217874" cy="1008619"/>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31" name="圆角矩形 30"/>
          <p:cNvSpPr/>
          <p:nvPr/>
        </p:nvSpPr>
        <p:spPr>
          <a:xfrm>
            <a:off x="3965505" y="5639922"/>
            <a:ext cx="1427110" cy="827813"/>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32" name="下箭头 31"/>
          <p:cNvSpPr/>
          <p:nvPr/>
        </p:nvSpPr>
        <p:spPr>
          <a:xfrm>
            <a:off x="2829789" y="3257742"/>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4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grpSp>
        <p:nvGrpSpPr>
          <p:cNvPr id="2" name="组合 1">
            <a:extLst>
              <a:ext uri="{FF2B5EF4-FFF2-40B4-BE49-F238E27FC236}">
                <a16:creationId xmlns:a16="http://schemas.microsoft.com/office/drawing/2014/main" id="{A175D4EB-C1C7-435B-B198-7CF97A847886}"/>
              </a:ext>
            </a:extLst>
          </p:cNvPr>
          <p:cNvGrpSpPr/>
          <p:nvPr/>
        </p:nvGrpSpPr>
        <p:grpSpPr>
          <a:xfrm>
            <a:off x="5963386" y="6251325"/>
            <a:ext cx="6096000" cy="576857"/>
            <a:chOff x="5963386" y="6251325"/>
            <a:chExt cx="6096000" cy="576857"/>
          </a:xfrm>
        </p:grpSpPr>
        <p:sp>
          <p:nvSpPr>
            <p:cNvPr id="4" name="矩形: 圆角 3">
              <a:extLst>
                <a:ext uri="{FF2B5EF4-FFF2-40B4-BE49-F238E27FC236}">
                  <a16:creationId xmlns:a16="http://schemas.microsoft.com/office/drawing/2014/main" id="{17E4B301-1B82-4252-BEEB-C8718AFDCECD}"/>
                </a:ext>
              </a:extLst>
            </p:cNvPr>
            <p:cNvSpPr/>
            <p:nvPr/>
          </p:nvSpPr>
          <p:spPr>
            <a:xfrm>
              <a:off x="6058949" y="6252282"/>
              <a:ext cx="5875606" cy="575900"/>
            </a:xfrm>
            <a:prstGeom prst="round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071A4C3F-DDA6-46F0-8C24-97BE2378DF2F}"/>
                    </a:ext>
                  </a:extLst>
                </p:cNvPr>
                <p:cNvSpPr txBox="1"/>
                <p:nvPr/>
              </p:nvSpPr>
              <p:spPr>
                <a:xfrm>
                  <a:off x="5963386" y="6251325"/>
                  <a:ext cx="6096000" cy="5052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𝑡</m:t>
                            </m:r>
                          </m:sub>
                        </m:sSub>
                        <m:d>
                          <m:dPr>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𝑞</m:t>
                            </m:r>
                            <m:d>
                              <m:dPr>
                                <m:ctrlPr>
                                  <a:rPr lang="zh-CN" altLang="en-US" i="1">
                                    <a:latin typeface="Cambria Math" panose="02040503050406030204" pitchFamily="18" charset="0"/>
                                  </a:rPr>
                                </m:ctrlPr>
                              </m:dPr>
                              <m:e>
                                <m:r>
                                  <a:rPr lang="zh-CN" altLang="en-US" i="1">
                                    <a:latin typeface="Cambria Math" panose="02040503050406030204" pitchFamily="18" charset="0"/>
                                  </a:rPr>
                                  <m:t>𝑥</m:t>
                                </m:r>
                              </m:e>
                            </m:d>
                          </m:sub>
                        </m:sSub>
                        <m:r>
                          <a:rPr lang="zh-CN" altLang="en-US" i="0">
                            <a:latin typeface="Cambria Math" panose="02040503050406030204" pitchFamily="18" charset="0"/>
                          </a:rPr>
                          <m:t>, </m:t>
                        </m:r>
                        <m:r>
                          <a:rPr lang="zh-CN" altLang="en-US" i="1">
                            <a:latin typeface="Cambria Math" panose="02040503050406030204" pitchFamily="18" charset="0"/>
                          </a:rPr>
                          <m:t>𝑤</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𝑅</m:t>
                            </m:r>
                          </m:e>
                          <m:sup>
                            <m:r>
                              <m:rPr>
                                <m:sty m:val="p"/>
                              </m:rPr>
                              <a:rPr lang="zh-CN" altLang="en-US" i="0">
                                <a:latin typeface="Cambria Math" panose="02040503050406030204" pitchFamily="18" charset="0"/>
                              </a:rPr>
                              <m:t>T</m:t>
                            </m:r>
                          </m:sup>
                        </m:sSup>
                        <m:r>
                          <a:rPr lang="zh-CN" altLang="en-US" i="0">
                            <a:latin typeface="Cambria Math" panose="02040503050406030204" pitchFamily="18" charset="0"/>
                          </a:rPr>
                          <m:t>,</m:t>
                        </m:r>
                        <m:r>
                          <a:rPr lang="zh-CN" altLang="en-US" i="1">
                            <a:latin typeface="Cambria Math" panose="02040503050406030204" pitchFamily="18" charset="0"/>
                          </a:rPr>
                          <m:t>𝑞</m:t>
                        </m:r>
                        <m:r>
                          <a:rPr lang="zh-CN" altLang="en-US" i="0">
                            <a:latin typeface="Cambria Math" panose="02040503050406030204" pitchFamily="18" charset="0"/>
                          </a:rPr>
                          <m:t>:</m:t>
                        </m:r>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𝑅</m:t>
                            </m:r>
                          </m:e>
                          <m:sup>
                            <m:r>
                              <a:rPr lang="zh-CN" altLang="en-US" i="1">
                                <a:latin typeface="Cambria Math" panose="02040503050406030204" pitchFamily="18" charset="0"/>
                              </a:rPr>
                              <m:t>𝑑</m:t>
                            </m:r>
                          </m:sup>
                        </m:sSup>
                        <m:r>
                          <a:rPr lang="zh-CN" altLang="en-US" i="0">
                            <a:latin typeface="Cambria Math" panose="02040503050406030204" pitchFamily="18" charset="0"/>
                          </a:rPr>
                          <m:t>→</m:t>
                        </m:r>
                        <m:d>
                          <m:dPr>
                            <m:begChr m:val="{"/>
                            <m:endChr m:val="}"/>
                            <m:sepChr m:val=","/>
                            <m:ctrlPr>
                              <a:rPr lang="zh-CN" altLang="en-US" i="1">
                                <a:latin typeface="Cambria Math" panose="02040503050406030204" pitchFamily="18" charset="0"/>
                              </a:rPr>
                            </m:ctrlPr>
                          </m:dPr>
                          <m:e>
                            <m:r>
                              <a:rPr lang="zh-CN" altLang="en-US" i="0">
                                <a:latin typeface="Cambria Math" panose="02040503050406030204" pitchFamily="18" charset="0"/>
                              </a:rPr>
                              <m:t>1,2</m:t>
                            </m:r>
                          </m:e>
                          <m:e>
                            <m:r>
                              <a:rPr lang="zh-CN" altLang="en-US" i="0">
                                <a:latin typeface="Cambria Math" panose="02040503050406030204" pitchFamily="18" charset="0"/>
                              </a:rPr>
                              <m:t>⋯</m:t>
                            </m:r>
                          </m:e>
                          <m:e>
                            <m:r>
                              <a:rPr lang="zh-CN" altLang="en-US" i="1">
                                <a:latin typeface="Cambria Math" panose="02040503050406030204" pitchFamily="18" charset="0"/>
                              </a:rPr>
                              <m:t>𝑇</m:t>
                            </m:r>
                          </m:e>
                        </m:d>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33" name="文本框 32">
                  <a:extLst>
                    <a:ext uri="{FF2B5EF4-FFF2-40B4-BE49-F238E27FC236}">
                      <a16:creationId xmlns:a16="http://schemas.microsoft.com/office/drawing/2014/main" id="{071A4C3F-DDA6-46F0-8C24-97BE2378DF2F}"/>
                    </a:ext>
                  </a:extLst>
                </p:cNvPr>
                <p:cNvSpPr txBox="1">
                  <a:spLocks noRot="1" noChangeAspect="1" noMove="1" noResize="1" noEditPoints="1" noAdjustHandles="1" noChangeArrowheads="1" noChangeShapeType="1" noTextEdit="1"/>
                </p:cNvSpPr>
                <p:nvPr/>
              </p:nvSpPr>
              <p:spPr>
                <a:xfrm>
                  <a:off x="5963386" y="6251325"/>
                  <a:ext cx="6096000" cy="505267"/>
                </a:xfrm>
                <a:prstGeom prst="rect">
                  <a:avLst/>
                </a:prstGeom>
                <a:blipFill>
                  <a:blip r:embed="rId11"/>
                  <a:stretch>
                    <a:fillRect/>
                  </a:stretch>
                </a:blipFill>
              </p:spPr>
              <p:txBody>
                <a:bodyPr/>
                <a:lstStyle/>
                <a:p>
                  <a:r>
                    <a:rPr lang="zh-CN" altLang="en-US">
                      <a:noFill/>
                    </a:rPr>
                    <a:t> </a:t>
                  </a:r>
                </a:p>
              </p:txBody>
            </p:sp>
          </mc:Fallback>
        </mc:AlternateContent>
      </p:grpSp>
      <p:sp>
        <p:nvSpPr>
          <p:cNvPr id="34" name="Rectangle 2">
            <a:extLst>
              <a:ext uri="{FF2B5EF4-FFF2-40B4-BE49-F238E27FC236}">
                <a16:creationId xmlns:a16="http://schemas.microsoft.com/office/drawing/2014/main" id="{D9D0C7C7-70A6-44BC-B8EA-34721AB92B70}"/>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0B7FF6FE-D7E8-4098-A1F3-5930907F5AEA}"/>
                  </a:ext>
                </a:extLst>
              </p:cNvPr>
              <p:cNvSpPr txBox="1"/>
              <p:nvPr/>
            </p:nvSpPr>
            <p:spPr>
              <a:xfrm>
                <a:off x="2507539" y="4196632"/>
                <a:ext cx="2061891" cy="328808"/>
              </a:xfrm>
              <a:prstGeom prst="rect">
                <a:avLst/>
              </a:prstGeom>
              <a:noFill/>
            </p:spPr>
            <p:txBody>
              <a:bodyPr wrap="square">
                <a:spAutoFit/>
              </a:bodyPr>
              <a:lstStyle/>
              <a:p>
                <a14:m>
                  <m:oMath xmlns:m="http://schemas.openxmlformats.org/officeDocument/2006/math">
                    <m:sSub>
                      <m:sSubPr>
                        <m:ctrlPr>
                          <a:rPr lang="en-US" altLang="zh-CN" sz="1400" i="1" smtClean="0">
                            <a:solidFill>
                              <a:srgbClr val="FF0000"/>
                            </a:solidFill>
                            <a:latin typeface="Cambria Math" panose="02040503050406030204" pitchFamily="18" charset="0"/>
                            <a:ea typeface="Microsoft YaHei" charset="0"/>
                          </a:rPr>
                        </m:ctrlPr>
                      </m:sSubPr>
                      <m:e>
                        <m:r>
                          <a:rPr lang="en-US" altLang="zh-CN" sz="1400" b="0" i="1" smtClean="0">
                            <a:solidFill>
                              <a:srgbClr val="FF0000"/>
                            </a:solidFill>
                            <a:latin typeface="Cambria Math" panose="02040503050406030204" pitchFamily="18" charset="0"/>
                            <a:ea typeface="Microsoft YaHei" charset="0"/>
                          </a:rPr>
                          <m:t>𝑤</m:t>
                        </m:r>
                      </m:e>
                      <m:sub>
                        <m:r>
                          <a:rPr lang="en-US" altLang="zh-CN" sz="1400" b="0" i="1" smtClean="0">
                            <a:solidFill>
                              <a:srgbClr val="FF0000"/>
                            </a:solidFill>
                            <a:latin typeface="Cambria Math" panose="02040503050406030204" pitchFamily="18" charset="0"/>
                            <a:ea typeface="Microsoft YaHei" charset="0"/>
                          </a:rPr>
                          <m:t>𝑞</m:t>
                        </m:r>
                        <m:r>
                          <a:rPr lang="en-US" altLang="zh-CN" sz="1400" b="0" i="1" smtClean="0">
                            <a:solidFill>
                              <a:srgbClr val="FF0000"/>
                            </a:solidFill>
                            <a:latin typeface="Cambria Math" panose="02040503050406030204" pitchFamily="18" charset="0"/>
                            <a:ea typeface="Microsoft YaHei" charset="0"/>
                          </a:rPr>
                          <m:t>(</m:t>
                        </m:r>
                        <m:sSub>
                          <m:sSubPr>
                            <m:ctrlPr>
                              <a:rPr lang="en-US" altLang="zh-CN" sz="1400" b="0" i="1" smtClean="0">
                                <a:solidFill>
                                  <a:srgbClr val="FF0000"/>
                                </a:solidFill>
                                <a:latin typeface="Cambria Math" panose="02040503050406030204" pitchFamily="18" charset="0"/>
                                <a:ea typeface="Microsoft YaHei" charset="0"/>
                              </a:rPr>
                            </m:ctrlPr>
                          </m:sSubPr>
                          <m:e>
                            <m:r>
                              <a:rPr lang="en-US" altLang="zh-CN" sz="1400" b="0" i="1" smtClean="0">
                                <a:solidFill>
                                  <a:srgbClr val="FF0000"/>
                                </a:solidFill>
                                <a:latin typeface="Cambria Math" panose="02040503050406030204" pitchFamily="18" charset="0"/>
                                <a:ea typeface="Microsoft YaHei" charset="0"/>
                              </a:rPr>
                              <m:t>𝑥</m:t>
                            </m:r>
                          </m:e>
                          <m:sub>
                            <m:r>
                              <a:rPr lang="en-US" altLang="zh-CN" sz="1400" b="0" i="1" smtClean="0">
                                <a:solidFill>
                                  <a:srgbClr val="FF0000"/>
                                </a:solidFill>
                                <a:latin typeface="Cambria Math" panose="02040503050406030204" pitchFamily="18" charset="0"/>
                                <a:ea typeface="Microsoft YaHei" charset="0"/>
                              </a:rPr>
                              <m:t>𝑖</m:t>
                            </m:r>
                          </m:sub>
                        </m:sSub>
                        <m:r>
                          <a:rPr lang="en-US" altLang="zh-CN" sz="1400" b="0" i="1" smtClean="0">
                            <a:solidFill>
                              <a:srgbClr val="FF0000"/>
                            </a:solidFill>
                            <a:latin typeface="Cambria Math" panose="02040503050406030204" pitchFamily="18" charset="0"/>
                            <a:ea typeface="Microsoft YaHei" charset="0"/>
                          </a:rPr>
                          <m:t>)</m:t>
                        </m:r>
                      </m:sub>
                    </m:sSub>
                  </m:oMath>
                </a14:m>
                <a:r>
                  <a:rPr lang="zh-CN" altLang="en-US" sz="1100" dirty="0">
                    <a:solidFill>
                      <a:srgbClr val="FF0000"/>
                    </a:solidFill>
                    <a:latin typeface="KaiTi" panose="02010609060101010101" pitchFamily="49" charset="-122"/>
                    <a:ea typeface="KaiTi" panose="02010609060101010101" pitchFamily="49" charset="-122"/>
                  </a:rPr>
                  <a:t>第t棵树的叶子结点值</a:t>
                </a:r>
                <a:endParaRPr lang="zh-CN" altLang="en-US" dirty="0">
                  <a:solidFill>
                    <a:srgbClr val="FF0000"/>
                  </a:solidFill>
                  <a:latin typeface="KaiTi" panose="02010609060101010101" pitchFamily="49" charset="-122"/>
                  <a:ea typeface="KaiTi" panose="02010609060101010101" pitchFamily="49" charset="-122"/>
                </a:endParaRPr>
              </a:p>
            </p:txBody>
          </p:sp>
        </mc:Choice>
        <mc:Fallback xmlns="">
          <p:sp>
            <p:nvSpPr>
              <p:cNvPr id="35" name="文本框 34">
                <a:extLst>
                  <a:ext uri="{FF2B5EF4-FFF2-40B4-BE49-F238E27FC236}">
                    <a16:creationId xmlns:a16="http://schemas.microsoft.com/office/drawing/2014/main" id="{0B7FF6FE-D7E8-4098-A1F3-5930907F5AEA}"/>
                  </a:ext>
                </a:extLst>
              </p:cNvPr>
              <p:cNvSpPr txBox="1">
                <a:spLocks noRot="1" noChangeAspect="1" noMove="1" noResize="1" noEditPoints="1" noAdjustHandles="1" noChangeArrowheads="1" noChangeShapeType="1" noTextEdit="1"/>
              </p:cNvSpPr>
              <p:nvPr/>
            </p:nvSpPr>
            <p:spPr>
              <a:xfrm>
                <a:off x="2507539" y="4196632"/>
                <a:ext cx="2061891" cy="328808"/>
              </a:xfrm>
              <a:prstGeom prst="rect">
                <a:avLst/>
              </a:prstGeom>
              <a:blipFill>
                <a:blip r:embed="rId12"/>
                <a:stretch>
                  <a:fillRect b="-555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 name="文本框 34">
                <a:extLst>
                  <a:ext uri="{FF2B5EF4-FFF2-40B4-BE49-F238E27FC236}">
                    <a16:creationId xmlns:a16="http://schemas.microsoft.com/office/drawing/2014/main" id="{AC20D367-01C3-2CF4-F117-D75FA43F4A6A}"/>
                  </a:ext>
                </a:extLst>
              </p:cNvPr>
              <p:cNvSpPr txBox="1"/>
              <p:nvPr/>
            </p:nvSpPr>
            <p:spPr>
              <a:xfrm>
                <a:off x="654879" y="1236577"/>
                <a:ext cx="1525442" cy="3404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dirty="0">
                          <a:solidFill>
                            <a:srgbClr val="FF0000"/>
                          </a:solidFill>
                          <a:latin typeface="Cambria Math" panose="02040503050406030204" pitchFamily="18" charset="0"/>
                        </a:rPr>
                        <m:t>样本上遍历</m:t>
                      </m:r>
                    </m:oMath>
                  </m:oMathPara>
                </a14:m>
                <a:endParaRPr lang="zh-CN" altLang="en-US" sz="1600" dirty="0">
                  <a:solidFill>
                    <a:srgbClr val="FF0000"/>
                  </a:solidFill>
                  <a:latin typeface="KaiTi" panose="02010609060101010101" pitchFamily="49" charset="-122"/>
                  <a:ea typeface="KaiTi" panose="02010609060101010101" pitchFamily="49" charset="-122"/>
                </a:endParaRPr>
              </a:p>
            </p:txBody>
          </p:sp>
        </mc:Choice>
        <mc:Fallback xmlns="">
          <p:sp>
            <p:nvSpPr>
              <p:cNvPr id="3" name="文本框 34">
                <a:extLst>
                  <a:ext uri="{FF2B5EF4-FFF2-40B4-BE49-F238E27FC236}">
                    <a16:creationId xmlns:a16="http://schemas.microsoft.com/office/drawing/2014/main" id="{AC20D367-01C3-2CF4-F117-D75FA43F4A6A}"/>
                  </a:ext>
                </a:extLst>
              </p:cNvPr>
              <p:cNvSpPr txBox="1">
                <a:spLocks noRot="1" noChangeAspect="1" noMove="1" noResize="1" noEditPoints="1" noAdjustHandles="1" noChangeArrowheads="1" noChangeShapeType="1" noTextEdit="1"/>
              </p:cNvSpPr>
              <p:nvPr/>
            </p:nvSpPr>
            <p:spPr>
              <a:xfrm>
                <a:off x="654879" y="1236577"/>
                <a:ext cx="1525442" cy="340414"/>
              </a:xfrm>
              <a:prstGeom prst="rect">
                <a:avLst/>
              </a:prstGeom>
              <a:blipFill>
                <a:blip r:embed="rId13"/>
                <a:stretch>
                  <a:fillRect b="-10714"/>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文本框 34">
                <a:extLst>
                  <a:ext uri="{FF2B5EF4-FFF2-40B4-BE49-F238E27FC236}">
                    <a16:creationId xmlns:a16="http://schemas.microsoft.com/office/drawing/2014/main" id="{010A2D83-773F-83D1-E2B7-A59F7DF63D1E}"/>
                  </a:ext>
                </a:extLst>
              </p:cNvPr>
              <p:cNvSpPr txBox="1"/>
              <p:nvPr/>
            </p:nvSpPr>
            <p:spPr>
              <a:xfrm>
                <a:off x="132614" y="4562191"/>
                <a:ext cx="1799204" cy="340414"/>
              </a:xfrm>
              <a:prstGeom prst="rect">
                <a:avLst/>
              </a:prstGeom>
              <a:noFill/>
            </p:spPr>
            <p:txBody>
              <a:bodyPr wrap="square">
                <a:spAutoFit/>
              </a:bodyPr>
              <a:lstStyle/>
              <a:p>
                <a:r>
                  <a:rPr lang="zh-CN" altLang="en-US" sz="1600" dirty="0">
                    <a:solidFill>
                      <a:srgbClr val="FF0000"/>
                    </a:solidFill>
                    <a:latin typeface="KaiTi" panose="02010609060101010101" pitchFamily="49" charset="-122"/>
                    <a:ea typeface="KaiTi" panose="02010609060101010101" pitchFamily="49" charset="-122"/>
                  </a:rPr>
                  <a:t>叶子节点</a:t>
                </a:r>
                <a14:m>
                  <m:oMath xmlns:m="http://schemas.openxmlformats.org/officeDocument/2006/math">
                    <m:r>
                      <a:rPr lang="zh-CN" altLang="en-US" sz="1600" i="1" dirty="0">
                        <a:solidFill>
                          <a:srgbClr val="FF0000"/>
                        </a:solidFill>
                        <a:latin typeface="Cambria Math" panose="02040503050406030204" pitchFamily="18" charset="0"/>
                      </a:rPr>
                      <m:t>上遍历</m:t>
                    </m:r>
                  </m:oMath>
                </a14:m>
                <a:endParaRPr lang="zh-CN" altLang="en-US" sz="1600" dirty="0">
                  <a:solidFill>
                    <a:srgbClr val="FF0000"/>
                  </a:solidFill>
                  <a:latin typeface="KaiTi" panose="02010609060101010101" pitchFamily="49" charset="-122"/>
                  <a:ea typeface="KaiTi" panose="02010609060101010101" pitchFamily="49" charset="-122"/>
                </a:endParaRPr>
              </a:p>
            </p:txBody>
          </p:sp>
        </mc:Choice>
        <mc:Fallback xmlns="">
          <p:sp>
            <p:nvSpPr>
              <p:cNvPr id="15" name="文本框 34">
                <a:extLst>
                  <a:ext uri="{FF2B5EF4-FFF2-40B4-BE49-F238E27FC236}">
                    <a16:creationId xmlns:a16="http://schemas.microsoft.com/office/drawing/2014/main" id="{010A2D83-773F-83D1-E2B7-A59F7DF63D1E}"/>
                  </a:ext>
                </a:extLst>
              </p:cNvPr>
              <p:cNvSpPr txBox="1">
                <a:spLocks noRot="1" noChangeAspect="1" noMove="1" noResize="1" noEditPoints="1" noAdjustHandles="1" noChangeArrowheads="1" noChangeShapeType="1" noTextEdit="1"/>
              </p:cNvSpPr>
              <p:nvPr/>
            </p:nvSpPr>
            <p:spPr>
              <a:xfrm>
                <a:off x="132614" y="4562191"/>
                <a:ext cx="1799204" cy="340414"/>
              </a:xfrm>
              <a:prstGeom prst="rect">
                <a:avLst/>
              </a:prstGeom>
              <a:blipFill>
                <a:blip r:embed="rId14"/>
                <a:stretch>
                  <a:fillRect l="-2034" t="-7143" b="-19643"/>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78321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1000"/>
                                        <p:tgtEl>
                                          <p:spTgt spid="28"/>
                                        </p:tgtEl>
                                      </p:cBhvr>
                                    </p:animEffect>
                                    <p:anim calcmode="lin" valueType="num">
                                      <p:cBhvr>
                                        <p:cTn id="15" dur="1000" fill="hold"/>
                                        <p:tgtEl>
                                          <p:spTgt spid="28"/>
                                        </p:tgtEl>
                                        <p:attrNameLst>
                                          <p:attrName>ppt_x</p:attrName>
                                        </p:attrNameLst>
                                      </p:cBhvr>
                                      <p:tavLst>
                                        <p:tav tm="0">
                                          <p:val>
                                            <p:strVal val="#ppt_x"/>
                                          </p:val>
                                        </p:tav>
                                        <p:tav tm="100000">
                                          <p:val>
                                            <p:strVal val="#ppt_x"/>
                                          </p:val>
                                        </p:tav>
                                      </p:tavLst>
                                    </p:anim>
                                    <p:anim calcmode="lin" valueType="num">
                                      <p:cBhvr>
                                        <p:cTn id="1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p:cTn id="46" dur="500" fill="hold"/>
                                        <p:tgtEl>
                                          <p:spTgt spid="32"/>
                                        </p:tgtEl>
                                        <p:attrNameLst>
                                          <p:attrName>ppt_w</p:attrName>
                                        </p:attrNameLst>
                                      </p:cBhvr>
                                      <p:tavLst>
                                        <p:tav tm="0">
                                          <p:val>
                                            <p:fltVal val="0"/>
                                          </p:val>
                                        </p:tav>
                                        <p:tav tm="100000">
                                          <p:val>
                                            <p:strVal val="#ppt_w"/>
                                          </p:val>
                                        </p:tav>
                                      </p:tavLst>
                                    </p:anim>
                                    <p:anim calcmode="lin" valueType="num">
                                      <p:cBhvr>
                                        <p:cTn id="47" dur="500" fill="hold"/>
                                        <p:tgtEl>
                                          <p:spTgt spid="32"/>
                                        </p:tgtEl>
                                        <p:attrNameLst>
                                          <p:attrName>ppt_h</p:attrName>
                                        </p:attrNameLst>
                                      </p:cBhvr>
                                      <p:tavLst>
                                        <p:tav tm="0">
                                          <p:val>
                                            <p:fltVal val="0"/>
                                          </p:val>
                                        </p:tav>
                                        <p:tav tm="100000">
                                          <p:val>
                                            <p:strVal val="#ppt_h"/>
                                          </p:val>
                                        </p:tav>
                                      </p:tavLst>
                                    </p:anim>
                                    <p:animEffect transition="in" filter="fade">
                                      <p:cBhvr>
                                        <p:cTn id="48" dur="500"/>
                                        <p:tgtEl>
                                          <p:spTgt spid="32"/>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 calcmode="lin" valueType="num">
                                      <p:cBhvr>
                                        <p:cTn id="64" dur="500" fill="hold"/>
                                        <p:tgtEl>
                                          <p:spTgt spid="26"/>
                                        </p:tgtEl>
                                        <p:attrNameLst>
                                          <p:attrName>ppt_w</p:attrName>
                                        </p:attrNameLst>
                                      </p:cBhvr>
                                      <p:tavLst>
                                        <p:tav tm="0">
                                          <p:val>
                                            <p:fltVal val="0"/>
                                          </p:val>
                                        </p:tav>
                                        <p:tav tm="100000">
                                          <p:val>
                                            <p:strVal val="#ppt_w"/>
                                          </p:val>
                                        </p:tav>
                                      </p:tavLst>
                                    </p:anim>
                                    <p:anim calcmode="lin" valueType="num">
                                      <p:cBhvr>
                                        <p:cTn id="65" dur="500" fill="hold"/>
                                        <p:tgtEl>
                                          <p:spTgt spid="26"/>
                                        </p:tgtEl>
                                        <p:attrNameLst>
                                          <p:attrName>ppt_h</p:attrName>
                                        </p:attrNameLst>
                                      </p:cBhvr>
                                      <p:tavLst>
                                        <p:tav tm="0">
                                          <p:val>
                                            <p:fltVal val="0"/>
                                          </p:val>
                                        </p:tav>
                                        <p:tav tm="100000">
                                          <p:val>
                                            <p:strVal val="#ppt_h"/>
                                          </p:val>
                                        </p:tav>
                                      </p:tavLst>
                                    </p:anim>
                                    <p:animEffect transition="in" filter="fade">
                                      <p:cBhvr>
                                        <p:cTn id="66" dur="500"/>
                                        <p:tgtEl>
                                          <p:spTgt spid="26"/>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27"/>
                                        </p:tgtEl>
                                        <p:attrNameLst>
                                          <p:attrName>style.visibility</p:attrName>
                                        </p:attrNameLst>
                                      </p:cBhvr>
                                      <p:to>
                                        <p:strVal val="visible"/>
                                      </p:to>
                                    </p:set>
                                    <p:anim calcmode="lin" valueType="num">
                                      <p:cBhvr>
                                        <p:cTn id="71" dur="500" fill="hold"/>
                                        <p:tgtEl>
                                          <p:spTgt spid="27"/>
                                        </p:tgtEl>
                                        <p:attrNameLst>
                                          <p:attrName>ppt_w</p:attrName>
                                        </p:attrNameLst>
                                      </p:cBhvr>
                                      <p:tavLst>
                                        <p:tav tm="0">
                                          <p:val>
                                            <p:fltVal val="0"/>
                                          </p:val>
                                        </p:tav>
                                        <p:tav tm="100000">
                                          <p:val>
                                            <p:strVal val="#ppt_w"/>
                                          </p:val>
                                        </p:tav>
                                      </p:tavLst>
                                    </p:anim>
                                    <p:anim calcmode="lin" valueType="num">
                                      <p:cBhvr>
                                        <p:cTn id="72" dur="500" fill="hold"/>
                                        <p:tgtEl>
                                          <p:spTgt spid="27"/>
                                        </p:tgtEl>
                                        <p:attrNameLst>
                                          <p:attrName>ppt_h</p:attrName>
                                        </p:attrNameLst>
                                      </p:cBhvr>
                                      <p:tavLst>
                                        <p:tav tm="0">
                                          <p:val>
                                            <p:fltVal val="0"/>
                                          </p:val>
                                        </p:tav>
                                        <p:tav tm="100000">
                                          <p:val>
                                            <p:strVal val="#ppt_h"/>
                                          </p:val>
                                        </p:tav>
                                      </p:tavLst>
                                    </p:anim>
                                    <p:animEffect transition="in" filter="fade">
                                      <p:cBhvr>
                                        <p:cTn id="73" dur="500"/>
                                        <p:tgtEl>
                                          <p:spTgt spid="27"/>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10"/>
                                        </p:tgtEl>
                                        <p:attrNameLst>
                                          <p:attrName>style.visibility</p:attrName>
                                        </p:attrNameLst>
                                      </p:cBhvr>
                                      <p:to>
                                        <p:strVal val="visible"/>
                                      </p:to>
                                    </p:set>
                                    <p:anim calcmode="lin" valueType="num">
                                      <p:cBhvr>
                                        <p:cTn id="78" dur="500" fill="hold"/>
                                        <p:tgtEl>
                                          <p:spTgt spid="10"/>
                                        </p:tgtEl>
                                        <p:attrNameLst>
                                          <p:attrName>ppt_w</p:attrName>
                                        </p:attrNameLst>
                                      </p:cBhvr>
                                      <p:tavLst>
                                        <p:tav tm="0">
                                          <p:val>
                                            <p:fltVal val="0"/>
                                          </p:val>
                                        </p:tav>
                                        <p:tav tm="100000">
                                          <p:val>
                                            <p:strVal val="#ppt_w"/>
                                          </p:val>
                                        </p:tav>
                                      </p:tavLst>
                                    </p:anim>
                                    <p:anim calcmode="lin" valueType="num">
                                      <p:cBhvr>
                                        <p:cTn id="79" dur="500" fill="hold"/>
                                        <p:tgtEl>
                                          <p:spTgt spid="10"/>
                                        </p:tgtEl>
                                        <p:attrNameLst>
                                          <p:attrName>ppt_h</p:attrName>
                                        </p:attrNameLst>
                                      </p:cBhvr>
                                      <p:tavLst>
                                        <p:tav tm="0">
                                          <p:val>
                                            <p:fltVal val="0"/>
                                          </p:val>
                                        </p:tav>
                                        <p:tav tm="100000">
                                          <p:val>
                                            <p:strVal val="#ppt_h"/>
                                          </p:val>
                                        </p:tav>
                                      </p:tavLst>
                                    </p:anim>
                                    <p:animEffect transition="in" filter="fade">
                                      <p:cBhvr>
                                        <p:cTn id="80" dur="500"/>
                                        <p:tgtEl>
                                          <p:spTgt spid="10"/>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11"/>
                                        </p:tgtEl>
                                        <p:attrNameLst>
                                          <p:attrName>style.visibility</p:attrName>
                                        </p:attrNameLst>
                                      </p:cBhvr>
                                      <p:to>
                                        <p:strVal val="visible"/>
                                      </p:to>
                                    </p:set>
                                    <p:anim calcmode="lin" valueType="num">
                                      <p:cBhvr>
                                        <p:cTn id="83" dur="500" fill="hold"/>
                                        <p:tgtEl>
                                          <p:spTgt spid="11"/>
                                        </p:tgtEl>
                                        <p:attrNameLst>
                                          <p:attrName>ppt_w</p:attrName>
                                        </p:attrNameLst>
                                      </p:cBhvr>
                                      <p:tavLst>
                                        <p:tav tm="0">
                                          <p:val>
                                            <p:fltVal val="0"/>
                                          </p:val>
                                        </p:tav>
                                        <p:tav tm="100000">
                                          <p:val>
                                            <p:strVal val="#ppt_w"/>
                                          </p:val>
                                        </p:tav>
                                      </p:tavLst>
                                    </p:anim>
                                    <p:anim calcmode="lin" valueType="num">
                                      <p:cBhvr>
                                        <p:cTn id="84" dur="500" fill="hold"/>
                                        <p:tgtEl>
                                          <p:spTgt spid="11"/>
                                        </p:tgtEl>
                                        <p:attrNameLst>
                                          <p:attrName>ppt_h</p:attrName>
                                        </p:attrNameLst>
                                      </p:cBhvr>
                                      <p:tavLst>
                                        <p:tav tm="0">
                                          <p:val>
                                            <p:fltVal val="0"/>
                                          </p:val>
                                        </p:tav>
                                        <p:tav tm="100000">
                                          <p:val>
                                            <p:strVal val="#ppt_h"/>
                                          </p:val>
                                        </p:tav>
                                      </p:tavLst>
                                    </p:anim>
                                    <p:animEffect transition="in" filter="fade">
                                      <p:cBhvr>
                                        <p:cTn id="85" dur="500"/>
                                        <p:tgtEl>
                                          <p:spTgt spid="11"/>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2"/>
                                        </p:tgtEl>
                                        <p:attrNameLst>
                                          <p:attrName>style.visibility</p:attrName>
                                        </p:attrNameLst>
                                      </p:cBhvr>
                                      <p:to>
                                        <p:strVal val="visible"/>
                                      </p:to>
                                    </p:set>
                                    <p:anim calcmode="lin" valueType="num">
                                      <p:cBhvr>
                                        <p:cTn id="88" dur="500" fill="hold"/>
                                        <p:tgtEl>
                                          <p:spTgt spid="12"/>
                                        </p:tgtEl>
                                        <p:attrNameLst>
                                          <p:attrName>ppt_w</p:attrName>
                                        </p:attrNameLst>
                                      </p:cBhvr>
                                      <p:tavLst>
                                        <p:tav tm="0">
                                          <p:val>
                                            <p:fltVal val="0"/>
                                          </p:val>
                                        </p:tav>
                                        <p:tav tm="100000">
                                          <p:val>
                                            <p:strVal val="#ppt_w"/>
                                          </p:val>
                                        </p:tav>
                                      </p:tavLst>
                                    </p:anim>
                                    <p:anim calcmode="lin" valueType="num">
                                      <p:cBhvr>
                                        <p:cTn id="89" dur="500" fill="hold"/>
                                        <p:tgtEl>
                                          <p:spTgt spid="12"/>
                                        </p:tgtEl>
                                        <p:attrNameLst>
                                          <p:attrName>ppt_h</p:attrName>
                                        </p:attrNameLst>
                                      </p:cBhvr>
                                      <p:tavLst>
                                        <p:tav tm="0">
                                          <p:val>
                                            <p:fltVal val="0"/>
                                          </p:val>
                                        </p:tav>
                                        <p:tav tm="100000">
                                          <p:val>
                                            <p:strVal val="#ppt_h"/>
                                          </p:val>
                                        </p:tav>
                                      </p:tavLst>
                                    </p:anim>
                                    <p:animEffect transition="in" filter="fade">
                                      <p:cBhvr>
                                        <p:cTn id="90" dur="500"/>
                                        <p:tgtEl>
                                          <p:spTgt spid="12"/>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 calcmode="lin" valueType="num">
                                      <p:cBhvr>
                                        <p:cTn id="93" dur="500" fill="hold"/>
                                        <p:tgtEl>
                                          <p:spTgt spid="13"/>
                                        </p:tgtEl>
                                        <p:attrNameLst>
                                          <p:attrName>ppt_w</p:attrName>
                                        </p:attrNameLst>
                                      </p:cBhvr>
                                      <p:tavLst>
                                        <p:tav tm="0">
                                          <p:val>
                                            <p:fltVal val="0"/>
                                          </p:val>
                                        </p:tav>
                                        <p:tav tm="100000">
                                          <p:val>
                                            <p:strVal val="#ppt_w"/>
                                          </p:val>
                                        </p:tav>
                                      </p:tavLst>
                                    </p:anim>
                                    <p:anim calcmode="lin" valueType="num">
                                      <p:cBhvr>
                                        <p:cTn id="94" dur="500" fill="hold"/>
                                        <p:tgtEl>
                                          <p:spTgt spid="13"/>
                                        </p:tgtEl>
                                        <p:attrNameLst>
                                          <p:attrName>ppt_h</p:attrName>
                                        </p:attrNameLst>
                                      </p:cBhvr>
                                      <p:tavLst>
                                        <p:tav tm="0">
                                          <p:val>
                                            <p:fltVal val="0"/>
                                          </p:val>
                                        </p:tav>
                                        <p:tav tm="100000">
                                          <p:val>
                                            <p:strVal val="#ppt_h"/>
                                          </p:val>
                                        </p:tav>
                                      </p:tavLst>
                                    </p:anim>
                                    <p:animEffect transition="in" filter="fade">
                                      <p:cBhvr>
                                        <p:cTn id="95" dur="500"/>
                                        <p:tgtEl>
                                          <p:spTgt spid="13"/>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p:cTn id="98" dur="500" fill="hold"/>
                                        <p:tgtEl>
                                          <p:spTgt spid="14"/>
                                        </p:tgtEl>
                                        <p:attrNameLst>
                                          <p:attrName>ppt_w</p:attrName>
                                        </p:attrNameLst>
                                      </p:cBhvr>
                                      <p:tavLst>
                                        <p:tav tm="0">
                                          <p:val>
                                            <p:fltVal val="0"/>
                                          </p:val>
                                        </p:tav>
                                        <p:tav tm="100000">
                                          <p:val>
                                            <p:strVal val="#ppt_w"/>
                                          </p:val>
                                        </p:tav>
                                      </p:tavLst>
                                    </p:anim>
                                    <p:anim calcmode="lin" valueType="num">
                                      <p:cBhvr>
                                        <p:cTn id="99" dur="500" fill="hold"/>
                                        <p:tgtEl>
                                          <p:spTgt spid="14"/>
                                        </p:tgtEl>
                                        <p:attrNameLst>
                                          <p:attrName>ppt_h</p:attrName>
                                        </p:attrNameLst>
                                      </p:cBhvr>
                                      <p:tavLst>
                                        <p:tav tm="0">
                                          <p:val>
                                            <p:fltVal val="0"/>
                                          </p:val>
                                        </p:tav>
                                        <p:tav tm="100000">
                                          <p:val>
                                            <p:strVal val="#ppt_h"/>
                                          </p:val>
                                        </p:tav>
                                      </p:tavLst>
                                    </p:anim>
                                    <p:animEffect transition="in" filter="fade">
                                      <p:cBhvr>
                                        <p:cTn id="100" dur="500"/>
                                        <p:tgtEl>
                                          <p:spTgt spid="14"/>
                                        </p:tgtEl>
                                      </p:cBhvr>
                                    </p:animEffect>
                                  </p:childTnLst>
                                </p:cTn>
                              </p:par>
                              <p:par>
                                <p:cTn id="101" presetID="53" presetClass="entr" presetSubtype="16" fill="hold" nodeType="withEffect">
                                  <p:stCondLst>
                                    <p:cond delay="0"/>
                                  </p:stCondLst>
                                  <p:childTnLst>
                                    <p:set>
                                      <p:cBhvr>
                                        <p:cTn id="102" dur="1" fill="hold">
                                          <p:stCondLst>
                                            <p:cond delay="0"/>
                                          </p:stCondLst>
                                        </p:cTn>
                                        <p:tgtEl>
                                          <p:spTgt spid="16"/>
                                        </p:tgtEl>
                                        <p:attrNameLst>
                                          <p:attrName>style.visibility</p:attrName>
                                        </p:attrNameLst>
                                      </p:cBhvr>
                                      <p:to>
                                        <p:strVal val="visible"/>
                                      </p:to>
                                    </p:set>
                                    <p:anim calcmode="lin" valueType="num">
                                      <p:cBhvr>
                                        <p:cTn id="103" dur="500" fill="hold"/>
                                        <p:tgtEl>
                                          <p:spTgt spid="16"/>
                                        </p:tgtEl>
                                        <p:attrNameLst>
                                          <p:attrName>ppt_w</p:attrName>
                                        </p:attrNameLst>
                                      </p:cBhvr>
                                      <p:tavLst>
                                        <p:tav tm="0">
                                          <p:val>
                                            <p:fltVal val="0"/>
                                          </p:val>
                                        </p:tav>
                                        <p:tav tm="100000">
                                          <p:val>
                                            <p:strVal val="#ppt_w"/>
                                          </p:val>
                                        </p:tav>
                                      </p:tavLst>
                                    </p:anim>
                                    <p:anim calcmode="lin" valueType="num">
                                      <p:cBhvr>
                                        <p:cTn id="104" dur="500" fill="hold"/>
                                        <p:tgtEl>
                                          <p:spTgt spid="16"/>
                                        </p:tgtEl>
                                        <p:attrNameLst>
                                          <p:attrName>ppt_h</p:attrName>
                                        </p:attrNameLst>
                                      </p:cBhvr>
                                      <p:tavLst>
                                        <p:tav tm="0">
                                          <p:val>
                                            <p:fltVal val="0"/>
                                          </p:val>
                                        </p:tav>
                                        <p:tav tm="100000">
                                          <p:val>
                                            <p:strVal val="#ppt_h"/>
                                          </p:val>
                                        </p:tav>
                                      </p:tavLst>
                                    </p:anim>
                                    <p:animEffect transition="in" filter="fade">
                                      <p:cBhvr>
                                        <p:cTn id="105" dur="500"/>
                                        <p:tgtEl>
                                          <p:spTgt spid="16"/>
                                        </p:tgtEl>
                                      </p:cBhvr>
                                    </p:animEffect>
                                  </p:childTnLst>
                                </p:cTn>
                              </p:par>
                              <p:par>
                                <p:cTn id="106" presetID="53" presetClass="entr" presetSubtype="16" fill="hold" nodeType="withEffect">
                                  <p:stCondLst>
                                    <p:cond delay="0"/>
                                  </p:stCondLst>
                                  <p:childTnLst>
                                    <p:set>
                                      <p:cBhvr>
                                        <p:cTn id="107" dur="1" fill="hold">
                                          <p:stCondLst>
                                            <p:cond delay="0"/>
                                          </p:stCondLst>
                                        </p:cTn>
                                        <p:tgtEl>
                                          <p:spTgt spid="18"/>
                                        </p:tgtEl>
                                        <p:attrNameLst>
                                          <p:attrName>style.visibility</p:attrName>
                                        </p:attrNameLst>
                                      </p:cBhvr>
                                      <p:to>
                                        <p:strVal val="visible"/>
                                      </p:to>
                                    </p:set>
                                    <p:anim calcmode="lin" valueType="num">
                                      <p:cBhvr>
                                        <p:cTn id="108" dur="500" fill="hold"/>
                                        <p:tgtEl>
                                          <p:spTgt spid="18"/>
                                        </p:tgtEl>
                                        <p:attrNameLst>
                                          <p:attrName>ppt_w</p:attrName>
                                        </p:attrNameLst>
                                      </p:cBhvr>
                                      <p:tavLst>
                                        <p:tav tm="0">
                                          <p:val>
                                            <p:fltVal val="0"/>
                                          </p:val>
                                        </p:tav>
                                        <p:tav tm="100000">
                                          <p:val>
                                            <p:strVal val="#ppt_w"/>
                                          </p:val>
                                        </p:tav>
                                      </p:tavLst>
                                    </p:anim>
                                    <p:anim calcmode="lin" valueType="num">
                                      <p:cBhvr>
                                        <p:cTn id="109" dur="500" fill="hold"/>
                                        <p:tgtEl>
                                          <p:spTgt spid="18"/>
                                        </p:tgtEl>
                                        <p:attrNameLst>
                                          <p:attrName>ppt_h</p:attrName>
                                        </p:attrNameLst>
                                      </p:cBhvr>
                                      <p:tavLst>
                                        <p:tav tm="0">
                                          <p:val>
                                            <p:fltVal val="0"/>
                                          </p:val>
                                        </p:tav>
                                        <p:tav tm="100000">
                                          <p:val>
                                            <p:strVal val="#ppt_h"/>
                                          </p:val>
                                        </p:tav>
                                      </p:tavLst>
                                    </p:anim>
                                    <p:animEffect transition="in" filter="fade">
                                      <p:cBhvr>
                                        <p:cTn id="110" dur="500"/>
                                        <p:tgtEl>
                                          <p:spTgt spid="18"/>
                                        </p:tgtEl>
                                      </p:cBhvr>
                                    </p:animEffect>
                                  </p:childTnLst>
                                </p:cTn>
                              </p:par>
                              <p:par>
                                <p:cTn id="111" presetID="53" presetClass="entr" presetSubtype="16" fill="hold" nodeType="withEffect">
                                  <p:stCondLst>
                                    <p:cond delay="0"/>
                                  </p:stCondLst>
                                  <p:childTnLst>
                                    <p:set>
                                      <p:cBhvr>
                                        <p:cTn id="112" dur="1" fill="hold">
                                          <p:stCondLst>
                                            <p:cond delay="0"/>
                                          </p:stCondLst>
                                        </p:cTn>
                                        <p:tgtEl>
                                          <p:spTgt spid="20"/>
                                        </p:tgtEl>
                                        <p:attrNameLst>
                                          <p:attrName>style.visibility</p:attrName>
                                        </p:attrNameLst>
                                      </p:cBhvr>
                                      <p:to>
                                        <p:strVal val="visible"/>
                                      </p:to>
                                    </p:set>
                                    <p:anim calcmode="lin" valueType="num">
                                      <p:cBhvr>
                                        <p:cTn id="113" dur="500" fill="hold"/>
                                        <p:tgtEl>
                                          <p:spTgt spid="20"/>
                                        </p:tgtEl>
                                        <p:attrNameLst>
                                          <p:attrName>ppt_w</p:attrName>
                                        </p:attrNameLst>
                                      </p:cBhvr>
                                      <p:tavLst>
                                        <p:tav tm="0">
                                          <p:val>
                                            <p:fltVal val="0"/>
                                          </p:val>
                                        </p:tav>
                                        <p:tav tm="100000">
                                          <p:val>
                                            <p:strVal val="#ppt_w"/>
                                          </p:val>
                                        </p:tav>
                                      </p:tavLst>
                                    </p:anim>
                                    <p:anim calcmode="lin" valueType="num">
                                      <p:cBhvr>
                                        <p:cTn id="114" dur="500" fill="hold"/>
                                        <p:tgtEl>
                                          <p:spTgt spid="20"/>
                                        </p:tgtEl>
                                        <p:attrNameLst>
                                          <p:attrName>ppt_h</p:attrName>
                                        </p:attrNameLst>
                                      </p:cBhvr>
                                      <p:tavLst>
                                        <p:tav tm="0">
                                          <p:val>
                                            <p:fltVal val="0"/>
                                          </p:val>
                                        </p:tav>
                                        <p:tav tm="100000">
                                          <p:val>
                                            <p:strVal val="#ppt_h"/>
                                          </p:val>
                                        </p:tav>
                                      </p:tavLst>
                                    </p:anim>
                                    <p:animEffect transition="in" filter="fade">
                                      <p:cBhvr>
                                        <p:cTn id="115" dur="500"/>
                                        <p:tgtEl>
                                          <p:spTgt spid="20"/>
                                        </p:tgtEl>
                                      </p:cBhvr>
                                    </p:animEffect>
                                  </p:childTnLst>
                                </p:cTn>
                              </p:par>
                              <p:par>
                                <p:cTn id="116" presetID="53" presetClass="entr" presetSubtype="16" fill="hold" nodeType="withEffect">
                                  <p:stCondLst>
                                    <p:cond delay="0"/>
                                  </p:stCondLst>
                                  <p:childTnLst>
                                    <p:set>
                                      <p:cBhvr>
                                        <p:cTn id="117" dur="1" fill="hold">
                                          <p:stCondLst>
                                            <p:cond delay="0"/>
                                          </p:stCondLst>
                                        </p:cTn>
                                        <p:tgtEl>
                                          <p:spTgt spid="22"/>
                                        </p:tgtEl>
                                        <p:attrNameLst>
                                          <p:attrName>style.visibility</p:attrName>
                                        </p:attrNameLst>
                                      </p:cBhvr>
                                      <p:to>
                                        <p:strVal val="visible"/>
                                      </p:to>
                                    </p:set>
                                    <p:anim calcmode="lin" valueType="num">
                                      <p:cBhvr>
                                        <p:cTn id="118" dur="500" fill="hold"/>
                                        <p:tgtEl>
                                          <p:spTgt spid="22"/>
                                        </p:tgtEl>
                                        <p:attrNameLst>
                                          <p:attrName>ppt_w</p:attrName>
                                        </p:attrNameLst>
                                      </p:cBhvr>
                                      <p:tavLst>
                                        <p:tav tm="0">
                                          <p:val>
                                            <p:fltVal val="0"/>
                                          </p:val>
                                        </p:tav>
                                        <p:tav tm="100000">
                                          <p:val>
                                            <p:strVal val="#ppt_w"/>
                                          </p:val>
                                        </p:tav>
                                      </p:tavLst>
                                    </p:anim>
                                    <p:anim calcmode="lin" valueType="num">
                                      <p:cBhvr>
                                        <p:cTn id="119" dur="500" fill="hold"/>
                                        <p:tgtEl>
                                          <p:spTgt spid="22"/>
                                        </p:tgtEl>
                                        <p:attrNameLst>
                                          <p:attrName>ppt_h</p:attrName>
                                        </p:attrNameLst>
                                      </p:cBhvr>
                                      <p:tavLst>
                                        <p:tav tm="0">
                                          <p:val>
                                            <p:fltVal val="0"/>
                                          </p:val>
                                        </p:tav>
                                        <p:tav tm="100000">
                                          <p:val>
                                            <p:strVal val="#ppt_h"/>
                                          </p:val>
                                        </p:tav>
                                      </p:tavLst>
                                    </p:anim>
                                    <p:animEffect transition="in" filter="fade">
                                      <p:cBhvr>
                                        <p:cTn id="120" dur="500"/>
                                        <p:tgtEl>
                                          <p:spTgt spid="22"/>
                                        </p:tgtEl>
                                      </p:cBhvr>
                                    </p:animEffect>
                                  </p:childTnLst>
                                </p:cTn>
                              </p:par>
                              <p:par>
                                <p:cTn id="121" presetID="53" presetClass="entr" presetSubtype="16" fill="hold" grpId="0" nodeType="withEffect">
                                  <p:stCondLst>
                                    <p:cond delay="0"/>
                                  </p:stCondLst>
                                  <p:childTnLst>
                                    <p:set>
                                      <p:cBhvr>
                                        <p:cTn id="122" dur="1" fill="hold">
                                          <p:stCondLst>
                                            <p:cond delay="0"/>
                                          </p:stCondLst>
                                        </p:cTn>
                                        <p:tgtEl>
                                          <p:spTgt spid="23"/>
                                        </p:tgtEl>
                                        <p:attrNameLst>
                                          <p:attrName>style.visibility</p:attrName>
                                        </p:attrNameLst>
                                      </p:cBhvr>
                                      <p:to>
                                        <p:strVal val="visible"/>
                                      </p:to>
                                    </p:set>
                                    <p:anim calcmode="lin" valueType="num">
                                      <p:cBhvr>
                                        <p:cTn id="123" dur="500" fill="hold"/>
                                        <p:tgtEl>
                                          <p:spTgt spid="23"/>
                                        </p:tgtEl>
                                        <p:attrNameLst>
                                          <p:attrName>ppt_w</p:attrName>
                                        </p:attrNameLst>
                                      </p:cBhvr>
                                      <p:tavLst>
                                        <p:tav tm="0">
                                          <p:val>
                                            <p:fltVal val="0"/>
                                          </p:val>
                                        </p:tav>
                                        <p:tav tm="100000">
                                          <p:val>
                                            <p:strVal val="#ppt_w"/>
                                          </p:val>
                                        </p:tav>
                                      </p:tavLst>
                                    </p:anim>
                                    <p:anim calcmode="lin" valueType="num">
                                      <p:cBhvr>
                                        <p:cTn id="124" dur="500" fill="hold"/>
                                        <p:tgtEl>
                                          <p:spTgt spid="23"/>
                                        </p:tgtEl>
                                        <p:attrNameLst>
                                          <p:attrName>ppt_h</p:attrName>
                                        </p:attrNameLst>
                                      </p:cBhvr>
                                      <p:tavLst>
                                        <p:tav tm="0">
                                          <p:val>
                                            <p:fltVal val="0"/>
                                          </p:val>
                                        </p:tav>
                                        <p:tav tm="100000">
                                          <p:val>
                                            <p:strVal val="#ppt_h"/>
                                          </p:val>
                                        </p:tav>
                                      </p:tavLst>
                                    </p:anim>
                                    <p:animEffect transition="in" filter="fade">
                                      <p:cBhvr>
                                        <p:cTn id="125" dur="500"/>
                                        <p:tgtEl>
                                          <p:spTgt spid="23"/>
                                        </p:tgtEl>
                                      </p:cBhvr>
                                    </p:animEffect>
                                  </p:childTnLst>
                                </p:cTn>
                              </p:par>
                              <p:par>
                                <p:cTn id="126" presetID="53" presetClass="entr" presetSubtype="16" fill="hold" grpId="0" nodeType="withEffect">
                                  <p:stCondLst>
                                    <p:cond delay="0"/>
                                  </p:stCondLst>
                                  <p:childTnLst>
                                    <p:set>
                                      <p:cBhvr>
                                        <p:cTn id="127" dur="1" fill="hold">
                                          <p:stCondLst>
                                            <p:cond delay="0"/>
                                          </p:stCondLst>
                                        </p:cTn>
                                        <p:tgtEl>
                                          <p:spTgt spid="24"/>
                                        </p:tgtEl>
                                        <p:attrNameLst>
                                          <p:attrName>style.visibility</p:attrName>
                                        </p:attrNameLst>
                                      </p:cBhvr>
                                      <p:to>
                                        <p:strVal val="visible"/>
                                      </p:to>
                                    </p:set>
                                    <p:anim calcmode="lin" valueType="num">
                                      <p:cBhvr>
                                        <p:cTn id="128" dur="500" fill="hold"/>
                                        <p:tgtEl>
                                          <p:spTgt spid="24"/>
                                        </p:tgtEl>
                                        <p:attrNameLst>
                                          <p:attrName>ppt_w</p:attrName>
                                        </p:attrNameLst>
                                      </p:cBhvr>
                                      <p:tavLst>
                                        <p:tav tm="0">
                                          <p:val>
                                            <p:fltVal val="0"/>
                                          </p:val>
                                        </p:tav>
                                        <p:tav tm="100000">
                                          <p:val>
                                            <p:strVal val="#ppt_w"/>
                                          </p:val>
                                        </p:tav>
                                      </p:tavLst>
                                    </p:anim>
                                    <p:anim calcmode="lin" valueType="num">
                                      <p:cBhvr>
                                        <p:cTn id="129" dur="500" fill="hold"/>
                                        <p:tgtEl>
                                          <p:spTgt spid="24"/>
                                        </p:tgtEl>
                                        <p:attrNameLst>
                                          <p:attrName>ppt_h</p:attrName>
                                        </p:attrNameLst>
                                      </p:cBhvr>
                                      <p:tavLst>
                                        <p:tav tm="0">
                                          <p:val>
                                            <p:fltVal val="0"/>
                                          </p:val>
                                        </p:tav>
                                        <p:tav tm="100000">
                                          <p:val>
                                            <p:strVal val="#ppt_h"/>
                                          </p:val>
                                        </p:tav>
                                      </p:tavLst>
                                    </p:anim>
                                    <p:animEffect transition="in" filter="fade">
                                      <p:cBhvr>
                                        <p:cTn id="130" dur="500"/>
                                        <p:tgtEl>
                                          <p:spTgt spid="24"/>
                                        </p:tgtEl>
                                      </p:cBhvr>
                                    </p:animEffect>
                                  </p:childTnLst>
                                </p:cTn>
                              </p:par>
                              <p:par>
                                <p:cTn id="131" presetID="53" presetClass="entr" presetSubtype="16" fill="hold" grpId="0" nodeType="withEffect">
                                  <p:stCondLst>
                                    <p:cond delay="0"/>
                                  </p:stCondLst>
                                  <p:childTnLst>
                                    <p:set>
                                      <p:cBhvr>
                                        <p:cTn id="132" dur="1" fill="hold">
                                          <p:stCondLst>
                                            <p:cond delay="0"/>
                                          </p:stCondLst>
                                        </p:cTn>
                                        <p:tgtEl>
                                          <p:spTgt spid="25"/>
                                        </p:tgtEl>
                                        <p:attrNameLst>
                                          <p:attrName>style.visibility</p:attrName>
                                        </p:attrNameLst>
                                      </p:cBhvr>
                                      <p:to>
                                        <p:strVal val="visible"/>
                                      </p:to>
                                    </p:set>
                                    <p:anim calcmode="lin" valueType="num">
                                      <p:cBhvr>
                                        <p:cTn id="133" dur="500" fill="hold"/>
                                        <p:tgtEl>
                                          <p:spTgt spid="25"/>
                                        </p:tgtEl>
                                        <p:attrNameLst>
                                          <p:attrName>ppt_w</p:attrName>
                                        </p:attrNameLst>
                                      </p:cBhvr>
                                      <p:tavLst>
                                        <p:tav tm="0">
                                          <p:val>
                                            <p:fltVal val="0"/>
                                          </p:val>
                                        </p:tav>
                                        <p:tav tm="100000">
                                          <p:val>
                                            <p:strVal val="#ppt_w"/>
                                          </p:val>
                                        </p:tav>
                                      </p:tavLst>
                                    </p:anim>
                                    <p:anim calcmode="lin" valueType="num">
                                      <p:cBhvr>
                                        <p:cTn id="134" dur="500" fill="hold"/>
                                        <p:tgtEl>
                                          <p:spTgt spid="25"/>
                                        </p:tgtEl>
                                        <p:attrNameLst>
                                          <p:attrName>ppt_h</p:attrName>
                                        </p:attrNameLst>
                                      </p:cBhvr>
                                      <p:tavLst>
                                        <p:tav tm="0">
                                          <p:val>
                                            <p:fltVal val="0"/>
                                          </p:val>
                                        </p:tav>
                                        <p:tav tm="100000">
                                          <p:val>
                                            <p:strVal val="#ppt_h"/>
                                          </p:val>
                                        </p:tav>
                                      </p:tavLst>
                                    </p:anim>
                                    <p:animEffect transition="in" filter="fade">
                                      <p:cBhvr>
                                        <p:cTn id="135" dur="500"/>
                                        <p:tgtEl>
                                          <p:spTgt spid="25"/>
                                        </p:tgtEl>
                                      </p:cBhvr>
                                    </p:animEffect>
                                  </p:childTnLst>
                                </p:cTn>
                              </p:par>
                            </p:childTnLst>
                          </p:cTn>
                        </p:par>
                      </p:childTnLst>
                    </p:cTn>
                  </p:par>
                  <p:par>
                    <p:cTn id="136" fill="hold">
                      <p:stCondLst>
                        <p:cond delay="indefinite"/>
                      </p:stCondLst>
                      <p:childTnLst>
                        <p:par>
                          <p:cTn id="137" fill="hold">
                            <p:stCondLst>
                              <p:cond delay="0"/>
                            </p:stCondLst>
                            <p:childTnLst>
                              <p:par>
                                <p:cTn id="138" presetID="53" presetClass="entr" presetSubtype="16" fill="hold" grpId="0" nodeType="clickEffect">
                                  <p:stCondLst>
                                    <p:cond delay="0"/>
                                  </p:stCondLst>
                                  <p:childTnLst>
                                    <p:set>
                                      <p:cBhvr>
                                        <p:cTn id="139" dur="1" fill="hold">
                                          <p:stCondLst>
                                            <p:cond delay="0"/>
                                          </p:stCondLst>
                                        </p:cTn>
                                        <p:tgtEl>
                                          <p:spTgt spid="30"/>
                                        </p:tgtEl>
                                        <p:attrNameLst>
                                          <p:attrName>style.visibility</p:attrName>
                                        </p:attrNameLst>
                                      </p:cBhvr>
                                      <p:to>
                                        <p:strVal val="visible"/>
                                      </p:to>
                                    </p:set>
                                    <p:anim calcmode="lin" valueType="num">
                                      <p:cBhvr>
                                        <p:cTn id="140" dur="500" fill="hold"/>
                                        <p:tgtEl>
                                          <p:spTgt spid="30"/>
                                        </p:tgtEl>
                                        <p:attrNameLst>
                                          <p:attrName>ppt_w</p:attrName>
                                        </p:attrNameLst>
                                      </p:cBhvr>
                                      <p:tavLst>
                                        <p:tav tm="0">
                                          <p:val>
                                            <p:fltVal val="0"/>
                                          </p:val>
                                        </p:tav>
                                        <p:tav tm="100000">
                                          <p:val>
                                            <p:strVal val="#ppt_w"/>
                                          </p:val>
                                        </p:tav>
                                      </p:tavLst>
                                    </p:anim>
                                    <p:anim calcmode="lin" valueType="num">
                                      <p:cBhvr>
                                        <p:cTn id="141" dur="500" fill="hold"/>
                                        <p:tgtEl>
                                          <p:spTgt spid="30"/>
                                        </p:tgtEl>
                                        <p:attrNameLst>
                                          <p:attrName>ppt_h</p:attrName>
                                        </p:attrNameLst>
                                      </p:cBhvr>
                                      <p:tavLst>
                                        <p:tav tm="0">
                                          <p:val>
                                            <p:fltVal val="0"/>
                                          </p:val>
                                        </p:tav>
                                        <p:tav tm="100000">
                                          <p:val>
                                            <p:strVal val="#ppt_h"/>
                                          </p:val>
                                        </p:tav>
                                      </p:tavLst>
                                    </p:anim>
                                    <p:animEffect transition="in" filter="fade">
                                      <p:cBhvr>
                                        <p:cTn id="142" dur="500"/>
                                        <p:tgtEl>
                                          <p:spTgt spid="30"/>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grpId="0" nodeType="clickEffect">
                                  <p:stCondLst>
                                    <p:cond delay="0"/>
                                  </p:stCondLst>
                                  <p:childTnLst>
                                    <p:set>
                                      <p:cBhvr>
                                        <p:cTn id="146" dur="1" fill="hold">
                                          <p:stCondLst>
                                            <p:cond delay="0"/>
                                          </p:stCondLst>
                                        </p:cTn>
                                        <p:tgtEl>
                                          <p:spTgt spid="9"/>
                                        </p:tgtEl>
                                        <p:attrNameLst>
                                          <p:attrName>style.visibility</p:attrName>
                                        </p:attrNameLst>
                                      </p:cBhvr>
                                      <p:to>
                                        <p:strVal val="visible"/>
                                      </p:to>
                                    </p:set>
                                    <p:anim calcmode="lin" valueType="num">
                                      <p:cBhvr>
                                        <p:cTn id="147" dur="500" fill="hold"/>
                                        <p:tgtEl>
                                          <p:spTgt spid="9"/>
                                        </p:tgtEl>
                                        <p:attrNameLst>
                                          <p:attrName>ppt_w</p:attrName>
                                        </p:attrNameLst>
                                      </p:cBhvr>
                                      <p:tavLst>
                                        <p:tav tm="0">
                                          <p:val>
                                            <p:fltVal val="0"/>
                                          </p:val>
                                        </p:tav>
                                        <p:tav tm="100000">
                                          <p:val>
                                            <p:strVal val="#ppt_w"/>
                                          </p:val>
                                        </p:tav>
                                      </p:tavLst>
                                    </p:anim>
                                    <p:anim calcmode="lin" valueType="num">
                                      <p:cBhvr>
                                        <p:cTn id="148" dur="500" fill="hold"/>
                                        <p:tgtEl>
                                          <p:spTgt spid="9"/>
                                        </p:tgtEl>
                                        <p:attrNameLst>
                                          <p:attrName>ppt_h</p:attrName>
                                        </p:attrNameLst>
                                      </p:cBhvr>
                                      <p:tavLst>
                                        <p:tav tm="0">
                                          <p:val>
                                            <p:fltVal val="0"/>
                                          </p:val>
                                        </p:tav>
                                        <p:tav tm="100000">
                                          <p:val>
                                            <p:strVal val="#ppt_h"/>
                                          </p:val>
                                        </p:tav>
                                      </p:tavLst>
                                    </p:anim>
                                    <p:animEffect transition="in" filter="fade">
                                      <p:cBhvr>
                                        <p:cTn id="149" dur="500"/>
                                        <p:tgtEl>
                                          <p:spTgt spid="9"/>
                                        </p:tgtEl>
                                      </p:cBhvr>
                                    </p:animEffect>
                                  </p:childTnLst>
                                </p:cTn>
                              </p:par>
                            </p:childTnLst>
                          </p:cTn>
                        </p:par>
                      </p:childTnLst>
                    </p:cTn>
                  </p:par>
                  <p:par>
                    <p:cTn id="150" fill="hold">
                      <p:stCondLst>
                        <p:cond delay="indefinite"/>
                      </p:stCondLst>
                      <p:childTnLst>
                        <p:par>
                          <p:cTn id="151" fill="hold">
                            <p:stCondLst>
                              <p:cond delay="0"/>
                            </p:stCondLst>
                            <p:childTnLst>
                              <p:par>
                                <p:cTn id="152" presetID="53" presetClass="entr" presetSubtype="16" fill="hold" grpId="0" nodeType="clickEffect">
                                  <p:stCondLst>
                                    <p:cond delay="0"/>
                                  </p:stCondLst>
                                  <p:childTnLst>
                                    <p:set>
                                      <p:cBhvr>
                                        <p:cTn id="153" dur="1" fill="hold">
                                          <p:stCondLst>
                                            <p:cond delay="0"/>
                                          </p:stCondLst>
                                        </p:cTn>
                                        <p:tgtEl>
                                          <p:spTgt spid="31"/>
                                        </p:tgtEl>
                                        <p:attrNameLst>
                                          <p:attrName>style.visibility</p:attrName>
                                        </p:attrNameLst>
                                      </p:cBhvr>
                                      <p:to>
                                        <p:strVal val="visible"/>
                                      </p:to>
                                    </p:set>
                                    <p:anim calcmode="lin" valueType="num">
                                      <p:cBhvr>
                                        <p:cTn id="154" dur="500" fill="hold"/>
                                        <p:tgtEl>
                                          <p:spTgt spid="31"/>
                                        </p:tgtEl>
                                        <p:attrNameLst>
                                          <p:attrName>ppt_w</p:attrName>
                                        </p:attrNameLst>
                                      </p:cBhvr>
                                      <p:tavLst>
                                        <p:tav tm="0">
                                          <p:val>
                                            <p:fltVal val="0"/>
                                          </p:val>
                                        </p:tav>
                                        <p:tav tm="100000">
                                          <p:val>
                                            <p:strVal val="#ppt_w"/>
                                          </p:val>
                                        </p:tav>
                                      </p:tavLst>
                                    </p:anim>
                                    <p:anim calcmode="lin" valueType="num">
                                      <p:cBhvr>
                                        <p:cTn id="155" dur="500" fill="hold"/>
                                        <p:tgtEl>
                                          <p:spTgt spid="31"/>
                                        </p:tgtEl>
                                        <p:attrNameLst>
                                          <p:attrName>ppt_h</p:attrName>
                                        </p:attrNameLst>
                                      </p:cBhvr>
                                      <p:tavLst>
                                        <p:tav tm="0">
                                          <p:val>
                                            <p:fltVal val="0"/>
                                          </p:val>
                                        </p:tav>
                                        <p:tav tm="100000">
                                          <p:val>
                                            <p:strVal val="#ppt_h"/>
                                          </p:val>
                                        </p:tav>
                                      </p:tavLst>
                                    </p:anim>
                                    <p:animEffect transition="in" filter="fade">
                                      <p:cBhvr>
                                        <p:cTn id="156" dur="500"/>
                                        <p:tgtEl>
                                          <p:spTgt spid="31"/>
                                        </p:tgtEl>
                                      </p:cBhvr>
                                    </p:animEffec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3"/>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P spid="11" grpId="0" animBg="1"/>
      <p:bldP spid="12" grpId="0" animBg="1"/>
      <p:bldP spid="13" grpId="0" animBg="1"/>
      <p:bldP spid="14" grpId="0" animBg="1"/>
      <p:bldP spid="23" grpId="0"/>
      <p:bldP spid="24" grpId="0"/>
      <p:bldP spid="25" grpId="0"/>
      <p:bldP spid="26" grpId="0" animBg="1"/>
      <p:bldP spid="27" grpId="0" animBg="1"/>
      <p:bldP spid="28" grpId="0" animBg="1"/>
      <p:bldP spid="29" grpId="0" animBg="1"/>
      <p:bldP spid="30" grpId="0" animBg="1"/>
      <p:bldP spid="31" grpId="0" animBg="1"/>
      <p:bldP spid="32" grpId="0" animBg="1"/>
      <p:bldP spid="35" grpId="0"/>
      <p:bldP spid="3" grpId="0"/>
      <p:bldP spid="1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1692216" y="1330565"/>
                <a:ext cx="6701065" cy="10300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ea typeface="Microsoft YaHei" charset="0"/>
                        </a:rPr>
                        <m:t>𝐽</m:t>
                      </m:r>
                      <m:d>
                        <m:dPr>
                          <m:ctrlPr>
                            <a:rPr lang="en-US" altLang="zh-CN" sz="2200" i="1" smtClean="0">
                              <a:latin typeface="Cambria Math" panose="02040503050406030204" pitchFamily="18" charset="0"/>
                              <a:ea typeface="Microsoft YaHei" charset="0"/>
                            </a:rPr>
                          </m:ctrlPr>
                        </m:dPr>
                        <m:e>
                          <m:sSub>
                            <m:sSubPr>
                              <m:ctrlPr>
                                <a:rPr lang="en-US" altLang="zh-CN" sz="2200" i="1" smtClean="0">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𝑓</m:t>
                              </m:r>
                            </m:e>
                            <m:sub>
                              <m:r>
                                <a:rPr lang="en-US" altLang="zh-CN" sz="2200" b="0" i="1" smtClean="0">
                                  <a:latin typeface="Cambria Math" panose="02040503050406030204" pitchFamily="18" charset="0"/>
                                  <a:ea typeface="Microsoft YaHei" charset="0"/>
                                </a:rPr>
                                <m:t>𝑡</m:t>
                              </m:r>
                            </m:sub>
                          </m:sSub>
                        </m:e>
                      </m:d>
                      <m:r>
                        <a:rPr lang="en-US" altLang="zh-CN" sz="2200" b="0" i="1" smtClean="0">
                          <a:latin typeface="Cambria Math" panose="02040503050406030204" pitchFamily="18" charset="0"/>
                          <a:ea typeface="Microsoft YaHei" charset="0"/>
                        </a:rPr>
                        <m:t>=</m:t>
                      </m:r>
                      <m:nary>
                        <m:naryPr>
                          <m:chr m:val="∑"/>
                          <m:ctrlPr>
                            <a:rPr lang="en-US" altLang="zh-CN" sz="2200" i="1">
                              <a:latin typeface="Cambria Math" panose="02040503050406030204" pitchFamily="18" charset="0"/>
                              <a:ea typeface="Microsoft YaHei" charset="0"/>
                            </a:rPr>
                          </m:ctrlPr>
                        </m:naryPr>
                        <m:sub>
                          <m:r>
                            <m:rPr>
                              <m:brk m:alnAt="23"/>
                            </m:rPr>
                            <a:rPr lang="en-US" altLang="zh-CN" sz="2200" i="1">
                              <a:latin typeface="Cambria Math" panose="02040503050406030204" pitchFamily="18" charset="0"/>
                              <a:ea typeface="Microsoft YaHei" charset="0"/>
                            </a:rPr>
                            <m:t>𝑗</m:t>
                          </m:r>
                          <m:r>
                            <a:rPr lang="en-US" altLang="zh-CN" sz="2200" i="1">
                              <a:latin typeface="Cambria Math" panose="02040503050406030204" pitchFamily="18" charset="0"/>
                              <a:ea typeface="Microsoft YaHei" charset="0"/>
                            </a:rPr>
                            <m:t>=1</m:t>
                          </m:r>
                        </m:sub>
                        <m:sup>
                          <m:r>
                            <a:rPr lang="en-US" altLang="zh-CN" sz="2200" i="1">
                              <a:latin typeface="Cambria Math" panose="02040503050406030204" pitchFamily="18" charset="0"/>
                              <a:ea typeface="Microsoft YaHei" charset="0"/>
                            </a:rPr>
                            <m:t>𝑇</m:t>
                          </m:r>
                        </m:sup>
                        <m:e>
                          <m:d>
                            <m:dPr>
                              <m:begChr m:val="["/>
                              <m:endChr m:val="]"/>
                              <m:ctrlPr>
                                <a:rPr lang="en-US" altLang="zh-CN" sz="2200" i="1">
                                  <a:latin typeface="Cambria Math" panose="02040503050406030204" pitchFamily="18" charset="0"/>
                                  <a:ea typeface="Microsoft YaHei" charset="0"/>
                                </a:rPr>
                              </m:ctrlPr>
                            </m:dPr>
                            <m:e>
                              <m:d>
                                <m:dPr>
                                  <m:ctrlPr>
                                    <a:rPr lang="en-US" altLang="zh-CN" sz="2200" i="1">
                                      <a:latin typeface="Cambria Math" panose="02040503050406030204" pitchFamily="18" charset="0"/>
                                      <a:ea typeface="Microsoft YaHei" charset="0"/>
                                    </a:rPr>
                                  </m:ctrlPr>
                                </m:dPr>
                                <m:e>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𝑔</m:t>
                                          </m:r>
                                        </m:e>
                                        <m:sub>
                                          <m:r>
                                            <a:rPr lang="en-US" altLang="zh-CN" sz="2200" i="1">
                                              <a:latin typeface="Cambria Math" panose="02040503050406030204" pitchFamily="18" charset="0"/>
                                              <a:ea typeface="Microsoft YaHei" charset="0"/>
                                            </a:rPr>
                                            <m:t>𝑖</m:t>
                                          </m:r>
                                        </m:sub>
                                      </m:sSub>
                                    </m:e>
                                  </m:nary>
                                </m:e>
                              </m:d>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f>
                                <m:fPr>
                                  <m:ctrlPr>
                                    <a:rPr lang="en-US" altLang="zh-CN" sz="2200" i="1">
                                      <a:latin typeface="Cambria Math" panose="02040503050406030204" pitchFamily="18" charset="0"/>
                                      <a:ea typeface="Microsoft YaHei" charset="0"/>
                                    </a:rPr>
                                  </m:ctrlPr>
                                </m:fPr>
                                <m:num>
                                  <m:r>
                                    <a:rPr lang="en-US" altLang="zh-CN" sz="2200" i="1">
                                      <a:latin typeface="Cambria Math" panose="02040503050406030204" pitchFamily="18" charset="0"/>
                                      <a:ea typeface="Microsoft YaHei" charset="0"/>
                                    </a:rPr>
                                    <m:t>1</m:t>
                                  </m:r>
                                </m:num>
                                <m:den>
                                  <m:r>
                                    <a:rPr lang="en-US" altLang="zh-CN" sz="2200" i="1">
                                      <a:latin typeface="Cambria Math" panose="02040503050406030204" pitchFamily="18" charset="0"/>
                                      <a:ea typeface="Microsoft YaHei" charset="0"/>
                                    </a:rPr>
                                    <m:t>2</m:t>
                                  </m:r>
                                </m:den>
                              </m:f>
                              <m:d>
                                <m:dPr>
                                  <m:ctrlPr>
                                    <a:rPr lang="en-US" altLang="zh-CN" sz="2200" i="1">
                                      <a:latin typeface="Cambria Math" panose="02040503050406030204" pitchFamily="18" charset="0"/>
                                      <a:ea typeface="Microsoft YaHei" charset="0"/>
                                    </a:rPr>
                                  </m:ctrlPr>
                                </m:dPr>
                                <m:e>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h</m:t>
                                          </m:r>
                                        </m:e>
                                        <m:sub>
                                          <m:r>
                                            <a:rPr lang="en-US" altLang="zh-CN" sz="2200" i="1">
                                              <a:latin typeface="Cambria Math" panose="02040503050406030204" pitchFamily="18" charset="0"/>
                                              <a:ea typeface="Microsoft YaHei" charset="0"/>
                                            </a:rPr>
                                            <m:t>𝑖</m:t>
                                          </m:r>
                                        </m:sub>
                                      </m:sSub>
                                    </m:e>
                                  </m:nary>
                                  <m:r>
                                    <a:rPr lang="en-US" altLang="zh-CN" sz="2200" b="0" i="1" smtClean="0">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e>
                              </m:d>
                              <m:sSup>
                                <m:sSupPr>
                                  <m:ctrlPr>
                                    <a:rPr lang="en-US" altLang="zh-CN" sz="2200" i="1">
                                      <a:latin typeface="Cambria Math" panose="02040503050406030204" pitchFamily="18" charset="0"/>
                                      <a:ea typeface="Microsoft YaHei" charset="0"/>
                                    </a:rPr>
                                  </m:ctrlPr>
                                </m:sSup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e>
                                <m:sup>
                                  <m:r>
                                    <a:rPr lang="en-US" altLang="zh-CN" sz="2200" i="1">
                                      <a:latin typeface="Cambria Math" panose="02040503050406030204" pitchFamily="18" charset="0"/>
                                      <a:ea typeface="Microsoft YaHei" charset="0"/>
                                    </a:rPr>
                                    <m:t>2</m:t>
                                  </m:r>
                                </m:sup>
                              </m:sSup>
                            </m:e>
                          </m:d>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𝛾</m:t>
                          </m:r>
                          <m:r>
                            <a:rPr lang="en-US" altLang="zh-CN" sz="2200" i="1">
                              <a:latin typeface="Cambria Math" panose="02040503050406030204" pitchFamily="18" charset="0"/>
                              <a:ea typeface="Cambria Math" panose="02040503050406030204" pitchFamily="18" charset="0"/>
                            </a:rPr>
                            <m:t>𝑇</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𝐶</m:t>
                          </m:r>
                        </m:e>
                      </m:nary>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692216" y="1330565"/>
                <a:ext cx="6701065" cy="1030090"/>
              </a:xfrm>
              <a:prstGeom prst="rect">
                <a:avLst/>
              </a:prstGeom>
              <a:blipFill>
                <a:blip r:embed="rId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2907740" y="2614741"/>
                <a:ext cx="1448152" cy="8996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𝐺</m:t>
                          </m:r>
                        </m:e>
                        <m:sub>
                          <m:r>
                            <a:rPr lang="en-US" altLang="zh-CN" sz="2200" b="0" i="1" smtClean="0">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𝑔</m:t>
                              </m:r>
                            </m:e>
                            <m:sub>
                              <m:r>
                                <a:rPr lang="en-US" altLang="zh-CN" sz="2200" i="1">
                                  <a:latin typeface="Cambria Math" panose="02040503050406030204" pitchFamily="18" charset="0"/>
                                  <a:ea typeface="Microsoft YaHei" charset="0"/>
                                </a:rPr>
                                <m:t>𝑖</m:t>
                              </m:r>
                            </m:sub>
                          </m:sSub>
                        </m:e>
                      </m:nary>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2907740" y="2614741"/>
                <a:ext cx="1448152" cy="899670"/>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5161905" y="2650966"/>
                <a:ext cx="1460720" cy="8996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𝐻</m:t>
                          </m:r>
                        </m:e>
                        <m:sub>
                          <m:r>
                            <a:rPr lang="en-US" altLang="zh-CN" sz="2200" b="0" i="1" smtClean="0">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nary>
                        <m:naryPr>
                          <m:chr m:val="∑"/>
                          <m:supHide m:val="on"/>
                          <m:ctrlPr>
                            <a:rPr lang="en-US" altLang="zh-CN" sz="2200" i="1">
                              <a:latin typeface="Cambria Math" panose="02040503050406030204" pitchFamily="18" charset="0"/>
                              <a:ea typeface="Microsoft YaHei" charset="0"/>
                            </a:rPr>
                          </m:ctrlPr>
                        </m:naryPr>
                        <m:sub>
                          <m:r>
                            <m:rPr>
                              <m:brk m:alnAt="7"/>
                            </m:rPr>
                            <a:rPr lang="en-US" altLang="zh-CN" sz="2200" i="1">
                              <a:latin typeface="Cambria Math" panose="02040503050406030204" pitchFamily="18" charset="0"/>
                              <a:ea typeface="Microsoft YaHei" charset="0"/>
                            </a:rPr>
                            <m:t>𝑖</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𝐼</m:t>
                              </m:r>
                            </m:e>
                            <m:sub>
                              <m:r>
                                <a:rPr lang="en-US" altLang="zh-CN" sz="2200" i="1">
                                  <a:latin typeface="Cambria Math" panose="02040503050406030204" pitchFamily="18" charset="0"/>
                                  <a:ea typeface="Cambria Math" panose="02040503050406030204" pitchFamily="18" charset="0"/>
                                </a:rPr>
                                <m:t>𝑗</m:t>
                              </m:r>
                            </m:sub>
                          </m:sSub>
                        </m:sub>
                        <m:sup/>
                        <m:e>
                          <m:sSub>
                            <m:sSubPr>
                              <m:ctrlPr>
                                <a:rPr lang="en-US" altLang="zh-CN" sz="2200" i="1">
                                  <a:latin typeface="Cambria Math" panose="02040503050406030204" pitchFamily="18" charset="0"/>
                                  <a:ea typeface="Microsoft YaHei" charset="0"/>
                                </a:rPr>
                              </m:ctrlPr>
                            </m:sSubPr>
                            <m:e>
                              <m:r>
                                <a:rPr lang="en-US" altLang="zh-CN" sz="2200" b="0" i="1" smtClean="0">
                                  <a:latin typeface="Cambria Math" panose="02040503050406030204" pitchFamily="18" charset="0"/>
                                  <a:ea typeface="Microsoft YaHei" charset="0"/>
                                </a:rPr>
                                <m:t>h</m:t>
                              </m:r>
                            </m:e>
                            <m:sub>
                              <m:r>
                                <a:rPr lang="en-US" altLang="zh-CN" sz="2200" i="1">
                                  <a:latin typeface="Cambria Math" panose="02040503050406030204" pitchFamily="18" charset="0"/>
                                  <a:ea typeface="Microsoft YaHei" charset="0"/>
                                </a:rPr>
                                <m:t>𝑖</m:t>
                              </m:r>
                            </m:sub>
                          </m:sSub>
                        </m:e>
                      </m:nary>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5161905" y="2650966"/>
                <a:ext cx="1460720" cy="899670"/>
              </a:xfrm>
              <a:prstGeom prst="rect">
                <a:avLst/>
              </a:prstGeom>
              <a:blipFill>
                <a:blip r:embed="rId4"/>
                <a:stretch>
                  <a:fillRect/>
                </a:stretch>
              </a:blipFill>
            </p:spPr>
            <p:txBody>
              <a:bodyPr/>
              <a:lstStyle/>
              <a:p>
                <a:r>
                  <a:rPr lang="ko-KR" altLang="en-US">
                    <a:noFill/>
                  </a:rPr>
                  <a:t> </a:t>
                </a:r>
              </a:p>
            </p:txBody>
          </p:sp>
        </mc:Fallback>
      </mc:AlternateContent>
      <p:sp>
        <p:nvSpPr>
          <p:cNvPr id="7" name="下箭头 6"/>
          <p:cNvSpPr/>
          <p:nvPr/>
        </p:nvSpPr>
        <p:spPr>
          <a:xfrm>
            <a:off x="3705325" y="2379810"/>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p:sp>
        <p:nvSpPr>
          <p:cNvPr id="8" name="下箭头 7"/>
          <p:cNvSpPr/>
          <p:nvPr/>
        </p:nvSpPr>
        <p:spPr>
          <a:xfrm>
            <a:off x="5883896" y="2335267"/>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9" name="矩形 8"/>
              <p:cNvSpPr/>
              <p:nvPr/>
            </p:nvSpPr>
            <p:spPr>
              <a:xfrm>
                <a:off x="1599883" y="3417222"/>
                <a:ext cx="5591466" cy="1082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Microsoft YaHei" charset="0"/>
                        </a:rPr>
                        <m:t>𝐽</m:t>
                      </m:r>
                      <m:d>
                        <m:dPr>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𝑓</m:t>
                              </m:r>
                            </m:e>
                            <m:sub>
                              <m:r>
                                <a:rPr lang="en-US" altLang="zh-CN" sz="2200" i="1">
                                  <a:latin typeface="Cambria Math" panose="02040503050406030204" pitchFamily="18" charset="0"/>
                                  <a:ea typeface="Microsoft YaHei" charset="0"/>
                                </a:rPr>
                                <m:t>𝑡</m:t>
                              </m:r>
                            </m:sub>
                          </m:sSub>
                        </m:e>
                      </m:d>
                      <m:r>
                        <a:rPr lang="en-US" altLang="zh-CN" sz="2200" i="1">
                          <a:latin typeface="Cambria Math" panose="02040503050406030204" pitchFamily="18" charset="0"/>
                          <a:ea typeface="Microsoft YaHei" charset="0"/>
                        </a:rPr>
                        <m:t>=</m:t>
                      </m:r>
                      <m:nary>
                        <m:naryPr>
                          <m:chr m:val="∑"/>
                          <m:ctrlPr>
                            <a:rPr lang="en-US" altLang="zh-CN" sz="2200" i="1">
                              <a:latin typeface="Cambria Math" panose="02040503050406030204" pitchFamily="18" charset="0"/>
                              <a:ea typeface="Microsoft YaHei" charset="0"/>
                            </a:rPr>
                          </m:ctrlPr>
                        </m:naryPr>
                        <m:sub>
                          <m:r>
                            <m:rPr>
                              <m:brk m:alnAt="23"/>
                            </m:rPr>
                            <a:rPr lang="en-US" altLang="zh-CN" sz="2200" i="1">
                              <a:latin typeface="Cambria Math" panose="02040503050406030204" pitchFamily="18" charset="0"/>
                              <a:ea typeface="Microsoft YaHei" charset="0"/>
                            </a:rPr>
                            <m:t>𝑗</m:t>
                          </m:r>
                          <m:r>
                            <a:rPr lang="en-US" altLang="zh-CN" sz="2200" i="1">
                              <a:latin typeface="Cambria Math" panose="02040503050406030204" pitchFamily="18" charset="0"/>
                              <a:ea typeface="Microsoft YaHei" charset="0"/>
                            </a:rPr>
                            <m:t>=1</m:t>
                          </m:r>
                        </m:sub>
                        <m:sup>
                          <m:r>
                            <a:rPr lang="en-US" altLang="zh-CN" sz="2200" i="1">
                              <a:latin typeface="Cambria Math" panose="02040503050406030204" pitchFamily="18" charset="0"/>
                              <a:ea typeface="Microsoft YaHei" charset="0"/>
                            </a:rPr>
                            <m:t>𝑇</m:t>
                          </m:r>
                        </m:sup>
                        <m:e>
                          <m:d>
                            <m:dPr>
                              <m:begChr m:val="["/>
                              <m:endChr m:val="]"/>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f>
                                <m:fPr>
                                  <m:ctrlPr>
                                    <a:rPr lang="en-US" altLang="zh-CN" sz="2200" i="1">
                                      <a:latin typeface="Cambria Math" panose="02040503050406030204" pitchFamily="18" charset="0"/>
                                      <a:ea typeface="Microsoft YaHei" charset="0"/>
                                    </a:rPr>
                                  </m:ctrlPr>
                                </m:fPr>
                                <m:num>
                                  <m:r>
                                    <a:rPr lang="en-US" altLang="zh-CN" sz="2200" i="1">
                                      <a:latin typeface="Cambria Math" panose="02040503050406030204" pitchFamily="18" charset="0"/>
                                      <a:ea typeface="Microsoft YaHei" charset="0"/>
                                    </a:rPr>
                                    <m:t>1</m:t>
                                  </m:r>
                                </m:num>
                                <m:den>
                                  <m:r>
                                    <a:rPr lang="en-US" altLang="zh-CN" sz="2200" i="1">
                                      <a:latin typeface="Cambria Math" panose="02040503050406030204" pitchFamily="18" charset="0"/>
                                      <a:ea typeface="Microsoft YaHei" charset="0"/>
                                    </a:rPr>
                                    <m:t>2</m:t>
                                  </m:r>
                                </m:den>
                              </m:f>
                              <m:d>
                                <m:dPr>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e>
                              </m:d>
                              <m:sSup>
                                <m:sSupPr>
                                  <m:ctrlPr>
                                    <a:rPr lang="en-US" altLang="zh-CN" sz="2200" i="1">
                                      <a:latin typeface="Cambria Math" panose="02040503050406030204" pitchFamily="18" charset="0"/>
                                      <a:ea typeface="Microsoft YaHei" charset="0"/>
                                    </a:rPr>
                                  </m:ctrlPr>
                                </m:sSup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e>
                                <m:sup>
                                  <m:r>
                                    <a:rPr lang="en-US" altLang="zh-CN" sz="2200" i="1">
                                      <a:latin typeface="Cambria Math" panose="02040503050406030204" pitchFamily="18" charset="0"/>
                                      <a:ea typeface="Microsoft YaHei" charset="0"/>
                                    </a:rPr>
                                    <m:t>2</m:t>
                                  </m:r>
                                </m:sup>
                              </m:sSup>
                            </m:e>
                          </m:d>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𝛾</m:t>
                          </m:r>
                          <m:r>
                            <a:rPr lang="en-US" altLang="zh-CN" sz="2200" i="1">
                              <a:latin typeface="Cambria Math" panose="02040503050406030204" pitchFamily="18" charset="0"/>
                              <a:ea typeface="Cambria Math" panose="02040503050406030204" pitchFamily="18" charset="0"/>
                            </a:rPr>
                            <m:t>𝑇</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𝐶</m:t>
                          </m:r>
                        </m:e>
                      </m:nary>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1599883" y="3417222"/>
                <a:ext cx="5591466" cy="1082540"/>
              </a:xfrm>
              <a:prstGeom prst="rect">
                <a:avLst/>
              </a:prstGeom>
              <a:blipFill>
                <a:blip r:embed="rId5"/>
                <a:stretch>
                  <a:fillRect/>
                </a:stretch>
              </a:blipFill>
            </p:spPr>
            <p:txBody>
              <a:bodyPr/>
              <a:lstStyle/>
              <a:p>
                <a:r>
                  <a:rPr lang="ko-KR" altLang="en-US">
                    <a:noFill/>
                  </a:rPr>
                  <a:t> </a:t>
                </a:r>
              </a:p>
            </p:txBody>
          </p:sp>
        </mc:Fallback>
      </mc:AlternateContent>
      <p:sp>
        <p:nvSpPr>
          <p:cNvPr id="10" name="下箭头 9"/>
          <p:cNvSpPr/>
          <p:nvPr/>
        </p:nvSpPr>
        <p:spPr>
          <a:xfrm>
            <a:off x="4365768" y="3250199"/>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11" name="文本框 10"/>
              <p:cNvSpPr txBox="1"/>
              <p:nvPr/>
            </p:nvSpPr>
            <p:spPr>
              <a:xfrm>
                <a:off x="1692216" y="4702482"/>
                <a:ext cx="3114378" cy="7525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200" i="1" smtClean="0">
                              <a:latin typeface="Cambria Math" panose="02040503050406030204" pitchFamily="18" charset="0"/>
                              <a:ea typeface="Microsoft YaHei" charset="0"/>
                            </a:rPr>
                          </m:ctrlPr>
                        </m:fPr>
                        <m:num>
                          <m:r>
                            <a:rPr lang="zh-CN" altLang="en-US" sz="2200" i="1" smtClean="0">
                              <a:latin typeface="Cambria Math" panose="02040503050406030204" pitchFamily="18" charset="0"/>
                              <a:ea typeface="Microsoft YaHei" charset="0"/>
                            </a:rPr>
                            <m:t>𝜕</m:t>
                          </m:r>
                          <m:r>
                            <a:rPr lang="en-US" altLang="zh-CN" sz="2200" i="1">
                              <a:latin typeface="Cambria Math" panose="02040503050406030204" pitchFamily="18" charset="0"/>
                              <a:ea typeface="Microsoft YaHei" charset="0"/>
                            </a:rPr>
                            <m:t>𝐽</m:t>
                          </m:r>
                          <m:d>
                            <m:dPr>
                              <m:ctrlPr>
                                <a:rPr lang="en-US" altLang="zh-CN" sz="2200" i="1">
                                  <a:latin typeface="Cambria Math" panose="02040503050406030204" pitchFamily="18" charset="0"/>
                                  <a:ea typeface="Microsoft YaHei" charset="0"/>
                                </a:rPr>
                              </m:ctrlPr>
                            </m:d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𝑓</m:t>
                                  </m:r>
                                </m:e>
                                <m:sub>
                                  <m:r>
                                    <a:rPr lang="en-US" altLang="zh-CN" sz="2200" i="1">
                                      <a:latin typeface="Cambria Math" panose="02040503050406030204" pitchFamily="18" charset="0"/>
                                      <a:ea typeface="Microsoft YaHei" charset="0"/>
                                    </a:rPr>
                                    <m:t>𝑡</m:t>
                                  </m:r>
                                </m:sub>
                              </m:sSub>
                            </m:e>
                          </m:d>
                        </m:num>
                        <m:den>
                          <m:r>
                            <a:rPr lang="zh-CN" altLang="en-US" sz="220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den>
                      </m:f>
                      <m:r>
                        <a:rPr lang="en-US" altLang="zh-CN" sz="2200" b="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r>
                        <a:rPr lang="en-US" altLang="zh-CN" sz="2200" b="0" i="1" smtClean="0">
                          <a:latin typeface="Cambria Math" panose="02040503050406030204" pitchFamily="18" charset="0"/>
                          <a:ea typeface="Microsoft YaHei" charset="0"/>
                        </a:rPr>
                        <m:t>)</m:t>
                      </m:r>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1692216" y="4702482"/>
                <a:ext cx="3114378" cy="752514"/>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4779822" y="4882599"/>
                <a:ext cx="794898"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box>
                        <m:boxPr>
                          <m:ctrlPr>
                            <a:rPr lang="en-US" altLang="zh-CN" sz="2200" i="1" smtClean="0">
                              <a:latin typeface="Cambria Math" panose="02040503050406030204" pitchFamily="18" charset="0"/>
                              <a:ea typeface="Microsoft YaHei" charset="0"/>
                            </a:rPr>
                          </m:ctrlPr>
                        </m:boxPr>
                        <m:e>
                          <m:r>
                            <a:rPr lang="en-US" altLang="zh-CN" sz="2200" i="1">
                              <a:latin typeface="Cambria Math" panose="02040503050406030204" pitchFamily="18" charset="0"/>
                              <a:ea typeface="Microsoft YaHei" charset="0"/>
                            </a:rPr>
                            <m:t>==</m:t>
                          </m:r>
                        </m:e>
                      </m:box>
                      <m:r>
                        <a:rPr lang="en-US" altLang="zh-CN" sz="2200" i="1">
                          <a:latin typeface="Cambria Math" panose="02040503050406030204" pitchFamily="18" charset="0"/>
                          <a:ea typeface="Microsoft YaHei" charset="0"/>
                        </a:rPr>
                        <m:t>0</m:t>
                      </m:r>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4779822" y="4882599"/>
                <a:ext cx="794898" cy="338554"/>
              </a:xfrm>
              <a:prstGeom prst="rect">
                <a:avLst/>
              </a:prstGeom>
              <a:blipFill>
                <a:blip r:embed="rId7"/>
                <a:stretch>
                  <a:fillRect r="-3077" b="-10909"/>
                </a:stretch>
              </a:blipFill>
            </p:spPr>
            <p:txBody>
              <a:bodyPr/>
              <a:lstStyle/>
              <a:p>
                <a:r>
                  <a:rPr lang="ko-KR" altLang="en-US">
                    <a:noFill/>
                  </a:rPr>
                  <a:t> </a:t>
                </a:r>
              </a:p>
            </p:txBody>
          </p:sp>
        </mc:Fallback>
      </mc:AlternateContent>
      <p:sp>
        <p:nvSpPr>
          <p:cNvPr id="13" name="下箭头 12"/>
          <p:cNvSpPr/>
          <p:nvPr/>
        </p:nvSpPr>
        <p:spPr>
          <a:xfrm>
            <a:off x="2139405" y="5520737"/>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14" name="文本框 13"/>
              <p:cNvSpPr txBox="1"/>
              <p:nvPr/>
            </p:nvSpPr>
            <p:spPr>
              <a:xfrm>
                <a:off x="1678942" y="5890742"/>
                <a:ext cx="1755673" cy="74122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𝑤</m:t>
                          </m:r>
                        </m:e>
                        <m:sub>
                          <m:r>
                            <a:rPr lang="en-US" altLang="zh-CN" sz="2200" i="1">
                              <a:latin typeface="Cambria Math" panose="02040503050406030204" pitchFamily="18" charset="0"/>
                              <a:ea typeface="Microsoft YaHei" charset="0"/>
                            </a:rPr>
                            <m:t>𝑗</m:t>
                          </m:r>
                        </m:sub>
                      </m:sSub>
                      <m:r>
                        <a:rPr lang="en-US" altLang="zh-CN" sz="2200" b="0" i="1" smtClean="0">
                          <a:latin typeface="Cambria Math" panose="02040503050406030204" pitchFamily="18" charset="0"/>
                          <a:ea typeface="Microsoft YaHei" charset="0"/>
                        </a:rPr>
                        <m:t>=−</m:t>
                      </m:r>
                      <m:f>
                        <m:fPr>
                          <m:ctrlPr>
                            <a:rPr lang="en-US" altLang="zh-CN" sz="2200" b="0" i="1" smtClean="0">
                              <a:latin typeface="Cambria Math" panose="02040503050406030204" pitchFamily="18" charset="0"/>
                              <a:ea typeface="Microsoft YaHei" charset="0"/>
                            </a:rPr>
                          </m:ctrlPr>
                        </m:fPr>
                        <m:num>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num>
                        <m:den>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den>
                      </m:f>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1678942" y="5890742"/>
                <a:ext cx="1755673" cy="741229"/>
              </a:xfrm>
              <a:prstGeom prst="rect">
                <a:avLst/>
              </a:prstGeom>
              <a:blipFill>
                <a:blip r:embed="rId8"/>
                <a:stretch>
                  <a:fillRect/>
                </a:stretch>
              </a:blipFill>
            </p:spPr>
            <p:txBody>
              <a:bodyPr/>
              <a:lstStyle/>
              <a:p>
                <a:r>
                  <a:rPr lang="ko-KR" altLang="en-US">
                    <a:noFill/>
                  </a:rPr>
                  <a:t> </a:t>
                </a:r>
              </a:p>
            </p:txBody>
          </p:sp>
        </mc:Fallback>
      </mc:AlternateContent>
      <p:sp>
        <p:nvSpPr>
          <p:cNvPr id="16" name="上弧形箭头 15"/>
          <p:cNvSpPr/>
          <p:nvPr/>
        </p:nvSpPr>
        <p:spPr>
          <a:xfrm rot="16200000">
            <a:off x="-36654" y="4644562"/>
            <a:ext cx="2541554" cy="731520"/>
          </a:xfrm>
          <a:prstGeom prst="curvedDownArrow">
            <a:avLst>
              <a:gd name="adj1" fmla="val 5293"/>
              <a:gd name="adj2" fmla="val 50000"/>
              <a:gd name="adj3" fmla="val 23859"/>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solidFill>
                <a:schemeClr val="tx1"/>
              </a:solidFill>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17" name="文本框 16"/>
              <p:cNvSpPr txBox="1"/>
              <p:nvPr/>
            </p:nvSpPr>
            <p:spPr>
              <a:xfrm>
                <a:off x="7483076" y="3463388"/>
                <a:ext cx="2731902" cy="990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200" b="0" i="1" smtClean="0">
                          <a:latin typeface="Cambria Math" panose="02040503050406030204" pitchFamily="18" charset="0"/>
                          <a:ea typeface="Microsoft YaHei" charset="0"/>
                        </a:rPr>
                        <m:t>=−</m:t>
                      </m:r>
                      <m:f>
                        <m:fPr>
                          <m:ctrlPr>
                            <a:rPr lang="en-US" altLang="zh-CN" sz="2200" b="0" i="1" smtClean="0">
                              <a:latin typeface="Cambria Math" panose="02040503050406030204" pitchFamily="18" charset="0"/>
                              <a:ea typeface="Microsoft YaHei" charset="0"/>
                            </a:rPr>
                          </m:ctrlPr>
                        </m:fPr>
                        <m:num>
                          <m:r>
                            <a:rPr lang="en-US" altLang="zh-CN" sz="2200" b="0" i="1" smtClean="0">
                              <a:latin typeface="Cambria Math" panose="02040503050406030204" pitchFamily="18" charset="0"/>
                              <a:ea typeface="Microsoft YaHei" charset="0"/>
                            </a:rPr>
                            <m:t>1</m:t>
                          </m:r>
                        </m:num>
                        <m:den>
                          <m:r>
                            <a:rPr lang="en-US" altLang="zh-CN" sz="2200" b="0" i="1" smtClean="0">
                              <a:latin typeface="Cambria Math" panose="02040503050406030204" pitchFamily="18" charset="0"/>
                              <a:ea typeface="Microsoft YaHei" charset="0"/>
                            </a:rPr>
                            <m:t>2</m:t>
                          </m:r>
                        </m:den>
                      </m:f>
                      <m:nary>
                        <m:naryPr>
                          <m:chr m:val="∑"/>
                          <m:ctrlPr>
                            <a:rPr lang="en-US" altLang="zh-CN" sz="2200" b="0" i="1" smtClean="0">
                              <a:latin typeface="Cambria Math" panose="02040503050406030204" pitchFamily="18" charset="0"/>
                              <a:ea typeface="Microsoft YaHei" charset="0"/>
                            </a:rPr>
                          </m:ctrlPr>
                        </m:naryPr>
                        <m:sub>
                          <m:r>
                            <m:rPr>
                              <m:brk m:alnAt="23"/>
                            </m:rPr>
                            <a:rPr lang="en-US" altLang="zh-CN" sz="2200" b="0" i="1" smtClean="0">
                              <a:latin typeface="Cambria Math" panose="02040503050406030204" pitchFamily="18" charset="0"/>
                              <a:ea typeface="Microsoft YaHei" charset="0"/>
                            </a:rPr>
                            <m:t>𝑗</m:t>
                          </m:r>
                          <m:r>
                            <a:rPr lang="en-US" altLang="zh-CN" sz="2200" b="0" i="1" smtClean="0">
                              <a:latin typeface="Cambria Math" panose="02040503050406030204" pitchFamily="18" charset="0"/>
                              <a:ea typeface="Microsoft YaHei" charset="0"/>
                            </a:rPr>
                            <m:t>=1</m:t>
                          </m:r>
                        </m:sub>
                        <m:sup>
                          <m:r>
                            <a:rPr lang="en-US" altLang="zh-CN" sz="2200" b="0" i="1" smtClean="0">
                              <a:latin typeface="Cambria Math" panose="02040503050406030204" pitchFamily="18" charset="0"/>
                              <a:ea typeface="Microsoft YaHei" charset="0"/>
                            </a:rPr>
                            <m:t>𝑇</m:t>
                          </m:r>
                        </m:sup>
                        <m:e>
                          <m:f>
                            <m:fPr>
                              <m:ctrlPr>
                                <a:rPr lang="en-US" altLang="zh-CN" sz="2200" i="1">
                                  <a:latin typeface="Cambria Math" panose="02040503050406030204" pitchFamily="18" charset="0"/>
                                  <a:ea typeface="Microsoft YaHei" charset="0"/>
                                </a:rPr>
                              </m:ctrlPr>
                            </m:fPr>
                            <m:num>
                              <m:sSup>
                                <m:sSupPr>
                                  <m:ctrlPr>
                                    <a:rPr lang="en-US" altLang="zh-CN" sz="2200" i="1" smtClean="0">
                                      <a:latin typeface="Cambria Math" panose="02040503050406030204" pitchFamily="18" charset="0"/>
                                      <a:ea typeface="Microsoft YaHei" charset="0"/>
                                    </a:rPr>
                                  </m:ctrlPr>
                                </m:sSupPr>
                                <m:e>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𝐺</m:t>
                                      </m:r>
                                    </m:e>
                                    <m:sub>
                                      <m:r>
                                        <a:rPr lang="en-US" altLang="zh-CN" sz="2200" i="1">
                                          <a:latin typeface="Cambria Math" panose="02040503050406030204" pitchFamily="18" charset="0"/>
                                          <a:ea typeface="Microsoft YaHei" charset="0"/>
                                        </a:rPr>
                                        <m:t>𝑗</m:t>
                                      </m:r>
                                    </m:sub>
                                  </m:sSub>
                                </m:e>
                                <m:sup>
                                  <m:r>
                                    <a:rPr lang="en-US" altLang="zh-CN" sz="2200" b="0" i="1" smtClean="0">
                                      <a:latin typeface="Cambria Math" panose="02040503050406030204" pitchFamily="18" charset="0"/>
                                      <a:ea typeface="Microsoft YaHei" charset="0"/>
                                    </a:rPr>
                                    <m:t>2</m:t>
                                  </m:r>
                                </m:sup>
                              </m:sSup>
                            </m:num>
                            <m:den>
                              <m:sSub>
                                <m:sSubPr>
                                  <m:ctrlPr>
                                    <a:rPr lang="en-US" altLang="zh-CN" sz="2200" i="1">
                                      <a:latin typeface="Cambria Math" panose="02040503050406030204" pitchFamily="18" charset="0"/>
                                      <a:ea typeface="Microsoft YaHei" charset="0"/>
                                    </a:rPr>
                                  </m:ctrlPr>
                                </m:sSubPr>
                                <m:e>
                                  <m:r>
                                    <a:rPr lang="en-US" altLang="zh-CN" sz="2200" i="1">
                                      <a:latin typeface="Cambria Math" panose="02040503050406030204" pitchFamily="18" charset="0"/>
                                      <a:ea typeface="Microsoft YaHei" charset="0"/>
                                    </a:rPr>
                                    <m:t>𝐻</m:t>
                                  </m:r>
                                </m:e>
                                <m:sub>
                                  <m:r>
                                    <a:rPr lang="en-US" altLang="zh-CN" sz="2200" i="1">
                                      <a:latin typeface="Cambria Math" panose="02040503050406030204" pitchFamily="18" charset="0"/>
                                      <a:ea typeface="Microsoft YaHei" charset="0"/>
                                    </a:rPr>
                                    <m:t>𝑗</m:t>
                                  </m:r>
                                </m:sub>
                              </m:sSub>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𝜆</m:t>
                              </m:r>
                            </m:den>
                          </m:f>
                        </m:e>
                      </m:nary>
                      <m:r>
                        <a:rPr lang="en-US" altLang="zh-CN" sz="2200" i="1">
                          <a:latin typeface="Cambria Math" panose="02040503050406030204" pitchFamily="18" charset="0"/>
                          <a:ea typeface="Microsoft YaHei" charset="0"/>
                        </a:rPr>
                        <m:t>+</m:t>
                      </m:r>
                      <m:r>
                        <a:rPr lang="zh-CN" altLang="en-US" sz="2200" i="1">
                          <a:latin typeface="Cambria Math" panose="02040503050406030204" pitchFamily="18" charset="0"/>
                          <a:ea typeface="Cambria Math" panose="02040503050406030204" pitchFamily="18" charset="0"/>
                        </a:rPr>
                        <m:t>𝛾</m:t>
                      </m:r>
                      <m:r>
                        <a:rPr lang="en-US" altLang="zh-CN" sz="2200" i="1">
                          <a:latin typeface="Cambria Math" panose="02040503050406030204" pitchFamily="18" charset="0"/>
                          <a:ea typeface="Cambria Math" panose="02040503050406030204" pitchFamily="18" charset="0"/>
                        </a:rPr>
                        <m:t>𝑇</m:t>
                      </m:r>
                    </m:oMath>
                  </m:oMathPara>
                </a14:m>
                <a:endParaRPr lang="zh-CN" altLang="en-US" sz="2200" dirty="0">
                  <a:latin typeface="KaiTi" panose="02010609060101010101" pitchFamily="49" charset="-122"/>
                  <a:ea typeface="KaiTi" panose="02010609060101010101" pitchFamily="49" charset="-122"/>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7483076" y="3463388"/>
                <a:ext cx="2731902" cy="990207"/>
              </a:xfrm>
              <a:prstGeom prst="rect">
                <a:avLst/>
              </a:prstGeom>
              <a:blipFill>
                <a:blip r:embed="rId9"/>
                <a:stretch>
                  <a:fillRect/>
                </a:stretch>
              </a:blipFill>
            </p:spPr>
            <p:txBody>
              <a:bodyPr/>
              <a:lstStyle/>
              <a:p>
                <a:r>
                  <a:rPr lang="ko-KR" altLang="en-US">
                    <a:noFill/>
                  </a:rPr>
                  <a:t> </a:t>
                </a:r>
              </a:p>
            </p:txBody>
          </p:sp>
        </mc:Fallback>
      </mc:AlternateContent>
      <p:sp>
        <p:nvSpPr>
          <p:cNvPr id="18" name="圆角矩形 17"/>
          <p:cNvSpPr/>
          <p:nvPr/>
        </p:nvSpPr>
        <p:spPr>
          <a:xfrm>
            <a:off x="7762328" y="3440004"/>
            <a:ext cx="2809519" cy="1057342"/>
          </a:xfrm>
          <a:prstGeom prst="round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p:sp>
        <p:nvSpPr>
          <p:cNvPr id="26"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9" name="Rectangle 2">
            <a:extLst>
              <a:ext uri="{FF2B5EF4-FFF2-40B4-BE49-F238E27FC236}">
                <a16:creationId xmlns:a16="http://schemas.microsoft.com/office/drawing/2014/main" id="{704B7A34-64A2-490A-B00A-541846A1411F}"/>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451545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 calcmode="lin" valueType="num">
                                      <p:cBhvr>
                                        <p:cTn id="64" dur="500" fill="hold"/>
                                        <p:tgtEl>
                                          <p:spTgt spid="13"/>
                                        </p:tgtEl>
                                        <p:attrNameLst>
                                          <p:attrName>ppt_w</p:attrName>
                                        </p:attrNameLst>
                                      </p:cBhvr>
                                      <p:tavLst>
                                        <p:tav tm="0">
                                          <p:val>
                                            <p:fltVal val="0"/>
                                          </p:val>
                                        </p:tav>
                                        <p:tav tm="100000">
                                          <p:val>
                                            <p:strVal val="#ppt_w"/>
                                          </p:val>
                                        </p:tav>
                                      </p:tavLst>
                                    </p:anim>
                                    <p:anim calcmode="lin" valueType="num">
                                      <p:cBhvr>
                                        <p:cTn id="65" dur="500" fill="hold"/>
                                        <p:tgtEl>
                                          <p:spTgt spid="13"/>
                                        </p:tgtEl>
                                        <p:attrNameLst>
                                          <p:attrName>ppt_h</p:attrName>
                                        </p:attrNameLst>
                                      </p:cBhvr>
                                      <p:tavLst>
                                        <p:tav tm="0">
                                          <p:val>
                                            <p:fltVal val="0"/>
                                          </p:val>
                                        </p:tav>
                                        <p:tav tm="100000">
                                          <p:val>
                                            <p:strVal val="#ppt_h"/>
                                          </p:val>
                                        </p:tav>
                                      </p:tavLst>
                                    </p:anim>
                                    <p:animEffect transition="in" filter="fade">
                                      <p:cBhvr>
                                        <p:cTn id="66" dur="500"/>
                                        <p:tgtEl>
                                          <p:spTgt spid="13"/>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p:cTn id="69" dur="500" fill="hold"/>
                                        <p:tgtEl>
                                          <p:spTgt spid="14"/>
                                        </p:tgtEl>
                                        <p:attrNameLst>
                                          <p:attrName>ppt_w</p:attrName>
                                        </p:attrNameLst>
                                      </p:cBhvr>
                                      <p:tavLst>
                                        <p:tav tm="0">
                                          <p:val>
                                            <p:fltVal val="0"/>
                                          </p:val>
                                        </p:tav>
                                        <p:tav tm="100000">
                                          <p:val>
                                            <p:strVal val="#ppt_w"/>
                                          </p:val>
                                        </p:tav>
                                      </p:tavLst>
                                    </p:anim>
                                    <p:anim calcmode="lin" valueType="num">
                                      <p:cBhvr>
                                        <p:cTn id="70" dur="500" fill="hold"/>
                                        <p:tgtEl>
                                          <p:spTgt spid="14"/>
                                        </p:tgtEl>
                                        <p:attrNameLst>
                                          <p:attrName>ppt_h</p:attrName>
                                        </p:attrNameLst>
                                      </p:cBhvr>
                                      <p:tavLst>
                                        <p:tav tm="0">
                                          <p:val>
                                            <p:fltVal val="0"/>
                                          </p:val>
                                        </p:tav>
                                        <p:tav tm="100000">
                                          <p:val>
                                            <p:strVal val="#ppt_h"/>
                                          </p:val>
                                        </p:tav>
                                      </p:tavLst>
                                    </p:anim>
                                    <p:animEffect transition="in" filter="fade">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14" presetClass="entr" presetSubtype="1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randombar(horizontal)">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500" fill="hold"/>
                                        <p:tgtEl>
                                          <p:spTgt spid="17"/>
                                        </p:tgtEl>
                                        <p:attrNameLst>
                                          <p:attrName>ppt_w</p:attrName>
                                        </p:attrNameLst>
                                      </p:cBhvr>
                                      <p:tavLst>
                                        <p:tav tm="0">
                                          <p:val>
                                            <p:fltVal val="0"/>
                                          </p:val>
                                        </p:tav>
                                        <p:tav tm="100000">
                                          <p:val>
                                            <p:strVal val="#ppt_w"/>
                                          </p:val>
                                        </p:tav>
                                      </p:tavLst>
                                    </p:anim>
                                    <p:anim calcmode="lin" valueType="num">
                                      <p:cBhvr>
                                        <p:cTn id="82" dur="500" fill="hold"/>
                                        <p:tgtEl>
                                          <p:spTgt spid="17"/>
                                        </p:tgtEl>
                                        <p:attrNameLst>
                                          <p:attrName>ppt_h</p:attrName>
                                        </p:attrNameLst>
                                      </p:cBhvr>
                                      <p:tavLst>
                                        <p:tav tm="0">
                                          <p:val>
                                            <p:fltVal val="0"/>
                                          </p:val>
                                        </p:tav>
                                        <p:tav tm="100000">
                                          <p:val>
                                            <p:strVal val="#ppt_h"/>
                                          </p:val>
                                        </p:tav>
                                      </p:tavLst>
                                    </p:anim>
                                    <p:animEffect transition="in" filter="fade">
                                      <p:cBhvr>
                                        <p:cTn id="83" dur="500"/>
                                        <p:tgtEl>
                                          <p:spTgt spid="17"/>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 calcmode="lin" valueType="num">
                                      <p:cBhvr additive="base">
                                        <p:cTn id="88" dur="500" fill="hold"/>
                                        <p:tgtEl>
                                          <p:spTgt spid="18"/>
                                        </p:tgtEl>
                                        <p:attrNameLst>
                                          <p:attrName>ppt_x</p:attrName>
                                        </p:attrNameLst>
                                      </p:cBhvr>
                                      <p:tavLst>
                                        <p:tav tm="0">
                                          <p:val>
                                            <p:strVal val="#ppt_x"/>
                                          </p:val>
                                        </p:tav>
                                        <p:tav tm="100000">
                                          <p:val>
                                            <p:strVal val="#ppt_x"/>
                                          </p:val>
                                        </p:tav>
                                      </p:tavLst>
                                    </p:anim>
                                    <p:anim calcmode="lin" valueType="num">
                                      <p:cBhvr additive="base">
                                        <p:cTn id="8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p:bldP spid="10" grpId="0" animBg="1"/>
      <p:bldP spid="11" grpId="0"/>
      <p:bldP spid="12" grpId="0"/>
      <p:bldP spid="13" grpId="0" animBg="1"/>
      <p:bldP spid="14" grpId="0"/>
      <p:bldP spid="16" grpId="0" animBg="1"/>
      <p:bldP spid="17" grpId="0"/>
      <p:bldP spid="1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3101372" y="4361086"/>
                <a:ext cx="3837974" cy="15419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nary>
                        <m:naryPr>
                          <m:chr m:val="∑"/>
                          <m:ctrlPr>
                            <a:rPr lang="en-US" altLang="zh-CN" i="1">
                              <a:latin typeface="Cambria Math" panose="02040503050406030204" pitchFamily="18" charset="0"/>
                              <a:ea typeface="Microsoft YaHei" charset="0"/>
                            </a:rPr>
                          </m:ctrlPr>
                        </m:naryPr>
                        <m:sub>
                          <m:r>
                            <m:rPr>
                              <m:brk m:alnAt="23"/>
                            </m:rPr>
                            <a:rPr lang="en-US" altLang="zh-CN" i="1">
                              <a:latin typeface="Cambria Math" panose="02040503050406030204" pitchFamily="18" charset="0"/>
                              <a:ea typeface="Microsoft YaHei" charset="0"/>
                            </a:rPr>
                            <m:t>𝑗</m:t>
                          </m:r>
                          <m:r>
                            <a:rPr lang="en-US" altLang="zh-CN" i="1">
                              <a:latin typeface="Cambria Math" panose="02040503050406030204" pitchFamily="18" charset="0"/>
                              <a:ea typeface="Microsoft YaHei" charset="0"/>
                            </a:rPr>
                            <m:t>=1</m:t>
                          </m:r>
                        </m:sub>
                        <m:sup>
                          <m:r>
                            <a:rPr lang="en-US" altLang="zh-CN" i="1">
                              <a:latin typeface="Cambria Math" panose="02040503050406030204" pitchFamily="18" charset="0"/>
                              <a:ea typeface="Microsoft YaHei" charset="0"/>
                            </a:rPr>
                            <m:t>𝑇</m:t>
                          </m:r>
                        </m:sup>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i="1">
                                          <a:latin typeface="Cambria Math" panose="02040503050406030204" pitchFamily="18" charset="0"/>
                                          <a:ea typeface="Microsoft YaHei" charset="0"/>
                                        </a:rPr>
                                        <m:t>𝑗</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i="1">
                                      <a:latin typeface="Cambria Math" panose="02040503050406030204" pitchFamily="18" charset="0"/>
                                      <a:ea typeface="Microsoft YaHei" charset="0"/>
                                    </a:rPr>
                                    <m:t>𝑗</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nary>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r>
                        <a:rPr lang="en-US" altLang="zh-CN" i="1">
                          <a:latin typeface="Cambria Math" panose="02040503050406030204" pitchFamily="18" charset="0"/>
                          <a:ea typeface="Cambria Math" panose="02040503050406030204" pitchFamily="18" charset="0"/>
                        </a:rPr>
                        <m:t>𝑇</m:t>
                      </m:r>
                    </m:oMath>
                  </m:oMathPara>
                </a14:m>
                <a:endParaRPr lang="zh-CN" altLang="en-US" dirty="0">
                  <a:latin typeface="KaiTi" panose="02010609060101010101" pitchFamily="49" charset="-122"/>
                  <a:ea typeface="KaiTi" panose="02010609060101010101" pitchFamily="49" charset="-122"/>
                </a:endParaRPr>
              </a:p>
              <a:p>
                <a:endParaRPr lang="zh-CN" altLang="en-US" dirty="0">
                  <a:latin typeface="KaiTi" panose="02010609060101010101" pitchFamily="49" charset="-122"/>
                  <a:ea typeface="KaiTi"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3101372" y="4361086"/>
                <a:ext cx="3837974" cy="1541961"/>
              </a:xfrm>
              <a:prstGeom prst="rect">
                <a:avLst/>
              </a:prstGeom>
              <a:blipFill>
                <a:blip r:embed="rId2"/>
                <a:stretch>
                  <a:fillRect/>
                </a:stretch>
              </a:blipFill>
            </p:spPr>
            <p:txBody>
              <a:bodyPr/>
              <a:lstStyle/>
              <a:p>
                <a:r>
                  <a:rPr lang="ko-KR" altLang="en-US">
                    <a:noFill/>
                  </a:rPr>
                  <a:t> </a:t>
                </a:r>
              </a:p>
            </p:txBody>
          </p:sp>
        </mc:Fallback>
      </mc:AlternateContent>
      <p:pic>
        <p:nvPicPr>
          <p:cNvPr id="5" name="图片 4"/>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775776" y="2036879"/>
            <a:ext cx="953134" cy="3276890"/>
          </a:xfrm>
          <a:prstGeom prst="rect">
            <a:avLst/>
          </a:prstGeom>
        </p:spPr>
      </p:pic>
      <p:pic>
        <p:nvPicPr>
          <p:cNvPr id="6" name="图片 5"/>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2044050" y="2036879"/>
            <a:ext cx="1057322" cy="3276890"/>
          </a:xfrm>
          <a:prstGeom prst="rect">
            <a:avLst/>
          </a:prstGeom>
        </p:spPr>
      </p:pic>
      <p:pic>
        <p:nvPicPr>
          <p:cNvPr id="7" name="图片 6"/>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7173446" y="1901952"/>
            <a:ext cx="4329774" cy="2190615"/>
          </a:xfrm>
          <a:prstGeom prst="rect">
            <a:avLst/>
          </a:prstGeom>
        </p:spPr>
      </p:pic>
      <p:pic>
        <p:nvPicPr>
          <p:cNvPr id="8" name="图片 7"/>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3350946" y="2038177"/>
            <a:ext cx="3363443" cy="2085665"/>
          </a:xfrm>
          <a:prstGeom prst="rect">
            <a:avLst/>
          </a:prstGeom>
        </p:spPr>
      </p:pic>
      <mc:AlternateContent xmlns:mc="http://schemas.openxmlformats.org/markup-compatibility/2006" xmlns:a14="http://schemas.microsoft.com/office/drawing/2010/main">
        <mc:Choice Requires="a14">
          <p:sp>
            <p:nvSpPr>
              <p:cNvPr id="9" name="矩形 8"/>
              <p:cNvSpPr/>
              <p:nvPr/>
            </p:nvSpPr>
            <p:spPr>
              <a:xfrm>
                <a:off x="7270243" y="4629605"/>
                <a:ext cx="3826689" cy="15419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icrosoft YaHei" charset="0"/>
                        </a:rPr>
                        <m:t>𝑂𝑏𝑗</m:t>
                      </m:r>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nary>
                        <m:naryPr>
                          <m:chr m:val="∑"/>
                          <m:ctrlPr>
                            <a:rPr lang="en-US" altLang="zh-CN" i="1">
                              <a:latin typeface="Cambria Math" panose="02040503050406030204" pitchFamily="18" charset="0"/>
                              <a:ea typeface="Microsoft YaHei" charset="0"/>
                            </a:rPr>
                          </m:ctrlPr>
                        </m:naryPr>
                        <m:sub>
                          <m:r>
                            <m:rPr>
                              <m:brk m:alnAt="23"/>
                            </m:rPr>
                            <a:rPr lang="en-US" altLang="zh-CN" i="1">
                              <a:latin typeface="Cambria Math" panose="02040503050406030204" pitchFamily="18" charset="0"/>
                              <a:ea typeface="Microsoft YaHei" charset="0"/>
                            </a:rPr>
                            <m:t>𝑗</m:t>
                          </m:r>
                          <m:r>
                            <a:rPr lang="en-US" altLang="zh-CN" i="1">
                              <a:latin typeface="Cambria Math" panose="02040503050406030204" pitchFamily="18" charset="0"/>
                              <a:ea typeface="Microsoft YaHei" charset="0"/>
                            </a:rPr>
                            <m:t>=1</m:t>
                          </m:r>
                        </m:sub>
                        <m:sup>
                          <m:r>
                            <a:rPr lang="en-US" altLang="zh-CN" i="1">
                              <a:latin typeface="Cambria Math" panose="02040503050406030204" pitchFamily="18" charset="0"/>
                              <a:ea typeface="Microsoft YaHei" charset="0"/>
                            </a:rPr>
                            <m:t>𝑇</m:t>
                          </m:r>
                        </m:sup>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i="1">
                                          <a:latin typeface="Cambria Math" panose="02040503050406030204" pitchFamily="18" charset="0"/>
                                          <a:ea typeface="Microsoft YaHei" charset="0"/>
                                        </a:rPr>
                                        <m:t>𝑗</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i="1">
                                      <a:latin typeface="Cambria Math" panose="02040503050406030204" pitchFamily="18" charset="0"/>
                                      <a:ea typeface="Microsoft YaHei" charset="0"/>
                                    </a:rPr>
                                    <m:t>𝑗</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nary>
                      <m:r>
                        <a:rPr lang="en-US" altLang="zh-CN" i="1">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3</m:t>
                      </m:r>
                      <m:r>
                        <a:rPr lang="zh-CN" altLang="en-US" i="1" smtClean="0">
                          <a:latin typeface="Cambria Math" panose="02040503050406030204" pitchFamily="18" charset="0"/>
                          <a:ea typeface="Cambria Math" panose="02040503050406030204" pitchFamily="18" charset="0"/>
                        </a:rPr>
                        <m:t>𝛾</m:t>
                      </m:r>
                    </m:oMath>
                  </m:oMathPara>
                </a14:m>
                <a:endParaRPr lang="zh-CN" altLang="en-US" dirty="0">
                  <a:latin typeface="KaiTi" panose="02010609060101010101" pitchFamily="49" charset="-122"/>
                  <a:ea typeface="KaiTi" panose="02010609060101010101" pitchFamily="49" charset="-122"/>
                </a:endParaRPr>
              </a:p>
              <a:p>
                <a:endParaRPr lang="zh-CN" altLang="en-US" dirty="0">
                  <a:latin typeface="KaiTi" panose="02010609060101010101" pitchFamily="49" charset="-122"/>
                  <a:ea typeface="KaiTi" panose="02010609060101010101" pitchFamily="49"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7270243" y="4629605"/>
                <a:ext cx="3826689" cy="1541961"/>
              </a:xfrm>
              <a:prstGeom prst="rect">
                <a:avLst/>
              </a:prstGeom>
              <a:blipFill>
                <a:blip r:embed="rId11"/>
                <a:stretch>
                  <a:fillRect/>
                </a:stretch>
              </a:blipFill>
            </p:spPr>
            <p:txBody>
              <a:bodyPr/>
              <a:lstStyle/>
              <a:p>
                <a:r>
                  <a:rPr lang="ko-KR" altLang="en-US">
                    <a:noFill/>
                  </a:rPr>
                  <a:t> </a:t>
                </a:r>
              </a:p>
            </p:txBody>
          </p:sp>
        </mc:Fallback>
      </mc:AlternateContent>
      <p:sp>
        <p:nvSpPr>
          <p:cNvPr id="10" name="下箭头 9"/>
          <p:cNvSpPr/>
          <p:nvPr/>
        </p:nvSpPr>
        <p:spPr>
          <a:xfrm>
            <a:off x="8917871" y="4235086"/>
            <a:ext cx="165463" cy="252000"/>
          </a:xfrm>
          <a:prstGeom prst="downArrow">
            <a:avLst/>
          </a:prstGeom>
          <a:solidFill>
            <a:srgbClr val="23BAC3"/>
          </a:solidFill>
          <a:ln>
            <a:solidFill>
              <a:srgbClr val="23BAC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1" name="文本框 10"/>
          <p:cNvSpPr txBox="1"/>
          <p:nvPr/>
        </p:nvSpPr>
        <p:spPr>
          <a:xfrm>
            <a:off x="6864814" y="5871007"/>
            <a:ext cx="4858013" cy="461665"/>
          </a:xfrm>
          <a:prstGeom prst="rect">
            <a:avLst/>
          </a:prstGeom>
          <a:noFill/>
        </p:spPr>
        <p:txBody>
          <a:bodyPr wrap="square" rtlCol="0">
            <a:spAutoFit/>
          </a:bodyPr>
          <a:lstStyle/>
          <a:p>
            <a:r>
              <a:rPr lang="zh-CN" altLang="en-US" dirty="0">
                <a:latin typeface="KaiTi" panose="02010609060101010101" pitchFamily="49" charset="-122"/>
                <a:ea typeface="KaiTi" panose="02010609060101010101" pitchFamily="49" charset="-122"/>
              </a:rPr>
              <a:t>分数越小，代表这个树的结构越好</a:t>
            </a:r>
          </a:p>
        </p:txBody>
      </p:sp>
      <p:sp>
        <p:nvSpPr>
          <p:cNvPr id="19"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latin typeface="KaiTi" panose="02010609060101010101" pitchFamily="49" charset="-122"/>
              <a:ea typeface="KaiTi" panose="02010609060101010101" pitchFamily="49" charset="-122"/>
            </a:endParaRPr>
          </a:p>
        </p:txBody>
      </p:sp>
      <p:sp>
        <p:nvSpPr>
          <p:cNvPr id="12" name="Rectangle 2">
            <a:extLst>
              <a:ext uri="{FF2B5EF4-FFF2-40B4-BE49-F238E27FC236}">
                <a16:creationId xmlns:a16="http://schemas.microsoft.com/office/drawing/2014/main" id="{10D061B3-146E-4014-8BEF-79DB857741E1}"/>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332439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500" fill="hold"/>
                                        <p:tgtEl>
                                          <p:spTgt spid="10"/>
                                        </p:tgtEl>
                                        <p:attrNameLst>
                                          <p:attrName>ppt_w</p:attrName>
                                        </p:attrNameLst>
                                      </p:cBhvr>
                                      <p:tavLst>
                                        <p:tav tm="0">
                                          <p:val>
                                            <p:fltVal val="0"/>
                                          </p:val>
                                        </p:tav>
                                        <p:tav tm="100000">
                                          <p:val>
                                            <p:strVal val="#ppt_w"/>
                                          </p:val>
                                        </p:tav>
                                      </p:tavLst>
                                    </p:anim>
                                    <p:anim calcmode="lin" valueType="num">
                                      <p:cBhvr>
                                        <p:cTn id="43" dur="500" fill="hold"/>
                                        <p:tgtEl>
                                          <p:spTgt spid="10"/>
                                        </p:tgtEl>
                                        <p:attrNameLst>
                                          <p:attrName>ppt_h</p:attrName>
                                        </p:attrNameLst>
                                      </p:cBhvr>
                                      <p:tavLst>
                                        <p:tav tm="0">
                                          <p:val>
                                            <p:fltVal val="0"/>
                                          </p:val>
                                        </p:tav>
                                        <p:tav tm="100000">
                                          <p:val>
                                            <p:strVal val="#ppt_h"/>
                                          </p:val>
                                        </p:tav>
                                      </p:tavLst>
                                    </p:anim>
                                    <p:animEffect transition="in" filter="fade">
                                      <p:cBhvr>
                                        <p:cTn id="44" dur="500"/>
                                        <p:tgtEl>
                                          <p:spTgt spid="10"/>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500" fill="hold"/>
                                        <p:tgtEl>
                                          <p:spTgt spid="9"/>
                                        </p:tgtEl>
                                        <p:attrNameLst>
                                          <p:attrName>ppt_w</p:attrName>
                                        </p:attrNameLst>
                                      </p:cBhvr>
                                      <p:tavLst>
                                        <p:tav tm="0">
                                          <p:val>
                                            <p:fltVal val="0"/>
                                          </p:val>
                                        </p:tav>
                                        <p:tav tm="100000">
                                          <p:val>
                                            <p:strVal val="#ppt_w"/>
                                          </p:val>
                                        </p:tav>
                                      </p:tavLst>
                                    </p:anim>
                                    <p:anim calcmode="lin" valueType="num">
                                      <p:cBhvr>
                                        <p:cTn id="48" dur="500" fill="hold"/>
                                        <p:tgtEl>
                                          <p:spTgt spid="9"/>
                                        </p:tgtEl>
                                        <p:attrNameLst>
                                          <p:attrName>ppt_h</p:attrName>
                                        </p:attrNameLst>
                                      </p:cBhvr>
                                      <p:tavLst>
                                        <p:tav tm="0">
                                          <p:val>
                                            <p:fltVal val="0"/>
                                          </p:val>
                                        </p:tav>
                                        <p:tav tm="100000">
                                          <p:val>
                                            <p:strVal val="#ppt_h"/>
                                          </p:val>
                                        </p:tav>
                                      </p:tavLst>
                                    </p:anim>
                                    <p:animEffect transition="in" filter="fade">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p:cTn id="54" dur="500" fill="hold"/>
                                        <p:tgtEl>
                                          <p:spTgt spid="11"/>
                                        </p:tgtEl>
                                        <p:attrNameLst>
                                          <p:attrName>ppt_w</p:attrName>
                                        </p:attrNameLst>
                                      </p:cBhvr>
                                      <p:tavLst>
                                        <p:tav tm="0">
                                          <p:val>
                                            <p:fltVal val="0"/>
                                          </p:val>
                                        </p:tav>
                                        <p:tav tm="100000">
                                          <p:val>
                                            <p:strVal val="#ppt_w"/>
                                          </p:val>
                                        </p:tav>
                                      </p:tavLst>
                                    </p:anim>
                                    <p:anim calcmode="lin" valueType="num">
                                      <p:cBhvr>
                                        <p:cTn id="55" dur="500" fill="hold"/>
                                        <p:tgtEl>
                                          <p:spTgt spid="11"/>
                                        </p:tgtEl>
                                        <p:attrNameLst>
                                          <p:attrName>ppt_h</p:attrName>
                                        </p:attrNameLst>
                                      </p:cBhvr>
                                      <p:tavLst>
                                        <p:tav tm="0">
                                          <p:val>
                                            <p:fltVal val="0"/>
                                          </p:val>
                                        </p:tav>
                                        <p:tav tm="100000">
                                          <p:val>
                                            <p:strVal val="#ppt_h"/>
                                          </p:val>
                                        </p:tav>
                                      </p:tavLst>
                                    </p:anim>
                                    <p:animEffect transition="in" filter="fade">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animBg="1"/>
      <p:bldP spid="1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1628309" y="1722651"/>
                <a:ext cx="3743461" cy="15419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𝑂𝑏𝑗</m:t>
                      </m:r>
                      <m:r>
                        <a:rPr lang="en-US" altLang="zh-CN" i="1">
                          <a:latin typeface="Cambria Math" panose="02040503050406030204" pitchFamily="18" charset="0"/>
                          <a:ea typeface="Microsoft YaHei" charset="0"/>
                        </a:rPr>
                        <m:t>=−</m:t>
                      </m:r>
                      <m:f>
                        <m:fPr>
                          <m:ctrlPr>
                            <a:rPr lang="en-US" altLang="zh-CN" i="1">
                              <a:latin typeface="Cambria Math" panose="02040503050406030204" pitchFamily="18" charset="0"/>
                              <a:ea typeface="Microsoft YaHei" charset="0"/>
                            </a:rPr>
                          </m:ctrlPr>
                        </m:fPr>
                        <m:num>
                          <m:r>
                            <a:rPr lang="en-US" altLang="zh-CN" i="1">
                              <a:latin typeface="Cambria Math" panose="02040503050406030204" pitchFamily="18" charset="0"/>
                              <a:ea typeface="Microsoft YaHei" charset="0"/>
                            </a:rPr>
                            <m:t>1</m:t>
                          </m:r>
                        </m:num>
                        <m:den>
                          <m:r>
                            <a:rPr lang="en-US" altLang="zh-CN" i="1">
                              <a:latin typeface="Cambria Math" panose="02040503050406030204" pitchFamily="18" charset="0"/>
                              <a:ea typeface="Microsoft YaHei" charset="0"/>
                            </a:rPr>
                            <m:t>2</m:t>
                          </m:r>
                        </m:den>
                      </m:f>
                      <m:nary>
                        <m:naryPr>
                          <m:chr m:val="∑"/>
                          <m:ctrlPr>
                            <a:rPr lang="en-US" altLang="zh-CN" i="1">
                              <a:latin typeface="Cambria Math" panose="02040503050406030204" pitchFamily="18" charset="0"/>
                              <a:ea typeface="Microsoft YaHei" charset="0"/>
                            </a:rPr>
                          </m:ctrlPr>
                        </m:naryPr>
                        <m:sub>
                          <m:r>
                            <m:rPr>
                              <m:brk m:alnAt="23"/>
                            </m:rPr>
                            <a:rPr lang="en-US" altLang="zh-CN" i="1">
                              <a:latin typeface="Cambria Math" panose="02040503050406030204" pitchFamily="18" charset="0"/>
                              <a:ea typeface="Microsoft YaHei" charset="0"/>
                            </a:rPr>
                            <m:t>𝑗</m:t>
                          </m:r>
                          <m:r>
                            <a:rPr lang="en-US" altLang="zh-CN" i="1">
                              <a:latin typeface="Cambria Math" panose="02040503050406030204" pitchFamily="18" charset="0"/>
                              <a:ea typeface="Microsoft YaHei" charset="0"/>
                            </a:rPr>
                            <m:t>=1</m:t>
                          </m:r>
                        </m:sub>
                        <m:sup>
                          <m:r>
                            <a:rPr lang="en-US" altLang="zh-CN" i="1">
                              <a:latin typeface="Cambria Math" panose="02040503050406030204" pitchFamily="18" charset="0"/>
                              <a:ea typeface="Microsoft YaHei" charset="0"/>
                            </a:rPr>
                            <m:t>𝑇</m:t>
                          </m:r>
                        </m:sup>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i="1">
                                          <a:latin typeface="Cambria Math" panose="02040503050406030204" pitchFamily="18" charset="0"/>
                                          <a:ea typeface="Microsoft YaHei" charset="0"/>
                                        </a:rPr>
                                        <m:t>𝑗</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i="1">
                                      <a:latin typeface="Cambria Math" panose="02040503050406030204" pitchFamily="18" charset="0"/>
                                      <a:ea typeface="Microsoft YaHei" charset="0"/>
                                    </a:rPr>
                                    <m:t>𝑗</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nary>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r>
                        <a:rPr lang="en-US" altLang="zh-CN" i="1">
                          <a:latin typeface="Cambria Math" panose="02040503050406030204" pitchFamily="18" charset="0"/>
                          <a:ea typeface="Cambria Math" panose="02040503050406030204" pitchFamily="18" charset="0"/>
                        </a:rPr>
                        <m:t>𝑇</m:t>
                      </m:r>
                    </m:oMath>
                  </m:oMathPara>
                </a14:m>
                <a:endParaRPr lang="zh-CN" altLang="en-US" dirty="0">
                  <a:latin typeface="KaiTi" panose="02010609060101010101" pitchFamily="49" charset="-122"/>
                  <a:ea typeface="KaiTi" panose="02010609060101010101" pitchFamily="49" charset="-122"/>
                </a:endParaRPr>
              </a:p>
              <a:p>
                <a:endParaRPr lang="zh-CN" altLang="en-US" dirty="0">
                  <a:latin typeface="KaiTi" panose="02010609060101010101" pitchFamily="49" charset="-122"/>
                  <a:ea typeface="KaiTi" panose="02010609060101010101" pitchFamily="49"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1628309" y="1722651"/>
                <a:ext cx="3743461" cy="1541961"/>
              </a:xfrm>
              <a:prstGeom prst="rect">
                <a:avLst/>
              </a:prstGeom>
              <a:blipFill>
                <a:blip r:embed="rId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628309" y="3401440"/>
                <a:ext cx="552228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𝑔𝑎𝑖𝑛</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Cambria Math" panose="02040503050406030204" pitchFamily="18" charset="0"/>
                            </a:rPr>
                            <m:t>∅</m:t>
                          </m:r>
                        </m:e>
                      </m:d>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𝑔𝑎𝑖𝑛</m:t>
                      </m:r>
                      <m:d>
                        <m:dPr>
                          <m:ctrlPr>
                            <a:rPr lang="en-US" altLang="zh-CN" b="0" i="1" smtClean="0">
                              <a:latin typeface="Cambria Math" panose="02040503050406030204" pitchFamily="18" charset="0"/>
                              <a:ea typeface="Microsoft YaHei" charset="0"/>
                            </a:rPr>
                          </m:ctrlPr>
                        </m:dPr>
                        <m:e>
                          <m:r>
                            <a:rPr lang="en-US" altLang="zh-CN" b="0" i="1" smtClean="0">
                              <a:latin typeface="Cambria Math" panose="02040503050406030204" pitchFamily="18" charset="0"/>
                              <a:ea typeface="Microsoft YaHei" charset="0"/>
                            </a:rPr>
                            <m:t>𝑏𝑒𝑓𝑜𝑟𝑒</m:t>
                          </m:r>
                        </m:e>
                      </m:d>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𝑔𝑎𝑖𝑛</m:t>
                      </m:r>
                      <m:r>
                        <a:rPr lang="en-US" altLang="zh-CN" b="0" i="1" smtClean="0">
                          <a:latin typeface="Cambria Math" panose="02040503050406030204" pitchFamily="18" charset="0"/>
                          <a:ea typeface="Microsoft YaHei" charset="0"/>
                        </a:rPr>
                        <m:t>(</m:t>
                      </m:r>
                      <m:r>
                        <a:rPr lang="en-US" altLang="zh-CN" b="0" i="1" smtClean="0">
                          <a:latin typeface="Cambria Math" panose="02040503050406030204" pitchFamily="18" charset="0"/>
                          <a:ea typeface="Microsoft YaHei" charset="0"/>
                        </a:rPr>
                        <m:t>𝑎𝑓𝑡𝑒𝑟</m:t>
                      </m:r>
                      <m:r>
                        <a:rPr lang="en-US" altLang="zh-CN" b="0" i="1" smtClean="0">
                          <a:latin typeface="Cambria Math" panose="02040503050406030204" pitchFamily="18" charset="0"/>
                          <a:ea typeface="Microsoft YaHei" charset="0"/>
                        </a:rPr>
                        <m:t>)</m:t>
                      </m:r>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628309" y="3401440"/>
                <a:ext cx="5522281" cy="369332"/>
              </a:xfrm>
              <a:prstGeom prst="rect">
                <a:avLst/>
              </a:prstGeom>
              <a:blipFill>
                <a:blip r:embed="rId3"/>
                <a:stretch>
                  <a:fillRect l="-662" r="-773" b="-3606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2555100" y="4066531"/>
                <a:ext cx="5594608" cy="859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Microsoft YaHei" charset="0"/>
                        </a:rPr>
                        <m:t>=</m:t>
                      </m:r>
                      <m:f>
                        <m:fPr>
                          <m:ctrlPr>
                            <a:rPr lang="en-US" altLang="zh-CN" b="0" i="1" smtClean="0">
                              <a:latin typeface="Cambria Math" panose="02040503050406030204" pitchFamily="18" charset="0"/>
                              <a:ea typeface="Microsoft YaHei" charset="0"/>
                            </a:rPr>
                          </m:ctrlPr>
                        </m:fPr>
                        <m:num>
                          <m:r>
                            <a:rPr lang="en-US" altLang="zh-CN" b="0" i="1" smtClean="0">
                              <a:latin typeface="Cambria Math" panose="02040503050406030204" pitchFamily="18" charset="0"/>
                              <a:ea typeface="Microsoft YaHei" charset="0"/>
                            </a:rPr>
                            <m:t>1</m:t>
                          </m:r>
                        </m:num>
                        <m:den>
                          <m:r>
                            <a:rPr lang="en-US" altLang="zh-CN" b="0" i="1" smtClean="0">
                              <a:latin typeface="Cambria Math" panose="02040503050406030204" pitchFamily="18" charset="0"/>
                              <a:ea typeface="Microsoft YaHei" charset="0"/>
                            </a:rPr>
                            <m:t>2</m:t>
                          </m:r>
                        </m:den>
                      </m:f>
                      <m:d>
                        <m:dPr>
                          <m:begChr m:val="["/>
                          <m:endChr m:val="]"/>
                          <m:ctrlPr>
                            <a:rPr lang="en-US" altLang="zh-CN" b="0" i="1" smtClean="0">
                              <a:latin typeface="Cambria Math" panose="02040503050406030204" pitchFamily="18" charset="0"/>
                              <a:ea typeface="Microsoft YaHei" charset="0"/>
                            </a:rPr>
                          </m:ctrlPr>
                        </m:dPr>
                        <m:e>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𝐿</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𝐿</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𝑅</m:t>
                                      </m:r>
                                    </m:sub>
                                  </m:sSub>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𝑅</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Microsoft YaHei" charset="0"/>
                                </a:rPr>
                              </m:ctrlPr>
                            </m:fPr>
                            <m:num>
                              <m:sSup>
                                <m:sSupPr>
                                  <m:ctrlPr>
                                    <a:rPr lang="en-US" altLang="zh-CN" i="1">
                                      <a:latin typeface="Cambria Math" panose="02040503050406030204" pitchFamily="18" charset="0"/>
                                      <a:ea typeface="Microsoft YaHei" charset="0"/>
                                    </a:rPr>
                                  </m:ctrlPr>
                                </m:sSupPr>
                                <m:e>
                                  <m:r>
                                    <a:rPr lang="en-US" altLang="zh-CN" i="1" smtClean="0">
                                      <a:latin typeface="Cambria Math" panose="02040503050406030204" pitchFamily="18" charset="0"/>
                                      <a:ea typeface="Microsoft YaHei" charset="0"/>
                                    </a:rPr>
                                    <m:t> </m:t>
                                  </m:r>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𝐿</m:t>
                                      </m:r>
                                    </m:sub>
                                  </m:sSub>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𝐺</m:t>
                                      </m:r>
                                    </m:e>
                                    <m:sub>
                                      <m:r>
                                        <a:rPr lang="en-US" altLang="zh-CN" b="0" i="1" smtClean="0">
                                          <a:latin typeface="Cambria Math" panose="02040503050406030204" pitchFamily="18" charset="0"/>
                                          <a:ea typeface="Microsoft YaHei" charset="0"/>
                                        </a:rPr>
                                        <m:t>𝑅</m:t>
                                      </m:r>
                                    </m:sub>
                                  </m:sSub>
                                  <m:r>
                                    <a:rPr lang="en-US" altLang="zh-CN" b="0" i="1" smtClean="0">
                                      <a:latin typeface="Cambria Math" panose="02040503050406030204" pitchFamily="18" charset="0"/>
                                      <a:ea typeface="Microsoft YaHei" charset="0"/>
                                    </a:rPr>
                                    <m:t>)</m:t>
                                  </m:r>
                                </m:e>
                                <m:sup>
                                  <m:r>
                                    <a:rPr lang="en-US" altLang="zh-CN" i="1">
                                      <a:latin typeface="Cambria Math" panose="02040503050406030204" pitchFamily="18" charset="0"/>
                                      <a:ea typeface="Microsoft YaHei" charset="0"/>
                                    </a:rPr>
                                    <m:t>2</m:t>
                                  </m:r>
                                </m:sup>
                              </m:sSup>
                            </m:num>
                            <m:den>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𝐿</m:t>
                                  </m:r>
                                </m:sub>
                              </m:sSub>
                              <m:r>
                                <a:rPr lang="en-US" altLang="zh-CN" b="0" i="1" smtClean="0">
                                  <a:latin typeface="Cambria Math" panose="02040503050406030204" pitchFamily="18" charset="0"/>
                                  <a:ea typeface="Microsoft YaHei" charset="0"/>
                                </a:rPr>
                                <m:t>+</m:t>
                              </m:r>
                              <m:sSub>
                                <m:sSubPr>
                                  <m:ctrlPr>
                                    <a:rPr lang="en-US" altLang="zh-CN" i="1">
                                      <a:latin typeface="Cambria Math" panose="02040503050406030204" pitchFamily="18" charset="0"/>
                                      <a:ea typeface="Microsoft YaHei" charset="0"/>
                                    </a:rPr>
                                  </m:ctrlPr>
                                </m:sSubPr>
                                <m:e>
                                  <m:r>
                                    <a:rPr lang="en-US" altLang="zh-CN" i="1">
                                      <a:latin typeface="Cambria Math" panose="02040503050406030204" pitchFamily="18" charset="0"/>
                                      <a:ea typeface="Microsoft YaHei" charset="0"/>
                                    </a:rPr>
                                    <m:t>𝐻</m:t>
                                  </m:r>
                                </m:e>
                                <m:sub>
                                  <m:r>
                                    <a:rPr lang="en-US" altLang="zh-CN" b="0" i="1" smtClean="0">
                                      <a:latin typeface="Cambria Math" panose="02040503050406030204" pitchFamily="18" charset="0"/>
                                      <a:ea typeface="Microsoft YaHei" charset="0"/>
                                    </a:rPr>
                                    <m:t>𝑅</m:t>
                                  </m:r>
                                </m:sub>
                              </m:sSub>
                              <m:r>
                                <a:rPr lang="en-US" altLang="zh-CN" i="1">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𝜆</m:t>
                              </m:r>
                            </m:den>
                          </m:f>
                        </m:e>
                      </m:d>
                      <m:r>
                        <a:rPr lang="en-US" altLang="zh-CN" b="0" i="0" smtClean="0">
                          <a:latin typeface="Cambria Math" panose="02040503050406030204" pitchFamily="18" charset="0"/>
                          <a:ea typeface="Microsoft YaHei" charset="0"/>
                        </a:rPr>
                        <m:t>−</m:t>
                      </m:r>
                      <m:r>
                        <a:rPr lang="zh-CN" altLang="en-US" i="1">
                          <a:latin typeface="Cambria Math" panose="02040503050406030204" pitchFamily="18" charset="0"/>
                          <a:ea typeface="Cambria Math" panose="02040503050406030204" pitchFamily="18" charset="0"/>
                        </a:rPr>
                        <m:t>𝛾</m:t>
                      </m:r>
                    </m:oMath>
                  </m:oMathPara>
                </a14:m>
                <a:endParaRPr lang="zh-CN" altLang="en-US" dirty="0">
                  <a:latin typeface="KaiTi" panose="02010609060101010101" pitchFamily="49" charset="-122"/>
                  <a:ea typeface="KaiTi"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555100" y="4066531"/>
                <a:ext cx="5594608" cy="859081"/>
              </a:xfrm>
              <a:prstGeom prst="rect">
                <a:avLst/>
              </a:prstGeom>
              <a:blipFill>
                <a:blip r:embed="rId4"/>
                <a:stretch>
                  <a:fillRect/>
                </a:stretch>
              </a:blipFill>
            </p:spPr>
            <p:txBody>
              <a:bodyPr/>
              <a:lstStyle/>
              <a:p>
                <a:r>
                  <a:rPr lang="ko-KR" altLang="en-US">
                    <a:noFill/>
                  </a:rPr>
                  <a:t> </a:t>
                </a:r>
              </a:p>
            </p:txBody>
          </p:sp>
        </mc:Fallback>
      </mc:AlternateContent>
      <p:sp>
        <p:nvSpPr>
          <p:cNvPr id="7" name="Rectangle 2">
            <a:extLst>
              <a:ext uri="{FF2B5EF4-FFF2-40B4-BE49-F238E27FC236}">
                <a16:creationId xmlns:a16="http://schemas.microsoft.com/office/drawing/2014/main" id="{E7F4AB40-BC47-4656-96D1-A28502A1995D}"/>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p:sp>
        <p:nvSpPr>
          <p:cNvPr id="8" name="下箭头 6">
            <a:extLst>
              <a:ext uri="{FF2B5EF4-FFF2-40B4-BE49-F238E27FC236}">
                <a16:creationId xmlns:a16="http://schemas.microsoft.com/office/drawing/2014/main" id="{81116AEA-A5B2-4879-A08B-583FABC8C980}"/>
              </a:ext>
            </a:extLst>
          </p:cNvPr>
          <p:cNvSpPr/>
          <p:nvPr/>
        </p:nvSpPr>
        <p:spPr>
          <a:xfrm>
            <a:off x="6826082" y="5182941"/>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p:sp>
        <p:nvSpPr>
          <p:cNvPr id="9" name="下箭头 6">
            <a:extLst>
              <a:ext uri="{FF2B5EF4-FFF2-40B4-BE49-F238E27FC236}">
                <a16:creationId xmlns:a16="http://schemas.microsoft.com/office/drawing/2014/main" id="{FB872D79-7C26-4E18-B82F-661539D11749}"/>
              </a:ext>
            </a:extLst>
          </p:cNvPr>
          <p:cNvSpPr/>
          <p:nvPr/>
        </p:nvSpPr>
        <p:spPr>
          <a:xfrm>
            <a:off x="5102063" y="5182941"/>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p:sp>
        <p:nvSpPr>
          <p:cNvPr id="10" name="下箭头 6">
            <a:extLst>
              <a:ext uri="{FF2B5EF4-FFF2-40B4-BE49-F238E27FC236}">
                <a16:creationId xmlns:a16="http://schemas.microsoft.com/office/drawing/2014/main" id="{CD411E5E-B73D-4DA1-9247-893032C27331}"/>
              </a:ext>
            </a:extLst>
          </p:cNvPr>
          <p:cNvSpPr/>
          <p:nvPr/>
        </p:nvSpPr>
        <p:spPr>
          <a:xfrm>
            <a:off x="3774993" y="5187803"/>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p:sp>
        <p:nvSpPr>
          <p:cNvPr id="11" name="文本框 10">
            <a:extLst>
              <a:ext uri="{FF2B5EF4-FFF2-40B4-BE49-F238E27FC236}">
                <a16:creationId xmlns:a16="http://schemas.microsoft.com/office/drawing/2014/main" id="{B7360F2F-93BD-479D-9BD1-C75D16153DD7}"/>
              </a:ext>
            </a:extLst>
          </p:cNvPr>
          <p:cNvSpPr txBox="1"/>
          <p:nvPr/>
        </p:nvSpPr>
        <p:spPr>
          <a:xfrm>
            <a:off x="2660842" y="5583273"/>
            <a:ext cx="1864047" cy="307777"/>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分裂后左子树分数</a:t>
            </a:r>
          </a:p>
        </p:txBody>
      </p:sp>
      <p:sp>
        <p:nvSpPr>
          <p:cNvPr id="12" name="文本框 11">
            <a:extLst>
              <a:ext uri="{FF2B5EF4-FFF2-40B4-BE49-F238E27FC236}">
                <a16:creationId xmlns:a16="http://schemas.microsoft.com/office/drawing/2014/main" id="{D87D6897-A8E0-4767-8E02-B4315F4DB41D}"/>
              </a:ext>
            </a:extLst>
          </p:cNvPr>
          <p:cNvSpPr txBox="1"/>
          <p:nvPr/>
        </p:nvSpPr>
        <p:spPr>
          <a:xfrm>
            <a:off x="4836227" y="5583273"/>
            <a:ext cx="1864047" cy="307777"/>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分裂后右子树分数</a:t>
            </a:r>
          </a:p>
        </p:txBody>
      </p:sp>
      <p:sp>
        <p:nvSpPr>
          <p:cNvPr id="16" name="文本框 15">
            <a:extLst>
              <a:ext uri="{FF2B5EF4-FFF2-40B4-BE49-F238E27FC236}">
                <a16:creationId xmlns:a16="http://schemas.microsoft.com/office/drawing/2014/main" id="{5E514A7A-9EDA-472B-9A1B-FD1B4CC7B2B3}"/>
              </a:ext>
            </a:extLst>
          </p:cNvPr>
          <p:cNvSpPr txBox="1"/>
          <p:nvPr/>
        </p:nvSpPr>
        <p:spPr>
          <a:xfrm>
            <a:off x="6743700" y="5560273"/>
            <a:ext cx="2348452" cy="523220"/>
          </a:xfrm>
          <a:prstGeom prst="rect">
            <a:avLst/>
          </a:prstGeom>
          <a:noFill/>
        </p:spPr>
        <p:txBody>
          <a:bodyPr wrap="square">
            <a:spAutoFit/>
          </a:bodyPr>
          <a:lstStyle>
            <a:defPPr>
              <a:defRPr lang="zh-CN"/>
            </a:defPPr>
            <a:lvl1pPr>
              <a:defRPr sz="1400" i="1">
                <a:solidFill>
                  <a:srgbClr val="FF0000"/>
                </a:solidFill>
                <a:latin typeface="Cambria Math" panose="02040503050406030204" pitchFamily="18" charset="0"/>
                <a:ea typeface="Microsoft YaHei" charset="0"/>
              </a:defRPr>
            </a:lvl1pPr>
          </a:lstStyle>
          <a:p>
            <a:r>
              <a:rPr lang="zh-CN" altLang="en-US" i="0" dirty="0">
                <a:latin typeface="KaiTi" panose="02010609060101010101" pitchFamily="49" charset="-122"/>
                <a:ea typeface="KaiTi" panose="02010609060101010101" pitchFamily="49" charset="-122"/>
              </a:rPr>
              <a:t>分裂前左、右子树的分数：</a:t>
            </a:r>
          </a:p>
          <a:p>
            <a:r>
              <a:rPr lang="zh-CN" altLang="en-US" i="0" dirty="0">
                <a:latin typeface="KaiTi" panose="02010609060101010101" pitchFamily="49" charset="-122"/>
                <a:ea typeface="KaiTi" panose="02010609060101010101" pitchFamily="49" charset="-122"/>
              </a:rPr>
              <a:t>不分割可以拿到的分数</a:t>
            </a:r>
          </a:p>
        </p:txBody>
      </p:sp>
      <p:sp>
        <p:nvSpPr>
          <p:cNvPr id="18" name="文本框 17">
            <a:extLst>
              <a:ext uri="{FF2B5EF4-FFF2-40B4-BE49-F238E27FC236}">
                <a16:creationId xmlns:a16="http://schemas.microsoft.com/office/drawing/2014/main" id="{E69BFF6F-4971-4790-A687-3DB0BF790DE5}"/>
              </a:ext>
            </a:extLst>
          </p:cNvPr>
          <p:cNvSpPr txBox="1"/>
          <p:nvPr/>
        </p:nvSpPr>
        <p:spPr>
          <a:xfrm>
            <a:off x="7947932" y="3948371"/>
            <a:ext cx="2960856" cy="307777"/>
          </a:xfrm>
          <a:prstGeom prst="rect">
            <a:avLst/>
          </a:prstGeom>
          <a:noFill/>
        </p:spPr>
        <p:txBody>
          <a:bodyPr wrap="square">
            <a:spAutoFit/>
          </a:bodyPr>
          <a:lstStyle/>
          <a:p>
            <a:r>
              <a:rPr lang="zh-CN" altLang="en-US" sz="1400" dirty="0">
                <a:solidFill>
                  <a:srgbClr val="FF0000"/>
                </a:solidFill>
                <a:latin typeface="KaiTi" panose="02010609060101010101" pitchFamily="49" charset="-122"/>
                <a:ea typeface="KaiTi" panose="02010609060101010101" pitchFamily="49" charset="-122"/>
              </a:rPr>
              <a:t>加入新叶子节点引入的复杂度代价</a:t>
            </a:r>
          </a:p>
        </p:txBody>
      </p:sp>
      <p:sp>
        <p:nvSpPr>
          <p:cNvPr id="19" name="下箭头 6">
            <a:extLst>
              <a:ext uri="{FF2B5EF4-FFF2-40B4-BE49-F238E27FC236}">
                <a16:creationId xmlns:a16="http://schemas.microsoft.com/office/drawing/2014/main" id="{F15DB958-4015-4D74-8D72-651A6BE80A86}"/>
              </a:ext>
            </a:extLst>
          </p:cNvPr>
          <p:cNvSpPr/>
          <p:nvPr/>
        </p:nvSpPr>
        <p:spPr>
          <a:xfrm rot="12778939">
            <a:off x="8246387" y="4262671"/>
            <a:ext cx="165463" cy="252000"/>
          </a:xfrm>
          <a:prstGeom prst="downArrow">
            <a:avLst/>
          </a:prstGeom>
          <a:solidFill>
            <a:srgbClr val="004586"/>
          </a:solidFill>
          <a:ln>
            <a:solidFill>
              <a:srgbClr val="00458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2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244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animBg="1"/>
      <p:bldP spid="9" grpId="0" animBg="1"/>
      <p:bldP spid="10" grpId="0" animBg="1"/>
      <p:bldP spid="11" grpId="0"/>
      <p:bldP spid="12" grpId="0"/>
      <p:bldP spid="16" grpId="0"/>
      <p:bldP spid="18" grpId="0"/>
      <p:bldP spid="1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E7F4AB40-BC47-4656-96D1-A28502A1995D}"/>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4.XGBoost</a:t>
            </a:r>
            <a:endParaRPr lang="zh-CN" altLang="en-US" dirty="0">
              <a:solidFill>
                <a:schemeClr val="tx1"/>
              </a:solidFill>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A60BE7D-A302-4E03-AF6D-C2873283B5D9}"/>
                  </a:ext>
                </a:extLst>
              </p:cNvPr>
              <p:cNvSpPr txBox="1"/>
              <p:nvPr/>
            </p:nvSpPr>
            <p:spPr>
              <a:xfrm>
                <a:off x="668338" y="2132938"/>
                <a:ext cx="7481134" cy="461665"/>
              </a:xfrm>
              <a:prstGeom prst="rect">
                <a:avLst/>
              </a:prstGeom>
              <a:noFill/>
            </p:spPr>
            <p:txBody>
              <a:bodyPr wrap="square">
                <a:spAutoFit/>
              </a:bodyPr>
              <a:lstStyle/>
              <a:p>
                <a:r>
                  <a:rPr lang="zh-CN"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使用贪心方法，选</a:t>
                </a:r>
                <a:r>
                  <a:rPr lang="zh-CN" altLang="en-US"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增</a:t>
                </a:r>
                <a:r>
                  <a:rPr lang="zh-CN"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益</a:t>
                </a:r>
                <a:r>
                  <a:rPr lang="zh-CN" altLang="en-US"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a:t>
                </a:r>
                <a:r>
                  <a:rPr lang="en-US" altLang="zh-CN" b="0" dirty="0">
                    <a:latin typeface="KaiTi" panose="02010609060101010101" pitchFamily="49" charset="-122"/>
                    <a:ea typeface="KaiTi" panose="02010609060101010101" pitchFamily="49" charset="-122"/>
                  </a:rPr>
                  <a:t> </a:t>
                </a:r>
                <a14:m>
                  <m:oMath xmlns:m="http://schemas.openxmlformats.org/officeDocument/2006/math">
                    <m:r>
                      <a:rPr lang="en-US" altLang="zh-CN" b="0" i="1" smtClean="0">
                        <a:latin typeface="Cambria Math" panose="02040503050406030204" pitchFamily="18" charset="0"/>
                        <a:ea typeface="Microsoft YaHei" charset="0"/>
                      </a:rPr>
                      <m:t>𝑔𝑎𝑖𝑛</m:t>
                    </m:r>
                    <m:r>
                      <a:rPr lang="en-US" altLang="zh-CN" b="0" i="1" smtClean="0">
                        <a:latin typeface="Cambria Math" panose="02040503050406030204" pitchFamily="18" charset="0"/>
                        <a:ea typeface="Microsoft YaHei" charset="0"/>
                      </a:rPr>
                      <m:t> </m:t>
                    </m:r>
                  </m:oMath>
                </a14:m>
                <a:r>
                  <a:rPr lang="zh-CN" altLang="en-US"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a:t>
                </a:r>
                <a:r>
                  <a:rPr lang="zh-CN"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最大的分裂方式</a:t>
                </a:r>
                <a:endParaRPr lang="zh-CN" altLang="en-US" dirty="0">
                  <a:latin typeface="KaiTi" panose="02010609060101010101" pitchFamily="49" charset="-122"/>
                  <a:ea typeface="KaiTi" panose="02010609060101010101" pitchFamily="49" charset="-122"/>
                </a:endParaRPr>
              </a:p>
            </p:txBody>
          </p:sp>
        </mc:Choice>
        <mc:Fallback xmlns="">
          <p:sp>
            <p:nvSpPr>
              <p:cNvPr id="17" name="文本框 16">
                <a:extLst>
                  <a:ext uri="{FF2B5EF4-FFF2-40B4-BE49-F238E27FC236}">
                    <a16:creationId xmlns:a16="http://schemas.microsoft.com/office/drawing/2014/main" id="{BA60BE7D-A302-4E03-AF6D-C2873283B5D9}"/>
                  </a:ext>
                </a:extLst>
              </p:cNvPr>
              <p:cNvSpPr txBox="1">
                <a:spLocks noRot="1" noChangeAspect="1" noMove="1" noResize="1" noEditPoints="1" noAdjustHandles="1" noChangeArrowheads="1" noChangeShapeType="1" noTextEdit="1"/>
              </p:cNvSpPr>
              <p:nvPr/>
            </p:nvSpPr>
            <p:spPr>
              <a:xfrm>
                <a:off x="668338" y="2132938"/>
                <a:ext cx="7481134" cy="461665"/>
              </a:xfrm>
              <a:prstGeom prst="rect">
                <a:avLst/>
              </a:prstGeom>
              <a:blipFill>
                <a:blip r:embed="rId2"/>
                <a:stretch>
                  <a:fillRect l="-1304" t="-14474" b="-25000"/>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B1E937B-DB17-45BD-9D42-714FD26F6F93}"/>
                  </a:ext>
                </a:extLst>
              </p:cNvPr>
              <p:cNvSpPr txBox="1"/>
              <p:nvPr/>
            </p:nvSpPr>
            <p:spPr>
              <a:xfrm>
                <a:off x="668338" y="2767406"/>
                <a:ext cx="11054106" cy="1696105"/>
              </a:xfrm>
              <a:prstGeom prst="rect">
                <a:avLst/>
              </a:prstGeom>
              <a:noFill/>
            </p:spPr>
            <p:txBody>
              <a:bodyPr wrap="square">
                <a:spAutoFit/>
              </a:bodyPr>
              <a:lstStyle/>
              <a:p>
                <a:pPr algn="l">
                  <a:lnSpc>
                    <a:spcPct val="150000"/>
                  </a:lnSpc>
                  <a:spcBef>
                    <a:spcPts val="1680"/>
                  </a:spcBef>
                  <a:spcAft>
                    <a:spcPts val="1680"/>
                  </a:spcAft>
                </a:pPr>
                <a:r>
                  <a:rPr lang="zh-CN"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贪心方法，众多</a:t>
                </a:r>
                <a14:m>
                  <m:oMath xmlns:m="http://schemas.openxmlformats.org/officeDocument/2006/math">
                    <m:r>
                      <a:rPr lang="en-US" altLang="zh-CN" b="0" i="1" smtClean="0">
                        <a:latin typeface="Cambria Math" panose="02040503050406030204" pitchFamily="18" charset="0"/>
                        <a:ea typeface="Microsoft YaHei" charset="0"/>
                      </a:rPr>
                      <m:t>𝑔𝑎𝑖𝑛</m:t>
                    </m:r>
                  </m:oMath>
                </a14:m>
                <a:r>
                  <a:rPr lang="zh-CN"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中找到最大值做为最优分割节点（</a:t>
                </a:r>
                <a:r>
                  <a:rPr lang="en-US"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split point</a:t>
                </a:r>
                <a:r>
                  <a:rPr lang="zh-CN"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），因此模型会将所有样本按照（一阶梯度）从小到大排序，通过遍历，查看每个节点是否需要分割，计算复杂度是：决策树叶子节点数 –</a:t>
                </a:r>
                <a:r>
                  <a:rPr lang="en-US"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 1</a:t>
                </a:r>
                <a:r>
                  <a:rPr lang="zh-CN" altLang="zh-CN" sz="2400"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a:t>
                </a:r>
                <a:endParaRPr lang="zh-CN" altLang="zh-CN" sz="1600" kern="100" dirty="0">
                  <a:effectLst/>
                  <a:latin typeface="KaiTi" panose="02010609060101010101" pitchFamily="49" charset="-122"/>
                  <a:ea typeface="KaiTi" panose="02010609060101010101" pitchFamily="49" charset="-122"/>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1B1E937B-DB17-45BD-9D42-714FD26F6F93}"/>
                  </a:ext>
                </a:extLst>
              </p:cNvPr>
              <p:cNvSpPr txBox="1">
                <a:spLocks noRot="1" noChangeAspect="1" noMove="1" noResize="1" noEditPoints="1" noAdjustHandles="1" noChangeArrowheads="1" noChangeShapeType="1" noTextEdit="1"/>
              </p:cNvSpPr>
              <p:nvPr/>
            </p:nvSpPr>
            <p:spPr>
              <a:xfrm>
                <a:off x="668338" y="2767406"/>
                <a:ext cx="11054106" cy="1696105"/>
              </a:xfrm>
              <a:prstGeom prst="rect">
                <a:avLst/>
              </a:prstGeom>
              <a:blipFill>
                <a:blip r:embed="rId3"/>
                <a:stretch>
                  <a:fillRect l="-883" r="-607" b="-5755"/>
                </a:stretch>
              </a:blipFill>
            </p:spPr>
            <p:txBody>
              <a:bodyPr/>
              <a:lstStyle/>
              <a:p>
                <a:r>
                  <a:rPr lang="ko-KR" altLang="en-US">
                    <a:noFill/>
                  </a:rPr>
                  <a:t> </a:t>
                </a:r>
              </a:p>
            </p:txBody>
          </p:sp>
        </mc:Fallback>
      </mc:AlternateContent>
      <p:sp>
        <p:nvSpPr>
          <p:cNvPr id="21" name="文本框 20">
            <a:extLst>
              <a:ext uri="{FF2B5EF4-FFF2-40B4-BE49-F238E27FC236}">
                <a16:creationId xmlns:a16="http://schemas.microsoft.com/office/drawing/2014/main" id="{9B6240DE-0BB7-4DEB-BDF2-585746E81F56}"/>
              </a:ext>
            </a:extLst>
          </p:cNvPr>
          <p:cNvSpPr txBox="1"/>
          <p:nvPr/>
        </p:nvSpPr>
        <p:spPr>
          <a:xfrm>
            <a:off x="668338" y="1460493"/>
            <a:ext cx="6096784" cy="461665"/>
          </a:xfrm>
          <a:prstGeom prst="rect">
            <a:avLst/>
          </a:prstGeom>
          <a:noFill/>
        </p:spPr>
        <p:txBody>
          <a:bodyPr wrap="square">
            <a:spAutoFit/>
          </a:bodyPr>
          <a:lstStyle/>
          <a:p>
            <a:r>
              <a:rPr lang="en-US" altLang="zh-CN" sz="2400" b="1"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XGBoost</a:t>
            </a:r>
            <a:r>
              <a:rPr lang="zh-CN" altLang="zh-CN" sz="2400" b="1" kern="0" dirty="0">
                <a:solidFill>
                  <a:srgbClr val="121212"/>
                </a:solidFill>
                <a:effectLst/>
                <a:latin typeface="KaiTi" panose="02010609060101010101" pitchFamily="49" charset="-122"/>
                <a:ea typeface="KaiTi" panose="02010609060101010101" pitchFamily="49" charset="-122"/>
                <a:cs typeface="宋体" panose="02010600030101010101" pitchFamily="2" charset="-122"/>
              </a:rPr>
              <a:t>的分裂方式</a:t>
            </a:r>
            <a:endParaRPr lang="zh-CN" altLang="en-US"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6496592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28AE6-0ECB-F23F-890C-7AE2ED3399BA}"/>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8ACDD0EA-D92C-67D0-0930-0F65E46785B5}"/>
              </a:ext>
            </a:extLst>
          </p:cNvPr>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5.XGBoost</a:t>
            </a:r>
            <a:endParaRPr lang="zh-CN" altLang="en-US" dirty="0">
              <a:solidFill>
                <a:schemeClr val="tx1"/>
              </a:solidFill>
            </a:endParaRPr>
          </a:p>
        </p:txBody>
      </p:sp>
      <p:sp>
        <p:nvSpPr>
          <p:cNvPr id="2" name="对角圆角矩形 8">
            <a:extLst>
              <a:ext uri="{FF2B5EF4-FFF2-40B4-BE49-F238E27FC236}">
                <a16:creationId xmlns:a16="http://schemas.microsoft.com/office/drawing/2014/main" id="{FBF2B854-25EF-4060-72F2-321AA1891A3A}"/>
              </a:ext>
            </a:extLst>
          </p:cNvPr>
          <p:cNvSpPr/>
          <p:nvPr/>
        </p:nvSpPr>
        <p:spPr>
          <a:xfrm>
            <a:off x="2415827" y="5007241"/>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3" name="TextBox 6">
            <a:extLst>
              <a:ext uri="{FF2B5EF4-FFF2-40B4-BE49-F238E27FC236}">
                <a16:creationId xmlns:a16="http://schemas.microsoft.com/office/drawing/2014/main" id="{193DDD76-4C16-DDA9-8A40-9A516B5BB3AB}"/>
              </a:ext>
            </a:extLst>
          </p:cNvPr>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01 </a:t>
            </a:r>
            <a:r>
              <a:rPr lang="en-US" altLang="zh-CN" sz="4000" dirty="0">
                <a:latin typeface="Impact" pitchFamily="34" charset="0"/>
                <a:ea typeface="微软雅黑" pitchFamily="34" charset="-122"/>
              </a:rPr>
              <a:t> </a:t>
            </a:r>
            <a:r>
              <a:rPr lang="en-US" altLang="zh-CN" sz="3600" dirty="0">
                <a:latin typeface="Impact" pitchFamily="34" charset="0"/>
                <a:ea typeface="微软雅黑" pitchFamily="34" charset="-122"/>
              </a:rPr>
              <a:t>  </a:t>
            </a:r>
            <a:r>
              <a:rPr lang="zh-CN" altLang="en-US" sz="3600" dirty="0">
                <a:latin typeface="Impact" pitchFamily="34" charset="0"/>
                <a:ea typeface="微软雅黑" pitchFamily="34" charset="-122"/>
              </a:rPr>
              <a:t>集成学习方法概述</a:t>
            </a:r>
            <a:endParaRPr lang="en-US" altLang="zh-CN" sz="3600" dirty="0">
              <a:latin typeface="Impact" pitchFamily="34" charset="0"/>
              <a:ea typeface="微软雅黑" pitchFamily="34" charset="-122"/>
            </a:endParaRPr>
          </a:p>
        </p:txBody>
      </p:sp>
      <p:sp>
        <p:nvSpPr>
          <p:cNvPr id="4" name="TextBox 10">
            <a:extLst>
              <a:ext uri="{FF2B5EF4-FFF2-40B4-BE49-F238E27FC236}">
                <a16:creationId xmlns:a16="http://schemas.microsoft.com/office/drawing/2014/main" id="{DB823A0B-9F47-78B1-62BE-58B9EAE6A3F0}"/>
              </a:ext>
            </a:extLst>
          </p:cNvPr>
          <p:cNvSpPr txBox="1">
            <a:spLocks noChangeArrowheads="1"/>
          </p:cNvSpPr>
          <p:nvPr/>
        </p:nvSpPr>
        <p:spPr bwMode="auto">
          <a:xfrm>
            <a:off x="3002508" y="2683725"/>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02    </a:t>
            </a:r>
            <a:r>
              <a:rPr lang="zh-CN" altLang="en-US" sz="3600" dirty="0">
                <a:latin typeface="Impact" pitchFamily="34" charset="0"/>
                <a:ea typeface="微软雅黑" pitchFamily="34" charset="-122"/>
              </a:rPr>
              <a:t>随机森林算法</a:t>
            </a:r>
          </a:p>
        </p:txBody>
      </p:sp>
      <p:sp>
        <p:nvSpPr>
          <p:cNvPr id="5" name="TextBox 11">
            <a:extLst>
              <a:ext uri="{FF2B5EF4-FFF2-40B4-BE49-F238E27FC236}">
                <a16:creationId xmlns:a16="http://schemas.microsoft.com/office/drawing/2014/main" id="{74CB15F8-F792-88E0-73DE-F2F2C2BBBF38}"/>
              </a:ext>
            </a:extLst>
          </p:cNvPr>
          <p:cNvSpPr txBox="1">
            <a:spLocks noChangeArrowheads="1"/>
          </p:cNvSpPr>
          <p:nvPr/>
        </p:nvSpPr>
        <p:spPr bwMode="auto">
          <a:xfrm>
            <a:off x="3002507" y="4238911"/>
            <a:ext cx="392148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04    XGBoost</a:t>
            </a:r>
            <a:endParaRPr lang="zh-CN" altLang="en-US" sz="3600" dirty="0">
              <a:latin typeface="Impact" pitchFamily="34" charset="0"/>
              <a:ea typeface="微软雅黑" pitchFamily="34" charset="-122"/>
            </a:endParaRPr>
          </a:p>
        </p:txBody>
      </p:sp>
      <p:sp>
        <p:nvSpPr>
          <p:cNvPr id="6" name="TextBox 10">
            <a:extLst>
              <a:ext uri="{FF2B5EF4-FFF2-40B4-BE49-F238E27FC236}">
                <a16:creationId xmlns:a16="http://schemas.microsoft.com/office/drawing/2014/main" id="{023F9F63-1148-C2AE-3945-5705A9BAA7EA}"/>
              </a:ext>
            </a:extLst>
          </p:cNvPr>
          <p:cNvSpPr txBox="1">
            <a:spLocks noChangeArrowheads="1"/>
          </p:cNvSpPr>
          <p:nvPr/>
        </p:nvSpPr>
        <p:spPr bwMode="auto">
          <a:xfrm>
            <a:off x="3002508" y="5054092"/>
            <a:ext cx="48076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solidFill>
                  <a:schemeClr val="bg1"/>
                </a:solidFill>
                <a:latin typeface="Impact" pitchFamily="34" charset="0"/>
                <a:ea typeface="微软雅黑" pitchFamily="34" charset="-122"/>
              </a:rPr>
              <a:t>05    </a:t>
            </a:r>
            <a:r>
              <a:rPr lang="en-US" altLang="zh-CN" sz="3600" dirty="0" err="1">
                <a:solidFill>
                  <a:schemeClr val="bg1"/>
                </a:solidFill>
                <a:latin typeface="Impact" pitchFamily="34" charset="0"/>
                <a:ea typeface="微软雅黑" pitchFamily="34" charset="-122"/>
              </a:rPr>
              <a:t>LightGBM</a:t>
            </a:r>
            <a:endParaRPr lang="zh-CN" altLang="en-US" sz="3600" dirty="0">
              <a:solidFill>
                <a:schemeClr val="bg1"/>
              </a:solidFill>
              <a:latin typeface="Impact" pitchFamily="34" charset="0"/>
              <a:ea typeface="微软雅黑" pitchFamily="34" charset="-122"/>
            </a:endParaRPr>
          </a:p>
        </p:txBody>
      </p:sp>
      <p:sp>
        <p:nvSpPr>
          <p:cNvPr id="11" name="TextBox 10">
            <a:extLst>
              <a:ext uri="{FF2B5EF4-FFF2-40B4-BE49-F238E27FC236}">
                <a16:creationId xmlns:a16="http://schemas.microsoft.com/office/drawing/2014/main" id="{6815A722-FB28-D620-ADDE-4E6EF16E8271}"/>
              </a:ext>
            </a:extLst>
          </p:cNvPr>
          <p:cNvSpPr txBox="1">
            <a:spLocks noChangeArrowheads="1"/>
          </p:cNvSpPr>
          <p:nvPr/>
        </p:nvSpPr>
        <p:spPr bwMode="auto">
          <a:xfrm>
            <a:off x="3002507" y="3423730"/>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charset="-122"/>
                <a:ea typeface="宋体" pitchFamily="2" charset="-122"/>
              </a:defRPr>
            </a:lvl1pPr>
            <a:lvl2pPr marL="742950" indent="-285750" eaLnBrk="0" hangingPunct="0">
              <a:defRPr sz="2400">
                <a:solidFill>
                  <a:schemeClr val="tx1"/>
                </a:solidFill>
                <a:latin typeface="等线" charset="-122"/>
                <a:ea typeface="宋体" pitchFamily="2" charset="-122"/>
              </a:defRPr>
            </a:lvl2pPr>
            <a:lvl3pPr marL="1143000" indent="-228600" eaLnBrk="0" hangingPunct="0">
              <a:defRPr sz="2400">
                <a:solidFill>
                  <a:schemeClr val="tx1"/>
                </a:solidFill>
                <a:latin typeface="等线" charset="-122"/>
                <a:ea typeface="宋体" pitchFamily="2" charset="-122"/>
              </a:defRPr>
            </a:lvl3pPr>
            <a:lvl4pPr marL="1600200" indent="-228600" eaLnBrk="0" hangingPunct="0">
              <a:defRPr sz="2400">
                <a:solidFill>
                  <a:schemeClr val="tx1"/>
                </a:solidFill>
                <a:latin typeface="等线" charset="-122"/>
                <a:ea typeface="宋体" pitchFamily="2" charset="-122"/>
              </a:defRPr>
            </a:lvl4pPr>
            <a:lvl5pPr marL="2057400" indent="-228600" eaLnBrk="0" hangingPunct="0">
              <a:defRPr sz="2400">
                <a:solidFill>
                  <a:schemeClr val="tx1"/>
                </a:solidFill>
                <a:latin typeface="等线" charset="-122"/>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等线" charset="-122"/>
                <a:ea typeface="宋体" pitchFamily="2" charset="-122"/>
              </a:defRPr>
            </a:lvl9pPr>
          </a:lstStyle>
          <a:p>
            <a:pPr eaLnBrk="1" hangingPunct="1"/>
            <a:r>
              <a:rPr lang="en-US" altLang="zh-CN" sz="3600" dirty="0">
                <a:latin typeface="Impact" pitchFamily="34" charset="0"/>
                <a:ea typeface="微软雅黑" pitchFamily="34" charset="-122"/>
              </a:rPr>
              <a:t>03    AdaBoost</a:t>
            </a:r>
            <a:r>
              <a:rPr lang="zh-CN" altLang="en-US" sz="3600" dirty="0">
                <a:latin typeface="Impact" pitchFamily="34" charset="0"/>
                <a:ea typeface="微软雅黑" pitchFamily="34" charset="-122"/>
              </a:rPr>
              <a:t>和</a:t>
            </a:r>
            <a:r>
              <a:rPr lang="en-US" altLang="zh-CN" sz="3600" dirty="0">
                <a:latin typeface="Impact" pitchFamily="34" charset="0"/>
                <a:ea typeface="微软雅黑" pitchFamily="34" charset="-122"/>
              </a:rPr>
              <a:t>GBDT</a:t>
            </a:r>
            <a:r>
              <a:rPr lang="zh-CN" altLang="en-US" sz="3600" dirty="0">
                <a:latin typeface="Impact" pitchFamily="34" charset="0"/>
                <a:ea typeface="微软雅黑" pitchFamily="34" charset="-122"/>
              </a:rPr>
              <a:t>算法</a:t>
            </a:r>
          </a:p>
        </p:txBody>
      </p:sp>
    </p:spTree>
    <p:extLst>
      <p:ext uri="{BB962C8B-B14F-4D97-AF65-F5344CB8AC3E}">
        <p14:creationId xmlns:p14="http://schemas.microsoft.com/office/powerpoint/2010/main" val="770781571"/>
      </p:ext>
    </p:extLst>
  </p:cSld>
  <p:clrMapOvr>
    <a:masterClrMapping/>
  </p:clrMapOvr>
  <p:transition advTm="800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68338" y="1346750"/>
            <a:ext cx="9739532" cy="4459041"/>
          </a:xfrm>
          <a:prstGeom prst="rect">
            <a:avLst/>
          </a:prstGeom>
          <a:noFill/>
        </p:spPr>
        <p:txBody>
          <a:bodyPr wrap="square">
            <a:spAutoFit/>
          </a:bodyPr>
          <a:lstStyle/>
          <a:p>
            <a:pPr algn="just">
              <a:lnSpc>
                <a:spcPct val="150000"/>
              </a:lnSpc>
            </a:pPr>
            <a:r>
              <a:rPr lang="en-US" altLang="zh-CN" sz="2400" b="1" kern="100" dirty="0" err="1">
                <a:effectLst/>
                <a:latin typeface="KaiTi" panose="02010609060101010101" pitchFamily="49" charset="-122"/>
                <a:ea typeface="KaiTi" panose="02010609060101010101" pitchFamily="49" charset="-122"/>
              </a:rPr>
              <a:t>LightGBM</a:t>
            </a:r>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由微软提出，主要用于解决</a:t>
            </a:r>
            <a:r>
              <a:rPr lang="en-US" altLang="zh-CN" sz="2400" kern="100" dirty="0">
                <a:effectLst/>
                <a:latin typeface="KaiTi" panose="02010609060101010101" pitchFamily="49" charset="-122"/>
                <a:ea typeface="KaiTi" panose="02010609060101010101" pitchFamily="49" charset="-122"/>
              </a:rPr>
              <a:t> GDBT </a:t>
            </a:r>
            <a:r>
              <a:rPr lang="zh-CN" altLang="zh-CN" sz="2400" kern="100" dirty="0">
                <a:effectLst/>
                <a:latin typeface="KaiTi" panose="02010609060101010101" pitchFamily="49" charset="-122"/>
                <a:ea typeface="KaiTi" panose="02010609060101010101" pitchFamily="49" charset="-122"/>
              </a:rPr>
              <a:t>在海量数据中遇到的问题，以便其可以更好更快地用于工业实践中</a:t>
            </a:r>
            <a:r>
              <a:rPr lang="zh-CN" altLang="en-US" sz="2400" kern="100" dirty="0">
                <a:effectLst/>
                <a:latin typeface="KaiTi" panose="02010609060101010101" pitchFamily="49" charset="-122"/>
                <a:ea typeface="KaiTi" panose="02010609060101010101" pitchFamily="49" charset="-122"/>
              </a:rPr>
              <a:t>，</a:t>
            </a:r>
            <a:r>
              <a:rPr lang="zh-CN" altLang="zh-CN" sz="2400" kern="100" dirty="0">
                <a:effectLst/>
                <a:latin typeface="KaiTi" panose="02010609060101010101" pitchFamily="49" charset="-122"/>
                <a:ea typeface="KaiTi" panose="02010609060101010101" pitchFamily="49" charset="-122"/>
              </a:rPr>
              <a:t>其相对</a:t>
            </a:r>
            <a:r>
              <a:rPr lang="en-US" altLang="zh-CN" sz="2400" kern="100" dirty="0">
                <a:effectLst/>
                <a:latin typeface="KaiTi" panose="02010609060101010101" pitchFamily="49" charset="-122"/>
                <a:ea typeface="KaiTi" panose="02010609060101010101" pitchFamily="49" charset="-122"/>
              </a:rPr>
              <a:t> XGBoost </a:t>
            </a:r>
            <a:r>
              <a:rPr lang="zh-CN" altLang="zh-CN" sz="2400" kern="100" dirty="0">
                <a:effectLst/>
                <a:latin typeface="KaiTi" panose="02010609060101010101" pitchFamily="49" charset="-122"/>
                <a:ea typeface="KaiTi" panose="02010609060101010101" pitchFamily="49" charset="-122"/>
              </a:rPr>
              <a:t>具有训练速度快、内存占用低的特点。</a:t>
            </a:r>
            <a:endParaRPr lang="en-US" altLang="zh-CN" sz="2400" kern="100" dirty="0">
              <a:effectLst/>
              <a:latin typeface="KaiTi" panose="02010609060101010101" pitchFamily="49" charset="-122"/>
              <a:ea typeface="KaiTi" panose="02010609060101010101" pitchFamily="49" charset="-122"/>
            </a:endParaRPr>
          </a:p>
          <a:p>
            <a:pPr algn="just">
              <a:lnSpc>
                <a:spcPct val="150000"/>
              </a:lnSpc>
            </a:pPr>
            <a:r>
              <a:rPr lang="en-US" altLang="zh-CN" sz="2400" kern="100" dirty="0" err="1">
                <a:effectLst/>
                <a:latin typeface="KaiTi" panose="02010609060101010101" pitchFamily="49" charset="-122"/>
                <a:ea typeface="KaiTi" panose="02010609060101010101" pitchFamily="49" charset="-122"/>
              </a:rPr>
              <a:t>LightGBM</a:t>
            </a:r>
            <a:r>
              <a:rPr lang="zh-CN" altLang="zh-CN" sz="2400" kern="100" dirty="0">
                <a:effectLst/>
                <a:latin typeface="KaiTi" panose="02010609060101010101" pitchFamily="49" charset="-122"/>
                <a:ea typeface="KaiTi" panose="02010609060101010101" pitchFamily="49" charset="-122"/>
              </a:rPr>
              <a:t>与</a:t>
            </a:r>
            <a:r>
              <a:rPr lang="en-US" altLang="zh-CN" sz="2400" kern="100" dirty="0">
                <a:effectLst/>
                <a:latin typeface="KaiTi" panose="02010609060101010101" pitchFamily="49" charset="-122"/>
                <a:ea typeface="KaiTi" panose="02010609060101010101" pitchFamily="49" charset="-122"/>
              </a:rPr>
              <a:t>XGBoost</a:t>
            </a:r>
            <a:r>
              <a:rPr lang="zh-CN" altLang="zh-CN" sz="2400" kern="100" dirty="0">
                <a:effectLst/>
                <a:latin typeface="KaiTi" panose="02010609060101010101" pitchFamily="49" charset="-122"/>
                <a:ea typeface="KaiTi" panose="02010609060101010101" pitchFamily="49" charset="-122"/>
              </a:rPr>
              <a:t>相比，主要有以下几个优势：</a:t>
            </a:r>
          </a:p>
          <a:p>
            <a:pPr indent="266700" algn="just">
              <a:lnSpc>
                <a:spcPct val="150000"/>
              </a:lnSpc>
            </a:pPr>
            <a:r>
              <a:rPr lang="en-US" altLang="zh-CN" sz="2400" kern="100" dirty="0">
                <a:effectLst/>
                <a:latin typeface="KaiTi" panose="02010609060101010101" pitchFamily="49" charset="-122"/>
                <a:ea typeface="KaiTi" panose="02010609060101010101" pitchFamily="49" charset="-122"/>
              </a:rPr>
              <a:t>1</a:t>
            </a:r>
            <a:r>
              <a:rPr lang="zh-CN" altLang="zh-CN" sz="2400" kern="100" dirty="0">
                <a:effectLst/>
                <a:latin typeface="KaiTi" panose="02010609060101010101" pitchFamily="49" charset="-122"/>
                <a:ea typeface="KaiTi" panose="02010609060101010101" pitchFamily="49" charset="-122"/>
              </a:rPr>
              <a:t>）更快的训练速度</a:t>
            </a:r>
          </a:p>
          <a:p>
            <a:pPr indent="266700" algn="just">
              <a:lnSpc>
                <a:spcPct val="150000"/>
              </a:lnSpc>
            </a:pPr>
            <a:r>
              <a:rPr lang="en-US" altLang="zh-CN" sz="2400" kern="100" dirty="0">
                <a:effectLst/>
                <a:latin typeface="KaiTi" panose="02010609060101010101" pitchFamily="49" charset="-122"/>
                <a:ea typeface="KaiTi" panose="02010609060101010101" pitchFamily="49" charset="-122"/>
              </a:rPr>
              <a:t>2</a:t>
            </a:r>
            <a:r>
              <a:rPr lang="zh-CN" altLang="zh-CN" sz="2400" kern="100" dirty="0">
                <a:effectLst/>
                <a:latin typeface="KaiTi" panose="02010609060101010101" pitchFamily="49" charset="-122"/>
                <a:ea typeface="KaiTi" panose="02010609060101010101" pitchFamily="49" charset="-122"/>
              </a:rPr>
              <a:t>）更低的内存消耗</a:t>
            </a:r>
          </a:p>
          <a:p>
            <a:pPr indent="266700" algn="just">
              <a:lnSpc>
                <a:spcPct val="150000"/>
              </a:lnSpc>
            </a:pPr>
            <a:r>
              <a:rPr lang="en-US" altLang="zh-CN" sz="2400" kern="100" dirty="0">
                <a:effectLst/>
                <a:latin typeface="KaiTi" panose="02010609060101010101" pitchFamily="49" charset="-122"/>
                <a:ea typeface="KaiTi" panose="02010609060101010101" pitchFamily="49" charset="-122"/>
              </a:rPr>
              <a:t>3</a:t>
            </a:r>
            <a:r>
              <a:rPr lang="zh-CN" altLang="zh-CN" sz="2400" kern="100" dirty="0">
                <a:effectLst/>
                <a:latin typeface="KaiTi" panose="02010609060101010101" pitchFamily="49" charset="-122"/>
                <a:ea typeface="KaiTi" panose="02010609060101010101" pitchFamily="49" charset="-122"/>
              </a:rPr>
              <a:t>）更好的准确率</a:t>
            </a:r>
          </a:p>
          <a:p>
            <a:pPr indent="266700" algn="just">
              <a:lnSpc>
                <a:spcPct val="150000"/>
              </a:lnSpc>
            </a:pPr>
            <a:r>
              <a:rPr lang="en-US" altLang="zh-CN" sz="2400" kern="100" dirty="0">
                <a:effectLst/>
                <a:latin typeface="KaiTi" panose="02010609060101010101" pitchFamily="49" charset="-122"/>
                <a:ea typeface="KaiTi" panose="02010609060101010101" pitchFamily="49" charset="-122"/>
              </a:rPr>
              <a:t>4</a:t>
            </a:r>
            <a:r>
              <a:rPr lang="zh-CN" altLang="zh-CN" sz="2400" kern="100" dirty="0">
                <a:effectLst/>
                <a:latin typeface="KaiTi" panose="02010609060101010101" pitchFamily="49" charset="-122"/>
                <a:ea typeface="KaiTi" panose="02010609060101010101" pitchFamily="49" charset="-122"/>
              </a:rPr>
              <a:t>）分布式支持，可快速处理海量数据</a:t>
            </a:r>
          </a:p>
        </p:txBody>
      </p:sp>
    </p:spTree>
    <p:extLst>
      <p:ext uri="{BB962C8B-B14F-4D97-AF65-F5344CB8AC3E}">
        <p14:creationId xmlns:p14="http://schemas.microsoft.com/office/powerpoint/2010/main" val="708948968"/>
      </p:ext>
    </p:extLst>
  </p:cSld>
  <p:clrMapOvr>
    <a:masterClrMapping/>
  </p:clrMapOvr>
  <p:transition advTm="8005"/>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21203" y="1346750"/>
            <a:ext cx="10954911" cy="3062377"/>
          </a:xfrm>
          <a:prstGeom prst="rect">
            <a:avLst/>
          </a:prstGeom>
          <a:noFill/>
        </p:spPr>
        <p:txBody>
          <a:bodyPr wrap="square">
            <a:spAutoFit/>
          </a:bodyPr>
          <a:lstStyle/>
          <a:p>
            <a:pPr algn="just">
              <a:lnSpc>
                <a:spcPct val="150000"/>
              </a:lnSpc>
            </a:pPr>
            <a:r>
              <a:rPr lang="en-US" altLang="zh-CN" sz="2400" b="1" kern="100" dirty="0" err="1">
                <a:effectLst/>
                <a:latin typeface="KaiTi" panose="02010609060101010101" pitchFamily="49" charset="-122"/>
                <a:ea typeface="KaiTi" panose="02010609060101010101" pitchFamily="49" charset="-122"/>
              </a:rPr>
              <a:t>LightGBM</a:t>
            </a:r>
            <a:r>
              <a:rPr lang="en-US" altLang="zh-CN" sz="2400" kern="100" dirty="0">
                <a:effectLst/>
                <a:latin typeface="KaiTi" panose="02010609060101010101" pitchFamily="49" charset="-122"/>
                <a:ea typeface="KaiTi" panose="02010609060101010101" pitchFamily="49" charset="-122"/>
              </a:rPr>
              <a:t> </a:t>
            </a:r>
            <a:r>
              <a:rPr lang="zh-CN" altLang="en-US" sz="2400" kern="100" dirty="0">
                <a:effectLst/>
                <a:latin typeface="KaiTi" panose="02010609060101010101" pitchFamily="49" charset="-122"/>
                <a:ea typeface="KaiTi" panose="02010609060101010101" pitchFamily="49" charset="-122"/>
              </a:rPr>
              <a:t>的主要改进</a:t>
            </a:r>
            <a:endParaRPr lang="en-US" altLang="zh-CN" sz="2400" kern="100" dirty="0">
              <a:effectLst/>
              <a:latin typeface="KaiTi" panose="02010609060101010101" pitchFamily="49" charset="-122"/>
              <a:ea typeface="KaiTi" panose="02010609060101010101" pitchFamily="49" charset="-122"/>
            </a:endParaRPr>
          </a:p>
          <a:p>
            <a:pPr algn="just">
              <a:lnSpc>
                <a:spcPct val="150000"/>
              </a:lnSpc>
            </a:pPr>
            <a:r>
              <a:rPr lang="en-US" altLang="zh-CN" sz="2400" kern="100" dirty="0" err="1">
                <a:effectLst/>
                <a:latin typeface="KaiTi" panose="02010609060101010101" pitchFamily="49" charset="-122"/>
                <a:ea typeface="KaiTi" panose="02010609060101010101" pitchFamily="49" charset="-122"/>
              </a:rPr>
              <a:t>LightGBM</a:t>
            </a:r>
            <a:r>
              <a:rPr lang="zh-CN" altLang="zh-CN" sz="2400" kern="100" dirty="0">
                <a:effectLst/>
                <a:latin typeface="KaiTi" panose="02010609060101010101" pitchFamily="49" charset="-122"/>
                <a:ea typeface="KaiTi" panose="02010609060101010101" pitchFamily="49" charset="-122"/>
              </a:rPr>
              <a:t>与</a:t>
            </a:r>
            <a:r>
              <a:rPr lang="en-US" altLang="zh-CN" sz="2400" kern="100" dirty="0">
                <a:effectLst/>
                <a:latin typeface="KaiTi" panose="02010609060101010101" pitchFamily="49" charset="-122"/>
                <a:ea typeface="KaiTi" panose="02010609060101010101" pitchFamily="49" charset="-122"/>
              </a:rPr>
              <a:t>XGBoost</a:t>
            </a:r>
            <a:r>
              <a:rPr lang="zh-CN" altLang="zh-CN" sz="2400" kern="100" dirty="0">
                <a:effectLst/>
                <a:latin typeface="KaiTi" panose="02010609060101010101" pitchFamily="49" charset="-122"/>
                <a:ea typeface="KaiTi" panose="02010609060101010101" pitchFamily="49" charset="-122"/>
              </a:rPr>
              <a:t>相比，主要有以下几个</a:t>
            </a:r>
            <a:r>
              <a:rPr lang="zh-CN" altLang="en-US" sz="2400" kern="100" dirty="0">
                <a:effectLst/>
                <a:latin typeface="KaiTi" panose="02010609060101010101" pitchFamily="49" charset="-122"/>
                <a:ea typeface="KaiTi" panose="02010609060101010101" pitchFamily="49" charset="-122"/>
              </a:rPr>
              <a:t>改进</a:t>
            </a:r>
            <a:r>
              <a:rPr lang="zh-CN" altLang="zh-CN" sz="2400" kern="100" dirty="0">
                <a:effectLst/>
                <a:latin typeface="KaiTi" panose="02010609060101010101" pitchFamily="49" charset="-122"/>
                <a:ea typeface="KaiTi" panose="02010609060101010101" pitchFamily="49" charset="-122"/>
              </a:rPr>
              <a:t>：</a:t>
            </a:r>
          </a:p>
          <a:p>
            <a:pPr marL="342900" indent="-342900">
              <a:spcAft>
                <a:spcPts val="1000"/>
              </a:spcAft>
              <a:buFont typeface="Arial" panose="020B0604020202020204" pitchFamily="34" charset="0"/>
              <a:buChar char="•"/>
            </a:pP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基于梯度的单边采样算法（</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Gradient-based One-Side Sampling, GOSS</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en-US" sz="2400" kern="1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en-US" dirty="0">
              <a:latin typeface="KaiTi" panose="02010609060101010101" pitchFamily="49" charset="-122"/>
              <a:ea typeface="KaiTi" panose="02010609060101010101" pitchFamily="49" charset="-122"/>
            </a:endParaRPr>
          </a:p>
          <a:p>
            <a:pPr marL="342900" indent="-342900">
              <a:spcAft>
                <a:spcPts val="1000"/>
              </a:spcAft>
              <a:buFont typeface="Arial" panose="020B0604020202020204" pitchFamily="34" charset="0"/>
              <a:buChar char="•"/>
            </a:pP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互斥特征捆绑算法（</a:t>
            </a:r>
            <a:r>
              <a:rPr lang="en-US" altLang="zh-CN" sz="2400" kern="100" dirty="0">
                <a:effectLst/>
                <a:latin typeface="KaiTi" panose="02010609060101010101" pitchFamily="49" charset="-122"/>
                <a:ea typeface="KaiTi" panose="02010609060101010101" pitchFamily="49" charset="-122"/>
                <a:cs typeface="Times New Roman" panose="02020603050405020304" pitchFamily="18" charset="0"/>
              </a:rPr>
              <a:t>Exclusive Feature Bundling, EFB</a:t>
            </a:r>
            <a:r>
              <a:rPr lang="zh-CN" altLang="zh-CN" sz="2400"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zh-CN" kern="100" dirty="0">
                <a:latin typeface="KaiTi" panose="02010609060101010101" pitchFamily="49" charset="-122"/>
                <a:ea typeface="KaiTi" panose="02010609060101010101" pitchFamily="49" charset="-122"/>
                <a:cs typeface="Times New Roman" panose="02020603050405020304" pitchFamily="18" charset="0"/>
              </a:rPr>
              <a:t>；</a:t>
            </a:r>
            <a:endParaRPr lang="zh-CN" altLang="zh-CN" kern="100" dirty="0">
              <a:effectLst/>
              <a:latin typeface="KaiTi" panose="02010609060101010101" pitchFamily="49" charset="-122"/>
              <a:ea typeface="KaiTi" panose="02010609060101010101" pitchFamily="49" charset="-122"/>
              <a:cs typeface="Times New Roman" panose="02020603050405020304" pitchFamily="18" charset="0"/>
            </a:endParaRPr>
          </a:p>
          <a:p>
            <a:pPr marL="342900" lvl="0" indent="-342900" algn="l">
              <a:spcAft>
                <a:spcPts val="1000"/>
              </a:spcAft>
              <a:buFont typeface="Arial" panose="020B0604020202020204" pitchFamily="34" charset="0"/>
              <a:buChar char="•"/>
            </a:pPr>
            <a:r>
              <a:rPr lang="zh-CN" altLang="zh-CN" kern="100" dirty="0">
                <a:effectLst/>
                <a:latin typeface="KaiTi" panose="02010609060101010101" pitchFamily="49" charset="-122"/>
                <a:ea typeface="KaiTi" panose="02010609060101010101" pitchFamily="49" charset="-122"/>
                <a:cs typeface="Times New Roman" panose="02020603050405020304" pitchFamily="18" charset="0"/>
              </a:rPr>
              <a:t>直方图算法</a:t>
            </a:r>
            <a:r>
              <a:rPr lang="zh-CN" altLang="en-US" kern="100" dirty="0">
                <a:latin typeface="KaiTi" panose="02010609060101010101" pitchFamily="49" charset="-122"/>
                <a:ea typeface="KaiTi" panose="02010609060101010101" pitchFamily="49" charset="-122"/>
                <a:cs typeface="Times New Roman" panose="02020603050405020304" pitchFamily="18" charset="0"/>
              </a:rPr>
              <a:t>（</a:t>
            </a:r>
            <a:r>
              <a:rPr lang="en-US" altLang="zh-CN" kern="100" dirty="0">
                <a:latin typeface="KaiTi" panose="02010609060101010101" pitchFamily="49" charset="-122"/>
                <a:ea typeface="KaiTi" panose="02010609060101010101" pitchFamily="49" charset="-122"/>
                <a:cs typeface="Times New Roman" panose="02020603050405020304" pitchFamily="18" charset="0"/>
              </a:rPr>
              <a:t> Histogram </a:t>
            </a:r>
            <a:r>
              <a:rPr lang="zh-CN" altLang="en-US" kern="100" dirty="0">
                <a:effectLst/>
                <a:latin typeface="KaiTi" panose="02010609060101010101" pitchFamily="49" charset="-122"/>
                <a:ea typeface="KaiTi" panose="02010609060101010101" pitchFamily="49" charset="-122"/>
                <a:cs typeface="Times New Roman" panose="02020603050405020304" pitchFamily="18" charset="0"/>
              </a:rPr>
              <a:t>）</a:t>
            </a:r>
            <a:r>
              <a:rPr lang="zh-CN" altLang="zh-CN" kern="100" dirty="0">
                <a:effectLst/>
                <a:latin typeface="KaiTi" panose="02010609060101010101" pitchFamily="49" charset="-122"/>
                <a:ea typeface="KaiTi" panose="02010609060101010101" pitchFamily="49" charset="-122"/>
                <a:cs typeface="Times New Roman" panose="02020603050405020304" pitchFamily="18" charset="0"/>
              </a:rPr>
              <a:t>；</a:t>
            </a:r>
          </a:p>
          <a:p>
            <a:pPr marL="342900" lvl="0" indent="-342900" algn="l">
              <a:spcAft>
                <a:spcPts val="1000"/>
              </a:spcAft>
              <a:buFont typeface="Arial" panose="020B0604020202020204" pitchFamily="34" charset="0"/>
              <a:buChar char="•"/>
            </a:pPr>
            <a:r>
              <a:rPr lang="zh-CN" altLang="zh-CN" kern="100" dirty="0">
                <a:effectLst/>
                <a:latin typeface="KaiTi" panose="02010609060101010101" pitchFamily="49" charset="-122"/>
                <a:ea typeface="KaiTi" panose="02010609060101010101" pitchFamily="49" charset="-122"/>
                <a:cs typeface="Times New Roman" panose="02020603050405020304" pitchFamily="18" charset="0"/>
              </a:rPr>
              <a:t>基于最大深度的</a:t>
            </a:r>
            <a:r>
              <a:rPr lang="en-US" altLang="zh-CN" kern="100" dirty="0">
                <a:effectLst/>
                <a:latin typeface="KaiTi" panose="02010609060101010101" pitchFamily="49" charset="-122"/>
                <a:ea typeface="KaiTi" panose="02010609060101010101" pitchFamily="49" charset="-122"/>
                <a:cs typeface="Times New Roman" panose="02020603050405020304" pitchFamily="18" charset="0"/>
              </a:rPr>
              <a:t> Leaf-wise </a:t>
            </a:r>
            <a:r>
              <a:rPr lang="zh-CN" altLang="zh-CN" kern="100" dirty="0">
                <a:effectLst/>
                <a:latin typeface="KaiTi" panose="02010609060101010101" pitchFamily="49" charset="-122"/>
                <a:ea typeface="KaiTi" panose="02010609060101010101" pitchFamily="49" charset="-122"/>
                <a:cs typeface="Times New Roman" panose="02020603050405020304" pitchFamily="18" charset="0"/>
              </a:rPr>
              <a:t>的垂直生长算法；</a:t>
            </a:r>
          </a:p>
        </p:txBody>
      </p:sp>
      <p:sp>
        <p:nvSpPr>
          <p:cNvPr id="5" name="文本框 4">
            <a:extLst>
              <a:ext uri="{FF2B5EF4-FFF2-40B4-BE49-F238E27FC236}">
                <a16:creationId xmlns:a16="http://schemas.microsoft.com/office/drawing/2014/main" id="{699EA42B-413D-4263-8EC6-FC49B3B43557}"/>
              </a:ext>
            </a:extLst>
          </p:cNvPr>
          <p:cNvSpPr txBox="1"/>
          <p:nvPr/>
        </p:nvSpPr>
        <p:spPr>
          <a:xfrm>
            <a:off x="668338" y="5049585"/>
            <a:ext cx="9026769" cy="461665"/>
          </a:xfrm>
          <a:prstGeom prst="rect">
            <a:avLst/>
          </a:prstGeom>
          <a:noFill/>
        </p:spPr>
        <p:txBody>
          <a:bodyPr wrap="square">
            <a:spAutoFit/>
          </a:bodyPr>
          <a:lstStyle/>
          <a:p>
            <a:r>
              <a:rPr lang="en-US" altLang="zh-CN" b="1" i="0" dirty="0" err="1">
                <a:solidFill>
                  <a:srgbClr val="FF0000"/>
                </a:solidFill>
                <a:effectLst/>
                <a:latin typeface="KaiTi" panose="02010609060101010101" pitchFamily="49" charset="-122"/>
                <a:ea typeface="KaiTi" panose="02010609060101010101" pitchFamily="49" charset="-122"/>
              </a:rPr>
              <a:t>LightGBM</a:t>
            </a:r>
            <a:r>
              <a:rPr lang="en-US" altLang="zh-CN" b="1" i="0" dirty="0">
                <a:solidFill>
                  <a:srgbClr val="FF0000"/>
                </a:solidFill>
                <a:effectLst/>
                <a:latin typeface="KaiTi" panose="02010609060101010101" pitchFamily="49" charset="-122"/>
                <a:ea typeface="KaiTi" panose="02010609060101010101" pitchFamily="49" charset="-122"/>
              </a:rPr>
              <a:t> = XGBoost + GOSS + </a:t>
            </a:r>
            <a:r>
              <a:rPr lang="en-US" altLang="zh-CN" b="1" dirty="0">
                <a:solidFill>
                  <a:srgbClr val="FF0000"/>
                </a:solidFill>
                <a:latin typeface="KaiTi" panose="02010609060101010101" pitchFamily="49" charset="-122"/>
                <a:ea typeface="KaiTi" panose="02010609060101010101" pitchFamily="49" charset="-122"/>
              </a:rPr>
              <a:t>EFB+ Histogram </a:t>
            </a:r>
            <a:endParaRPr lang="zh-CN" altLang="en-US" b="1" dirty="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451921140"/>
      </p:ext>
    </p:extLst>
  </p:cSld>
  <p:clrMapOvr>
    <a:masterClrMapping/>
  </p:clrMapOvr>
  <p:transition advTm="8005"/>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68337" y="1548387"/>
            <a:ext cx="10824967" cy="461665"/>
          </a:xfrm>
          <a:prstGeom prst="rect">
            <a:avLst/>
          </a:prstGeom>
          <a:noFill/>
        </p:spPr>
        <p:txBody>
          <a:bodyPr wrap="square">
            <a:spAutoFit/>
          </a:bodyPr>
          <a:lstStyle/>
          <a:p>
            <a:pPr lvl="0" algn="l">
              <a:spcAft>
                <a:spcPts val="1000"/>
              </a:spcAft>
            </a:pPr>
            <a:r>
              <a:rPr lang="zh-CN" altLang="en-US" b="1" kern="100" dirty="0">
                <a:effectLst/>
                <a:latin typeface="KaiTi" panose="02010609060101010101" pitchFamily="49" charset="-122"/>
                <a:ea typeface="KaiTi" panose="02010609060101010101" pitchFamily="49" charset="-122"/>
                <a:cs typeface="Times New Roman" panose="02020603050405020304" pitchFamily="18" charset="0"/>
              </a:rPr>
              <a:t>基于梯度的单边采样算法（</a:t>
            </a:r>
            <a:r>
              <a:rPr lang="en-US" altLang="zh-CN" b="1" kern="100" dirty="0">
                <a:effectLst/>
                <a:latin typeface="KaiTi" panose="02010609060101010101" pitchFamily="49" charset="-122"/>
                <a:ea typeface="KaiTi" panose="02010609060101010101" pitchFamily="49" charset="-122"/>
                <a:cs typeface="Times New Roman" panose="02020603050405020304" pitchFamily="18" charset="0"/>
              </a:rPr>
              <a:t>Gradient-based One-Side Sampling, GOSS</a:t>
            </a:r>
            <a:r>
              <a:rPr lang="zh-CN" altLang="en-US" b="1" kern="1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zh-CN" b="1" kern="100" dirty="0">
              <a:effectLst/>
              <a:latin typeface="KaiTi" panose="02010609060101010101" pitchFamily="49" charset="-122"/>
              <a:ea typeface="KaiTi"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D1DFB934-4A0F-4889-AE98-679DF57AF596}"/>
              </a:ext>
            </a:extLst>
          </p:cNvPr>
          <p:cNvSpPr txBox="1"/>
          <p:nvPr/>
        </p:nvSpPr>
        <p:spPr>
          <a:xfrm>
            <a:off x="668337" y="2096996"/>
            <a:ext cx="11066585" cy="461665"/>
          </a:xfrm>
          <a:prstGeom prst="rect">
            <a:avLst/>
          </a:prstGeom>
          <a:noFill/>
        </p:spPr>
        <p:txBody>
          <a:bodyPr wrap="square">
            <a:spAutoFit/>
          </a:bodyPr>
          <a:lstStyle/>
          <a:p>
            <a:r>
              <a:rPr lang="zh-CN" altLang="en-US" b="0" i="0" dirty="0">
                <a:solidFill>
                  <a:srgbClr val="333333"/>
                </a:solidFill>
                <a:effectLst/>
                <a:latin typeface="KaiTi" panose="02010609060101010101" pitchFamily="49" charset="-122"/>
                <a:ea typeface="KaiTi" panose="02010609060101010101" pitchFamily="49" charset="-122"/>
              </a:rPr>
              <a:t>主要思想是通过对样本采样的方法来减少计算目标函数增益时候的复杂度。</a:t>
            </a:r>
            <a:endParaRPr lang="zh-CN" altLang="en-US" dirty="0">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7C1A6518-4960-4368-95F2-5D5802431F17}"/>
              </a:ext>
            </a:extLst>
          </p:cNvPr>
          <p:cNvSpPr txBox="1"/>
          <p:nvPr/>
        </p:nvSpPr>
        <p:spPr>
          <a:xfrm>
            <a:off x="668337" y="2811849"/>
            <a:ext cx="10649245" cy="1130246"/>
          </a:xfrm>
          <a:prstGeom prst="rect">
            <a:avLst/>
          </a:prstGeom>
          <a:noFill/>
        </p:spPr>
        <p:txBody>
          <a:bodyPr wrap="square">
            <a:spAutoFit/>
          </a:bodyPr>
          <a:lstStyle/>
          <a:p>
            <a:pPr algn="just">
              <a:lnSpc>
                <a:spcPct val="150000"/>
              </a:lnSpc>
            </a:pPr>
            <a:r>
              <a:rPr lang="en-US" altLang="zh-CN" sz="2400" kern="100" dirty="0">
                <a:effectLst/>
                <a:latin typeface="KaiTi" panose="02010609060101010101" pitchFamily="49" charset="-122"/>
                <a:ea typeface="KaiTi" panose="02010609060101010101" pitchFamily="49" charset="-122"/>
              </a:rPr>
              <a:t>GOSS </a:t>
            </a:r>
            <a:r>
              <a:rPr lang="zh-CN" altLang="zh-CN" sz="2400" kern="100" dirty="0">
                <a:effectLst/>
                <a:latin typeface="KaiTi" panose="02010609060101010101" pitchFamily="49" charset="-122"/>
                <a:ea typeface="KaiTi" panose="02010609060101010101" pitchFamily="49" charset="-122"/>
              </a:rPr>
              <a:t>算法保留了梯度大的样本，并对梯度小的样本进行随机抽样，为了不改变样本的数据分布，在计算增益时为梯度小的样本引入一个常数进行平衡。</a:t>
            </a:r>
          </a:p>
        </p:txBody>
      </p:sp>
      <p:sp>
        <p:nvSpPr>
          <p:cNvPr id="7" name="文本框 6">
            <a:extLst>
              <a:ext uri="{FF2B5EF4-FFF2-40B4-BE49-F238E27FC236}">
                <a16:creationId xmlns:a16="http://schemas.microsoft.com/office/drawing/2014/main" id="{10A3B21D-F954-462A-A727-56FE4B8AD561}"/>
              </a:ext>
            </a:extLst>
          </p:cNvPr>
          <p:cNvSpPr txBox="1"/>
          <p:nvPr/>
        </p:nvSpPr>
        <p:spPr>
          <a:xfrm>
            <a:off x="668337" y="4709448"/>
            <a:ext cx="10698358" cy="830997"/>
          </a:xfrm>
          <a:prstGeom prst="rect">
            <a:avLst/>
          </a:prstGeom>
          <a:noFill/>
        </p:spPr>
        <p:txBody>
          <a:bodyPr wrap="square">
            <a:spAutoFit/>
          </a:bodyPr>
          <a:lstStyle/>
          <a:p>
            <a:r>
              <a:rPr lang="zh-CN" altLang="en-US" b="1" i="0" dirty="0">
                <a:solidFill>
                  <a:srgbClr val="FF0000"/>
                </a:solidFill>
                <a:effectLst/>
                <a:latin typeface="KaiTi" panose="02010609060101010101" pitchFamily="49" charset="-122"/>
                <a:ea typeface="KaiTi" panose="02010609060101010101" pitchFamily="49" charset="-122"/>
              </a:rPr>
              <a:t>如果一个样本的梯度很小，说明该样本的训练误差很小，或者说该样本已经得到了很好的训练</a:t>
            </a:r>
            <a:r>
              <a:rPr lang="en-US" altLang="zh-CN" b="1" i="0" dirty="0">
                <a:solidFill>
                  <a:srgbClr val="FF0000"/>
                </a:solidFill>
                <a:effectLst/>
                <a:latin typeface="KaiTi" panose="02010609060101010101" pitchFamily="49" charset="-122"/>
                <a:ea typeface="KaiTi" panose="02010609060101010101" pitchFamily="49" charset="-122"/>
              </a:rPr>
              <a:t>(well-trained)</a:t>
            </a:r>
            <a:r>
              <a:rPr lang="zh-CN" altLang="en-US" b="1" i="0" dirty="0">
                <a:solidFill>
                  <a:srgbClr val="FF0000"/>
                </a:solidFill>
                <a:effectLst/>
                <a:latin typeface="KaiTi" panose="02010609060101010101" pitchFamily="49" charset="-122"/>
                <a:ea typeface="KaiTi" panose="02010609060101010101" pitchFamily="49" charset="-122"/>
              </a:rPr>
              <a:t>。</a:t>
            </a:r>
            <a:endParaRPr lang="zh-CN" altLang="en-US" b="1" dirty="0">
              <a:solidFill>
                <a:srgbClr val="FF0000"/>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210429881"/>
      </p:ext>
    </p:extLst>
  </p:cSld>
  <p:clrMapOvr>
    <a:masterClrMapping/>
  </p:clrMapOvr>
  <p:transition advTm="8005"/>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rPr>
              <a:t>5.LightGBM</a:t>
            </a:r>
            <a:endParaRPr lang="zh-CN" altLang="en-US" dirty="0">
              <a:solidFill>
                <a:schemeClr val="tx1"/>
              </a:solidFill>
            </a:endParaRPr>
          </a:p>
        </p:txBody>
      </p:sp>
      <p:sp>
        <p:nvSpPr>
          <p:cNvPr id="11" name="文本框 10">
            <a:extLst>
              <a:ext uri="{FF2B5EF4-FFF2-40B4-BE49-F238E27FC236}">
                <a16:creationId xmlns:a16="http://schemas.microsoft.com/office/drawing/2014/main" id="{8257A49D-8528-42C1-A3D4-D6D48F9C5FC9}"/>
              </a:ext>
            </a:extLst>
          </p:cNvPr>
          <p:cNvSpPr txBox="1"/>
          <p:nvPr/>
        </p:nvSpPr>
        <p:spPr>
          <a:xfrm>
            <a:off x="668337" y="1391977"/>
            <a:ext cx="10824967" cy="461665"/>
          </a:xfrm>
          <a:prstGeom prst="rect">
            <a:avLst/>
          </a:prstGeom>
          <a:noFill/>
        </p:spPr>
        <p:txBody>
          <a:bodyPr wrap="square">
            <a:spAutoFit/>
          </a:bodyPr>
          <a:lstStyle/>
          <a:p>
            <a:pPr lvl="0" algn="l">
              <a:spcAft>
                <a:spcPts val="1000"/>
              </a:spcAft>
            </a:pPr>
            <a:r>
              <a:rPr lang="zh-CN" altLang="en-US" b="1" kern="100" dirty="0">
                <a:effectLst/>
                <a:latin typeface="+mj-ea"/>
                <a:ea typeface="+mj-ea"/>
                <a:cs typeface="Times New Roman" panose="02020603050405020304" pitchFamily="18" charset="0"/>
              </a:rPr>
              <a:t>基于梯度的单边采样算法（</a:t>
            </a:r>
            <a:r>
              <a:rPr lang="en-US" altLang="zh-CN" b="1" kern="100" dirty="0">
                <a:effectLst/>
                <a:latin typeface="+mj-ea"/>
                <a:ea typeface="+mj-ea"/>
                <a:cs typeface="Times New Roman" panose="02020603050405020304" pitchFamily="18" charset="0"/>
              </a:rPr>
              <a:t>Gradient-based One-Side Sampling, GOSS</a:t>
            </a:r>
            <a:r>
              <a:rPr lang="zh-CN" altLang="en-US" b="1" kern="100" dirty="0">
                <a:effectLst/>
                <a:latin typeface="+mj-ea"/>
                <a:ea typeface="+mj-ea"/>
                <a:cs typeface="Times New Roman" panose="02020603050405020304" pitchFamily="18" charset="0"/>
              </a:rPr>
              <a:t>）</a:t>
            </a:r>
            <a:endParaRPr lang="zh-CN" altLang="zh-CN" b="1" kern="100" dirty="0">
              <a:effectLst/>
              <a:latin typeface="+mj-ea"/>
              <a:ea typeface="+mj-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4F83D38-BFBD-4D0C-90B7-C8517321381E}"/>
                  </a:ext>
                </a:extLst>
              </p:cNvPr>
              <p:cNvSpPr txBox="1"/>
              <p:nvPr/>
            </p:nvSpPr>
            <p:spPr>
              <a:xfrm>
                <a:off x="668337" y="1853642"/>
                <a:ext cx="10592973" cy="4799263"/>
              </a:xfrm>
              <a:prstGeom prst="rect">
                <a:avLst/>
              </a:prstGeom>
              <a:noFill/>
            </p:spPr>
            <p:txBody>
              <a:bodyPr wrap="square">
                <a:spAutoFit/>
              </a:bodyPr>
              <a:lstStyle/>
              <a:p>
                <a:r>
                  <a:rPr lang="zh-CN" altLang="en-US" sz="2000" dirty="0">
                    <a:latin typeface="KaiTi" panose="02010609060101010101" pitchFamily="49" charset="-122"/>
                    <a:ea typeface="KaiTi" panose="02010609060101010101" pitchFamily="49" charset="-122"/>
                  </a:rPr>
                  <a:t>输入：训练数据，迭代步数d，大梯度数据的采样率a，小梯度数据的采样率b，损失函数和若学习器的类型（一般为决策树）</a:t>
                </a:r>
                <a:endParaRPr lang="en-US" altLang="zh-CN" sz="2000" dirty="0">
                  <a:latin typeface="KaiTi" panose="02010609060101010101" pitchFamily="49" charset="-122"/>
                  <a:ea typeface="KaiTi" panose="02010609060101010101" pitchFamily="49" charset="-122"/>
                </a:endParaRPr>
              </a:p>
              <a:p>
                <a:r>
                  <a:rPr lang="zh-CN" altLang="en-US" sz="2000" dirty="0">
                    <a:latin typeface="KaiTi" panose="02010609060101010101" pitchFamily="49" charset="-122"/>
                    <a:ea typeface="KaiTi" panose="02010609060101010101" pitchFamily="49" charset="-122"/>
                  </a:rPr>
                  <a:t>输出：训练好的强学习器</a:t>
                </a:r>
                <a:endParaRPr lang="en-US" altLang="zh-CN" sz="2000" dirty="0">
                  <a:latin typeface="KaiTi" panose="02010609060101010101" pitchFamily="49" charset="-122"/>
                  <a:ea typeface="KaiTi" panose="02010609060101010101" pitchFamily="49" charset="-122"/>
                </a:endParaRPr>
              </a:p>
              <a:p>
                <a:pPr>
                  <a:lnSpc>
                    <a:spcPct val="150000"/>
                  </a:lnSpc>
                </a:pPr>
                <a:r>
                  <a:rPr lang="zh-CN" altLang="en-US" sz="2000" dirty="0">
                    <a:latin typeface="KaiTi" panose="02010609060101010101" pitchFamily="49" charset="-122"/>
                    <a:ea typeface="KaiTi" panose="02010609060101010101" pitchFamily="49" charset="-122"/>
                  </a:rPr>
                  <a:t>（1）根据样本点的梯度的绝对值对它们进行降序排序；</a:t>
                </a:r>
                <a:endParaRPr lang="en-US" altLang="zh-CN" sz="2000" dirty="0">
                  <a:latin typeface="KaiTi" panose="02010609060101010101" pitchFamily="49" charset="-122"/>
                  <a:ea typeface="KaiTi" panose="02010609060101010101" pitchFamily="49" charset="-122"/>
                </a:endParaRPr>
              </a:p>
              <a:p>
                <a:pPr>
                  <a:lnSpc>
                    <a:spcPct val="150000"/>
                  </a:lnSpc>
                </a:pPr>
                <a:r>
                  <a:rPr lang="zh-CN" altLang="en-US" sz="2000" dirty="0">
                    <a:latin typeface="KaiTi" panose="02010609060101010101" pitchFamily="49" charset="-122"/>
                    <a:ea typeface="KaiTi" panose="02010609060101010101" pitchFamily="49" charset="-122"/>
                  </a:rPr>
                  <a:t>（2）对排序后的结果选取前a*100%的样本生成一个大梯度样本点的子集；</a:t>
                </a:r>
                <a:endParaRPr lang="en-US" altLang="zh-CN" sz="2000" dirty="0">
                  <a:latin typeface="KaiTi" panose="02010609060101010101" pitchFamily="49" charset="-122"/>
                  <a:ea typeface="KaiTi" panose="02010609060101010101" pitchFamily="49" charset="-122"/>
                </a:endParaRPr>
              </a:p>
              <a:p>
                <a:pPr>
                  <a:lnSpc>
                    <a:spcPct val="150000"/>
                  </a:lnSpc>
                </a:pPr>
                <a:r>
                  <a:rPr lang="zh-CN" altLang="en-US" sz="2000" dirty="0">
                    <a:latin typeface="KaiTi" panose="02010609060101010101" pitchFamily="49" charset="-122"/>
                    <a:ea typeface="KaiTi" panose="02010609060101010101" pitchFamily="49" charset="-122"/>
                  </a:rPr>
                  <a:t>（3）对剩下的样本集合</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1-a</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*100%的样本，随机的选取b *</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1-a</a:t>
                </a:r>
                <a:r>
                  <a:rPr lang="en-US" altLang="zh-CN" sz="2000" dirty="0">
                    <a:latin typeface="KaiTi" panose="02010609060101010101" pitchFamily="49" charset="-122"/>
                    <a:ea typeface="KaiTi" panose="02010609060101010101" pitchFamily="49" charset="-122"/>
                  </a:rPr>
                  <a:t>)</a:t>
                </a:r>
                <a:r>
                  <a:rPr lang="zh-CN" altLang="en-US" sz="2000" dirty="0">
                    <a:latin typeface="KaiTi" panose="02010609060101010101" pitchFamily="49" charset="-122"/>
                    <a:ea typeface="KaiTi" panose="02010609060101010101" pitchFamily="49" charset="-122"/>
                  </a:rPr>
                  <a:t>*100%个样本点，生成一个小梯度样本点的集合；</a:t>
                </a:r>
                <a:endParaRPr lang="en-US" altLang="zh-CN" sz="2000" dirty="0">
                  <a:latin typeface="KaiTi" panose="02010609060101010101" pitchFamily="49" charset="-122"/>
                  <a:ea typeface="KaiTi" panose="02010609060101010101" pitchFamily="49" charset="-122"/>
                </a:endParaRPr>
              </a:p>
              <a:p>
                <a:pPr>
                  <a:lnSpc>
                    <a:spcPct val="150000"/>
                  </a:lnSpc>
                </a:pPr>
                <a:r>
                  <a:rPr lang="zh-CN" altLang="en-US" sz="2000" dirty="0">
                    <a:latin typeface="KaiTi" panose="02010609060101010101" pitchFamily="49" charset="-122"/>
                    <a:ea typeface="KaiTi" panose="02010609060101010101" pitchFamily="49" charset="-122"/>
                  </a:rPr>
                  <a:t>（4）将大梯度样本和采样的小梯度样本合并；</a:t>
                </a:r>
                <a:endParaRPr lang="en-US" altLang="zh-CN" sz="2000" dirty="0">
                  <a:latin typeface="KaiTi" panose="02010609060101010101" pitchFamily="49" charset="-122"/>
                  <a:ea typeface="KaiTi" panose="02010609060101010101" pitchFamily="49" charset="-122"/>
                </a:endParaRPr>
              </a:p>
              <a:p>
                <a:pPr>
                  <a:lnSpc>
                    <a:spcPct val="150000"/>
                  </a:lnSpc>
                </a:pPr>
                <a:r>
                  <a:rPr lang="zh-CN" altLang="en-US" sz="2000" dirty="0">
                    <a:latin typeface="KaiTi" panose="02010609060101010101" pitchFamily="49" charset="-122"/>
                    <a:ea typeface="KaiTi" panose="02010609060101010101" pitchFamily="49" charset="-122"/>
                  </a:rPr>
                  <a:t>（5）将小梯度样本乘上一个权重系数</a:t>
                </a:r>
                <a14:m>
                  <m:oMath xmlns:m="http://schemas.openxmlformats.org/officeDocument/2006/math">
                    <m:f>
                      <m:fPr>
                        <m:ctrlPr>
                          <a:rPr lang="zh-CN" altLang="zh-CN" sz="1800" i="1" smtClean="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𝑎</m:t>
                        </m:r>
                      </m:num>
                      <m:den>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𝑏</m:t>
                        </m:r>
                      </m:den>
                    </m:f>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sz="2000" dirty="0">
                    <a:latin typeface="KaiTi" panose="02010609060101010101" pitchFamily="49" charset="-122"/>
                    <a:ea typeface="KaiTi" panose="02010609060101010101" pitchFamily="49" charset="-122"/>
                  </a:rPr>
                  <a:t>；</a:t>
                </a:r>
                <a:endParaRPr lang="en-US" altLang="zh-CN" sz="2000" dirty="0">
                  <a:latin typeface="KaiTi" panose="02010609060101010101" pitchFamily="49" charset="-122"/>
                  <a:ea typeface="KaiTi" panose="02010609060101010101" pitchFamily="49" charset="-122"/>
                </a:endParaRPr>
              </a:p>
              <a:p>
                <a:pPr>
                  <a:lnSpc>
                    <a:spcPct val="150000"/>
                  </a:lnSpc>
                </a:pPr>
                <a:r>
                  <a:rPr lang="zh-CN" altLang="en-US" sz="2000" dirty="0">
                    <a:latin typeface="KaiTi" panose="02010609060101010101" pitchFamily="49" charset="-122"/>
                    <a:ea typeface="KaiTi" panose="02010609060101010101" pitchFamily="49" charset="-122"/>
                  </a:rPr>
                  <a:t>（6）使用上述的采样的样本，学习一个新的弱学习器；</a:t>
                </a:r>
                <a:endParaRPr lang="en-US" altLang="zh-CN" sz="2000" dirty="0">
                  <a:latin typeface="KaiTi" panose="02010609060101010101" pitchFamily="49" charset="-122"/>
                  <a:ea typeface="KaiTi" panose="02010609060101010101" pitchFamily="49" charset="-122"/>
                </a:endParaRPr>
              </a:p>
              <a:p>
                <a:pPr>
                  <a:lnSpc>
                    <a:spcPct val="150000"/>
                  </a:lnSpc>
                </a:pPr>
                <a:r>
                  <a:rPr lang="zh-CN" altLang="en-US" sz="2000" dirty="0">
                    <a:latin typeface="KaiTi" panose="02010609060101010101" pitchFamily="49" charset="-122"/>
                    <a:ea typeface="KaiTi" panose="02010609060101010101" pitchFamily="49" charset="-122"/>
                  </a:rPr>
                  <a:t>（7）不断地重复（1）~（6）步骤直到达到规定的迭代次数或者收敛为止。</a:t>
                </a:r>
              </a:p>
            </p:txBody>
          </p:sp>
        </mc:Choice>
        <mc:Fallback xmlns="">
          <p:sp>
            <p:nvSpPr>
              <p:cNvPr id="9" name="文本框 8">
                <a:extLst>
                  <a:ext uri="{FF2B5EF4-FFF2-40B4-BE49-F238E27FC236}">
                    <a16:creationId xmlns:a16="http://schemas.microsoft.com/office/drawing/2014/main" id="{B4F83D38-BFBD-4D0C-90B7-C8517321381E}"/>
                  </a:ext>
                </a:extLst>
              </p:cNvPr>
              <p:cNvSpPr txBox="1">
                <a:spLocks noRot="1" noChangeAspect="1" noMove="1" noResize="1" noEditPoints="1" noAdjustHandles="1" noChangeArrowheads="1" noChangeShapeType="1" noTextEdit="1"/>
              </p:cNvSpPr>
              <p:nvPr/>
            </p:nvSpPr>
            <p:spPr>
              <a:xfrm>
                <a:off x="668337" y="1853642"/>
                <a:ext cx="10592973" cy="4799263"/>
              </a:xfrm>
              <a:prstGeom prst="rect">
                <a:avLst/>
              </a:prstGeom>
              <a:blipFill>
                <a:blip r:embed="rId3"/>
                <a:stretch>
                  <a:fillRect l="-633" t="-635" b="-101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948342277"/>
      </p:ext>
    </p:extLst>
  </p:cSld>
  <p:clrMapOvr>
    <a:masterClrMapping/>
  </p:clrMapOvr>
  <p:transition advTm="8005"/>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3" name="Rectangle 1">
            <a:extLst>
              <a:ext uri="{FF2B5EF4-FFF2-40B4-BE49-F238E27FC236}">
                <a16:creationId xmlns:a16="http://schemas.microsoft.com/office/drawing/2014/main" id="{9B7F1399-DB4D-4DCD-B4F1-4E32F6C3AA5F}"/>
              </a:ext>
            </a:extLst>
          </p:cNvPr>
          <p:cNvSpPr>
            <a:spLocks noChangeArrowheads="1"/>
          </p:cNvSpPr>
          <p:nvPr/>
        </p:nvSpPr>
        <p:spPr bwMode="auto">
          <a:xfrm>
            <a:off x="1871662" y="221207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KaiTi" panose="02010609060101010101" pitchFamily="49" charset="-122"/>
                <a:ea typeface="KaiTi" panose="02010609060101010101" pitchFamily="49" charset="-122"/>
              </a:rPr>
            </a:br>
            <a:endParaRPr kumimoji="0" lang="zh-CN" altLang="zh-CN" sz="1800" b="0" i="0" u="none" strike="noStrike" cap="none" normalizeH="0" baseline="0">
              <a:ln>
                <a:noFill/>
              </a:ln>
              <a:solidFill>
                <a:schemeClr val="tx1"/>
              </a:solidFill>
              <a:effectLst/>
              <a:latin typeface="KaiTi" panose="02010609060101010101" pitchFamily="49" charset="-122"/>
              <a:ea typeface="KaiTi" panose="02010609060101010101" pitchFamily="49" charset="-122"/>
            </a:endParaRPr>
          </a:p>
        </p:txBody>
      </p:sp>
      <p:sp>
        <p:nvSpPr>
          <p:cNvPr id="13" name="文本框 12">
            <a:extLst>
              <a:ext uri="{FF2B5EF4-FFF2-40B4-BE49-F238E27FC236}">
                <a16:creationId xmlns:a16="http://schemas.microsoft.com/office/drawing/2014/main" id="{3679B423-AD35-40FE-91C6-307F2FEAEBE5}"/>
              </a:ext>
            </a:extLst>
          </p:cNvPr>
          <p:cNvSpPr txBox="1"/>
          <p:nvPr/>
        </p:nvSpPr>
        <p:spPr>
          <a:xfrm>
            <a:off x="1231654" y="1775630"/>
            <a:ext cx="897190"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样本序号</a:t>
            </a:r>
          </a:p>
        </p:txBody>
      </p:sp>
      <p:sp>
        <p:nvSpPr>
          <p:cNvPr id="15" name="文本框 14">
            <a:extLst>
              <a:ext uri="{FF2B5EF4-FFF2-40B4-BE49-F238E27FC236}">
                <a16:creationId xmlns:a16="http://schemas.microsoft.com/office/drawing/2014/main" id="{6D214300-3342-4BA2-9A08-691EB8582A13}"/>
              </a:ext>
            </a:extLst>
          </p:cNvPr>
          <p:cNvSpPr txBox="1"/>
          <p:nvPr/>
        </p:nvSpPr>
        <p:spPr>
          <a:xfrm>
            <a:off x="775104" y="2113694"/>
            <a:ext cx="2425302"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样本的特征取值</a:t>
            </a:r>
          </a:p>
        </p:txBody>
      </p:sp>
      <p:sp>
        <p:nvSpPr>
          <p:cNvPr id="17" name="文本框 16">
            <a:extLst>
              <a:ext uri="{FF2B5EF4-FFF2-40B4-BE49-F238E27FC236}">
                <a16:creationId xmlns:a16="http://schemas.microsoft.com/office/drawing/2014/main" id="{609918ED-B905-4568-A02E-70725B64537C}"/>
              </a:ext>
            </a:extLst>
          </p:cNvPr>
          <p:cNvSpPr txBox="1"/>
          <p:nvPr/>
        </p:nvSpPr>
        <p:spPr>
          <a:xfrm>
            <a:off x="941791" y="2489907"/>
            <a:ext cx="2258615"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样本的一阶导</a:t>
            </a:r>
          </a:p>
        </p:txBody>
      </p:sp>
      <p:sp>
        <p:nvSpPr>
          <p:cNvPr id="19" name="文本框 18">
            <a:extLst>
              <a:ext uri="{FF2B5EF4-FFF2-40B4-BE49-F238E27FC236}">
                <a16:creationId xmlns:a16="http://schemas.microsoft.com/office/drawing/2014/main" id="{C78C5946-FC99-4B24-BF4E-18ADC7D35A19}"/>
              </a:ext>
            </a:extLst>
          </p:cNvPr>
          <p:cNvSpPr txBox="1"/>
          <p:nvPr/>
        </p:nvSpPr>
        <p:spPr>
          <a:xfrm>
            <a:off x="941791" y="2827971"/>
            <a:ext cx="2063352"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样本的二阶导</a:t>
            </a:r>
          </a:p>
        </p:txBody>
      </p:sp>
      <mc:AlternateContent xmlns:mc="http://schemas.openxmlformats.org/markup-compatibility/2006" xmlns:a14="http://schemas.microsoft.com/office/drawing/2010/main">
        <mc:Choice Requires="a14">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3085867934"/>
                  </p:ext>
                </p:extLst>
              </p:nvPr>
            </p:nvGraphicFramePr>
            <p:xfrm>
              <a:off x="2200275" y="1746339"/>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pPr algn="just"/>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𝑖</m:t>
                                </m:r>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𝑥</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Choice>
        <mc:Fallback xmlns="">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3085867934"/>
                  </p:ext>
                </p:extLst>
              </p:nvPr>
            </p:nvGraphicFramePr>
            <p:xfrm>
              <a:off x="2200275" y="1746339"/>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endParaRPr lang="ko-KR"/>
                        </a:p>
                      </a:txBody>
                      <a:tcPr anchor="ctr">
                        <a:blipFill>
                          <a:blip r:embed="rId3"/>
                          <a:stretch>
                            <a:fillRect l="-1149" t="-1639" r="-1018391" b="-313115"/>
                          </a:stretch>
                        </a:blip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endParaRPr lang="ko-KR"/>
                        </a:p>
                      </a:txBody>
                      <a:tcPr anchor="ctr">
                        <a:blipFill>
                          <a:blip r:embed="rId3"/>
                          <a:stretch>
                            <a:fillRect l="-1149" t="-103333" r="-1018391" b="-218333"/>
                          </a:stretch>
                        </a:blipFill>
                      </a:tcP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endParaRPr lang="ko-KR"/>
                        </a:p>
                      </a:txBody>
                      <a:tcPr anchor="ctr">
                        <a:blipFill>
                          <a:blip r:embed="rId3"/>
                          <a:stretch>
                            <a:fillRect l="-1149" t="-200000" r="-1018391" b="-114754"/>
                          </a:stretch>
                        </a:blipFill>
                      </a:tcP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endParaRPr lang="ko-KR"/>
                        </a:p>
                      </a:txBody>
                      <a:tcPr anchor="ctr">
                        <a:blipFill>
                          <a:blip r:embed="rId3"/>
                          <a:stretch>
                            <a:fillRect l="-1149" t="-305000" r="-1018391" b="-16667"/>
                          </a:stretch>
                        </a:blipFill>
                      </a:tcP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3295411494"/>
                  </p:ext>
                </p:extLst>
              </p:nvPr>
            </p:nvGraphicFramePr>
            <p:xfrm>
              <a:off x="5900923" y="4948912"/>
              <a:ext cx="4416681" cy="1468916"/>
            </p:xfrm>
            <a:graphic>
              <a:graphicData uri="http://schemas.openxmlformats.org/drawingml/2006/table">
                <a:tbl>
                  <a:tblPr>
                    <a:tableStyleId>{16D9F66E-5EB9-4882-86FB-DCBF35E3C3E4}</a:tableStyleId>
                  </a:tblPr>
                  <a:tblGrid>
                    <a:gridCol w="538163">
                      <a:extLst>
                        <a:ext uri="{9D8B030D-6E8A-4147-A177-3AD203B41FA5}">
                          <a16:colId xmlns:a16="http://schemas.microsoft.com/office/drawing/2014/main" val="1357968393"/>
                        </a:ext>
                      </a:extLst>
                    </a:gridCol>
                    <a:gridCol w="1423988">
                      <a:extLst>
                        <a:ext uri="{9D8B030D-6E8A-4147-A177-3AD203B41FA5}">
                          <a16:colId xmlns:a16="http://schemas.microsoft.com/office/drawing/2014/main" val="2558101461"/>
                        </a:ext>
                      </a:extLst>
                    </a:gridCol>
                    <a:gridCol w="1289172">
                      <a:extLst>
                        <a:ext uri="{9D8B030D-6E8A-4147-A177-3AD203B41FA5}">
                          <a16:colId xmlns:a16="http://schemas.microsoft.com/office/drawing/2014/main" val="3761778169"/>
                        </a:ext>
                      </a:extLst>
                    </a:gridCol>
                    <a:gridCol w="1165358">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b="0" i="1" kern="100" dirty="0" smtClean="0">
                                        <a:effectLst/>
                                        <a:latin typeface="Cambria Math" panose="02040503050406030204" pitchFamily="18" charset="0"/>
                                      </a:rPr>
                                    </m:ctrlPr>
                                  </m:sSubPr>
                                  <m:e>
                                    <m:r>
                                      <a:rPr lang="en-US" altLang="zh-CN" sz="1600" b="0" i="1" kern="100" dirty="0" smtClean="0">
                                        <a:effectLst/>
                                        <a:latin typeface="Cambria Math" panose="02040503050406030204" pitchFamily="18" charset="0"/>
                                      </a:rPr>
                                      <m:t>𝑁</m:t>
                                    </m:r>
                                  </m:e>
                                  <m:sub>
                                    <m:r>
                                      <a:rPr lang="en-US" altLang="zh-CN" sz="1600" i="1" kern="1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1*3+1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0.05*3+0.7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0.02*3+0.02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Choice>
        <mc:Fallback xmlns="">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3295411494"/>
                  </p:ext>
                </p:extLst>
              </p:nvPr>
            </p:nvGraphicFramePr>
            <p:xfrm>
              <a:off x="5900923" y="4948912"/>
              <a:ext cx="4416681" cy="1468916"/>
            </p:xfrm>
            <a:graphic>
              <a:graphicData uri="http://schemas.openxmlformats.org/drawingml/2006/table">
                <a:tbl>
                  <a:tblPr>
                    <a:tableStyleId>{16D9F66E-5EB9-4882-86FB-DCBF35E3C3E4}</a:tableStyleId>
                  </a:tblPr>
                  <a:tblGrid>
                    <a:gridCol w="538163">
                      <a:extLst>
                        <a:ext uri="{9D8B030D-6E8A-4147-A177-3AD203B41FA5}">
                          <a16:colId xmlns:a16="http://schemas.microsoft.com/office/drawing/2014/main" val="1357968393"/>
                        </a:ext>
                      </a:extLst>
                    </a:gridCol>
                    <a:gridCol w="1423988">
                      <a:extLst>
                        <a:ext uri="{9D8B030D-6E8A-4147-A177-3AD203B41FA5}">
                          <a16:colId xmlns:a16="http://schemas.microsoft.com/office/drawing/2014/main" val="2558101461"/>
                        </a:ext>
                      </a:extLst>
                    </a:gridCol>
                    <a:gridCol w="1289172">
                      <a:extLst>
                        <a:ext uri="{9D8B030D-6E8A-4147-A177-3AD203B41FA5}">
                          <a16:colId xmlns:a16="http://schemas.microsoft.com/office/drawing/2014/main" val="3761778169"/>
                        </a:ext>
                      </a:extLst>
                    </a:gridCol>
                    <a:gridCol w="1165358">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endParaRPr lang="ko-KR"/>
                        </a:p>
                      </a:txBody>
                      <a:tcPr anchor="ctr">
                        <a:blipFill>
                          <a:blip r:embed="rId4"/>
                          <a:stretch>
                            <a:fillRect l="-1136" t="-103333" r="-727273" b="-216667"/>
                          </a:stretch>
                        </a:blipFill>
                      </a:tcPr>
                    </a:tc>
                    <a:tc>
                      <a:txBody>
                        <a:bodyPr/>
                        <a:lstStyle/>
                        <a:p>
                          <a:pPr algn="ctr"/>
                          <a:r>
                            <a:rPr lang="en-US" sz="1600" kern="100" dirty="0">
                              <a:effectLst/>
                            </a:rPr>
                            <a:t>1*3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1*3+1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endParaRPr lang="ko-KR"/>
                        </a:p>
                      </a:txBody>
                      <a:tcPr anchor="ctr">
                        <a:blipFill>
                          <a:blip r:embed="rId4"/>
                          <a:stretch>
                            <a:fillRect l="-1136" t="-200000" r="-727273" b="-113115"/>
                          </a:stretch>
                        </a:blipFill>
                      </a:tcPr>
                    </a:tc>
                    <a:tc>
                      <a:txBody>
                        <a:bodyPr/>
                        <a:lstStyle/>
                        <a:p>
                          <a:pPr algn="ctr"/>
                          <a:r>
                            <a:rPr lang="en-US" sz="1600" kern="100" dirty="0">
                              <a:effectLst/>
                            </a:rPr>
                            <a:t>0.03*3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0.05*3+0.7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endParaRPr lang="ko-KR"/>
                        </a:p>
                      </a:txBody>
                      <a:tcPr anchor="ctr">
                        <a:blipFill>
                          <a:blip r:embed="rId4"/>
                          <a:stretch>
                            <a:fillRect l="-1136" t="-305000" r="-727273" b="-15000"/>
                          </a:stretch>
                        </a:blipFill>
                      </a:tcPr>
                    </a:tc>
                    <a:tc>
                      <a:txBody>
                        <a:bodyPr/>
                        <a:lstStyle/>
                        <a:p>
                          <a:pPr algn="ctr"/>
                          <a:r>
                            <a:rPr lang="en-US" sz="1600" kern="100" dirty="0">
                              <a:effectLst/>
                            </a:rPr>
                            <a:t>0.04*3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0.02*3+0.02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Fallback>
      </mc:AlternateContent>
      <p:sp>
        <p:nvSpPr>
          <p:cNvPr id="59" name="文本框 58">
            <a:extLst>
              <a:ext uri="{FF2B5EF4-FFF2-40B4-BE49-F238E27FC236}">
                <a16:creationId xmlns:a16="http://schemas.microsoft.com/office/drawing/2014/main" id="{98EA32FC-8765-4213-B775-F17B556B2C8A}"/>
              </a:ext>
            </a:extLst>
          </p:cNvPr>
          <p:cNvSpPr txBox="1"/>
          <p:nvPr/>
        </p:nvSpPr>
        <p:spPr>
          <a:xfrm>
            <a:off x="2708123" y="1239336"/>
            <a:ext cx="733989" cy="338554"/>
          </a:xfrm>
          <a:prstGeom prst="rect">
            <a:avLst/>
          </a:prstGeom>
          <a:noFill/>
        </p:spPr>
        <p:txBody>
          <a:bodyPr wrap="square">
            <a:spAutoFit/>
          </a:bodyPr>
          <a:lstStyle/>
          <a:p>
            <a:r>
              <a:rPr lang="en-US" altLang="zh-CN" sz="1600" dirty="0">
                <a:latin typeface="KaiTi" panose="02010609060101010101" pitchFamily="49" charset="-122"/>
                <a:ea typeface="KaiTi" panose="02010609060101010101" pitchFamily="49" charset="-122"/>
              </a:rPr>
              <a:t>bin1</a:t>
            </a:r>
            <a:endParaRPr lang="zh-CN" altLang="en-US" sz="1600" dirty="0">
              <a:latin typeface="KaiTi" panose="02010609060101010101" pitchFamily="49" charset="-122"/>
              <a:ea typeface="KaiTi" panose="02010609060101010101" pitchFamily="49" charset="-122"/>
            </a:endParaRPr>
          </a:p>
        </p:txBody>
      </p:sp>
      <p:sp>
        <p:nvSpPr>
          <p:cNvPr id="60" name="文本框 59">
            <a:extLst>
              <a:ext uri="{FF2B5EF4-FFF2-40B4-BE49-F238E27FC236}">
                <a16:creationId xmlns:a16="http://schemas.microsoft.com/office/drawing/2014/main" id="{BB7DC42D-475C-48D8-AA0B-0F29124DE7A5}"/>
              </a:ext>
            </a:extLst>
          </p:cNvPr>
          <p:cNvSpPr txBox="1"/>
          <p:nvPr/>
        </p:nvSpPr>
        <p:spPr>
          <a:xfrm>
            <a:off x="5411371" y="1236549"/>
            <a:ext cx="733989" cy="338554"/>
          </a:xfrm>
          <a:prstGeom prst="rect">
            <a:avLst/>
          </a:prstGeom>
          <a:noFill/>
        </p:spPr>
        <p:txBody>
          <a:bodyPr wrap="square">
            <a:spAutoFit/>
          </a:bodyPr>
          <a:lstStyle/>
          <a:p>
            <a:r>
              <a:rPr lang="en-US" altLang="zh-CN" sz="1600" dirty="0">
                <a:latin typeface="KaiTi" panose="02010609060101010101" pitchFamily="49" charset="-122"/>
                <a:ea typeface="KaiTi" panose="02010609060101010101" pitchFamily="49" charset="-122"/>
              </a:rPr>
              <a:t>bin2</a:t>
            </a:r>
            <a:endParaRPr lang="zh-CN" altLang="en-US" sz="1600" dirty="0">
              <a:latin typeface="KaiTi" panose="02010609060101010101" pitchFamily="49" charset="-122"/>
              <a:ea typeface="KaiTi" panose="02010609060101010101" pitchFamily="49" charset="-122"/>
            </a:endParaRPr>
          </a:p>
        </p:txBody>
      </p:sp>
      <p:sp>
        <p:nvSpPr>
          <p:cNvPr id="61" name="文本框 60">
            <a:extLst>
              <a:ext uri="{FF2B5EF4-FFF2-40B4-BE49-F238E27FC236}">
                <a16:creationId xmlns:a16="http://schemas.microsoft.com/office/drawing/2014/main" id="{7766CABA-8EAE-46D7-9CBF-2249452CA9CC}"/>
              </a:ext>
            </a:extLst>
          </p:cNvPr>
          <p:cNvSpPr txBox="1"/>
          <p:nvPr/>
        </p:nvSpPr>
        <p:spPr>
          <a:xfrm>
            <a:off x="7449881" y="1273303"/>
            <a:ext cx="733989" cy="338554"/>
          </a:xfrm>
          <a:prstGeom prst="rect">
            <a:avLst/>
          </a:prstGeom>
          <a:noFill/>
        </p:spPr>
        <p:txBody>
          <a:bodyPr wrap="square">
            <a:spAutoFit/>
          </a:bodyPr>
          <a:lstStyle/>
          <a:p>
            <a:r>
              <a:rPr lang="en-US" altLang="zh-CN" sz="1600" dirty="0">
                <a:latin typeface="KaiTi" panose="02010609060101010101" pitchFamily="49" charset="-122"/>
                <a:ea typeface="KaiTi" panose="02010609060101010101" pitchFamily="49" charset="-122"/>
              </a:rPr>
              <a:t>bin3</a:t>
            </a:r>
            <a:endParaRPr lang="zh-CN" altLang="en-US" sz="1600" dirty="0">
              <a:latin typeface="KaiTi" panose="02010609060101010101" pitchFamily="49" charset="-122"/>
              <a:ea typeface="KaiTi" panose="02010609060101010101" pitchFamily="49" charset="-122"/>
            </a:endParaRPr>
          </a:p>
        </p:txBody>
      </p:sp>
      <p:sp>
        <p:nvSpPr>
          <p:cNvPr id="62" name="文本框 61">
            <a:extLst>
              <a:ext uri="{FF2B5EF4-FFF2-40B4-BE49-F238E27FC236}">
                <a16:creationId xmlns:a16="http://schemas.microsoft.com/office/drawing/2014/main" id="{3DA2DE30-E4ED-4844-AEE5-F9E85CC5F161}"/>
              </a:ext>
            </a:extLst>
          </p:cNvPr>
          <p:cNvSpPr txBox="1"/>
          <p:nvPr/>
        </p:nvSpPr>
        <p:spPr>
          <a:xfrm>
            <a:off x="5099255" y="5012242"/>
            <a:ext cx="897190" cy="276999"/>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序号</a:t>
            </a:r>
          </a:p>
        </p:txBody>
      </p:sp>
      <p:sp>
        <p:nvSpPr>
          <p:cNvPr id="63" name="文本框 62">
            <a:extLst>
              <a:ext uri="{FF2B5EF4-FFF2-40B4-BE49-F238E27FC236}">
                <a16:creationId xmlns:a16="http://schemas.microsoft.com/office/drawing/2014/main" id="{5900B22D-71FD-4BAE-8BEF-18D0DCA9DFC0}"/>
              </a:ext>
            </a:extLst>
          </p:cNvPr>
          <p:cNvSpPr txBox="1"/>
          <p:nvPr/>
        </p:nvSpPr>
        <p:spPr>
          <a:xfrm>
            <a:off x="4621599" y="5390456"/>
            <a:ext cx="1173423" cy="461665"/>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样本的之和</a:t>
            </a:r>
          </a:p>
        </p:txBody>
      </p:sp>
      <p:sp>
        <p:nvSpPr>
          <p:cNvPr id="64" name="文本框 63">
            <a:extLst>
              <a:ext uri="{FF2B5EF4-FFF2-40B4-BE49-F238E27FC236}">
                <a16:creationId xmlns:a16="http://schemas.microsoft.com/office/drawing/2014/main" id="{39A0CEED-CDA8-4051-9722-A46560B66E5B}"/>
              </a:ext>
            </a:extLst>
          </p:cNvPr>
          <p:cNvSpPr txBox="1"/>
          <p:nvPr/>
        </p:nvSpPr>
        <p:spPr>
          <a:xfrm>
            <a:off x="3737830" y="5751700"/>
            <a:ext cx="2258615" cy="276999"/>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内所有样本的一阶导之和</a:t>
            </a:r>
          </a:p>
        </p:txBody>
      </p:sp>
      <p:sp>
        <p:nvSpPr>
          <p:cNvPr id="66" name="文本框 65">
            <a:extLst>
              <a:ext uri="{FF2B5EF4-FFF2-40B4-BE49-F238E27FC236}">
                <a16:creationId xmlns:a16="http://schemas.microsoft.com/office/drawing/2014/main" id="{41DF4354-FCA9-4929-A69B-292193EE285F}"/>
              </a:ext>
            </a:extLst>
          </p:cNvPr>
          <p:cNvSpPr txBox="1"/>
          <p:nvPr/>
        </p:nvSpPr>
        <p:spPr>
          <a:xfrm>
            <a:off x="3737830" y="6129914"/>
            <a:ext cx="2258615" cy="276999"/>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内所有样本的二阶导之和</a:t>
            </a:r>
          </a:p>
        </p:txBody>
      </p:sp>
      <p:sp>
        <p:nvSpPr>
          <p:cNvPr id="69" name="文本框 68">
            <a:extLst>
              <a:ext uri="{FF2B5EF4-FFF2-40B4-BE49-F238E27FC236}">
                <a16:creationId xmlns:a16="http://schemas.microsoft.com/office/drawing/2014/main" id="{D11DE173-067A-4BC8-8C20-801EFBB9CDFF}"/>
              </a:ext>
            </a:extLst>
          </p:cNvPr>
          <p:cNvSpPr txBox="1"/>
          <p:nvPr/>
        </p:nvSpPr>
        <p:spPr>
          <a:xfrm>
            <a:off x="8250494" y="2274833"/>
            <a:ext cx="2179766" cy="523220"/>
          </a:xfrm>
          <a:prstGeom prst="rect">
            <a:avLst/>
          </a:prstGeom>
          <a:noFill/>
        </p:spPr>
        <p:txBody>
          <a:bodyPr wrap="square">
            <a:spAutoFit/>
          </a:bodyPr>
          <a:lstStyle/>
          <a:p>
            <a:r>
              <a:rPr lang="zh-CN" altLang="en-US" sz="1400" dirty="0">
                <a:latin typeface="KaiTi" panose="02010609060101010101" pitchFamily="49" charset="-122"/>
                <a:ea typeface="KaiTi" panose="02010609060101010101" pitchFamily="49" charset="-122"/>
              </a:rPr>
              <a:t>可能的候选点分裂点个数等于样本取值个数减一</a:t>
            </a:r>
          </a:p>
        </p:txBody>
      </p:sp>
      <p:grpSp>
        <p:nvGrpSpPr>
          <p:cNvPr id="80" name="组合 79">
            <a:extLst>
              <a:ext uri="{FF2B5EF4-FFF2-40B4-BE49-F238E27FC236}">
                <a16:creationId xmlns:a16="http://schemas.microsoft.com/office/drawing/2014/main" id="{004BD541-50F7-4850-82EB-2D710B361F8B}"/>
              </a:ext>
            </a:extLst>
          </p:cNvPr>
          <p:cNvGrpSpPr/>
          <p:nvPr/>
        </p:nvGrpSpPr>
        <p:grpSpPr>
          <a:xfrm>
            <a:off x="3393039" y="1541767"/>
            <a:ext cx="666252" cy="1950298"/>
            <a:chOff x="1225300" y="3451362"/>
            <a:chExt cx="2033838" cy="1468916"/>
          </a:xfrm>
        </p:grpSpPr>
        <p:cxnSp>
          <p:nvCxnSpPr>
            <p:cNvPr id="81" name="直接连接符 80">
              <a:extLst>
                <a:ext uri="{FF2B5EF4-FFF2-40B4-BE49-F238E27FC236}">
                  <a16:creationId xmlns:a16="http://schemas.microsoft.com/office/drawing/2014/main" id="{D5F712C4-D168-4056-91BC-1160ACF9ACC1}"/>
                </a:ext>
              </a:extLst>
            </p:cNvPr>
            <p:cNvCxnSpPr>
              <a:cxnSpLocks/>
            </p:cNvCxnSpPr>
            <p:nvPr/>
          </p:nvCxnSpPr>
          <p:spPr>
            <a:xfrm>
              <a:off x="1238000"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82" name="直接连接符 81">
              <a:extLst>
                <a:ext uri="{FF2B5EF4-FFF2-40B4-BE49-F238E27FC236}">
                  <a16:creationId xmlns:a16="http://schemas.microsoft.com/office/drawing/2014/main" id="{6344502F-C4E8-4170-BE5D-BD5F88822F3D}"/>
                </a:ext>
              </a:extLst>
            </p:cNvPr>
            <p:cNvCxnSpPr>
              <a:cxnSpLocks/>
            </p:cNvCxnSpPr>
            <p:nvPr/>
          </p:nvCxnSpPr>
          <p:spPr>
            <a:xfrm>
              <a:off x="3247774"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83" name="直接连接符 82">
              <a:extLst>
                <a:ext uri="{FF2B5EF4-FFF2-40B4-BE49-F238E27FC236}">
                  <a16:creationId xmlns:a16="http://schemas.microsoft.com/office/drawing/2014/main" id="{9D5B06E9-AAD0-4BA7-AEEC-930F8FA5C589}"/>
                </a:ext>
              </a:extLst>
            </p:cNvPr>
            <p:cNvCxnSpPr>
              <a:cxnSpLocks/>
            </p:cNvCxnSpPr>
            <p:nvPr/>
          </p:nvCxnSpPr>
          <p:spPr>
            <a:xfrm>
              <a:off x="1225300" y="4920278"/>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84" name="直接连接符 83">
              <a:extLst>
                <a:ext uri="{FF2B5EF4-FFF2-40B4-BE49-F238E27FC236}">
                  <a16:creationId xmlns:a16="http://schemas.microsoft.com/office/drawing/2014/main" id="{8E97985B-D579-4BC8-91AA-63DAABF02303}"/>
                </a:ext>
              </a:extLst>
            </p:cNvPr>
            <p:cNvCxnSpPr>
              <a:cxnSpLocks/>
            </p:cNvCxnSpPr>
            <p:nvPr/>
          </p:nvCxnSpPr>
          <p:spPr>
            <a:xfrm>
              <a:off x="1225300" y="3456261"/>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gr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520359AB-6F78-4CC8-A86A-D1BF85A7665F}"/>
                  </a:ext>
                </a:extLst>
              </p:cNvPr>
              <p:cNvSpPr txBox="1"/>
              <p:nvPr/>
            </p:nvSpPr>
            <p:spPr>
              <a:xfrm>
                <a:off x="1166034" y="3609718"/>
                <a:ext cx="9578163" cy="1227772"/>
              </a:xfrm>
              <a:prstGeom prst="rect">
                <a:avLst/>
              </a:prstGeom>
              <a:noFill/>
            </p:spPr>
            <p:txBody>
              <a:bodyPr wrap="square">
                <a:spAutoFit/>
              </a:bodyPr>
              <a:lstStyle/>
              <a:p>
                <a:r>
                  <a:rPr lang="zh-CN" altLang="en-US" sz="1400" dirty="0">
                    <a:latin typeface="KaiTi" panose="02010609060101010101" pitchFamily="49" charset="-122"/>
                    <a:ea typeface="KaiTi" panose="02010609060101010101" pitchFamily="49" charset="-122"/>
                  </a:rPr>
                  <a:t>排序完了之后，我们就选出a * data</a:t>
                </a:r>
                <a:r>
                  <a:rPr lang="en-US" altLang="zh-CN" sz="1400" dirty="0">
                    <a:latin typeface="KaiTi" panose="02010609060101010101" pitchFamily="49" charset="-122"/>
                    <a:ea typeface="KaiTi" panose="02010609060101010101" pitchFamily="49" charset="-122"/>
                  </a:rPr>
                  <a:t>_</a:t>
                </a:r>
                <a:r>
                  <a:rPr lang="zh-CN" altLang="en-US" sz="1400" dirty="0">
                    <a:latin typeface="KaiTi" panose="02010609060101010101" pitchFamily="49" charset="-122"/>
                    <a:ea typeface="KaiTi" panose="02010609060101010101" pitchFamily="49" charset="-122"/>
                  </a:rPr>
                  <a:t>num个梯度大的，然后从剩下的那些样本里面选出b*data</a:t>
                </a:r>
                <a:r>
                  <a:rPr lang="en-US" altLang="zh-CN" sz="1400" dirty="0">
                    <a:latin typeface="KaiTi" panose="02010609060101010101" pitchFamily="49" charset="-122"/>
                    <a:ea typeface="KaiTi" panose="02010609060101010101" pitchFamily="49" charset="-122"/>
                  </a:rPr>
                  <a:t>_</a:t>
                </a:r>
                <a:r>
                  <a:rPr lang="zh-CN" altLang="en-US" sz="1400" dirty="0">
                    <a:latin typeface="KaiTi" panose="02010609060101010101" pitchFamily="49" charset="-122"/>
                    <a:ea typeface="KaiTi" panose="02010609060101010101" pitchFamily="49" charset="-122"/>
                  </a:rPr>
                  <a:t>num个梯度小的：</a:t>
                </a:r>
              </a:p>
              <a:p>
                <a:r>
                  <a:rPr lang="zh-CN" altLang="en-US" sz="1400" dirty="0">
                    <a:latin typeface="KaiTi" panose="02010609060101010101" pitchFamily="49" charset="-122"/>
                    <a:ea typeface="KaiTi" panose="02010609060101010101" pitchFamily="49" charset="-122"/>
                  </a:rPr>
                  <a:t>这里是8个样本，所以a*8=2，b*8=2，</a:t>
                </a:r>
                <a14:m>
                  <m:oMath xmlns:m="http://schemas.openxmlformats.org/officeDocument/2006/math">
                    <m:f>
                      <m:fPr>
                        <m:ctrlPr>
                          <a:rPr lang="zh-CN" altLang="zh-CN" sz="1200" i="1">
                            <a:latin typeface="Cambria Math" panose="02040503050406030204" pitchFamily="18" charset="0"/>
                            <a:ea typeface="Cambria Math" panose="02040503050406030204" pitchFamily="18" charset="0"/>
                          </a:rPr>
                        </m:ctrlPr>
                      </m:fPr>
                      <m:num>
                        <m:r>
                          <a:rPr lang="en-US" altLang="zh-CN" sz="1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1400" i="1" kern="100">
                            <a:latin typeface="Cambria Math" panose="02040503050406030204" pitchFamily="18" charset="0"/>
                            <a:ea typeface="宋体" panose="02010600030101010101" pitchFamily="2" charset="-122"/>
                            <a:cs typeface="Times New Roman" panose="02020603050405020304" pitchFamily="18" charset="0"/>
                          </a:rPr>
                          <m:t>𝑎</m:t>
                        </m:r>
                      </m:num>
                      <m:den>
                        <m:r>
                          <a:rPr lang="en-US" altLang="zh-CN" sz="1400" i="1" kern="100">
                            <a:latin typeface="Cambria Math" panose="02040503050406030204" pitchFamily="18" charset="0"/>
                            <a:ea typeface="宋体" panose="02010600030101010101" pitchFamily="2" charset="-122"/>
                            <a:cs typeface="Times New Roman" panose="02020603050405020304" pitchFamily="18" charset="0"/>
                          </a:rPr>
                          <m:t>𝑏</m:t>
                        </m:r>
                      </m:den>
                    </m:f>
                    <m:r>
                      <a:rPr lang="en-US" altLang="zh-CN" sz="1400" kern="100">
                        <a:latin typeface="Cambria Math" panose="02040503050406030204" pitchFamily="18" charset="0"/>
                        <a:ea typeface="宋体" panose="02010600030101010101" pitchFamily="2" charset="-122"/>
                        <a:cs typeface="Times New Roman" panose="02020603050405020304" pitchFamily="18" charset="0"/>
                      </a:rPr>
                      <m:t>=3</m:t>
                    </m:r>
                    <m:r>
                      <a:rPr lang="zh-CN" altLang="en-US" sz="1400" i="1" kern="100" smtClean="0">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1400" dirty="0">
                  <a:latin typeface="KaiTi" panose="02010609060101010101" pitchFamily="49" charset="-122"/>
                  <a:ea typeface="KaiTi" panose="02010609060101010101" pitchFamily="49" charset="-122"/>
                </a:endParaRPr>
              </a:p>
              <a:p>
                <a:r>
                  <a:rPr lang="zh-CN" altLang="en-US" sz="1400" dirty="0">
                    <a:latin typeface="KaiTi" panose="02010609060101010101" pitchFamily="49" charset="-122"/>
                    <a:ea typeface="KaiTi" panose="02010609060101010101" pitchFamily="49" charset="-122"/>
                  </a:rPr>
                  <a:t>即先选出2个梯度大的样本，然后从剩下的里面随机选出2个梯度小的样本</a:t>
                </a:r>
                <a:endParaRPr lang="en-US" altLang="zh-CN" sz="1400" dirty="0">
                  <a:latin typeface="KaiTi" panose="02010609060101010101" pitchFamily="49" charset="-122"/>
                  <a:ea typeface="KaiTi" panose="02010609060101010101" pitchFamily="49" charset="-122"/>
                </a:endParaRPr>
              </a:p>
              <a:p>
                <a:r>
                  <a:rPr lang="zh-CN" altLang="en-US" sz="1400" dirty="0">
                    <a:latin typeface="KaiTi" panose="02010609060101010101" pitchFamily="49" charset="-122"/>
                    <a:ea typeface="KaiTi" panose="02010609060101010101" pitchFamily="49" charset="-122"/>
                  </a:rPr>
                  <a:t>这里选取两个大的（</a:t>
                </a:r>
                <a:r>
                  <a:rPr lang="en-US" altLang="zh-CN" sz="1400" dirty="0">
                    <a:latin typeface="KaiTi" panose="02010609060101010101" pitchFamily="49" charset="-122"/>
                    <a:ea typeface="KaiTi" panose="02010609060101010101" pitchFamily="49" charset="-122"/>
                  </a:rPr>
                  <a:t>6</a:t>
                </a:r>
                <a:r>
                  <a:rPr lang="zh-CN" altLang="en-US" sz="1400" dirty="0">
                    <a:latin typeface="KaiTi" panose="02010609060101010101" pitchFamily="49" charset="-122"/>
                    <a:ea typeface="KaiTi" panose="02010609060101010101" pitchFamily="49" charset="-122"/>
                  </a:rPr>
                  <a:t>号、</a:t>
                </a:r>
                <a:r>
                  <a:rPr lang="en-US" altLang="zh-CN" sz="1400" dirty="0">
                    <a:latin typeface="KaiTi" panose="02010609060101010101" pitchFamily="49" charset="-122"/>
                    <a:ea typeface="KaiTi" panose="02010609060101010101" pitchFamily="49" charset="-122"/>
                  </a:rPr>
                  <a:t>7</a:t>
                </a:r>
                <a:r>
                  <a:rPr lang="zh-CN" altLang="en-US" sz="1400" dirty="0">
                    <a:latin typeface="KaiTi" panose="02010609060101010101" pitchFamily="49" charset="-122"/>
                    <a:ea typeface="KaiTi" panose="02010609060101010101" pitchFamily="49" charset="-122"/>
                  </a:rPr>
                  <a:t>号），然后随机选择两个小的（</a:t>
                </a:r>
                <a:r>
                  <a:rPr lang="en-US" altLang="zh-CN" sz="1400" dirty="0">
                    <a:latin typeface="KaiTi" panose="02010609060101010101" pitchFamily="49" charset="-122"/>
                    <a:ea typeface="KaiTi" panose="02010609060101010101" pitchFamily="49" charset="-122"/>
                  </a:rPr>
                  <a:t>2</a:t>
                </a:r>
                <a:r>
                  <a:rPr lang="zh-CN" altLang="en-US" sz="1400" dirty="0">
                    <a:latin typeface="KaiTi" panose="02010609060101010101" pitchFamily="49" charset="-122"/>
                    <a:ea typeface="KaiTi" panose="02010609060101010101" pitchFamily="49" charset="-122"/>
                  </a:rPr>
                  <a:t>号、</a:t>
                </a:r>
                <a:r>
                  <a:rPr lang="en-US" altLang="zh-CN" sz="1400" dirty="0">
                    <a:latin typeface="KaiTi" panose="02010609060101010101" pitchFamily="49" charset="-122"/>
                    <a:ea typeface="KaiTi" panose="02010609060101010101" pitchFamily="49" charset="-122"/>
                  </a:rPr>
                  <a:t>4</a:t>
                </a:r>
                <a:r>
                  <a:rPr lang="zh-CN" altLang="en-US" sz="1400" dirty="0">
                    <a:latin typeface="KaiTi" panose="02010609060101010101" pitchFamily="49" charset="-122"/>
                    <a:ea typeface="KaiTi" panose="02010609060101010101" pitchFamily="49" charset="-122"/>
                  </a:rPr>
                  <a:t>号）</a:t>
                </a:r>
                <a:endParaRPr lang="en-US" altLang="zh-CN" sz="1400" dirty="0">
                  <a:latin typeface="KaiTi" panose="02010609060101010101" pitchFamily="49" charset="-122"/>
                  <a:ea typeface="KaiTi" panose="02010609060101010101" pitchFamily="49" charset="-122"/>
                </a:endParaRPr>
              </a:p>
              <a:p>
                <a:endParaRPr lang="zh-CN" altLang="en-US" sz="1400" dirty="0">
                  <a:latin typeface="KaiTi" panose="02010609060101010101" pitchFamily="49" charset="-122"/>
                  <a:ea typeface="KaiTi" panose="02010609060101010101" pitchFamily="49" charset="-122"/>
                </a:endParaRPr>
              </a:p>
            </p:txBody>
          </p:sp>
        </mc:Choice>
        <mc:Fallback xmlns="">
          <p:sp>
            <p:nvSpPr>
              <p:cNvPr id="65" name="文本框 64">
                <a:extLst>
                  <a:ext uri="{FF2B5EF4-FFF2-40B4-BE49-F238E27FC236}">
                    <a16:creationId xmlns:a16="http://schemas.microsoft.com/office/drawing/2014/main" id="{520359AB-6F78-4CC8-A86A-D1BF85A7665F}"/>
                  </a:ext>
                </a:extLst>
              </p:cNvPr>
              <p:cNvSpPr txBox="1">
                <a:spLocks noRot="1" noChangeAspect="1" noMove="1" noResize="1" noEditPoints="1" noAdjustHandles="1" noChangeArrowheads="1" noChangeShapeType="1" noTextEdit="1"/>
              </p:cNvSpPr>
              <p:nvPr/>
            </p:nvSpPr>
            <p:spPr>
              <a:xfrm>
                <a:off x="1166034" y="3609718"/>
                <a:ext cx="9578163" cy="1227772"/>
              </a:xfrm>
              <a:prstGeom prst="rect">
                <a:avLst/>
              </a:prstGeom>
              <a:blipFill>
                <a:blip r:embed="rId5"/>
                <a:stretch>
                  <a:fillRect l="-191" t="-990"/>
                </a:stretch>
              </a:blipFill>
            </p:spPr>
            <p:txBody>
              <a:bodyPr/>
              <a:lstStyle/>
              <a:p>
                <a:r>
                  <a:rPr lang="ko-KR" altLang="en-US">
                    <a:noFill/>
                  </a:rPr>
                  <a:t> </a:t>
                </a:r>
              </a:p>
            </p:txBody>
          </p:sp>
        </mc:Fallback>
      </mc:AlternateContent>
      <p:grpSp>
        <p:nvGrpSpPr>
          <p:cNvPr id="94" name="组合 93">
            <a:extLst>
              <a:ext uri="{FF2B5EF4-FFF2-40B4-BE49-F238E27FC236}">
                <a16:creationId xmlns:a16="http://schemas.microsoft.com/office/drawing/2014/main" id="{8D4E767E-547E-4659-8265-0DFE843A845F}"/>
              </a:ext>
            </a:extLst>
          </p:cNvPr>
          <p:cNvGrpSpPr/>
          <p:nvPr/>
        </p:nvGrpSpPr>
        <p:grpSpPr>
          <a:xfrm>
            <a:off x="6096000" y="1546695"/>
            <a:ext cx="641566" cy="1950298"/>
            <a:chOff x="1225300" y="3451362"/>
            <a:chExt cx="2033838" cy="1468916"/>
          </a:xfrm>
        </p:grpSpPr>
        <p:cxnSp>
          <p:nvCxnSpPr>
            <p:cNvPr id="95" name="直接连接符 94">
              <a:extLst>
                <a:ext uri="{FF2B5EF4-FFF2-40B4-BE49-F238E27FC236}">
                  <a16:creationId xmlns:a16="http://schemas.microsoft.com/office/drawing/2014/main" id="{B3E954D9-DF4B-4379-B111-EE7F41F3BC3D}"/>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96" name="直接连接符 95">
              <a:extLst>
                <a:ext uri="{FF2B5EF4-FFF2-40B4-BE49-F238E27FC236}">
                  <a16:creationId xmlns:a16="http://schemas.microsoft.com/office/drawing/2014/main" id="{9C41ACA6-CF5A-40A4-BDD1-300CD6B0A61A}"/>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97" name="直接连接符 96">
              <a:extLst>
                <a:ext uri="{FF2B5EF4-FFF2-40B4-BE49-F238E27FC236}">
                  <a16:creationId xmlns:a16="http://schemas.microsoft.com/office/drawing/2014/main" id="{90D24067-230B-4515-A56F-9CED0679A42C}"/>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98" name="直接连接符 97">
              <a:extLst>
                <a:ext uri="{FF2B5EF4-FFF2-40B4-BE49-F238E27FC236}">
                  <a16:creationId xmlns:a16="http://schemas.microsoft.com/office/drawing/2014/main" id="{77982B06-EC4C-436A-931A-2B3D065433E5}"/>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grpSp>
        <p:nvGrpSpPr>
          <p:cNvPr id="99" name="组合 98">
            <a:extLst>
              <a:ext uri="{FF2B5EF4-FFF2-40B4-BE49-F238E27FC236}">
                <a16:creationId xmlns:a16="http://schemas.microsoft.com/office/drawing/2014/main" id="{23D6F23D-614C-4167-A144-7F67F290FC27}"/>
              </a:ext>
            </a:extLst>
          </p:cNvPr>
          <p:cNvGrpSpPr/>
          <p:nvPr/>
        </p:nvGrpSpPr>
        <p:grpSpPr>
          <a:xfrm>
            <a:off x="4792730" y="1535265"/>
            <a:ext cx="605318" cy="1950298"/>
            <a:chOff x="1225300" y="3451362"/>
            <a:chExt cx="2033838" cy="1468916"/>
          </a:xfrm>
        </p:grpSpPr>
        <p:cxnSp>
          <p:nvCxnSpPr>
            <p:cNvPr id="100" name="直接连接符 99">
              <a:extLst>
                <a:ext uri="{FF2B5EF4-FFF2-40B4-BE49-F238E27FC236}">
                  <a16:creationId xmlns:a16="http://schemas.microsoft.com/office/drawing/2014/main" id="{674607F1-10D9-4A32-8889-09C85F5FE625}"/>
                </a:ext>
              </a:extLst>
            </p:cNvPr>
            <p:cNvCxnSpPr>
              <a:cxnSpLocks/>
            </p:cNvCxnSpPr>
            <p:nvPr/>
          </p:nvCxnSpPr>
          <p:spPr>
            <a:xfrm>
              <a:off x="1238000"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101" name="直接连接符 100">
              <a:extLst>
                <a:ext uri="{FF2B5EF4-FFF2-40B4-BE49-F238E27FC236}">
                  <a16:creationId xmlns:a16="http://schemas.microsoft.com/office/drawing/2014/main" id="{0A7930C4-1223-409B-B248-A80A667F4891}"/>
                </a:ext>
              </a:extLst>
            </p:cNvPr>
            <p:cNvCxnSpPr>
              <a:cxnSpLocks/>
            </p:cNvCxnSpPr>
            <p:nvPr/>
          </p:nvCxnSpPr>
          <p:spPr>
            <a:xfrm>
              <a:off x="3247774" y="3451362"/>
              <a:ext cx="0" cy="1468916"/>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102" name="直接连接符 101">
              <a:extLst>
                <a:ext uri="{FF2B5EF4-FFF2-40B4-BE49-F238E27FC236}">
                  <a16:creationId xmlns:a16="http://schemas.microsoft.com/office/drawing/2014/main" id="{95ACEC29-7FEF-47F4-9610-A6AD9073CD48}"/>
                </a:ext>
              </a:extLst>
            </p:cNvPr>
            <p:cNvCxnSpPr>
              <a:cxnSpLocks/>
            </p:cNvCxnSpPr>
            <p:nvPr/>
          </p:nvCxnSpPr>
          <p:spPr>
            <a:xfrm>
              <a:off x="1225300" y="4920278"/>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cxnSp>
          <p:nvCxnSpPr>
            <p:cNvPr id="103" name="直接连接符 102">
              <a:extLst>
                <a:ext uri="{FF2B5EF4-FFF2-40B4-BE49-F238E27FC236}">
                  <a16:creationId xmlns:a16="http://schemas.microsoft.com/office/drawing/2014/main" id="{9B22AE1A-D747-427C-9235-D794B753BC47}"/>
                </a:ext>
              </a:extLst>
            </p:cNvPr>
            <p:cNvCxnSpPr>
              <a:cxnSpLocks/>
            </p:cNvCxnSpPr>
            <p:nvPr/>
          </p:nvCxnSpPr>
          <p:spPr>
            <a:xfrm>
              <a:off x="1225300" y="3456261"/>
              <a:ext cx="2033838" cy="0"/>
            </a:xfrm>
            <a:prstGeom prst="line">
              <a:avLst/>
            </a:prstGeom>
            <a:ln>
              <a:solidFill>
                <a:schemeClr val="accent6">
                  <a:lumMod val="50000"/>
                </a:schemeClr>
              </a:solidFill>
            </a:ln>
          </p:spPr>
          <p:style>
            <a:lnRef idx="2">
              <a:schemeClr val="accent6"/>
            </a:lnRef>
            <a:fillRef idx="0">
              <a:schemeClr val="accent6"/>
            </a:fillRef>
            <a:effectRef idx="1">
              <a:schemeClr val="accent6"/>
            </a:effectRef>
            <a:fontRef idx="minor">
              <a:schemeClr val="tx1"/>
            </a:fontRef>
          </p:style>
        </p:cxnSp>
      </p:grpSp>
      <p:grpSp>
        <p:nvGrpSpPr>
          <p:cNvPr id="104" name="组合 103">
            <a:extLst>
              <a:ext uri="{FF2B5EF4-FFF2-40B4-BE49-F238E27FC236}">
                <a16:creationId xmlns:a16="http://schemas.microsoft.com/office/drawing/2014/main" id="{D49B04F2-8CDA-4572-A75D-A82E9ABE26C1}"/>
              </a:ext>
            </a:extLst>
          </p:cNvPr>
          <p:cNvGrpSpPr/>
          <p:nvPr/>
        </p:nvGrpSpPr>
        <p:grpSpPr>
          <a:xfrm>
            <a:off x="6773813" y="1541767"/>
            <a:ext cx="684630" cy="1950298"/>
            <a:chOff x="1225300" y="3451362"/>
            <a:chExt cx="2033838" cy="1468916"/>
          </a:xfrm>
        </p:grpSpPr>
        <p:cxnSp>
          <p:nvCxnSpPr>
            <p:cNvPr id="105" name="直接连接符 104">
              <a:extLst>
                <a:ext uri="{FF2B5EF4-FFF2-40B4-BE49-F238E27FC236}">
                  <a16:creationId xmlns:a16="http://schemas.microsoft.com/office/drawing/2014/main" id="{BB364154-4861-4DCE-A2DE-B2FEB1E3472D}"/>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106" name="直接连接符 105">
              <a:extLst>
                <a:ext uri="{FF2B5EF4-FFF2-40B4-BE49-F238E27FC236}">
                  <a16:creationId xmlns:a16="http://schemas.microsoft.com/office/drawing/2014/main" id="{5CCA0DBC-BA56-4343-A1A9-03D977495F5F}"/>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107" name="直接连接符 106">
              <a:extLst>
                <a:ext uri="{FF2B5EF4-FFF2-40B4-BE49-F238E27FC236}">
                  <a16:creationId xmlns:a16="http://schemas.microsoft.com/office/drawing/2014/main" id="{027ED9FC-80D1-45D4-B4B1-66E54BF30EB2}"/>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108" name="直接连接符 107">
              <a:extLst>
                <a:ext uri="{FF2B5EF4-FFF2-40B4-BE49-F238E27FC236}">
                  <a16:creationId xmlns:a16="http://schemas.microsoft.com/office/drawing/2014/main" id="{70B21A17-2B92-4836-996C-8E65C67E1907}"/>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sp>
        <p:nvSpPr>
          <p:cNvPr id="109" name="文本框 108">
            <a:extLst>
              <a:ext uri="{FF2B5EF4-FFF2-40B4-BE49-F238E27FC236}">
                <a16:creationId xmlns:a16="http://schemas.microsoft.com/office/drawing/2014/main" id="{A0A82797-28CC-4BD5-A147-CB0BF4CCF44C}"/>
              </a:ext>
            </a:extLst>
          </p:cNvPr>
          <p:cNvSpPr txBox="1"/>
          <p:nvPr/>
        </p:nvSpPr>
        <p:spPr>
          <a:xfrm>
            <a:off x="4086119" y="4293517"/>
            <a:ext cx="2212509" cy="369332"/>
          </a:xfrm>
          <a:prstGeom prst="rect">
            <a:avLst/>
          </a:prstGeom>
          <a:noFill/>
        </p:spPr>
        <p:txBody>
          <a:bodyPr wrap="square">
            <a:spAutoFit/>
          </a:bodyPr>
          <a:lstStyle/>
          <a:p>
            <a:endParaRPr lang="zh-CN" altLang="en-US" sz="1800" dirty="0">
              <a:latin typeface="KaiTi" panose="02010609060101010101" pitchFamily="49" charset="-122"/>
              <a:ea typeface="KaiTi" panose="02010609060101010101" pitchFamily="49" charset="-122"/>
            </a:endParaRPr>
          </a:p>
        </p:txBody>
      </p:sp>
      <p:cxnSp>
        <p:nvCxnSpPr>
          <p:cNvPr id="7" name="直接连接符 6">
            <a:extLst>
              <a:ext uri="{FF2B5EF4-FFF2-40B4-BE49-F238E27FC236}">
                <a16:creationId xmlns:a16="http://schemas.microsoft.com/office/drawing/2014/main" id="{721716F3-C4EF-4244-8B79-F2ABB13E02E3}"/>
              </a:ext>
            </a:extLst>
          </p:cNvPr>
          <p:cNvCxnSpPr>
            <a:cxnSpLocks/>
          </p:cNvCxnSpPr>
          <p:nvPr/>
        </p:nvCxnSpPr>
        <p:spPr>
          <a:xfrm>
            <a:off x="4756482" y="1273303"/>
            <a:ext cx="0" cy="2336415"/>
          </a:xfrm>
          <a:prstGeom prst="line">
            <a:avLst/>
          </a:prstGeom>
          <a:ln>
            <a:solidFill>
              <a:srgbClr val="FF0000"/>
            </a:solidFill>
            <a:prstDash val="dash"/>
          </a:ln>
        </p:spPr>
        <p:style>
          <a:lnRef idx="3">
            <a:schemeClr val="accent6"/>
          </a:lnRef>
          <a:fillRef idx="0">
            <a:schemeClr val="accent6"/>
          </a:fillRef>
          <a:effectRef idx="2">
            <a:schemeClr val="accent6"/>
          </a:effectRef>
          <a:fontRef idx="minor">
            <a:schemeClr val="tx1"/>
          </a:fontRef>
        </p:style>
      </p:cxnSp>
      <p:cxnSp>
        <p:nvCxnSpPr>
          <p:cNvPr id="110" name="直接连接符 109">
            <a:extLst>
              <a:ext uri="{FF2B5EF4-FFF2-40B4-BE49-F238E27FC236}">
                <a16:creationId xmlns:a16="http://schemas.microsoft.com/office/drawing/2014/main" id="{61C9FC45-088E-4764-817A-5B3A12B48027}"/>
              </a:ext>
            </a:extLst>
          </p:cNvPr>
          <p:cNvCxnSpPr>
            <a:cxnSpLocks/>
          </p:cNvCxnSpPr>
          <p:nvPr/>
        </p:nvCxnSpPr>
        <p:spPr>
          <a:xfrm>
            <a:off x="6773813" y="1273303"/>
            <a:ext cx="0" cy="2384297"/>
          </a:xfrm>
          <a:prstGeom prst="line">
            <a:avLst/>
          </a:prstGeom>
          <a:ln>
            <a:solidFill>
              <a:srgbClr val="FF0000"/>
            </a:solidFill>
            <a:prstDash val="dash"/>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41292723"/>
      </p:ext>
    </p:extLst>
  </p:cSld>
  <p:clrMapOvr>
    <a:masterClrMapping/>
  </p:clrMapOvr>
  <mc:AlternateContent xmlns:mc="http://schemas.openxmlformats.org/markup-compatibility/2006" xmlns:p14="http://schemas.microsoft.com/office/powerpoint/2010/main">
    <mc:Choice Requires="p14">
      <p:transition spd="slow" p14:dur="999" advTm="8005"/>
    </mc:Choice>
    <mc:Fallback xmlns="">
      <p:transition spd="slow" advTm="80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0B912DAA-1D12-4AD6-819E-149C4FCACE3C}"/>
              </a:ext>
            </a:extLst>
          </p:cNvPr>
          <p:cNvSpPr txBox="1"/>
          <p:nvPr/>
        </p:nvSpPr>
        <p:spPr>
          <a:xfrm>
            <a:off x="668337" y="1533618"/>
            <a:ext cx="10460873" cy="461665"/>
          </a:xfrm>
          <a:prstGeom prst="rect">
            <a:avLst/>
          </a:prstGeom>
          <a:noFill/>
        </p:spPr>
        <p:txBody>
          <a:bodyPr wrap="square">
            <a:spAutoFit/>
          </a:bodyPr>
          <a:lstStyle/>
          <a:p>
            <a:r>
              <a:rPr lang="zh-CN" altLang="zh-CN" sz="2400" b="1" kern="100" dirty="0">
                <a:effectLst/>
                <a:latin typeface="KaiTi" panose="02010609060101010101" pitchFamily="49" charset="-122"/>
                <a:ea typeface="KaiTi" panose="02010609060101010101" pitchFamily="49" charset="-122"/>
                <a:cs typeface="Times New Roman" panose="02020603050405020304" pitchFamily="18" charset="0"/>
              </a:rPr>
              <a:t>互斥特征捆绑算法（</a:t>
            </a:r>
            <a:r>
              <a:rPr lang="en-US" altLang="zh-CN" sz="2400" b="1" kern="100" dirty="0">
                <a:effectLst/>
                <a:latin typeface="KaiTi" panose="02010609060101010101" pitchFamily="49" charset="-122"/>
                <a:ea typeface="KaiTi" panose="02010609060101010101" pitchFamily="49" charset="-122"/>
                <a:cs typeface="Times New Roman" panose="02020603050405020304" pitchFamily="18" charset="0"/>
              </a:rPr>
              <a:t>Exclusive Feature Bundling, EFB</a:t>
            </a:r>
            <a:r>
              <a:rPr lang="zh-CN" altLang="zh-CN" sz="2400" b="1" kern="1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en-US" b="1" dirty="0">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6182B940-5049-4DF1-89AD-9948653D3A48}"/>
              </a:ext>
            </a:extLst>
          </p:cNvPr>
          <p:cNvSpPr txBox="1"/>
          <p:nvPr/>
        </p:nvSpPr>
        <p:spPr>
          <a:xfrm>
            <a:off x="605088" y="1947080"/>
            <a:ext cx="10981824" cy="2243050"/>
          </a:xfrm>
          <a:prstGeom prst="rect">
            <a:avLst/>
          </a:prstGeom>
          <a:noFill/>
        </p:spPr>
        <p:txBody>
          <a:bodyPr wrap="square">
            <a:spAutoFit/>
          </a:bodyPr>
          <a:lstStyle/>
          <a:p>
            <a:pPr>
              <a:lnSpc>
                <a:spcPct val="150000"/>
              </a:lnSpc>
            </a:pPr>
            <a:r>
              <a:rPr lang="zh-CN" altLang="zh-CN" sz="2400" dirty="0">
                <a:effectLst/>
                <a:latin typeface="KaiTi" panose="02010609060101010101" pitchFamily="49" charset="-122"/>
                <a:ea typeface="KaiTi" panose="02010609060101010101" pitchFamily="49" charset="-122"/>
                <a:cs typeface="Euclid" panose="02020503060505020303" pitchFamily="18" charset="0"/>
              </a:rPr>
              <a:t>高维特征往往是稀疏的，而且特征间可能是相互排斥的（如两个特征不同时取非零值），如果两个特征并不完全互斥（如只有一部分情况下是不同时取非零值），可以用互斥率表示互斥程度。</a:t>
            </a:r>
            <a:r>
              <a:rPr lang="en-US" altLang="zh-CN" sz="2400" dirty="0">
                <a:effectLst/>
                <a:latin typeface="KaiTi" panose="02010609060101010101" pitchFamily="49" charset="-122"/>
                <a:ea typeface="KaiTi" panose="02010609060101010101" pitchFamily="49" charset="-122"/>
                <a:cs typeface="Euclid" panose="02020503060505020303" pitchFamily="18" charset="0"/>
              </a:rPr>
              <a:t>EFB</a:t>
            </a:r>
            <a:r>
              <a:rPr lang="zh-CN" altLang="en-US" sz="2400" dirty="0">
                <a:effectLst/>
                <a:latin typeface="KaiTi" panose="02010609060101010101" pitchFamily="49" charset="-122"/>
                <a:ea typeface="KaiTi" panose="02010609060101010101" pitchFamily="49" charset="-122"/>
                <a:cs typeface="Euclid" panose="02020503060505020303" pitchFamily="18" charset="0"/>
              </a:rPr>
              <a:t>算法</a:t>
            </a:r>
            <a:r>
              <a:rPr lang="en-US" altLang="zh-CN" sz="2400" dirty="0" err="1">
                <a:effectLst/>
                <a:latin typeface="KaiTi" panose="02010609060101010101" pitchFamily="49" charset="-122"/>
                <a:ea typeface="KaiTi" panose="02010609060101010101" pitchFamily="49" charset="-122"/>
                <a:cs typeface="Euclid" panose="02020503060505020303" pitchFamily="18" charset="0"/>
              </a:rPr>
              <a:t>指出如果将一些特征进行融合绑定，则可以降低特征数量</a:t>
            </a:r>
            <a:r>
              <a:rPr lang="en-US" altLang="zh-CN" sz="2400" dirty="0">
                <a:effectLst/>
                <a:latin typeface="KaiTi" panose="02010609060101010101" pitchFamily="49" charset="-122"/>
                <a:ea typeface="KaiTi" panose="02010609060101010101" pitchFamily="49" charset="-122"/>
                <a:cs typeface="Euclid" panose="02020503060505020303" pitchFamily="18" charset="0"/>
              </a:rPr>
              <a:t>。</a:t>
            </a:r>
            <a:endParaRPr lang="zh-CN" altLang="zh-CN" sz="2400" dirty="0">
              <a:effectLst/>
              <a:latin typeface="KaiTi" panose="02010609060101010101" pitchFamily="49" charset="-122"/>
              <a:ea typeface="KaiTi" panose="02010609060101010101" pitchFamily="49" charset="-122"/>
              <a:cs typeface="Euclid" panose="02020503060505020303" pitchFamily="18" charset="0"/>
            </a:endParaRPr>
          </a:p>
        </p:txBody>
      </p:sp>
      <p:sp>
        <p:nvSpPr>
          <p:cNvPr id="11" name="文本框 10">
            <a:extLst>
              <a:ext uri="{FF2B5EF4-FFF2-40B4-BE49-F238E27FC236}">
                <a16:creationId xmlns:a16="http://schemas.microsoft.com/office/drawing/2014/main" id="{7C7F29AB-E21F-419D-9C35-25039FA2DBED}"/>
              </a:ext>
            </a:extLst>
          </p:cNvPr>
          <p:cNvSpPr txBox="1"/>
          <p:nvPr/>
        </p:nvSpPr>
        <p:spPr>
          <a:xfrm>
            <a:off x="605088" y="4190130"/>
            <a:ext cx="10806058" cy="580415"/>
          </a:xfrm>
          <a:prstGeom prst="rect">
            <a:avLst/>
          </a:prstGeom>
          <a:noFill/>
        </p:spPr>
        <p:txBody>
          <a:bodyPr wrap="square">
            <a:spAutoFit/>
          </a:bodyPr>
          <a:lstStyle/>
          <a:p>
            <a:pPr>
              <a:lnSpc>
                <a:spcPct val="150000"/>
              </a:lnSpc>
            </a:pPr>
            <a:r>
              <a:rPr lang="zh-CN" altLang="en-US" dirty="0">
                <a:latin typeface="KaiTi" panose="02010609060101010101" pitchFamily="49" charset="-122"/>
                <a:ea typeface="KaiTi" panose="02010609060101010101" pitchFamily="49" charset="-122"/>
              </a:rPr>
              <a:t>论文给出特征合并算法，其关键在于原始特征能从合并的特征中分离出来。</a:t>
            </a:r>
          </a:p>
        </p:txBody>
      </p:sp>
      <p:sp>
        <p:nvSpPr>
          <p:cNvPr id="3" name="TextBox 2">
            <a:extLst>
              <a:ext uri="{FF2B5EF4-FFF2-40B4-BE49-F238E27FC236}">
                <a16:creationId xmlns:a16="http://schemas.microsoft.com/office/drawing/2014/main" id="{10B1CDBE-2877-B301-8E39-E3EB72E59012}"/>
              </a:ext>
            </a:extLst>
          </p:cNvPr>
          <p:cNvSpPr txBox="1"/>
          <p:nvPr/>
        </p:nvSpPr>
        <p:spPr>
          <a:xfrm>
            <a:off x="1125605" y="5698772"/>
            <a:ext cx="9546336" cy="923330"/>
          </a:xfrm>
          <a:prstGeom prst="rect">
            <a:avLst/>
          </a:prstGeom>
          <a:noFill/>
        </p:spPr>
        <p:txBody>
          <a:bodyPr wrap="square">
            <a:spAutoFit/>
          </a:bodyPr>
          <a:lstStyle/>
          <a:p>
            <a:pPr algn="just"/>
            <a:r>
              <a:rPr lang="en" altLang="ko-Kore-KR" sz="1800" b="0" i="0">
                <a:solidFill>
                  <a:srgbClr val="222222"/>
                </a:solidFill>
                <a:effectLst/>
                <a:latin typeface="KaiTi" panose="02010609060101010101" pitchFamily="49" charset="-122"/>
                <a:ea typeface="KaiTi" panose="02010609060101010101" pitchFamily="49" charset="-122"/>
              </a:rPr>
              <a:t>Ke, G., Meng, Q., Finley, T., Wang, T., Chen, W., Ma, W., ... &amp; Liu, T. Y. (2017). Lightgbm: A highly efficient gradient boosting decision tree. </a:t>
            </a:r>
            <a:r>
              <a:rPr lang="en" altLang="ko-Kore-KR" sz="1800" b="0" i="1">
                <a:solidFill>
                  <a:srgbClr val="222222"/>
                </a:solidFill>
                <a:effectLst/>
                <a:latin typeface="KaiTi" panose="02010609060101010101" pitchFamily="49" charset="-122"/>
                <a:ea typeface="KaiTi" panose="02010609060101010101" pitchFamily="49" charset="-122"/>
              </a:rPr>
              <a:t>Advances in neural information processing systems</a:t>
            </a:r>
            <a:r>
              <a:rPr lang="en" altLang="ko-Kore-KR" sz="1800" b="0" i="0">
                <a:solidFill>
                  <a:srgbClr val="222222"/>
                </a:solidFill>
                <a:effectLst/>
                <a:latin typeface="KaiTi" panose="02010609060101010101" pitchFamily="49" charset="-122"/>
                <a:ea typeface="KaiTi" panose="02010609060101010101" pitchFamily="49" charset="-122"/>
              </a:rPr>
              <a:t>, </a:t>
            </a:r>
            <a:r>
              <a:rPr lang="en" altLang="ko-Kore-KR" sz="1800" b="0" i="1">
                <a:solidFill>
                  <a:srgbClr val="222222"/>
                </a:solidFill>
                <a:effectLst/>
                <a:latin typeface="KaiTi" panose="02010609060101010101" pitchFamily="49" charset="-122"/>
                <a:ea typeface="KaiTi" panose="02010609060101010101" pitchFamily="49" charset="-122"/>
              </a:rPr>
              <a:t>30</a:t>
            </a:r>
            <a:r>
              <a:rPr lang="en" altLang="ko-Kore-KR" sz="1800" b="0" i="0">
                <a:solidFill>
                  <a:srgbClr val="222222"/>
                </a:solidFill>
                <a:effectLst/>
                <a:latin typeface="KaiTi" panose="02010609060101010101" pitchFamily="49" charset="-122"/>
                <a:ea typeface="KaiTi" panose="02010609060101010101" pitchFamily="49" charset="-122"/>
              </a:rPr>
              <a:t>.</a:t>
            </a:r>
            <a:endParaRPr lang="ko-Kore-KR" altLang="en-US" sz="1800">
              <a:latin typeface="KaiTi" panose="02010609060101010101" pitchFamily="49" charset="-122"/>
            </a:endParaRPr>
          </a:p>
        </p:txBody>
      </p:sp>
    </p:spTree>
    <p:extLst>
      <p:ext uri="{BB962C8B-B14F-4D97-AF65-F5344CB8AC3E}">
        <p14:creationId xmlns:p14="http://schemas.microsoft.com/office/powerpoint/2010/main" val="3088635524"/>
      </p:ext>
    </p:extLst>
  </p:cSld>
  <p:clrMapOvr>
    <a:masterClrMapping/>
  </p:clrMapOvr>
  <p:transition advTm="8005"/>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5" name="矩形: 圆角 4104">
            <a:extLst>
              <a:ext uri="{FF2B5EF4-FFF2-40B4-BE49-F238E27FC236}">
                <a16:creationId xmlns:a16="http://schemas.microsoft.com/office/drawing/2014/main" id="{27D3C78E-AF50-437B-8BBA-16199F2FF39C}"/>
              </a:ext>
            </a:extLst>
          </p:cNvPr>
          <p:cNvSpPr/>
          <p:nvPr/>
        </p:nvSpPr>
        <p:spPr>
          <a:xfrm>
            <a:off x="6883790" y="4994151"/>
            <a:ext cx="5270695" cy="16129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6" name="文本框 5">
            <a:extLst>
              <a:ext uri="{FF2B5EF4-FFF2-40B4-BE49-F238E27FC236}">
                <a16:creationId xmlns:a16="http://schemas.microsoft.com/office/drawing/2014/main" id="{0B912DAA-1D12-4AD6-819E-149C4FCACE3C}"/>
              </a:ext>
            </a:extLst>
          </p:cNvPr>
          <p:cNvSpPr txBox="1"/>
          <p:nvPr/>
        </p:nvSpPr>
        <p:spPr>
          <a:xfrm>
            <a:off x="668337" y="1533618"/>
            <a:ext cx="10460873" cy="461665"/>
          </a:xfrm>
          <a:prstGeom prst="rect">
            <a:avLst/>
          </a:prstGeom>
          <a:noFill/>
        </p:spPr>
        <p:txBody>
          <a:bodyPr wrap="square">
            <a:spAutoFit/>
          </a:bodyPr>
          <a:lstStyle/>
          <a:p>
            <a:r>
              <a:rPr lang="zh-CN" altLang="zh-CN" sz="2400" b="1" kern="100" dirty="0">
                <a:effectLst/>
                <a:latin typeface="KaiTi" panose="02010609060101010101" pitchFamily="49" charset="-122"/>
                <a:ea typeface="KaiTi" panose="02010609060101010101" pitchFamily="49" charset="-122"/>
                <a:cs typeface="Times New Roman" panose="02020603050405020304" pitchFamily="18" charset="0"/>
              </a:rPr>
              <a:t>互斥特征捆绑算法（</a:t>
            </a:r>
            <a:r>
              <a:rPr lang="en-US" altLang="zh-CN" sz="2400" b="1" kern="100" dirty="0">
                <a:effectLst/>
                <a:latin typeface="KaiTi" panose="02010609060101010101" pitchFamily="49" charset="-122"/>
                <a:ea typeface="KaiTi" panose="02010609060101010101" pitchFamily="49" charset="-122"/>
                <a:cs typeface="Times New Roman" panose="02020603050405020304" pitchFamily="18" charset="0"/>
              </a:rPr>
              <a:t>Exclusive Feature Bundling, EFB</a:t>
            </a:r>
            <a:r>
              <a:rPr lang="zh-CN" altLang="zh-CN" sz="2400" b="1" kern="100" dirty="0">
                <a:effectLst/>
                <a:latin typeface="KaiTi" panose="02010609060101010101" pitchFamily="49" charset="-122"/>
                <a:ea typeface="KaiTi" panose="02010609060101010101" pitchFamily="49" charset="-122"/>
                <a:cs typeface="Times New Roman" panose="02020603050405020304" pitchFamily="18" charset="0"/>
              </a:rPr>
              <a:t>）</a:t>
            </a:r>
            <a:endParaRPr lang="zh-CN" altLang="en-US" b="1" dirty="0">
              <a:latin typeface="KaiTi" panose="02010609060101010101" pitchFamily="49" charset="-122"/>
              <a:ea typeface="KaiTi" panose="02010609060101010101" pitchFamily="49" charset="-122"/>
            </a:endParaRPr>
          </a:p>
        </p:txBody>
      </p:sp>
      <p:sp>
        <p:nvSpPr>
          <p:cNvPr id="9" name="文本框 8">
            <a:extLst>
              <a:ext uri="{FF2B5EF4-FFF2-40B4-BE49-F238E27FC236}">
                <a16:creationId xmlns:a16="http://schemas.microsoft.com/office/drawing/2014/main" id="{6182B940-5049-4DF1-89AD-9948653D3A48}"/>
              </a:ext>
            </a:extLst>
          </p:cNvPr>
          <p:cNvSpPr txBox="1"/>
          <p:nvPr/>
        </p:nvSpPr>
        <p:spPr>
          <a:xfrm>
            <a:off x="605087" y="1947080"/>
            <a:ext cx="5960951" cy="3905043"/>
          </a:xfrm>
          <a:prstGeom prst="rect">
            <a:avLst/>
          </a:prstGeom>
          <a:noFill/>
        </p:spPr>
        <p:txBody>
          <a:bodyPr wrap="square">
            <a:spAutoFit/>
          </a:bodyPr>
          <a:lstStyle/>
          <a:p>
            <a:pPr>
              <a:lnSpc>
                <a:spcPct val="150000"/>
              </a:lnSpc>
            </a:pPr>
            <a:r>
              <a:rPr lang="zh-CN" altLang="zh-CN" sz="2400" dirty="0">
                <a:effectLst/>
                <a:latin typeface="KaiTi" panose="02010609060101010101" pitchFamily="49" charset="-122"/>
                <a:ea typeface="KaiTi" panose="02010609060101010101" pitchFamily="49" charset="-122"/>
                <a:cs typeface="Euclid" panose="02020503060505020303" pitchFamily="18" charset="0"/>
              </a:rPr>
              <a:t>高维特征往往是稀疏的，而且特征间可能是相互排斥的（如两个特征不同时取非零值），如果两个特征并不完全互斥（如只有一部分情况下是不同时取非零值），可以用互斥率表示互斥程度。</a:t>
            </a:r>
            <a:r>
              <a:rPr lang="en-US" altLang="zh-CN" sz="2400" dirty="0">
                <a:effectLst/>
                <a:latin typeface="KaiTi" panose="02010609060101010101" pitchFamily="49" charset="-122"/>
                <a:ea typeface="KaiTi" panose="02010609060101010101" pitchFamily="49" charset="-122"/>
                <a:cs typeface="Euclid" panose="02020503060505020303" pitchFamily="18" charset="0"/>
              </a:rPr>
              <a:t>EFB</a:t>
            </a:r>
            <a:r>
              <a:rPr lang="zh-CN" altLang="en-US" sz="2400" dirty="0">
                <a:effectLst/>
                <a:latin typeface="KaiTi" panose="02010609060101010101" pitchFamily="49" charset="-122"/>
                <a:ea typeface="KaiTi" panose="02010609060101010101" pitchFamily="49" charset="-122"/>
                <a:cs typeface="Euclid" panose="02020503060505020303" pitchFamily="18" charset="0"/>
              </a:rPr>
              <a:t>算法</a:t>
            </a:r>
            <a:r>
              <a:rPr lang="en-US" altLang="zh-CN" sz="2400" dirty="0" err="1">
                <a:effectLst/>
                <a:latin typeface="KaiTi" panose="02010609060101010101" pitchFamily="49" charset="-122"/>
                <a:ea typeface="KaiTi" panose="02010609060101010101" pitchFamily="49" charset="-122"/>
                <a:cs typeface="Euclid" panose="02020503060505020303" pitchFamily="18" charset="0"/>
              </a:rPr>
              <a:t>指出如果将一些特征进行融合绑定，则可以降低特征数量</a:t>
            </a:r>
            <a:r>
              <a:rPr lang="en-US" altLang="zh-CN" sz="2400" dirty="0">
                <a:effectLst/>
                <a:latin typeface="KaiTi" panose="02010609060101010101" pitchFamily="49" charset="-122"/>
                <a:ea typeface="KaiTi" panose="02010609060101010101" pitchFamily="49" charset="-122"/>
                <a:cs typeface="Euclid" panose="02020503060505020303" pitchFamily="18" charset="0"/>
              </a:rPr>
              <a:t>。</a:t>
            </a:r>
            <a:endParaRPr lang="zh-CN" altLang="zh-CN" sz="2400" dirty="0">
              <a:effectLst/>
              <a:latin typeface="KaiTi" panose="02010609060101010101" pitchFamily="49" charset="-122"/>
              <a:ea typeface="KaiTi" panose="02010609060101010101" pitchFamily="49" charset="-122"/>
              <a:cs typeface="Euclid" panose="02020503060505020303" pitchFamily="18" charset="0"/>
            </a:endParaRPr>
          </a:p>
        </p:txBody>
      </p:sp>
      <p:grpSp>
        <p:nvGrpSpPr>
          <p:cNvPr id="4104" name="组合 4103">
            <a:extLst>
              <a:ext uri="{FF2B5EF4-FFF2-40B4-BE49-F238E27FC236}">
                <a16:creationId xmlns:a16="http://schemas.microsoft.com/office/drawing/2014/main" id="{DB479AAC-C172-4ABF-AEAF-3F582714F8DA}"/>
              </a:ext>
            </a:extLst>
          </p:cNvPr>
          <p:cNvGrpSpPr/>
          <p:nvPr/>
        </p:nvGrpSpPr>
        <p:grpSpPr>
          <a:xfrm>
            <a:off x="7428264" y="2703242"/>
            <a:ext cx="4534476" cy="2192988"/>
            <a:chOff x="7428264" y="2703242"/>
            <a:chExt cx="4534476" cy="2192988"/>
          </a:xfrm>
        </p:grpSpPr>
        <p:cxnSp>
          <p:nvCxnSpPr>
            <p:cNvPr id="8" name="Google Shape;517;p30">
              <a:extLst>
                <a:ext uri="{FF2B5EF4-FFF2-40B4-BE49-F238E27FC236}">
                  <a16:creationId xmlns:a16="http://schemas.microsoft.com/office/drawing/2014/main" id="{352915D3-8EE0-45A7-BA28-FD1E616242DA}"/>
                </a:ext>
              </a:extLst>
            </p:cNvPr>
            <p:cNvCxnSpPr>
              <a:cxnSpLocks/>
            </p:cNvCxnSpPr>
            <p:nvPr/>
          </p:nvCxnSpPr>
          <p:spPr>
            <a:xfrm flipV="1">
              <a:off x="7633563" y="2768411"/>
              <a:ext cx="0" cy="2061664"/>
            </a:xfrm>
            <a:prstGeom prst="straightConnector1">
              <a:avLst/>
            </a:prstGeom>
            <a:noFill/>
            <a:ln w="19050" cap="flat" cmpd="sng">
              <a:solidFill>
                <a:srgbClr val="000000"/>
              </a:solidFill>
              <a:prstDash val="solid"/>
              <a:round/>
              <a:headEnd type="none" w="med" len="med"/>
              <a:tailEnd type="triangle" w="med" len="med"/>
            </a:ln>
          </p:spPr>
        </p:cxnSp>
        <p:cxnSp>
          <p:nvCxnSpPr>
            <p:cNvPr id="10" name="Google Shape;517;p30">
              <a:extLst>
                <a:ext uri="{FF2B5EF4-FFF2-40B4-BE49-F238E27FC236}">
                  <a16:creationId xmlns:a16="http://schemas.microsoft.com/office/drawing/2014/main" id="{4590FFCB-A2BD-48E0-B29F-D4092A1073F8}"/>
                </a:ext>
              </a:extLst>
            </p:cNvPr>
            <p:cNvCxnSpPr>
              <a:cxnSpLocks/>
            </p:cNvCxnSpPr>
            <p:nvPr/>
          </p:nvCxnSpPr>
          <p:spPr>
            <a:xfrm flipV="1">
              <a:off x="7428264" y="4555580"/>
              <a:ext cx="2230818" cy="2"/>
            </a:xfrm>
            <a:prstGeom prst="straightConnector1">
              <a:avLst/>
            </a:prstGeom>
            <a:noFill/>
            <a:ln w="19050" cap="flat" cmpd="sng">
              <a:solidFill>
                <a:srgbClr val="000000"/>
              </a:solidFill>
              <a:prstDash val="solid"/>
              <a:round/>
              <a:headEnd type="none" w="med" len="med"/>
              <a:tailEnd type="triangle" w="med" len="med"/>
            </a:ln>
          </p:spPr>
        </p:cxnSp>
        <p:sp>
          <p:nvSpPr>
            <p:cNvPr id="12" name="矩形 11">
              <a:extLst>
                <a:ext uri="{FF2B5EF4-FFF2-40B4-BE49-F238E27FC236}">
                  <a16:creationId xmlns:a16="http://schemas.microsoft.com/office/drawing/2014/main" id="{4125C8DF-4B1B-4F26-A5D5-E1FB89CC25DF}"/>
                </a:ext>
              </a:extLst>
            </p:cNvPr>
            <p:cNvSpPr/>
            <p:nvPr/>
          </p:nvSpPr>
          <p:spPr>
            <a:xfrm>
              <a:off x="7977589" y="3970828"/>
              <a:ext cx="215986" cy="584748"/>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3" name="矩形 12">
              <a:extLst>
                <a:ext uri="{FF2B5EF4-FFF2-40B4-BE49-F238E27FC236}">
                  <a16:creationId xmlns:a16="http://schemas.microsoft.com/office/drawing/2014/main" id="{3DDF712D-9BBB-4F85-8428-A598B59070B0}"/>
                </a:ext>
              </a:extLst>
            </p:cNvPr>
            <p:cNvSpPr/>
            <p:nvPr/>
          </p:nvSpPr>
          <p:spPr>
            <a:xfrm>
              <a:off x="8401224" y="3318360"/>
              <a:ext cx="227221" cy="1237220"/>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20" name="Google Shape;517;p30">
              <a:extLst>
                <a:ext uri="{FF2B5EF4-FFF2-40B4-BE49-F238E27FC236}">
                  <a16:creationId xmlns:a16="http://schemas.microsoft.com/office/drawing/2014/main" id="{9B27E199-5A1D-4E0A-82D0-0A00B4805D5B}"/>
                </a:ext>
              </a:extLst>
            </p:cNvPr>
            <p:cNvCxnSpPr>
              <a:cxnSpLocks/>
            </p:cNvCxnSpPr>
            <p:nvPr/>
          </p:nvCxnSpPr>
          <p:spPr>
            <a:xfrm flipV="1">
              <a:off x="9937220" y="2762781"/>
              <a:ext cx="0" cy="2061664"/>
            </a:xfrm>
            <a:prstGeom prst="straightConnector1">
              <a:avLst/>
            </a:prstGeom>
            <a:noFill/>
            <a:ln w="19050" cap="flat" cmpd="sng">
              <a:solidFill>
                <a:srgbClr val="000000"/>
              </a:solidFill>
              <a:prstDash val="solid"/>
              <a:round/>
              <a:headEnd type="none" w="med" len="med"/>
              <a:tailEnd type="triangle" w="med" len="med"/>
            </a:ln>
          </p:spPr>
        </p:cxnSp>
        <p:cxnSp>
          <p:nvCxnSpPr>
            <p:cNvPr id="21" name="Google Shape;517;p30">
              <a:extLst>
                <a:ext uri="{FF2B5EF4-FFF2-40B4-BE49-F238E27FC236}">
                  <a16:creationId xmlns:a16="http://schemas.microsoft.com/office/drawing/2014/main" id="{3F37AB29-3CA3-4064-ABD8-9BE9098FD804}"/>
                </a:ext>
              </a:extLst>
            </p:cNvPr>
            <p:cNvCxnSpPr>
              <a:cxnSpLocks/>
            </p:cNvCxnSpPr>
            <p:nvPr/>
          </p:nvCxnSpPr>
          <p:spPr>
            <a:xfrm flipV="1">
              <a:off x="9731922" y="4549950"/>
              <a:ext cx="2230818" cy="2"/>
            </a:xfrm>
            <a:prstGeom prst="straightConnector1">
              <a:avLst/>
            </a:prstGeom>
            <a:noFill/>
            <a:ln w="19050" cap="flat" cmpd="sng">
              <a:solidFill>
                <a:srgbClr val="000000"/>
              </a:solidFill>
              <a:prstDash val="solid"/>
              <a:round/>
              <a:headEnd type="none" w="med" len="med"/>
              <a:tailEnd type="triangle" w="med" len="med"/>
            </a:ln>
          </p:spPr>
        </p:cxnSp>
        <p:sp>
          <p:nvSpPr>
            <p:cNvPr id="24" name="矩形 23">
              <a:extLst>
                <a:ext uri="{FF2B5EF4-FFF2-40B4-BE49-F238E27FC236}">
                  <a16:creationId xmlns:a16="http://schemas.microsoft.com/office/drawing/2014/main" id="{A55C4701-26BD-43EE-A120-06685CEC307E}"/>
                </a:ext>
              </a:extLst>
            </p:cNvPr>
            <p:cNvSpPr/>
            <p:nvPr/>
          </p:nvSpPr>
          <p:spPr>
            <a:xfrm>
              <a:off x="10716051" y="2759107"/>
              <a:ext cx="216049" cy="1790841"/>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40" name="文本框 39">
              <a:extLst>
                <a:ext uri="{FF2B5EF4-FFF2-40B4-BE49-F238E27FC236}">
                  <a16:creationId xmlns:a16="http://schemas.microsoft.com/office/drawing/2014/main" id="{796D3929-AF77-42A4-BF44-1C45E1FC370B}"/>
                </a:ext>
              </a:extLst>
            </p:cNvPr>
            <p:cNvSpPr txBox="1"/>
            <p:nvPr/>
          </p:nvSpPr>
          <p:spPr>
            <a:xfrm>
              <a:off x="7874814" y="3557835"/>
              <a:ext cx="494817" cy="276999"/>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10</a:t>
              </a:r>
              <a:endParaRPr lang="zh-CN" altLang="en-US" sz="1200" dirty="0">
                <a:latin typeface="KaiTi" panose="02010609060101010101" pitchFamily="49" charset="-122"/>
                <a:ea typeface="KaiTi" panose="02010609060101010101" pitchFamily="49" charset="-122"/>
              </a:endParaRPr>
            </a:p>
          </p:txBody>
        </p:sp>
        <p:sp>
          <p:nvSpPr>
            <p:cNvPr id="43" name="文本框 42">
              <a:extLst>
                <a:ext uri="{FF2B5EF4-FFF2-40B4-BE49-F238E27FC236}">
                  <a16:creationId xmlns:a16="http://schemas.microsoft.com/office/drawing/2014/main" id="{3BC7BAE6-BF23-4944-82C2-69865C623345}"/>
                </a:ext>
              </a:extLst>
            </p:cNvPr>
            <p:cNvSpPr txBox="1"/>
            <p:nvPr/>
          </p:nvSpPr>
          <p:spPr>
            <a:xfrm>
              <a:off x="10302372" y="2703242"/>
              <a:ext cx="538740" cy="276999"/>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30</a:t>
              </a:r>
              <a:endParaRPr lang="zh-CN" altLang="en-US" sz="12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49133449-48B8-4AA3-94A8-A3FA06D28F69}"/>
                    </a:ext>
                  </a:extLst>
                </p:cNvPr>
                <p:cNvSpPr txBox="1"/>
                <p:nvPr/>
              </p:nvSpPr>
              <p:spPr>
                <a:xfrm>
                  <a:off x="7720347" y="4539786"/>
                  <a:ext cx="847263"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chemeClr val="tx1"/>
                            </a:solidFill>
                            <a:latin typeface="Cambria Math" panose="02040503050406030204" pitchFamily="18" charset="0"/>
                          </a:rPr>
                          <m:t>𝐴</m:t>
                        </m:r>
                      </m:oMath>
                    </m:oMathPara>
                  </a14:m>
                  <a:endParaRPr lang="zh-CN" altLang="en-US" sz="1600" dirty="0">
                    <a:solidFill>
                      <a:schemeClr val="tx1"/>
                    </a:solidFill>
                    <a:latin typeface="KaiTi" panose="02010609060101010101" pitchFamily="49" charset="-122"/>
                    <a:ea typeface="KaiTi" panose="02010609060101010101" pitchFamily="49" charset="-122"/>
                  </a:endParaRPr>
                </a:p>
              </p:txBody>
            </p:sp>
          </mc:Choice>
          <mc:Fallback xmlns="">
            <p:sp>
              <p:nvSpPr>
                <p:cNvPr id="59" name="文本框 58">
                  <a:extLst>
                    <a:ext uri="{FF2B5EF4-FFF2-40B4-BE49-F238E27FC236}">
                      <a16:creationId xmlns:a16="http://schemas.microsoft.com/office/drawing/2014/main" id="{49133449-48B8-4AA3-94A8-A3FA06D28F69}"/>
                    </a:ext>
                  </a:extLst>
                </p:cNvPr>
                <p:cNvSpPr txBox="1">
                  <a:spLocks noRot="1" noChangeAspect="1" noMove="1" noResize="1" noEditPoints="1" noAdjustHandles="1" noChangeArrowheads="1" noChangeShapeType="1" noTextEdit="1"/>
                </p:cNvSpPr>
                <p:nvPr/>
              </p:nvSpPr>
              <p:spPr>
                <a:xfrm>
                  <a:off x="7720347" y="4539786"/>
                  <a:ext cx="847263" cy="33855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90666597-F578-4009-864D-172A548A7F24}"/>
                    </a:ext>
                  </a:extLst>
                </p:cNvPr>
                <p:cNvSpPr txBox="1"/>
                <p:nvPr/>
              </p:nvSpPr>
              <p:spPr>
                <a:xfrm>
                  <a:off x="8105829" y="4549948"/>
                  <a:ext cx="847263"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smtClean="0">
                            <a:solidFill>
                              <a:schemeClr val="tx1"/>
                            </a:solidFill>
                            <a:latin typeface="Cambria Math" panose="02040503050406030204" pitchFamily="18" charset="0"/>
                          </a:rPr>
                          <m:t>𝐵</m:t>
                        </m:r>
                      </m:oMath>
                    </m:oMathPara>
                  </a14:m>
                  <a:endParaRPr lang="zh-CN" altLang="en-US" sz="1600" dirty="0">
                    <a:solidFill>
                      <a:schemeClr val="tx1"/>
                    </a:solidFill>
                    <a:latin typeface="KaiTi" panose="02010609060101010101" pitchFamily="49" charset="-122"/>
                    <a:ea typeface="KaiTi" panose="02010609060101010101" pitchFamily="49" charset="-122"/>
                  </a:endParaRPr>
                </a:p>
              </p:txBody>
            </p:sp>
          </mc:Choice>
          <mc:Fallback xmlns="">
            <p:sp>
              <p:nvSpPr>
                <p:cNvPr id="60" name="文本框 59">
                  <a:extLst>
                    <a:ext uri="{FF2B5EF4-FFF2-40B4-BE49-F238E27FC236}">
                      <a16:creationId xmlns:a16="http://schemas.microsoft.com/office/drawing/2014/main" id="{90666597-F578-4009-864D-172A548A7F24}"/>
                    </a:ext>
                  </a:extLst>
                </p:cNvPr>
                <p:cNvSpPr txBox="1">
                  <a:spLocks noRot="1" noChangeAspect="1" noMove="1" noResize="1" noEditPoints="1" noAdjustHandles="1" noChangeArrowheads="1" noChangeShapeType="1" noTextEdit="1"/>
                </p:cNvSpPr>
                <p:nvPr/>
              </p:nvSpPr>
              <p:spPr>
                <a:xfrm>
                  <a:off x="8105829" y="4549948"/>
                  <a:ext cx="847263" cy="338554"/>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1F852A2D-0A73-44D4-B684-DB667BB0E410}"/>
                    </a:ext>
                  </a:extLst>
                </p:cNvPr>
                <p:cNvSpPr txBox="1"/>
                <p:nvPr/>
              </p:nvSpPr>
              <p:spPr>
                <a:xfrm>
                  <a:off x="10417481" y="4557676"/>
                  <a:ext cx="847263"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𝐶</m:t>
                        </m:r>
                      </m:oMath>
                    </m:oMathPara>
                  </a14:m>
                  <a:endParaRPr lang="zh-CN" altLang="en-US" sz="1600" dirty="0">
                    <a:solidFill>
                      <a:schemeClr val="tx1"/>
                    </a:solidFill>
                    <a:latin typeface="KaiTi" panose="02010609060101010101" pitchFamily="49" charset="-122"/>
                    <a:ea typeface="KaiTi" panose="02010609060101010101" pitchFamily="49" charset="-122"/>
                  </a:endParaRPr>
                </a:p>
              </p:txBody>
            </p:sp>
          </mc:Choice>
          <mc:Fallback xmlns="">
            <p:sp>
              <p:nvSpPr>
                <p:cNvPr id="77" name="文本框 76">
                  <a:extLst>
                    <a:ext uri="{FF2B5EF4-FFF2-40B4-BE49-F238E27FC236}">
                      <a16:creationId xmlns:a16="http://schemas.microsoft.com/office/drawing/2014/main" id="{1F852A2D-0A73-44D4-B684-DB667BB0E410}"/>
                    </a:ext>
                  </a:extLst>
                </p:cNvPr>
                <p:cNvSpPr txBox="1">
                  <a:spLocks noRot="1" noChangeAspect="1" noMove="1" noResize="1" noEditPoints="1" noAdjustHandles="1" noChangeArrowheads="1" noChangeShapeType="1" noTextEdit="1"/>
                </p:cNvSpPr>
                <p:nvPr/>
              </p:nvSpPr>
              <p:spPr>
                <a:xfrm>
                  <a:off x="10417481" y="4557676"/>
                  <a:ext cx="847263" cy="338554"/>
                </a:xfrm>
                <a:prstGeom prst="rect">
                  <a:avLst/>
                </a:prstGeom>
                <a:blipFill>
                  <a:blip r:embed="rId5"/>
                  <a:stretch>
                    <a:fillRect/>
                  </a:stretch>
                </a:blipFill>
              </p:spPr>
              <p:txBody>
                <a:bodyPr/>
                <a:lstStyle/>
                <a:p>
                  <a:r>
                    <a:rPr lang="zh-CN" altLang="en-US">
                      <a:noFill/>
                    </a:rPr>
                    <a:t> </a:t>
                  </a:r>
                </a:p>
              </p:txBody>
            </p:sp>
          </mc:Fallback>
        </mc:AlternateContent>
        <p:sp>
          <p:nvSpPr>
            <p:cNvPr id="78" name="矩形 77">
              <a:extLst>
                <a:ext uri="{FF2B5EF4-FFF2-40B4-BE49-F238E27FC236}">
                  <a16:creationId xmlns:a16="http://schemas.microsoft.com/office/drawing/2014/main" id="{0F4C09C4-F30A-4F04-99C9-7E4B62C253A8}"/>
                </a:ext>
              </a:extLst>
            </p:cNvPr>
            <p:cNvSpPr/>
            <p:nvPr/>
          </p:nvSpPr>
          <p:spPr>
            <a:xfrm>
              <a:off x="10722294" y="3965200"/>
              <a:ext cx="209806" cy="584748"/>
            </a:xfrm>
            <a:prstGeom prst="rect">
              <a:avLst/>
            </a:prstGeom>
            <a:solidFill>
              <a:srgbClr val="FFC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79" name="文本框 78">
              <a:extLst>
                <a:ext uri="{FF2B5EF4-FFF2-40B4-BE49-F238E27FC236}">
                  <a16:creationId xmlns:a16="http://schemas.microsoft.com/office/drawing/2014/main" id="{2E93D823-BE38-4A5A-907D-9EBF259BCBBE}"/>
                </a:ext>
              </a:extLst>
            </p:cNvPr>
            <p:cNvSpPr txBox="1"/>
            <p:nvPr/>
          </p:nvSpPr>
          <p:spPr>
            <a:xfrm>
              <a:off x="8333446" y="2982638"/>
              <a:ext cx="538740" cy="276999"/>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20</a:t>
              </a:r>
              <a:endParaRPr lang="zh-CN" altLang="en-US" sz="1200" dirty="0">
                <a:latin typeface="KaiTi" panose="02010609060101010101" pitchFamily="49" charset="-122"/>
                <a:ea typeface="KaiTi" panose="02010609060101010101" pitchFamily="49" charset="-122"/>
              </a:endParaRPr>
            </a:p>
          </p:txBody>
        </p:sp>
        <p:sp>
          <p:nvSpPr>
            <p:cNvPr id="4102" name="箭头: 右 4101">
              <a:extLst>
                <a:ext uri="{FF2B5EF4-FFF2-40B4-BE49-F238E27FC236}">
                  <a16:creationId xmlns:a16="http://schemas.microsoft.com/office/drawing/2014/main" id="{A2CF6906-2B77-43A3-B97A-10198C165A68}"/>
                </a:ext>
              </a:extLst>
            </p:cNvPr>
            <p:cNvSpPr/>
            <p:nvPr/>
          </p:nvSpPr>
          <p:spPr>
            <a:xfrm>
              <a:off x="9283700" y="3502025"/>
              <a:ext cx="473075" cy="250817"/>
            </a:xfrm>
            <a:prstGeom prst="rightArrow">
              <a:avLst/>
            </a:prstGeom>
            <a:solidFill>
              <a:srgbClr val="FF0000"/>
            </a:solidFill>
            <a:ln>
              <a:solidFill>
                <a:srgbClr val="FF0000"/>
              </a:solidFill>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grpSp>
      <p:sp>
        <p:nvSpPr>
          <p:cNvPr id="82" name="文本框 81">
            <a:extLst>
              <a:ext uri="{FF2B5EF4-FFF2-40B4-BE49-F238E27FC236}">
                <a16:creationId xmlns:a16="http://schemas.microsoft.com/office/drawing/2014/main" id="{65E409D7-28EE-4A0C-A238-570CC8C9B581}"/>
              </a:ext>
            </a:extLst>
          </p:cNvPr>
          <p:cNvSpPr txBox="1"/>
          <p:nvPr/>
        </p:nvSpPr>
        <p:spPr>
          <a:xfrm>
            <a:off x="6968197" y="4994151"/>
            <a:ext cx="5186289" cy="1525739"/>
          </a:xfrm>
          <a:prstGeom prst="rect">
            <a:avLst/>
          </a:prstGeom>
          <a:noFill/>
        </p:spPr>
        <p:txBody>
          <a:bodyPr wrap="square">
            <a:spAutoFit/>
          </a:bodyPr>
          <a:lstStyle/>
          <a:p>
            <a:pPr>
              <a:lnSpc>
                <a:spcPct val="150000"/>
              </a:lnSpc>
            </a:pPr>
            <a:r>
              <a:rPr lang="zh-CN" altLang="en-US" sz="1600" dirty="0">
                <a:latin typeface="KaiTi" panose="02010609060101010101" pitchFamily="49" charset="-122"/>
                <a:ea typeface="KaiTi" panose="02010609060101010101" pitchFamily="49" charset="-122"/>
              </a:rPr>
              <a:t>假设 Bundle中有两个特征值，A取值为</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0,10</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，B取值为</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0,20</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，为了保证特征A、B的互斥性，我们可以给特征B添加一个偏移量转换为</a:t>
            </a:r>
            <a:r>
              <a:rPr lang="en-US" altLang="zh-CN" sz="1600" dirty="0">
                <a:latin typeface="KaiTi" panose="02010609060101010101" pitchFamily="49" charset="-122"/>
                <a:ea typeface="KaiTi" panose="02010609060101010101" pitchFamily="49" charset="-122"/>
              </a:rPr>
              <a:t>C[</a:t>
            </a:r>
            <a:r>
              <a:rPr lang="zh-CN" altLang="en-US" sz="1600" dirty="0">
                <a:latin typeface="KaiTi" panose="02010609060101010101" pitchFamily="49" charset="-122"/>
                <a:ea typeface="KaiTi" panose="02010609060101010101" pitchFamily="49" charset="-122"/>
              </a:rPr>
              <a:t>10,30</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 Bundle后的特征其取值为</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0,30</a:t>
            </a:r>
            <a:r>
              <a:rPr lang="en-US" altLang="zh-CN" sz="1600" dirty="0">
                <a:latin typeface="KaiTi" panose="02010609060101010101" pitchFamily="49" charset="-122"/>
                <a:ea typeface="KaiTi" panose="02010609060101010101" pitchFamily="49" charset="-122"/>
              </a:rPr>
              <a:t>]</a:t>
            </a:r>
            <a:r>
              <a:rPr lang="zh-CN" altLang="en-US" sz="1600" dirty="0">
                <a:latin typeface="KaiTi" panose="02010609060101010101" pitchFamily="49" charset="-122"/>
                <a:ea typeface="KaiTi" panose="02010609060101010101" pitchFamily="49" charset="-122"/>
              </a:rPr>
              <a:t>，这样便实现了特征合并。</a:t>
            </a:r>
          </a:p>
        </p:txBody>
      </p:sp>
    </p:spTree>
    <p:extLst>
      <p:ext uri="{BB962C8B-B14F-4D97-AF65-F5344CB8AC3E}">
        <p14:creationId xmlns:p14="http://schemas.microsoft.com/office/powerpoint/2010/main" val="1778534118"/>
      </p:ext>
    </p:extLst>
  </p:cSld>
  <p:clrMapOvr>
    <a:masterClrMapping/>
  </p:clrMapOvr>
  <p:transition advTm="8005"/>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A32F78D6-68AF-4A75-8399-473DB41D5BDB}"/>
              </a:ext>
            </a:extLst>
          </p:cNvPr>
          <p:cNvSpPr txBox="1"/>
          <p:nvPr/>
        </p:nvSpPr>
        <p:spPr>
          <a:xfrm>
            <a:off x="622048" y="1355957"/>
            <a:ext cx="7853614" cy="461665"/>
          </a:xfrm>
          <a:prstGeom prst="rect">
            <a:avLst/>
          </a:prstGeom>
          <a:noFill/>
        </p:spPr>
        <p:txBody>
          <a:bodyPr wrap="square">
            <a:spAutoFit/>
          </a:bodyPr>
          <a:lstStyle/>
          <a:p>
            <a:pPr algn="l"/>
            <a:r>
              <a:rPr lang="zh-CN" altLang="en-US" b="1" i="0" dirty="0">
                <a:solidFill>
                  <a:srgbClr val="121212"/>
                </a:solidFill>
                <a:effectLst/>
                <a:latin typeface="KaiTi" panose="02010609060101010101" pitchFamily="49" charset="-122"/>
                <a:ea typeface="KaiTi" panose="02010609060101010101" pitchFamily="49" charset="-122"/>
              </a:rPr>
              <a:t>直方图算法</a:t>
            </a:r>
            <a:endParaRPr lang="zh-CN" altLang="en-US"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C1306D84-E293-4F03-A263-654737C10B06}"/>
                  </a:ext>
                </a:extLst>
              </p:cNvPr>
              <p:cNvSpPr txBox="1"/>
              <p:nvPr/>
            </p:nvSpPr>
            <p:spPr>
              <a:xfrm>
                <a:off x="622047" y="1795746"/>
                <a:ext cx="9834937" cy="1689052"/>
              </a:xfrm>
              <a:prstGeom prst="rect">
                <a:avLst/>
              </a:prstGeom>
              <a:noFill/>
            </p:spPr>
            <p:txBody>
              <a:bodyPr wrap="square">
                <a:spAutoFit/>
              </a:bodyPr>
              <a:lstStyle/>
              <a:p>
                <a:pPr algn="just">
                  <a:lnSpc>
                    <a:spcPct val="150000"/>
                  </a:lnSpc>
                </a:pPr>
                <a:r>
                  <a:rPr lang="zh-CN" altLang="zh-CN" sz="2400" kern="100" dirty="0">
                    <a:effectLst/>
                    <a:latin typeface="KaiTi" panose="02010609060101010101" pitchFamily="49" charset="-122"/>
                    <a:ea typeface="KaiTi" panose="02010609060101010101" pitchFamily="49" charset="-122"/>
                  </a:rPr>
                  <a:t>直方图算法的基本思想是将连续的特征离散化为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zh-CN" altLang="zh-CN" sz="2400" kern="100" dirty="0">
                    <a:effectLst/>
                    <a:latin typeface="KaiTi" panose="02010609060101010101" pitchFamily="49" charset="-122"/>
                    <a:ea typeface="KaiTi" panose="02010609060101010101" pitchFamily="49" charset="-122"/>
                  </a:rPr>
                  <a:t>个离散特征，同时构造一个宽度为</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zh-CN" altLang="zh-CN" sz="2400" kern="100" dirty="0">
                    <a:effectLst/>
                    <a:latin typeface="KaiTi" panose="02010609060101010101" pitchFamily="49" charset="-122"/>
                    <a:ea typeface="KaiTi" panose="02010609060101010101" pitchFamily="49" charset="-122"/>
                  </a:rPr>
                  <a:t>的直方图用于统计信息（含有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个</a:t>
                </a:r>
                <a:r>
                  <a:rPr lang="en-US" altLang="zh-CN" sz="2400" kern="100" dirty="0">
                    <a:effectLst/>
                    <a:latin typeface="KaiTi" panose="02010609060101010101" pitchFamily="49" charset="-122"/>
                    <a:ea typeface="KaiTi" panose="02010609060101010101" pitchFamily="49" charset="-122"/>
                  </a:rPr>
                  <a:t> bin</a:t>
                </a:r>
                <a:r>
                  <a:rPr lang="zh-CN" altLang="zh-CN" sz="2400" kern="100" dirty="0">
                    <a:effectLst/>
                    <a:latin typeface="KaiTi" panose="02010609060101010101" pitchFamily="49" charset="-122"/>
                    <a:ea typeface="KaiTi" panose="02010609060101010101" pitchFamily="49" charset="-122"/>
                  </a:rPr>
                  <a:t>）。利用直方图算法我们无需遍历数据，只需要遍历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𝑘</m:t>
                    </m:r>
                  </m:oMath>
                </a14:m>
                <a:r>
                  <a:rPr lang="en-US" altLang="zh-CN" sz="2400" kern="100" dirty="0">
                    <a:effectLst/>
                    <a:latin typeface="KaiTi" panose="02010609060101010101" pitchFamily="49" charset="-122"/>
                    <a:ea typeface="KaiTi" panose="02010609060101010101" pitchFamily="49" charset="-122"/>
                  </a:rPr>
                  <a:t> </a:t>
                </a:r>
                <a:r>
                  <a:rPr lang="zh-CN" altLang="zh-CN" sz="2400" kern="100" dirty="0">
                    <a:effectLst/>
                    <a:latin typeface="KaiTi" panose="02010609060101010101" pitchFamily="49" charset="-122"/>
                    <a:ea typeface="KaiTi" panose="02010609060101010101" pitchFamily="49" charset="-122"/>
                  </a:rPr>
                  <a:t>个</a:t>
                </a:r>
                <a:r>
                  <a:rPr lang="en-US" altLang="zh-CN" sz="2400" kern="100" dirty="0">
                    <a:effectLst/>
                    <a:latin typeface="KaiTi" panose="02010609060101010101" pitchFamily="49" charset="-122"/>
                    <a:ea typeface="KaiTi" panose="02010609060101010101" pitchFamily="49" charset="-122"/>
                  </a:rPr>
                  <a:t> bin </a:t>
                </a:r>
                <a:r>
                  <a:rPr lang="zh-CN" altLang="zh-CN" sz="2400" kern="100" dirty="0">
                    <a:effectLst/>
                    <a:latin typeface="KaiTi" panose="02010609060101010101" pitchFamily="49" charset="-122"/>
                    <a:ea typeface="KaiTi" panose="02010609060101010101" pitchFamily="49" charset="-122"/>
                  </a:rPr>
                  <a:t>即可找到最佳分裂点。</a:t>
                </a:r>
              </a:p>
            </p:txBody>
          </p:sp>
        </mc:Choice>
        <mc:Fallback xmlns="">
          <p:sp>
            <p:nvSpPr>
              <p:cNvPr id="70" name="文本框 69">
                <a:extLst>
                  <a:ext uri="{FF2B5EF4-FFF2-40B4-BE49-F238E27FC236}">
                    <a16:creationId xmlns:a16="http://schemas.microsoft.com/office/drawing/2014/main" id="{C1306D84-E293-4F03-A263-654737C10B06}"/>
                  </a:ext>
                </a:extLst>
              </p:cNvPr>
              <p:cNvSpPr txBox="1">
                <a:spLocks noRot="1" noChangeAspect="1" noMove="1" noResize="1" noEditPoints="1" noAdjustHandles="1" noChangeArrowheads="1" noChangeShapeType="1" noTextEdit="1"/>
              </p:cNvSpPr>
              <p:nvPr/>
            </p:nvSpPr>
            <p:spPr>
              <a:xfrm>
                <a:off x="622047" y="1795746"/>
                <a:ext cx="9834937" cy="1689052"/>
              </a:xfrm>
              <a:prstGeom prst="rect">
                <a:avLst/>
              </a:prstGeom>
              <a:blipFill>
                <a:blip r:embed="rId3"/>
                <a:stretch>
                  <a:fillRect l="-930" r="-992" b="-6137"/>
                </a:stretch>
              </a:blipFill>
            </p:spPr>
            <p:txBody>
              <a:bodyPr/>
              <a:lstStyle/>
              <a:p>
                <a:r>
                  <a:rPr lang="ko-KR" altLang="en-US">
                    <a:noFill/>
                  </a:rPr>
                  <a:t> </a:t>
                </a:r>
              </a:p>
            </p:txBody>
          </p:sp>
        </mc:Fallback>
      </mc:AlternateContent>
      <p:pic>
        <p:nvPicPr>
          <p:cNvPr id="3" name="图片 2">
            <a:extLst>
              <a:ext uri="{FF2B5EF4-FFF2-40B4-BE49-F238E27FC236}">
                <a16:creationId xmlns:a16="http://schemas.microsoft.com/office/drawing/2014/main" id="{A5289028-EE34-4A6D-9D48-0F9F6E830B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2385" y="3521130"/>
            <a:ext cx="6850082" cy="3148333"/>
          </a:xfrm>
          <a:prstGeom prst="rect">
            <a:avLst/>
          </a:prstGeom>
        </p:spPr>
      </p:pic>
    </p:spTree>
    <p:extLst>
      <p:ext uri="{BB962C8B-B14F-4D97-AF65-F5344CB8AC3E}">
        <p14:creationId xmlns:p14="http://schemas.microsoft.com/office/powerpoint/2010/main" val="551376485"/>
      </p:ext>
    </p:extLst>
  </p:cSld>
  <p:clrMapOvr>
    <a:masterClrMapping/>
  </p:clrMapOvr>
  <p:transition advTm="8005"/>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a:t>
            </a:r>
            <a:r>
              <a:rPr lang="zh-CN" altLang="en-US" dirty="0">
                <a:solidFill>
                  <a:schemeClr val="tx1"/>
                </a:solidFill>
                <a:latin typeface="KaiTi" panose="02010609060101010101" pitchFamily="49" charset="-122"/>
                <a:ea typeface="KaiTi" panose="02010609060101010101" pitchFamily="49" charset="-122"/>
              </a:rPr>
              <a:t>直方图算法</a:t>
            </a:r>
          </a:p>
        </p:txBody>
      </p:sp>
      <p:sp>
        <p:nvSpPr>
          <p:cNvPr id="3" name="Rectangle 1">
            <a:extLst>
              <a:ext uri="{FF2B5EF4-FFF2-40B4-BE49-F238E27FC236}">
                <a16:creationId xmlns:a16="http://schemas.microsoft.com/office/drawing/2014/main" id="{9B7F1399-DB4D-4DCD-B4F1-4E32F6C3AA5F}"/>
              </a:ext>
            </a:extLst>
          </p:cNvPr>
          <p:cNvSpPr>
            <a:spLocks noChangeArrowheads="1"/>
          </p:cNvSpPr>
          <p:nvPr/>
        </p:nvSpPr>
        <p:spPr bwMode="auto">
          <a:xfrm>
            <a:off x="1871662" y="221207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KaiTi" panose="02010609060101010101" pitchFamily="49" charset="-122"/>
                <a:ea typeface="KaiTi" panose="02010609060101010101" pitchFamily="49" charset="-122"/>
              </a:rPr>
            </a:br>
            <a:endParaRPr kumimoji="0" lang="zh-CN" altLang="zh-CN" sz="1800" b="0" i="0" u="none" strike="noStrike" cap="none" normalizeH="0" baseline="0">
              <a:ln>
                <a:noFill/>
              </a:ln>
              <a:solidFill>
                <a:schemeClr val="tx1"/>
              </a:solidFill>
              <a:effectLst/>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C87A997B-91F1-48BB-B55E-6FEA34FE3E3D}"/>
                  </a:ext>
                </a:extLst>
              </p:cNvPr>
              <p:cNvGraphicFramePr>
                <a:graphicFrameLocks noGrp="1"/>
              </p:cNvGraphicFramePr>
              <p:nvPr>
                <p:extLst>
                  <p:ext uri="{D42A27DB-BD31-4B8C-83A1-F6EECF244321}">
                    <p14:modId xmlns:p14="http://schemas.microsoft.com/office/powerpoint/2010/main" val="1372273244"/>
                  </p:ext>
                </p:extLst>
              </p:nvPr>
            </p:nvGraphicFramePr>
            <p:xfrm>
              <a:off x="2119314" y="1294922"/>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pPr algn="just"/>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𝑖</m:t>
                                </m:r>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𝑥</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Choice>
        <mc:Fallback xmlns="">
          <p:graphicFrame>
            <p:nvGraphicFramePr>
              <p:cNvPr id="10" name="表格 9">
                <a:extLst>
                  <a:ext uri="{FF2B5EF4-FFF2-40B4-BE49-F238E27FC236}">
                    <a16:creationId xmlns:a16="http://schemas.microsoft.com/office/drawing/2014/main" id="{C87A997B-91F1-48BB-B55E-6FEA34FE3E3D}"/>
                  </a:ext>
                </a:extLst>
              </p:cNvPr>
              <p:cNvGraphicFramePr>
                <a:graphicFrameLocks noGrp="1"/>
              </p:cNvGraphicFramePr>
              <p:nvPr>
                <p:extLst>
                  <p:ext uri="{D42A27DB-BD31-4B8C-83A1-F6EECF244321}">
                    <p14:modId xmlns:p14="http://schemas.microsoft.com/office/powerpoint/2010/main" val="1372273244"/>
                  </p:ext>
                </p:extLst>
              </p:nvPr>
            </p:nvGraphicFramePr>
            <p:xfrm>
              <a:off x="2119314" y="1294922"/>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endParaRPr lang="ko-KR"/>
                        </a:p>
                      </a:txBody>
                      <a:tcPr anchor="ctr">
                        <a:blipFill>
                          <a:blip r:embed="rId3"/>
                          <a:stretch>
                            <a:fillRect l="-1149" t="-1639" r="-1018391" b="-313115"/>
                          </a:stretch>
                        </a:blip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endParaRPr lang="ko-KR"/>
                        </a:p>
                      </a:txBody>
                      <a:tcPr anchor="ctr">
                        <a:blipFill>
                          <a:blip r:embed="rId3"/>
                          <a:stretch>
                            <a:fillRect l="-1149" t="-103333" r="-1018391" b="-218333"/>
                          </a:stretch>
                        </a:blipFill>
                      </a:tcPr>
                    </a:tc>
                    <a:tc>
                      <a:txBody>
                        <a:bodyPr/>
                        <a:lstStyle/>
                        <a:p>
                          <a:pPr algn="ctr"/>
                          <a:r>
                            <a:rPr lang="en-US" sz="1600" kern="100">
                              <a:effectLst/>
                            </a:rPr>
                            <a:t>0.1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endParaRPr lang="ko-KR"/>
                        </a:p>
                      </a:txBody>
                      <a:tcPr anchor="ctr">
                        <a:blipFill>
                          <a:blip r:embed="rId3"/>
                          <a:stretch>
                            <a:fillRect l="-1149" t="-200000" r="-1018391" b="-114754"/>
                          </a:stretch>
                        </a:blipFill>
                      </a:tcP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endParaRPr lang="ko-KR"/>
                        </a:p>
                      </a:txBody>
                      <a:tcPr anchor="ctr">
                        <a:blipFill>
                          <a:blip r:embed="rId3"/>
                          <a:stretch>
                            <a:fillRect l="-1149" t="-305000" r="-1018391" b="-16667"/>
                          </a:stretch>
                        </a:blipFill>
                      </a:tcP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Fallback>
      </mc:AlternateContent>
      <p:sp>
        <p:nvSpPr>
          <p:cNvPr id="13" name="文本框 12">
            <a:extLst>
              <a:ext uri="{FF2B5EF4-FFF2-40B4-BE49-F238E27FC236}">
                <a16:creationId xmlns:a16="http://schemas.microsoft.com/office/drawing/2014/main" id="{3679B423-AD35-40FE-91C6-307F2FEAEBE5}"/>
              </a:ext>
            </a:extLst>
          </p:cNvPr>
          <p:cNvSpPr txBox="1"/>
          <p:nvPr/>
        </p:nvSpPr>
        <p:spPr>
          <a:xfrm>
            <a:off x="1222124" y="1360190"/>
            <a:ext cx="897190"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样本序号</a:t>
            </a:r>
          </a:p>
        </p:txBody>
      </p:sp>
      <p:sp>
        <p:nvSpPr>
          <p:cNvPr id="15" name="文本框 14">
            <a:extLst>
              <a:ext uri="{FF2B5EF4-FFF2-40B4-BE49-F238E27FC236}">
                <a16:creationId xmlns:a16="http://schemas.microsoft.com/office/drawing/2014/main" id="{6D214300-3342-4BA2-9A08-691EB8582A13}"/>
              </a:ext>
            </a:extLst>
          </p:cNvPr>
          <p:cNvSpPr txBox="1"/>
          <p:nvPr/>
        </p:nvSpPr>
        <p:spPr>
          <a:xfrm>
            <a:off x="765574" y="1698254"/>
            <a:ext cx="2425302"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样本的特征取值</a:t>
            </a:r>
          </a:p>
        </p:txBody>
      </p:sp>
      <p:sp>
        <p:nvSpPr>
          <p:cNvPr id="17" name="文本框 16">
            <a:extLst>
              <a:ext uri="{FF2B5EF4-FFF2-40B4-BE49-F238E27FC236}">
                <a16:creationId xmlns:a16="http://schemas.microsoft.com/office/drawing/2014/main" id="{609918ED-B905-4568-A02E-70725B64537C}"/>
              </a:ext>
            </a:extLst>
          </p:cNvPr>
          <p:cNvSpPr txBox="1"/>
          <p:nvPr/>
        </p:nvSpPr>
        <p:spPr>
          <a:xfrm>
            <a:off x="932261" y="2074467"/>
            <a:ext cx="2258615"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样本的一阶导</a:t>
            </a:r>
          </a:p>
        </p:txBody>
      </p:sp>
      <p:sp>
        <p:nvSpPr>
          <p:cNvPr id="19" name="文本框 18">
            <a:extLst>
              <a:ext uri="{FF2B5EF4-FFF2-40B4-BE49-F238E27FC236}">
                <a16:creationId xmlns:a16="http://schemas.microsoft.com/office/drawing/2014/main" id="{C78C5946-FC99-4B24-BF4E-18ADC7D35A19}"/>
              </a:ext>
            </a:extLst>
          </p:cNvPr>
          <p:cNvSpPr txBox="1"/>
          <p:nvPr/>
        </p:nvSpPr>
        <p:spPr>
          <a:xfrm>
            <a:off x="932261" y="2412531"/>
            <a:ext cx="2063352" cy="276999"/>
          </a:xfrm>
          <a:prstGeom prst="rect">
            <a:avLst/>
          </a:prstGeom>
          <a:noFill/>
        </p:spPr>
        <p:txBody>
          <a:bodyPr wrap="square">
            <a:spAutoFit/>
          </a:bodyPr>
          <a:lstStyle/>
          <a:p>
            <a:r>
              <a:rPr lang="zh-CN" altLang="en-US" sz="1200" dirty="0">
                <a:latin typeface="KaiTi" panose="02010609060101010101" pitchFamily="49" charset="-122"/>
                <a:ea typeface="KaiTi" panose="02010609060101010101" pitchFamily="49" charset="-122"/>
              </a:rPr>
              <a:t>样本的二阶导</a:t>
            </a:r>
          </a:p>
        </p:txBody>
      </p:sp>
      <mc:AlternateContent xmlns:mc="http://schemas.openxmlformats.org/markup-compatibility/2006" xmlns:a14="http://schemas.microsoft.com/office/drawing/2010/main">
        <mc:Choice Requires="a14">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132015208"/>
                  </p:ext>
                </p:extLst>
              </p:nvPr>
            </p:nvGraphicFramePr>
            <p:xfrm>
              <a:off x="2119313" y="3236355"/>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pPr algn="just"/>
                          <a14:m>
                            <m:oMathPara xmlns:m="http://schemas.openxmlformats.org/officeDocument/2006/math">
                              <m:oMathParaPr>
                                <m:jc m:val="centerGroup"/>
                              </m:oMathParaPr>
                              <m:oMath xmlns:m="http://schemas.openxmlformats.org/officeDocument/2006/math">
                                <m:r>
                                  <a:rPr lang="en-US" sz="1600" kern="100">
                                    <a:effectLst/>
                                    <a:latin typeface="Cambria Math" panose="02040503050406030204" pitchFamily="18" charset="0"/>
                                  </a:rPr>
                                  <m:t>𝑖</m:t>
                                </m:r>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𝑥</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Choice>
        <mc:Fallback xmlns="">
          <p:graphicFrame>
            <p:nvGraphicFramePr>
              <p:cNvPr id="20" name="表格 19">
                <a:extLst>
                  <a:ext uri="{FF2B5EF4-FFF2-40B4-BE49-F238E27FC236}">
                    <a16:creationId xmlns:a16="http://schemas.microsoft.com/office/drawing/2014/main" id="{BD34356E-EAF8-4F51-BF90-48E2DA90E938}"/>
                  </a:ext>
                </a:extLst>
              </p:cNvPr>
              <p:cNvGraphicFramePr>
                <a:graphicFrameLocks noGrp="1"/>
              </p:cNvGraphicFramePr>
              <p:nvPr>
                <p:extLst>
                  <p:ext uri="{D42A27DB-BD31-4B8C-83A1-F6EECF244321}">
                    <p14:modId xmlns:p14="http://schemas.microsoft.com/office/powerpoint/2010/main" val="132015208"/>
                  </p:ext>
                </p:extLst>
              </p:nvPr>
            </p:nvGraphicFramePr>
            <p:xfrm>
              <a:off x="2119313" y="3236355"/>
              <a:ext cx="5908989" cy="1468916"/>
            </p:xfrm>
            <a:graphic>
              <a:graphicData uri="http://schemas.openxmlformats.org/drawingml/2006/table">
                <a:tbl>
                  <a:tblPr>
                    <a:tableStyleId>{16D9F66E-5EB9-4882-86FB-DCBF35E3C3E4}</a:tableStyleId>
                  </a:tblPr>
                  <a:tblGrid>
                    <a:gridCol w="530992">
                      <a:extLst>
                        <a:ext uri="{9D8B030D-6E8A-4147-A177-3AD203B41FA5}">
                          <a16:colId xmlns:a16="http://schemas.microsoft.com/office/drawing/2014/main" val="1249735316"/>
                        </a:ext>
                      </a:extLst>
                    </a:gridCol>
                    <a:gridCol w="672160">
                      <a:extLst>
                        <a:ext uri="{9D8B030D-6E8A-4147-A177-3AD203B41FA5}">
                          <a16:colId xmlns:a16="http://schemas.microsoft.com/office/drawing/2014/main" val="1599078345"/>
                        </a:ext>
                      </a:extLst>
                    </a:gridCol>
                    <a:gridCol w="672160">
                      <a:extLst>
                        <a:ext uri="{9D8B030D-6E8A-4147-A177-3AD203B41FA5}">
                          <a16:colId xmlns:a16="http://schemas.microsoft.com/office/drawing/2014/main" val="1421292375"/>
                        </a:ext>
                      </a:extLst>
                    </a:gridCol>
                    <a:gridCol w="672160">
                      <a:extLst>
                        <a:ext uri="{9D8B030D-6E8A-4147-A177-3AD203B41FA5}">
                          <a16:colId xmlns:a16="http://schemas.microsoft.com/office/drawing/2014/main" val="823422371"/>
                        </a:ext>
                      </a:extLst>
                    </a:gridCol>
                    <a:gridCol w="672160">
                      <a:extLst>
                        <a:ext uri="{9D8B030D-6E8A-4147-A177-3AD203B41FA5}">
                          <a16:colId xmlns:a16="http://schemas.microsoft.com/office/drawing/2014/main" val="2480129256"/>
                        </a:ext>
                      </a:extLst>
                    </a:gridCol>
                    <a:gridCol w="672160">
                      <a:extLst>
                        <a:ext uri="{9D8B030D-6E8A-4147-A177-3AD203B41FA5}">
                          <a16:colId xmlns:a16="http://schemas.microsoft.com/office/drawing/2014/main" val="1831886132"/>
                        </a:ext>
                      </a:extLst>
                    </a:gridCol>
                    <a:gridCol w="672160">
                      <a:extLst>
                        <a:ext uri="{9D8B030D-6E8A-4147-A177-3AD203B41FA5}">
                          <a16:colId xmlns:a16="http://schemas.microsoft.com/office/drawing/2014/main" val="1113351770"/>
                        </a:ext>
                      </a:extLst>
                    </a:gridCol>
                    <a:gridCol w="672160">
                      <a:extLst>
                        <a:ext uri="{9D8B030D-6E8A-4147-A177-3AD203B41FA5}">
                          <a16:colId xmlns:a16="http://schemas.microsoft.com/office/drawing/2014/main" val="3932908683"/>
                        </a:ext>
                      </a:extLst>
                    </a:gridCol>
                    <a:gridCol w="672877">
                      <a:extLst>
                        <a:ext uri="{9D8B030D-6E8A-4147-A177-3AD203B41FA5}">
                          <a16:colId xmlns:a16="http://schemas.microsoft.com/office/drawing/2014/main" val="3512341128"/>
                        </a:ext>
                      </a:extLst>
                    </a:gridCol>
                  </a:tblGrid>
                  <a:tr h="367229">
                    <a:tc>
                      <a:txBody>
                        <a:bodyPr/>
                        <a:lstStyle/>
                        <a:p>
                          <a:endParaRPr lang="ko-KR"/>
                        </a:p>
                      </a:txBody>
                      <a:tcPr anchor="ctr">
                        <a:blipFill>
                          <a:blip r:embed="rId4"/>
                          <a:stretch>
                            <a:fillRect l="-1149" t="-1639" r="-1018391" b="-313115"/>
                          </a:stretch>
                        </a:blipFill>
                      </a:tcPr>
                    </a:tc>
                    <a:tc>
                      <a:txBody>
                        <a:bodyPr/>
                        <a:lstStyle/>
                        <a:p>
                          <a:pPr algn="ctr"/>
                          <a:r>
                            <a:rPr lang="en-US" sz="1600" kern="100" dirty="0">
                              <a:effectLst/>
                            </a:rPr>
                            <a:t>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solidFill>
                          <a:srgbClr val="A3D6D9"/>
                        </a:solidFill>
                      </a:tcPr>
                    </a:tc>
                    <a:tc>
                      <a:txBody>
                        <a:bodyPr/>
                        <a:lstStyle/>
                        <a:p>
                          <a:pPr algn="ctr"/>
                          <a:r>
                            <a:rPr lang="en-US" sz="1600" kern="100" dirty="0">
                              <a:effectLst/>
                            </a:rPr>
                            <a:t>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1705634783"/>
                      </a:ext>
                    </a:extLst>
                  </a:tr>
                  <a:tr h="367229">
                    <a:tc>
                      <a:txBody>
                        <a:bodyPr/>
                        <a:lstStyle/>
                        <a:p>
                          <a:endParaRPr lang="ko-KR"/>
                        </a:p>
                      </a:txBody>
                      <a:tcPr anchor="ctr">
                        <a:blipFill>
                          <a:blip r:embed="rId4"/>
                          <a:stretch>
                            <a:fillRect l="-1149" t="-103333" r="-1018391" b="-218333"/>
                          </a:stretch>
                        </a:blipFill>
                      </a:tcP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2.5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3.0</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3.0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4.5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5.0</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2954762"/>
                      </a:ext>
                    </a:extLst>
                  </a:tr>
                  <a:tr h="367229">
                    <a:tc>
                      <a:txBody>
                        <a:bodyPr/>
                        <a:lstStyle/>
                        <a:p>
                          <a:endParaRPr lang="ko-KR"/>
                        </a:p>
                      </a:txBody>
                      <a:tcPr anchor="ctr">
                        <a:blipFill>
                          <a:blip r:embed="rId4"/>
                          <a:stretch>
                            <a:fillRect l="-1149" t="-200000" r="-1018391" b="-114754"/>
                          </a:stretch>
                        </a:blipFill>
                      </a:tcPr>
                    </a:tc>
                    <a:tc>
                      <a:txBody>
                        <a:bodyPr/>
                        <a:lstStyle/>
                        <a:p>
                          <a:pPr algn="ctr"/>
                          <a:r>
                            <a:rPr lang="en-US" sz="1600" kern="100" dirty="0">
                              <a:effectLst/>
                            </a:rPr>
                            <a:t>0.01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3412011"/>
                      </a:ext>
                    </a:extLst>
                  </a:tr>
                  <a:tr h="367229">
                    <a:tc>
                      <a:txBody>
                        <a:bodyPr/>
                        <a:lstStyle/>
                        <a:p>
                          <a:endParaRPr lang="ko-KR"/>
                        </a:p>
                      </a:txBody>
                      <a:tcPr anchor="ctr">
                        <a:blipFill>
                          <a:blip r:embed="rId4"/>
                          <a:stretch>
                            <a:fillRect l="-1149" t="-305000" r="-1018391" b="-16667"/>
                          </a:stretch>
                        </a:blipFill>
                      </a:tcPr>
                    </a:tc>
                    <a:tc>
                      <a:txBody>
                        <a:bodyPr/>
                        <a:lstStyle/>
                        <a:p>
                          <a:pPr algn="ctr"/>
                          <a:r>
                            <a:rPr lang="en-US" sz="16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0.05</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a:effectLst/>
                            </a:rPr>
                            <a:t>0.02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dirty="0">
                              <a:effectLst/>
                            </a:rPr>
                            <a:t>0.02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9525" marR="9525" marT="9525" marB="0" anchor="ctr"/>
                    </a:tc>
                    <a:tc>
                      <a:txBody>
                        <a:bodyPr/>
                        <a:lstStyle/>
                        <a:p>
                          <a:pPr algn="ctr"/>
                          <a:r>
                            <a:rPr lang="en-US" sz="1600" kern="100">
                              <a:effectLst/>
                            </a:rPr>
                            <a:t>0.03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18859720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444519108"/>
                  </p:ext>
                </p:extLst>
              </p:nvPr>
            </p:nvGraphicFramePr>
            <p:xfrm>
              <a:off x="3833812" y="5097462"/>
              <a:ext cx="2547472" cy="1468916"/>
            </p:xfrm>
            <a:graphic>
              <a:graphicData uri="http://schemas.openxmlformats.org/drawingml/2006/table">
                <a:tbl>
                  <a:tblPr>
                    <a:tableStyleId>{16D9F66E-5EB9-4882-86FB-DCBF35E3C3E4}</a:tableStyleId>
                  </a:tblPr>
                  <a:tblGrid>
                    <a:gridCol w="561976">
                      <a:extLst>
                        <a:ext uri="{9D8B030D-6E8A-4147-A177-3AD203B41FA5}">
                          <a16:colId xmlns:a16="http://schemas.microsoft.com/office/drawing/2014/main" val="1357968393"/>
                        </a:ext>
                      </a:extLst>
                    </a:gridCol>
                    <a:gridCol w="641176">
                      <a:extLst>
                        <a:ext uri="{9D8B030D-6E8A-4147-A177-3AD203B41FA5}">
                          <a16:colId xmlns:a16="http://schemas.microsoft.com/office/drawing/2014/main" val="2558101461"/>
                        </a:ext>
                      </a:extLst>
                    </a:gridCol>
                    <a:gridCol w="672160">
                      <a:extLst>
                        <a:ext uri="{9D8B030D-6E8A-4147-A177-3AD203B41FA5}">
                          <a16:colId xmlns:a16="http://schemas.microsoft.com/office/drawing/2014/main" val="3761778169"/>
                        </a:ext>
                      </a:extLst>
                    </a:gridCol>
                    <a:gridCol w="672160">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b="0" i="1" kern="100" dirty="0" smtClean="0">
                                        <a:effectLst/>
                                        <a:latin typeface="Cambria Math" panose="02040503050406030204" pitchFamily="18" charset="0"/>
                                      </a:rPr>
                                    </m:ctrlPr>
                                  </m:sSubPr>
                                  <m:e>
                                    <m:r>
                                      <a:rPr lang="en-US" altLang="zh-CN" sz="1600" b="0" i="1" kern="100" dirty="0" smtClean="0">
                                        <a:effectLst/>
                                        <a:latin typeface="Cambria Math" panose="02040503050406030204" pitchFamily="18" charset="0"/>
                                      </a:rPr>
                                      <m:t>𝑁</m:t>
                                    </m:r>
                                  </m:e>
                                  <m:sub>
                                    <m:r>
                                      <a:rPr lang="en-US" altLang="zh-CN" sz="1600" i="1" kern="1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zh-CN" sz="1600" i="1" kern="100">
                                        <a:effectLst/>
                                        <a:latin typeface="Cambria Math" panose="02040503050406030204" pitchFamily="18" charset="0"/>
                                      </a:rPr>
                                    </m:ctrlPr>
                                  </m:sSubPr>
                                  <m:e>
                                    <m:r>
                                      <a:rPr lang="en-US" sz="1600" kern="100">
                                        <a:effectLst/>
                                        <a:latin typeface="Cambria Math" panose="02040503050406030204" pitchFamily="18" charset="0"/>
                                      </a:rPr>
                                      <m:t>𝑔</m:t>
                                    </m:r>
                                  </m:e>
                                  <m:sub>
                                    <m:r>
                                      <a:rPr lang="en-US" sz="1600" kern="100">
                                        <a:effectLst/>
                                        <a:latin typeface="Cambria Math" panose="02040503050406030204" pitchFamily="18" charset="0"/>
                                      </a:rPr>
                                      <m:t>𝑖</m:t>
                                    </m:r>
                                  </m:sub>
                                </m:sSub>
                              </m:oMath>
                            </m:oMathPara>
                          </a14:m>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0.79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pPr algn="just"/>
                          <a14:m>
                            <m:oMathPara xmlns:m="http://schemas.openxmlformats.org/officeDocument/2006/math">
                              <m:oMathParaPr>
                                <m:jc m:val="centerGroup"/>
                              </m:oMathParaPr>
                              <m:oMath xmlns:m="http://schemas.openxmlformats.org/officeDocument/2006/math">
                                <m:sSub>
                                  <m:sSubPr>
                                    <m:ctrlPr>
                                      <a:rPr lang="en-US" altLang="zh-CN" sz="1600" i="1" kern="1200" dirty="0" smtClean="0">
                                        <a:effectLst/>
                                        <a:latin typeface="Cambria Math" panose="02040503050406030204" pitchFamily="18" charset="0"/>
                                      </a:rPr>
                                    </m:ctrlPr>
                                  </m:sSubPr>
                                  <m:e>
                                    <m:r>
                                      <a:rPr lang="en-US" altLang="zh-CN" sz="1600" kern="1200" dirty="0" smtClean="0">
                                        <a:effectLst/>
                                        <a:latin typeface="Cambria Math" panose="02040503050406030204" pitchFamily="18" charset="0"/>
                                      </a:rPr>
                                      <m:t>h</m:t>
                                    </m:r>
                                  </m:e>
                                  <m:sub>
                                    <m:r>
                                      <a:rPr lang="en-US" altLang="zh-CN" sz="1600" kern="1200" dirty="0" smtClean="0">
                                        <a:effectLst/>
                                        <a:latin typeface="Cambria Math" panose="02040503050406030204" pitchFamily="18" charset="0"/>
                                      </a:rPr>
                                      <m:t>𝑖</m:t>
                                    </m:r>
                                  </m:sub>
                                </m:sSub>
                              </m:oMath>
                            </m:oMathPara>
                          </a14:m>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0.29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Choice>
        <mc:Fallback xmlns="">
          <p:graphicFrame>
            <p:nvGraphicFramePr>
              <p:cNvPr id="18" name="表格 17">
                <a:extLst>
                  <a:ext uri="{FF2B5EF4-FFF2-40B4-BE49-F238E27FC236}">
                    <a16:creationId xmlns:a16="http://schemas.microsoft.com/office/drawing/2014/main" id="{36E437C5-3C42-4822-861C-E5FEC2218D4C}"/>
                  </a:ext>
                </a:extLst>
              </p:cNvPr>
              <p:cNvGraphicFramePr>
                <a:graphicFrameLocks noGrp="1"/>
              </p:cNvGraphicFramePr>
              <p:nvPr>
                <p:extLst>
                  <p:ext uri="{D42A27DB-BD31-4B8C-83A1-F6EECF244321}">
                    <p14:modId xmlns:p14="http://schemas.microsoft.com/office/powerpoint/2010/main" val="444519108"/>
                  </p:ext>
                </p:extLst>
              </p:nvPr>
            </p:nvGraphicFramePr>
            <p:xfrm>
              <a:off x="3833812" y="5097462"/>
              <a:ext cx="2547472" cy="1468916"/>
            </p:xfrm>
            <a:graphic>
              <a:graphicData uri="http://schemas.openxmlformats.org/drawingml/2006/table">
                <a:tbl>
                  <a:tblPr>
                    <a:tableStyleId>{16D9F66E-5EB9-4882-86FB-DCBF35E3C3E4}</a:tableStyleId>
                  </a:tblPr>
                  <a:tblGrid>
                    <a:gridCol w="561976">
                      <a:extLst>
                        <a:ext uri="{9D8B030D-6E8A-4147-A177-3AD203B41FA5}">
                          <a16:colId xmlns:a16="http://schemas.microsoft.com/office/drawing/2014/main" val="1357968393"/>
                        </a:ext>
                      </a:extLst>
                    </a:gridCol>
                    <a:gridCol w="641176">
                      <a:extLst>
                        <a:ext uri="{9D8B030D-6E8A-4147-A177-3AD203B41FA5}">
                          <a16:colId xmlns:a16="http://schemas.microsoft.com/office/drawing/2014/main" val="2558101461"/>
                        </a:ext>
                      </a:extLst>
                    </a:gridCol>
                    <a:gridCol w="672160">
                      <a:extLst>
                        <a:ext uri="{9D8B030D-6E8A-4147-A177-3AD203B41FA5}">
                          <a16:colId xmlns:a16="http://schemas.microsoft.com/office/drawing/2014/main" val="3761778169"/>
                        </a:ext>
                      </a:extLst>
                    </a:gridCol>
                    <a:gridCol w="672160">
                      <a:extLst>
                        <a:ext uri="{9D8B030D-6E8A-4147-A177-3AD203B41FA5}">
                          <a16:colId xmlns:a16="http://schemas.microsoft.com/office/drawing/2014/main" val="3119682786"/>
                        </a:ext>
                      </a:extLst>
                    </a:gridCol>
                  </a:tblGrid>
                  <a:tr h="36722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kern="100" dirty="0" err="1">
                              <a:effectLst/>
                            </a:rPr>
                            <a:t>bini</a:t>
                          </a:r>
                          <a:endParaRPr lang="zh-CN" sz="1600" kern="100" dirty="0">
                            <a:solidFill>
                              <a:schemeClr val="dk1"/>
                            </a:solidFill>
                            <a:effectLst/>
                            <a:latin typeface="微软雅黑" panose="020B0503020204020204" pitchFamily="34" charset="-122"/>
                            <a:ea typeface="微软雅黑" panose="020B0503020204020204" pitchFamily="34" charset="-122"/>
                            <a:cs typeface="+mn-cs"/>
                          </a:endParaRPr>
                        </a:p>
                      </a:txBody>
                      <a:tcPr anchor="ctr">
                        <a:solidFill>
                          <a:srgbClr val="A3D6D9"/>
                        </a:solidFill>
                      </a:tcPr>
                    </a:tc>
                    <a:tc>
                      <a:txBody>
                        <a:bodyPr/>
                        <a:lstStyle/>
                        <a:p>
                          <a:pPr algn="ctr"/>
                          <a:r>
                            <a:rPr lang="en-US" sz="1600" kern="100" dirty="0">
                              <a:effectLst/>
                            </a:rPr>
                            <a:t>bin1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tc>
                      <a:txBody>
                        <a:bodyPr/>
                        <a:lstStyle/>
                        <a:p>
                          <a:pPr algn="ctr"/>
                          <a:r>
                            <a:rPr lang="en-US" sz="1600" kern="100" dirty="0">
                              <a:effectLst/>
                            </a:rPr>
                            <a:t>bin3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solidFill>
                          <a:srgbClr val="A3D6D9"/>
                        </a:solidFill>
                      </a:tcPr>
                    </a:tc>
                    <a:extLst>
                      <a:ext uri="{0D108BD9-81ED-4DB2-BD59-A6C34878D82A}">
                        <a16:rowId xmlns:a16="http://schemas.microsoft.com/office/drawing/2014/main" val="2134801552"/>
                      </a:ext>
                    </a:extLst>
                  </a:tr>
                  <a:tr h="367229">
                    <a:tc>
                      <a:txBody>
                        <a:bodyPr/>
                        <a:lstStyle/>
                        <a:p>
                          <a:endParaRPr lang="ko-KR"/>
                        </a:p>
                      </a:txBody>
                      <a:tcPr anchor="ctr">
                        <a:blipFill>
                          <a:blip r:embed="rId5"/>
                          <a:stretch>
                            <a:fillRect l="-1087" t="-103333" r="-357609" b="-216667"/>
                          </a:stretch>
                        </a:blipFill>
                      </a:tcP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3</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329710791"/>
                      </a:ext>
                    </a:extLst>
                  </a:tr>
                  <a:tr h="367229">
                    <a:tc>
                      <a:txBody>
                        <a:bodyPr/>
                        <a:lstStyle/>
                        <a:p>
                          <a:endParaRPr lang="ko-KR"/>
                        </a:p>
                      </a:txBody>
                      <a:tcPr anchor="ctr">
                        <a:blipFill>
                          <a:blip r:embed="rId5"/>
                          <a:stretch>
                            <a:fillRect l="-1087" t="-200000" r="-357609" b="-113115"/>
                          </a:stretch>
                        </a:blipFill>
                      </a:tcPr>
                    </a:tc>
                    <a:tc>
                      <a:txBody>
                        <a:bodyPr/>
                        <a:lstStyle/>
                        <a:p>
                          <a:pPr algn="ctr"/>
                          <a:r>
                            <a:rPr lang="en-US" sz="1600" kern="100" dirty="0">
                              <a:effectLst/>
                            </a:rPr>
                            <a:t>0.1</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0.79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0.67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070112340"/>
                      </a:ext>
                    </a:extLst>
                  </a:tr>
                  <a:tr h="367229">
                    <a:tc>
                      <a:txBody>
                        <a:bodyPr/>
                        <a:lstStyle/>
                        <a:p>
                          <a:endParaRPr lang="ko-KR"/>
                        </a:p>
                      </a:txBody>
                      <a:tcPr anchor="ctr">
                        <a:blipFill>
                          <a:blip r:embed="rId5"/>
                          <a:stretch>
                            <a:fillRect l="-1087" t="-305000" r="-357609" b="-15000"/>
                          </a:stretch>
                        </a:blipFill>
                      </a:tcPr>
                    </a:tc>
                    <a:tc>
                      <a:txBody>
                        <a:bodyPr/>
                        <a:lstStyle/>
                        <a:p>
                          <a:pPr algn="ctr"/>
                          <a:r>
                            <a:rPr lang="en-US" sz="1600" kern="100" dirty="0">
                              <a:effectLst/>
                            </a:rPr>
                            <a:t>0.29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0.12</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tc>
                      <a:txBody>
                        <a:bodyPr/>
                        <a:lstStyle/>
                        <a:p>
                          <a:pPr algn="ctr"/>
                          <a:r>
                            <a:rPr lang="en-US" sz="1600" kern="100" dirty="0">
                              <a:effectLst/>
                            </a:rPr>
                            <a:t>0.06</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70834516"/>
                      </a:ext>
                    </a:extLst>
                  </a:tr>
                </a:tbl>
              </a:graphicData>
            </a:graphic>
          </p:graphicFrame>
        </mc:Fallback>
      </mc:AlternateContent>
      <p:grpSp>
        <p:nvGrpSpPr>
          <p:cNvPr id="47" name="组合 46">
            <a:extLst>
              <a:ext uri="{FF2B5EF4-FFF2-40B4-BE49-F238E27FC236}">
                <a16:creationId xmlns:a16="http://schemas.microsoft.com/office/drawing/2014/main" id="{BA9B5ED9-C860-4E3E-8B65-113084EFECFF}"/>
              </a:ext>
            </a:extLst>
          </p:cNvPr>
          <p:cNvGrpSpPr/>
          <p:nvPr/>
        </p:nvGrpSpPr>
        <p:grpSpPr>
          <a:xfrm>
            <a:off x="6661149" y="3095222"/>
            <a:ext cx="1355788" cy="1762525"/>
            <a:chOff x="1225300" y="3451362"/>
            <a:chExt cx="2033838" cy="1468916"/>
          </a:xfrm>
        </p:grpSpPr>
        <p:cxnSp>
          <p:nvCxnSpPr>
            <p:cNvPr id="25" name="直接连接符 24">
              <a:extLst>
                <a:ext uri="{FF2B5EF4-FFF2-40B4-BE49-F238E27FC236}">
                  <a16:creationId xmlns:a16="http://schemas.microsoft.com/office/drawing/2014/main" id="{937BBFCA-40C8-4003-A6C3-BC8FE5C3FC7C}"/>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28" name="直接连接符 27">
              <a:extLst>
                <a:ext uri="{FF2B5EF4-FFF2-40B4-BE49-F238E27FC236}">
                  <a16:creationId xmlns:a16="http://schemas.microsoft.com/office/drawing/2014/main" id="{0389BBE7-2537-49DD-A252-AA32E774B2BB}"/>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34" name="直接连接符 33">
              <a:extLst>
                <a:ext uri="{FF2B5EF4-FFF2-40B4-BE49-F238E27FC236}">
                  <a16:creationId xmlns:a16="http://schemas.microsoft.com/office/drawing/2014/main" id="{66C6E147-95F4-4920-B701-C291465CEF61}"/>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37" name="直接连接符 36">
              <a:extLst>
                <a:ext uri="{FF2B5EF4-FFF2-40B4-BE49-F238E27FC236}">
                  <a16:creationId xmlns:a16="http://schemas.microsoft.com/office/drawing/2014/main" id="{44EBD9E2-6FB4-41A9-BD1D-20D1F73095A0}"/>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grpSp>
        <p:nvGrpSpPr>
          <p:cNvPr id="49" name="组合 48">
            <a:extLst>
              <a:ext uri="{FF2B5EF4-FFF2-40B4-BE49-F238E27FC236}">
                <a16:creationId xmlns:a16="http://schemas.microsoft.com/office/drawing/2014/main" id="{0CEC71A6-F4DD-4D3B-B8DF-CBC0822B37FE}"/>
              </a:ext>
            </a:extLst>
          </p:cNvPr>
          <p:cNvGrpSpPr/>
          <p:nvPr/>
        </p:nvGrpSpPr>
        <p:grpSpPr>
          <a:xfrm>
            <a:off x="4662739" y="3095222"/>
            <a:ext cx="1989135" cy="1762525"/>
            <a:chOff x="1225300" y="3451362"/>
            <a:chExt cx="2033838" cy="1468916"/>
          </a:xfrm>
        </p:grpSpPr>
        <p:cxnSp>
          <p:nvCxnSpPr>
            <p:cNvPr id="50" name="直接连接符 49">
              <a:extLst>
                <a:ext uri="{FF2B5EF4-FFF2-40B4-BE49-F238E27FC236}">
                  <a16:creationId xmlns:a16="http://schemas.microsoft.com/office/drawing/2014/main" id="{8C796BF2-3AE9-409A-B41D-3BA1ED9717CA}"/>
                </a:ext>
              </a:extLst>
            </p:cNvPr>
            <p:cNvCxnSpPr>
              <a:cxnSpLocks/>
            </p:cNvCxnSpPr>
            <p:nvPr/>
          </p:nvCxnSpPr>
          <p:spPr>
            <a:xfrm>
              <a:off x="1238000"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51" name="直接连接符 50">
              <a:extLst>
                <a:ext uri="{FF2B5EF4-FFF2-40B4-BE49-F238E27FC236}">
                  <a16:creationId xmlns:a16="http://schemas.microsoft.com/office/drawing/2014/main" id="{1149011E-5238-4B5C-BD04-DBAD92C9CEA9}"/>
                </a:ext>
              </a:extLst>
            </p:cNvPr>
            <p:cNvCxnSpPr>
              <a:cxnSpLocks/>
            </p:cNvCxnSpPr>
            <p:nvPr/>
          </p:nvCxnSpPr>
          <p:spPr>
            <a:xfrm>
              <a:off x="3247774"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52" name="直接连接符 51">
              <a:extLst>
                <a:ext uri="{FF2B5EF4-FFF2-40B4-BE49-F238E27FC236}">
                  <a16:creationId xmlns:a16="http://schemas.microsoft.com/office/drawing/2014/main" id="{6478BEF5-78A2-4681-B815-2B39408DE67E}"/>
                </a:ext>
              </a:extLst>
            </p:cNvPr>
            <p:cNvCxnSpPr>
              <a:cxnSpLocks/>
            </p:cNvCxnSpPr>
            <p:nvPr/>
          </p:nvCxnSpPr>
          <p:spPr>
            <a:xfrm>
              <a:off x="1225300" y="4920278"/>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53" name="直接连接符 52">
              <a:extLst>
                <a:ext uri="{FF2B5EF4-FFF2-40B4-BE49-F238E27FC236}">
                  <a16:creationId xmlns:a16="http://schemas.microsoft.com/office/drawing/2014/main" id="{00028E24-FBDC-442A-B342-EE77BA6EFA03}"/>
                </a:ext>
              </a:extLst>
            </p:cNvPr>
            <p:cNvCxnSpPr>
              <a:cxnSpLocks/>
            </p:cNvCxnSpPr>
            <p:nvPr/>
          </p:nvCxnSpPr>
          <p:spPr>
            <a:xfrm>
              <a:off x="1225300" y="3456261"/>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grpSp>
      <p:grpSp>
        <p:nvGrpSpPr>
          <p:cNvPr id="54" name="组合 53">
            <a:extLst>
              <a:ext uri="{FF2B5EF4-FFF2-40B4-BE49-F238E27FC236}">
                <a16:creationId xmlns:a16="http://schemas.microsoft.com/office/drawing/2014/main" id="{ABD18413-8453-4DBE-96E9-91C0DDE3448F}"/>
              </a:ext>
            </a:extLst>
          </p:cNvPr>
          <p:cNvGrpSpPr/>
          <p:nvPr/>
        </p:nvGrpSpPr>
        <p:grpSpPr>
          <a:xfrm>
            <a:off x="2628901" y="3095221"/>
            <a:ext cx="2033838" cy="1762525"/>
            <a:chOff x="1225300" y="3451362"/>
            <a:chExt cx="2033838" cy="1468916"/>
          </a:xfrm>
        </p:grpSpPr>
        <p:cxnSp>
          <p:nvCxnSpPr>
            <p:cNvPr id="55" name="直接连接符 54">
              <a:extLst>
                <a:ext uri="{FF2B5EF4-FFF2-40B4-BE49-F238E27FC236}">
                  <a16:creationId xmlns:a16="http://schemas.microsoft.com/office/drawing/2014/main" id="{A8770B31-4A27-4DB8-B661-21FC288A752A}"/>
                </a:ext>
              </a:extLst>
            </p:cNvPr>
            <p:cNvCxnSpPr>
              <a:cxnSpLocks/>
            </p:cNvCxnSpPr>
            <p:nvPr/>
          </p:nvCxnSpPr>
          <p:spPr>
            <a:xfrm>
              <a:off x="1238000"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56" name="直接连接符 55">
              <a:extLst>
                <a:ext uri="{FF2B5EF4-FFF2-40B4-BE49-F238E27FC236}">
                  <a16:creationId xmlns:a16="http://schemas.microsoft.com/office/drawing/2014/main" id="{358FE973-D61A-48E3-BBC3-A8172F1BD38F}"/>
                </a:ext>
              </a:extLst>
            </p:cNvPr>
            <p:cNvCxnSpPr>
              <a:cxnSpLocks/>
            </p:cNvCxnSpPr>
            <p:nvPr/>
          </p:nvCxnSpPr>
          <p:spPr>
            <a:xfrm>
              <a:off x="3247774"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57" name="直接连接符 56">
              <a:extLst>
                <a:ext uri="{FF2B5EF4-FFF2-40B4-BE49-F238E27FC236}">
                  <a16:creationId xmlns:a16="http://schemas.microsoft.com/office/drawing/2014/main" id="{5AEE2187-D7A1-413D-A636-ED9924B5EA57}"/>
                </a:ext>
              </a:extLst>
            </p:cNvPr>
            <p:cNvCxnSpPr>
              <a:cxnSpLocks/>
            </p:cNvCxnSpPr>
            <p:nvPr/>
          </p:nvCxnSpPr>
          <p:spPr>
            <a:xfrm>
              <a:off x="1225300" y="4920278"/>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58" name="直接连接符 57">
              <a:extLst>
                <a:ext uri="{FF2B5EF4-FFF2-40B4-BE49-F238E27FC236}">
                  <a16:creationId xmlns:a16="http://schemas.microsoft.com/office/drawing/2014/main" id="{188026DA-A3D4-4E7E-8C18-CF857634CF96}"/>
                </a:ext>
              </a:extLst>
            </p:cNvPr>
            <p:cNvCxnSpPr>
              <a:cxnSpLocks/>
            </p:cNvCxnSpPr>
            <p:nvPr/>
          </p:nvCxnSpPr>
          <p:spPr>
            <a:xfrm>
              <a:off x="1225300" y="3456261"/>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grpSp>
      <p:sp>
        <p:nvSpPr>
          <p:cNvPr id="59" name="文本框 58">
            <a:extLst>
              <a:ext uri="{FF2B5EF4-FFF2-40B4-BE49-F238E27FC236}">
                <a16:creationId xmlns:a16="http://schemas.microsoft.com/office/drawing/2014/main" id="{98EA32FC-8765-4213-B775-F17B556B2C8A}"/>
              </a:ext>
            </a:extLst>
          </p:cNvPr>
          <p:cNvSpPr txBox="1"/>
          <p:nvPr/>
        </p:nvSpPr>
        <p:spPr>
          <a:xfrm>
            <a:off x="3278825" y="2798053"/>
            <a:ext cx="733989" cy="338554"/>
          </a:xfrm>
          <a:prstGeom prst="rect">
            <a:avLst/>
          </a:prstGeom>
          <a:noFill/>
        </p:spPr>
        <p:txBody>
          <a:bodyPr wrap="square">
            <a:spAutoFit/>
          </a:bodyPr>
          <a:lstStyle/>
          <a:p>
            <a:r>
              <a:rPr lang="en-US" altLang="zh-CN" sz="1600" dirty="0">
                <a:latin typeface="KaiTi" panose="02010609060101010101" pitchFamily="49" charset="-122"/>
                <a:ea typeface="KaiTi" panose="02010609060101010101" pitchFamily="49" charset="-122"/>
              </a:rPr>
              <a:t>bin1</a:t>
            </a:r>
            <a:endParaRPr lang="zh-CN" altLang="en-US" sz="1600" dirty="0">
              <a:latin typeface="KaiTi" panose="02010609060101010101" pitchFamily="49" charset="-122"/>
              <a:ea typeface="KaiTi" panose="02010609060101010101" pitchFamily="49" charset="-122"/>
            </a:endParaRPr>
          </a:p>
        </p:txBody>
      </p:sp>
      <p:sp>
        <p:nvSpPr>
          <p:cNvPr id="60" name="文本框 59">
            <a:extLst>
              <a:ext uri="{FF2B5EF4-FFF2-40B4-BE49-F238E27FC236}">
                <a16:creationId xmlns:a16="http://schemas.microsoft.com/office/drawing/2014/main" id="{BB7DC42D-475C-48D8-AA0B-0F29124DE7A5}"/>
              </a:ext>
            </a:extLst>
          </p:cNvPr>
          <p:cNvSpPr txBox="1"/>
          <p:nvPr/>
        </p:nvSpPr>
        <p:spPr>
          <a:xfrm>
            <a:off x="5324888" y="2777944"/>
            <a:ext cx="733989" cy="338554"/>
          </a:xfrm>
          <a:prstGeom prst="rect">
            <a:avLst/>
          </a:prstGeom>
          <a:noFill/>
        </p:spPr>
        <p:txBody>
          <a:bodyPr wrap="square">
            <a:spAutoFit/>
          </a:bodyPr>
          <a:lstStyle/>
          <a:p>
            <a:r>
              <a:rPr lang="en-US" altLang="zh-CN" sz="1600" dirty="0">
                <a:latin typeface="KaiTi" panose="02010609060101010101" pitchFamily="49" charset="-122"/>
                <a:ea typeface="KaiTi" panose="02010609060101010101" pitchFamily="49" charset="-122"/>
              </a:rPr>
              <a:t>bin2</a:t>
            </a:r>
            <a:endParaRPr lang="zh-CN" altLang="en-US" sz="1600" dirty="0">
              <a:latin typeface="KaiTi" panose="02010609060101010101" pitchFamily="49" charset="-122"/>
              <a:ea typeface="KaiTi" panose="02010609060101010101" pitchFamily="49" charset="-122"/>
            </a:endParaRPr>
          </a:p>
        </p:txBody>
      </p:sp>
      <p:sp>
        <p:nvSpPr>
          <p:cNvPr id="61" name="文本框 60">
            <a:extLst>
              <a:ext uri="{FF2B5EF4-FFF2-40B4-BE49-F238E27FC236}">
                <a16:creationId xmlns:a16="http://schemas.microsoft.com/office/drawing/2014/main" id="{7766CABA-8EAE-46D7-9CBF-2249452CA9CC}"/>
              </a:ext>
            </a:extLst>
          </p:cNvPr>
          <p:cNvSpPr txBox="1"/>
          <p:nvPr/>
        </p:nvSpPr>
        <p:spPr>
          <a:xfrm>
            <a:off x="7020571" y="2769716"/>
            <a:ext cx="733989" cy="338554"/>
          </a:xfrm>
          <a:prstGeom prst="rect">
            <a:avLst/>
          </a:prstGeom>
          <a:noFill/>
        </p:spPr>
        <p:txBody>
          <a:bodyPr wrap="square">
            <a:spAutoFit/>
          </a:bodyPr>
          <a:lstStyle/>
          <a:p>
            <a:r>
              <a:rPr lang="en-US" altLang="zh-CN" sz="1600" dirty="0">
                <a:latin typeface="KaiTi" panose="02010609060101010101" pitchFamily="49" charset="-122"/>
                <a:ea typeface="KaiTi" panose="02010609060101010101" pitchFamily="49" charset="-122"/>
              </a:rPr>
              <a:t>bin3</a:t>
            </a:r>
            <a:endParaRPr lang="zh-CN" altLang="en-US" sz="1600" dirty="0">
              <a:latin typeface="KaiTi" panose="02010609060101010101" pitchFamily="49" charset="-122"/>
              <a:ea typeface="KaiTi" panose="02010609060101010101" pitchFamily="49" charset="-122"/>
            </a:endParaRPr>
          </a:p>
        </p:txBody>
      </p:sp>
      <p:sp>
        <p:nvSpPr>
          <p:cNvPr id="62" name="文本框 61">
            <a:extLst>
              <a:ext uri="{FF2B5EF4-FFF2-40B4-BE49-F238E27FC236}">
                <a16:creationId xmlns:a16="http://schemas.microsoft.com/office/drawing/2014/main" id="{3DA2DE30-E4ED-4844-AEE5-F9E85CC5F161}"/>
              </a:ext>
            </a:extLst>
          </p:cNvPr>
          <p:cNvSpPr txBox="1"/>
          <p:nvPr/>
        </p:nvSpPr>
        <p:spPr>
          <a:xfrm>
            <a:off x="3032144" y="5160792"/>
            <a:ext cx="897190" cy="276999"/>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序号</a:t>
            </a:r>
          </a:p>
        </p:txBody>
      </p:sp>
      <p:sp>
        <p:nvSpPr>
          <p:cNvPr id="63" name="文本框 62">
            <a:extLst>
              <a:ext uri="{FF2B5EF4-FFF2-40B4-BE49-F238E27FC236}">
                <a16:creationId xmlns:a16="http://schemas.microsoft.com/office/drawing/2014/main" id="{5900B22D-71FD-4BAE-8BEF-18D0DCA9DFC0}"/>
              </a:ext>
            </a:extLst>
          </p:cNvPr>
          <p:cNvSpPr txBox="1"/>
          <p:nvPr/>
        </p:nvSpPr>
        <p:spPr>
          <a:xfrm>
            <a:off x="2554488" y="5539006"/>
            <a:ext cx="2425302" cy="276999"/>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样本的之和</a:t>
            </a:r>
          </a:p>
        </p:txBody>
      </p:sp>
      <p:sp>
        <p:nvSpPr>
          <p:cNvPr id="64" name="文本框 63">
            <a:extLst>
              <a:ext uri="{FF2B5EF4-FFF2-40B4-BE49-F238E27FC236}">
                <a16:creationId xmlns:a16="http://schemas.microsoft.com/office/drawing/2014/main" id="{39A0CEED-CDA8-4051-9722-A46560B66E5B}"/>
              </a:ext>
            </a:extLst>
          </p:cNvPr>
          <p:cNvSpPr txBox="1"/>
          <p:nvPr/>
        </p:nvSpPr>
        <p:spPr>
          <a:xfrm>
            <a:off x="1670719" y="5900250"/>
            <a:ext cx="2258615" cy="276999"/>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内所有样本的一阶导之和</a:t>
            </a:r>
          </a:p>
        </p:txBody>
      </p:sp>
      <p:sp>
        <p:nvSpPr>
          <p:cNvPr id="66" name="文本框 65">
            <a:extLst>
              <a:ext uri="{FF2B5EF4-FFF2-40B4-BE49-F238E27FC236}">
                <a16:creationId xmlns:a16="http://schemas.microsoft.com/office/drawing/2014/main" id="{41DF4354-FCA9-4929-A69B-292193EE285F}"/>
              </a:ext>
            </a:extLst>
          </p:cNvPr>
          <p:cNvSpPr txBox="1"/>
          <p:nvPr/>
        </p:nvSpPr>
        <p:spPr>
          <a:xfrm>
            <a:off x="1670719" y="6278464"/>
            <a:ext cx="2258615" cy="276999"/>
          </a:xfrm>
          <a:prstGeom prst="rect">
            <a:avLst/>
          </a:prstGeom>
          <a:noFill/>
        </p:spPr>
        <p:txBody>
          <a:bodyPr wrap="square">
            <a:spAutoFit/>
          </a:bodyPr>
          <a:lstStyle/>
          <a:p>
            <a:r>
              <a:rPr lang="en-US" altLang="zh-CN" sz="1200" dirty="0">
                <a:latin typeface="KaiTi" panose="02010609060101010101" pitchFamily="49" charset="-122"/>
                <a:ea typeface="KaiTi" panose="02010609060101010101" pitchFamily="49" charset="-122"/>
              </a:rPr>
              <a:t>bin</a:t>
            </a:r>
            <a:r>
              <a:rPr lang="zh-CN" altLang="en-US" sz="1200" dirty="0">
                <a:latin typeface="KaiTi" panose="02010609060101010101" pitchFamily="49" charset="-122"/>
                <a:ea typeface="KaiTi" panose="02010609060101010101" pitchFamily="49" charset="-122"/>
              </a:rPr>
              <a:t>内所有样本的二阶导之和</a:t>
            </a:r>
          </a:p>
        </p:txBody>
      </p:sp>
      <p:sp>
        <p:nvSpPr>
          <p:cNvPr id="68" name="文本框 67">
            <a:extLst>
              <a:ext uri="{FF2B5EF4-FFF2-40B4-BE49-F238E27FC236}">
                <a16:creationId xmlns:a16="http://schemas.microsoft.com/office/drawing/2014/main" id="{89099CEF-FCE9-4568-8350-001CB14D5008}"/>
              </a:ext>
            </a:extLst>
          </p:cNvPr>
          <p:cNvSpPr txBox="1"/>
          <p:nvPr/>
        </p:nvSpPr>
        <p:spPr>
          <a:xfrm>
            <a:off x="6612263" y="6258601"/>
            <a:ext cx="3864227" cy="307777"/>
          </a:xfrm>
          <a:prstGeom prst="rect">
            <a:avLst/>
          </a:prstGeom>
          <a:noFill/>
        </p:spPr>
        <p:txBody>
          <a:bodyPr wrap="square">
            <a:spAutoFit/>
          </a:bodyPr>
          <a:lstStyle/>
          <a:p>
            <a:r>
              <a:rPr lang="zh-CN" altLang="en-US" sz="1400" dirty="0">
                <a:latin typeface="KaiTi" panose="02010609060101010101" pitchFamily="49" charset="-122"/>
                <a:ea typeface="KaiTi" panose="02010609060101010101" pitchFamily="49" charset="-122"/>
              </a:rPr>
              <a:t>可能的候选点分裂点个数等于bins个数减一</a:t>
            </a:r>
          </a:p>
        </p:txBody>
      </p:sp>
      <p:sp>
        <p:nvSpPr>
          <p:cNvPr id="69" name="文本框 68">
            <a:extLst>
              <a:ext uri="{FF2B5EF4-FFF2-40B4-BE49-F238E27FC236}">
                <a16:creationId xmlns:a16="http://schemas.microsoft.com/office/drawing/2014/main" id="{D11DE173-067A-4BC8-8C20-801EFBB9CDFF}"/>
              </a:ext>
            </a:extLst>
          </p:cNvPr>
          <p:cNvSpPr txBox="1"/>
          <p:nvPr/>
        </p:nvSpPr>
        <p:spPr>
          <a:xfrm>
            <a:off x="8250494" y="2274833"/>
            <a:ext cx="2179766" cy="523220"/>
          </a:xfrm>
          <a:prstGeom prst="rect">
            <a:avLst/>
          </a:prstGeom>
          <a:noFill/>
        </p:spPr>
        <p:txBody>
          <a:bodyPr wrap="square">
            <a:spAutoFit/>
          </a:bodyPr>
          <a:lstStyle/>
          <a:p>
            <a:r>
              <a:rPr lang="zh-CN" altLang="en-US" sz="1400" dirty="0">
                <a:latin typeface="KaiTi" panose="02010609060101010101" pitchFamily="49" charset="-122"/>
                <a:ea typeface="KaiTi" panose="02010609060101010101" pitchFamily="49" charset="-122"/>
              </a:rPr>
              <a:t>可能的候选点分裂点个数等于样本取值个数减一</a:t>
            </a:r>
          </a:p>
        </p:txBody>
      </p:sp>
      <p:grpSp>
        <p:nvGrpSpPr>
          <p:cNvPr id="70" name="组合 69">
            <a:extLst>
              <a:ext uri="{FF2B5EF4-FFF2-40B4-BE49-F238E27FC236}">
                <a16:creationId xmlns:a16="http://schemas.microsoft.com/office/drawing/2014/main" id="{B60EB5CF-004C-4B8F-80A0-B93812E6D640}"/>
              </a:ext>
            </a:extLst>
          </p:cNvPr>
          <p:cNvGrpSpPr/>
          <p:nvPr/>
        </p:nvGrpSpPr>
        <p:grpSpPr>
          <a:xfrm>
            <a:off x="4386263" y="5097460"/>
            <a:ext cx="647700" cy="1458003"/>
            <a:chOff x="1225300" y="3451362"/>
            <a:chExt cx="2033838" cy="1468916"/>
          </a:xfrm>
        </p:grpSpPr>
        <p:cxnSp>
          <p:nvCxnSpPr>
            <p:cNvPr id="71" name="直接连接符 70">
              <a:extLst>
                <a:ext uri="{FF2B5EF4-FFF2-40B4-BE49-F238E27FC236}">
                  <a16:creationId xmlns:a16="http://schemas.microsoft.com/office/drawing/2014/main" id="{F18BD48B-F777-49FA-B054-B7D645E92848}"/>
                </a:ext>
              </a:extLst>
            </p:cNvPr>
            <p:cNvCxnSpPr>
              <a:cxnSpLocks/>
            </p:cNvCxnSpPr>
            <p:nvPr/>
          </p:nvCxnSpPr>
          <p:spPr>
            <a:xfrm>
              <a:off x="1238000"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72" name="直接连接符 71">
              <a:extLst>
                <a:ext uri="{FF2B5EF4-FFF2-40B4-BE49-F238E27FC236}">
                  <a16:creationId xmlns:a16="http://schemas.microsoft.com/office/drawing/2014/main" id="{371A5CE9-0A95-4B22-9850-DB2CF88B2E4B}"/>
                </a:ext>
              </a:extLst>
            </p:cNvPr>
            <p:cNvCxnSpPr>
              <a:cxnSpLocks/>
            </p:cNvCxnSpPr>
            <p:nvPr/>
          </p:nvCxnSpPr>
          <p:spPr>
            <a:xfrm>
              <a:off x="3247774" y="3451362"/>
              <a:ext cx="0" cy="1468916"/>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73" name="直接连接符 72">
              <a:extLst>
                <a:ext uri="{FF2B5EF4-FFF2-40B4-BE49-F238E27FC236}">
                  <a16:creationId xmlns:a16="http://schemas.microsoft.com/office/drawing/2014/main" id="{DB1730B4-5FBD-4510-BE0B-F0A9D68AF6C2}"/>
                </a:ext>
              </a:extLst>
            </p:cNvPr>
            <p:cNvCxnSpPr>
              <a:cxnSpLocks/>
            </p:cNvCxnSpPr>
            <p:nvPr/>
          </p:nvCxnSpPr>
          <p:spPr>
            <a:xfrm>
              <a:off x="1225300" y="4920278"/>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cxnSp>
          <p:nvCxnSpPr>
            <p:cNvPr id="74" name="直接连接符 73">
              <a:extLst>
                <a:ext uri="{FF2B5EF4-FFF2-40B4-BE49-F238E27FC236}">
                  <a16:creationId xmlns:a16="http://schemas.microsoft.com/office/drawing/2014/main" id="{9F7DC8CD-2321-442A-B844-2784D0D09BBA}"/>
                </a:ext>
              </a:extLst>
            </p:cNvPr>
            <p:cNvCxnSpPr>
              <a:cxnSpLocks/>
            </p:cNvCxnSpPr>
            <p:nvPr/>
          </p:nvCxnSpPr>
          <p:spPr>
            <a:xfrm>
              <a:off x="1225300" y="3456261"/>
              <a:ext cx="203383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p:grpSp>
      <p:grpSp>
        <p:nvGrpSpPr>
          <p:cNvPr id="75" name="组合 74">
            <a:extLst>
              <a:ext uri="{FF2B5EF4-FFF2-40B4-BE49-F238E27FC236}">
                <a16:creationId xmlns:a16="http://schemas.microsoft.com/office/drawing/2014/main" id="{24DBB6A9-C30F-4AC7-8825-F90A9DAB0DD7}"/>
              </a:ext>
            </a:extLst>
          </p:cNvPr>
          <p:cNvGrpSpPr/>
          <p:nvPr/>
        </p:nvGrpSpPr>
        <p:grpSpPr>
          <a:xfrm>
            <a:off x="5048663" y="5097462"/>
            <a:ext cx="647697" cy="1468915"/>
            <a:chOff x="1225300" y="3451362"/>
            <a:chExt cx="2033838" cy="1468916"/>
          </a:xfrm>
        </p:grpSpPr>
        <p:cxnSp>
          <p:nvCxnSpPr>
            <p:cNvPr id="76" name="直接连接符 75">
              <a:extLst>
                <a:ext uri="{FF2B5EF4-FFF2-40B4-BE49-F238E27FC236}">
                  <a16:creationId xmlns:a16="http://schemas.microsoft.com/office/drawing/2014/main" id="{AD9CA065-7453-42EF-B3D7-9044595EE454}"/>
                </a:ext>
              </a:extLst>
            </p:cNvPr>
            <p:cNvCxnSpPr>
              <a:cxnSpLocks/>
            </p:cNvCxnSpPr>
            <p:nvPr/>
          </p:nvCxnSpPr>
          <p:spPr>
            <a:xfrm>
              <a:off x="1238000"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77" name="直接连接符 76">
              <a:extLst>
                <a:ext uri="{FF2B5EF4-FFF2-40B4-BE49-F238E27FC236}">
                  <a16:creationId xmlns:a16="http://schemas.microsoft.com/office/drawing/2014/main" id="{5E210163-B7D0-45AB-9534-C0A592E760E5}"/>
                </a:ext>
              </a:extLst>
            </p:cNvPr>
            <p:cNvCxnSpPr>
              <a:cxnSpLocks/>
            </p:cNvCxnSpPr>
            <p:nvPr/>
          </p:nvCxnSpPr>
          <p:spPr>
            <a:xfrm>
              <a:off x="3247774" y="3451362"/>
              <a:ext cx="0" cy="1468916"/>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78" name="直接连接符 77">
              <a:extLst>
                <a:ext uri="{FF2B5EF4-FFF2-40B4-BE49-F238E27FC236}">
                  <a16:creationId xmlns:a16="http://schemas.microsoft.com/office/drawing/2014/main" id="{787065C6-50A8-4021-AF48-70171E2AEFAA}"/>
                </a:ext>
              </a:extLst>
            </p:cNvPr>
            <p:cNvCxnSpPr>
              <a:cxnSpLocks/>
            </p:cNvCxnSpPr>
            <p:nvPr/>
          </p:nvCxnSpPr>
          <p:spPr>
            <a:xfrm>
              <a:off x="1225300" y="4920278"/>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cxnSp>
          <p:nvCxnSpPr>
            <p:cNvPr id="79" name="直接连接符 78">
              <a:extLst>
                <a:ext uri="{FF2B5EF4-FFF2-40B4-BE49-F238E27FC236}">
                  <a16:creationId xmlns:a16="http://schemas.microsoft.com/office/drawing/2014/main" id="{120729A8-5334-496B-A76F-C99E8A963577}"/>
                </a:ext>
              </a:extLst>
            </p:cNvPr>
            <p:cNvCxnSpPr>
              <a:cxnSpLocks/>
            </p:cNvCxnSpPr>
            <p:nvPr/>
          </p:nvCxnSpPr>
          <p:spPr>
            <a:xfrm>
              <a:off x="1225300" y="3456261"/>
              <a:ext cx="2033838" cy="0"/>
            </a:xfrm>
            <a:prstGeom prst="line">
              <a:avLst/>
            </a:prstGeom>
            <a:ln>
              <a:solidFill>
                <a:schemeClr val="accent6">
                  <a:lumMod val="60000"/>
                  <a:lumOff val="40000"/>
                </a:schemeClr>
              </a:solidFill>
            </a:ln>
          </p:spPr>
          <p:style>
            <a:lnRef idx="2">
              <a:schemeClr val="accent6"/>
            </a:lnRef>
            <a:fillRef idx="0">
              <a:schemeClr val="accent6"/>
            </a:fillRef>
            <a:effectRef idx="1">
              <a:schemeClr val="accent6"/>
            </a:effectRef>
            <a:fontRef idx="minor">
              <a:schemeClr val="tx1"/>
            </a:fontRef>
          </p:style>
        </p:cxnSp>
      </p:grpSp>
      <p:grpSp>
        <p:nvGrpSpPr>
          <p:cNvPr id="80" name="组合 79">
            <a:extLst>
              <a:ext uri="{FF2B5EF4-FFF2-40B4-BE49-F238E27FC236}">
                <a16:creationId xmlns:a16="http://schemas.microsoft.com/office/drawing/2014/main" id="{004BD541-50F7-4850-82EB-2D710B361F8B}"/>
              </a:ext>
            </a:extLst>
          </p:cNvPr>
          <p:cNvGrpSpPr/>
          <p:nvPr/>
        </p:nvGrpSpPr>
        <p:grpSpPr>
          <a:xfrm>
            <a:off x="5718722" y="5097460"/>
            <a:ext cx="696974" cy="1468913"/>
            <a:chOff x="1225300" y="3451362"/>
            <a:chExt cx="2033838" cy="1468916"/>
          </a:xfrm>
        </p:grpSpPr>
        <p:cxnSp>
          <p:nvCxnSpPr>
            <p:cNvPr id="81" name="直接连接符 80">
              <a:extLst>
                <a:ext uri="{FF2B5EF4-FFF2-40B4-BE49-F238E27FC236}">
                  <a16:creationId xmlns:a16="http://schemas.microsoft.com/office/drawing/2014/main" id="{D5F712C4-D168-4056-91BC-1160ACF9ACC1}"/>
                </a:ext>
              </a:extLst>
            </p:cNvPr>
            <p:cNvCxnSpPr>
              <a:cxnSpLocks/>
            </p:cNvCxnSpPr>
            <p:nvPr/>
          </p:nvCxnSpPr>
          <p:spPr>
            <a:xfrm>
              <a:off x="1238000"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82" name="直接连接符 81">
              <a:extLst>
                <a:ext uri="{FF2B5EF4-FFF2-40B4-BE49-F238E27FC236}">
                  <a16:creationId xmlns:a16="http://schemas.microsoft.com/office/drawing/2014/main" id="{6344502F-C4E8-4170-BE5D-BD5F88822F3D}"/>
                </a:ext>
              </a:extLst>
            </p:cNvPr>
            <p:cNvCxnSpPr>
              <a:cxnSpLocks/>
            </p:cNvCxnSpPr>
            <p:nvPr/>
          </p:nvCxnSpPr>
          <p:spPr>
            <a:xfrm>
              <a:off x="3247774" y="3451362"/>
              <a:ext cx="0" cy="1468916"/>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83" name="直接连接符 82">
              <a:extLst>
                <a:ext uri="{FF2B5EF4-FFF2-40B4-BE49-F238E27FC236}">
                  <a16:creationId xmlns:a16="http://schemas.microsoft.com/office/drawing/2014/main" id="{9D5B06E9-AAD0-4BA7-AEEC-930F8FA5C589}"/>
                </a:ext>
              </a:extLst>
            </p:cNvPr>
            <p:cNvCxnSpPr>
              <a:cxnSpLocks/>
            </p:cNvCxnSpPr>
            <p:nvPr/>
          </p:nvCxnSpPr>
          <p:spPr>
            <a:xfrm>
              <a:off x="1225300" y="4920278"/>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cxnSp>
          <p:nvCxnSpPr>
            <p:cNvPr id="84" name="直接连接符 83">
              <a:extLst>
                <a:ext uri="{FF2B5EF4-FFF2-40B4-BE49-F238E27FC236}">
                  <a16:creationId xmlns:a16="http://schemas.microsoft.com/office/drawing/2014/main" id="{8E97985B-D579-4BC8-91AA-63DAABF02303}"/>
                </a:ext>
              </a:extLst>
            </p:cNvPr>
            <p:cNvCxnSpPr>
              <a:cxnSpLocks/>
            </p:cNvCxnSpPr>
            <p:nvPr/>
          </p:nvCxnSpPr>
          <p:spPr>
            <a:xfrm>
              <a:off x="1225300" y="3456261"/>
              <a:ext cx="2033838" cy="0"/>
            </a:xfrm>
            <a:prstGeom prst="line">
              <a:avLst/>
            </a:prstGeom>
            <a:ln>
              <a:solidFill>
                <a:srgbClr val="FF9900"/>
              </a:solidFill>
            </a:ln>
          </p:spPr>
          <p:style>
            <a:lnRef idx="2">
              <a:schemeClr val="accent6"/>
            </a:lnRef>
            <a:fillRef idx="0">
              <a:schemeClr val="accent6"/>
            </a:fillRef>
            <a:effectRef idx="1">
              <a:schemeClr val="accent6"/>
            </a:effectRef>
            <a:fontRef idx="minor">
              <a:schemeClr val="tx1"/>
            </a:fontRef>
          </p:style>
        </p:cxnSp>
      </p:grpSp>
    </p:spTree>
    <p:extLst>
      <p:ext uri="{BB962C8B-B14F-4D97-AF65-F5344CB8AC3E}">
        <p14:creationId xmlns:p14="http://schemas.microsoft.com/office/powerpoint/2010/main" val="1775384649"/>
      </p:ext>
    </p:extLst>
  </p:cSld>
  <p:clrMapOvr>
    <a:masterClrMapping/>
  </p:clrMapOvr>
  <p:transition advTm="8005"/>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pic>
        <p:nvPicPr>
          <p:cNvPr id="62" name="Picture">
            <a:extLst>
              <a:ext uri="{FF2B5EF4-FFF2-40B4-BE49-F238E27FC236}">
                <a16:creationId xmlns:a16="http://schemas.microsoft.com/office/drawing/2014/main" id="{B22EDF85-5F64-4A56-AE60-230AF37BE811}"/>
              </a:ext>
            </a:extLst>
          </p:cNvPr>
          <p:cNvPicPr/>
          <p:nvPr/>
        </p:nvPicPr>
        <p:blipFill>
          <a:blip r:embed="rId3"/>
          <a:stretch>
            <a:fillRect/>
          </a:stretch>
        </p:blipFill>
        <p:spPr bwMode="auto">
          <a:xfrm>
            <a:off x="1210994" y="5271109"/>
            <a:ext cx="5334000" cy="1033145"/>
          </a:xfrm>
          <a:prstGeom prst="rect">
            <a:avLst/>
          </a:prstGeom>
          <a:noFill/>
          <a:ln w="9525">
            <a:noFill/>
            <a:headEnd/>
            <a:tailEnd/>
          </a:ln>
        </p:spPr>
      </p:pic>
      <p:sp>
        <p:nvSpPr>
          <p:cNvPr id="65" name="文本框 64">
            <a:extLst>
              <a:ext uri="{FF2B5EF4-FFF2-40B4-BE49-F238E27FC236}">
                <a16:creationId xmlns:a16="http://schemas.microsoft.com/office/drawing/2014/main" id="{58808C9F-11A8-46C9-B52E-A56C27115BFF}"/>
              </a:ext>
            </a:extLst>
          </p:cNvPr>
          <p:cNvSpPr txBox="1"/>
          <p:nvPr/>
        </p:nvSpPr>
        <p:spPr>
          <a:xfrm>
            <a:off x="708073" y="1470864"/>
            <a:ext cx="10002129" cy="3166380"/>
          </a:xfrm>
          <a:prstGeom prst="rect">
            <a:avLst/>
          </a:prstGeom>
          <a:noFill/>
        </p:spPr>
        <p:txBody>
          <a:bodyPr wrap="square">
            <a:spAutoFit/>
          </a:bodyPr>
          <a:lstStyle/>
          <a:p>
            <a:r>
              <a:rPr lang="zh-CN" altLang="zh-CN" b="1" dirty="0">
                <a:effectLst/>
                <a:latin typeface="KaiTi" panose="02010609060101010101" pitchFamily="49" charset="-122"/>
                <a:ea typeface="KaiTi" panose="02010609060101010101" pitchFamily="49" charset="-122"/>
                <a:cs typeface="Euclid" panose="02020503060505020303" pitchFamily="18" charset="0"/>
              </a:rPr>
              <a:t>直方图加速</a:t>
            </a:r>
            <a:endParaRPr lang="zh-CN" altLang="zh-CN" dirty="0">
              <a:effectLst/>
              <a:latin typeface="KaiTi" panose="02010609060101010101" pitchFamily="49" charset="-122"/>
              <a:ea typeface="KaiTi" panose="02010609060101010101" pitchFamily="49" charset="-122"/>
              <a:cs typeface="Euclid" panose="02020503060505020303" pitchFamily="18" charset="0"/>
            </a:endParaRPr>
          </a:p>
          <a:p>
            <a:pPr algn="just">
              <a:lnSpc>
                <a:spcPct val="150000"/>
              </a:lnSpc>
            </a:pPr>
            <a:r>
              <a:rPr lang="zh-CN" altLang="zh-CN" sz="2400" kern="100" dirty="0">
                <a:effectLst/>
                <a:latin typeface="KaiTi" panose="02010609060101010101" pitchFamily="49" charset="-122"/>
                <a:ea typeface="KaiTi" panose="02010609060101010101" pitchFamily="49" charset="-122"/>
              </a:rPr>
              <a:t>在构建叶节点的直方图时，我们还可以通过父节点的直方图与相邻叶节点的直方图相减的方式构建，从而减少了一半的计算量。</a:t>
            </a:r>
            <a:r>
              <a:rPr lang="zh-CN" altLang="en-US" sz="2400" kern="100" dirty="0">
                <a:effectLst/>
                <a:latin typeface="KaiTi" panose="02010609060101010101" pitchFamily="49" charset="-122"/>
                <a:ea typeface="KaiTi" panose="02010609060101010101" pitchFamily="49" charset="-122"/>
              </a:rPr>
              <a:t>即：</a:t>
            </a:r>
            <a:r>
              <a:rPr lang="zh-CN" altLang="en-US" b="1" i="0" dirty="0">
                <a:effectLst/>
                <a:latin typeface="KaiTi" panose="02010609060101010101" pitchFamily="49" charset="-122"/>
                <a:ea typeface="KaiTi" panose="02010609060101010101" pitchFamily="49" charset="-122"/>
              </a:rPr>
              <a:t>一个叶子节点的直方图可以由它的父亲节点的直方图与其兄弟的直方图做差得到</a:t>
            </a:r>
            <a:r>
              <a:rPr lang="zh-CN" altLang="en-US" b="0" i="0" dirty="0">
                <a:effectLst/>
                <a:latin typeface="KaiTi" panose="02010609060101010101" pitchFamily="49" charset="-122"/>
                <a:ea typeface="KaiTi" panose="02010609060101010101" pitchFamily="49" charset="-122"/>
              </a:rPr>
              <a:t>。</a:t>
            </a:r>
            <a:r>
              <a:rPr lang="zh-CN" altLang="zh-CN" sz="2400" kern="100" dirty="0">
                <a:effectLst/>
                <a:latin typeface="KaiTi" panose="02010609060101010101" pitchFamily="49" charset="-122"/>
                <a:ea typeface="KaiTi" panose="02010609060101010101" pitchFamily="49" charset="-122"/>
              </a:rPr>
              <a:t>如节点分裂成两个时，右边叶子节点的直方图等于其父节点的直方图减去左边叶子节点的直方图。从而大大减少构建直方图的计算量。</a:t>
            </a:r>
          </a:p>
        </p:txBody>
      </p:sp>
    </p:spTree>
    <p:extLst>
      <p:ext uri="{BB962C8B-B14F-4D97-AF65-F5344CB8AC3E}">
        <p14:creationId xmlns:p14="http://schemas.microsoft.com/office/powerpoint/2010/main" val="1213004378"/>
      </p:ext>
    </p:extLst>
  </p:cSld>
  <p:clrMapOvr>
    <a:masterClrMapping/>
  </p:clrMapOvr>
  <p:transition advTm="8005"/>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A32F78D6-68AF-4A75-8399-473DB41D5BDB}"/>
              </a:ext>
            </a:extLst>
          </p:cNvPr>
          <p:cNvSpPr txBox="1"/>
          <p:nvPr/>
        </p:nvSpPr>
        <p:spPr>
          <a:xfrm>
            <a:off x="622048" y="1355957"/>
            <a:ext cx="7853614" cy="461665"/>
          </a:xfrm>
          <a:prstGeom prst="rect">
            <a:avLst/>
          </a:prstGeom>
          <a:noFill/>
        </p:spPr>
        <p:txBody>
          <a:bodyPr wrap="square">
            <a:spAutoFit/>
          </a:bodyPr>
          <a:lstStyle/>
          <a:p>
            <a:pPr algn="l"/>
            <a:r>
              <a:rPr lang="zh-CN" altLang="en-US" b="1" i="0" dirty="0">
                <a:solidFill>
                  <a:srgbClr val="121212"/>
                </a:solidFill>
                <a:effectLst/>
                <a:latin typeface="KaiTi" panose="02010609060101010101" pitchFamily="49" charset="-122"/>
                <a:ea typeface="KaiTi" panose="02010609060101010101" pitchFamily="49" charset="-122"/>
              </a:rPr>
              <a:t>直方图算法</a:t>
            </a:r>
            <a:endParaRPr lang="zh-CN" altLang="en-US" dirty="0">
              <a:latin typeface="KaiTi" panose="02010609060101010101" pitchFamily="49" charset="-122"/>
              <a:ea typeface="KaiTi" panose="02010609060101010101" pitchFamily="49" charset="-122"/>
            </a:endParaRPr>
          </a:p>
        </p:txBody>
      </p:sp>
      <p:sp>
        <p:nvSpPr>
          <p:cNvPr id="7" name="文本框 6">
            <a:extLst>
              <a:ext uri="{FF2B5EF4-FFF2-40B4-BE49-F238E27FC236}">
                <a16:creationId xmlns:a16="http://schemas.microsoft.com/office/drawing/2014/main" id="{5F31E035-EBE0-451C-ACDC-6DC0A5BE7B2D}"/>
              </a:ext>
            </a:extLst>
          </p:cNvPr>
          <p:cNvSpPr txBox="1"/>
          <p:nvPr/>
        </p:nvSpPr>
        <p:spPr>
          <a:xfrm>
            <a:off x="4731434" y="1275043"/>
            <a:ext cx="7071360" cy="499111"/>
          </a:xfrm>
          <a:prstGeom prst="rect">
            <a:avLst/>
          </a:prstGeom>
          <a:noFill/>
        </p:spPr>
        <p:txBody>
          <a:bodyPr wrap="square">
            <a:spAutoFit/>
          </a:bodyPr>
          <a:lstStyle/>
          <a:p>
            <a:pPr>
              <a:lnSpc>
                <a:spcPct val="150000"/>
              </a:lnSpc>
            </a:pPr>
            <a:r>
              <a:rPr lang="zh-CN" altLang="en-US" sz="2000" dirty="0">
                <a:latin typeface="KaiTi" panose="02010609060101010101" pitchFamily="49" charset="-122"/>
                <a:ea typeface="KaiTi" panose="02010609060101010101" pitchFamily="49" charset="-122"/>
              </a:rPr>
              <a:t>父节点10个样本，2个特征。</a:t>
            </a:r>
          </a:p>
        </p:txBody>
      </p:sp>
      <p:grpSp>
        <p:nvGrpSpPr>
          <p:cNvPr id="4097" name="组合 4096">
            <a:extLst>
              <a:ext uri="{FF2B5EF4-FFF2-40B4-BE49-F238E27FC236}">
                <a16:creationId xmlns:a16="http://schemas.microsoft.com/office/drawing/2014/main" id="{F436FA5D-4AE3-424B-81A8-56B19EB6F1FB}"/>
              </a:ext>
            </a:extLst>
          </p:cNvPr>
          <p:cNvGrpSpPr/>
          <p:nvPr/>
        </p:nvGrpSpPr>
        <p:grpSpPr>
          <a:xfrm>
            <a:off x="4913435" y="1918361"/>
            <a:ext cx="6414069" cy="4488639"/>
            <a:chOff x="3222664" y="1691924"/>
            <a:chExt cx="6927843" cy="5062294"/>
          </a:xfrm>
        </p:grpSpPr>
        <p:cxnSp>
          <p:nvCxnSpPr>
            <p:cNvPr id="9" name="Google Shape;517;p30">
              <a:extLst>
                <a:ext uri="{FF2B5EF4-FFF2-40B4-BE49-F238E27FC236}">
                  <a16:creationId xmlns:a16="http://schemas.microsoft.com/office/drawing/2014/main" id="{F87ECA1F-F478-44C5-8C3B-F2FD52BAEF11}"/>
                </a:ext>
              </a:extLst>
            </p:cNvPr>
            <p:cNvCxnSpPr>
              <a:cxnSpLocks/>
            </p:cNvCxnSpPr>
            <p:nvPr/>
          </p:nvCxnSpPr>
          <p:spPr>
            <a:xfrm flipV="1">
              <a:off x="5980284" y="1741119"/>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10" name="Google Shape;517;p30">
              <a:extLst>
                <a:ext uri="{FF2B5EF4-FFF2-40B4-BE49-F238E27FC236}">
                  <a16:creationId xmlns:a16="http://schemas.microsoft.com/office/drawing/2014/main" id="{E78C0EB2-0AE9-4EF5-A330-A9E0690860DF}"/>
                </a:ext>
              </a:extLst>
            </p:cNvPr>
            <p:cNvCxnSpPr>
              <a:cxnSpLocks/>
            </p:cNvCxnSpPr>
            <p:nvPr/>
          </p:nvCxnSpPr>
          <p:spPr>
            <a:xfrm flipV="1">
              <a:off x="5832573" y="2886004"/>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11" name="矩形 10">
              <a:extLst>
                <a:ext uri="{FF2B5EF4-FFF2-40B4-BE49-F238E27FC236}">
                  <a16:creationId xmlns:a16="http://schemas.microsoft.com/office/drawing/2014/main" id="{C34D1033-FC90-443D-8192-186D0BA08374}"/>
                </a:ext>
              </a:extLst>
            </p:cNvPr>
            <p:cNvSpPr/>
            <p:nvPr/>
          </p:nvSpPr>
          <p:spPr>
            <a:xfrm>
              <a:off x="6227809" y="2359536"/>
              <a:ext cx="117167" cy="526467"/>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13" name="矩形 12">
              <a:extLst>
                <a:ext uri="{FF2B5EF4-FFF2-40B4-BE49-F238E27FC236}">
                  <a16:creationId xmlns:a16="http://schemas.microsoft.com/office/drawing/2014/main" id="{E71C3697-3B74-4DA6-8EBD-B4B9B245937A}"/>
                </a:ext>
              </a:extLst>
            </p:cNvPr>
            <p:cNvSpPr/>
            <p:nvPr/>
          </p:nvSpPr>
          <p:spPr>
            <a:xfrm>
              <a:off x="6532610" y="1755733"/>
              <a:ext cx="122100" cy="1130271"/>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14" name="Google Shape;517;p30">
              <a:extLst>
                <a:ext uri="{FF2B5EF4-FFF2-40B4-BE49-F238E27FC236}">
                  <a16:creationId xmlns:a16="http://schemas.microsoft.com/office/drawing/2014/main" id="{EC78A581-5CF4-4751-A344-467B0DA4E035}"/>
                </a:ext>
              </a:extLst>
            </p:cNvPr>
            <p:cNvCxnSpPr>
              <a:cxnSpLocks/>
            </p:cNvCxnSpPr>
            <p:nvPr/>
          </p:nvCxnSpPr>
          <p:spPr>
            <a:xfrm flipV="1">
              <a:off x="5976947" y="3444539"/>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15" name="Google Shape;517;p30">
              <a:extLst>
                <a:ext uri="{FF2B5EF4-FFF2-40B4-BE49-F238E27FC236}">
                  <a16:creationId xmlns:a16="http://schemas.microsoft.com/office/drawing/2014/main" id="{35794ADB-6D43-42A3-8BBC-ACF4060EE026}"/>
                </a:ext>
              </a:extLst>
            </p:cNvPr>
            <p:cNvCxnSpPr>
              <a:cxnSpLocks/>
            </p:cNvCxnSpPr>
            <p:nvPr/>
          </p:nvCxnSpPr>
          <p:spPr>
            <a:xfrm flipV="1">
              <a:off x="5829236" y="4589424"/>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16" name="矩形 15">
              <a:extLst>
                <a:ext uri="{FF2B5EF4-FFF2-40B4-BE49-F238E27FC236}">
                  <a16:creationId xmlns:a16="http://schemas.microsoft.com/office/drawing/2014/main" id="{C1AD0DFE-E81C-48A8-AE84-80BBDC106E58}"/>
                </a:ext>
              </a:extLst>
            </p:cNvPr>
            <p:cNvSpPr/>
            <p:nvPr/>
          </p:nvSpPr>
          <p:spPr>
            <a:xfrm>
              <a:off x="6239335" y="4028320"/>
              <a:ext cx="130729" cy="564754"/>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18" name="Google Shape;517;p30">
              <a:extLst>
                <a:ext uri="{FF2B5EF4-FFF2-40B4-BE49-F238E27FC236}">
                  <a16:creationId xmlns:a16="http://schemas.microsoft.com/office/drawing/2014/main" id="{CB5D69D5-2D61-465C-873B-31C1D1426086}"/>
                </a:ext>
              </a:extLst>
            </p:cNvPr>
            <p:cNvCxnSpPr>
              <a:cxnSpLocks/>
            </p:cNvCxnSpPr>
            <p:nvPr/>
          </p:nvCxnSpPr>
          <p:spPr>
            <a:xfrm flipV="1">
              <a:off x="5984811" y="5244859"/>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19" name="Google Shape;517;p30">
              <a:extLst>
                <a:ext uri="{FF2B5EF4-FFF2-40B4-BE49-F238E27FC236}">
                  <a16:creationId xmlns:a16="http://schemas.microsoft.com/office/drawing/2014/main" id="{ED290493-915E-4C6C-A68E-3366C9C18CE1}"/>
                </a:ext>
              </a:extLst>
            </p:cNvPr>
            <p:cNvCxnSpPr>
              <a:cxnSpLocks/>
            </p:cNvCxnSpPr>
            <p:nvPr/>
          </p:nvCxnSpPr>
          <p:spPr>
            <a:xfrm flipV="1">
              <a:off x="5837100" y="6389744"/>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21" name="矩形 20">
              <a:extLst>
                <a:ext uri="{FF2B5EF4-FFF2-40B4-BE49-F238E27FC236}">
                  <a16:creationId xmlns:a16="http://schemas.microsoft.com/office/drawing/2014/main" id="{11CD8702-2F1F-4389-B0E3-B6D04CD2DDEA}"/>
                </a:ext>
              </a:extLst>
            </p:cNvPr>
            <p:cNvSpPr/>
            <p:nvPr/>
          </p:nvSpPr>
          <p:spPr>
            <a:xfrm>
              <a:off x="6537136" y="5284766"/>
              <a:ext cx="149423" cy="1104978"/>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22" name="Google Shape;517;p30">
              <a:extLst>
                <a:ext uri="{FF2B5EF4-FFF2-40B4-BE49-F238E27FC236}">
                  <a16:creationId xmlns:a16="http://schemas.microsoft.com/office/drawing/2014/main" id="{24ACC3E8-6816-469A-AEE4-7DC19E08987F}"/>
                </a:ext>
              </a:extLst>
            </p:cNvPr>
            <p:cNvCxnSpPr>
              <a:cxnSpLocks/>
            </p:cNvCxnSpPr>
            <p:nvPr/>
          </p:nvCxnSpPr>
          <p:spPr>
            <a:xfrm flipV="1">
              <a:off x="8170453" y="1743474"/>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23" name="Google Shape;517;p30">
              <a:extLst>
                <a:ext uri="{FF2B5EF4-FFF2-40B4-BE49-F238E27FC236}">
                  <a16:creationId xmlns:a16="http://schemas.microsoft.com/office/drawing/2014/main" id="{1967F611-C62A-43D6-B1CC-80CE28C101A5}"/>
                </a:ext>
              </a:extLst>
            </p:cNvPr>
            <p:cNvCxnSpPr>
              <a:cxnSpLocks/>
            </p:cNvCxnSpPr>
            <p:nvPr/>
          </p:nvCxnSpPr>
          <p:spPr>
            <a:xfrm flipV="1">
              <a:off x="8022742" y="2888359"/>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24" name="矩形 23">
              <a:extLst>
                <a:ext uri="{FF2B5EF4-FFF2-40B4-BE49-F238E27FC236}">
                  <a16:creationId xmlns:a16="http://schemas.microsoft.com/office/drawing/2014/main" id="{E8F872EF-BF65-482D-9120-B45409F0978A}"/>
                </a:ext>
              </a:extLst>
            </p:cNvPr>
            <p:cNvSpPr/>
            <p:nvPr/>
          </p:nvSpPr>
          <p:spPr>
            <a:xfrm>
              <a:off x="8417979" y="2575763"/>
              <a:ext cx="131298" cy="312595"/>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6" name="矩形 25">
              <a:extLst>
                <a:ext uri="{FF2B5EF4-FFF2-40B4-BE49-F238E27FC236}">
                  <a16:creationId xmlns:a16="http://schemas.microsoft.com/office/drawing/2014/main" id="{C2AA805A-4912-4E1E-8983-2F9593768600}"/>
                </a:ext>
              </a:extLst>
            </p:cNvPr>
            <p:cNvSpPr/>
            <p:nvPr/>
          </p:nvSpPr>
          <p:spPr>
            <a:xfrm>
              <a:off x="9057359" y="2361892"/>
              <a:ext cx="123792" cy="526465"/>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27" name="矩形 26">
              <a:extLst>
                <a:ext uri="{FF2B5EF4-FFF2-40B4-BE49-F238E27FC236}">
                  <a16:creationId xmlns:a16="http://schemas.microsoft.com/office/drawing/2014/main" id="{1ABFAFC2-0650-4712-A051-7D251D122DE1}"/>
                </a:ext>
              </a:extLst>
            </p:cNvPr>
            <p:cNvSpPr/>
            <p:nvPr/>
          </p:nvSpPr>
          <p:spPr>
            <a:xfrm>
              <a:off x="8730817" y="2056241"/>
              <a:ext cx="131298" cy="83211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28" name="Google Shape;517;p30">
              <a:extLst>
                <a:ext uri="{FF2B5EF4-FFF2-40B4-BE49-F238E27FC236}">
                  <a16:creationId xmlns:a16="http://schemas.microsoft.com/office/drawing/2014/main" id="{97954D8A-C181-4CF5-84B2-FFC352FE3F1A}"/>
                </a:ext>
              </a:extLst>
            </p:cNvPr>
            <p:cNvCxnSpPr>
              <a:cxnSpLocks/>
            </p:cNvCxnSpPr>
            <p:nvPr/>
          </p:nvCxnSpPr>
          <p:spPr>
            <a:xfrm flipV="1">
              <a:off x="8198098" y="3446893"/>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29" name="Google Shape;517;p30">
              <a:extLst>
                <a:ext uri="{FF2B5EF4-FFF2-40B4-BE49-F238E27FC236}">
                  <a16:creationId xmlns:a16="http://schemas.microsoft.com/office/drawing/2014/main" id="{415DC6BA-2160-438F-90B9-8520E270FB15}"/>
                </a:ext>
              </a:extLst>
            </p:cNvPr>
            <p:cNvCxnSpPr>
              <a:cxnSpLocks/>
            </p:cNvCxnSpPr>
            <p:nvPr/>
          </p:nvCxnSpPr>
          <p:spPr>
            <a:xfrm flipV="1">
              <a:off x="8050387" y="4591778"/>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31" name="矩形 30">
              <a:extLst>
                <a:ext uri="{FF2B5EF4-FFF2-40B4-BE49-F238E27FC236}">
                  <a16:creationId xmlns:a16="http://schemas.microsoft.com/office/drawing/2014/main" id="{ED80A562-2A68-4027-AA1B-CE50F004CEB0}"/>
                </a:ext>
              </a:extLst>
            </p:cNvPr>
            <p:cNvSpPr/>
            <p:nvPr/>
          </p:nvSpPr>
          <p:spPr>
            <a:xfrm>
              <a:off x="9068787" y="4415930"/>
              <a:ext cx="140009" cy="17584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2" name="矩形 31">
              <a:extLst>
                <a:ext uri="{FF2B5EF4-FFF2-40B4-BE49-F238E27FC236}">
                  <a16:creationId xmlns:a16="http://schemas.microsoft.com/office/drawing/2014/main" id="{869E9404-3EBD-4542-A7F7-FC2AA3E3C44D}"/>
                </a:ext>
              </a:extLst>
            </p:cNvPr>
            <p:cNvSpPr/>
            <p:nvPr/>
          </p:nvSpPr>
          <p:spPr>
            <a:xfrm>
              <a:off x="8755949" y="4279180"/>
              <a:ext cx="133811" cy="312595"/>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33" name="Google Shape;517;p30">
              <a:extLst>
                <a:ext uri="{FF2B5EF4-FFF2-40B4-BE49-F238E27FC236}">
                  <a16:creationId xmlns:a16="http://schemas.microsoft.com/office/drawing/2014/main" id="{42D81E51-4CB4-4D5E-8050-2D1A19178467}"/>
                </a:ext>
              </a:extLst>
            </p:cNvPr>
            <p:cNvCxnSpPr>
              <a:cxnSpLocks/>
            </p:cNvCxnSpPr>
            <p:nvPr/>
          </p:nvCxnSpPr>
          <p:spPr>
            <a:xfrm flipV="1">
              <a:off x="8209310" y="5248056"/>
              <a:ext cx="0" cy="1320731"/>
            </a:xfrm>
            <a:prstGeom prst="straightConnector1">
              <a:avLst/>
            </a:prstGeom>
            <a:noFill/>
            <a:ln w="19050" cap="flat" cmpd="sng">
              <a:solidFill>
                <a:srgbClr val="000000"/>
              </a:solidFill>
              <a:prstDash val="solid"/>
              <a:round/>
              <a:headEnd type="none" w="med" len="med"/>
              <a:tailEnd type="triangle" w="med" len="med"/>
            </a:ln>
          </p:spPr>
        </p:cxnSp>
        <p:cxnSp>
          <p:nvCxnSpPr>
            <p:cNvPr id="34" name="Google Shape;517;p30">
              <a:extLst>
                <a:ext uri="{FF2B5EF4-FFF2-40B4-BE49-F238E27FC236}">
                  <a16:creationId xmlns:a16="http://schemas.microsoft.com/office/drawing/2014/main" id="{A84C5416-552F-45FB-A7B9-C15E247DA82E}"/>
                </a:ext>
              </a:extLst>
            </p:cNvPr>
            <p:cNvCxnSpPr>
              <a:cxnSpLocks/>
            </p:cNvCxnSpPr>
            <p:nvPr/>
          </p:nvCxnSpPr>
          <p:spPr>
            <a:xfrm flipV="1">
              <a:off x="8061599" y="6392941"/>
              <a:ext cx="1605059" cy="1"/>
            </a:xfrm>
            <a:prstGeom prst="straightConnector1">
              <a:avLst/>
            </a:prstGeom>
            <a:noFill/>
            <a:ln w="19050" cap="flat" cmpd="sng">
              <a:solidFill>
                <a:srgbClr val="000000"/>
              </a:solidFill>
              <a:prstDash val="solid"/>
              <a:round/>
              <a:headEnd type="none" w="med" len="med"/>
              <a:tailEnd type="triangle" w="med" len="med"/>
            </a:ln>
          </p:spPr>
        </p:cxnSp>
        <p:sp>
          <p:nvSpPr>
            <p:cNvPr id="35" name="矩形 34">
              <a:extLst>
                <a:ext uri="{FF2B5EF4-FFF2-40B4-BE49-F238E27FC236}">
                  <a16:creationId xmlns:a16="http://schemas.microsoft.com/office/drawing/2014/main" id="{2A53DBCC-D485-4795-B7CD-5154B14D83B9}"/>
                </a:ext>
              </a:extLst>
            </p:cNvPr>
            <p:cNvSpPr/>
            <p:nvPr/>
          </p:nvSpPr>
          <p:spPr>
            <a:xfrm>
              <a:off x="8450638" y="6257714"/>
              <a:ext cx="137496" cy="13522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6" name="矩形 35">
              <a:extLst>
                <a:ext uri="{FF2B5EF4-FFF2-40B4-BE49-F238E27FC236}">
                  <a16:creationId xmlns:a16="http://schemas.microsoft.com/office/drawing/2014/main" id="{B206DA42-1058-4526-BDB8-5EA1240E7345}"/>
                </a:ext>
              </a:extLst>
            </p:cNvPr>
            <p:cNvSpPr/>
            <p:nvPr/>
          </p:nvSpPr>
          <p:spPr>
            <a:xfrm>
              <a:off x="9076302" y="6023607"/>
              <a:ext cx="143706" cy="369332"/>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7" name="矩形 36">
              <a:extLst>
                <a:ext uri="{FF2B5EF4-FFF2-40B4-BE49-F238E27FC236}">
                  <a16:creationId xmlns:a16="http://schemas.microsoft.com/office/drawing/2014/main" id="{1DD9CE62-BFB7-448E-ADDD-D7D66513D341}"/>
                </a:ext>
              </a:extLst>
            </p:cNvPr>
            <p:cNvSpPr/>
            <p:nvPr/>
          </p:nvSpPr>
          <p:spPr>
            <a:xfrm>
              <a:off x="8763470" y="5903433"/>
              <a:ext cx="137496" cy="48950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sp>
          <p:nvSpPr>
            <p:cNvPr id="38" name="矩形 37">
              <a:extLst>
                <a:ext uri="{FF2B5EF4-FFF2-40B4-BE49-F238E27FC236}">
                  <a16:creationId xmlns:a16="http://schemas.microsoft.com/office/drawing/2014/main" id="{A8E139CD-3D7D-4DF1-A845-08AA0364E0A0}"/>
                </a:ext>
              </a:extLst>
            </p:cNvPr>
            <p:cNvSpPr/>
            <p:nvPr/>
          </p:nvSpPr>
          <p:spPr>
            <a:xfrm>
              <a:off x="8438755" y="4415930"/>
              <a:ext cx="140009" cy="175846"/>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latin typeface="KaiTi" panose="02010609060101010101" pitchFamily="49" charset="-122"/>
                <a:ea typeface="KaiTi" panose="02010609060101010101" pitchFamily="49" charset="-122"/>
              </a:endParaRPr>
            </a:p>
          </p:txBody>
        </p:sp>
        <p:cxnSp>
          <p:nvCxnSpPr>
            <p:cNvPr id="39" name="直接连接符 38">
              <a:extLst>
                <a:ext uri="{FF2B5EF4-FFF2-40B4-BE49-F238E27FC236}">
                  <a16:creationId xmlns:a16="http://schemas.microsoft.com/office/drawing/2014/main" id="{45207A4D-535D-4869-AB4B-8BE0CD21A2B3}"/>
                </a:ext>
              </a:extLst>
            </p:cNvPr>
            <p:cNvCxnSpPr/>
            <p:nvPr/>
          </p:nvCxnSpPr>
          <p:spPr>
            <a:xfrm>
              <a:off x="6509254" y="4569913"/>
              <a:ext cx="168812"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42" name="直接连接符 41">
              <a:extLst>
                <a:ext uri="{FF2B5EF4-FFF2-40B4-BE49-F238E27FC236}">
                  <a16:creationId xmlns:a16="http://schemas.microsoft.com/office/drawing/2014/main" id="{93991AFA-55D6-42CD-B972-3CCA9D35DF49}"/>
                </a:ext>
              </a:extLst>
            </p:cNvPr>
            <p:cNvCxnSpPr/>
            <p:nvPr/>
          </p:nvCxnSpPr>
          <p:spPr>
            <a:xfrm>
              <a:off x="6194823" y="6367519"/>
              <a:ext cx="168812" cy="0"/>
            </a:xfrm>
            <a:prstGeom prst="line">
              <a:avLst/>
            </a:prstGeom>
          </p:spPr>
          <p:style>
            <a:lnRef idx="3">
              <a:schemeClr val="accent4"/>
            </a:lnRef>
            <a:fillRef idx="0">
              <a:schemeClr val="accent4"/>
            </a:fillRef>
            <a:effectRef idx="2">
              <a:schemeClr val="accent4"/>
            </a:effectRef>
            <a:fontRef idx="minor">
              <a:schemeClr val="tx1"/>
            </a:fontRef>
          </p:style>
        </p:cxnSp>
        <p:sp>
          <p:nvSpPr>
            <p:cNvPr id="44" name="文本框 43">
              <a:extLst>
                <a:ext uri="{FF2B5EF4-FFF2-40B4-BE49-F238E27FC236}">
                  <a16:creationId xmlns:a16="http://schemas.microsoft.com/office/drawing/2014/main" id="{2317A271-88DB-4E3C-8FC1-CFAF76B7423D}"/>
                </a:ext>
              </a:extLst>
            </p:cNvPr>
            <p:cNvSpPr txBox="1"/>
            <p:nvPr/>
          </p:nvSpPr>
          <p:spPr>
            <a:xfrm>
              <a:off x="3238129" y="2689598"/>
              <a:ext cx="2963594" cy="381822"/>
            </a:xfrm>
            <a:prstGeom prst="rect">
              <a:avLst/>
            </a:prstGeom>
            <a:noFill/>
          </p:spPr>
          <p:txBody>
            <a:bodyPr wrap="square">
              <a:spAutoFit/>
            </a:bodyPr>
            <a:lstStyle/>
            <a:p>
              <a:pPr marL="0" marR="0"/>
              <a:r>
                <a:rPr lang="zh-CN" altLang="en-US" sz="1600" dirty="0">
                  <a:effectLst/>
                  <a:latin typeface="KaiTi" panose="02010609060101010101" pitchFamily="49" charset="-122"/>
                  <a:ea typeface="KaiTi" panose="02010609060101010101" pitchFamily="49" charset="-122"/>
                </a:rPr>
                <a:t>①父节点特征的直方图</a:t>
              </a:r>
            </a:p>
          </p:txBody>
        </p:sp>
        <p:sp>
          <p:nvSpPr>
            <p:cNvPr id="45" name="文本框 44">
              <a:extLst>
                <a:ext uri="{FF2B5EF4-FFF2-40B4-BE49-F238E27FC236}">
                  <a16:creationId xmlns:a16="http://schemas.microsoft.com/office/drawing/2014/main" id="{4A3ADE20-F28A-4FE6-A768-711AC1EE443A}"/>
                </a:ext>
              </a:extLst>
            </p:cNvPr>
            <p:cNvSpPr txBox="1"/>
            <p:nvPr/>
          </p:nvSpPr>
          <p:spPr>
            <a:xfrm>
              <a:off x="3222664" y="4395203"/>
              <a:ext cx="2963594" cy="381822"/>
            </a:xfrm>
            <a:prstGeom prst="rect">
              <a:avLst/>
            </a:prstGeom>
            <a:noFill/>
          </p:spPr>
          <p:txBody>
            <a:bodyPr wrap="square">
              <a:spAutoFit/>
            </a:bodyPr>
            <a:lstStyle/>
            <a:p>
              <a:pPr marL="0" marR="0"/>
              <a:r>
                <a:rPr lang="zh-CN" altLang="en-US" sz="1600" dirty="0">
                  <a:effectLst/>
                  <a:latin typeface="KaiTi" panose="02010609060101010101" pitchFamily="49" charset="-122"/>
                  <a:ea typeface="KaiTi" panose="02010609060101010101" pitchFamily="49" charset="-122"/>
                </a:rPr>
                <a:t>②左子节点特征的直方图</a:t>
              </a:r>
            </a:p>
          </p:txBody>
        </p:sp>
        <p:sp>
          <p:nvSpPr>
            <p:cNvPr id="46" name="文本框 45">
              <a:extLst>
                <a:ext uri="{FF2B5EF4-FFF2-40B4-BE49-F238E27FC236}">
                  <a16:creationId xmlns:a16="http://schemas.microsoft.com/office/drawing/2014/main" id="{4FB2BC2F-EA43-4D3B-90F7-963F9CEADBEB}"/>
                </a:ext>
              </a:extLst>
            </p:cNvPr>
            <p:cNvSpPr txBox="1"/>
            <p:nvPr/>
          </p:nvSpPr>
          <p:spPr>
            <a:xfrm>
              <a:off x="3266195" y="6180760"/>
              <a:ext cx="2963594" cy="381822"/>
            </a:xfrm>
            <a:prstGeom prst="rect">
              <a:avLst/>
            </a:prstGeom>
            <a:noFill/>
          </p:spPr>
          <p:txBody>
            <a:bodyPr wrap="square">
              <a:spAutoFit/>
            </a:bodyPr>
            <a:lstStyle/>
            <a:p>
              <a:pPr marL="0" marR="0"/>
              <a:r>
                <a:rPr lang="zh-CN" altLang="en-US" sz="1600" dirty="0">
                  <a:effectLst/>
                  <a:latin typeface="KaiTi" panose="02010609060101010101" pitchFamily="49" charset="-122"/>
                  <a:ea typeface="KaiTi" panose="02010609060101010101" pitchFamily="49" charset="-122"/>
                </a:rPr>
                <a:t>③右子节点特征的直方图</a:t>
              </a:r>
            </a:p>
          </p:txBody>
        </p:sp>
        <p:sp>
          <p:nvSpPr>
            <p:cNvPr id="43" name="文本框 42">
              <a:extLst>
                <a:ext uri="{FF2B5EF4-FFF2-40B4-BE49-F238E27FC236}">
                  <a16:creationId xmlns:a16="http://schemas.microsoft.com/office/drawing/2014/main" id="{36063B3C-FBB7-472E-8EFB-EA73F70D00BA}"/>
                </a:ext>
              </a:extLst>
            </p:cNvPr>
            <p:cNvSpPr txBox="1"/>
            <p:nvPr/>
          </p:nvSpPr>
          <p:spPr>
            <a:xfrm>
              <a:off x="6140831" y="2024590"/>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3</a:t>
              </a:r>
              <a:endParaRPr lang="zh-CN" altLang="en-US" sz="1200" dirty="0">
                <a:latin typeface="KaiTi" panose="02010609060101010101" pitchFamily="49" charset="-122"/>
                <a:ea typeface="KaiTi" panose="02010609060101010101" pitchFamily="49" charset="-122"/>
              </a:endParaRPr>
            </a:p>
          </p:txBody>
        </p:sp>
        <p:sp>
          <p:nvSpPr>
            <p:cNvPr id="48" name="文本框 47">
              <a:extLst>
                <a:ext uri="{FF2B5EF4-FFF2-40B4-BE49-F238E27FC236}">
                  <a16:creationId xmlns:a16="http://schemas.microsoft.com/office/drawing/2014/main" id="{E59FEB9C-22D8-41AB-962E-96B0F779BD8B}"/>
                </a:ext>
              </a:extLst>
            </p:cNvPr>
            <p:cNvSpPr txBox="1"/>
            <p:nvPr/>
          </p:nvSpPr>
          <p:spPr>
            <a:xfrm>
              <a:off x="6423565" y="4168414"/>
              <a:ext cx="1065643"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0</a:t>
              </a:r>
              <a:endParaRPr lang="zh-CN" altLang="en-US" sz="1200" dirty="0">
                <a:latin typeface="KaiTi" panose="02010609060101010101" pitchFamily="49" charset="-122"/>
                <a:ea typeface="KaiTi" panose="02010609060101010101" pitchFamily="49" charset="-122"/>
              </a:endParaRPr>
            </a:p>
          </p:txBody>
        </p:sp>
        <p:sp>
          <p:nvSpPr>
            <p:cNvPr id="49" name="文本框 48">
              <a:extLst>
                <a:ext uri="{FF2B5EF4-FFF2-40B4-BE49-F238E27FC236}">
                  <a16:creationId xmlns:a16="http://schemas.microsoft.com/office/drawing/2014/main" id="{B3651C36-E853-406B-B97F-D863C3A9C8D7}"/>
                </a:ext>
              </a:extLst>
            </p:cNvPr>
            <p:cNvSpPr txBox="1"/>
            <p:nvPr/>
          </p:nvSpPr>
          <p:spPr>
            <a:xfrm>
              <a:off x="6165891" y="3719011"/>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3</a:t>
              </a:r>
              <a:endParaRPr lang="zh-CN" altLang="en-US" sz="1200" dirty="0">
                <a:latin typeface="KaiTi" panose="02010609060101010101" pitchFamily="49" charset="-122"/>
                <a:ea typeface="KaiTi" panose="02010609060101010101" pitchFamily="49" charset="-122"/>
              </a:endParaRPr>
            </a:p>
          </p:txBody>
        </p:sp>
        <p:sp>
          <p:nvSpPr>
            <p:cNvPr id="50" name="文本框 49">
              <a:extLst>
                <a:ext uri="{FF2B5EF4-FFF2-40B4-BE49-F238E27FC236}">
                  <a16:creationId xmlns:a16="http://schemas.microsoft.com/office/drawing/2014/main" id="{57C4B952-C8A5-4979-8723-AF4BD6FD0200}"/>
                </a:ext>
              </a:extLst>
            </p:cNvPr>
            <p:cNvSpPr txBox="1"/>
            <p:nvPr/>
          </p:nvSpPr>
          <p:spPr>
            <a:xfrm>
              <a:off x="6670767" y="1691924"/>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7</a:t>
              </a:r>
              <a:endParaRPr lang="zh-CN" altLang="en-US" sz="1200" dirty="0">
                <a:latin typeface="KaiTi" panose="02010609060101010101" pitchFamily="49" charset="-122"/>
                <a:ea typeface="KaiTi" panose="02010609060101010101" pitchFamily="49" charset="-122"/>
              </a:endParaRPr>
            </a:p>
          </p:txBody>
        </p:sp>
        <p:sp>
          <p:nvSpPr>
            <p:cNvPr id="51" name="文本框 50">
              <a:extLst>
                <a:ext uri="{FF2B5EF4-FFF2-40B4-BE49-F238E27FC236}">
                  <a16:creationId xmlns:a16="http://schemas.microsoft.com/office/drawing/2014/main" id="{DCEB3E36-666C-47D9-9840-8E24D4E86FE3}"/>
                </a:ext>
              </a:extLst>
            </p:cNvPr>
            <p:cNvSpPr txBox="1"/>
            <p:nvPr/>
          </p:nvSpPr>
          <p:spPr>
            <a:xfrm>
              <a:off x="8991985" y="2024090"/>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3</a:t>
              </a:r>
              <a:endParaRPr lang="zh-CN" altLang="en-US" sz="1200" dirty="0">
                <a:latin typeface="KaiTi" panose="02010609060101010101" pitchFamily="49" charset="-122"/>
                <a:ea typeface="KaiTi" panose="02010609060101010101" pitchFamily="49" charset="-122"/>
              </a:endParaRPr>
            </a:p>
          </p:txBody>
        </p:sp>
        <p:sp>
          <p:nvSpPr>
            <p:cNvPr id="52" name="文本框 51">
              <a:extLst>
                <a:ext uri="{FF2B5EF4-FFF2-40B4-BE49-F238E27FC236}">
                  <a16:creationId xmlns:a16="http://schemas.microsoft.com/office/drawing/2014/main" id="{31294F82-1483-439C-BB5E-8B7B8436ADCD}"/>
                </a:ext>
              </a:extLst>
            </p:cNvPr>
            <p:cNvSpPr txBox="1"/>
            <p:nvPr/>
          </p:nvSpPr>
          <p:spPr>
            <a:xfrm>
              <a:off x="8658893" y="1781446"/>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5</a:t>
              </a:r>
              <a:endParaRPr lang="zh-CN" altLang="en-US" sz="1200" dirty="0">
                <a:latin typeface="KaiTi" panose="02010609060101010101" pitchFamily="49" charset="-122"/>
                <a:ea typeface="KaiTi" panose="02010609060101010101" pitchFamily="49" charset="-122"/>
              </a:endParaRPr>
            </a:p>
          </p:txBody>
        </p:sp>
        <p:sp>
          <p:nvSpPr>
            <p:cNvPr id="53" name="文本框 52">
              <a:extLst>
                <a:ext uri="{FF2B5EF4-FFF2-40B4-BE49-F238E27FC236}">
                  <a16:creationId xmlns:a16="http://schemas.microsoft.com/office/drawing/2014/main" id="{389D7CF4-AD6F-41FB-8083-D4A5F89E94E4}"/>
                </a:ext>
              </a:extLst>
            </p:cNvPr>
            <p:cNvSpPr txBox="1"/>
            <p:nvPr/>
          </p:nvSpPr>
          <p:spPr>
            <a:xfrm>
              <a:off x="5909397" y="5951600"/>
              <a:ext cx="1404899"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3-3=0</a:t>
              </a:r>
              <a:endParaRPr lang="zh-CN" altLang="en-US" sz="1200" dirty="0">
                <a:latin typeface="KaiTi" panose="02010609060101010101" pitchFamily="49" charset="-122"/>
                <a:ea typeface="KaiTi" panose="02010609060101010101" pitchFamily="49" charset="-122"/>
              </a:endParaRPr>
            </a:p>
          </p:txBody>
        </p:sp>
        <p:sp>
          <p:nvSpPr>
            <p:cNvPr id="54" name="文本框 53">
              <a:extLst>
                <a:ext uri="{FF2B5EF4-FFF2-40B4-BE49-F238E27FC236}">
                  <a16:creationId xmlns:a16="http://schemas.microsoft.com/office/drawing/2014/main" id="{EBD739E0-A56C-415D-B64F-F38362024B8A}"/>
                </a:ext>
              </a:extLst>
            </p:cNvPr>
            <p:cNvSpPr txBox="1"/>
            <p:nvPr/>
          </p:nvSpPr>
          <p:spPr>
            <a:xfrm>
              <a:off x="8382327" y="4105588"/>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1</a:t>
              </a:r>
              <a:endParaRPr lang="zh-CN" altLang="en-US" sz="1200" dirty="0">
                <a:latin typeface="KaiTi" panose="02010609060101010101" pitchFamily="49" charset="-122"/>
                <a:ea typeface="KaiTi" panose="02010609060101010101" pitchFamily="49" charset="-122"/>
              </a:endParaRPr>
            </a:p>
          </p:txBody>
        </p:sp>
        <p:sp>
          <p:nvSpPr>
            <p:cNvPr id="55" name="文本框 54">
              <a:extLst>
                <a:ext uri="{FF2B5EF4-FFF2-40B4-BE49-F238E27FC236}">
                  <a16:creationId xmlns:a16="http://schemas.microsoft.com/office/drawing/2014/main" id="{2D639992-51AE-4412-8901-399FDA4B6ED3}"/>
                </a:ext>
              </a:extLst>
            </p:cNvPr>
            <p:cNvSpPr txBox="1"/>
            <p:nvPr/>
          </p:nvSpPr>
          <p:spPr>
            <a:xfrm>
              <a:off x="8672952" y="3946243"/>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2</a:t>
              </a:r>
              <a:endParaRPr lang="zh-CN" altLang="en-US" sz="1200" dirty="0">
                <a:latin typeface="KaiTi" panose="02010609060101010101" pitchFamily="49" charset="-122"/>
                <a:ea typeface="KaiTi" panose="02010609060101010101" pitchFamily="49" charset="-122"/>
              </a:endParaRPr>
            </a:p>
          </p:txBody>
        </p:sp>
        <p:sp>
          <p:nvSpPr>
            <p:cNvPr id="56" name="文本框 55">
              <a:extLst>
                <a:ext uri="{FF2B5EF4-FFF2-40B4-BE49-F238E27FC236}">
                  <a16:creationId xmlns:a16="http://schemas.microsoft.com/office/drawing/2014/main" id="{60D43F8F-6096-40DB-A5D5-339CB925B766}"/>
                </a:ext>
              </a:extLst>
            </p:cNvPr>
            <p:cNvSpPr txBox="1"/>
            <p:nvPr/>
          </p:nvSpPr>
          <p:spPr>
            <a:xfrm>
              <a:off x="9008909" y="4081038"/>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1</a:t>
              </a:r>
              <a:endParaRPr lang="zh-CN" altLang="en-US" sz="1200" dirty="0">
                <a:latin typeface="KaiTi" panose="02010609060101010101" pitchFamily="49" charset="-122"/>
                <a:ea typeface="KaiTi" panose="02010609060101010101" pitchFamily="49" charset="-122"/>
              </a:endParaRPr>
            </a:p>
          </p:txBody>
        </p:sp>
        <p:sp>
          <p:nvSpPr>
            <p:cNvPr id="57" name="文本框 56">
              <a:extLst>
                <a:ext uri="{FF2B5EF4-FFF2-40B4-BE49-F238E27FC236}">
                  <a16:creationId xmlns:a16="http://schemas.microsoft.com/office/drawing/2014/main" id="{BCF13E7B-19B5-476B-9B1A-B7D98DDDC71D}"/>
                </a:ext>
              </a:extLst>
            </p:cNvPr>
            <p:cNvSpPr txBox="1"/>
            <p:nvPr/>
          </p:nvSpPr>
          <p:spPr>
            <a:xfrm>
              <a:off x="6696094" y="5429385"/>
              <a:ext cx="959056"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7-0=7</a:t>
              </a:r>
              <a:endParaRPr lang="zh-CN" altLang="en-US" sz="1200" dirty="0">
                <a:latin typeface="KaiTi" panose="02010609060101010101" pitchFamily="49" charset="-122"/>
                <a:ea typeface="KaiTi" panose="02010609060101010101" pitchFamily="49" charset="-122"/>
              </a:endParaRPr>
            </a:p>
          </p:txBody>
        </p:sp>
        <p:sp>
          <p:nvSpPr>
            <p:cNvPr id="58" name="文本框 57">
              <a:extLst>
                <a:ext uri="{FF2B5EF4-FFF2-40B4-BE49-F238E27FC236}">
                  <a16:creationId xmlns:a16="http://schemas.microsoft.com/office/drawing/2014/main" id="{B6AB5BAA-0F31-4FFD-9CE2-9317A36845D8}"/>
                </a:ext>
              </a:extLst>
            </p:cNvPr>
            <p:cNvSpPr txBox="1"/>
            <p:nvPr/>
          </p:nvSpPr>
          <p:spPr>
            <a:xfrm>
              <a:off x="8336261" y="2279284"/>
              <a:ext cx="179964"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2</a:t>
              </a:r>
              <a:endParaRPr lang="zh-CN" altLang="en-US" sz="1200" dirty="0">
                <a:latin typeface="KaiTi" panose="02010609060101010101" pitchFamily="49" charset="-122"/>
                <a:ea typeface="KaiTi" panose="02010609060101010101" pitchFamily="49" charset="-122"/>
              </a:endParaRPr>
            </a:p>
          </p:txBody>
        </p:sp>
        <p:sp>
          <p:nvSpPr>
            <p:cNvPr id="59" name="文本框 58">
              <a:extLst>
                <a:ext uri="{FF2B5EF4-FFF2-40B4-BE49-F238E27FC236}">
                  <a16:creationId xmlns:a16="http://schemas.microsoft.com/office/drawing/2014/main" id="{AA5EC796-7240-4550-9D3F-8D3E1E3305E0}"/>
                </a:ext>
              </a:extLst>
            </p:cNvPr>
            <p:cNvSpPr txBox="1"/>
            <p:nvPr/>
          </p:nvSpPr>
          <p:spPr>
            <a:xfrm>
              <a:off x="9138791" y="5794693"/>
              <a:ext cx="1011716"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3-1=2</a:t>
              </a:r>
              <a:endParaRPr lang="zh-CN" altLang="en-US" sz="1200" dirty="0">
                <a:latin typeface="KaiTi" panose="02010609060101010101" pitchFamily="49" charset="-122"/>
                <a:ea typeface="KaiTi" panose="02010609060101010101" pitchFamily="49" charset="-122"/>
              </a:endParaRPr>
            </a:p>
          </p:txBody>
        </p:sp>
        <p:sp>
          <p:nvSpPr>
            <p:cNvPr id="60" name="文本框 59">
              <a:extLst>
                <a:ext uri="{FF2B5EF4-FFF2-40B4-BE49-F238E27FC236}">
                  <a16:creationId xmlns:a16="http://schemas.microsoft.com/office/drawing/2014/main" id="{BDB6602F-F253-4FD3-93BD-6C746D8BE311}"/>
                </a:ext>
              </a:extLst>
            </p:cNvPr>
            <p:cNvSpPr txBox="1"/>
            <p:nvPr/>
          </p:nvSpPr>
          <p:spPr>
            <a:xfrm>
              <a:off x="8549277" y="5562612"/>
              <a:ext cx="788099"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5-2=3</a:t>
              </a:r>
              <a:endParaRPr lang="zh-CN" altLang="en-US" sz="1200" dirty="0">
                <a:latin typeface="KaiTi" panose="02010609060101010101" pitchFamily="49" charset="-122"/>
                <a:ea typeface="KaiTi" panose="02010609060101010101" pitchFamily="49" charset="-122"/>
              </a:endParaRPr>
            </a:p>
          </p:txBody>
        </p:sp>
        <p:sp>
          <p:nvSpPr>
            <p:cNvPr id="61" name="文本框 60">
              <a:extLst>
                <a:ext uri="{FF2B5EF4-FFF2-40B4-BE49-F238E27FC236}">
                  <a16:creationId xmlns:a16="http://schemas.microsoft.com/office/drawing/2014/main" id="{97837EA7-0C3F-4C09-933B-204C9566A29F}"/>
                </a:ext>
              </a:extLst>
            </p:cNvPr>
            <p:cNvSpPr txBox="1"/>
            <p:nvPr/>
          </p:nvSpPr>
          <p:spPr>
            <a:xfrm>
              <a:off x="8126140" y="5958225"/>
              <a:ext cx="1209352" cy="312400"/>
            </a:xfrm>
            <a:prstGeom prst="rect">
              <a:avLst/>
            </a:prstGeom>
            <a:noFill/>
          </p:spPr>
          <p:txBody>
            <a:bodyPr wrap="square" rtlCol="0">
              <a:spAutoFit/>
            </a:bodyPr>
            <a:lstStyle/>
            <a:p>
              <a:r>
                <a:rPr lang="en-US" altLang="zh-CN" sz="1200" dirty="0">
                  <a:latin typeface="KaiTi" panose="02010609060101010101" pitchFamily="49" charset="-122"/>
                  <a:ea typeface="KaiTi" panose="02010609060101010101" pitchFamily="49" charset="-122"/>
                </a:rPr>
                <a:t>2-1=1</a:t>
              </a:r>
              <a:endParaRPr lang="zh-CN" altLang="en-US" sz="1200"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0A2E66B0-82C0-4C3E-90B2-E3F0B963F36A}"/>
                    </a:ext>
                  </a:extLst>
                </p:cNvPr>
                <p:cNvSpPr txBox="1"/>
                <p:nvPr/>
              </p:nvSpPr>
              <p:spPr>
                <a:xfrm>
                  <a:off x="7029777" y="2890543"/>
                  <a:ext cx="779204" cy="3124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zh-CN" altLang="en-US" sz="1200" i="0">
                                <a:latin typeface="Cambria Math" panose="02040503050406030204" pitchFamily="18" charset="0"/>
                              </a:rPr>
                              <m:t>1</m:t>
                            </m:r>
                          </m:sub>
                        </m:sSub>
                      </m:oMath>
                    </m:oMathPara>
                  </a14:m>
                  <a:endParaRPr lang="zh-CN" altLang="en-US" sz="1200" dirty="0">
                    <a:latin typeface="KaiTi" panose="02010609060101010101" pitchFamily="49" charset="-122"/>
                    <a:ea typeface="KaiTi" panose="02010609060101010101" pitchFamily="49" charset="-122"/>
                  </a:endParaRPr>
                </a:p>
              </p:txBody>
            </p:sp>
          </mc:Choice>
          <mc:Fallback xmlns="">
            <p:sp>
              <p:nvSpPr>
                <p:cNvPr id="63" name="文本框 62">
                  <a:extLst>
                    <a:ext uri="{FF2B5EF4-FFF2-40B4-BE49-F238E27FC236}">
                      <a16:creationId xmlns:a16="http://schemas.microsoft.com/office/drawing/2014/main" id="{0A2E66B0-82C0-4C3E-90B2-E3F0B963F36A}"/>
                    </a:ext>
                  </a:extLst>
                </p:cNvPr>
                <p:cNvSpPr txBox="1">
                  <a:spLocks noRot="1" noChangeAspect="1" noMove="1" noResize="1" noEditPoints="1" noAdjustHandles="1" noChangeArrowheads="1" noChangeShapeType="1" noTextEdit="1"/>
                </p:cNvSpPr>
                <p:nvPr/>
              </p:nvSpPr>
              <p:spPr>
                <a:xfrm>
                  <a:off x="7029777" y="2890543"/>
                  <a:ext cx="779204" cy="312400"/>
                </a:xfrm>
                <a:prstGeom prst="rect">
                  <a:avLst/>
                </a:prstGeom>
                <a:blipFill>
                  <a:blip r:embed="rId3"/>
                  <a:stretch>
                    <a:fillRect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A8752DF6-EED3-4459-B24C-4FDBED36F93B}"/>
                    </a:ext>
                  </a:extLst>
                </p:cNvPr>
                <p:cNvSpPr txBox="1"/>
                <p:nvPr/>
              </p:nvSpPr>
              <p:spPr>
                <a:xfrm>
                  <a:off x="8212988" y="2862400"/>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zh-CN" altLang="en-US" sz="1600" i="0">
                                <a:latin typeface="Cambria Math" panose="02040503050406030204" pitchFamily="18" charset="0"/>
                              </a:rPr>
                              <m:t>1</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1" name="文本框 70">
                  <a:extLst>
                    <a:ext uri="{FF2B5EF4-FFF2-40B4-BE49-F238E27FC236}">
                      <a16:creationId xmlns:a16="http://schemas.microsoft.com/office/drawing/2014/main" id="{A8752DF6-EED3-4459-B24C-4FDBED36F93B}"/>
                    </a:ext>
                  </a:extLst>
                </p:cNvPr>
                <p:cNvSpPr txBox="1">
                  <a:spLocks noRot="1" noChangeAspect="1" noMove="1" noResize="1" noEditPoints="1" noAdjustHandles="1" noChangeArrowheads="1" noChangeShapeType="1" noTextEdit="1"/>
                </p:cNvSpPr>
                <p:nvPr/>
              </p:nvSpPr>
              <p:spPr>
                <a:xfrm>
                  <a:off x="8212988" y="2862400"/>
                  <a:ext cx="609600" cy="381822"/>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5DD17039-05F1-49D0-BE97-7205F62350BE}"/>
                    </a:ext>
                  </a:extLst>
                </p:cNvPr>
                <p:cNvSpPr txBox="1"/>
                <p:nvPr/>
              </p:nvSpPr>
              <p:spPr>
                <a:xfrm>
                  <a:off x="8555858" y="2868910"/>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en-US" altLang="zh-CN" sz="1600" b="0" i="1" smtClean="0">
                                <a:latin typeface="Cambria Math" panose="02040503050406030204" pitchFamily="18" charset="0"/>
                              </a:rPr>
                              <m:t>2</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2" name="文本框 71">
                  <a:extLst>
                    <a:ext uri="{FF2B5EF4-FFF2-40B4-BE49-F238E27FC236}">
                      <a16:creationId xmlns:a16="http://schemas.microsoft.com/office/drawing/2014/main" id="{5DD17039-05F1-49D0-BE97-7205F62350BE}"/>
                    </a:ext>
                  </a:extLst>
                </p:cNvPr>
                <p:cNvSpPr txBox="1">
                  <a:spLocks noRot="1" noChangeAspect="1" noMove="1" noResize="1" noEditPoints="1" noAdjustHandles="1" noChangeArrowheads="1" noChangeShapeType="1" noTextEdit="1"/>
                </p:cNvSpPr>
                <p:nvPr/>
              </p:nvSpPr>
              <p:spPr>
                <a:xfrm>
                  <a:off x="8555858" y="2868910"/>
                  <a:ext cx="609600" cy="381822"/>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F38D2B04-652C-4D8F-8990-426AC413172F}"/>
                    </a:ext>
                  </a:extLst>
                </p:cNvPr>
                <p:cNvSpPr txBox="1"/>
                <p:nvPr/>
              </p:nvSpPr>
              <p:spPr>
                <a:xfrm>
                  <a:off x="8863204" y="2864864"/>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23</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3" name="文本框 72">
                  <a:extLst>
                    <a:ext uri="{FF2B5EF4-FFF2-40B4-BE49-F238E27FC236}">
                      <a16:creationId xmlns:a16="http://schemas.microsoft.com/office/drawing/2014/main" id="{F38D2B04-652C-4D8F-8990-426AC413172F}"/>
                    </a:ext>
                  </a:extLst>
                </p:cNvPr>
                <p:cNvSpPr txBox="1">
                  <a:spLocks noRot="1" noChangeAspect="1" noMove="1" noResize="1" noEditPoints="1" noAdjustHandles="1" noChangeArrowheads="1" noChangeShapeType="1" noTextEdit="1"/>
                </p:cNvSpPr>
                <p:nvPr/>
              </p:nvSpPr>
              <p:spPr>
                <a:xfrm>
                  <a:off x="8863204" y="2864864"/>
                  <a:ext cx="609600" cy="381822"/>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54EA36F7-4FDA-4AA1-9F17-5072BA525AAF}"/>
                    </a:ext>
                  </a:extLst>
                </p:cNvPr>
                <p:cNvSpPr txBox="1"/>
                <p:nvPr/>
              </p:nvSpPr>
              <p:spPr>
                <a:xfrm>
                  <a:off x="6042725" y="2875887"/>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zh-CN" altLang="en-US" sz="1600" i="0">
                                <a:latin typeface="Cambria Math" panose="02040503050406030204" pitchFamily="18" charset="0"/>
                              </a:rPr>
                              <m:t>1</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4" name="文本框 73">
                  <a:extLst>
                    <a:ext uri="{FF2B5EF4-FFF2-40B4-BE49-F238E27FC236}">
                      <a16:creationId xmlns:a16="http://schemas.microsoft.com/office/drawing/2014/main" id="{54EA36F7-4FDA-4AA1-9F17-5072BA525AAF}"/>
                    </a:ext>
                  </a:extLst>
                </p:cNvPr>
                <p:cNvSpPr txBox="1">
                  <a:spLocks noRot="1" noChangeAspect="1" noMove="1" noResize="1" noEditPoints="1" noAdjustHandles="1" noChangeArrowheads="1" noChangeShapeType="1" noTextEdit="1"/>
                </p:cNvSpPr>
                <p:nvPr/>
              </p:nvSpPr>
              <p:spPr>
                <a:xfrm>
                  <a:off x="6042725" y="2875887"/>
                  <a:ext cx="609600" cy="381822"/>
                </a:xfrm>
                <a:prstGeom prst="rect">
                  <a:avLst/>
                </a:prstGeom>
                <a:blipFill>
                  <a:blip r:embed="rId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D095F26F-FE10-4AAC-99C4-FF297DCE9294}"/>
                    </a:ext>
                  </a:extLst>
                </p:cNvPr>
                <p:cNvSpPr txBox="1"/>
                <p:nvPr/>
              </p:nvSpPr>
              <p:spPr>
                <a:xfrm>
                  <a:off x="6385595" y="2882397"/>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en-US" altLang="zh-CN" sz="1600" b="0" i="1" smtClean="0">
                                <a:latin typeface="Cambria Math" panose="02040503050406030204" pitchFamily="18" charset="0"/>
                              </a:rPr>
                              <m:t>2</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5" name="文本框 74">
                  <a:extLst>
                    <a:ext uri="{FF2B5EF4-FFF2-40B4-BE49-F238E27FC236}">
                      <a16:creationId xmlns:a16="http://schemas.microsoft.com/office/drawing/2014/main" id="{D095F26F-FE10-4AAC-99C4-FF297DCE9294}"/>
                    </a:ext>
                  </a:extLst>
                </p:cNvPr>
                <p:cNvSpPr txBox="1">
                  <a:spLocks noRot="1" noChangeAspect="1" noMove="1" noResize="1" noEditPoints="1" noAdjustHandles="1" noChangeArrowheads="1" noChangeShapeType="1" noTextEdit="1"/>
                </p:cNvSpPr>
                <p:nvPr/>
              </p:nvSpPr>
              <p:spPr>
                <a:xfrm>
                  <a:off x="6385595" y="2882397"/>
                  <a:ext cx="609600" cy="381822"/>
                </a:xfrm>
                <a:prstGeom prst="rect">
                  <a:avLst/>
                </a:prstGeom>
                <a:blipFill>
                  <a:blip r:embed="rId8"/>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D457A55E-4CA3-401E-81CB-1BCB1369BA7C}"/>
                    </a:ext>
                  </a:extLst>
                </p:cNvPr>
                <p:cNvSpPr txBox="1"/>
                <p:nvPr/>
              </p:nvSpPr>
              <p:spPr>
                <a:xfrm>
                  <a:off x="6020765" y="6364684"/>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zh-CN" altLang="en-US" sz="1600" i="0">
                                <a:latin typeface="Cambria Math" panose="02040503050406030204" pitchFamily="18" charset="0"/>
                              </a:rPr>
                              <m:t>1</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6" name="文本框 75">
                  <a:extLst>
                    <a:ext uri="{FF2B5EF4-FFF2-40B4-BE49-F238E27FC236}">
                      <a16:creationId xmlns:a16="http://schemas.microsoft.com/office/drawing/2014/main" id="{D457A55E-4CA3-401E-81CB-1BCB1369BA7C}"/>
                    </a:ext>
                  </a:extLst>
                </p:cNvPr>
                <p:cNvSpPr txBox="1">
                  <a:spLocks noRot="1" noChangeAspect="1" noMove="1" noResize="1" noEditPoints="1" noAdjustHandles="1" noChangeArrowheads="1" noChangeShapeType="1" noTextEdit="1"/>
                </p:cNvSpPr>
                <p:nvPr/>
              </p:nvSpPr>
              <p:spPr>
                <a:xfrm>
                  <a:off x="6020765" y="6364684"/>
                  <a:ext cx="609600" cy="381822"/>
                </a:xfrm>
                <a:prstGeom prst="rect">
                  <a:avLst/>
                </a:prstGeom>
                <a:blipFill>
                  <a:blip r:embed="rId9"/>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B7907885-D262-4AD4-B4B4-4E0CBCF74942}"/>
                    </a:ext>
                  </a:extLst>
                </p:cNvPr>
                <p:cNvSpPr txBox="1"/>
                <p:nvPr/>
              </p:nvSpPr>
              <p:spPr>
                <a:xfrm>
                  <a:off x="6363635" y="6371194"/>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en-US" altLang="zh-CN" sz="1600" b="0" i="1" smtClean="0">
                                <a:latin typeface="Cambria Math" panose="02040503050406030204" pitchFamily="18" charset="0"/>
                              </a:rPr>
                              <m:t>2</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7" name="文本框 76">
                  <a:extLst>
                    <a:ext uri="{FF2B5EF4-FFF2-40B4-BE49-F238E27FC236}">
                      <a16:creationId xmlns:a16="http://schemas.microsoft.com/office/drawing/2014/main" id="{B7907885-D262-4AD4-B4B4-4E0CBCF74942}"/>
                    </a:ext>
                  </a:extLst>
                </p:cNvPr>
                <p:cNvSpPr txBox="1">
                  <a:spLocks noRot="1" noChangeAspect="1" noMove="1" noResize="1" noEditPoints="1" noAdjustHandles="1" noChangeArrowheads="1" noChangeShapeType="1" noTextEdit="1"/>
                </p:cNvSpPr>
                <p:nvPr/>
              </p:nvSpPr>
              <p:spPr>
                <a:xfrm>
                  <a:off x="6363635" y="6371194"/>
                  <a:ext cx="609600" cy="381822"/>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6095D77A-E983-455E-84ED-8834B297A664}"/>
                    </a:ext>
                  </a:extLst>
                </p:cNvPr>
                <p:cNvSpPr txBox="1"/>
                <p:nvPr/>
              </p:nvSpPr>
              <p:spPr>
                <a:xfrm>
                  <a:off x="6005389" y="4606439"/>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zh-CN" altLang="en-US" sz="1600" i="0">
                                <a:latin typeface="Cambria Math" panose="02040503050406030204" pitchFamily="18" charset="0"/>
                              </a:rPr>
                              <m:t>1</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8" name="文本框 77">
                  <a:extLst>
                    <a:ext uri="{FF2B5EF4-FFF2-40B4-BE49-F238E27FC236}">
                      <a16:creationId xmlns:a16="http://schemas.microsoft.com/office/drawing/2014/main" id="{6095D77A-E983-455E-84ED-8834B297A664}"/>
                    </a:ext>
                  </a:extLst>
                </p:cNvPr>
                <p:cNvSpPr txBox="1">
                  <a:spLocks noRot="1" noChangeAspect="1" noMove="1" noResize="1" noEditPoints="1" noAdjustHandles="1" noChangeArrowheads="1" noChangeShapeType="1" noTextEdit="1"/>
                </p:cNvSpPr>
                <p:nvPr/>
              </p:nvSpPr>
              <p:spPr>
                <a:xfrm>
                  <a:off x="6005389" y="4606439"/>
                  <a:ext cx="609600" cy="381822"/>
                </a:xfrm>
                <a:prstGeom prst="rect">
                  <a:avLst/>
                </a:prstGeom>
                <a:blipFill>
                  <a:blip r:embed="rId11"/>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C9E85D69-F4E5-423D-8AC8-A0D4C2A50035}"/>
                    </a:ext>
                  </a:extLst>
                </p:cNvPr>
                <p:cNvSpPr txBox="1"/>
                <p:nvPr/>
              </p:nvSpPr>
              <p:spPr>
                <a:xfrm>
                  <a:off x="6348259" y="4612949"/>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1</m:t>
                            </m:r>
                            <m:r>
                              <a:rPr lang="en-US" altLang="zh-CN" sz="1600" b="0" i="1" smtClean="0">
                                <a:latin typeface="Cambria Math" panose="02040503050406030204" pitchFamily="18" charset="0"/>
                              </a:rPr>
                              <m:t>2</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79" name="文本框 78">
                  <a:extLst>
                    <a:ext uri="{FF2B5EF4-FFF2-40B4-BE49-F238E27FC236}">
                      <a16:creationId xmlns:a16="http://schemas.microsoft.com/office/drawing/2014/main" id="{C9E85D69-F4E5-423D-8AC8-A0D4C2A50035}"/>
                    </a:ext>
                  </a:extLst>
                </p:cNvPr>
                <p:cNvSpPr txBox="1">
                  <a:spLocks noRot="1" noChangeAspect="1" noMove="1" noResize="1" noEditPoints="1" noAdjustHandles="1" noChangeArrowheads="1" noChangeShapeType="1" noTextEdit="1"/>
                </p:cNvSpPr>
                <p:nvPr/>
              </p:nvSpPr>
              <p:spPr>
                <a:xfrm>
                  <a:off x="6348259" y="4612949"/>
                  <a:ext cx="609600" cy="381822"/>
                </a:xfrm>
                <a:prstGeom prst="rect">
                  <a:avLst/>
                </a:prstGeom>
                <a:blipFill>
                  <a:blip r:embed="rId1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5B11D35B-231B-4C2A-9962-E7F71A2A59FF}"/>
                    </a:ext>
                  </a:extLst>
                </p:cNvPr>
                <p:cNvSpPr txBox="1"/>
                <p:nvPr/>
              </p:nvSpPr>
              <p:spPr>
                <a:xfrm>
                  <a:off x="8213912" y="4607678"/>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zh-CN" altLang="en-US" sz="1600" i="0">
                                <a:latin typeface="Cambria Math" panose="02040503050406030204" pitchFamily="18" charset="0"/>
                              </a:rPr>
                              <m:t>1</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80" name="文本框 79">
                  <a:extLst>
                    <a:ext uri="{FF2B5EF4-FFF2-40B4-BE49-F238E27FC236}">
                      <a16:creationId xmlns:a16="http://schemas.microsoft.com/office/drawing/2014/main" id="{5B11D35B-231B-4C2A-9962-E7F71A2A59FF}"/>
                    </a:ext>
                  </a:extLst>
                </p:cNvPr>
                <p:cNvSpPr txBox="1">
                  <a:spLocks noRot="1" noChangeAspect="1" noMove="1" noResize="1" noEditPoints="1" noAdjustHandles="1" noChangeArrowheads="1" noChangeShapeType="1" noTextEdit="1"/>
                </p:cNvSpPr>
                <p:nvPr/>
              </p:nvSpPr>
              <p:spPr>
                <a:xfrm>
                  <a:off x="8213912" y="4607678"/>
                  <a:ext cx="609600" cy="381822"/>
                </a:xfrm>
                <a:prstGeom prst="rect">
                  <a:avLst/>
                </a:prstGeom>
                <a:blipFill>
                  <a:blip r:embed="rId1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B590BF42-F2B1-4EA0-BBD2-F87B1760BF04}"/>
                    </a:ext>
                  </a:extLst>
                </p:cNvPr>
                <p:cNvSpPr txBox="1"/>
                <p:nvPr/>
              </p:nvSpPr>
              <p:spPr>
                <a:xfrm>
                  <a:off x="8556782" y="4614188"/>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en-US" altLang="zh-CN" sz="1600" b="0" i="1" smtClean="0">
                                <a:latin typeface="Cambria Math" panose="02040503050406030204" pitchFamily="18" charset="0"/>
                              </a:rPr>
                              <m:t>2</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81" name="文本框 80">
                  <a:extLst>
                    <a:ext uri="{FF2B5EF4-FFF2-40B4-BE49-F238E27FC236}">
                      <a16:creationId xmlns:a16="http://schemas.microsoft.com/office/drawing/2014/main" id="{B590BF42-F2B1-4EA0-BBD2-F87B1760BF04}"/>
                    </a:ext>
                  </a:extLst>
                </p:cNvPr>
                <p:cNvSpPr txBox="1">
                  <a:spLocks noRot="1" noChangeAspect="1" noMove="1" noResize="1" noEditPoints="1" noAdjustHandles="1" noChangeArrowheads="1" noChangeShapeType="1" noTextEdit="1"/>
                </p:cNvSpPr>
                <p:nvPr/>
              </p:nvSpPr>
              <p:spPr>
                <a:xfrm>
                  <a:off x="8556782" y="4614188"/>
                  <a:ext cx="609600" cy="381822"/>
                </a:xfrm>
                <a:prstGeom prst="rect">
                  <a:avLst/>
                </a:prstGeom>
                <a:blipFill>
                  <a:blip r:embed="rId1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D13A5BA2-ECA8-4F26-843A-6CEC26FF6155}"/>
                    </a:ext>
                  </a:extLst>
                </p:cNvPr>
                <p:cNvSpPr txBox="1"/>
                <p:nvPr/>
              </p:nvSpPr>
              <p:spPr>
                <a:xfrm>
                  <a:off x="8864128" y="4610141"/>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23</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82" name="文本框 81">
                  <a:extLst>
                    <a:ext uri="{FF2B5EF4-FFF2-40B4-BE49-F238E27FC236}">
                      <a16:creationId xmlns:a16="http://schemas.microsoft.com/office/drawing/2014/main" id="{D13A5BA2-ECA8-4F26-843A-6CEC26FF6155}"/>
                    </a:ext>
                  </a:extLst>
                </p:cNvPr>
                <p:cNvSpPr txBox="1">
                  <a:spLocks noRot="1" noChangeAspect="1" noMove="1" noResize="1" noEditPoints="1" noAdjustHandles="1" noChangeArrowheads="1" noChangeShapeType="1" noTextEdit="1"/>
                </p:cNvSpPr>
                <p:nvPr/>
              </p:nvSpPr>
              <p:spPr>
                <a:xfrm>
                  <a:off x="8864128" y="4610141"/>
                  <a:ext cx="609600" cy="381822"/>
                </a:xfrm>
                <a:prstGeom prst="rect">
                  <a:avLst/>
                </a:prstGeom>
                <a:blipFill>
                  <a:blip r:embed="rId1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7D585C3A-FF0E-4D87-BCD9-535852D613DB}"/>
                    </a:ext>
                  </a:extLst>
                </p:cNvPr>
                <p:cNvSpPr txBox="1"/>
                <p:nvPr/>
              </p:nvSpPr>
              <p:spPr>
                <a:xfrm>
                  <a:off x="8290083" y="6365887"/>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zh-CN" altLang="en-US" sz="1600" i="0">
                                <a:latin typeface="Cambria Math" panose="02040503050406030204" pitchFamily="18" charset="0"/>
                              </a:rPr>
                              <m:t>1</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83" name="文本框 82">
                  <a:extLst>
                    <a:ext uri="{FF2B5EF4-FFF2-40B4-BE49-F238E27FC236}">
                      <a16:creationId xmlns:a16="http://schemas.microsoft.com/office/drawing/2014/main" id="{7D585C3A-FF0E-4D87-BCD9-535852D613DB}"/>
                    </a:ext>
                  </a:extLst>
                </p:cNvPr>
                <p:cNvSpPr txBox="1">
                  <a:spLocks noRot="1" noChangeAspect="1" noMove="1" noResize="1" noEditPoints="1" noAdjustHandles="1" noChangeArrowheads="1" noChangeShapeType="1" noTextEdit="1"/>
                </p:cNvSpPr>
                <p:nvPr/>
              </p:nvSpPr>
              <p:spPr>
                <a:xfrm>
                  <a:off x="8290083" y="6365887"/>
                  <a:ext cx="609600" cy="381822"/>
                </a:xfrm>
                <a:prstGeom prst="rect">
                  <a:avLst/>
                </a:prstGeom>
                <a:blipFill>
                  <a:blip r:embed="rId1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4" name="文本框 83">
                  <a:extLst>
                    <a:ext uri="{FF2B5EF4-FFF2-40B4-BE49-F238E27FC236}">
                      <a16:creationId xmlns:a16="http://schemas.microsoft.com/office/drawing/2014/main" id="{F6764E29-3BB7-48BB-88A9-D230E860075A}"/>
                    </a:ext>
                  </a:extLst>
                </p:cNvPr>
                <p:cNvSpPr txBox="1"/>
                <p:nvPr/>
              </p:nvSpPr>
              <p:spPr>
                <a:xfrm>
                  <a:off x="8632952" y="6372396"/>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m:t>
                            </m:r>
                            <m:r>
                              <a:rPr lang="en-US" altLang="zh-CN" sz="1600" b="0" i="1" smtClean="0">
                                <a:latin typeface="Cambria Math" panose="02040503050406030204" pitchFamily="18" charset="0"/>
                              </a:rPr>
                              <m:t>2</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84" name="文本框 83">
                  <a:extLst>
                    <a:ext uri="{FF2B5EF4-FFF2-40B4-BE49-F238E27FC236}">
                      <a16:creationId xmlns:a16="http://schemas.microsoft.com/office/drawing/2014/main" id="{F6764E29-3BB7-48BB-88A9-D230E860075A}"/>
                    </a:ext>
                  </a:extLst>
                </p:cNvPr>
                <p:cNvSpPr txBox="1">
                  <a:spLocks noRot="1" noChangeAspect="1" noMove="1" noResize="1" noEditPoints="1" noAdjustHandles="1" noChangeArrowheads="1" noChangeShapeType="1" noTextEdit="1"/>
                </p:cNvSpPr>
                <p:nvPr/>
              </p:nvSpPr>
              <p:spPr>
                <a:xfrm>
                  <a:off x="8632952" y="6372396"/>
                  <a:ext cx="609600" cy="381822"/>
                </a:xfrm>
                <a:prstGeom prst="rect">
                  <a:avLst/>
                </a:prstGeom>
                <a:blipFill>
                  <a:blip r:embed="rId17"/>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CB1CC84C-B521-4B0A-A3C6-CC5C7E081A0C}"/>
                    </a:ext>
                  </a:extLst>
                </p:cNvPr>
                <p:cNvSpPr txBox="1"/>
                <p:nvPr/>
              </p:nvSpPr>
              <p:spPr>
                <a:xfrm>
                  <a:off x="8940298" y="6368350"/>
                  <a:ext cx="609600" cy="3818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836967"/>
                                </a:solidFill>
                                <a:latin typeface="Cambria Math" panose="02040503050406030204" pitchFamily="18" charset="0"/>
                              </a:rPr>
                            </m:ctrlPr>
                          </m:sSubPr>
                          <m:e>
                            <m:r>
                              <a:rPr lang="zh-CN" altLang="en-US" sz="1600" i="1">
                                <a:latin typeface="Cambria Math" panose="02040503050406030204" pitchFamily="18" charset="0"/>
                              </a:rPr>
                              <m:t>𝑏</m:t>
                            </m:r>
                          </m:e>
                          <m:sub>
                            <m:r>
                              <a:rPr lang="en-US" altLang="zh-CN" sz="1600" b="0" i="0" smtClean="0">
                                <a:latin typeface="Cambria Math" panose="02040503050406030204" pitchFamily="18" charset="0"/>
                              </a:rPr>
                              <m:t>23</m:t>
                            </m:r>
                          </m:sub>
                        </m:sSub>
                      </m:oMath>
                    </m:oMathPara>
                  </a14:m>
                  <a:endParaRPr lang="zh-CN" altLang="en-US" sz="1600" dirty="0">
                    <a:latin typeface="KaiTi" panose="02010609060101010101" pitchFamily="49" charset="-122"/>
                    <a:ea typeface="KaiTi" panose="02010609060101010101" pitchFamily="49" charset="-122"/>
                  </a:endParaRPr>
                </a:p>
              </p:txBody>
            </p:sp>
          </mc:Choice>
          <mc:Fallback xmlns="">
            <p:sp>
              <p:nvSpPr>
                <p:cNvPr id="85" name="文本框 84">
                  <a:extLst>
                    <a:ext uri="{FF2B5EF4-FFF2-40B4-BE49-F238E27FC236}">
                      <a16:creationId xmlns:a16="http://schemas.microsoft.com/office/drawing/2014/main" id="{CB1CC84C-B521-4B0A-A3C6-CC5C7E081A0C}"/>
                    </a:ext>
                  </a:extLst>
                </p:cNvPr>
                <p:cNvSpPr txBox="1">
                  <a:spLocks noRot="1" noChangeAspect="1" noMove="1" noResize="1" noEditPoints="1" noAdjustHandles="1" noChangeArrowheads="1" noChangeShapeType="1" noTextEdit="1"/>
                </p:cNvSpPr>
                <p:nvPr/>
              </p:nvSpPr>
              <p:spPr>
                <a:xfrm>
                  <a:off x="8940298" y="6368350"/>
                  <a:ext cx="609600" cy="381822"/>
                </a:xfrm>
                <a:prstGeom prst="rect">
                  <a:avLst/>
                </a:prstGeom>
                <a:blipFill>
                  <a:blip r:embed="rId18"/>
                  <a:stretch>
                    <a:fillRect/>
                  </a:stretch>
                </a:blipFill>
              </p:spPr>
              <p:txBody>
                <a:bodyPr/>
                <a:lstStyle/>
                <a:p>
                  <a:r>
                    <a:rPr lang="ko-KR" altLang="en-US">
                      <a:noFill/>
                    </a:rPr>
                    <a:t> </a:t>
                  </a:r>
                </a:p>
              </p:txBody>
            </p:sp>
          </mc:Fallback>
        </mc:AlternateContent>
      </p:grpSp>
      <p:sp>
        <p:nvSpPr>
          <p:cNvPr id="89" name="文本框 88">
            <a:extLst>
              <a:ext uri="{FF2B5EF4-FFF2-40B4-BE49-F238E27FC236}">
                <a16:creationId xmlns:a16="http://schemas.microsoft.com/office/drawing/2014/main" id="{3E1B0798-F73D-4D7D-9B7F-F4C4370A0C04}"/>
              </a:ext>
            </a:extLst>
          </p:cNvPr>
          <p:cNvSpPr txBox="1"/>
          <p:nvPr/>
        </p:nvSpPr>
        <p:spPr>
          <a:xfrm>
            <a:off x="570112" y="2326952"/>
            <a:ext cx="3838835" cy="1938992"/>
          </a:xfrm>
          <a:prstGeom prst="rect">
            <a:avLst/>
          </a:prstGeom>
          <a:noFill/>
        </p:spPr>
        <p:txBody>
          <a:bodyPr wrap="square">
            <a:spAutoFit/>
          </a:bodyPr>
          <a:lstStyle/>
          <a:p>
            <a:r>
              <a:rPr lang="zh-CN" altLang="en-US" i="0" dirty="0">
                <a:effectLst/>
                <a:latin typeface="KaiTi" panose="02010609060101010101" pitchFamily="49" charset="-122"/>
                <a:ea typeface="KaiTi" panose="02010609060101010101" pitchFamily="49" charset="-122"/>
              </a:rPr>
              <a:t>直方图算法还可以进一步加速：一个叶子节点的直方图可以由它的父亲节点的直方图与其兄弟的直方图做差得到。</a:t>
            </a:r>
            <a:endParaRPr lang="zh-CN" altLang="en-US" dirty="0">
              <a:latin typeface="KaiTi" panose="02010609060101010101" pitchFamily="49" charset="-122"/>
              <a:ea typeface="KaiTi" panose="02010609060101010101" pitchFamily="49" charset="-122"/>
            </a:endParaRPr>
          </a:p>
        </p:txBody>
      </p:sp>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C5240AF2-2D3C-49DE-882E-3092C18C1086}"/>
                  </a:ext>
                </a:extLst>
              </p:cNvPr>
              <p:cNvSpPr txBox="1"/>
              <p:nvPr/>
            </p:nvSpPr>
            <p:spPr>
              <a:xfrm>
                <a:off x="8431248" y="4493623"/>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zh-CN" altLang="en-US" sz="1200" i="0">
                              <a:latin typeface="Cambria Math" panose="02040503050406030204" pitchFamily="18" charset="0"/>
                            </a:rPr>
                            <m:t>1</m:t>
                          </m:r>
                        </m:sub>
                      </m:sSub>
                    </m:oMath>
                  </m:oMathPara>
                </a14:m>
                <a:endParaRPr lang="zh-CN" altLang="en-US" sz="1200" dirty="0">
                  <a:latin typeface="KaiTi" panose="02010609060101010101" pitchFamily="49" charset="-122"/>
                  <a:ea typeface="KaiTi" panose="02010609060101010101" pitchFamily="49" charset="-122"/>
                </a:endParaRPr>
              </a:p>
            </p:txBody>
          </p:sp>
        </mc:Choice>
        <mc:Fallback xmlns="">
          <p:sp>
            <p:nvSpPr>
              <p:cNvPr id="90" name="文本框 89">
                <a:extLst>
                  <a:ext uri="{FF2B5EF4-FFF2-40B4-BE49-F238E27FC236}">
                    <a16:creationId xmlns:a16="http://schemas.microsoft.com/office/drawing/2014/main" id="{C5240AF2-2D3C-49DE-882E-3092C18C1086}"/>
                  </a:ext>
                </a:extLst>
              </p:cNvPr>
              <p:cNvSpPr txBox="1">
                <a:spLocks noRot="1" noChangeAspect="1" noMove="1" noResize="1" noEditPoints="1" noAdjustHandles="1" noChangeArrowheads="1" noChangeShapeType="1" noTextEdit="1"/>
              </p:cNvSpPr>
              <p:nvPr/>
            </p:nvSpPr>
            <p:spPr>
              <a:xfrm>
                <a:off x="8431248" y="4493623"/>
                <a:ext cx="721418" cy="276999"/>
              </a:xfrm>
              <a:prstGeom prst="rect">
                <a:avLst/>
              </a:prstGeom>
              <a:blipFill>
                <a:blip r:embed="rId19"/>
                <a:stretch>
                  <a:fillRect b="-869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4F0A997C-35F5-4D43-B43E-47D477D28E32}"/>
                  </a:ext>
                </a:extLst>
              </p:cNvPr>
              <p:cNvSpPr txBox="1"/>
              <p:nvPr/>
            </p:nvSpPr>
            <p:spPr>
              <a:xfrm>
                <a:off x="8452020" y="6100277"/>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zh-CN" altLang="en-US" sz="1200" i="0">
                              <a:latin typeface="Cambria Math" panose="02040503050406030204" pitchFamily="18" charset="0"/>
                            </a:rPr>
                            <m:t>1</m:t>
                          </m:r>
                        </m:sub>
                      </m:sSub>
                    </m:oMath>
                  </m:oMathPara>
                </a14:m>
                <a:endParaRPr lang="zh-CN" altLang="en-US" sz="1200" dirty="0">
                  <a:latin typeface="KaiTi" panose="02010609060101010101" pitchFamily="49" charset="-122"/>
                  <a:ea typeface="KaiTi" panose="02010609060101010101" pitchFamily="49" charset="-122"/>
                </a:endParaRPr>
              </a:p>
            </p:txBody>
          </p:sp>
        </mc:Choice>
        <mc:Fallback xmlns="">
          <p:sp>
            <p:nvSpPr>
              <p:cNvPr id="91" name="文本框 90">
                <a:extLst>
                  <a:ext uri="{FF2B5EF4-FFF2-40B4-BE49-F238E27FC236}">
                    <a16:creationId xmlns:a16="http://schemas.microsoft.com/office/drawing/2014/main" id="{4F0A997C-35F5-4D43-B43E-47D477D28E32}"/>
                  </a:ext>
                </a:extLst>
              </p:cNvPr>
              <p:cNvSpPr txBox="1">
                <a:spLocks noRot="1" noChangeAspect="1" noMove="1" noResize="1" noEditPoints="1" noAdjustHandles="1" noChangeArrowheads="1" noChangeShapeType="1" noTextEdit="1"/>
              </p:cNvSpPr>
              <p:nvPr/>
            </p:nvSpPr>
            <p:spPr>
              <a:xfrm>
                <a:off x="8452020" y="6100277"/>
                <a:ext cx="721418" cy="276999"/>
              </a:xfrm>
              <a:prstGeom prst="rect">
                <a:avLst/>
              </a:prstGeom>
              <a:blipFill>
                <a:blip r:embed="rId20"/>
                <a:stretch>
                  <a:fillRect b="-888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8357C6CF-8203-47A5-83AC-AF7E982DBE8B}"/>
                  </a:ext>
                </a:extLst>
              </p:cNvPr>
              <p:cNvSpPr txBox="1"/>
              <p:nvPr/>
            </p:nvSpPr>
            <p:spPr>
              <a:xfrm>
                <a:off x="10606086" y="2984032"/>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en-US" altLang="zh-CN" sz="1200" b="0" i="0" smtClean="0">
                              <a:latin typeface="Cambria Math" panose="02040503050406030204" pitchFamily="18" charset="0"/>
                            </a:rPr>
                            <m:t>2</m:t>
                          </m:r>
                        </m:sub>
                      </m:sSub>
                    </m:oMath>
                  </m:oMathPara>
                </a14:m>
                <a:endParaRPr lang="zh-CN" altLang="en-US" sz="1200" dirty="0">
                  <a:latin typeface="KaiTi" panose="02010609060101010101" pitchFamily="49" charset="-122"/>
                  <a:ea typeface="KaiTi" panose="02010609060101010101" pitchFamily="49" charset="-122"/>
                </a:endParaRPr>
              </a:p>
            </p:txBody>
          </p:sp>
        </mc:Choice>
        <mc:Fallback xmlns="">
          <p:sp>
            <p:nvSpPr>
              <p:cNvPr id="92" name="文本框 91">
                <a:extLst>
                  <a:ext uri="{FF2B5EF4-FFF2-40B4-BE49-F238E27FC236}">
                    <a16:creationId xmlns:a16="http://schemas.microsoft.com/office/drawing/2014/main" id="{8357C6CF-8203-47A5-83AC-AF7E982DBE8B}"/>
                  </a:ext>
                </a:extLst>
              </p:cNvPr>
              <p:cNvSpPr txBox="1">
                <a:spLocks noRot="1" noChangeAspect="1" noMove="1" noResize="1" noEditPoints="1" noAdjustHandles="1" noChangeArrowheads="1" noChangeShapeType="1" noTextEdit="1"/>
              </p:cNvSpPr>
              <p:nvPr/>
            </p:nvSpPr>
            <p:spPr>
              <a:xfrm>
                <a:off x="10606086" y="2984032"/>
                <a:ext cx="721418" cy="276999"/>
              </a:xfrm>
              <a:prstGeom prst="rect">
                <a:avLst/>
              </a:prstGeom>
              <a:blipFill>
                <a:blip r:embed="rId21"/>
                <a:stretch>
                  <a:fillRect b="-888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BDCDAB65-02DC-4E9C-B4EE-09CAB68FFFED}"/>
                  </a:ext>
                </a:extLst>
              </p:cNvPr>
              <p:cNvSpPr txBox="1"/>
              <p:nvPr/>
            </p:nvSpPr>
            <p:spPr>
              <a:xfrm>
                <a:off x="10649552" y="6112583"/>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en-US" altLang="zh-CN" sz="1200" b="0" i="0" smtClean="0">
                              <a:latin typeface="Cambria Math" panose="02040503050406030204" pitchFamily="18" charset="0"/>
                            </a:rPr>
                            <m:t>2</m:t>
                          </m:r>
                        </m:sub>
                      </m:sSub>
                    </m:oMath>
                  </m:oMathPara>
                </a14:m>
                <a:endParaRPr lang="zh-CN" altLang="en-US" sz="1200" dirty="0">
                  <a:latin typeface="KaiTi" panose="02010609060101010101" pitchFamily="49" charset="-122"/>
                  <a:ea typeface="KaiTi" panose="02010609060101010101" pitchFamily="49" charset="-122"/>
                </a:endParaRPr>
              </a:p>
            </p:txBody>
          </p:sp>
        </mc:Choice>
        <mc:Fallback xmlns="">
          <p:sp>
            <p:nvSpPr>
              <p:cNvPr id="93" name="文本框 92">
                <a:extLst>
                  <a:ext uri="{FF2B5EF4-FFF2-40B4-BE49-F238E27FC236}">
                    <a16:creationId xmlns:a16="http://schemas.microsoft.com/office/drawing/2014/main" id="{BDCDAB65-02DC-4E9C-B4EE-09CAB68FFFED}"/>
                  </a:ext>
                </a:extLst>
              </p:cNvPr>
              <p:cNvSpPr txBox="1">
                <a:spLocks noRot="1" noChangeAspect="1" noMove="1" noResize="1" noEditPoints="1" noAdjustHandles="1" noChangeArrowheads="1" noChangeShapeType="1" noTextEdit="1"/>
              </p:cNvSpPr>
              <p:nvPr/>
            </p:nvSpPr>
            <p:spPr>
              <a:xfrm>
                <a:off x="10649552" y="6112583"/>
                <a:ext cx="721418" cy="276999"/>
              </a:xfrm>
              <a:prstGeom prst="rect">
                <a:avLst/>
              </a:prstGeom>
              <a:blipFill>
                <a:blip r:embed="rId21"/>
                <a:stretch>
                  <a:fillRect b="-8889"/>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ED38DE88-2D52-4758-982E-8969538D77E1}"/>
                  </a:ext>
                </a:extLst>
              </p:cNvPr>
              <p:cNvSpPr txBox="1"/>
              <p:nvPr/>
            </p:nvSpPr>
            <p:spPr>
              <a:xfrm>
                <a:off x="10633011" y="4497535"/>
                <a:ext cx="72141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𝑓</m:t>
                          </m:r>
                          <m:r>
                            <m:rPr>
                              <m:sty m:val="p"/>
                            </m:rPr>
                            <a:rPr lang="en-US" altLang="zh-CN" sz="1200" i="1">
                              <a:latin typeface="Cambria Math" panose="02040503050406030204" pitchFamily="18" charset="0"/>
                            </a:rPr>
                            <m:t>eature</m:t>
                          </m:r>
                        </m:e>
                        <m:sub>
                          <m:r>
                            <a:rPr lang="en-US" altLang="zh-CN" sz="1200" b="0" i="0" smtClean="0">
                              <a:latin typeface="Cambria Math" panose="02040503050406030204" pitchFamily="18" charset="0"/>
                            </a:rPr>
                            <m:t>2</m:t>
                          </m:r>
                        </m:sub>
                      </m:sSub>
                    </m:oMath>
                  </m:oMathPara>
                </a14:m>
                <a:endParaRPr lang="zh-CN" altLang="en-US" sz="1200" dirty="0">
                  <a:latin typeface="KaiTi" panose="02010609060101010101" pitchFamily="49" charset="-122"/>
                  <a:ea typeface="KaiTi" panose="02010609060101010101" pitchFamily="49" charset="-122"/>
                </a:endParaRPr>
              </a:p>
            </p:txBody>
          </p:sp>
        </mc:Choice>
        <mc:Fallback xmlns="">
          <p:sp>
            <p:nvSpPr>
              <p:cNvPr id="94" name="文本框 93">
                <a:extLst>
                  <a:ext uri="{FF2B5EF4-FFF2-40B4-BE49-F238E27FC236}">
                    <a16:creationId xmlns:a16="http://schemas.microsoft.com/office/drawing/2014/main" id="{ED38DE88-2D52-4758-982E-8969538D77E1}"/>
                  </a:ext>
                </a:extLst>
              </p:cNvPr>
              <p:cNvSpPr txBox="1">
                <a:spLocks noRot="1" noChangeAspect="1" noMove="1" noResize="1" noEditPoints="1" noAdjustHandles="1" noChangeArrowheads="1" noChangeShapeType="1" noTextEdit="1"/>
              </p:cNvSpPr>
              <p:nvPr/>
            </p:nvSpPr>
            <p:spPr>
              <a:xfrm>
                <a:off x="10633011" y="4497535"/>
                <a:ext cx="721418" cy="276999"/>
              </a:xfrm>
              <a:prstGeom prst="rect">
                <a:avLst/>
              </a:prstGeom>
              <a:blipFill>
                <a:blip r:embed="rId22"/>
                <a:stretch>
                  <a:fillRect b="-888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014110505"/>
      </p:ext>
    </p:extLst>
  </p:cSld>
  <p:clrMapOvr>
    <a:masterClrMapping/>
  </p:clrMapOvr>
  <mc:AlternateContent xmlns:mc="http://schemas.openxmlformats.org/markup-compatibility/2006" xmlns:p14="http://schemas.microsoft.com/office/powerpoint/2010/main">
    <mc:Choice Requires="p14">
      <p:transition spd="slow" p14:dur="999" advTm="8005"/>
    </mc:Choice>
    <mc:Fallback xmlns="">
      <p:transition spd="slow" advTm="8005"/>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5629299" cy="677863"/>
          </a:xfrm>
        </p:spPr>
        <p:txBody>
          <a:bodyPr/>
          <a:lstStyle/>
          <a:p>
            <a:pPr algn="l" eaLnBrk="1" hangingPunct="1"/>
            <a:r>
              <a:rPr lang="en-US" altLang="zh-CN" dirty="0">
                <a:solidFill>
                  <a:schemeClr val="tx1"/>
                </a:solidFill>
                <a:latin typeface="KaiTi" panose="02010609060101010101" pitchFamily="49" charset="-122"/>
                <a:ea typeface="KaiTi" panose="02010609060101010101" pitchFamily="49" charset="-122"/>
              </a:rPr>
              <a:t>5.LightGBM</a:t>
            </a:r>
            <a:endParaRPr lang="zh-CN" altLang="en-US" dirty="0">
              <a:solidFill>
                <a:schemeClr val="tx1"/>
              </a:solidFill>
              <a:latin typeface="KaiTi" panose="02010609060101010101" pitchFamily="49" charset="-122"/>
              <a:ea typeface="KaiTi" panose="02010609060101010101" pitchFamily="49" charset="-122"/>
            </a:endParaRPr>
          </a:p>
        </p:txBody>
      </p:sp>
      <p:sp>
        <p:nvSpPr>
          <p:cNvPr id="8" name="文本框 7">
            <a:extLst>
              <a:ext uri="{FF2B5EF4-FFF2-40B4-BE49-F238E27FC236}">
                <a16:creationId xmlns:a16="http://schemas.microsoft.com/office/drawing/2014/main" id="{A32F78D6-68AF-4A75-8399-473DB41D5BDB}"/>
              </a:ext>
            </a:extLst>
          </p:cNvPr>
          <p:cNvSpPr txBox="1"/>
          <p:nvPr/>
        </p:nvSpPr>
        <p:spPr>
          <a:xfrm>
            <a:off x="981134" y="6373190"/>
            <a:ext cx="6197587" cy="400110"/>
          </a:xfrm>
          <a:prstGeom prst="rect">
            <a:avLst/>
          </a:prstGeom>
          <a:noFill/>
        </p:spPr>
        <p:txBody>
          <a:bodyPr wrap="square">
            <a:spAutoFit/>
          </a:bodyPr>
          <a:lstStyle/>
          <a:p>
            <a:pPr algn="l"/>
            <a:r>
              <a:rPr lang="zh-CN" altLang="en-US" sz="2000" b="1" i="0" dirty="0">
                <a:solidFill>
                  <a:srgbClr val="121212"/>
                </a:solidFill>
                <a:effectLst/>
                <a:latin typeface="KaiTi" panose="02010609060101010101" pitchFamily="49" charset="-122"/>
                <a:ea typeface="KaiTi" panose="02010609060101010101" pitchFamily="49" charset="-122"/>
              </a:rPr>
              <a:t>建树过程的两种方法：</a:t>
            </a:r>
            <a:r>
              <a:rPr lang="en-US" altLang="zh-CN" sz="2000" b="1" i="0" dirty="0">
                <a:solidFill>
                  <a:srgbClr val="121212"/>
                </a:solidFill>
                <a:effectLst/>
                <a:latin typeface="KaiTi" panose="02010609060101010101" pitchFamily="49" charset="-122"/>
                <a:ea typeface="KaiTi" panose="02010609060101010101" pitchFamily="49" charset="-122"/>
              </a:rPr>
              <a:t>Level-wise</a:t>
            </a:r>
            <a:r>
              <a:rPr lang="zh-CN" altLang="en-US" sz="2000" b="1" i="0" dirty="0">
                <a:solidFill>
                  <a:srgbClr val="121212"/>
                </a:solidFill>
                <a:effectLst/>
                <a:latin typeface="KaiTi" panose="02010609060101010101" pitchFamily="49" charset="-122"/>
                <a:ea typeface="KaiTi" panose="02010609060101010101" pitchFamily="49" charset="-122"/>
              </a:rPr>
              <a:t>和</a:t>
            </a:r>
            <a:r>
              <a:rPr lang="en-US" altLang="zh-CN" sz="2000" b="1" i="0" dirty="0">
                <a:solidFill>
                  <a:srgbClr val="121212"/>
                </a:solidFill>
                <a:effectLst/>
                <a:latin typeface="KaiTi" panose="02010609060101010101" pitchFamily="49" charset="-122"/>
                <a:ea typeface="KaiTi" panose="02010609060101010101" pitchFamily="49" charset="-122"/>
              </a:rPr>
              <a:t>Leaf-wise</a:t>
            </a:r>
            <a:endParaRPr lang="zh-CN" altLang="en-US" sz="2000" dirty="0">
              <a:latin typeface="KaiTi" panose="02010609060101010101" pitchFamily="49" charset="-122"/>
              <a:ea typeface="KaiTi" panose="02010609060101010101" pitchFamily="49" charset="-122"/>
            </a:endParaRPr>
          </a:p>
        </p:txBody>
      </p:sp>
      <p:sp>
        <p:nvSpPr>
          <p:cNvPr id="10" name="文本框 9">
            <a:extLst>
              <a:ext uri="{FF2B5EF4-FFF2-40B4-BE49-F238E27FC236}">
                <a16:creationId xmlns:a16="http://schemas.microsoft.com/office/drawing/2014/main" id="{64EDD3A5-A703-46B1-B7CB-0F0DADA624A8}"/>
              </a:ext>
            </a:extLst>
          </p:cNvPr>
          <p:cNvSpPr txBox="1"/>
          <p:nvPr/>
        </p:nvSpPr>
        <p:spPr>
          <a:xfrm>
            <a:off x="7824539" y="1899827"/>
            <a:ext cx="3920839" cy="1938992"/>
          </a:xfrm>
          <a:prstGeom prst="rect">
            <a:avLst/>
          </a:prstGeom>
          <a:noFill/>
        </p:spPr>
        <p:txBody>
          <a:bodyPr wrap="square">
            <a:spAutoFit/>
          </a:bodyPr>
          <a:lstStyle/>
          <a:p>
            <a:r>
              <a:rPr lang="zh-CN" altLang="en-US" b="1" dirty="0">
                <a:latin typeface="KaiTi" panose="02010609060101010101" pitchFamily="49" charset="-122"/>
                <a:ea typeface="KaiTi" panose="02010609060101010101" pitchFamily="49" charset="-122"/>
              </a:rPr>
              <a:t>XGBoost</a:t>
            </a:r>
            <a:r>
              <a:rPr lang="zh-CN" altLang="en-US" dirty="0">
                <a:latin typeface="KaiTi" panose="02010609060101010101" pitchFamily="49" charset="-122"/>
                <a:ea typeface="KaiTi" panose="02010609060101010101" pitchFamily="49" charset="-122"/>
              </a:rPr>
              <a:t>通过</a:t>
            </a:r>
            <a:r>
              <a:rPr lang="en-US" altLang="zh-CN" dirty="0">
                <a:latin typeface="KaiTi" panose="02010609060101010101" pitchFamily="49" charset="-122"/>
                <a:ea typeface="KaiTi" panose="02010609060101010101" pitchFamily="49" charset="-122"/>
              </a:rPr>
              <a:t>Level-wise tree growth</a:t>
            </a:r>
            <a:r>
              <a:rPr lang="zh-CN" altLang="en-US" dirty="0">
                <a:latin typeface="KaiTi" panose="02010609060101010101" pitchFamily="49" charset="-122"/>
                <a:ea typeface="KaiTi" panose="02010609060101010101" pitchFamily="49" charset="-122"/>
              </a:rPr>
              <a:t>策略来生长树。</a:t>
            </a:r>
            <a:endParaRPr lang="en-US" altLang="zh-CN" dirty="0">
              <a:latin typeface="KaiTi" panose="02010609060101010101" pitchFamily="49" charset="-122"/>
              <a:ea typeface="KaiTi" panose="02010609060101010101" pitchFamily="49" charset="-122"/>
            </a:endParaRPr>
          </a:p>
          <a:p>
            <a:r>
              <a:rPr lang="zh-CN" altLang="en-US" dirty="0">
                <a:latin typeface="KaiTi" panose="02010609060101010101" pitchFamily="49" charset="-122"/>
                <a:ea typeface="KaiTi" panose="02010609060101010101" pitchFamily="49" charset="-122"/>
              </a:rPr>
              <a:t>同一层所有节点都做分裂，最后剪枝</a:t>
            </a:r>
          </a:p>
        </p:txBody>
      </p:sp>
      <p:sp>
        <p:nvSpPr>
          <p:cNvPr id="12" name="文本框 11">
            <a:extLst>
              <a:ext uri="{FF2B5EF4-FFF2-40B4-BE49-F238E27FC236}">
                <a16:creationId xmlns:a16="http://schemas.microsoft.com/office/drawing/2014/main" id="{4D01DDF9-F68D-4CF9-8769-C8E4FAB29541}"/>
              </a:ext>
            </a:extLst>
          </p:cNvPr>
          <p:cNvSpPr txBox="1"/>
          <p:nvPr/>
        </p:nvSpPr>
        <p:spPr>
          <a:xfrm>
            <a:off x="7794911" y="4245364"/>
            <a:ext cx="3820827" cy="1938992"/>
          </a:xfrm>
          <a:prstGeom prst="rect">
            <a:avLst/>
          </a:prstGeom>
          <a:noFill/>
        </p:spPr>
        <p:txBody>
          <a:bodyPr wrap="square">
            <a:spAutoFit/>
          </a:bodyPr>
          <a:lstStyle/>
          <a:p>
            <a:r>
              <a:rPr lang="zh-CN" altLang="en-US" b="1" dirty="0">
                <a:latin typeface="KaiTi" panose="02010609060101010101" pitchFamily="49" charset="-122"/>
                <a:ea typeface="KaiTi" panose="02010609060101010101" pitchFamily="49" charset="-122"/>
              </a:rPr>
              <a:t>LightGBM</a:t>
            </a:r>
            <a:r>
              <a:rPr lang="en-US" altLang="zh-CN" b="0" i="0" dirty="0">
                <a:effectLst/>
                <a:latin typeface="KaiTi" panose="02010609060101010101" pitchFamily="49" charset="-122"/>
                <a:ea typeface="KaiTi" panose="02010609060101010101" pitchFamily="49" charset="-122"/>
              </a:rPr>
              <a:t> </a:t>
            </a:r>
            <a:r>
              <a:rPr lang="zh-CN" altLang="en-US" b="0" i="0" dirty="0">
                <a:effectLst/>
                <a:latin typeface="KaiTi" panose="02010609060101010101" pitchFamily="49" charset="-122"/>
                <a:ea typeface="KaiTi" panose="02010609060101010101" pitchFamily="49" charset="-122"/>
              </a:rPr>
              <a:t>通过 </a:t>
            </a:r>
            <a:r>
              <a:rPr lang="en-US" altLang="zh-CN" b="0" i="0" dirty="0">
                <a:effectLst/>
                <a:latin typeface="KaiTi" panose="02010609060101010101" pitchFamily="49" charset="-122"/>
                <a:ea typeface="KaiTi" panose="02010609060101010101" pitchFamily="49" charset="-122"/>
              </a:rPr>
              <a:t>leaf-wise (best-first)</a:t>
            </a:r>
            <a:r>
              <a:rPr lang="zh-CN" altLang="en-US" b="0" i="0" dirty="0">
                <a:effectLst/>
                <a:latin typeface="KaiTi" panose="02010609060101010101" pitchFamily="49" charset="-122"/>
                <a:ea typeface="KaiTi" panose="02010609060101010101" pitchFamily="49" charset="-122"/>
              </a:rPr>
              <a:t>策略来生长树。它将选取具有最大 </a:t>
            </a:r>
            <a:r>
              <a:rPr lang="en-US" altLang="zh-CN" b="0" i="0" dirty="0">
                <a:effectLst/>
                <a:latin typeface="KaiTi" panose="02010609060101010101" pitchFamily="49" charset="-122"/>
                <a:ea typeface="KaiTi" panose="02010609060101010101" pitchFamily="49" charset="-122"/>
              </a:rPr>
              <a:t>delta loss </a:t>
            </a:r>
            <a:r>
              <a:rPr lang="zh-CN" altLang="en-US" b="0" i="0" dirty="0">
                <a:effectLst/>
                <a:latin typeface="KaiTi" panose="02010609060101010101" pitchFamily="49" charset="-122"/>
                <a:ea typeface="KaiTi" panose="02010609060101010101" pitchFamily="49" charset="-122"/>
              </a:rPr>
              <a:t>的叶节点来生长。 </a:t>
            </a:r>
            <a:endParaRPr lang="zh-CN" altLang="en-US" dirty="0">
              <a:latin typeface="KaiTi" panose="02010609060101010101" pitchFamily="49" charset="-122"/>
              <a:ea typeface="KaiTi" panose="02010609060101010101" pitchFamily="49" charset="-122"/>
            </a:endParaRPr>
          </a:p>
        </p:txBody>
      </p:sp>
      <p:sp>
        <p:nvSpPr>
          <p:cNvPr id="9" name="Google Shape;3401;p56">
            <a:extLst>
              <a:ext uri="{FF2B5EF4-FFF2-40B4-BE49-F238E27FC236}">
                <a16:creationId xmlns:a16="http://schemas.microsoft.com/office/drawing/2014/main" id="{98968EEE-9DFA-4C9D-A851-D1096773BC5C}"/>
              </a:ext>
            </a:extLst>
          </p:cNvPr>
          <p:cNvSpPr/>
          <p:nvPr/>
        </p:nvSpPr>
        <p:spPr>
          <a:xfrm>
            <a:off x="1170570" y="2242565"/>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KaiTi" panose="02010609060101010101" pitchFamily="49" charset="-122"/>
              <a:ea typeface="KaiTi" panose="02010609060101010101" pitchFamily="49" charset="-122"/>
            </a:endParaRPr>
          </a:p>
        </p:txBody>
      </p:sp>
      <p:sp>
        <p:nvSpPr>
          <p:cNvPr id="11" name="Google Shape;3403;p56">
            <a:extLst>
              <a:ext uri="{FF2B5EF4-FFF2-40B4-BE49-F238E27FC236}">
                <a16:creationId xmlns:a16="http://schemas.microsoft.com/office/drawing/2014/main" id="{69B48F13-EA39-4EFA-9E06-E56CAAA9A4EE}"/>
              </a:ext>
            </a:extLst>
          </p:cNvPr>
          <p:cNvSpPr/>
          <p:nvPr/>
        </p:nvSpPr>
        <p:spPr>
          <a:xfrm>
            <a:off x="760997" y="2750839"/>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17" name="Google Shape;3403;p56">
            <a:extLst>
              <a:ext uri="{FF2B5EF4-FFF2-40B4-BE49-F238E27FC236}">
                <a16:creationId xmlns:a16="http://schemas.microsoft.com/office/drawing/2014/main" id="{808A786D-68B7-4160-9654-1B664D4AD7F9}"/>
              </a:ext>
            </a:extLst>
          </p:cNvPr>
          <p:cNvSpPr/>
          <p:nvPr/>
        </p:nvSpPr>
        <p:spPr>
          <a:xfrm>
            <a:off x="1602353" y="2750839"/>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18" name="Google Shape;3401;p56">
            <a:extLst>
              <a:ext uri="{FF2B5EF4-FFF2-40B4-BE49-F238E27FC236}">
                <a16:creationId xmlns:a16="http://schemas.microsoft.com/office/drawing/2014/main" id="{006A9FFA-42BA-4C62-B277-FA034A76450E}"/>
              </a:ext>
            </a:extLst>
          </p:cNvPr>
          <p:cNvSpPr/>
          <p:nvPr/>
        </p:nvSpPr>
        <p:spPr>
          <a:xfrm>
            <a:off x="3254637" y="2233635"/>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KaiTi" panose="02010609060101010101" pitchFamily="49" charset="-122"/>
              <a:ea typeface="KaiTi" panose="02010609060101010101" pitchFamily="49" charset="-122"/>
            </a:endParaRPr>
          </a:p>
        </p:txBody>
      </p:sp>
      <p:sp>
        <p:nvSpPr>
          <p:cNvPr id="19" name="Google Shape;3403;p56">
            <a:extLst>
              <a:ext uri="{FF2B5EF4-FFF2-40B4-BE49-F238E27FC236}">
                <a16:creationId xmlns:a16="http://schemas.microsoft.com/office/drawing/2014/main" id="{57D61C86-22F6-43AB-8C66-D259410FB0C1}"/>
              </a:ext>
            </a:extLst>
          </p:cNvPr>
          <p:cNvSpPr/>
          <p:nvPr/>
        </p:nvSpPr>
        <p:spPr>
          <a:xfrm>
            <a:off x="2861324" y="270109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20" name="Google Shape;3403;p56">
            <a:extLst>
              <a:ext uri="{FF2B5EF4-FFF2-40B4-BE49-F238E27FC236}">
                <a16:creationId xmlns:a16="http://schemas.microsoft.com/office/drawing/2014/main" id="{6C1996E1-B3A2-4C3A-8C81-8DE0A6325DA4}"/>
              </a:ext>
            </a:extLst>
          </p:cNvPr>
          <p:cNvSpPr/>
          <p:nvPr/>
        </p:nvSpPr>
        <p:spPr>
          <a:xfrm>
            <a:off x="3699478" y="270109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21" name="Google Shape;3403;p56">
            <a:extLst>
              <a:ext uri="{FF2B5EF4-FFF2-40B4-BE49-F238E27FC236}">
                <a16:creationId xmlns:a16="http://schemas.microsoft.com/office/drawing/2014/main" id="{B1416E6C-4707-4FAD-80DB-07A3237CB4A8}"/>
              </a:ext>
            </a:extLst>
          </p:cNvPr>
          <p:cNvSpPr/>
          <p:nvPr/>
        </p:nvSpPr>
        <p:spPr>
          <a:xfrm>
            <a:off x="2523358"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22" name="Google Shape;3403;p56">
            <a:extLst>
              <a:ext uri="{FF2B5EF4-FFF2-40B4-BE49-F238E27FC236}">
                <a16:creationId xmlns:a16="http://schemas.microsoft.com/office/drawing/2014/main" id="{759E1F1B-38FC-4E17-B574-7A0FD6E8CDD4}"/>
              </a:ext>
            </a:extLst>
          </p:cNvPr>
          <p:cNvSpPr/>
          <p:nvPr/>
        </p:nvSpPr>
        <p:spPr>
          <a:xfrm>
            <a:off x="3123533"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23" name="Google Shape;3403;p56">
            <a:extLst>
              <a:ext uri="{FF2B5EF4-FFF2-40B4-BE49-F238E27FC236}">
                <a16:creationId xmlns:a16="http://schemas.microsoft.com/office/drawing/2014/main" id="{9D0000D1-0F7B-48D7-AA28-090DB6095B8E}"/>
              </a:ext>
            </a:extLst>
          </p:cNvPr>
          <p:cNvSpPr/>
          <p:nvPr/>
        </p:nvSpPr>
        <p:spPr>
          <a:xfrm>
            <a:off x="3437269"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24" name="Google Shape;3403;p56">
            <a:extLst>
              <a:ext uri="{FF2B5EF4-FFF2-40B4-BE49-F238E27FC236}">
                <a16:creationId xmlns:a16="http://schemas.microsoft.com/office/drawing/2014/main" id="{E3CB8681-516A-4202-9A87-6ECB614CFDAD}"/>
              </a:ext>
            </a:extLst>
          </p:cNvPr>
          <p:cNvSpPr/>
          <p:nvPr/>
        </p:nvSpPr>
        <p:spPr>
          <a:xfrm>
            <a:off x="4037444" y="3165871"/>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39" name="Google Shape;3401;p56">
            <a:extLst>
              <a:ext uri="{FF2B5EF4-FFF2-40B4-BE49-F238E27FC236}">
                <a16:creationId xmlns:a16="http://schemas.microsoft.com/office/drawing/2014/main" id="{EA22D629-6E66-45F1-8986-01BA44641B0F}"/>
              </a:ext>
            </a:extLst>
          </p:cNvPr>
          <p:cNvSpPr/>
          <p:nvPr/>
        </p:nvSpPr>
        <p:spPr>
          <a:xfrm>
            <a:off x="3357777" y="4269839"/>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KaiTi" panose="02010609060101010101" pitchFamily="49" charset="-122"/>
              <a:ea typeface="KaiTi" panose="02010609060101010101" pitchFamily="49" charset="-122"/>
            </a:endParaRPr>
          </a:p>
        </p:txBody>
      </p:sp>
      <p:sp>
        <p:nvSpPr>
          <p:cNvPr id="40" name="Google Shape;3403;p56">
            <a:extLst>
              <a:ext uri="{FF2B5EF4-FFF2-40B4-BE49-F238E27FC236}">
                <a16:creationId xmlns:a16="http://schemas.microsoft.com/office/drawing/2014/main" id="{7D5B1DDF-7318-45EC-B5A8-5E1B4300B876}"/>
              </a:ext>
            </a:extLst>
          </p:cNvPr>
          <p:cNvSpPr/>
          <p:nvPr/>
        </p:nvSpPr>
        <p:spPr>
          <a:xfrm>
            <a:off x="2964464" y="4737294"/>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41" name="Google Shape;3403;p56">
            <a:extLst>
              <a:ext uri="{FF2B5EF4-FFF2-40B4-BE49-F238E27FC236}">
                <a16:creationId xmlns:a16="http://schemas.microsoft.com/office/drawing/2014/main" id="{3B8565B1-DE3B-4D82-8EB6-DE372E032397}"/>
              </a:ext>
            </a:extLst>
          </p:cNvPr>
          <p:cNvSpPr/>
          <p:nvPr/>
        </p:nvSpPr>
        <p:spPr>
          <a:xfrm>
            <a:off x="3802618" y="4737294"/>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42" name="Google Shape;3403;p56">
            <a:extLst>
              <a:ext uri="{FF2B5EF4-FFF2-40B4-BE49-F238E27FC236}">
                <a16:creationId xmlns:a16="http://schemas.microsoft.com/office/drawing/2014/main" id="{C24D9A97-26A9-40D9-9147-31AB08D8B485}"/>
              </a:ext>
            </a:extLst>
          </p:cNvPr>
          <p:cNvSpPr/>
          <p:nvPr/>
        </p:nvSpPr>
        <p:spPr>
          <a:xfrm>
            <a:off x="2626498" y="5202075"/>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43" name="Google Shape;3403;p56">
            <a:extLst>
              <a:ext uri="{FF2B5EF4-FFF2-40B4-BE49-F238E27FC236}">
                <a16:creationId xmlns:a16="http://schemas.microsoft.com/office/drawing/2014/main" id="{191C8214-3F37-43B2-B9BF-BE9F11A46047}"/>
              </a:ext>
            </a:extLst>
          </p:cNvPr>
          <p:cNvSpPr/>
          <p:nvPr/>
        </p:nvSpPr>
        <p:spPr>
          <a:xfrm>
            <a:off x="3226673" y="5202075"/>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53" name="Google Shape;3401;p56">
            <a:extLst>
              <a:ext uri="{FF2B5EF4-FFF2-40B4-BE49-F238E27FC236}">
                <a16:creationId xmlns:a16="http://schemas.microsoft.com/office/drawing/2014/main" id="{3A6819D7-6F8D-4F37-863B-52277B21FD5E}"/>
              </a:ext>
            </a:extLst>
          </p:cNvPr>
          <p:cNvSpPr/>
          <p:nvPr/>
        </p:nvSpPr>
        <p:spPr>
          <a:xfrm>
            <a:off x="5377012" y="4265863"/>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KaiTi" panose="02010609060101010101" pitchFamily="49" charset="-122"/>
              <a:ea typeface="KaiTi" panose="02010609060101010101" pitchFamily="49" charset="-122"/>
            </a:endParaRPr>
          </a:p>
        </p:txBody>
      </p:sp>
      <p:sp>
        <p:nvSpPr>
          <p:cNvPr id="54" name="Google Shape;3403;p56">
            <a:extLst>
              <a:ext uri="{FF2B5EF4-FFF2-40B4-BE49-F238E27FC236}">
                <a16:creationId xmlns:a16="http://schemas.microsoft.com/office/drawing/2014/main" id="{2959E0B7-42F8-4FFA-9C14-3D3469FDC72A}"/>
              </a:ext>
            </a:extLst>
          </p:cNvPr>
          <p:cNvSpPr/>
          <p:nvPr/>
        </p:nvSpPr>
        <p:spPr>
          <a:xfrm>
            <a:off x="4983699" y="4733318"/>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56" name="Google Shape;3403;p56">
            <a:extLst>
              <a:ext uri="{FF2B5EF4-FFF2-40B4-BE49-F238E27FC236}">
                <a16:creationId xmlns:a16="http://schemas.microsoft.com/office/drawing/2014/main" id="{9201936B-D068-4606-A147-3BE1F9F19D9B}"/>
              </a:ext>
            </a:extLst>
          </p:cNvPr>
          <p:cNvSpPr/>
          <p:nvPr/>
        </p:nvSpPr>
        <p:spPr>
          <a:xfrm>
            <a:off x="4645733" y="5198099"/>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57" name="Google Shape;3403;p56">
            <a:extLst>
              <a:ext uri="{FF2B5EF4-FFF2-40B4-BE49-F238E27FC236}">
                <a16:creationId xmlns:a16="http://schemas.microsoft.com/office/drawing/2014/main" id="{44AB6A64-CFD9-4731-B950-AD30A031CB62}"/>
              </a:ext>
            </a:extLst>
          </p:cNvPr>
          <p:cNvSpPr/>
          <p:nvPr/>
        </p:nvSpPr>
        <p:spPr>
          <a:xfrm>
            <a:off x="5245908" y="5198099"/>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58" name="Google Shape;3403;p56">
            <a:extLst>
              <a:ext uri="{FF2B5EF4-FFF2-40B4-BE49-F238E27FC236}">
                <a16:creationId xmlns:a16="http://schemas.microsoft.com/office/drawing/2014/main" id="{26436911-1394-43BD-AB78-EB16578BC035}"/>
              </a:ext>
            </a:extLst>
          </p:cNvPr>
          <p:cNvSpPr/>
          <p:nvPr/>
        </p:nvSpPr>
        <p:spPr>
          <a:xfrm>
            <a:off x="5789978" y="4737084"/>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60" name="Google Shape;3403;p56">
            <a:extLst>
              <a:ext uri="{FF2B5EF4-FFF2-40B4-BE49-F238E27FC236}">
                <a16:creationId xmlns:a16="http://schemas.microsoft.com/office/drawing/2014/main" id="{BC5A6759-6D85-4CE5-8054-71D68E26F3EE}"/>
              </a:ext>
            </a:extLst>
          </p:cNvPr>
          <p:cNvSpPr/>
          <p:nvPr/>
        </p:nvSpPr>
        <p:spPr>
          <a:xfrm>
            <a:off x="5508116" y="565038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61" name="Google Shape;3403;p56">
            <a:extLst>
              <a:ext uri="{FF2B5EF4-FFF2-40B4-BE49-F238E27FC236}">
                <a16:creationId xmlns:a16="http://schemas.microsoft.com/office/drawing/2014/main" id="{63A90946-DCEF-45BA-83BD-2AEB9FED86E4}"/>
              </a:ext>
            </a:extLst>
          </p:cNvPr>
          <p:cNvSpPr/>
          <p:nvPr/>
        </p:nvSpPr>
        <p:spPr>
          <a:xfrm>
            <a:off x="5013657" y="5662880"/>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cxnSp>
        <p:nvCxnSpPr>
          <p:cNvPr id="4096" name="直接连接符 4095">
            <a:extLst>
              <a:ext uri="{FF2B5EF4-FFF2-40B4-BE49-F238E27FC236}">
                <a16:creationId xmlns:a16="http://schemas.microsoft.com/office/drawing/2014/main" id="{47A225AE-7F97-4565-86E0-2CFF656D60E5}"/>
              </a:ext>
            </a:extLst>
          </p:cNvPr>
          <p:cNvCxnSpPr>
            <a:stCxn id="9" idx="5"/>
            <a:endCxn id="17" idx="1"/>
          </p:cNvCxnSpPr>
          <p:nvPr/>
        </p:nvCxnSpPr>
        <p:spPr>
          <a:xfrm>
            <a:off x="1394379" y="2473496"/>
            <a:ext cx="246374" cy="316965"/>
          </a:xfrm>
          <a:prstGeom prst="line">
            <a:avLst/>
          </a:prstGeom>
        </p:spPr>
        <p:style>
          <a:lnRef idx="2">
            <a:schemeClr val="accent4"/>
          </a:lnRef>
          <a:fillRef idx="0">
            <a:schemeClr val="accent4"/>
          </a:fillRef>
          <a:effectRef idx="1">
            <a:schemeClr val="accent4"/>
          </a:effectRef>
          <a:fontRef idx="minor">
            <a:schemeClr val="tx1"/>
          </a:fontRef>
        </p:style>
      </p:cxnSp>
      <p:cxnSp>
        <p:nvCxnSpPr>
          <p:cNvPr id="4099" name="直接连接符 4098">
            <a:extLst>
              <a:ext uri="{FF2B5EF4-FFF2-40B4-BE49-F238E27FC236}">
                <a16:creationId xmlns:a16="http://schemas.microsoft.com/office/drawing/2014/main" id="{98BCD0EB-52BA-480B-AD33-A211679E38F1}"/>
              </a:ext>
            </a:extLst>
          </p:cNvPr>
          <p:cNvCxnSpPr>
            <a:stCxn id="9" idx="3"/>
            <a:endCxn id="11" idx="7"/>
          </p:cNvCxnSpPr>
          <p:nvPr/>
        </p:nvCxnSpPr>
        <p:spPr>
          <a:xfrm flipH="1">
            <a:off x="984806" y="2473496"/>
            <a:ext cx="224164" cy="316965"/>
          </a:xfrm>
          <a:prstGeom prst="line">
            <a:avLst/>
          </a:prstGeom>
        </p:spPr>
        <p:style>
          <a:lnRef idx="2">
            <a:schemeClr val="accent4"/>
          </a:lnRef>
          <a:fillRef idx="0">
            <a:schemeClr val="accent4"/>
          </a:fillRef>
          <a:effectRef idx="1">
            <a:schemeClr val="accent4"/>
          </a:effectRef>
          <a:fontRef idx="minor">
            <a:schemeClr val="tx1"/>
          </a:fontRef>
        </p:style>
      </p:cxnSp>
      <p:sp>
        <p:nvSpPr>
          <p:cNvPr id="72" name="Google Shape;3401;p56">
            <a:extLst>
              <a:ext uri="{FF2B5EF4-FFF2-40B4-BE49-F238E27FC236}">
                <a16:creationId xmlns:a16="http://schemas.microsoft.com/office/drawing/2014/main" id="{F102B92D-E95E-4E91-889E-B743C7D5C64E}"/>
              </a:ext>
            </a:extLst>
          </p:cNvPr>
          <p:cNvSpPr/>
          <p:nvPr/>
        </p:nvSpPr>
        <p:spPr>
          <a:xfrm>
            <a:off x="1205015" y="4239271"/>
            <a:ext cx="262209" cy="270552"/>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KaiTi" panose="02010609060101010101" pitchFamily="49" charset="-122"/>
              <a:ea typeface="KaiTi" panose="02010609060101010101" pitchFamily="49" charset="-122"/>
            </a:endParaRPr>
          </a:p>
        </p:txBody>
      </p:sp>
      <p:sp>
        <p:nvSpPr>
          <p:cNvPr id="73" name="Google Shape;3403;p56">
            <a:extLst>
              <a:ext uri="{FF2B5EF4-FFF2-40B4-BE49-F238E27FC236}">
                <a16:creationId xmlns:a16="http://schemas.microsoft.com/office/drawing/2014/main" id="{C7E6945A-E82A-43E9-B235-E6FCE95CE461}"/>
              </a:ext>
            </a:extLst>
          </p:cNvPr>
          <p:cNvSpPr/>
          <p:nvPr/>
        </p:nvSpPr>
        <p:spPr>
          <a:xfrm>
            <a:off x="795442" y="4747545"/>
            <a:ext cx="262209" cy="270553"/>
          </a:xfrm>
          <a:prstGeom prst="ellipse">
            <a:avLst/>
          </a:prstGeom>
          <a:solidFill>
            <a:srgbClr val="76A5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sp>
        <p:nvSpPr>
          <p:cNvPr id="74" name="Google Shape;3403;p56">
            <a:extLst>
              <a:ext uri="{FF2B5EF4-FFF2-40B4-BE49-F238E27FC236}">
                <a16:creationId xmlns:a16="http://schemas.microsoft.com/office/drawing/2014/main" id="{9ADE7D3C-AD06-4971-ABBD-8AB54B32BF5C}"/>
              </a:ext>
            </a:extLst>
          </p:cNvPr>
          <p:cNvSpPr/>
          <p:nvPr/>
        </p:nvSpPr>
        <p:spPr>
          <a:xfrm>
            <a:off x="1636798" y="4747545"/>
            <a:ext cx="262209" cy="270553"/>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KaiTi" panose="02010609060101010101" pitchFamily="49" charset="-122"/>
              <a:ea typeface="KaiTi" panose="02010609060101010101" pitchFamily="49" charset="-122"/>
            </a:endParaRPr>
          </a:p>
        </p:txBody>
      </p:sp>
      <p:cxnSp>
        <p:nvCxnSpPr>
          <p:cNvPr id="75" name="直接连接符 74">
            <a:extLst>
              <a:ext uri="{FF2B5EF4-FFF2-40B4-BE49-F238E27FC236}">
                <a16:creationId xmlns:a16="http://schemas.microsoft.com/office/drawing/2014/main" id="{AAF99189-37FA-4F15-BD2E-9AADBC2AC56F}"/>
              </a:ext>
            </a:extLst>
          </p:cNvPr>
          <p:cNvCxnSpPr>
            <a:stCxn id="72" idx="5"/>
            <a:endCxn id="74" idx="1"/>
          </p:cNvCxnSpPr>
          <p:nvPr/>
        </p:nvCxnSpPr>
        <p:spPr>
          <a:xfrm>
            <a:off x="1428824" y="4470202"/>
            <a:ext cx="246374" cy="316965"/>
          </a:xfrm>
          <a:prstGeom prst="line">
            <a:avLst/>
          </a:prstGeom>
        </p:spPr>
        <p:style>
          <a:lnRef idx="2">
            <a:schemeClr val="accent4"/>
          </a:lnRef>
          <a:fillRef idx="0">
            <a:schemeClr val="accent4"/>
          </a:fillRef>
          <a:effectRef idx="1">
            <a:schemeClr val="accent4"/>
          </a:effectRef>
          <a:fontRef idx="minor">
            <a:schemeClr val="tx1"/>
          </a:fontRef>
        </p:style>
      </p:cxnSp>
      <p:cxnSp>
        <p:nvCxnSpPr>
          <p:cNvPr id="76" name="直接连接符 75">
            <a:extLst>
              <a:ext uri="{FF2B5EF4-FFF2-40B4-BE49-F238E27FC236}">
                <a16:creationId xmlns:a16="http://schemas.microsoft.com/office/drawing/2014/main" id="{151A1498-3C67-4534-A89E-2FA908BF719C}"/>
              </a:ext>
            </a:extLst>
          </p:cNvPr>
          <p:cNvCxnSpPr>
            <a:stCxn id="72" idx="3"/>
            <a:endCxn id="73" idx="7"/>
          </p:cNvCxnSpPr>
          <p:nvPr/>
        </p:nvCxnSpPr>
        <p:spPr>
          <a:xfrm flipH="1">
            <a:off x="1019251" y="4470202"/>
            <a:ext cx="224164" cy="316965"/>
          </a:xfrm>
          <a:prstGeom prst="line">
            <a:avLst/>
          </a:prstGeom>
        </p:spPr>
        <p:style>
          <a:lnRef idx="2">
            <a:schemeClr val="accent4"/>
          </a:lnRef>
          <a:fillRef idx="0">
            <a:schemeClr val="accent4"/>
          </a:fillRef>
          <a:effectRef idx="1">
            <a:schemeClr val="accent4"/>
          </a:effectRef>
          <a:fontRef idx="minor">
            <a:schemeClr val="tx1"/>
          </a:fontRef>
        </p:style>
      </p:cxnSp>
      <p:cxnSp>
        <p:nvCxnSpPr>
          <p:cNvPr id="78" name="直接连接符 77">
            <a:extLst>
              <a:ext uri="{FF2B5EF4-FFF2-40B4-BE49-F238E27FC236}">
                <a16:creationId xmlns:a16="http://schemas.microsoft.com/office/drawing/2014/main" id="{6F635BB9-8670-4ACF-A2DD-032B056E28F8}"/>
              </a:ext>
            </a:extLst>
          </p:cNvPr>
          <p:cNvCxnSpPr>
            <a:cxnSpLocks/>
            <a:stCxn id="39" idx="5"/>
            <a:endCxn id="41" idx="1"/>
          </p:cNvCxnSpPr>
          <p:nvPr/>
        </p:nvCxnSpPr>
        <p:spPr>
          <a:xfrm>
            <a:off x="3581586" y="4500770"/>
            <a:ext cx="259432" cy="276146"/>
          </a:xfrm>
          <a:prstGeom prst="line">
            <a:avLst/>
          </a:prstGeom>
        </p:spPr>
        <p:style>
          <a:lnRef idx="2">
            <a:schemeClr val="accent4"/>
          </a:lnRef>
          <a:fillRef idx="0">
            <a:schemeClr val="accent4"/>
          </a:fillRef>
          <a:effectRef idx="1">
            <a:schemeClr val="accent4"/>
          </a:effectRef>
          <a:fontRef idx="minor">
            <a:schemeClr val="tx1"/>
          </a:fontRef>
        </p:style>
      </p:cxnSp>
      <p:cxnSp>
        <p:nvCxnSpPr>
          <p:cNvPr id="81" name="直接连接符 80">
            <a:extLst>
              <a:ext uri="{FF2B5EF4-FFF2-40B4-BE49-F238E27FC236}">
                <a16:creationId xmlns:a16="http://schemas.microsoft.com/office/drawing/2014/main" id="{81BF43DD-B075-4120-9EC4-C73FA5ED4D14}"/>
              </a:ext>
            </a:extLst>
          </p:cNvPr>
          <p:cNvCxnSpPr>
            <a:cxnSpLocks/>
            <a:endCxn id="20" idx="1"/>
          </p:cNvCxnSpPr>
          <p:nvPr/>
        </p:nvCxnSpPr>
        <p:spPr>
          <a:xfrm>
            <a:off x="3488882" y="2446486"/>
            <a:ext cx="248996" cy="294226"/>
          </a:xfrm>
          <a:prstGeom prst="line">
            <a:avLst/>
          </a:prstGeom>
        </p:spPr>
        <p:style>
          <a:lnRef idx="2">
            <a:schemeClr val="accent4"/>
          </a:lnRef>
          <a:fillRef idx="0">
            <a:schemeClr val="accent4"/>
          </a:fillRef>
          <a:effectRef idx="1">
            <a:schemeClr val="accent4"/>
          </a:effectRef>
          <a:fontRef idx="minor">
            <a:schemeClr val="tx1"/>
          </a:fontRef>
        </p:style>
      </p:cxnSp>
      <p:cxnSp>
        <p:nvCxnSpPr>
          <p:cNvPr id="83" name="直接连接符 82">
            <a:extLst>
              <a:ext uri="{FF2B5EF4-FFF2-40B4-BE49-F238E27FC236}">
                <a16:creationId xmlns:a16="http://schemas.microsoft.com/office/drawing/2014/main" id="{18D70301-E3C4-4386-867C-2422470E1D8D}"/>
              </a:ext>
            </a:extLst>
          </p:cNvPr>
          <p:cNvCxnSpPr>
            <a:cxnSpLocks/>
            <a:stCxn id="19" idx="5"/>
            <a:endCxn id="22" idx="0"/>
          </p:cNvCxnSpPr>
          <p:nvPr/>
        </p:nvCxnSpPr>
        <p:spPr>
          <a:xfrm>
            <a:off x="3085133" y="2932021"/>
            <a:ext cx="169505"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85" name="直接连接符 84">
            <a:extLst>
              <a:ext uri="{FF2B5EF4-FFF2-40B4-BE49-F238E27FC236}">
                <a16:creationId xmlns:a16="http://schemas.microsoft.com/office/drawing/2014/main" id="{7B66910C-4010-4AB1-B46E-7CD952D6C3F5}"/>
              </a:ext>
            </a:extLst>
          </p:cNvPr>
          <p:cNvCxnSpPr>
            <a:cxnSpLocks/>
            <a:stCxn id="20" idx="5"/>
            <a:endCxn id="24" idx="1"/>
          </p:cNvCxnSpPr>
          <p:nvPr/>
        </p:nvCxnSpPr>
        <p:spPr>
          <a:xfrm>
            <a:off x="3923287" y="2932021"/>
            <a:ext cx="152557" cy="273472"/>
          </a:xfrm>
          <a:prstGeom prst="line">
            <a:avLst/>
          </a:prstGeom>
        </p:spPr>
        <p:style>
          <a:lnRef idx="2">
            <a:schemeClr val="accent4"/>
          </a:lnRef>
          <a:fillRef idx="0">
            <a:schemeClr val="accent4"/>
          </a:fillRef>
          <a:effectRef idx="1">
            <a:schemeClr val="accent4"/>
          </a:effectRef>
          <a:fontRef idx="minor">
            <a:schemeClr val="tx1"/>
          </a:fontRef>
        </p:style>
      </p:cxnSp>
      <p:cxnSp>
        <p:nvCxnSpPr>
          <p:cNvPr id="86" name="直接连接符 85">
            <a:extLst>
              <a:ext uri="{FF2B5EF4-FFF2-40B4-BE49-F238E27FC236}">
                <a16:creationId xmlns:a16="http://schemas.microsoft.com/office/drawing/2014/main" id="{C18DD178-ECCA-44F5-BCB3-7149B70C3936}"/>
              </a:ext>
            </a:extLst>
          </p:cNvPr>
          <p:cNvCxnSpPr>
            <a:cxnSpLocks/>
          </p:cNvCxnSpPr>
          <p:nvPr/>
        </p:nvCxnSpPr>
        <p:spPr>
          <a:xfrm>
            <a:off x="5592933" y="4474573"/>
            <a:ext cx="248996" cy="294226"/>
          </a:xfrm>
          <a:prstGeom prst="line">
            <a:avLst/>
          </a:prstGeom>
        </p:spPr>
        <p:style>
          <a:lnRef idx="2">
            <a:schemeClr val="accent4"/>
          </a:lnRef>
          <a:fillRef idx="0">
            <a:schemeClr val="accent4"/>
          </a:fillRef>
          <a:effectRef idx="1">
            <a:schemeClr val="accent4"/>
          </a:effectRef>
          <a:fontRef idx="minor">
            <a:schemeClr val="tx1"/>
          </a:fontRef>
        </p:style>
      </p:cxnSp>
      <p:cxnSp>
        <p:nvCxnSpPr>
          <p:cNvPr id="94" name="直接连接符 93">
            <a:extLst>
              <a:ext uri="{FF2B5EF4-FFF2-40B4-BE49-F238E27FC236}">
                <a16:creationId xmlns:a16="http://schemas.microsoft.com/office/drawing/2014/main" id="{76C31196-6660-4864-940E-2B1688541FD4}"/>
              </a:ext>
            </a:extLst>
          </p:cNvPr>
          <p:cNvCxnSpPr>
            <a:cxnSpLocks/>
            <a:stCxn id="54" idx="5"/>
            <a:endCxn id="57" idx="0"/>
          </p:cNvCxnSpPr>
          <p:nvPr/>
        </p:nvCxnSpPr>
        <p:spPr>
          <a:xfrm>
            <a:off x="5207508" y="4964249"/>
            <a:ext cx="169505"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95" name="直接连接符 94">
            <a:extLst>
              <a:ext uri="{FF2B5EF4-FFF2-40B4-BE49-F238E27FC236}">
                <a16:creationId xmlns:a16="http://schemas.microsoft.com/office/drawing/2014/main" id="{1A719B58-8373-4BEA-9641-6B72B41B85F9}"/>
              </a:ext>
            </a:extLst>
          </p:cNvPr>
          <p:cNvCxnSpPr>
            <a:cxnSpLocks/>
            <a:stCxn id="57" idx="5"/>
            <a:endCxn id="60" idx="0"/>
          </p:cNvCxnSpPr>
          <p:nvPr/>
        </p:nvCxnSpPr>
        <p:spPr>
          <a:xfrm>
            <a:off x="5469717" y="5429030"/>
            <a:ext cx="169504" cy="221350"/>
          </a:xfrm>
          <a:prstGeom prst="line">
            <a:avLst/>
          </a:prstGeom>
        </p:spPr>
        <p:style>
          <a:lnRef idx="2">
            <a:schemeClr val="accent4"/>
          </a:lnRef>
          <a:fillRef idx="0">
            <a:schemeClr val="accent4"/>
          </a:fillRef>
          <a:effectRef idx="1">
            <a:schemeClr val="accent4"/>
          </a:effectRef>
          <a:fontRef idx="minor">
            <a:schemeClr val="tx1"/>
          </a:fontRef>
        </p:style>
      </p:cxnSp>
      <p:cxnSp>
        <p:nvCxnSpPr>
          <p:cNvPr id="96" name="直接连接符 95">
            <a:extLst>
              <a:ext uri="{FF2B5EF4-FFF2-40B4-BE49-F238E27FC236}">
                <a16:creationId xmlns:a16="http://schemas.microsoft.com/office/drawing/2014/main" id="{D4AB78C3-B300-474A-865E-7D264795EC95}"/>
              </a:ext>
            </a:extLst>
          </p:cNvPr>
          <p:cNvCxnSpPr>
            <a:cxnSpLocks/>
            <a:stCxn id="40" idx="5"/>
            <a:endCxn id="43" idx="0"/>
          </p:cNvCxnSpPr>
          <p:nvPr/>
        </p:nvCxnSpPr>
        <p:spPr>
          <a:xfrm>
            <a:off x="3188273" y="4968225"/>
            <a:ext cx="169505"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97" name="直接连接符 96">
            <a:extLst>
              <a:ext uri="{FF2B5EF4-FFF2-40B4-BE49-F238E27FC236}">
                <a16:creationId xmlns:a16="http://schemas.microsoft.com/office/drawing/2014/main" id="{A3145009-04A6-4744-B912-B901EECB681B}"/>
              </a:ext>
            </a:extLst>
          </p:cNvPr>
          <p:cNvCxnSpPr>
            <a:cxnSpLocks/>
            <a:endCxn id="54" idx="7"/>
          </p:cNvCxnSpPr>
          <p:nvPr/>
        </p:nvCxnSpPr>
        <p:spPr>
          <a:xfrm flipH="1">
            <a:off x="5207508" y="4477052"/>
            <a:ext cx="211812" cy="295888"/>
          </a:xfrm>
          <a:prstGeom prst="line">
            <a:avLst/>
          </a:prstGeom>
        </p:spPr>
        <p:style>
          <a:lnRef idx="2">
            <a:schemeClr val="accent4"/>
          </a:lnRef>
          <a:fillRef idx="0">
            <a:schemeClr val="accent4"/>
          </a:fillRef>
          <a:effectRef idx="1">
            <a:schemeClr val="accent4"/>
          </a:effectRef>
          <a:fontRef idx="minor">
            <a:schemeClr val="tx1"/>
          </a:fontRef>
        </p:style>
      </p:cxnSp>
      <p:cxnSp>
        <p:nvCxnSpPr>
          <p:cNvPr id="99" name="直接连接符 98">
            <a:extLst>
              <a:ext uri="{FF2B5EF4-FFF2-40B4-BE49-F238E27FC236}">
                <a16:creationId xmlns:a16="http://schemas.microsoft.com/office/drawing/2014/main" id="{3D099497-B7B5-43DA-A0DB-ECACE2C240E0}"/>
              </a:ext>
            </a:extLst>
          </p:cNvPr>
          <p:cNvCxnSpPr>
            <a:cxnSpLocks/>
            <a:stCxn id="54" idx="3"/>
            <a:endCxn id="56" idx="7"/>
          </p:cNvCxnSpPr>
          <p:nvPr/>
        </p:nvCxnSpPr>
        <p:spPr>
          <a:xfrm flipH="1">
            <a:off x="4869542" y="4964249"/>
            <a:ext cx="152557" cy="273472"/>
          </a:xfrm>
          <a:prstGeom prst="line">
            <a:avLst/>
          </a:prstGeom>
        </p:spPr>
        <p:style>
          <a:lnRef idx="2">
            <a:schemeClr val="accent4"/>
          </a:lnRef>
          <a:fillRef idx="0">
            <a:schemeClr val="accent4"/>
          </a:fillRef>
          <a:effectRef idx="1">
            <a:schemeClr val="accent4"/>
          </a:effectRef>
          <a:fontRef idx="minor">
            <a:schemeClr val="tx1"/>
          </a:fontRef>
        </p:style>
      </p:cxnSp>
      <p:cxnSp>
        <p:nvCxnSpPr>
          <p:cNvPr id="100" name="直接连接符 99">
            <a:extLst>
              <a:ext uri="{FF2B5EF4-FFF2-40B4-BE49-F238E27FC236}">
                <a16:creationId xmlns:a16="http://schemas.microsoft.com/office/drawing/2014/main" id="{CA9B077E-0C75-447B-945B-929DFE7473F6}"/>
              </a:ext>
            </a:extLst>
          </p:cNvPr>
          <p:cNvCxnSpPr>
            <a:cxnSpLocks/>
            <a:stCxn id="57" idx="3"/>
            <a:endCxn id="61" idx="0"/>
          </p:cNvCxnSpPr>
          <p:nvPr/>
        </p:nvCxnSpPr>
        <p:spPr>
          <a:xfrm flipH="1">
            <a:off x="5144762" y="5429030"/>
            <a:ext cx="139546"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1" name="直接连接符 100">
            <a:extLst>
              <a:ext uri="{FF2B5EF4-FFF2-40B4-BE49-F238E27FC236}">
                <a16:creationId xmlns:a16="http://schemas.microsoft.com/office/drawing/2014/main" id="{F03A9639-6A1C-473D-8289-4377BD55F7AD}"/>
              </a:ext>
            </a:extLst>
          </p:cNvPr>
          <p:cNvCxnSpPr>
            <a:cxnSpLocks/>
            <a:stCxn id="20" idx="3"/>
            <a:endCxn id="23" idx="0"/>
          </p:cNvCxnSpPr>
          <p:nvPr/>
        </p:nvCxnSpPr>
        <p:spPr>
          <a:xfrm flipH="1">
            <a:off x="3568374" y="2932021"/>
            <a:ext cx="169504" cy="23385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2" name="直接连接符 101">
            <a:extLst>
              <a:ext uri="{FF2B5EF4-FFF2-40B4-BE49-F238E27FC236}">
                <a16:creationId xmlns:a16="http://schemas.microsoft.com/office/drawing/2014/main" id="{C34C2FC2-19F3-4EF0-91FE-6D3794AC2350}"/>
              </a:ext>
            </a:extLst>
          </p:cNvPr>
          <p:cNvCxnSpPr>
            <a:cxnSpLocks/>
            <a:stCxn id="39" idx="3"/>
          </p:cNvCxnSpPr>
          <p:nvPr/>
        </p:nvCxnSpPr>
        <p:spPr>
          <a:xfrm flipH="1">
            <a:off x="3190883" y="4500770"/>
            <a:ext cx="205294" cy="283848"/>
          </a:xfrm>
          <a:prstGeom prst="line">
            <a:avLst/>
          </a:prstGeom>
        </p:spPr>
        <p:style>
          <a:lnRef idx="2">
            <a:schemeClr val="accent4"/>
          </a:lnRef>
          <a:fillRef idx="0">
            <a:schemeClr val="accent4"/>
          </a:fillRef>
          <a:effectRef idx="1">
            <a:schemeClr val="accent4"/>
          </a:effectRef>
          <a:fontRef idx="minor">
            <a:schemeClr val="tx1"/>
          </a:fontRef>
        </p:style>
      </p:cxnSp>
      <p:cxnSp>
        <p:nvCxnSpPr>
          <p:cNvPr id="103" name="直接连接符 102">
            <a:extLst>
              <a:ext uri="{FF2B5EF4-FFF2-40B4-BE49-F238E27FC236}">
                <a16:creationId xmlns:a16="http://schemas.microsoft.com/office/drawing/2014/main" id="{8EF39D11-165E-4A6B-BD67-0349897AE0C4}"/>
              </a:ext>
            </a:extLst>
          </p:cNvPr>
          <p:cNvCxnSpPr>
            <a:cxnSpLocks/>
            <a:stCxn id="40" idx="3"/>
            <a:endCxn id="42" idx="7"/>
          </p:cNvCxnSpPr>
          <p:nvPr/>
        </p:nvCxnSpPr>
        <p:spPr>
          <a:xfrm flipH="1">
            <a:off x="2850307" y="4968225"/>
            <a:ext cx="152557" cy="273472"/>
          </a:xfrm>
          <a:prstGeom prst="line">
            <a:avLst/>
          </a:prstGeom>
        </p:spPr>
        <p:style>
          <a:lnRef idx="2">
            <a:schemeClr val="accent4"/>
          </a:lnRef>
          <a:fillRef idx="0">
            <a:schemeClr val="accent4"/>
          </a:fillRef>
          <a:effectRef idx="1">
            <a:schemeClr val="accent4"/>
          </a:effectRef>
          <a:fontRef idx="minor">
            <a:schemeClr val="tx1"/>
          </a:fontRef>
        </p:style>
      </p:cxnSp>
      <p:cxnSp>
        <p:nvCxnSpPr>
          <p:cNvPr id="106" name="直接连接符 105">
            <a:extLst>
              <a:ext uri="{FF2B5EF4-FFF2-40B4-BE49-F238E27FC236}">
                <a16:creationId xmlns:a16="http://schemas.microsoft.com/office/drawing/2014/main" id="{5DCC8610-817D-49E5-A21D-658B40970FD2}"/>
              </a:ext>
            </a:extLst>
          </p:cNvPr>
          <p:cNvCxnSpPr>
            <a:cxnSpLocks/>
            <a:stCxn id="18" idx="3"/>
          </p:cNvCxnSpPr>
          <p:nvPr/>
        </p:nvCxnSpPr>
        <p:spPr>
          <a:xfrm flipH="1">
            <a:off x="3085133" y="2464566"/>
            <a:ext cx="207904" cy="297894"/>
          </a:xfrm>
          <a:prstGeom prst="line">
            <a:avLst/>
          </a:prstGeom>
        </p:spPr>
        <p:style>
          <a:lnRef idx="2">
            <a:schemeClr val="accent4"/>
          </a:lnRef>
          <a:fillRef idx="0">
            <a:schemeClr val="accent4"/>
          </a:fillRef>
          <a:effectRef idx="1">
            <a:schemeClr val="accent4"/>
          </a:effectRef>
          <a:fontRef idx="minor">
            <a:schemeClr val="tx1"/>
          </a:fontRef>
        </p:style>
      </p:cxnSp>
      <p:cxnSp>
        <p:nvCxnSpPr>
          <p:cNvPr id="107" name="直接连接符 106">
            <a:extLst>
              <a:ext uri="{FF2B5EF4-FFF2-40B4-BE49-F238E27FC236}">
                <a16:creationId xmlns:a16="http://schemas.microsoft.com/office/drawing/2014/main" id="{52B95829-8697-43C0-8F88-1EF3DB8750D1}"/>
              </a:ext>
            </a:extLst>
          </p:cNvPr>
          <p:cNvCxnSpPr>
            <a:cxnSpLocks/>
            <a:stCxn id="19" idx="3"/>
          </p:cNvCxnSpPr>
          <p:nvPr/>
        </p:nvCxnSpPr>
        <p:spPr>
          <a:xfrm flipH="1">
            <a:off x="2726878" y="2932021"/>
            <a:ext cx="172846" cy="270553"/>
          </a:xfrm>
          <a:prstGeom prst="line">
            <a:avLst/>
          </a:prstGeom>
        </p:spPr>
        <p:style>
          <a:lnRef idx="2">
            <a:schemeClr val="accent4"/>
          </a:lnRef>
          <a:fillRef idx="0">
            <a:schemeClr val="accent4"/>
          </a:fillRef>
          <a:effectRef idx="1">
            <a:schemeClr val="accent4"/>
          </a:effectRef>
          <a:fontRef idx="minor">
            <a:schemeClr val="tx1"/>
          </a:fontRef>
        </p:style>
      </p:cxnSp>
      <p:sp>
        <p:nvSpPr>
          <p:cNvPr id="4130" name="箭头: 右 4129">
            <a:extLst>
              <a:ext uri="{FF2B5EF4-FFF2-40B4-BE49-F238E27FC236}">
                <a16:creationId xmlns:a16="http://schemas.microsoft.com/office/drawing/2014/main" id="{55DC7426-5075-406B-B40C-61E92C2E6964}"/>
              </a:ext>
            </a:extLst>
          </p:cNvPr>
          <p:cNvSpPr/>
          <p:nvPr/>
        </p:nvSpPr>
        <p:spPr>
          <a:xfrm>
            <a:off x="1955405" y="2796449"/>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26" name="箭头: 右 125">
            <a:extLst>
              <a:ext uri="{FF2B5EF4-FFF2-40B4-BE49-F238E27FC236}">
                <a16:creationId xmlns:a16="http://schemas.microsoft.com/office/drawing/2014/main" id="{D1FB5EFA-73EF-478E-9BB8-9527C5F01F4E}"/>
              </a:ext>
            </a:extLst>
          </p:cNvPr>
          <p:cNvSpPr/>
          <p:nvPr/>
        </p:nvSpPr>
        <p:spPr>
          <a:xfrm>
            <a:off x="6160272" y="4714037"/>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27" name="箭头: 右 126">
            <a:extLst>
              <a:ext uri="{FF2B5EF4-FFF2-40B4-BE49-F238E27FC236}">
                <a16:creationId xmlns:a16="http://schemas.microsoft.com/office/drawing/2014/main" id="{C5B19694-D84C-40DE-958C-3896628556A5}"/>
              </a:ext>
            </a:extLst>
          </p:cNvPr>
          <p:cNvSpPr/>
          <p:nvPr/>
        </p:nvSpPr>
        <p:spPr>
          <a:xfrm>
            <a:off x="4159675" y="4714037"/>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28" name="箭头: 右 127">
            <a:extLst>
              <a:ext uri="{FF2B5EF4-FFF2-40B4-BE49-F238E27FC236}">
                <a16:creationId xmlns:a16="http://schemas.microsoft.com/office/drawing/2014/main" id="{09453BE3-B79D-4A97-87D0-80036A849F85}"/>
              </a:ext>
            </a:extLst>
          </p:cNvPr>
          <p:cNvSpPr/>
          <p:nvPr/>
        </p:nvSpPr>
        <p:spPr>
          <a:xfrm>
            <a:off x="4167623" y="2728922"/>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29" name="箭头: 右 128">
            <a:extLst>
              <a:ext uri="{FF2B5EF4-FFF2-40B4-BE49-F238E27FC236}">
                <a16:creationId xmlns:a16="http://schemas.microsoft.com/office/drawing/2014/main" id="{FC0A83A6-4AFA-4E7D-9923-8848CFDD95EF}"/>
              </a:ext>
            </a:extLst>
          </p:cNvPr>
          <p:cNvSpPr/>
          <p:nvPr/>
        </p:nvSpPr>
        <p:spPr>
          <a:xfrm>
            <a:off x="2043563" y="4730056"/>
            <a:ext cx="576440" cy="339570"/>
          </a:xfrm>
          <a:prstGeom prst="rightArrow">
            <a:avLst/>
          </a:prstGeom>
          <a:solidFill>
            <a:srgbClr val="0066CC"/>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latin typeface="KaiTi" panose="02010609060101010101" pitchFamily="49" charset="-122"/>
              <a:ea typeface="KaiTi" panose="02010609060101010101" pitchFamily="49" charset="-122"/>
            </a:endParaRPr>
          </a:p>
        </p:txBody>
      </p:sp>
      <p:sp>
        <p:nvSpPr>
          <p:cNvPr id="131" name="文本框 130">
            <a:extLst>
              <a:ext uri="{FF2B5EF4-FFF2-40B4-BE49-F238E27FC236}">
                <a16:creationId xmlns:a16="http://schemas.microsoft.com/office/drawing/2014/main" id="{C9DBBFB1-38CF-42E7-BC46-25B8741B3652}"/>
              </a:ext>
            </a:extLst>
          </p:cNvPr>
          <p:cNvSpPr txBox="1"/>
          <p:nvPr/>
        </p:nvSpPr>
        <p:spPr>
          <a:xfrm>
            <a:off x="1960367" y="3543938"/>
            <a:ext cx="2407096" cy="584775"/>
          </a:xfrm>
          <a:prstGeom prst="rect">
            <a:avLst/>
          </a:prstGeom>
          <a:noFill/>
        </p:spPr>
        <p:txBody>
          <a:bodyPr wrap="square">
            <a:spAutoFit/>
          </a:bodyPr>
          <a:lstStyle/>
          <a:p>
            <a:r>
              <a:rPr lang="zh-CN" altLang="en-US" sz="1600" dirty="0">
                <a:latin typeface="KaiTi" panose="02010609060101010101" pitchFamily="49" charset="-122"/>
                <a:ea typeface="KaiTi" panose="02010609060101010101" pitchFamily="49" charset="-122"/>
              </a:rPr>
              <a:t>Level-wise tree growth</a:t>
            </a:r>
          </a:p>
        </p:txBody>
      </p:sp>
      <p:sp>
        <p:nvSpPr>
          <p:cNvPr id="132" name="文本框 131">
            <a:extLst>
              <a:ext uri="{FF2B5EF4-FFF2-40B4-BE49-F238E27FC236}">
                <a16:creationId xmlns:a16="http://schemas.microsoft.com/office/drawing/2014/main" id="{A97B04B1-4496-4CC0-85D1-118AB8ED7FB6}"/>
              </a:ext>
            </a:extLst>
          </p:cNvPr>
          <p:cNvSpPr txBox="1"/>
          <p:nvPr/>
        </p:nvSpPr>
        <p:spPr>
          <a:xfrm>
            <a:off x="2060559" y="6051863"/>
            <a:ext cx="2407096" cy="338554"/>
          </a:xfrm>
          <a:prstGeom prst="rect">
            <a:avLst/>
          </a:prstGeom>
          <a:noFill/>
        </p:spPr>
        <p:txBody>
          <a:bodyPr wrap="square">
            <a:spAutoFit/>
          </a:bodyPr>
          <a:lstStyle/>
          <a:p>
            <a:r>
              <a:rPr lang="zh-CN" altLang="en-US" sz="1600" dirty="0">
                <a:latin typeface="KaiTi" panose="02010609060101010101" pitchFamily="49" charset="-122"/>
                <a:ea typeface="KaiTi" panose="02010609060101010101" pitchFamily="49" charset="-122"/>
              </a:rPr>
              <a:t>Le</a:t>
            </a:r>
            <a:r>
              <a:rPr lang="en-US" altLang="zh-CN" sz="1600" dirty="0" err="1">
                <a:latin typeface="KaiTi" panose="02010609060101010101" pitchFamily="49" charset="-122"/>
                <a:ea typeface="KaiTi" panose="02010609060101010101" pitchFamily="49" charset="-122"/>
              </a:rPr>
              <a:t>af</a:t>
            </a:r>
            <a:r>
              <a:rPr lang="zh-CN" altLang="en-US" sz="1600" dirty="0">
                <a:latin typeface="KaiTi" panose="02010609060101010101" pitchFamily="49" charset="-122"/>
                <a:ea typeface="KaiTi" panose="02010609060101010101" pitchFamily="49" charset="-122"/>
              </a:rPr>
              <a:t>-wise tree growth</a:t>
            </a:r>
          </a:p>
        </p:txBody>
      </p:sp>
      <p:sp>
        <p:nvSpPr>
          <p:cNvPr id="4132" name="文本框 4131">
            <a:extLst>
              <a:ext uri="{FF2B5EF4-FFF2-40B4-BE49-F238E27FC236}">
                <a16:creationId xmlns:a16="http://schemas.microsoft.com/office/drawing/2014/main" id="{2537FA2E-EB38-4E37-8267-99EF60723C36}"/>
              </a:ext>
            </a:extLst>
          </p:cNvPr>
          <p:cNvSpPr txBox="1"/>
          <p:nvPr/>
        </p:nvSpPr>
        <p:spPr>
          <a:xfrm>
            <a:off x="4775887" y="2587281"/>
            <a:ext cx="1199593" cy="461665"/>
          </a:xfrm>
          <a:prstGeom prst="rect">
            <a:avLst/>
          </a:prstGeom>
          <a:noFill/>
        </p:spPr>
        <p:txBody>
          <a:bodyPr wrap="square" rtlCol="0">
            <a:spAutoFit/>
          </a:bodyPr>
          <a:lstStyle/>
          <a:p>
            <a:r>
              <a:rPr lang="en-US" altLang="zh-CN"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
        <p:nvSpPr>
          <p:cNvPr id="134" name="文本框 133">
            <a:extLst>
              <a:ext uri="{FF2B5EF4-FFF2-40B4-BE49-F238E27FC236}">
                <a16:creationId xmlns:a16="http://schemas.microsoft.com/office/drawing/2014/main" id="{39EDA541-1753-4BC1-A4C8-59DFA9390020}"/>
              </a:ext>
            </a:extLst>
          </p:cNvPr>
          <p:cNvSpPr txBox="1"/>
          <p:nvPr/>
        </p:nvSpPr>
        <p:spPr>
          <a:xfrm>
            <a:off x="6789528" y="4559309"/>
            <a:ext cx="1199593" cy="461665"/>
          </a:xfrm>
          <a:prstGeom prst="rect">
            <a:avLst/>
          </a:prstGeom>
          <a:noFill/>
        </p:spPr>
        <p:txBody>
          <a:bodyPr wrap="square" rtlCol="0">
            <a:spAutoFit/>
          </a:bodyPr>
          <a:lstStyle/>
          <a:p>
            <a:r>
              <a:rPr lang="en-US" altLang="zh-CN" dirty="0">
                <a:latin typeface="KaiTi" panose="02010609060101010101" pitchFamily="49" charset="-122"/>
                <a:ea typeface="KaiTi" panose="02010609060101010101" pitchFamily="49" charset="-122"/>
              </a:rPr>
              <a:t>……</a:t>
            </a:r>
            <a:endParaRPr lang="zh-CN" altLang="en-US" dirty="0">
              <a:latin typeface="KaiTi" panose="02010609060101010101" pitchFamily="49" charset="-122"/>
              <a:ea typeface="KaiTi" panose="02010609060101010101" pitchFamily="49" charset="-122"/>
            </a:endParaRPr>
          </a:p>
        </p:txBody>
      </p:sp>
      <p:sp>
        <p:nvSpPr>
          <p:cNvPr id="141" name="文本框 140">
            <a:extLst>
              <a:ext uri="{FF2B5EF4-FFF2-40B4-BE49-F238E27FC236}">
                <a16:creationId xmlns:a16="http://schemas.microsoft.com/office/drawing/2014/main" id="{CCFDC3FE-BA14-44F4-B5C6-92236783B6ED}"/>
              </a:ext>
            </a:extLst>
          </p:cNvPr>
          <p:cNvSpPr txBox="1"/>
          <p:nvPr/>
        </p:nvSpPr>
        <p:spPr>
          <a:xfrm>
            <a:off x="676397" y="1344569"/>
            <a:ext cx="6096000" cy="830997"/>
          </a:xfrm>
          <a:prstGeom prst="rect">
            <a:avLst/>
          </a:prstGeom>
          <a:noFill/>
        </p:spPr>
        <p:txBody>
          <a:bodyPr wrap="square">
            <a:spAutoFit/>
          </a:bodyPr>
          <a:lstStyle/>
          <a:p>
            <a:r>
              <a:rPr lang="zh-CN" altLang="zh-CN" b="1" kern="100" dirty="0">
                <a:effectLst/>
                <a:latin typeface="KaiTi" panose="02010609060101010101" pitchFamily="49" charset="-122"/>
                <a:ea typeface="KaiTi" panose="02010609060101010101" pitchFamily="49" charset="-122"/>
                <a:cs typeface="Times New Roman" panose="02020603050405020304" pitchFamily="18" charset="0"/>
              </a:rPr>
              <a:t>基于最大深度的</a:t>
            </a:r>
            <a:r>
              <a:rPr lang="en-US" altLang="zh-CN" b="1" kern="100" dirty="0">
                <a:effectLst/>
                <a:latin typeface="KaiTi" panose="02010609060101010101" pitchFamily="49" charset="-122"/>
                <a:ea typeface="KaiTi" panose="02010609060101010101" pitchFamily="49" charset="-122"/>
                <a:cs typeface="Times New Roman" panose="02020603050405020304" pitchFamily="18" charset="0"/>
              </a:rPr>
              <a:t> Leaf-wise </a:t>
            </a:r>
            <a:r>
              <a:rPr lang="zh-CN" altLang="zh-CN" b="1" kern="100" dirty="0">
                <a:effectLst/>
                <a:latin typeface="KaiTi" panose="02010609060101010101" pitchFamily="49" charset="-122"/>
                <a:ea typeface="KaiTi" panose="02010609060101010101" pitchFamily="49" charset="-122"/>
                <a:cs typeface="Times New Roman" panose="02020603050405020304" pitchFamily="18" charset="0"/>
              </a:rPr>
              <a:t>的垂直生长算法</a:t>
            </a:r>
            <a:endParaRPr lang="zh-CN" altLang="en-US" b="1"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45289382"/>
      </p:ext>
    </p:extLst>
  </p:cSld>
  <p:clrMapOvr>
    <a:masterClrMapping/>
  </p:clrMapOvr>
  <p:transition advTm="8005"/>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19822</TotalTime>
  <Words>5832</Words>
  <Application>Microsoft Office PowerPoint</Application>
  <PresentationFormat>와이드스크린</PresentationFormat>
  <Paragraphs>1294</Paragraphs>
  <Slides>81</Slides>
  <Notes>60</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81</vt:i4>
      </vt:variant>
    </vt:vector>
  </HeadingPairs>
  <TitlesOfParts>
    <vt:vector size="92" baseType="lpstr">
      <vt:lpstr>等线</vt:lpstr>
      <vt:lpstr>KaiTi</vt:lpstr>
      <vt:lpstr>微软雅黑</vt:lpstr>
      <vt:lpstr>微软雅黑</vt:lpstr>
      <vt:lpstr>Arial</vt:lpstr>
      <vt:lpstr>Calibri</vt:lpstr>
      <vt:lpstr>Cambria Math</vt:lpstr>
      <vt:lpstr>Impact</vt:lpstr>
      <vt:lpstr>Times New Roman</vt:lpstr>
      <vt:lpstr>Wingdings</vt:lpstr>
      <vt:lpstr>默认设计模板</vt:lpstr>
      <vt:lpstr>机器学习-集成学习</vt:lpstr>
      <vt:lpstr>1.集成学习方法概述</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2.随机森林算法</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3.AdaBoost和GBDT算法</vt:lpstr>
      <vt:lpstr>AdaBoost算法</vt:lpstr>
      <vt:lpstr>Adaboost算法</vt:lpstr>
      <vt:lpstr>AdaBoost算法</vt:lpstr>
      <vt:lpstr>PowerPoint 프레젠테이션</vt:lpstr>
      <vt:lpstr>Adaboost算法</vt:lpstr>
      <vt:lpstr>Adaboost算法</vt:lpstr>
      <vt:lpstr>Adaboost算法</vt:lpstr>
      <vt:lpstr>Adaboost算法</vt:lpstr>
      <vt:lpstr>Adaboost算法</vt:lpstr>
      <vt:lpstr>Adaboost算法 – 代码</vt:lpstr>
      <vt:lpstr>Adaboost算法 – 代码</vt:lpstr>
      <vt:lpstr>Adaboost算法 – 代码</vt:lpstr>
      <vt:lpstr>CART算法回归</vt:lpstr>
      <vt:lpstr>CART算法回归</vt:lpstr>
      <vt:lpstr>CART算法回归</vt:lpstr>
      <vt:lpstr>CART算法回归</vt:lpstr>
      <vt:lpstr>CART算法回归</vt:lpstr>
      <vt:lpstr>BDT</vt:lpstr>
      <vt:lpstr>BDT</vt:lpstr>
      <vt:lpstr>BDT</vt:lpstr>
      <vt:lpstr>BDT</vt:lpstr>
      <vt:lpstr>BDT算法</vt:lpstr>
      <vt:lpstr>GBDT算法</vt:lpstr>
      <vt:lpstr>GBDT算法</vt:lpstr>
      <vt:lpstr>GBDT算法</vt:lpstr>
      <vt:lpstr>PowerPoint 프레젠테이션</vt:lpstr>
      <vt:lpstr>GBDT算法</vt:lpstr>
      <vt:lpstr>GBDT算法</vt:lpstr>
      <vt:lpstr>GBDT算法</vt:lpstr>
      <vt:lpstr>GBDT算法</vt:lpstr>
      <vt:lpstr>GBDT算法</vt:lpstr>
      <vt:lpstr>GBDT算法</vt:lpstr>
      <vt:lpstr>GBDT算法</vt:lpstr>
      <vt:lpstr>GBDT算法 – 代码（分类）</vt:lpstr>
      <vt:lpstr>GBDT算法 – 代码（分类）</vt:lpstr>
      <vt:lpstr>GBDT算法 – 代码（回归）</vt:lpstr>
      <vt:lpstr>GBDT算法练习</vt:lpstr>
      <vt:lpstr>GBDT算法练习</vt:lpstr>
      <vt:lpstr>4.XGBoost</vt:lpstr>
      <vt:lpstr>4.XGBoost</vt:lpstr>
      <vt:lpstr>4.XGBoost</vt:lpstr>
      <vt:lpstr>4.XGBoost</vt:lpstr>
      <vt:lpstr>4.XGBoost</vt:lpstr>
      <vt:lpstr>4.XGBoost</vt:lpstr>
      <vt:lpstr>4.XGBoost</vt:lpstr>
      <vt:lpstr>4.XGBoost</vt:lpstr>
      <vt:lpstr>4.XGBoost</vt:lpstr>
      <vt:lpstr>4.XGBoost</vt:lpstr>
      <vt:lpstr>5.XGBoost</vt:lpstr>
      <vt:lpstr>5.LightGBM</vt:lpstr>
      <vt:lpstr>5.LightGBM</vt:lpstr>
      <vt:lpstr>5.LightGBM</vt:lpstr>
      <vt:lpstr>5.LightGBM</vt:lpstr>
      <vt:lpstr>5.LightGBM</vt:lpstr>
      <vt:lpstr>5.LightGBM</vt:lpstr>
      <vt:lpstr>5.LightGBM</vt:lpstr>
      <vt:lpstr>5.LightGBM</vt:lpstr>
      <vt:lpstr>5.直方图算法</vt:lpstr>
      <vt:lpstr>5.LightGBM</vt:lpstr>
      <vt:lpstr>5.LightGBM</vt:lpstr>
      <vt:lpstr>5.LightGBM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유 혜</cp:lastModifiedBy>
  <cp:revision>3412</cp:revision>
  <cp:lastPrinted>2018-06-09T17:02:00Z</cp:lastPrinted>
  <dcterms:created xsi:type="dcterms:W3CDTF">2016-05-18T20:32:00Z</dcterms:created>
  <dcterms:modified xsi:type="dcterms:W3CDTF">2025-11-18T05:53:19Z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