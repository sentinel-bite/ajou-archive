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87"/>
  </p:notesMasterIdLst>
  <p:sldIdLst>
    <p:sldId id="589" r:id="rId2"/>
    <p:sldId id="509" r:id="rId3"/>
    <p:sldId id="628" r:id="rId4"/>
    <p:sldId id="510" r:id="rId5"/>
    <p:sldId id="656" r:id="rId6"/>
    <p:sldId id="629" r:id="rId7"/>
    <p:sldId id="531" r:id="rId8"/>
    <p:sldId id="532" r:id="rId9"/>
    <p:sldId id="533" r:id="rId10"/>
    <p:sldId id="630" r:id="rId11"/>
    <p:sldId id="657" r:id="rId12"/>
    <p:sldId id="534" r:id="rId13"/>
    <p:sldId id="682" r:id="rId14"/>
    <p:sldId id="690" r:id="rId15"/>
    <p:sldId id="681" r:id="rId16"/>
    <p:sldId id="683" r:id="rId17"/>
    <p:sldId id="658" r:id="rId18"/>
    <p:sldId id="647" r:id="rId19"/>
    <p:sldId id="661" r:id="rId20"/>
    <p:sldId id="599" r:id="rId21"/>
    <p:sldId id="523" r:id="rId22"/>
    <p:sldId id="684" r:id="rId23"/>
    <p:sldId id="662" r:id="rId24"/>
    <p:sldId id="602" r:id="rId25"/>
    <p:sldId id="691" r:id="rId26"/>
    <p:sldId id="692" r:id="rId27"/>
    <p:sldId id="605" r:id="rId28"/>
    <p:sldId id="685" r:id="rId29"/>
    <p:sldId id="686" r:id="rId30"/>
    <p:sldId id="687" r:id="rId31"/>
    <p:sldId id="606" r:id="rId32"/>
    <p:sldId id="607" r:id="rId33"/>
    <p:sldId id="633" r:id="rId34"/>
    <p:sldId id="663" r:id="rId35"/>
    <p:sldId id="693" r:id="rId36"/>
    <p:sldId id="696" r:id="rId37"/>
    <p:sldId id="695" r:id="rId38"/>
    <p:sldId id="610" r:id="rId39"/>
    <p:sldId id="688" r:id="rId40"/>
    <p:sldId id="559" r:id="rId41"/>
    <p:sldId id="617" r:id="rId42"/>
    <p:sldId id="639" r:id="rId43"/>
    <p:sldId id="536" r:id="rId44"/>
    <p:sldId id="537" r:id="rId45"/>
    <p:sldId id="664" r:id="rId46"/>
    <p:sldId id="665" r:id="rId47"/>
    <p:sldId id="666" r:id="rId48"/>
    <p:sldId id="667" r:id="rId49"/>
    <p:sldId id="668" r:id="rId50"/>
    <p:sldId id="669" r:id="rId51"/>
    <p:sldId id="670" r:id="rId52"/>
    <p:sldId id="671" r:id="rId53"/>
    <p:sldId id="672" r:id="rId54"/>
    <p:sldId id="673" r:id="rId55"/>
    <p:sldId id="674" r:id="rId56"/>
    <p:sldId id="675" r:id="rId57"/>
    <p:sldId id="676" r:id="rId58"/>
    <p:sldId id="553" r:id="rId59"/>
    <p:sldId id="697" r:id="rId60"/>
    <p:sldId id="653" r:id="rId61"/>
    <p:sldId id="539" r:id="rId62"/>
    <p:sldId id="698" r:id="rId63"/>
    <p:sldId id="699" r:id="rId64"/>
    <p:sldId id="700" r:id="rId65"/>
    <p:sldId id="702" r:id="rId66"/>
    <p:sldId id="689" r:id="rId67"/>
    <p:sldId id="703" r:id="rId68"/>
    <p:sldId id="648" r:id="rId69"/>
    <p:sldId id="570" r:id="rId70"/>
    <p:sldId id="571" r:id="rId71"/>
    <p:sldId id="573" r:id="rId72"/>
    <p:sldId id="627" r:id="rId73"/>
    <p:sldId id="575" r:id="rId74"/>
    <p:sldId id="577" r:id="rId75"/>
    <p:sldId id="655" r:id="rId76"/>
    <p:sldId id="554" r:id="rId77"/>
    <p:sldId id="582" r:id="rId78"/>
    <p:sldId id="581" r:id="rId79"/>
    <p:sldId id="564" r:id="rId80"/>
    <p:sldId id="649" r:id="rId81"/>
    <p:sldId id="585" r:id="rId82"/>
    <p:sldId id="652" r:id="rId83"/>
    <p:sldId id="645" r:id="rId84"/>
    <p:sldId id="646" r:id="rId85"/>
    <p:sldId id="680" r:id="rId86"/>
  </p:sldIdLst>
  <p:sldSz cx="12192000" cy="6858000"/>
  <p:notesSz cx="7010400" cy="9296400"/>
  <p:defaultTextStyle>
    <a:defPPr>
      <a:defRPr lang="en-US"/>
    </a:defPPr>
    <a:lvl1pPr marL="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F8"/>
    <a:srgbClr val="FFFFCC"/>
    <a:srgbClr val="66FFFF"/>
    <a:srgbClr val="01FFC3"/>
    <a:srgbClr val="CCFFCC"/>
    <a:srgbClr val="0000CC"/>
    <a:srgbClr val="F0CDBC"/>
    <a:srgbClr val="BD582C"/>
    <a:srgbClr val="008080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3906" autoAdjust="0"/>
  </p:normalViewPr>
  <p:slideViewPr>
    <p:cSldViewPr snapToGrid="0">
      <p:cViewPr varScale="1">
        <p:scale>
          <a:sx n="78" d="100"/>
          <a:sy n="78" d="100"/>
        </p:scale>
        <p:origin x="955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85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5.xml"/><Relationship Id="rId13" Type="http://schemas.openxmlformats.org/officeDocument/2006/relationships/slide" Target="slides/slide70.xml"/><Relationship Id="rId18" Type="http://schemas.openxmlformats.org/officeDocument/2006/relationships/slide" Target="slides/slide75.xml"/><Relationship Id="rId3" Type="http://schemas.openxmlformats.org/officeDocument/2006/relationships/slide" Target="slides/slide27.xml"/><Relationship Id="rId21" Type="http://schemas.openxmlformats.org/officeDocument/2006/relationships/slide" Target="slides/slide80.xml"/><Relationship Id="rId7" Type="http://schemas.openxmlformats.org/officeDocument/2006/relationships/slide" Target="slides/slide31.xml"/><Relationship Id="rId12" Type="http://schemas.openxmlformats.org/officeDocument/2006/relationships/slide" Target="slides/slide69.xml"/><Relationship Id="rId17" Type="http://schemas.openxmlformats.org/officeDocument/2006/relationships/slide" Target="slides/slide74.xml"/><Relationship Id="rId2" Type="http://schemas.openxmlformats.org/officeDocument/2006/relationships/slide" Target="slides/slide18.xml"/><Relationship Id="rId16" Type="http://schemas.openxmlformats.org/officeDocument/2006/relationships/slide" Target="slides/slide73.xml"/><Relationship Id="rId20" Type="http://schemas.openxmlformats.org/officeDocument/2006/relationships/slide" Target="slides/slide79.xml"/><Relationship Id="rId1" Type="http://schemas.openxmlformats.org/officeDocument/2006/relationships/slide" Target="slides/slide1.xml"/><Relationship Id="rId6" Type="http://schemas.openxmlformats.org/officeDocument/2006/relationships/slide" Target="slides/slide30.xml"/><Relationship Id="rId11" Type="http://schemas.openxmlformats.org/officeDocument/2006/relationships/slide" Target="slides/slide68.xml"/><Relationship Id="rId5" Type="http://schemas.openxmlformats.org/officeDocument/2006/relationships/slide" Target="slides/slide29.xml"/><Relationship Id="rId15" Type="http://schemas.openxmlformats.org/officeDocument/2006/relationships/slide" Target="slides/slide72.xml"/><Relationship Id="rId10" Type="http://schemas.openxmlformats.org/officeDocument/2006/relationships/slide" Target="slides/slide37.xml"/><Relationship Id="rId19" Type="http://schemas.openxmlformats.org/officeDocument/2006/relationships/slide" Target="slides/slide76.xml"/><Relationship Id="rId4" Type="http://schemas.openxmlformats.org/officeDocument/2006/relationships/slide" Target="slides/slide28.xml"/><Relationship Id="rId9" Type="http://schemas.openxmlformats.org/officeDocument/2006/relationships/slide" Target="slides/slide36.xml"/><Relationship Id="rId14" Type="http://schemas.openxmlformats.org/officeDocument/2006/relationships/slide" Target="slides/slide7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18-10-02T15:26:54.40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1-01T20:37:18.47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9181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7713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47" tIns="47474" rIns="94947" bIns="4747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6619" y="4548457"/>
            <a:ext cx="5732949" cy="3721466"/>
          </a:xfrm>
          <a:prstGeom prst="rect">
            <a:avLst/>
          </a:prstGeom>
        </p:spPr>
        <p:txBody>
          <a:bodyPr vert="horz" lIns="94947" tIns="47474" rIns="94947" bIns="47474" rtlCol="0"/>
          <a:lstStyle/>
          <a:p>
            <a:pPr lvl="0"/>
            <a:r>
              <a:rPr lang="en-US"/>
              <a:t>点击编辑主文本样式</a:t>
            </a:r>
          </a:p>
          <a:p>
            <a:pPr lvl="1"/>
            <a:r>
              <a:rPr lang="en-US"/>
              <a:t>二级</a:t>
            </a:r>
          </a:p>
          <a:p>
            <a:pPr lvl="2"/>
            <a:r>
              <a:rPr lang="en-US"/>
              <a:t>第三级</a:t>
            </a:r>
          </a:p>
          <a:p>
            <a:pPr lvl="3"/>
            <a:r>
              <a:rPr lang="en-US"/>
              <a:t>第四级</a:t>
            </a:r>
          </a:p>
          <a:p>
            <a:pPr lvl="4"/>
            <a:r>
              <a:rPr lang="en-US"/>
              <a:t>第五级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9181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32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/>
              <a:t>2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1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07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t>4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07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t>5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3944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32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8189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81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t>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1544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18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43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t>12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4278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87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80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58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99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826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/>
              <a:t>21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596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/>
              <a:t>22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020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/>
              <a:t>23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935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BBDAB1-D568-438B-B32D-5096A7F7530D}" type="slidenum">
              <a:rPr lang="en-US" altLang="en-US" smtClean="0">
                <a:solidFill>
                  <a:prstClr val="black"/>
                </a:solidFill>
              </a:rPr>
              <a:t>24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5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BBDAB1-D568-438B-B32D-5096A7F7530D}" type="slidenum">
              <a:rPr lang="en-US" altLang="en-US" smtClean="0">
                <a:solidFill>
                  <a:prstClr val="black"/>
                </a:solidFill>
              </a:r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728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F56C08-C5DF-4706-AF2A-BCEF867042EB}" type="slidenum">
              <a:rPr lang="en-US" altLang="en-US" smtClean="0">
                <a:solidFill>
                  <a:prstClr val="black"/>
                </a:solidFill>
              </a:rPr>
              <a:t>26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264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0726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28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0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29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441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30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968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F862EB-7413-4372-91DA-32714A91BDD3}" type="slidenum">
              <a:rPr lang="en-US" altLang="en-US" smtClean="0">
                <a:solidFill>
                  <a:prstClr val="black"/>
                </a:solidFill>
              </a:rPr>
              <a:t>31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500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5A49F-893D-441A-AED6-25E56DAEF746}" type="slidenum">
              <a:rPr lang="en-US" altLang="en-US" smtClean="0">
                <a:solidFill>
                  <a:prstClr val="black"/>
                </a:solidFill>
              </a:rPr>
              <a:t>32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3435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FD76E2-1090-46B7-9DEF-AE4F1950069C}" type="slidenum">
              <a:rPr lang="en-US" altLang="en-US" smtClean="0">
                <a:solidFill>
                  <a:prstClr val="black"/>
                </a:solidFill>
              </a:rPr>
              <a:t>33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1555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t>34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9553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35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655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36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40578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t>37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701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t>38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594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t>39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34431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>
                <a:solidFill>
                  <a:prstClr val="black"/>
                </a:solidFill>
              </a:rPr>
              <a:t>40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295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t>41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43958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t>42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05725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16CD1D-289A-4E56-A0FB-151B82AF76C7}" type="slidenum">
              <a:rPr lang="en-US" altLang="en-US" smtClean="0"/>
              <a:t>43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828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1B6CC6-39E2-4B64-8115-5C1211B244C3}" type="slidenum">
              <a:rPr lang="en-US" altLang="en-US" smtClean="0"/>
              <a:t>44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1531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45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5733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46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1624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47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557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48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5770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49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57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50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8183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51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0492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52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5689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53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0001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54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6934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55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7926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56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6041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57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6286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t>58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11068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/>
              <a:t>60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957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t>61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5639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t>62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5719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t>63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3283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t>64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9420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t>65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4826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t>66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7040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t>67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0344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t>68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5023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t>69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62605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2999D2D-C1B3-4EF7-A99D-8FCC12AC553C}" type="slidenum">
              <a:rPr lang="en-US" altLang="en-US" smtClean="0">
                <a:solidFill>
                  <a:prstClr val="black"/>
                </a:solidFill>
              </a:rPr>
              <a:t>70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89297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t>71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71781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C43FEB7-164C-4EAC-BAF1-86BA512CA9C1}" type="slidenum">
              <a:rPr lang="en-US" altLang="en-US" smtClean="0">
                <a:solidFill>
                  <a:prstClr val="black"/>
                </a:solidFill>
              </a:rPr>
              <a:t>72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1650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t>73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49164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06529A2-B9AD-4B9F-B923-8BB1C618CD0E}" type="slidenum">
              <a:rPr lang="en-US" altLang="en-US" smtClean="0">
                <a:solidFill>
                  <a:prstClr val="black"/>
                </a:solidFill>
              </a:rPr>
              <a:t>74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8161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D95883B-4A01-458D-AE50-7C953F24672E}" type="slidenum">
              <a:rPr lang="en-US" altLang="en-US" smtClean="0"/>
              <a:t>75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782152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2D678C9-E9A6-41B3-BC40-885361BE045B}" type="slidenum">
              <a:rPr lang="en-US" altLang="en-US" smtClean="0"/>
              <a:t>76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45490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597555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17" indent="-280390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564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189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815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440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066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692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317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E5DB219-222D-4F98-88ED-42DBBBE4F70D}" type="slidenum">
              <a:rPr lang="en-US" altLang="en-US" smtClean="0">
                <a:solidFill>
                  <a:prstClr val="black"/>
                </a:solidFill>
              </a:rPr>
              <a:t>78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6"/>
            <a:ext cx="5485158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2825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t>79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001125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t>80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6655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3236E-EB75-4695-A32C-59BF833B713E}" type="slidenum">
              <a:rPr lang="en-US" altLang="en-US" smtClean="0"/>
              <a:t>82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058589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164805-E853-4B95-9333-9ED32223E613}" type="slidenum">
              <a:rPr lang="en-US" altLang="en-US" smtClean="0">
                <a:solidFill>
                  <a:prstClr val="black"/>
                </a:solidFill>
              </a:rPr>
              <a:t>83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649922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8A8342-6377-4EF1-A6D0-E61927AE9D95}" type="slidenum">
              <a:rPr lang="en-US" altLang="en-US" smtClean="0">
                <a:solidFill>
                  <a:prstClr val="black"/>
                </a:solidFill>
              </a:rPr>
              <a:t>84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19375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50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>
                <a:latin typeface="STKaiti" panose="02010600040101010101" pitchFamily="2" charset="-122"/>
              </a:defRPr>
            </a:lvl1pPr>
            <a:lvl2pPr marL="738170" indent="-538149">
              <a:defRPr sz="2800">
                <a:latin typeface="STKaiti" panose="02010600040101010101" pitchFamily="2" charset="-122"/>
              </a:defRPr>
            </a:lvl2pPr>
            <a:lvl3pPr marL="858817" indent="-474651">
              <a:defRPr sz="2800">
                <a:latin typeface="STKaiti" panose="02010600040101010101" pitchFamily="2" charset="-122"/>
              </a:defRPr>
            </a:lvl3pPr>
            <a:lvl4pPr marL="1144559" indent="-522275">
              <a:defRPr sz="2800">
                <a:latin typeface="STKaiti" panose="02010600040101010101" pitchFamily="2" charset="-122"/>
              </a:defRPr>
            </a:lvl4pPr>
            <a:lvl5pPr marL="1376328" indent="-507987">
              <a:defRPr sz="2800"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  <p:extLst>
      <p:ext uri="{BB962C8B-B14F-4D97-AF65-F5344CB8AC3E}">
        <p14:creationId xmlns:p14="http://schemas.microsoft.com/office/powerpoint/2010/main" val="5899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058152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871244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点击编辑主标题样式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点击编辑主文本样式</a:t>
            </a:r>
          </a:p>
          <a:p>
            <a:pPr lvl="1"/>
            <a:r>
              <a:rPr lang="en-US" dirty="0"/>
              <a:t> 二级</a:t>
            </a:r>
          </a:p>
          <a:p>
            <a:pPr lvl="2"/>
            <a:r>
              <a:rPr lang="en-US" dirty="0"/>
              <a:t> 第三级</a:t>
            </a:r>
          </a:p>
          <a:p>
            <a:pPr lvl="3"/>
            <a:r>
              <a:rPr lang="en-US" dirty="0"/>
              <a:t> 第四级</a:t>
            </a:r>
          </a:p>
          <a:p>
            <a:pPr lvl="4"/>
            <a:r>
              <a:rPr lang="en-US" dirty="0"/>
              <a:t> 第五级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smtClean="0">
                <a:solidFill>
                  <a:srgbClr val="000000"/>
                </a:solidFill>
              </a:rPr>
              <a:t>‹#›</a:t>
            </a:fld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0" r:id="rId4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STKaiti" panose="02010600040101010101" pitchFamily="2" charset="-122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STKaiti" panose="02010600040101010101" pitchFamily="2" charset="-122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STKaiti" panose="02010600040101010101" pitchFamily="2" charset="-122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STKaiti" panose="02010600040101010101" pitchFamily="2" charset="-122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STKaiti" panose="02010600040101010101" pitchFamily="2" charset="-122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STKaiti" panose="02010600040101010101" pitchFamily="2" charset="-122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9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4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7.w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174173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模式挖掘：基本概念与方法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基本概念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频繁项集挖掘方法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哪些模式是有趣的？——模式评估方法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总结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896805" y="1921470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r>
              <a:rPr lang="en-US" altLang="en-US" dirty="0"/>
              <a:t>什么是模式？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06401" y="1179088"/>
            <a:ext cx="10749279" cy="5450312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ea typeface="STKaiti" panose="02010600040101010101" pitchFamily="2" charset="-122"/>
              </a:rPr>
              <a:t>什么是</a:t>
            </a: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</a:rPr>
              <a:t>模式？  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</a:rPr>
              <a:t>模式</a:t>
            </a:r>
            <a:r>
              <a:rPr lang="en-US" altLang="en-US" dirty="0">
                <a:ea typeface="STKaiti" panose="02010600040101010101" pitchFamily="2" charset="-122"/>
              </a:rPr>
              <a:t>：在数据集中，一组项目、子序列或子结构，它们经常一起出现（或高度相关）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ea typeface="STKaiti" panose="02010600040101010101" pitchFamily="2" charset="-122"/>
              </a:rPr>
              <a:t>模式代表数据集的</a:t>
            </a: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</a:rPr>
              <a:t>内在</a:t>
            </a:r>
            <a:r>
              <a:rPr lang="en-US" altLang="en-US" dirty="0">
                <a:ea typeface="STKaiti" panose="02010600040101010101" pitchFamily="2" charset="-122"/>
              </a:rPr>
              <a:t>和</a:t>
            </a: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</a:rPr>
              <a:t>重要属性</a:t>
            </a:r>
          </a:p>
          <a:p>
            <a:pPr marL="737870" lvl="1" indent="-537845" eaLnBrk="1" hangingPunct="1">
              <a:spcBef>
                <a:spcPts val="600"/>
              </a:spcBef>
              <a:spcAft>
                <a:spcPts val="200"/>
              </a:spcAft>
            </a:pPr>
            <a:endParaRPr lang="en-US" altLang="en-US" dirty="0">
              <a:ea typeface="STKaiti" panose="02010600040101010101" pitchFamily="2" charset="-122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96B95-4FEA-4DDD-B339-1AD98A290E51}"/>
              </a:ext>
            </a:extLst>
          </p:cNvPr>
          <p:cNvSpPr txBox="1"/>
          <p:nvPr/>
        </p:nvSpPr>
        <p:spPr>
          <a:xfrm>
            <a:off x="6470798" y="586285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频繁结构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97" y="3409985"/>
            <a:ext cx="3156372" cy="23626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-753307" y="5796043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频繁项集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249" y="3409984"/>
            <a:ext cx="3546562" cy="23626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2510249" y="583984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频繁序列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67" y="3409983"/>
            <a:ext cx="3173072" cy="2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0947-E81E-49E5-90EB-C470D94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什么是模式发现？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6510-EAD4-4799-8D5D-01B5AECC0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spcAft>
                <a:spcPts val="200"/>
              </a:spcAft>
            </a:pPr>
            <a:r>
              <a:rPr lang="en-US" dirty="0">
                <a:solidFill>
                  <a:srgbClr val="FF0000"/>
                </a:solidFill>
                <a:ea typeface="STKaiti" panose="02010600040101010101" pitchFamily="2" charset="-122"/>
                <a:cs typeface="Calibri"/>
              </a:rPr>
              <a:t>模式发现</a:t>
            </a:r>
            <a:r>
              <a:rPr lang="en-US" dirty="0">
                <a:ea typeface="STKaiti" panose="02010600040101010101" pitchFamily="2" charset="-122"/>
                <a:cs typeface="Calibri"/>
              </a:rPr>
              <a:t>：从海量数据集中发现模式</a:t>
            </a:r>
          </a:p>
          <a:p>
            <a:pPr marL="461645" indent="-461645">
              <a:spcAft>
                <a:spcPts val="200"/>
              </a:spcAft>
            </a:pPr>
            <a:r>
              <a:rPr lang="en-US" dirty="0">
                <a:ea typeface="STKaiti" panose="02010600040101010101" pitchFamily="2" charset="-122"/>
                <a:cs typeface="Calibri"/>
              </a:rPr>
              <a:t>它可以回答以下问题：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ea typeface="STKaiti" panose="02010600040101010101" pitchFamily="2" charset="-122"/>
                <a:cs typeface="Calibri"/>
              </a:rPr>
              <a:t>哪些产品经常被一起购买？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ea typeface="STKaiti" panose="02010600040101010101" pitchFamily="2" charset="-122"/>
                <a:cs typeface="Calibri"/>
              </a:rPr>
              <a:t>购买iPad后，用户通常会购买哪些产品？</a:t>
            </a:r>
          </a:p>
          <a:p>
            <a:pPr marL="737870" lvl="1" indent="-537845">
              <a:spcAft>
                <a:spcPts val="200"/>
              </a:spcAft>
            </a:pPr>
            <a:endParaRPr lang="en-US" dirty="0">
              <a:ea typeface="STKaiti" panose="02010600040101010101" pitchFamily="2" charset="-122"/>
            </a:endParaRP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A128DB11-F5CD-4DD6-B621-7AD57275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664" y="3385050"/>
            <a:ext cx="4858603" cy="33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/>
              <a:t>模式发现：为什么它很重要？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86880"/>
            <a:ext cx="10243127" cy="5407884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dirty="0">
                <a:ea typeface="STKaiti" panose="02010600040101010101" pitchFamily="2" charset="-122"/>
              </a:rPr>
              <a:t>数据挖掘许多关键任务</a:t>
            </a: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</a:rPr>
              <a:t>的基础</a:t>
            </a:r>
          </a:p>
          <a:p>
            <a:pPr marL="737870" lvl="1" indent="-537845"/>
            <a:r>
              <a:rPr lang="en-US" altLang="en-US" dirty="0">
                <a:ea typeface="STKaiti" panose="02010600040101010101" pitchFamily="2" charset="-122"/>
              </a:rPr>
              <a:t>关联分析、相关性分析与因果关系分析</a:t>
            </a:r>
            <a:endParaRPr lang="en-US" alt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dirty="0">
                <a:ea typeface="STKaiti" panose="02010600040101010101" pitchFamily="2" charset="-122"/>
              </a:rPr>
              <a:t>挖掘</a:t>
            </a:r>
            <a:r>
              <a:rPr lang="en-US" altLang="en-US" b="1" dirty="0">
                <a:ea typeface="STKaiti" panose="02010600040101010101" pitchFamily="2" charset="-122"/>
              </a:rPr>
              <a:t>序列</a:t>
            </a:r>
            <a:r>
              <a:rPr lang="en-US" altLang="en-US" dirty="0">
                <a:ea typeface="STKaiti" panose="02010600040101010101" pitchFamily="2" charset="-122"/>
              </a:rPr>
              <a:t>模式、结构模式（如子图）</a:t>
            </a:r>
            <a:endParaRPr lang="en-US" alt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r>
              <a:rPr lang="en-US" altLang="en-US" b="1" dirty="0">
                <a:ea typeface="STKaiti" panose="02010600040101010101" pitchFamily="2" charset="-122"/>
              </a:rPr>
              <a:t>分类</a:t>
            </a:r>
            <a:r>
              <a:rPr lang="en-US" altLang="en-US" dirty="0">
                <a:ea typeface="STKaiti" panose="02010600040101010101" pitchFamily="2" charset="-122"/>
              </a:rPr>
              <a:t>：基于模式的区分性分析</a:t>
            </a:r>
            <a:endParaRPr lang="en-US" alt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b="1" dirty="0" err="1">
                <a:ea typeface="STKaiti" panose="02010600040101010101" pitchFamily="2" charset="-122"/>
              </a:rPr>
              <a:t>聚类</a:t>
            </a:r>
            <a:r>
              <a:rPr lang="en-US" altLang="en-US" dirty="0" err="1">
                <a:ea typeface="STKaiti" panose="02010600040101010101" pitchFamily="2" charset="-122"/>
              </a:rPr>
              <a:t>：基于模式的子空间聚类</a:t>
            </a:r>
            <a:endParaRPr lang="en-US" altLang="en-US" dirty="0">
              <a:ea typeface="STKaiti" panose="02010600040101010101" pitchFamily="2" charset="-122"/>
              <a:cs typeface="Calibri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ea typeface="STKaiti" panose="02010600040101010101" pitchFamily="2" charset="-122"/>
              </a:rPr>
              <a:t>广泛应用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ea typeface="STKaiti" panose="02010600040101010101" pitchFamily="2" charset="-122"/>
              </a:rPr>
              <a:t>市场篮分析、交叉营销、目录设计、销售活动分析、网络日志分析、生物序列分析</a:t>
            </a:r>
          </a:p>
          <a:p>
            <a:pPr lvl="1"/>
            <a:r>
              <a:rPr lang="en-US" dirty="0" err="1">
                <a:ea typeface="STKaiti" panose="02010600040101010101" pitchFamily="2" charset="-122"/>
                <a:cs typeface="Calibri"/>
              </a:rPr>
              <a:t>多种数据类型：时空数据、多媒体数据、时间序列数据和流数据</a:t>
            </a:r>
            <a:r>
              <a:rPr lang="en-US" dirty="0">
                <a:ea typeface="STKaiti" panose="02010600040101010101" pitchFamily="2" charset="-122"/>
                <a:cs typeface="Calibri"/>
              </a:rPr>
              <a:t> </a:t>
            </a:r>
          </a:p>
          <a:p>
            <a:pPr marL="200021" lvl="1" indent="0" eaLnBrk="1" hangingPunct="1">
              <a:spcBef>
                <a:spcPts val="600"/>
              </a:spcBef>
              <a:buNone/>
            </a:pPr>
            <a:endParaRPr lang="en-US" altLang="en-US" dirty="0"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3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/>
              <a:t>模式发现：为什么它很重要？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0E6D5D-F83F-3E64-E268-8BA1DC9345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37"/>
          <a:stretch/>
        </p:blipFill>
        <p:spPr>
          <a:xfrm>
            <a:off x="395532" y="1447386"/>
            <a:ext cx="6680704" cy="35799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2F9901-DC92-3808-209F-BD4B347BA64C}"/>
              </a:ext>
            </a:extLst>
          </p:cNvPr>
          <p:cNvSpPr txBox="1"/>
          <p:nvPr/>
        </p:nvSpPr>
        <p:spPr>
          <a:xfrm>
            <a:off x="6481375" y="3903967"/>
            <a:ext cx="51518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ore-KR" altLang="en-US" sz="2000" dirty="0">
                <a:ea typeface="STKaiti" panose="02010600040101010101" pitchFamily="2" charset="-122"/>
                <a:cs typeface="Calibri"/>
              </a:rPr>
              <a:t>一个样本称为一个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‘事务’</a:t>
            </a:r>
            <a:endParaRPr lang="en-US" altLang="zh-CN" sz="2000" dirty="0">
              <a:ea typeface="STKaiti" panose="02010600040101010101" pitchFamily="2" charset="-122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ore-KR" altLang="en-US" sz="2000" dirty="0">
                <a:ea typeface="STKaiti" panose="02010600040101010101" pitchFamily="2" charset="-122"/>
                <a:cs typeface="Calibri"/>
              </a:rPr>
              <a:t>每个事务由多个属性来确定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，这里的属性成为‘项’</a:t>
            </a:r>
            <a:endParaRPr lang="en-US" altLang="zh-CN" sz="2000" dirty="0">
              <a:ea typeface="STKaiti" panose="02010600040101010101" pitchFamily="2" charset="-122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多个项组成的集合称为‘项集’</a:t>
            </a:r>
            <a:endParaRPr lang="en-US" altLang="zh-CN" sz="2000" dirty="0">
              <a:ea typeface="STKaiti" panose="02010600040101010101" pitchFamily="2" charset="-122"/>
              <a:cs typeface="Calibri"/>
            </a:endParaRPr>
          </a:p>
          <a:p>
            <a:pPr marL="800089" lvl="1" indent="-3429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牛奶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}, 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果冻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}, 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面包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 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是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1-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项集</a:t>
            </a:r>
            <a:endParaRPr lang="en-US" altLang="zh-CN" sz="2000" dirty="0">
              <a:ea typeface="STKaiti" panose="02010600040101010101" pitchFamily="2" charset="-122"/>
              <a:cs typeface="Calibri"/>
            </a:endParaRPr>
          </a:p>
          <a:p>
            <a:pPr marL="800089" lvl="1" indent="-3429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牛奶，果冻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}, 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果冻，面包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 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是 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2-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项集</a:t>
            </a:r>
            <a:endParaRPr lang="en-US" altLang="zh-CN" sz="2000" dirty="0">
              <a:ea typeface="STKaiti" panose="02010600040101010101" pitchFamily="2" charset="-122"/>
              <a:cs typeface="Calibri"/>
            </a:endParaRPr>
          </a:p>
          <a:p>
            <a:pPr marL="800089" lvl="1" indent="-342900" algn="just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 {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牛奶，果冻，面包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}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是 </a:t>
            </a:r>
            <a:r>
              <a:rPr lang="en-US" altLang="zh-CN" sz="2000" dirty="0">
                <a:ea typeface="STKaiti" panose="02010600040101010101" pitchFamily="2" charset="-122"/>
                <a:cs typeface="Calibri"/>
              </a:rPr>
              <a:t>3-</a:t>
            </a:r>
            <a:r>
              <a:rPr lang="zh-CN" altLang="en-US" sz="2000" dirty="0">
                <a:ea typeface="STKaiti" panose="02010600040101010101" pitchFamily="2" charset="-122"/>
                <a:cs typeface="Calibri"/>
              </a:rPr>
              <a:t>项集</a:t>
            </a:r>
            <a:endParaRPr lang="en-US" altLang="ko-Kore-KR" sz="2000" dirty="0">
              <a:ea typeface="STKaiti" panose="02010600040101010101" pitchFamily="2" charset="-122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37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6FEA-C94B-4E39-BD18-BFF994DF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基本概念：事务型数据库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C053-52D5-4087-8577-5EE4007B1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/>
            <a:r>
              <a:rPr lang="en-US" dirty="0">
                <a:ea typeface="STKaiti" panose="02010600040101010101" pitchFamily="2" charset="-122"/>
                <a:cs typeface="Calibri"/>
              </a:rPr>
              <a:t>事务型数据库（TDB）</a:t>
            </a:r>
          </a:p>
          <a:p>
            <a:pPr marL="737870" lvl="1" indent="-537845"/>
            <a:r>
              <a:rPr lang="en-US" dirty="0">
                <a:ea typeface="STKaiti" panose="02010600040101010101" pitchFamily="2" charset="-122"/>
                <a:cs typeface="Calibri"/>
              </a:rPr>
              <a:t>每个事务都与一个标识符相关联，称为事务标识符（TID）。</a:t>
            </a:r>
          </a:p>
          <a:p>
            <a:pPr marL="737870" lvl="1" indent="-537845"/>
            <a:r>
              <a:rPr lang="en-US" dirty="0">
                <a:ea typeface="STKaiti" panose="02010600040101010101" pitchFamily="2" charset="-122"/>
                <a:cs typeface="Calibri"/>
              </a:rPr>
              <a:t>每个售出的商品可能还关联有计数</a:t>
            </a: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  <a:p>
            <a:pPr marL="737870" lvl="1" indent="-537845"/>
            <a:endParaRPr lang="en-US" dirty="0">
              <a:ea typeface="STKaiti" panose="02010600040101010101" pitchFamily="2" charset="-122"/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20C2449-7498-4193-9E99-67DCA2F0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77897"/>
              </p:ext>
            </p:extLst>
          </p:nvPr>
        </p:nvGraphicFramePr>
        <p:xfrm>
          <a:off x="3445166" y="3403554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7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基本概念：</a:t>
            </a:r>
            <a:r>
              <a:rPr lang="en-US" altLang="en-US" dirty="0" err="1"/>
              <a:t>k-项</a:t>
            </a:r>
            <a:r>
              <a:rPr lang="en-US" altLang="en-US" dirty="0"/>
              <a:t>集及其支持集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72394" y="1192095"/>
            <a:ext cx="6068836" cy="4268299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项集</a:t>
            </a:r>
            <a:r>
              <a:rPr lang="en-US" altLang="en-US" sz="2400" dirty="0">
                <a:ea typeface="STKaiti" panose="02010600040101010101" pitchFamily="2" charset="-122"/>
              </a:rPr>
              <a:t>：由一个或多个项组成的集合</a:t>
            </a:r>
            <a:endParaRPr lang="en-US" sz="2400" dirty="0">
              <a:ea typeface="STKaiti" panose="02010600040101010101" pitchFamily="2" charset="-122"/>
            </a:endParaRPr>
          </a:p>
          <a:p>
            <a:pPr marL="200025" lvl="1" indent="0">
              <a:spcAft>
                <a:spcPts val="1200"/>
              </a:spcAft>
              <a:buNone/>
            </a:pPr>
            <a:endParaRPr lang="en-US" sz="2400" dirty="0">
              <a:ea typeface="STKaiti" panose="02010600040101010101" pitchFamily="2" charset="-122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k-项集</a:t>
            </a:r>
            <a:r>
              <a:rPr lang="en-US" altLang="en-US" sz="2400" dirty="0">
                <a:ea typeface="STKaiti" panose="02010600040101010101" pitchFamily="2" charset="-122"/>
              </a:rPr>
              <a:t>：包含k个项的项集： 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marL="0" indent="0"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              X = {x_</a:t>
            </a:r>
            <a:r>
              <a:rPr lang="en-US" altLang="en-US" sz="2400" baseline="-25000" dirty="0">
                <a:ea typeface="STKaiti" panose="02010600040101010101" pitchFamily="2" charset="-122"/>
              </a:rPr>
              <a:t>1</a:t>
            </a:r>
            <a:r>
              <a:rPr lang="en-US" altLang="en-US" sz="2400" dirty="0">
                <a:ea typeface="STKaiti" panose="02010600040101010101" pitchFamily="2" charset="-122"/>
              </a:rPr>
              <a:t> , …, x_</a:t>
            </a:r>
            <a:r>
              <a:rPr lang="en-US" altLang="en-US" sz="2400" baseline="-25000" dirty="0" err="1">
                <a:ea typeface="STKaiti" panose="02010600040101010101" pitchFamily="2" charset="-122"/>
              </a:rPr>
              <a:t>k</a:t>
            </a:r>
            <a:r>
              <a:rPr lang="en-US" altLang="en-US" sz="2400" dirty="0">
                <a:ea typeface="STKaiti" panose="02010600040101010101" pitchFamily="2" charset="-122"/>
              </a:rPr>
              <a:t> }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marL="737870" lvl="1" indent="-537845">
              <a:spcAft>
                <a:spcPts val="12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例：{啤酒, 坚果, 尿布}是一个3-项集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绝对支持度（计数）</a:t>
            </a:r>
            <a:endParaRPr lang="en-US" altLang="en-US" sz="2400" dirty="0">
              <a:ea typeface="STKaiti" panose="02010600040101010101" pitchFamily="2" charset="-122"/>
            </a:endParaRPr>
          </a:p>
          <a:p>
            <a:pPr marL="737870" lvl="1" indent="-537845"/>
            <a:r>
              <a:rPr lang="en-US" altLang="en-US" sz="2400" dirty="0">
                <a:ea typeface="STKaiti" panose="02010600040101010101" pitchFamily="2" charset="-122"/>
              </a:rPr>
              <a:t>sup{X} = 项目集 X 的出现次数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lvl="2"/>
            <a:r>
              <a:rPr lang="en-US" altLang="en-US" sz="2400" dirty="0">
                <a:ea typeface="STKaiti" panose="02010600040101010101" pitchFamily="2" charset="-122"/>
              </a:rPr>
              <a:t>例：sup{啤酒} = 3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lvl="2"/>
            <a:r>
              <a:rPr lang="en-US" altLang="en-US" sz="2400" dirty="0">
                <a:ea typeface="STKaiti" panose="02010600040101010101" pitchFamily="2" charset="-122"/>
              </a:rPr>
              <a:t>例：sup{尿布} = 4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lvl="2"/>
            <a:r>
              <a:rPr lang="en-US" altLang="en-US" sz="2400" dirty="0">
                <a:ea typeface="STKaiti" panose="02010600040101010101" pitchFamily="2" charset="-122"/>
              </a:rPr>
              <a:t>例：sup{啤酒, 尿布} = 3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  <a:p>
            <a:pPr lvl="2"/>
            <a:r>
              <a:rPr lang="en-US" altLang="en-US" sz="2400" dirty="0">
                <a:ea typeface="STKaiti" panose="02010600040101010101" pitchFamily="2" charset="-122"/>
              </a:rPr>
              <a:t>例：sup{啤酒, 鸡蛋} = 1</a:t>
            </a:r>
            <a:endParaRPr lang="en-US" altLang="en-US" sz="2400" dirty="0">
              <a:ea typeface="STKaiti" panose="02010600040101010101" pitchFamily="2" charset="-122"/>
              <a:cs typeface="Calibri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799292"/>
              </p:ext>
            </p:extLst>
          </p:nvPr>
        </p:nvGraphicFramePr>
        <p:xfrm>
          <a:off x="6270519" y="1177062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购买的物品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237160" y="3593806"/>
            <a:ext cx="5679673" cy="2466933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相对</a:t>
            </a:r>
            <a:r>
              <a:rPr lang="en-US" altLang="en-US" sz="24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支持</a:t>
            </a:r>
            <a:endParaRPr lang="en-US" sz="24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  <a:p>
            <a:pPr marL="737870" lvl="1" indent="-537845"/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 s</a:t>
            </a:r>
            <a:r>
              <a:rPr lang="en-US" altLang="en-US" sz="24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{</a:t>
            </a:r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X</a:t>
            </a:r>
            <a:r>
              <a:rPr lang="en-US" altLang="en-US" sz="24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} </a:t>
            </a:r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= 包含X的交易比例（即交易包含X的概率）</a:t>
            </a:r>
            <a:endParaRPr lang="en-US" sz="2400" dirty="0">
              <a:latin typeface="STKaiti" panose="02010600040101010101" pitchFamily="2" charset="-122"/>
              <a:ea typeface="STKaiti" panose="02010600040101010101" pitchFamily="2" charset="-122"/>
              <a:cs typeface="Calibri"/>
            </a:endParaRPr>
          </a:p>
          <a:p>
            <a:pPr lvl="1"/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例：s{啤酒} = 3/5 = 60%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例：s{尿布} = 4/5 = 80%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例：啤酒、鸡蛋 = 1/5 = 20%</a:t>
            </a:r>
          </a:p>
        </p:txBody>
      </p:sp>
      <p:pic>
        <p:nvPicPr>
          <p:cNvPr id="4" name="Picture 4" descr="A drawing of a person&#10;&#10;Description generated with high confidence">
            <a:extLst>
              <a:ext uri="{FF2B5EF4-FFF2-40B4-BE49-F238E27FC236}">
                <a16:creationId xmlns:a16="http://schemas.microsoft.com/office/drawing/2014/main" id="{5A8D5A0C-3248-46F6-82DF-BF25BEC5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58" y="1579545"/>
            <a:ext cx="2743200" cy="5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基本概念：频繁</a:t>
            </a:r>
            <a:r>
              <a:rPr lang="en-US" altLang="en-US" dirty="0" err="1"/>
              <a:t>项集</a:t>
            </a:r>
            <a:r>
              <a:rPr lang="en-US" altLang="en-US" dirty="0"/>
              <a:t>（模式）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59548" y="1177062"/>
            <a:ext cx="10224352" cy="487535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若集合 X 的支持度不小于</a:t>
            </a:r>
            <a:r>
              <a:rPr lang="en-US" altLang="en-US" sz="2200" i="1" dirty="0" err="1">
                <a:ea typeface="STKaiti" panose="02010600040101010101" pitchFamily="2" charset="-122"/>
                <a:sym typeface="Symbol" pitchFamily="18" charset="2"/>
              </a:rPr>
              <a:t>最小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支持度阈值 σ，则称 X</a:t>
            </a:r>
            <a:r>
              <a:rPr lang="en-US" altLang="en-US" sz="2200" i="1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 为频繁项集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（或模式） </a:t>
            </a:r>
          </a:p>
          <a:p>
            <a:pPr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设 </a:t>
            </a:r>
            <a:r>
              <a:rPr lang="el-GR" altLang="en-US" sz="2200" dirty="0">
                <a:ea typeface="STKaiti" panose="02010600040101010101" pitchFamily="2" charset="-122"/>
                <a:sym typeface="Symbol" pitchFamily="18" charset="2"/>
              </a:rPr>
              <a:t>σ </a:t>
            </a:r>
            <a:r>
              <a:rPr lang="en-US" altLang="en-US" sz="2200" i="1" dirty="0">
                <a:ea typeface="STKaiti" panose="02010600040101010101" pitchFamily="2" charset="-122"/>
              </a:rPr>
              <a:t>= 50%</a:t>
            </a:r>
            <a:r>
              <a:rPr lang="en-US" altLang="en-US" sz="2200" dirty="0">
                <a:ea typeface="STKaiti" panose="02010600040101010101" pitchFamily="2" charset="-122"/>
              </a:rPr>
              <a:t>（</a:t>
            </a:r>
            <a:r>
              <a:rPr lang="el-GR" altLang="en-US" sz="2200" dirty="0">
                <a:ea typeface="STKaiti" panose="02010600040101010101" pitchFamily="2" charset="-122"/>
                <a:sym typeface="Symbol" pitchFamily="18" charset="2"/>
              </a:rPr>
              <a:t>σ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：</a:t>
            </a:r>
            <a:r>
              <a:rPr lang="en-US" altLang="en-US" sz="2200" i="1" dirty="0" err="1">
                <a:ea typeface="STKaiti" panose="02010600040101010101" pitchFamily="2" charset="-122"/>
              </a:rPr>
              <a:t>最小</a:t>
            </a:r>
            <a:r>
              <a:rPr lang="en-US" altLang="en-US" sz="2200" dirty="0">
                <a:ea typeface="STKaiti" panose="02010600040101010101" pitchFamily="2" charset="-122"/>
              </a:rPr>
              <a:t>支持度阈值）</a:t>
            </a:r>
          </a:p>
          <a:p>
            <a:pPr marL="287344" lvl="1" indent="0">
              <a:spcBef>
                <a:spcPts val="200"/>
              </a:spcBef>
              <a:spcAft>
                <a:spcPts val="1200"/>
              </a:spcAft>
              <a:buNone/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对于给定的5笔交易数据集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所有频繁的1-项集：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200" dirty="0">
                <a:solidFill>
                  <a:srgbClr val="7030A0"/>
                </a:solidFill>
                <a:ea typeface="STKaiti" panose="02010600040101010101" pitchFamily="2" charset="-122"/>
              </a:rPr>
              <a:t>啤酒：3/5（60%）；坚果：3/5（60%）</a:t>
            </a:r>
            <a:br>
              <a:rPr lang="en-US" altLang="en-US" sz="2200" dirty="0">
                <a:solidFill>
                  <a:srgbClr val="7030A0"/>
                </a:solidFill>
                <a:ea typeface="STKaiti" panose="02010600040101010101" pitchFamily="2" charset="-122"/>
              </a:rPr>
            </a:br>
            <a:r>
              <a:rPr lang="en-US" altLang="en-US" sz="2200" dirty="0">
                <a:solidFill>
                  <a:srgbClr val="7030A0"/>
                </a:solidFill>
                <a:ea typeface="STKaiti" panose="02010600040101010101" pitchFamily="2" charset="-122"/>
              </a:rPr>
              <a:t>尿布：4/5（80%）；鸡蛋：3/5（60%）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所有频繁出现的 </a:t>
            </a:r>
            <a:r>
              <a:rPr lang="en-US" altLang="zh-CN" sz="2200" dirty="0">
                <a:ea typeface="STKaiti" panose="02010600040101010101" pitchFamily="2" charset="-122"/>
              </a:rPr>
              <a:t>2</a:t>
            </a:r>
            <a:r>
              <a:rPr lang="en-US" altLang="en-US" sz="2200" dirty="0">
                <a:ea typeface="STKaiti" panose="02010600040101010101" pitchFamily="2" charset="-122"/>
              </a:rPr>
              <a:t>-项集 ：  </a:t>
            </a:r>
          </a:p>
          <a:p>
            <a:pPr lvl="2">
              <a:spcBef>
                <a:spcPts val="200"/>
              </a:spcBef>
              <a:spcAft>
                <a:spcPts val="1200"/>
              </a:spcAft>
              <a:defRPr/>
            </a:pPr>
            <a:r>
              <a:rPr lang="en-US" altLang="en-US" sz="2200" dirty="0">
                <a:solidFill>
                  <a:srgbClr val="7030A0"/>
                </a:solidFill>
                <a:ea typeface="STKaiti" panose="02010600040101010101" pitchFamily="2" charset="-122"/>
              </a:rPr>
              <a:t>{啤酒, 尿布}: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所有常见的 </a:t>
            </a:r>
            <a:r>
              <a:rPr lang="en-US" altLang="zh-CN" sz="2200" dirty="0">
                <a:ea typeface="STKaiti" panose="02010600040101010101" pitchFamily="2" charset="-122"/>
              </a:rPr>
              <a:t>3</a:t>
            </a:r>
            <a:r>
              <a:rPr lang="en-US" altLang="en-US" sz="2200" dirty="0">
                <a:ea typeface="STKaiti" panose="02010600040101010101" pitchFamily="2" charset="-122"/>
              </a:rPr>
              <a:t>-项集 ？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无 </a:t>
            </a:r>
          </a:p>
          <a:p>
            <a:pPr lvl="2">
              <a:spcBef>
                <a:spcPts val="200"/>
              </a:spcBef>
              <a:defRPr/>
            </a:pPr>
            <a:endParaRPr lang="en-US" altLang="en-US" sz="2200" dirty="0">
              <a:ea typeface="STKaiti" panose="02010600040101010101" pitchFamily="2" charset="-122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187640"/>
              </p:ext>
            </p:extLst>
          </p:nvPr>
        </p:nvGraphicFramePr>
        <p:xfrm>
          <a:off x="6749143" y="2549189"/>
          <a:ext cx="5113509" cy="2449012"/>
        </p:xfrm>
        <a:graphic>
          <a:graphicData uri="http://schemas.openxmlformats.org/drawingml/2006/table">
            <a:tbl>
              <a:tblPr/>
              <a:tblGrid>
                <a:gridCol w="70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6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6193972" y="3443750"/>
            <a:ext cx="5529942" cy="247127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85744" indent="-285744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pPr eaLnBrk="1" hangingPunct="1"/>
            <a:r>
              <a:rPr lang="en-US" altLang="en-US">
                <a:ea typeface="STKaiti" panose="02010600040101010101" pitchFamily="2" charset="-122"/>
              </a:rPr>
              <a:t>从频繁项集到关联规则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89278" y="1149615"/>
            <a:ext cx="11241714" cy="5587315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defRPr/>
            </a:pPr>
            <a:r>
              <a:rPr lang="en-US" altLang="en-US" sz="2400" dirty="0">
                <a:ea typeface="STKaiti" panose="02010600040101010101" pitchFamily="2" charset="-122"/>
              </a:rPr>
              <a:t>与</a:t>
            </a:r>
            <a:r>
              <a:rPr lang="en-US" altLang="en-US" sz="2400" dirty="0" err="1">
                <a:ea typeface="STKaiti" panose="02010600040101010101" pitchFamily="2" charset="-122"/>
              </a:rPr>
              <a:t>项集</a:t>
            </a:r>
            <a:r>
              <a:rPr lang="en-US" altLang="en-US" sz="2400" dirty="0">
                <a:ea typeface="STKaiti" panose="02010600040101010101" pitchFamily="2" charset="-122"/>
              </a:rPr>
              <a:t>相比，关联规则更能揭示本质</a:t>
            </a:r>
            <a:endParaRPr lang="en-US" sz="2400" dirty="0">
              <a:ea typeface="STKaiti" panose="02010600040101010101" pitchFamily="2" charset="-122"/>
            </a:endParaRPr>
          </a:p>
          <a:p>
            <a:pPr lvl="1">
              <a:defRPr/>
            </a:pPr>
            <a:r>
              <a:rPr lang="en-US" altLang="en-US" sz="2400" dirty="0">
                <a:ea typeface="STKaiti" panose="02010600040101010101" pitchFamily="2" charset="-122"/>
              </a:rPr>
              <a:t>例：</a:t>
            </a:r>
            <a:r>
              <a:rPr lang="en-US" altLang="en-US" sz="2400" i="1" dirty="0">
                <a:ea typeface="STKaiti" panose="02010600040101010101" pitchFamily="2" charset="-122"/>
                <a:sym typeface="Symbol" pitchFamily="18" charset="2"/>
              </a:rPr>
              <a:t>尿布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 </a:t>
            </a:r>
            <a:r>
              <a:rPr lang="en-US" altLang="en-US" sz="2400" i="1" dirty="0">
                <a:ea typeface="STKaiti" panose="02010600040101010101" pitchFamily="2" charset="-122"/>
              </a:rPr>
              <a:t> 啤酒  </a:t>
            </a:r>
            <a:endParaRPr lang="en-US" altLang="en-US" sz="2400" dirty="0">
              <a:ea typeface="STKaiti" panose="02010600040101010101" pitchFamily="2" charset="-122"/>
              <a:sym typeface="Symbol" pitchFamily="18" charset="2"/>
            </a:endParaRPr>
          </a:p>
          <a:p>
            <a:pPr lvl="2">
              <a:defRPr/>
            </a:pPr>
            <a:r>
              <a:rPr lang="en-US" altLang="en-US" sz="2400" i="1" dirty="0">
                <a:ea typeface="STKaiti" panose="02010600040101010101" pitchFamily="2" charset="-122"/>
                <a:sym typeface="Symbol" pitchFamily="18" charset="2"/>
              </a:rPr>
              <a:t>购买尿布可能导致购买啤酒  </a:t>
            </a:r>
            <a:endParaRPr lang="en-US" altLang="en-US" sz="2400" dirty="0">
              <a:ea typeface="STKaiti" panose="02010600040101010101" pitchFamily="2" charset="-122"/>
              <a:sym typeface="Symbol" pitchFamily="18" charset="2"/>
            </a:endParaRPr>
          </a:p>
        </p:txBody>
      </p:sp>
      <p:sp>
        <p:nvSpPr>
          <p:cNvPr id="7174" name="Rectangle 38"/>
          <p:cNvSpPr>
            <a:spLocks noChangeArrowheads="1"/>
          </p:cNvSpPr>
          <p:nvPr/>
        </p:nvSpPr>
        <p:spPr bwMode="auto">
          <a:xfrm>
            <a:off x="4978400" y="5410200"/>
            <a:ext cx="7112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defTabSz="457178" eaLnBrk="1" hangingPunct="1">
              <a:lnSpc>
                <a:spcPct val="80000"/>
              </a:lnSpc>
              <a:buClr>
                <a:srgbClr val="8C8C8C"/>
              </a:buClr>
            </a:pPr>
            <a:endParaRPr lang="en-US" altLang="en-US" sz="24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</p:txBody>
      </p:sp>
      <p:sp>
        <p:nvSpPr>
          <p:cNvPr id="7176" name="TextBox 2"/>
          <p:cNvSpPr txBox="1">
            <a:spLocks noChangeArrowheads="1"/>
          </p:cNvSpPr>
          <p:nvPr/>
        </p:nvSpPr>
        <p:spPr bwMode="auto">
          <a:xfrm>
            <a:off x="3183700" y="6029349"/>
            <a:ext cx="43190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注：</a:t>
            </a: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X ∪ Y：</a:t>
            </a:r>
            <a:r>
              <a:rPr lang="en-US" altLang="en-US" sz="20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两个项集的</a:t>
            </a: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并集</a:t>
            </a:r>
          </a:p>
          <a:p>
            <a:pPr marL="342900" lvl="1" indent="-342900" defTabSz="457178" eaLnBrk="1" hangingPunct="1">
              <a:spcBef>
                <a:spcPct val="0"/>
              </a:spcBef>
              <a:buClrTx/>
              <a:buSzTx/>
            </a:pP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该集合同时包含X和Y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23151" y="2512887"/>
            <a:ext cx="6284835" cy="3465721"/>
            <a:chOff x="390526" y="3448050"/>
            <a:chExt cx="4410074" cy="2401888"/>
          </a:xfrm>
        </p:grpSpPr>
        <p:grpSp>
          <p:nvGrpSpPr>
            <p:cNvPr id="7175" name="Group 37"/>
            <p:cNvGrpSpPr>
              <a:grpSpLocks/>
            </p:cNvGrpSpPr>
            <p:nvPr/>
          </p:nvGrpSpPr>
          <p:grpSpPr bwMode="auto">
            <a:xfrm>
              <a:off x="390526" y="3448050"/>
              <a:ext cx="4410074" cy="2401888"/>
              <a:chOff x="152400" y="3810000"/>
              <a:chExt cx="4049726" cy="2630488"/>
            </a:xfrm>
          </p:grpSpPr>
          <p:sp>
            <p:nvSpPr>
              <p:cNvPr id="7177" name="Oval 6"/>
              <p:cNvSpPr>
                <a:spLocks noChangeArrowheads="1"/>
              </p:cNvSpPr>
              <p:nvPr/>
            </p:nvSpPr>
            <p:spPr bwMode="auto">
              <a:xfrm>
                <a:off x="457200" y="4343400"/>
                <a:ext cx="1905000" cy="1371600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78" name="Oval 7"/>
              <p:cNvSpPr>
                <a:spLocks noChangeArrowheads="1"/>
              </p:cNvSpPr>
              <p:nvPr/>
            </p:nvSpPr>
            <p:spPr bwMode="auto">
              <a:xfrm>
                <a:off x="1447800" y="4343400"/>
                <a:ext cx="1905000" cy="1524000"/>
              </a:xfrm>
              <a:prstGeom prst="ellipse">
                <a:avLst/>
              </a:prstGeom>
              <a:solidFill>
                <a:srgbClr val="99CCFF">
                  <a:alpha val="50195"/>
                </a:srgbClr>
              </a:solidFill>
              <a:ln w="2540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79" name="Line 8"/>
              <p:cNvSpPr>
                <a:spLocks noChangeShapeType="1"/>
              </p:cNvSpPr>
              <p:nvPr/>
            </p:nvSpPr>
            <p:spPr bwMode="auto">
              <a:xfrm flipH="1">
                <a:off x="762000" y="5029200"/>
                <a:ext cx="228600" cy="7620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0" name="Line 9"/>
              <p:cNvSpPr>
                <a:spLocks noChangeShapeType="1"/>
              </p:cNvSpPr>
              <p:nvPr/>
            </p:nvSpPr>
            <p:spPr bwMode="auto">
              <a:xfrm flipV="1">
                <a:off x="3048000" y="4495800"/>
                <a:ext cx="228600" cy="685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1" name="Line 10"/>
              <p:cNvSpPr>
                <a:spLocks noChangeShapeType="1"/>
              </p:cNvSpPr>
              <p:nvPr/>
            </p:nvSpPr>
            <p:spPr bwMode="auto">
              <a:xfrm flipH="1" flipV="1">
                <a:off x="1981200" y="4191000"/>
                <a:ext cx="152400" cy="83820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2" name="Text Box 11"/>
              <p:cNvSpPr txBox="1">
                <a:spLocks noChangeArrowheads="1"/>
              </p:cNvSpPr>
              <p:nvPr/>
            </p:nvSpPr>
            <p:spPr bwMode="auto">
              <a:xfrm>
                <a:off x="2743200" y="3810000"/>
                <a:ext cx="1458926" cy="272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2998E3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包含尿布</a:t>
                </a:r>
                <a:endParaRPr lang="en-US" altLang="en-US" sz="2000" b="1" u="sng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3" name="Text Box 12"/>
              <p:cNvSpPr txBox="1">
                <a:spLocks noChangeArrowheads="1"/>
              </p:cNvSpPr>
              <p:nvPr/>
            </p:nvSpPr>
            <p:spPr bwMode="auto">
              <a:xfrm>
                <a:off x="1347788" y="3810000"/>
                <a:ext cx="1395413" cy="280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00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包含两者</a:t>
                </a:r>
                <a:endParaRPr lang="en-US" altLang="en-US" sz="2000" b="1" u="sng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4" name="Text Box 13"/>
              <p:cNvSpPr txBox="1">
                <a:spLocks noChangeArrowheads="1"/>
              </p:cNvSpPr>
              <p:nvPr/>
            </p:nvSpPr>
            <p:spPr bwMode="auto">
              <a:xfrm>
                <a:off x="228600" y="5715000"/>
                <a:ext cx="713954" cy="272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637052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包含啤酒</a:t>
                </a:r>
                <a:endParaRPr lang="en-US" altLang="en-US" sz="2000" b="1" u="sng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  <p:sp>
            <p:nvSpPr>
              <p:cNvPr id="7185" name="Rectangle 14"/>
              <p:cNvSpPr>
                <a:spLocks noChangeArrowheads="1"/>
              </p:cNvSpPr>
              <p:nvPr/>
            </p:nvSpPr>
            <p:spPr bwMode="auto">
              <a:xfrm>
                <a:off x="152400" y="3810000"/>
                <a:ext cx="3886200" cy="2630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104981" y="4348151"/>
              <a:ext cx="792836" cy="255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啤酒</a:t>
              </a:r>
              <a:endParaRPr lang="en-US" sz="1800" b="1" dirty="0">
                <a:solidFill>
                  <a:srgbClr val="0000CC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036024" y="4392020"/>
              <a:ext cx="417537" cy="234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600" b="1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尿布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80190" y="4461627"/>
              <a:ext cx="1342452" cy="255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{啤酒}</a:t>
              </a:r>
              <a:r>
                <a:rPr lang="en-US" altLang="en-US" sz="1800" b="1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sym typeface="Symbol" pitchFamily="18" charset="2"/>
                </a:rPr>
                <a:t>  </a:t>
              </a:r>
              <a:r>
                <a:rPr lang="en-US" altLang="en-US" sz="1800" b="1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  <a:sym typeface="Symbol" pitchFamily="18" charset="2"/>
                </a:rPr>
                <a:t>{</a:t>
              </a:r>
              <a:r>
                <a:rPr lang="en-US" sz="1800" b="1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尿布}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158294" y="5478373"/>
              <a:ext cx="2657070" cy="2772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2000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{啤酒}</a:t>
              </a:r>
              <a:r>
                <a:rPr lang="en-US" altLang="en-US" sz="2000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sym typeface="Symbol" pitchFamily="18" charset="2"/>
                </a:rPr>
                <a:t>  </a:t>
              </a:r>
              <a:r>
                <a:rPr lang="en-US" altLang="en-US" sz="2000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  <a:sym typeface="Symbol" pitchFamily="18" charset="2"/>
                </a:rPr>
                <a:t>{</a:t>
              </a:r>
              <a:r>
                <a:rPr lang="en-US" sz="2000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尿布} = </a:t>
              </a:r>
              <a:r>
                <a:rPr lang="en-US" sz="2000" dirty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{啤酒,</a:t>
              </a:r>
              <a:r>
                <a:rPr lang="en-US" sz="2000" dirty="0">
                  <a:solidFill>
                    <a:srgbClr val="0000CC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 尿布}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关联规则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A689768-02DF-4A97-8F76-088FC421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62423"/>
              </p:ext>
            </p:extLst>
          </p:nvPr>
        </p:nvGraphicFramePr>
        <p:xfrm>
          <a:off x="7616266" y="1861680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07BB76D2-BEAF-4EF5-AA60-6B208B7FF56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02666" y="1158222"/>
                <a:ext cx="9782734" cy="4185751"/>
              </a:xfrm>
              <a:prstGeom prst="rect">
                <a:avLst/>
              </a:prstGeom>
            </p:spPr>
            <p:txBody>
              <a:bodyPr vert="horz" lIns="91436" tIns="45718" rIns="91436" bIns="45718" rtlCol="0" anchor="t">
                <a:noAutofit/>
              </a:bodyPr>
              <a:lstStyle>
                <a:lvl1pPr marL="461951" indent="-461951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38170" indent="-538149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8817" indent="-474651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559" indent="-52227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6328" indent="-507987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61645" indent="-461645">
                  <a:defRPr/>
                </a:pP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如何计算关联规则 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X → Y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（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X 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和 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Y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均为</a:t>
                </a:r>
                <a:r>
                  <a:rPr lang="en-US" sz="2400" dirty="0" err="1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项集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）的强度？</a:t>
                </a:r>
              </a:p>
              <a:p>
                <a:pPr marL="461645" indent="-461645">
                  <a:defRPr/>
                </a:pP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我们首先计算以下两个指标，s 和 c。</a:t>
                </a:r>
              </a:p>
              <a:p>
                <a:pPr marL="737870" lvl="1" indent="-537845">
                  <a:defRPr/>
                </a:pPr>
                <a:r>
                  <a:rPr 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支持度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</a:t>
                </a:r>
                <a:r>
                  <a:rPr lang="en-US" altLang="en-US" sz="2400" dirty="0">
                    <a:solidFill>
                      <a:srgbClr val="FF0000"/>
                    </a:solidFill>
                    <a:latin typeface="Calibri" pitchFamily="34" charset="0"/>
                    <a:sym typeface="Symbol" pitchFamily="18" charset="2"/>
                  </a:rPr>
                  <a:t>X ∪ Y</a:t>
                </a:r>
                <a:r>
                  <a:rPr 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 </a:t>
                </a:r>
              </a:p>
              <a:p>
                <a:pPr marL="737870" lvl="1" indent="-537845">
                  <a:defRPr/>
                </a:pPr>
                <a:r>
                  <a:rPr 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Support(A=&gt;B) = P(A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B)</a:t>
                </a:r>
                <a:endParaRPr lang="en-US" sz="2400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Calibri"/>
                </a:endParaRPr>
              </a:p>
              <a:p>
                <a:pPr marL="858520" lvl="2" indent="-474345">
                  <a:defRPr/>
                </a:pP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例：s{尿布, 啤酒} = 3/5 = 0.6（即60%）</a:t>
                </a:r>
              </a:p>
              <a:p>
                <a:pPr marL="737870" lvl="1" indent="-537845">
                  <a:defRPr/>
                </a:pPr>
                <a:r>
                  <a:rPr lang="en-US" sz="2400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置信度 </a:t>
                </a:r>
                <a:r>
                  <a:rPr lang="en-US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X</a:t>
                </a:r>
                <a:r>
                  <a:rPr lang="en-US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sym typeface="Wingdings" pitchFamily="2" charset="2"/>
                  </a:rPr>
                  <a:t>  </a:t>
                </a:r>
                <a:r>
                  <a:rPr lang="en-US" altLang="en-US" sz="2400" i="1" dirty="0">
                    <a:solidFill>
                      <a:srgbClr val="FF0000"/>
                    </a:solidFill>
                    <a:latin typeface="Calibri" panose="020F0502020204030204" pitchFamily="34" charset="0"/>
                    <a:sym typeface="Wingdings" pitchFamily="2" charset="2"/>
                  </a:rPr>
                  <a:t>Y </a:t>
                </a:r>
                <a:endParaRPr lang="en-US" sz="2400" dirty="0">
                  <a:latin typeface="STKaiti" panose="02010600040101010101" pitchFamily="2" charset="-122"/>
                  <a:ea typeface="STKaiti" panose="02010600040101010101" pitchFamily="2" charset="-122"/>
                  <a:cs typeface="Calibri"/>
                </a:endParaRPr>
              </a:p>
              <a:p>
                <a:pPr marL="858520" lvl="2" indent="-474345">
                  <a:defRPr/>
                </a:pP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包含 X 的交易也包含 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Y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的</a:t>
                </a:r>
                <a:r>
                  <a:rPr lang="en-US" sz="2400" i="1" dirty="0">
                    <a:solidFill>
                      <a:srgbClr val="FF0000"/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条件概率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：</a:t>
                </a:r>
              </a:p>
              <a:p>
                <a:pPr marL="858520" lvl="2" indent="-474345">
                  <a:defRPr/>
                </a:pP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Confidence(A=&gt;B) = P(B|A) = </a:t>
                </a:r>
                <a:r>
                  <a:rPr lang="zh-CN" alt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P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(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𝐴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 ∩ 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𝐵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𝑃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(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𝐴</m:t>
                        </m:r>
                        <m:r>
                          <a:rPr lang="en-US" altLang="zh-CN" sz="2400" b="0" i="1" dirty="0">
                            <a:latin typeface="Cambria Math" panose="02040503050406030204" pitchFamily="18" charset="0"/>
                            <a:ea typeface="STKaiti" panose="02010600040101010101" pitchFamily="2" charset="-122"/>
                            <a:cs typeface="Calibri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</a:t>
                </a:r>
                <a:r>
                  <a:rPr lang="en-US" altLang="ko-Kore-KR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 = sup</a:t>
                </a:r>
                <a:r>
                  <a:rPr lang="en-US" altLang="ko-Kore-KR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(X, Y) </a:t>
                </a:r>
                <a:r>
                  <a:rPr lang="en-US" alt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/ </a:t>
                </a:r>
                <a:r>
                  <a:rPr lang="en-US" alt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sym typeface="Wingdings" pitchFamily="2" charset="2"/>
                  </a:rPr>
                  <a:t>sup</a:t>
                </a:r>
                <a:r>
                  <a:rPr lang="en-US" altLang="en-US" sz="2400" dirty="0">
                    <a:latin typeface="STKaiti" panose="02010600040101010101" pitchFamily="2" charset="-122"/>
                    <a:ea typeface="STKaiti" panose="02010600040101010101" pitchFamily="2" charset="-122"/>
                    <a:sym typeface="Wingdings" pitchFamily="2" charset="2"/>
                  </a:rPr>
                  <a:t>(X)</a:t>
                </a:r>
                <a:endParaRPr lang="en-US" sz="2400" dirty="0">
                  <a:latin typeface="STKaiti" panose="02010600040101010101" pitchFamily="2" charset="-122"/>
                  <a:ea typeface="STKaiti" panose="02010600040101010101" pitchFamily="2" charset="-122"/>
                  <a:cs typeface="Calibri"/>
                </a:endParaRPr>
              </a:p>
              <a:p>
                <a:pPr marL="384175" lvl="2" indent="0">
                  <a:buNone/>
                  <a:defRPr/>
                </a:pP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     	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例：</a:t>
                </a:r>
                <a:r>
                  <a:rPr lang="en-US" sz="2400" i="1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c </a:t>
                </a:r>
                <a:r>
                  <a:rPr lang="en-US" sz="2400" dirty="0">
                    <a:latin typeface="STKaiti" panose="02010600040101010101" pitchFamily="2" charset="-122"/>
                    <a:ea typeface="STKaiti" panose="02010600040101010101" pitchFamily="2" charset="-122"/>
                    <a:cs typeface="Calibri"/>
                  </a:rPr>
                  <a:t>= sup{尿布, 啤酒}/sup{尿布} = ¾ = 0.75</a:t>
                </a:r>
              </a:p>
              <a:p>
                <a:pPr marL="461645" indent="-461645">
                  <a:defRPr/>
                </a:pPr>
                <a:endParaRPr lang="en-US" sz="2400" dirty="0">
                  <a:latin typeface="STKaiti" panose="02010600040101010101" pitchFamily="2" charset="-122"/>
                  <a:ea typeface="STKaiti" panose="02010600040101010101" pitchFamily="2" charset="-122"/>
                  <a:cs typeface="Calibri"/>
                </a:endParaRPr>
              </a:p>
              <a:p>
                <a:pPr marL="384175" lvl="2" indent="0">
                  <a:spcBef>
                    <a:spcPts val="200"/>
                  </a:spcBef>
                  <a:buNone/>
                  <a:defRPr/>
                </a:pPr>
                <a:endParaRPr lang="en-US" altLang="en-US" sz="2400" i="1" dirty="0">
                  <a:latin typeface="STKaiti" panose="02010600040101010101" pitchFamily="2" charset="-122"/>
                  <a:ea typeface="STKaiti" panose="02010600040101010101" pitchFamily="2" charset="-122"/>
                  <a:cs typeface="Calibri"/>
                </a:endParaRP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07BB76D2-BEAF-4EF5-AA60-6B208B7FF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66" y="1158222"/>
                <a:ext cx="9782734" cy="4185751"/>
              </a:xfrm>
              <a:prstGeom prst="rect">
                <a:avLst/>
              </a:prstGeom>
              <a:blipFill>
                <a:blip r:embed="rId3"/>
                <a:stretch>
                  <a:fillRect l="-389" t="-1212" b="-393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7801B6-1CB2-4D0B-AD71-4DD543290BB4}"/>
              </a:ext>
            </a:extLst>
          </p:cNvPr>
          <p:cNvSpPr txBox="1"/>
          <p:nvPr/>
        </p:nvSpPr>
        <p:spPr>
          <a:xfrm>
            <a:off x="398059" y="5497773"/>
            <a:ext cx="11209741" cy="83099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在模式分析中，我们通常关注那些在数据库中占主导地位的规则，而这两个指标确保了</a:t>
            </a:r>
            <a:r>
              <a:rPr lang="en-US" sz="2400" dirty="0">
                <a:latin typeface="STKaiti" panose="02010600040101010101" pitchFamily="2" charset="-122"/>
                <a:ea typeface="STKaiti" panose="02010600040101010101" pitchFamily="2" charset="-122"/>
                <a:cs typeface="Calibri"/>
              </a:rPr>
              <a:t>X和Y的</a:t>
            </a:r>
            <a:r>
              <a:rPr lang="en-US" sz="2400" dirty="0">
                <a:latin typeface="STKaiti" panose="02010600040101010101" pitchFamily="2" charset="-122"/>
                <a:ea typeface="STKaiti" panose="02010600040101010101" pitchFamily="2" charset="-122"/>
              </a:rPr>
              <a:t>流行度和相关性</a:t>
            </a:r>
            <a:r>
              <a:rPr lang="en-US" sz="2400" dirty="0">
                <a:latin typeface="STKaiti" panose="02010600040101010101" pitchFamily="2" charset="-122"/>
                <a:ea typeface="STKaiti" panose="02010600040101010101" pitchFamily="2" charset="-122"/>
                <a:cs typeface="Calibr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892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TKaiti" panose="02010600040101010101" pitchFamily="2" charset="-122"/>
              </a:rPr>
              <a:t>关联规则</a:t>
            </a:r>
            <a:r>
              <a:rPr lang="zh-CN" altLang="en-US" dirty="0">
                <a:ea typeface="STKaiti" panose="02010600040101010101" pitchFamily="2" charset="-122"/>
              </a:rPr>
              <a:t> </a:t>
            </a:r>
            <a:r>
              <a:rPr lang="en-US" altLang="zh-CN" dirty="0">
                <a:ea typeface="STKaiti" panose="02010600040101010101" pitchFamily="2" charset="-122"/>
              </a:rPr>
              <a:t>–</a:t>
            </a:r>
            <a:r>
              <a:rPr lang="zh-CN" altLang="en-US" dirty="0">
                <a:ea typeface="STKaiti" panose="02010600040101010101" pitchFamily="2" charset="-122"/>
              </a:rPr>
              <a:t> 练习</a:t>
            </a:r>
            <a:endParaRPr lang="en-US" dirty="0">
              <a:ea typeface="STKaiti" panose="0201060004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19" name="Group 44">
            <a:extLst>
              <a:ext uri="{FF2B5EF4-FFF2-40B4-BE49-F238E27FC236}">
                <a16:creationId xmlns:a16="http://schemas.microsoft.com/office/drawing/2014/main" id="{EF9976AD-99C9-6912-F3C3-2FF4ED46D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05799"/>
              </p:ext>
            </p:extLst>
          </p:nvPr>
        </p:nvGraphicFramePr>
        <p:xfrm>
          <a:off x="665843" y="1581458"/>
          <a:ext cx="4757057" cy="2925328"/>
        </p:xfrm>
        <a:graphic>
          <a:graphicData uri="http://schemas.openxmlformats.org/drawingml/2006/table">
            <a:tbl>
              <a:tblPr/>
              <a:tblGrid>
                <a:gridCol w="65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962001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燕麦片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20752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DFF09DB-0FC2-1783-F61C-47AA001A3DD6}"/>
              </a:ext>
            </a:extLst>
          </p:cNvPr>
          <p:cNvSpPr txBox="1"/>
          <p:nvPr/>
        </p:nvSpPr>
        <p:spPr>
          <a:xfrm>
            <a:off x="5725967" y="1635279"/>
            <a:ext cx="61150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latinLnBrk="0">
              <a:buFont typeface="+mj-lt"/>
              <a:buAutoNum type="arabicPeriod"/>
              <a:tabLst>
                <a:tab pos="457200" algn="l"/>
              </a:tabLst>
            </a:pP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计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算以下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项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集的</a:t>
            </a:r>
            <a:r>
              <a:rPr lang="ko-Kore-KR" altLang="ko-Kore-KR" sz="2000" b="1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支持度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（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  <a:t>Support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）：</a:t>
            </a:r>
            <a:endParaRPr lang="ko-Kore-KR" altLang="ko-Kore-KR" sz="2000" kern="100">
              <a:effectLst/>
              <a:latin typeface="STKaiti" panose="02010600040101010101" pitchFamily="2" charset="-122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457200" algn="l" latinLnBrk="0"/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Microsoft YaHei" panose="020B0503020204020204" pitchFamily="34" charset="-122"/>
              </a:rPr>
              <a:t>鸡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蛋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Microsoft YaHei" panose="020B0503020204020204" pitchFamily="34" charset="-122"/>
              </a:rPr>
              <a:t>黄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油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Microsoft YaHei" panose="020B0503020204020204" pitchFamily="34" charset="-122"/>
              </a:rPr>
              <a:t>鸡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蛋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DB6F20-0EF7-97EE-A2C1-A784628EA777}"/>
              </a:ext>
            </a:extLst>
          </p:cNvPr>
          <p:cNvSpPr txBox="1"/>
          <p:nvPr/>
        </p:nvSpPr>
        <p:spPr>
          <a:xfrm>
            <a:off x="5737760" y="3699808"/>
            <a:ext cx="61150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latinLnBrk="0">
              <a:buFont typeface="+mj-lt"/>
              <a:buAutoNum type="arabicPeriod" startAt="2"/>
              <a:tabLst>
                <a:tab pos="457200" algn="l"/>
              </a:tabLst>
            </a:pP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计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算以下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关联规则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的</a:t>
            </a:r>
            <a:r>
              <a:rPr lang="ko-Kore-KR" altLang="ko-Kore-KR" sz="2000" b="1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置信度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（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  <a:t>Confidence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바탕" panose="02030600000101010101" pitchFamily="18" charset="-127"/>
              </a:rPr>
              <a:t>）：</a:t>
            </a:r>
            <a:endParaRPr lang="ko-Kore-KR" altLang="ko-Kore-KR" sz="2000" kern="100">
              <a:effectLst/>
              <a:latin typeface="STKaiti" panose="02010600040101010101" pitchFamily="2" charset="-122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marL="457200" algn="l" latinLnBrk="0"/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 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ambria Math" panose="02040503050406030204" pitchFamily="18" charset="0"/>
              </a:rPr>
              <a:t>⇒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 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Courier New" panose="02070309020205020404" pitchFamily="49" charset="0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 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ambria Math" panose="02040503050406030204" pitchFamily="18" charset="0"/>
              </a:rPr>
              <a:t>⇒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 {</a:t>
            </a:r>
            <a:r>
              <a:rPr lang="ko-Kore-KR" altLang="en-US" sz="2000" kern="0">
                <a:latin typeface="STKaiti" panose="02010600040101010101" pitchFamily="2" charset="-122"/>
                <a:ea typeface="KaiTi" panose="02010609060101010101" pitchFamily="49" charset="-122"/>
                <a:cs typeface="Courier New" panose="02070309020205020404" pitchFamily="49" charset="0"/>
              </a:rPr>
              <a:t>黄油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</a:p>
          <a:p>
            <a:pPr marL="457200"/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en-US" sz="2000" kern="0">
                <a:latin typeface="STKaiti" panose="02010600040101010101" pitchFamily="2" charset="-122"/>
                <a:ea typeface="KaiTi" panose="02010609060101010101" pitchFamily="49" charset="-122"/>
                <a:cs typeface="Courier New" panose="02070309020205020404" pitchFamily="49" charset="0"/>
              </a:rPr>
              <a:t>黄油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 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ambria Math" panose="02040503050406030204" pitchFamily="18" charset="0"/>
              </a:rPr>
              <a:t>⇒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 {</a:t>
            </a:r>
            <a:r>
              <a:rPr lang="ko-Kore-KR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Courier New" panose="02070309020205020404" pitchFamily="49" charset="0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 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ambria Math" panose="02040503050406030204" pitchFamily="18" charset="0"/>
              </a:rPr>
              <a:t>⇒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 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Microsoft YaHei" panose="020B0503020204020204" pitchFamily="34" charset="-122"/>
              </a:rPr>
              <a:t>黄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油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b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Times New Roman" panose="02020603050405020304" pitchFamily="18" charset="0"/>
              </a:rPr>
            </a:b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牛奶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, 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Microsoft YaHei" panose="020B0503020204020204" pitchFamily="34" charset="-122"/>
              </a:rPr>
              <a:t>鸡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蛋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 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ambria Math" panose="02040503050406030204" pitchFamily="18" charset="0"/>
              </a:rPr>
              <a:t>⇒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 {</a:t>
            </a:r>
            <a:r>
              <a:rPr lang="ko-Kore-KR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맑은 고딕" panose="020B0503020000020004" pitchFamily="34" charset="-127"/>
              </a:rPr>
              <a:t>面包</a:t>
            </a:r>
            <a:r>
              <a:rPr lang="en-US" altLang="ko-Kore-KR" sz="2000" kern="0">
                <a:effectLst/>
                <a:latin typeface="STKaiti" panose="02010600040101010101" pitchFamily="2" charset="-122"/>
                <a:ea typeface="STKaiti" panose="02010600040101010101" pitchFamily="2" charset="-122"/>
                <a:cs typeface="Courier New" panose="02070309020205020404" pitchFamily="49" charset="0"/>
              </a:rPr>
              <a:t>}</a:t>
            </a:r>
            <a:endParaRPr lang="ko-Kore-KR" altLang="ko-Kore-KR" sz="2000" kern="100">
              <a:effectLst/>
              <a:latin typeface="STKaiti" panose="02010600040101010101" pitchFamily="2" charset="-122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0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r>
              <a:rPr lang="en-US" altLang="en-US" dirty="0"/>
              <a:t>挖掘频繁</a:t>
            </a:r>
            <a:r>
              <a:rPr lang="en-US" altLang="en-US" dirty="0" err="1"/>
              <a:t>项集</a:t>
            </a:r>
            <a:r>
              <a:rPr lang="en-US" altLang="en-US" dirty="0"/>
              <a:t>与关联规则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547106" y="1225325"/>
            <a:ext cx="7213600" cy="1848951"/>
          </a:xfrm>
        </p:spPr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altLang="en-US" sz="2200" b="1" dirty="0">
                <a:ea typeface="STKaiti" panose="02010600040101010101" pitchFamily="2" charset="-122"/>
              </a:rPr>
              <a:t>关联规则挖掘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给定两个阈值：</a:t>
            </a:r>
            <a:r>
              <a:rPr lang="en-US" altLang="en-US" sz="2200" i="1" dirty="0" err="1">
                <a:ea typeface="STKaiti" panose="02010600040101010101" pitchFamily="2" charset="-122"/>
              </a:rPr>
              <a:t>min sup</a:t>
            </a:r>
            <a:r>
              <a:rPr lang="en-US" altLang="en-US" sz="2200" i="1" dirty="0">
                <a:ea typeface="STKaiti" panose="02010600040101010101" pitchFamily="2" charset="-122"/>
              </a:rPr>
              <a:t>，</a:t>
            </a:r>
            <a:r>
              <a:rPr lang="en-US" altLang="en-US" sz="2200" i="1" dirty="0" err="1">
                <a:ea typeface="STKaiti" panose="02010600040101010101" pitchFamily="2" charset="-122"/>
              </a:rPr>
              <a:t>min conf</a:t>
            </a:r>
            <a:endParaRPr lang="en-US" altLang="en-US" sz="2200" dirty="0">
              <a:ea typeface="STKaiti" panose="02010600040101010101" pitchFamily="2" charset="-122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找到所有规则，</a:t>
            </a:r>
            <a:r>
              <a:rPr lang="en-US" altLang="en-US" sz="2200" i="1" dirty="0">
                <a:ea typeface="STKaiti" panose="02010600040101010101" pitchFamily="2" charset="-122"/>
              </a:rPr>
              <a:t>X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  </a:t>
            </a:r>
            <a:r>
              <a:rPr lang="en-US" altLang="en-US" sz="2200" i="1" dirty="0">
                <a:ea typeface="STKaiti" panose="02010600040101010101" pitchFamily="2" charset="-122"/>
                <a:sym typeface="Wingdings" pitchFamily="2" charset="2"/>
              </a:rPr>
              <a:t>Y 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(s, c)</a:t>
            </a:r>
            <a:b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</a:br>
            <a:r>
              <a:rPr lang="en-US" altLang="en-US" sz="2200" dirty="0">
                <a:ea typeface="STKaiti" panose="02010600040101010101" pitchFamily="2" charset="-122"/>
              </a:rPr>
              <a:t>满足s ≥ minsup且 </a:t>
            </a:r>
            <a:r>
              <a:rPr lang="en-US" altLang="en-US" sz="2200" i="1" dirty="0">
                <a:ea typeface="STKaiti" panose="02010600040101010101" pitchFamily="2" charset="-122"/>
              </a:rPr>
              <a:t>c </a:t>
            </a:r>
            <a:r>
              <a:rPr lang="en-US" altLang="en-US" sz="2200" dirty="0">
                <a:ea typeface="STKaiti" panose="02010600040101010101" pitchFamily="2" charset="-122"/>
              </a:rPr>
              <a:t>≥ </a:t>
            </a:r>
            <a:r>
              <a:rPr lang="en-US" altLang="en-US" sz="2200" i="1" dirty="0">
                <a:ea typeface="STKaiti" panose="02010600040101010101" pitchFamily="2" charset="-122"/>
              </a:rPr>
              <a:t>minconf </a:t>
            </a:r>
          </a:p>
          <a:p>
            <a:pPr marL="200021" lvl="1" indent="0">
              <a:spcBef>
                <a:spcPts val="200"/>
              </a:spcBef>
              <a:buNone/>
              <a:defRPr/>
            </a:pPr>
            <a:endParaRPr lang="en-US" altLang="en-US" sz="2200" dirty="0">
              <a:ea typeface="STKaiti" panose="02010600040101010101" pitchFamily="2" charset="-122"/>
            </a:endParaRP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221770"/>
              </p:ext>
            </p:extLst>
          </p:nvPr>
        </p:nvGraphicFramePr>
        <p:xfrm>
          <a:off x="7398971" y="4123319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啤酒、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坚果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、咖啡、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尿布、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鸡蛋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、牛奶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547106" y="3019491"/>
            <a:ext cx="8977894" cy="289771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令 </a:t>
            </a:r>
            <a:r>
              <a:rPr lang="en-US" altLang="en-US" sz="2200" i="1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minsup </a:t>
            </a: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50%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1项集合频率：啤酒：3，坚果：3，尿布：4，鸡蛋：3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2-项集合频率：{啤酒, 尿布}：3</a:t>
            </a:r>
            <a:endParaRPr lang="en-US" altLang="en-US" sz="2200" i="1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  <a:p>
            <a:pPr>
              <a:spcBef>
                <a:spcPts val="200"/>
              </a:spcBef>
              <a:defRPr/>
            </a:pPr>
            <a:endParaRPr lang="en-US" altLang="en-US" sz="22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设 </a:t>
            </a:r>
            <a:r>
              <a:rPr lang="en-US" altLang="en-US" sz="2200" i="1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minconf </a:t>
            </a: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50%</a:t>
            </a:r>
            <a:endParaRPr lang="en-US" altLang="en-US" sz="22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啤酒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Wingdings" pitchFamily="2" charset="2"/>
              </a:rPr>
              <a:t> </a:t>
            </a: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尿布 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(60%, 100%)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尿布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Wingdings" pitchFamily="2" charset="2"/>
              </a:rPr>
              <a:t> </a:t>
            </a:r>
            <a:r>
              <a:rPr lang="en-US" altLang="en-US" sz="22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啤酒 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(60%, 75%)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55824-7A35-B873-B239-7845FF112E76}"/>
              </a:ext>
            </a:extLst>
          </p:cNvPr>
          <p:cNvSpPr txBox="1"/>
          <p:nvPr/>
        </p:nvSpPr>
        <p:spPr>
          <a:xfrm>
            <a:off x="547106" y="5917205"/>
            <a:ext cx="613604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33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(问题：这些规则是否都满足两个条件？)</a:t>
            </a:r>
          </a:p>
        </p:txBody>
      </p:sp>
    </p:spTree>
    <p:extLst>
      <p:ext uri="{BB962C8B-B14F-4D97-AF65-F5344CB8AC3E}">
        <p14:creationId xmlns:p14="http://schemas.microsoft.com/office/powerpoint/2010/main" val="74358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TKaiti" panose="02010600040101010101" pitchFamily="2" charset="-122"/>
              </a:rPr>
              <a:t>Myth No.1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8A95D2-94AD-7562-4277-742082F5FA1C}"/>
                  </a:ext>
                </a:extLst>
              </p:cNvPr>
              <p:cNvSpPr txBox="1"/>
              <p:nvPr/>
            </p:nvSpPr>
            <p:spPr>
              <a:xfrm>
                <a:off x="817809" y="1219200"/>
                <a:ext cx="5106473" cy="5355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ore-KR" altLang="en-US" b="1">
                    <a:latin typeface="STKaiti" panose="02010600040101010101" pitchFamily="2" charset="-122"/>
                  </a:rPr>
                  <a:t>置信度高的规则不一定合理。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例如：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|D|=10000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DVD数量=7500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磁带数量=6000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DVD, 磁带数量=4000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阈值：</a:t>
                </a:r>
                <a14:m>
                  <m:oMath xmlns:m="http://schemas.openxmlformats.org/officeDocument/2006/math">
                    <m:r>
                      <a:rPr lang="ko-Kore-KR" alt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STKaiti" panose="02010600040101010101" pitchFamily="2" charset="-122"/>
                  </a:rPr>
                  <a:t>=</a:t>
                </a:r>
                <a:r>
                  <a:rPr lang="ko-Kore-KR" altLang="en-US">
                    <a:latin typeface="STKaiti" panose="02010600040101010101" pitchFamily="2" charset="-122"/>
                  </a:rPr>
                  <a:t>30%，Φ</a:t>
                </a:r>
                <a:r>
                  <a:rPr lang="en-US" altLang="zh-CN">
                    <a:latin typeface="STKaiti" panose="02010600040101010101" pitchFamily="2" charset="-122"/>
                  </a:rPr>
                  <a:t>=</a:t>
                </a:r>
                <a:r>
                  <a:rPr lang="ko-Kore-KR" altLang="en-US">
                    <a:latin typeface="STKaiti" panose="02010600040101010101" pitchFamily="2" charset="-122"/>
                  </a:rPr>
                  <a:t>50%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支持度（磁带 → DVD）= 4000/10000=40%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  <a:p>
                <a:r>
                  <a:rPr lang="ko-Kore-KR" altLang="en-US">
                    <a:latin typeface="STKaiti" panose="02010600040101010101" pitchFamily="2" charset="-122"/>
                  </a:rPr>
                  <a:t>置信度（磁带 → DVD）=4000/6000=66%</a:t>
                </a:r>
              </a:p>
              <a:p>
                <a:endParaRPr lang="ko-Kore-KR" altLang="en-US">
                  <a:latin typeface="STKaiti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8A95D2-94AD-7562-4277-742082F5F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09" y="1219200"/>
                <a:ext cx="5106473" cy="5355312"/>
              </a:xfrm>
              <a:prstGeom prst="rect">
                <a:avLst/>
              </a:prstGeom>
              <a:blipFill>
                <a:blip r:embed="rId3"/>
                <a:stretch>
                  <a:fillRect l="-993" t="-71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3F6E91-EAD0-F620-34E6-390B2D9A8BEB}"/>
              </a:ext>
            </a:extLst>
          </p:cNvPr>
          <p:cNvSpPr txBox="1"/>
          <p:nvPr/>
        </p:nvSpPr>
        <p:spPr>
          <a:xfrm>
            <a:off x="5256727" y="1532009"/>
            <a:ext cx="611746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>
                <a:latin typeface="STKaiti" panose="02010600040101010101" pitchFamily="2" charset="-122"/>
              </a:rPr>
              <a:t>现在我们有了一条强规则：磁带 → DVD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r>
              <a:rPr lang="ko-Kore-KR" altLang="en-US">
                <a:latin typeface="STKaiti" panose="02010600040101010101" pitchFamily="2" charset="-122"/>
              </a:rPr>
              <a:t>磁带似乎有助于推广DVD。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r>
              <a:rPr lang="ko-Kore-KR" altLang="en-US">
                <a:latin typeface="STKaiti" panose="02010600040101010101" pitchFamily="2" charset="-122"/>
              </a:rPr>
              <a:t>然而，P(DVD)=75% </a:t>
            </a:r>
            <a:r>
              <a:rPr lang="en-US" altLang="ko-Kore-KR">
                <a:latin typeface="STKaiti" panose="02010600040101010101" pitchFamily="2" charset="-122"/>
              </a:rPr>
              <a:t> &gt; </a:t>
            </a:r>
            <a:r>
              <a:rPr lang="ko-Kore-KR" altLang="en-US">
                <a:latin typeface="STKaiti" panose="02010600040101010101" pitchFamily="2" charset="-122"/>
              </a:rPr>
              <a:t>P(DVD | 磁带) !!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r>
              <a:rPr lang="ko-Kore-KR" altLang="en-US">
                <a:latin typeface="STKaiti" panose="02010600040101010101" pitchFamily="2" charset="-122"/>
              </a:rPr>
              <a:t>磁带购买者购买DVD的可能性较小</a:t>
            </a:r>
          </a:p>
        </p:txBody>
      </p:sp>
      <p:pic>
        <p:nvPicPr>
          <p:cNvPr id="1026" name="Picture 2" descr="Video to DVD">
            <a:extLst>
              <a:ext uri="{FF2B5EF4-FFF2-40B4-BE49-F238E27FC236}">
                <a16:creationId xmlns:a16="http://schemas.microsoft.com/office/drawing/2014/main" id="{B041F6A4-ED88-E6B5-F2B5-03BCEEE8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282" y="3983865"/>
            <a:ext cx="4658519" cy="165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28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TKaiti" panose="02010600040101010101" pitchFamily="2" charset="-122"/>
              </a:rPr>
              <a:t>Myth No.1</a:t>
            </a:r>
          </a:p>
        </p:txBody>
      </p:sp>
      <p:pic>
        <p:nvPicPr>
          <p:cNvPr id="3" name="Picture 2" descr="Association Rule Mining in R Programming - GeeksforGeeks">
            <a:extLst>
              <a:ext uri="{FF2B5EF4-FFF2-40B4-BE49-F238E27FC236}">
                <a16:creationId xmlns:a16="http://schemas.microsoft.com/office/drawing/2014/main" id="{568550E8-B047-1685-7398-D0E0A17DA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45" y="1394540"/>
            <a:ext cx="6288654" cy="237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6A8720-7A7F-7C67-0005-973D6B1B0430}"/>
              </a:ext>
            </a:extLst>
          </p:cNvPr>
          <p:cNvSpPr txBox="1"/>
          <p:nvPr/>
        </p:nvSpPr>
        <p:spPr>
          <a:xfrm>
            <a:off x="212500" y="3911038"/>
            <a:ext cx="851937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Lift &gt; 1，A</a:t>
            </a:r>
            <a:r>
              <a:rPr lang="ko-KR" altLang="en-US" sz="2200" dirty="0">
                <a:ea typeface="STKaiti" panose="02010600040101010101" pitchFamily="2" charset="-122"/>
              </a:rPr>
              <a:t>和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存在正相关，</a:t>
            </a:r>
            <a:r>
              <a:rPr lang="en-US" altLang="en-US" sz="2200" dirty="0">
                <a:ea typeface="STKaiti" panose="02010600040101010101" pitchFamily="2" charset="-122"/>
              </a:rPr>
              <a:t>A</a:t>
            </a:r>
            <a:r>
              <a:rPr lang="ko-KR" altLang="en-US" sz="2200" dirty="0">
                <a:ea typeface="STKaiti" panose="02010600040101010101" pitchFamily="2" charset="-122"/>
              </a:rPr>
              <a:t>的出现会增加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出现的概率；</a:t>
            </a:r>
          </a:p>
          <a:p>
            <a:pPr lvl="1">
              <a:spcBef>
                <a:spcPts val="200"/>
              </a:spcBef>
              <a:defRPr/>
            </a:pPr>
            <a:endParaRPr lang="ko-KR" altLang="en-US" sz="2200" dirty="0">
              <a:ea typeface="STKaiti" panose="02010600040101010101" pitchFamily="2" charset="-122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Lift = 1，A</a:t>
            </a:r>
            <a:r>
              <a:rPr lang="ko-KR" altLang="en-US" sz="2200" dirty="0">
                <a:ea typeface="STKaiti" panose="02010600040101010101" pitchFamily="2" charset="-122"/>
              </a:rPr>
              <a:t>和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相互独立，对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的出现概率没有影响；</a:t>
            </a:r>
          </a:p>
          <a:p>
            <a:pPr lvl="1">
              <a:spcBef>
                <a:spcPts val="200"/>
              </a:spcBef>
              <a:defRPr/>
            </a:pPr>
            <a:endParaRPr lang="ko-KR" altLang="en-US" sz="2200" dirty="0">
              <a:ea typeface="STKaiti" panose="02010600040101010101" pitchFamily="2" charset="-122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Lift &lt; 1，A</a:t>
            </a:r>
            <a:r>
              <a:rPr lang="ko-KR" altLang="en-US" sz="2200" dirty="0">
                <a:ea typeface="STKaiti" panose="02010600040101010101" pitchFamily="2" charset="-122"/>
              </a:rPr>
              <a:t>和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存在负相关，</a:t>
            </a:r>
            <a:r>
              <a:rPr lang="en-US" altLang="en-US" sz="2200" dirty="0">
                <a:ea typeface="STKaiti" panose="02010600040101010101" pitchFamily="2" charset="-122"/>
              </a:rPr>
              <a:t>A</a:t>
            </a:r>
            <a:r>
              <a:rPr lang="ko-KR" altLang="en-US" sz="2200" dirty="0">
                <a:ea typeface="STKaiti" panose="02010600040101010101" pitchFamily="2" charset="-122"/>
              </a:rPr>
              <a:t>的出现会降低</a:t>
            </a:r>
            <a:r>
              <a:rPr lang="en-US" altLang="en-US" sz="2200" dirty="0">
                <a:ea typeface="STKaiti" panose="02010600040101010101" pitchFamily="2" charset="-122"/>
              </a:rPr>
              <a:t>B</a:t>
            </a:r>
            <a:r>
              <a:rPr lang="ko-KR" altLang="en-US" sz="2200" dirty="0">
                <a:ea typeface="STKaiti" panose="02010600040101010101" pitchFamily="2" charset="-122"/>
              </a:rPr>
              <a:t>的出现概率</a:t>
            </a:r>
          </a:p>
          <a:p>
            <a:pPr lvl="1">
              <a:spcBef>
                <a:spcPts val="200"/>
              </a:spcBef>
              <a:defRPr/>
            </a:pPr>
            <a:endParaRPr lang="ko-KR" altLang="en-US" sz="2200" dirty="0">
              <a:ea typeface="STKaiti" panose="02010600040101010101" pitchFamily="2" charset="-122"/>
            </a:endParaRPr>
          </a:p>
          <a:p>
            <a:pPr lvl="1">
              <a:spcBef>
                <a:spcPts val="200"/>
              </a:spcBef>
              <a:defRPr/>
            </a:pPr>
            <a:endParaRPr lang="en-US" altLang="en-US" sz="2200" dirty="0"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6398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oup 44">
            <a:extLst>
              <a:ext uri="{FF2B5EF4-FFF2-40B4-BE49-F238E27FC236}">
                <a16:creationId xmlns:a16="http://schemas.microsoft.com/office/drawing/2014/main" id="{EF9976AD-99C9-6912-F3C3-2FF4ED46D373}"/>
              </a:ext>
            </a:extLst>
          </p:cNvPr>
          <p:cNvGraphicFramePr>
            <a:graphicFrameLocks noGrp="1"/>
          </p:cNvGraphicFramePr>
          <p:nvPr/>
        </p:nvGraphicFramePr>
        <p:xfrm>
          <a:off x="704480" y="2083734"/>
          <a:ext cx="4757057" cy="3290994"/>
        </p:xfrm>
        <a:graphic>
          <a:graphicData uri="http://schemas.openxmlformats.org/drawingml/2006/table">
            <a:tbl>
              <a:tblPr/>
              <a:tblGrid>
                <a:gridCol w="65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购买的项目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牛奶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电池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黄油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蜂蜜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薯片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ore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酸奶</a:t>
                      </a:r>
                      <a:r>
                        <a:rPr kumimoji="0" lang="en-US" altLang="ko-Kore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蛋糕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962001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o-Kore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面包</a:t>
                      </a:r>
                      <a:r>
                        <a:rPr kumimoji="0" lang="en-US" altLang="ko-Kore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.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电池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207526"/>
                  </a:ext>
                </a:extLst>
              </a:tr>
              <a:tr h="1505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饼干,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果冻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65536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DFF09DB-0FC2-1783-F61C-47AA001A3DD6}"/>
              </a:ext>
            </a:extLst>
          </p:cNvPr>
          <p:cNvSpPr txBox="1"/>
          <p:nvPr/>
        </p:nvSpPr>
        <p:spPr>
          <a:xfrm>
            <a:off x="6321148" y="2591642"/>
            <a:ext cx="4615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latinLnBrk="0">
              <a:tabLst>
                <a:tab pos="457200" algn="l"/>
              </a:tabLst>
            </a:pPr>
            <a:r>
              <a:rPr lang="en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P(</a:t>
            </a:r>
            <a:r>
              <a:rPr lang="ko-KR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面包</a:t>
            </a:r>
            <a:r>
              <a:rPr lang="zh-CN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｜</a:t>
            </a:r>
            <a:r>
              <a:rPr lang="ko-KR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电池</a:t>
            </a:r>
            <a:r>
              <a:rPr lang="en-US" altLang="ko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) = 100% &gt; </a:t>
            </a:r>
            <a:r>
              <a:rPr lang="en" altLang="ko-Kore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P(</a:t>
            </a:r>
            <a:r>
              <a:rPr lang="ko-KR" altLang="en-US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面包</a:t>
            </a:r>
            <a:r>
              <a:rPr lang="en-US" altLang="ko-KR" sz="2000" kern="0">
                <a:effectLst/>
                <a:latin typeface="STKaiti" panose="02010600040101010101" pitchFamily="2" charset="-122"/>
                <a:ea typeface="KaiTi" panose="02010609060101010101" pitchFamily="49" charset="-122"/>
                <a:cs typeface="SimSun" panose="02010600030101010101" pitchFamily="2" charset="-122"/>
              </a:rPr>
              <a:t>) = 75%</a:t>
            </a:r>
            <a:endParaRPr lang="en-US" altLang="ko-Kore-KR" sz="2000" kern="0">
              <a:effectLst/>
              <a:latin typeface="STKaiti" panose="02010600040101010101" pitchFamily="2" charset="-122"/>
              <a:ea typeface="STKaiti" panose="0201060004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D4C32A-871F-CEBD-967D-D4892BCF9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549" y="3321114"/>
            <a:ext cx="5119130" cy="20037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13BCCBF-81C5-FA55-6C43-7FEBDC17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/>
          <a:p>
            <a:r>
              <a:rPr lang="en-US" dirty="0">
                <a:ea typeface="STKaiti" panose="02010600040101010101" pitchFamily="2" charset="-122"/>
              </a:rPr>
              <a:t>Myth No.2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1A2C6-36F5-2673-8772-1170F5EB1EAE}"/>
              </a:ext>
            </a:extLst>
          </p:cNvPr>
          <p:cNvSpPr txBox="1"/>
          <p:nvPr/>
        </p:nvSpPr>
        <p:spPr>
          <a:xfrm>
            <a:off x="1416863" y="5820769"/>
            <a:ext cx="810062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>
                <a:latin typeface="KaiTi" panose="02010609060101010101" pitchFamily="49" charset="-122"/>
                <a:ea typeface="KaiTi" panose="02010609060101010101" pitchFamily="49" charset="-122"/>
              </a:rPr>
              <a:t>⚠️</a:t>
            </a:r>
            <a:r>
              <a:rPr kumimoji="1" lang="zh-CN" altLang="en-US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kumimoji="1" lang="ko-Kore-KR" altLang="en-US">
                <a:latin typeface="KaiTi" panose="02010609060101010101" pitchFamily="49" charset="-122"/>
              </a:rPr>
              <a:t>做完关联规则挖掘后需要重新查看原始数据</a:t>
            </a:r>
            <a:r>
              <a:rPr kumimoji="1" lang="zh-CN" altLang="en-US">
                <a:latin typeface="KaiTi" panose="02010609060101010101" pitchFamily="49" charset="-122"/>
                <a:ea typeface="KaiTi" panose="02010609060101010101" pitchFamily="49" charset="-122"/>
              </a:rPr>
              <a:t>，确认规则是正确合理的</a:t>
            </a:r>
            <a:endParaRPr kumimoji="1" lang="ko-Kore-KR" altLang="en-US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362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13BCCBF-81C5-FA55-6C43-7FEBDC17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/>
          <a:p>
            <a:r>
              <a:rPr lang="en-US" dirty="0">
                <a:ea typeface="STKaiti" panose="02010600040101010101" pitchFamily="2" charset="-122"/>
              </a:rPr>
              <a:t>Myth No.3</a:t>
            </a:r>
          </a:p>
        </p:txBody>
      </p:sp>
      <p:pic>
        <p:nvPicPr>
          <p:cNvPr id="3074" name="Picture 2" descr="Les Trois Brigands&quot;Vocabulary Flashcards | Quizlet">
            <a:extLst>
              <a:ext uri="{FF2B5EF4-FFF2-40B4-BE49-F238E27FC236}">
                <a16:creationId xmlns:a16="http://schemas.microsoft.com/office/drawing/2014/main" id="{CB871E1B-FA9F-E74E-6176-2ECA93506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4" t="21607" r="18002" b="12332"/>
          <a:stretch/>
        </p:blipFill>
        <p:spPr bwMode="auto">
          <a:xfrm>
            <a:off x="1893196" y="2308772"/>
            <a:ext cx="3110417" cy="241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맛있는 아이스크림 콘, 맛있는, 아이스크림, 주스를 뿌린다 PNG 일러스트 및 PSD 이미지 무료 다운로드 - Pngtree">
            <a:extLst>
              <a:ext uri="{FF2B5EF4-FFF2-40B4-BE49-F238E27FC236}">
                <a16:creationId xmlns:a16="http://schemas.microsoft.com/office/drawing/2014/main" id="{04D4EE42-E0B8-D90F-DA9F-2C69485AC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389" y="2198255"/>
            <a:ext cx="2461489" cy="246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BBF70D-926A-E894-6A35-D574DB7CE8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0597" y="1361709"/>
                <a:ext cx="7250806" cy="738909"/>
              </a:xfrm>
              <a:prstGeom prst="rect">
                <a:avLst/>
              </a:prstGeom>
            </p:spPr>
            <p:txBody>
              <a:bodyPr vert="horz" lIns="91436" tIns="45718" rIns="91436" bIns="45718" rtlCol="0" anchor="b">
                <a:normAutofit/>
              </a:bodyPr>
              <a:lstStyle>
                <a:lvl1pPr marL="0" algn="ctr" defTabSz="914354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400" b="1" kern="1200" spc="-51" baseline="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TKaiti" panose="02010600040101010101" pitchFamily="2" charset="-122"/>
                    <a:ea typeface="+mj-ea"/>
                    <a:cs typeface="+mj-cs"/>
                  </a:defRPr>
                </a:lvl1pPr>
              </a:lstStyle>
              <a:p>
                <a:r>
                  <a:rPr lang="en-US" dirty="0">
                    <a:solidFill>
                      <a:srgbClr val="FF0000"/>
                    </a:solidFill>
                    <a:ea typeface="STKaiti" panose="02010600040101010101" pitchFamily="2" charset="-122"/>
                  </a:rPr>
                  <a:t>Association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ea typeface="STKaiti" panose="02010600040101010101" pitchFamily="2" charset="-122"/>
                  </a:rPr>
                  <a:t> Causality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BBF70D-926A-E894-6A35-D574DB7C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597" y="1361709"/>
                <a:ext cx="7250806" cy="738909"/>
              </a:xfrm>
              <a:prstGeom prst="rect">
                <a:avLst/>
              </a:prstGeom>
              <a:blipFill>
                <a:blip r:embed="rId5"/>
                <a:stretch>
                  <a:fillRect t="-23729" b="-44068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A7C9C87-8024-DFDC-71A0-7C0E3FE3B3EB}"/>
              </a:ext>
            </a:extLst>
          </p:cNvPr>
          <p:cNvSpPr txBox="1"/>
          <p:nvPr/>
        </p:nvSpPr>
        <p:spPr>
          <a:xfrm>
            <a:off x="2620227" y="5097868"/>
            <a:ext cx="7029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2800">
                <a:latin typeface="STKaiti" panose="02010600040101010101" pitchFamily="2" charset="-122"/>
              </a:rPr>
              <a:t>P(Y|X) is just the conditional probability</a:t>
            </a:r>
            <a:endParaRPr lang="ko-Kore-KR" altLang="en-US" sz="2800">
              <a:latin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40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挖掘关联规则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83C34-7B87-CD99-67ED-CE0851C1B7A0}"/>
              </a:ext>
            </a:extLst>
          </p:cNvPr>
          <p:cNvSpPr txBox="1"/>
          <p:nvPr/>
        </p:nvSpPr>
        <p:spPr>
          <a:xfrm>
            <a:off x="955387" y="1219200"/>
            <a:ext cx="101980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defRPr/>
            </a:pPr>
            <a:r>
              <a:rPr lang="ko-KR" altLang="en-US" sz="2200" dirty="0">
                <a:ea typeface="STKaiti" panose="02010600040101010101" pitchFamily="2" charset="-122"/>
              </a:rPr>
              <a:t>大多数关联规则挖掘算法通常采用的一种策略是，将关联规则挖掘任务分解为如下两个主要的子任务： </a:t>
            </a:r>
            <a:endParaRPr lang="en-US" altLang="ko-KR" sz="2200" dirty="0">
              <a:ea typeface="STKaiti" panose="02010600040101010101" pitchFamily="2" charset="-122"/>
            </a:endParaRPr>
          </a:p>
          <a:p>
            <a:pPr algn="just">
              <a:spcBef>
                <a:spcPts val="200"/>
              </a:spcBef>
              <a:defRPr/>
            </a:pPr>
            <a:endParaRPr lang="ko-KR" altLang="en-US" sz="2200" dirty="0">
              <a:ea typeface="STKaiti" panose="02010600040101010101" pitchFamily="2" charset="-122"/>
            </a:endParaRPr>
          </a:p>
          <a:p>
            <a:pPr marL="800089" lvl="1" indent="-342900" algn="just">
              <a:spcBef>
                <a:spcPts val="200"/>
              </a:spcBef>
              <a:buFont typeface="Wingdings" pitchFamily="2" charset="2"/>
              <a:buChar char="q"/>
              <a:defRPr/>
            </a:pPr>
            <a:r>
              <a:rPr lang="ko-KR" altLang="en-US" sz="2200" dirty="0">
                <a:ea typeface="STKaiti" panose="02010600040101010101" pitchFamily="2" charset="-122"/>
              </a:rPr>
              <a:t>频繁项集产生（</a:t>
            </a:r>
            <a:r>
              <a:rPr lang="en-US" altLang="en-US" sz="2200" dirty="0">
                <a:ea typeface="STKaiti" panose="02010600040101010101" pitchFamily="2" charset="-122"/>
              </a:rPr>
              <a:t>Frequent Itemset Generation）</a:t>
            </a:r>
          </a:p>
          <a:p>
            <a:pPr lvl="2" algn="just">
              <a:spcBef>
                <a:spcPts val="200"/>
              </a:spcBef>
              <a:defRPr/>
            </a:pPr>
            <a:r>
              <a:rPr lang="ko-KR" altLang="en-US" sz="2200" dirty="0">
                <a:ea typeface="STKaiti" panose="02010600040101010101" pitchFamily="2" charset="-122"/>
              </a:rPr>
              <a:t>其目标是发现满足最小支持度阈值的所有项集，这些项集称作频繁项集。</a:t>
            </a:r>
            <a:endParaRPr lang="en-US" altLang="ko-KR" sz="2200" dirty="0">
              <a:ea typeface="STKaiti" panose="02010600040101010101" pitchFamily="2" charset="-122"/>
            </a:endParaRPr>
          </a:p>
          <a:p>
            <a:pPr lvl="2" algn="just">
              <a:spcBef>
                <a:spcPts val="200"/>
              </a:spcBef>
              <a:defRPr/>
            </a:pPr>
            <a:endParaRPr lang="ko-KR" altLang="en-US" sz="2200" dirty="0">
              <a:ea typeface="STKaiti" panose="02010600040101010101" pitchFamily="2" charset="-122"/>
            </a:endParaRPr>
          </a:p>
          <a:p>
            <a:pPr marL="800089" lvl="1" indent="-342900" algn="just">
              <a:spcBef>
                <a:spcPts val="200"/>
              </a:spcBef>
              <a:buFont typeface="Wingdings" pitchFamily="2" charset="2"/>
              <a:buChar char="q"/>
              <a:defRPr/>
            </a:pPr>
            <a:r>
              <a:rPr lang="ko-KR" altLang="en-US" sz="2200" dirty="0">
                <a:ea typeface="STKaiti" panose="02010600040101010101" pitchFamily="2" charset="-122"/>
              </a:rPr>
              <a:t>规则的产生（</a:t>
            </a:r>
            <a:r>
              <a:rPr lang="en-US" altLang="en-US" sz="2200" dirty="0">
                <a:ea typeface="STKaiti" panose="02010600040101010101" pitchFamily="2" charset="-122"/>
              </a:rPr>
              <a:t>Rule Generation）</a:t>
            </a:r>
          </a:p>
          <a:p>
            <a:pPr lvl="2" algn="just">
              <a:spcBef>
                <a:spcPts val="200"/>
              </a:spcBef>
              <a:defRPr/>
            </a:pPr>
            <a:r>
              <a:rPr lang="ko-KR" altLang="en-US" sz="2200" dirty="0">
                <a:ea typeface="STKaiti" panose="02010600040101010101" pitchFamily="2" charset="-122"/>
              </a:rPr>
              <a:t>其目标是从上一步发现的频繁项集中提取所有高置信度的规则，这些规则称作强规则（</a:t>
            </a:r>
            <a:r>
              <a:rPr lang="en-US" altLang="en-US" sz="2200" dirty="0">
                <a:ea typeface="STKaiti" panose="02010600040101010101" pitchFamily="2" charset="-122"/>
              </a:rPr>
              <a:t>strong rule）。</a:t>
            </a:r>
          </a:p>
        </p:txBody>
      </p:sp>
    </p:spTree>
    <p:extLst>
      <p:ext uri="{BB962C8B-B14F-4D97-AF65-F5344CB8AC3E}">
        <p14:creationId xmlns:p14="http://schemas.microsoft.com/office/powerpoint/2010/main" val="2873049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模式挖掘：基本概念与方法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基本概念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频繁项集挖掘方法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哪些模式是有趣的？——模式评估方法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总结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4713169" y="3020044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频繁模式挖掘原始方法</a:t>
            </a:r>
            <a:endParaRPr lang="en-US" dirty="0"/>
          </a:p>
        </p:txBody>
      </p:sp>
      <p:graphicFrame>
        <p:nvGraphicFramePr>
          <p:cNvPr id="6" name="Google Shape;178;p11">
            <a:extLst>
              <a:ext uri="{FF2B5EF4-FFF2-40B4-BE49-F238E27FC236}">
                <a16:creationId xmlns:a16="http://schemas.microsoft.com/office/drawing/2014/main" id="{74C95DBA-46CF-D8D2-0FCC-B189567A1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406225"/>
              </p:ext>
            </p:extLst>
          </p:nvPr>
        </p:nvGraphicFramePr>
        <p:xfrm>
          <a:off x="6917063" y="2357278"/>
          <a:ext cx="4803885" cy="397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02225" imgH="3844925" progId="Visio.Drawing.11">
                  <p:embed/>
                </p:oleObj>
              </mc:Choice>
              <mc:Fallback>
                <p:oleObj r:id="rId2" imgW="5102225" imgH="3844925" progId="Visio.Drawing.11">
                  <p:embed/>
                  <p:pic>
                    <p:nvPicPr>
                      <p:cNvPr id="6" name="Google Shape;178;p11">
                        <a:extLst>
                          <a:ext uri="{FF2B5EF4-FFF2-40B4-BE49-F238E27FC236}">
                            <a16:creationId xmlns:a16="http://schemas.microsoft.com/office/drawing/2014/main" id="{74C95DBA-46CF-D8D2-0FCC-B189567A1D75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/>
                      <a:stretch/>
                    </p:blipFill>
                    <p:spPr>
                      <a:xfrm>
                        <a:off x="6917063" y="2357278"/>
                        <a:ext cx="4803885" cy="3973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DE9B13-C3B1-2FE8-1419-1BCD0B56D310}"/>
              </a:ext>
            </a:extLst>
          </p:cNvPr>
          <p:cNvSpPr txBox="1"/>
          <p:nvPr/>
        </p:nvSpPr>
        <p:spPr>
          <a:xfrm>
            <a:off x="720724" y="1428099"/>
            <a:ext cx="9439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200"/>
              </a:spcBef>
              <a:buFont typeface="Wingdings" pitchFamily="2" charset="2"/>
              <a:buChar char="q"/>
              <a:defRPr/>
            </a:pPr>
            <a:r>
              <a:rPr lang="ko-KR" altLang="en-US" sz="2400" dirty="0">
                <a:ea typeface="STKaiti" panose="02010600040101010101" pitchFamily="2" charset="-122"/>
              </a:rPr>
              <a:t>挖掘关联规则的一种原始方法是：</a:t>
            </a:r>
            <a:r>
              <a:rPr lang="en" altLang="ko-KR" sz="2400" dirty="0">
                <a:ea typeface="STKaiti" panose="02010600040101010101" pitchFamily="2" charset="-122"/>
              </a:rPr>
              <a:t>Brute-force approach</a:t>
            </a:r>
            <a:r>
              <a:rPr lang="ko-KR" altLang="en" sz="2400" dirty="0">
                <a:ea typeface="STKaiti" panose="02010600040101010101" pitchFamily="2" charset="-122"/>
              </a:rPr>
              <a:t>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4208E-5874-6296-3B65-2246BA0AFB01}"/>
              </a:ext>
            </a:extLst>
          </p:cNvPr>
          <p:cNvSpPr txBox="1"/>
          <p:nvPr/>
        </p:nvSpPr>
        <p:spPr>
          <a:xfrm>
            <a:off x="720724" y="1958381"/>
            <a:ext cx="6856848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389" lvl="1" indent="-457200" algn="just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ea typeface="STKaiti" panose="02010600040101010101" pitchFamily="2" charset="-122"/>
              </a:rPr>
              <a:t>计算每个可能规则的支持度和置信度</a:t>
            </a:r>
          </a:p>
          <a:p>
            <a:pPr marL="914389" lvl="1" indent="-457200" algn="just"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ea typeface="STKaiti" panose="02010600040101010101" pitchFamily="2" charset="-122"/>
              </a:rPr>
              <a:t>这种方法计算代价过高，因为可以从数据集提取的规则的数量达指数级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760C073-C2BE-7C5D-E393-82E2F6325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4" y="3429000"/>
            <a:ext cx="5503505" cy="258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825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高效模式挖掘方法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2" y="1422400"/>
            <a:ext cx="9590808" cy="4895273"/>
          </a:xfrm>
        </p:spPr>
        <p:txBody>
          <a:bodyPr/>
          <a:lstStyle/>
          <a:p>
            <a:r>
              <a:rPr lang="en-US" altLang="en-US" dirty="0">
                <a:ea typeface="STKaiti" panose="02010600040101010101" pitchFamily="2" charset="-122"/>
              </a:rPr>
              <a:t>频繁模式的</a:t>
            </a:r>
            <a:r>
              <a:rPr lang="ko-KR" altLang="en-US" dirty="0">
                <a:ea typeface="STKaiti" panose="02010600040101010101" pitchFamily="2" charset="-122"/>
              </a:rPr>
              <a:t>向下必包性质</a:t>
            </a:r>
            <a:endParaRPr lang="en-US" altLang="ko-KR" dirty="0">
              <a:ea typeface="STKaiti" panose="02010600040101010101" pitchFamily="2" charset="-122"/>
            </a:endParaRPr>
          </a:p>
          <a:p>
            <a:pPr lvl="1"/>
            <a:r>
              <a:rPr lang="en-US" altLang="en-US" dirty="0" err="1">
                <a:ea typeface="STKaiti" panose="02010600040101010101" pitchFamily="2" charset="-122"/>
              </a:rPr>
              <a:t>Apriori</a:t>
            </a:r>
            <a:r>
              <a:rPr lang="en-US" altLang="en-US" dirty="0">
                <a:ea typeface="STKaiti" panose="02010600040101010101" pitchFamily="2" charset="-122"/>
              </a:rPr>
              <a:t>算法</a:t>
            </a:r>
            <a:r>
              <a:rPr lang="zh-CN" altLang="en-US" dirty="0">
                <a:ea typeface="STKaiti" panose="02010600040101010101" pitchFamily="2" charset="-122"/>
              </a:rPr>
              <a:t>：减少候选项集的数量</a:t>
            </a:r>
            <a:endParaRPr lang="en-US" altLang="en-US" dirty="0">
              <a:ea typeface="STKaiti" panose="02010600040101010101" pitchFamily="2" charset="-122"/>
            </a:endParaRPr>
          </a:p>
          <a:p>
            <a:pPr lvl="1" defTabSz="1219110"/>
            <a:r>
              <a:rPr lang="en-US" altLang="en-US" dirty="0" err="1">
                <a:solidFill>
                  <a:prstClr val="black"/>
                </a:solidFill>
                <a:ea typeface="STKaiti" panose="02010600040101010101" pitchFamily="2" charset="-122"/>
              </a:rPr>
              <a:t>Apriori</a:t>
            </a:r>
            <a:r>
              <a:rPr lang="en-US" altLang="en-US" dirty="0">
                <a:solidFill>
                  <a:prstClr val="black"/>
                </a:solidFill>
                <a:ea typeface="STKaiti" panose="02010600040101010101" pitchFamily="2" charset="-122"/>
              </a:rPr>
              <a:t>算法的扩展或改进</a:t>
            </a:r>
            <a:endParaRPr lang="en-US" dirty="0">
              <a:solidFill>
                <a:prstClr val="black"/>
              </a:solidFill>
              <a:ea typeface="STKaiti" panose="02010600040101010101" pitchFamily="2" charset="-122"/>
            </a:endParaRP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prstClr val="black"/>
                </a:solidFill>
                <a:ea typeface="STKaiti" panose="02010600040101010101" pitchFamily="2" charset="-122"/>
              </a:rPr>
              <a:t>通过探索垂直数据格式挖掘频繁模式: 减少交易数量</a:t>
            </a:r>
            <a:endParaRPr lang="en-US" altLang="en-US" dirty="0">
              <a:ea typeface="STKaiti" panose="02010600040101010101" pitchFamily="2" charset="-122"/>
            </a:endParaRPr>
          </a:p>
          <a:p>
            <a:pPr>
              <a:lnSpc>
                <a:spcPct val="180000"/>
              </a:lnSpc>
            </a:pPr>
            <a:r>
              <a:rPr lang="en-US" altLang="en-US" dirty="0" err="1">
                <a:ea typeface="STKaiti" panose="02010600040101010101" pitchFamily="2" charset="-122"/>
              </a:rPr>
              <a:t>FPGrowth</a:t>
            </a:r>
            <a:r>
              <a:rPr lang="en-US" altLang="en-US" dirty="0">
                <a:ea typeface="STKaiti" panose="02010600040101010101" pitchFamily="2" charset="-122"/>
              </a:rPr>
              <a:t>：一种基于频繁模式增长的方法</a:t>
            </a:r>
          </a:p>
          <a:p>
            <a:pPr>
              <a:lnSpc>
                <a:spcPct val="180000"/>
              </a:lnSpc>
            </a:pPr>
            <a:r>
              <a:rPr lang="en-US" altLang="en-US" dirty="0">
                <a:ea typeface="STKaiti" panose="02010600040101010101" pitchFamily="2" charset="-122"/>
              </a:rPr>
              <a:t>挖掘闭合模式 </a:t>
            </a:r>
          </a:p>
        </p:txBody>
      </p:sp>
    </p:spTree>
    <p:extLst>
      <p:ext uri="{BB962C8B-B14F-4D97-AF65-F5344CB8AC3E}">
        <p14:creationId xmlns:p14="http://schemas.microsoft.com/office/powerpoint/2010/main" val="367299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Apriori方法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998" y="1219200"/>
            <a:ext cx="11391901" cy="5334000"/>
          </a:xfrm>
        </p:spPr>
        <p:txBody>
          <a:bodyPr/>
          <a:lstStyle/>
          <a:p>
            <a:pPr marL="346084" indent="-342900"/>
            <a:r>
              <a:rPr lang="en-US" altLang="en-US" sz="2200" u="sng" dirty="0">
                <a:solidFill>
                  <a:srgbClr val="FF0000"/>
                </a:solidFill>
                <a:ea typeface="STKaiti" panose="02010600040101010101" pitchFamily="2" charset="-122"/>
              </a:rPr>
              <a:t>性质</a:t>
            </a:r>
            <a:r>
              <a:rPr lang="en-US" altLang="zh-CN" sz="2200" u="sng" dirty="0">
                <a:solidFill>
                  <a:srgbClr val="FF0000"/>
                </a:solidFill>
                <a:ea typeface="STKaiti" panose="02010600040101010101" pitchFamily="2" charset="-122"/>
              </a:rPr>
              <a:t>1:</a:t>
            </a:r>
            <a:r>
              <a:rPr lang="zh-CN" altLang="en-US" sz="2200" u="sng" dirty="0">
                <a:solidFill>
                  <a:srgbClr val="FF0000"/>
                </a:solidFill>
                <a:ea typeface="STKaiti" panose="02010600040101010101" pitchFamily="2" charset="-122"/>
              </a:rPr>
              <a:t> </a:t>
            </a:r>
            <a:r>
              <a:rPr lang="en-US" altLang="en-US" sz="2200" u="sng" dirty="0">
                <a:solidFill>
                  <a:srgbClr val="FF0000"/>
                </a:solidFill>
                <a:ea typeface="STKaiti" panose="02010600040101010101" pitchFamily="2" charset="-122"/>
              </a:rPr>
              <a:t>频繁</a:t>
            </a:r>
            <a:r>
              <a:rPr lang="en-US" altLang="en-US" sz="2200" u="sng" dirty="0" err="1">
                <a:solidFill>
                  <a:srgbClr val="FF0000"/>
                </a:solidFill>
                <a:ea typeface="STKaiti" panose="02010600040101010101" pitchFamily="2" charset="-122"/>
              </a:rPr>
              <a:t>项集</a:t>
            </a:r>
            <a:r>
              <a:rPr lang="en-US" altLang="en-US" sz="2200" u="sng" dirty="0">
                <a:solidFill>
                  <a:srgbClr val="FF0000"/>
                </a:solidFill>
                <a:ea typeface="STKaiti" panose="02010600040101010101" pitchFamily="2" charset="-122"/>
              </a:rPr>
              <a:t>的任何子集也必须是频繁的</a:t>
            </a:r>
            <a:endParaRPr lang="en-US" altLang="en-US" sz="22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 marL="742950" lvl="2" indent="-342900" eaLnBrk="1" hangingPunct="1"/>
            <a:r>
              <a:rPr lang="en-US" altLang="en-US" sz="2200" dirty="0">
                <a:ea typeface="STKaiti" panose="02010600040101010101" pitchFamily="2" charset="-122"/>
              </a:rPr>
              <a:t>如果 </a:t>
            </a:r>
            <a:r>
              <a:rPr lang="en-US" altLang="en-US" sz="2200" b="1" dirty="0">
                <a:ea typeface="STKaiti" panose="02010600040101010101" pitchFamily="2" charset="-122"/>
              </a:rPr>
              <a:t>{啤酒, 尿布, 坚果} </a:t>
            </a:r>
            <a:r>
              <a:rPr lang="en-US" altLang="en-US" sz="2200" dirty="0">
                <a:ea typeface="STKaiti" panose="02010600040101010101" pitchFamily="2" charset="-122"/>
              </a:rPr>
              <a:t>是频繁的，那么 </a:t>
            </a:r>
            <a:r>
              <a:rPr lang="en-US" altLang="en-US" sz="2200" b="1" dirty="0">
                <a:ea typeface="STKaiti" panose="02010600040101010101" pitchFamily="2" charset="-122"/>
              </a:rPr>
              <a:t>{啤酒, 尿布}</a:t>
            </a:r>
            <a:r>
              <a:rPr lang="en-US" altLang="en-US" sz="2200" dirty="0">
                <a:ea typeface="STKaiti" panose="02010600040101010101" pitchFamily="2" charset="-122"/>
              </a:rPr>
              <a:t> 也是频繁的</a:t>
            </a:r>
          </a:p>
          <a:p>
            <a:pPr marL="742950" lvl="2" indent="-342900" eaLnBrk="1" hangingPunct="1"/>
            <a:endParaRPr lang="en-US" altLang="en-US" sz="2200" dirty="0">
              <a:ea typeface="STKaiti" panose="02010600040101010101" pitchFamily="2" charset="-122"/>
            </a:endParaRPr>
          </a:p>
          <a:p>
            <a:r>
              <a:rPr lang="ko-Kore-KR" altLang="en-US" sz="2200" u="sng">
                <a:solidFill>
                  <a:srgbClr val="FF0000"/>
                </a:solidFill>
              </a:rPr>
              <a:t>性质</a:t>
            </a:r>
            <a:r>
              <a:rPr lang="en-US" altLang="zh-CN" sz="2200" u="sng">
                <a:solidFill>
                  <a:srgbClr val="FF0000"/>
                </a:solidFill>
                <a:ea typeface="STKaiti" panose="02010600040101010101" pitchFamily="2" charset="-122"/>
              </a:rPr>
              <a:t>2:</a:t>
            </a:r>
            <a:r>
              <a:rPr lang="zh-CN" altLang="en-US" sz="2200" u="sng">
                <a:solidFill>
                  <a:srgbClr val="FF0000"/>
                </a:solidFill>
                <a:ea typeface="STKaiti" panose="02010600040101010101" pitchFamily="2" charset="-122"/>
              </a:rPr>
              <a:t> </a:t>
            </a:r>
            <a:r>
              <a:rPr lang="ko-Kore-KR" altLang="en-US" sz="2200" u="sng">
                <a:solidFill>
                  <a:srgbClr val="FF0000"/>
                </a:solidFill>
              </a:rPr>
              <a:t>任何非频繁项集的超集都不可能频繁</a:t>
            </a:r>
            <a:endParaRPr lang="ko-Kore-KR" altLang="en-US" sz="2200"/>
          </a:p>
          <a:p>
            <a:pPr lvl="2"/>
            <a:r>
              <a:rPr lang="en-US" altLang="en-US" sz="2200" dirty="0">
                <a:ea typeface="STKaiti" panose="02010600040101010101" pitchFamily="2" charset="-122"/>
              </a:rPr>
              <a:t>如果</a:t>
            </a:r>
            <a:r>
              <a:rPr lang="ko-Kore-KR" altLang="en-US" sz="2200" b="1"/>
              <a:t>{电池}</a:t>
            </a:r>
            <a:r>
              <a:rPr lang="ko-Kore-KR" altLang="en-US" sz="2200"/>
              <a:t>是非频繁的</a:t>
            </a:r>
            <a:r>
              <a:rPr lang="zh-CN" altLang="en-US" sz="2200"/>
              <a:t>，</a:t>
            </a:r>
            <a:r>
              <a:rPr lang="en-US" altLang="en-US" sz="2200" dirty="0">
                <a:ea typeface="STKaiti" panose="02010600040101010101" pitchFamily="2" charset="-122"/>
              </a:rPr>
              <a:t> 那么</a:t>
            </a:r>
            <a:r>
              <a:rPr lang="zh-CN" altLang="en-US" sz="2200" dirty="0">
                <a:ea typeface="STKaiti" panose="02010600040101010101" pitchFamily="2" charset="-122"/>
              </a:rPr>
              <a:t> </a:t>
            </a:r>
            <a:r>
              <a:rPr lang="ko-Kore-KR" altLang="en-US" sz="2200" b="1"/>
              <a:t>{牛奶，电池}</a:t>
            </a:r>
            <a:r>
              <a:rPr lang="ko-Kore-KR" altLang="en-US" sz="2200"/>
              <a:t>是非频繁的</a:t>
            </a:r>
          </a:p>
          <a:p>
            <a:pPr marL="346084" indent="-342900"/>
            <a:endParaRPr lang="en-US" altLang="en-US" sz="2200" dirty="0">
              <a:ea typeface="STKaiti" panose="02010600040101010101" pitchFamily="2" charset="-12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EF6659-0394-156B-00BD-D85F1B546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876" y="3298362"/>
            <a:ext cx="8309403" cy="31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3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剪枝过程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43600B-5551-9A73-8632-D80FC30F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833" y="1205587"/>
            <a:ext cx="5893466" cy="55654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CF5F76-C833-2F0D-A322-F5517B5AA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464" y="4396168"/>
            <a:ext cx="2095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2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E816B564-D40B-6BE1-ED76-63C8CC736C60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1254125"/>
            <a:ext cx="6850063" cy="5235575"/>
            <a:chOff x="1392" y="686"/>
            <a:chExt cx="4315" cy="3298"/>
          </a:xfrm>
        </p:grpSpPr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4A0BCAAF-14A3-1F76-A72F-BCE2498045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9866478" imgH="7377618" progId="Visio.Drawing.6">
                    <p:embed/>
                  </p:oleObj>
                </mc:Choice>
                <mc:Fallback>
                  <p:oleObj name="Visio" r:id="rId3" imgW="9866478" imgH="7377618" progId="Visio.Drawing.6">
                    <p:embed/>
                    <p:pic>
                      <p:nvPicPr>
                        <p:cNvPr id="7" name="Object 8">
                          <a:extLst>
                            <a:ext uri="{FF2B5EF4-FFF2-40B4-BE49-F238E27FC236}">
                              <a16:creationId xmlns:a16="http://schemas.microsoft.com/office/drawing/2014/main" id="{4A0BCAAF-14A3-1F76-A72F-BCE2498045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BBF52C05-4901-2FE1-1882-B232F627D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修剪超集</a:t>
              </a:r>
              <a:endParaRPr lang="en-US" altLang="en-US" sz="2000" b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endParaRP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2C1651BB-51E4-F34C-B53B-805774931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剪枝过程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83ED196B-F7B3-B891-53A3-CE7C8C7EF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158" y="2882810"/>
            <a:ext cx="1744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非频繁项集</a:t>
            </a:r>
            <a:endParaRPr lang="en-US" altLang="en-US" sz="2000" b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8433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/>
              <a:t>Apriori Pruning and Scalable Mining Methods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546100" y="1266825"/>
            <a:ext cx="11208578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u="sng" dirty="0" err="1"/>
              <a:t>Apriori</a:t>
            </a:r>
            <a:r>
              <a:rPr lang="en-US" altLang="en-US" u="sng" dirty="0"/>
              <a:t> 剪枝原理</a:t>
            </a:r>
            <a:r>
              <a:rPr lang="en-US" altLang="en-US" dirty="0"/>
              <a:t>：如果存在任何稀有项集，则其超集不应被生成！（Agrawal &amp; </a:t>
            </a:r>
            <a:r>
              <a:rPr lang="en-US" altLang="en-US" dirty="0" err="1"/>
              <a:t>Srikant </a:t>
            </a:r>
            <a:r>
              <a:rPr lang="en-US" altLang="en-US" dirty="0"/>
              <a:t>@VLDB’94, </a:t>
            </a:r>
            <a:r>
              <a:rPr lang="en-US" altLang="en-US" dirty="0" err="1"/>
              <a:t>Mannila </a:t>
            </a:r>
            <a:r>
              <a:rPr lang="en-US" altLang="en-US" dirty="0"/>
              <a:t>等 @ KDD’94）</a:t>
            </a:r>
          </a:p>
          <a:p>
            <a:pPr eaLnBrk="1" hangingPunct="1"/>
            <a:r>
              <a:rPr lang="en-US" altLang="en-US" dirty="0"/>
              <a:t>可扩展挖掘方法：三种主要方法</a:t>
            </a:r>
          </a:p>
          <a:p>
            <a:pPr lvl="1" eaLnBrk="1" hangingPunct="1"/>
            <a:r>
              <a:rPr lang="en-US" altLang="en-US" dirty="0"/>
              <a:t>分层连接基于方法：</a:t>
            </a:r>
            <a:r>
              <a:rPr lang="en-US" altLang="en-US" dirty="0" err="1"/>
              <a:t>Apriori</a:t>
            </a:r>
            <a:r>
              <a:rPr lang="en-US" altLang="en-US" dirty="0"/>
              <a:t>（Agrawal &amp; Srikant @VLDB’94）</a:t>
            </a:r>
          </a:p>
          <a:p>
            <a:pPr lvl="1" eaLnBrk="1" hangingPunct="1"/>
            <a:r>
              <a:rPr lang="en-US" altLang="en-US" dirty="0"/>
              <a:t>垂直数据格式方法：</a:t>
            </a:r>
            <a:r>
              <a:rPr lang="en-US" altLang="en-US" dirty="0" err="1"/>
              <a:t>Eclat</a:t>
            </a:r>
            <a:r>
              <a:rPr lang="en-US" altLang="en-US" dirty="0"/>
              <a:t>（</a:t>
            </a:r>
            <a:r>
              <a:rPr lang="en-US" altLang="en-US" dirty="0" err="1"/>
              <a:t>Zaki</a:t>
            </a:r>
            <a:r>
              <a:rPr lang="en-US" altLang="en-US" dirty="0"/>
              <a:t>, </a:t>
            </a:r>
            <a:r>
              <a:rPr lang="en-US" altLang="en-US" dirty="0" err="1"/>
              <a:t>Parthasarathy</a:t>
            </a:r>
            <a:r>
              <a:rPr lang="en-US" altLang="en-US" dirty="0"/>
              <a:t>, </a:t>
            </a:r>
            <a:r>
              <a:rPr lang="en-US" altLang="en-US" dirty="0" err="1"/>
              <a:t>Ogihara</a:t>
            </a:r>
            <a:r>
              <a:rPr lang="en-US" altLang="en-US" dirty="0"/>
              <a:t>, Li @KDD’97）</a:t>
            </a:r>
          </a:p>
          <a:p>
            <a:pPr lvl="1" eaLnBrk="1" hangingPunct="1"/>
            <a:r>
              <a:rPr lang="en-US" altLang="en-US" dirty="0"/>
              <a:t>频繁模式投影与增长：</a:t>
            </a:r>
            <a:r>
              <a:rPr lang="en-US" altLang="en-US" dirty="0" err="1"/>
              <a:t>FPgrowth</a:t>
            </a:r>
            <a:r>
              <a:rPr lang="en-US" altLang="en-US" dirty="0"/>
              <a:t>（Han, Pei, Yin @SIGMOD’00）</a:t>
            </a:r>
          </a:p>
        </p:txBody>
      </p:sp>
    </p:spTree>
    <p:extLst>
      <p:ext uri="{BB962C8B-B14F-4D97-AF65-F5344CB8AC3E}">
        <p14:creationId xmlns:p14="http://schemas.microsoft.com/office/powerpoint/2010/main" val="33621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39BE6-D438-9489-9EF9-BF6B65D00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ore-KR" altLang="en-US"/>
              <a:t>Apriori算法是根据有关频繁项集性质的先验知识而命名的。</a:t>
            </a:r>
          </a:p>
          <a:p>
            <a:endParaRPr lang="ko-Kore-KR" altLang="en-US"/>
          </a:p>
          <a:p>
            <a:r>
              <a:rPr lang="ko-Kore-KR" altLang="en-US"/>
              <a:t>该算法使用一种逐层搜索的迭代方法,利用k项集探索(k+1)项集。</a:t>
            </a:r>
            <a:endParaRPr lang="en-US" altLang="ko-Kore-KR"/>
          </a:p>
          <a:p>
            <a:endParaRPr lang="ko-Kore-KR" altLang="en-US"/>
          </a:p>
          <a:p>
            <a:r>
              <a:rPr lang="ko-Kore-KR" altLang="en-US"/>
              <a:t>具体做法:</a:t>
            </a:r>
          </a:p>
          <a:p>
            <a:pPr lvl="1"/>
            <a:r>
              <a:rPr lang="ko-Kore-KR" altLang="en-US" sz="2400"/>
              <a:t>对于事务数据库D,首先找出频繁1项集的集合, 记为</a:t>
            </a:r>
            <a:r>
              <a:rPr lang="en-US" altLang="ko-Kore-KR" sz="2400"/>
              <a:t>F</a:t>
            </a:r>
            <a:r>
              <a:rPr lang="ko-Kore-KR" altLang="en-US" sz="2400"/>
              <a:t>1;</a:t>
            </a:r>
          </a:p>
          <a:p>
            <a:pPr lvl="1"/>
            <a:r>
              <a:rPr lang="ko-Kore-KR" altLang="en-US" sz="2400"/>
              <a:t>再用</a:t>
            </a:r>
            <a:r>
              <a:rPr lang="en-US" altLang="ko-Kore-KR" sz="2400"/>
              <a:t>F</a:t>
            </a:r>
            <a:r>
              <a:rPr lang="ko-Kore-KR" altLang="en-US" sz="2400"/>
              <a:t>1找频繁2项集的集合</a:t>
            </a:r>
            <a:r>
              <a:rPr lang="en-US" altLang="ko-Kore-KR" sz="2400"/>
              <a:t>F</a:t>
            </a:r>
            <a:r>
              <a:rPr lang="ko-Kore-KR" altLang="en-US" sz="2400"/>
              <a:t>2;</a:t>
            </a:r>
          </a:p>
          <a:p>
            <a:pPr lvl="1"/>
            <a:r>
              <a:rPr lang="ko-Kore-KR" altLang="en-US" sz="2400"/>
              <a:t>再用</a:t>
            </a:r>
            <a:r>
              <a:rPr lang="en-US" altLang="ko-Kore-KR" sz="2400"/>
              <a:t>F</a:t>
            </a:r>
            <a:r>
              <a:rPr lang="ko-Kore-KR" altLang="en-US" sz="2400"/>
              <a:t>2找</a:t>
            </a:r>
            <a:r>
              <a:rPr lang="en-US" altLang="ko-Kore-KR" sz="2400"/>
              <a:t>F</a:t>
            </a:r>
            <a:r>
              <a:rPr lang="ko-Kore-KR" altLang="en-US" sz="2400"/>
              <a:t>3...</a:t>
            </a:r>
          </a:p>
          <a:p>
            <a:pPr lvl="1"/>
            <a:r>
              <a:rPr lang="ko-Kore-KR" altLang="en-US" sz="2400"/>
              <a:t>如此下去,直到不能找到频繁k项集为止。</a:t>
            </a:r>
          </a:p>
          <a:p>
            <a:pPr lvl="1"/>
            <a:r>
              <a:rPr lang="ko-Kore-KR" altLang="en-US" sz="2400"/>
              <a:t>找每个</a:t>
            </a:r>
            <a:r>
              <a:rPr lang="en-US" altLang="ko-Kore-KR" sz="2400"/>
              <a:t>F</a:t>
            </a:r>
            <a:r>
              <a:rPr lang="ko-Kore-KR" altLang="en-US" sz="2400"/>
              <a:t>k需要一次数据库扫描。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D39A13F-FE40-6553-DFCD-FB673B1B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 err="1"/>
              <a:t>Apriori算法</a:t>
            </a:r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116191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Apriori算法</a:t>
            </a:r>
            <a:endParaRPr lang="en-US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05269-7378-6DF4-C1E5-BA4D3DCDE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ore-KR" altLang="en-US"/>
              <a:t>如何将Apriori性质用于算法?</a:t>
            </a:r>
          </a:p>
          <a:p>
            <a:pPr lvl="1"/>
            <a:endParaRPr lang="ko-Kore-KR" altLang="en-US"/>
          </a:p>
          <a:p>
            <a:pPr lvl="1"/>
            <a:r>
              <a:rPr lang="ko-Kore-KR" altLang="en-US"/>
              <a:t>1. 由</a:t>
            </a:r>
            <a:r>
              <a:rPr lang="en-US" altLang="ko-Kore-KR"/>
              <a:t>F</a:t>
            </a:r>
            <a:r>
              <a:rPr lang="ko-Kore-KR" altLang="en-US"/>
              <a:t>k-1与</a:t>
            </a:r>
            <a:r>
              <a:rPr lang="en-US" altLang="ko-Kore-KR"/>
              <a:t>F</a:t>
            </a:r>
            <a:r>
              <a:rPr lang="ko-Kore-KR" altLang="en-US"/>
              <a:t>k-1连接找频繁k项集</a:t>
            </a:r>
            <a:r>
              <a:rPr lang="en-US" altLang="ko-Kore-KR"/>
              <a:t>F</a:t>
            </a:r>
            <a:r>
              <a:rPr lang="ko-Kore-KR" altLang="en-US"/>
              <a:t>k:</a:t>
            </a:r>
          </a:p>
          <a:p>
            <a:pPr lvl="1"/>
            <a:endParaRPr lang="ko-Kore-KR" altLang="en-US"/>
          </a:p>
          <a:p>
            <a:pPr lvl="1"/>
            <a:r>
              <a:rPr lang="ko-Kore-KR" altLang="en-US"/>
              <a:t>2. 连接步:为找</a:t>
            </a:r>
            <a:r>
              <a:rPr lang="en-US" altLang="ko-Kore-KR"/>
              <a:t>F</a:t>
            </a:r>
            <a:r>
              <a:rPr lang="ko-Kore-KR" altLang="en-US"/>
              <a:t>k,通过</a:t>
            </a:r>
            <a:r>
              <a:rPr lang="en-US" altLang="ko-Kore-KR"/>
              <a:t>F</a:t>
            </a:r>
            <a:r>
              <a:rPr lang="ko-Kore-KR" altLang="en-US"/>
              <a:t>k-1与</a:t>
            </a:r>
            <a:r>
              <a:rPr lang="en-US" altLang="ko-Kore-KR"/>
              <a:t>F</a:t>
            </a:r>
            <a:r>
              <a:rPr lang="ko-Kore-KR" altLang="en-US"/>
              <a:t>k-1连接产生候选k 项集的集合,记作Ck,执行</a:t>
            </a:r>
            <a:r>
              <a:rPr lang="en-US" altLang="ko-Kore-KR"/>
              <a:t>F</a:t>
            </a:r>
            <a:r>
              <a:rPr lang="ko-Kore-KR" altLang="en-US"/>
              <a:t>k-1与</a:t>
            </a:r>
            <a:r>
              <a:rPr lang="en-US" altLang="ko-Kore-KR"/>
              <a:t>F</a:t>
            </a:r>
            <a:r>
              <a:rPr lang="ko-Kore-KR" altLang="en-US"/>
              <a:t>k-1的连接时,</a:t>
            </a:r>
            <a:r>
              <a:rPr lang="ko-Kore-KR" altLang="en-US">
                <a:solidFill>
                  <a:srgbClr val="FF0000"/>
                </a:solidFill>
              </a:rPr>
              <a:t>如果它们(k-2)个项相同,则可连接</a:t>
            </a:r>
            <a:r>
              <a:rPr lang="ko-Kore-KR" altLang="en-US"/>
              <a:t>。</a:t>
            </a:r>
          </a:p>
          <a:p>
            <a:pPr lvl="1"/>
            <a:endParaRPr lang="ko-Kore-KR" altLang="en-US"/>
          </a:p>
          <a:p>
            <a:pPr lvl="1"/>
            <a:r>
              <a:rPr lang="ko-Kore-KR" altLang="en-US"/>
              <a:t>3. 剪枝步:根据Apriori性质,任何非频繁的 (k-1)项集都不可能是频繁k项集的子集。由此考察Ck中每个候选k项集的所有K-1项子集,若存在非频繁的K-1项子集,则进行剪枝去掉该候选项集</a:t>
            </a:r>
          </a:p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779003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算法（伪代码</a:t>
            </a:r>
            <a:r>
              <a:rPr lang="zh-CN" altLang="en-US" sz="4000" dirty="0"/>
              <a:t>）</a:t>
            </a:r>
            <a:endParaRPr lang="en-US" altLang="en-US" sz="40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295400"/>
            <a:ext cx="108712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dirty="0"/>
              <a:t>C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：大小为 k 的</a:t>
            </a:r>
            <a:r>
              <a:rPr lang="en-US" altLang="en-US" sz="2400" dirty="0" err="1"/>
              <a:t>候选项集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 频率为 k 的频繁</a:t>
            </a:r>
            <a:r>
              <a:rPr lang="en-US" altLang="en-US" sz="2400" dirty="0" err="1"/>
              <a:t>项集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K := 1;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:= {frequent items};   // 频繁的1项集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while </a:t>
            </a:r>
            <a:r>
              <a:rPr lang="en-US" altLang="en-US" sz="2400" dirty="0"/>
              <a:t>(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!=</a:t>
            </a:r>
            <a:r>
              <a:rPr lang="en-US" altLang="en-US" sz="2400" dirty="0">
                <a:sym typeface="Symbol" pitchFamily="18" charset="2"/>
              </a:rPr>
              <a:t> </a:t>
            </a:r>
            <a:r>
              <a:rPr lang="en-US" altLang="en-US" sz="2400" dirty="0"/>
              <a:t>) </a:t>
            </a:r>
            <a:r>
              <a:rPr lang="en-US" altLang="en-US" sz="2400" b="1" dirty="0">
                <a:solidFill>
                  <a:srgbClr val="F83F24"/>
                </a:solidFill>
              </a:rPr>
              <a:t>do { </a:t>
            </a:r>
            <a:r>
              <a:rPr lang="en-US" altLang="en-US" sz="2400" dirty="0"/>
              <a:t>    // 当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 不为空时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:= 从F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中生成的候选项集合；  // 候选项生成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 err="1"/>
              <a:t>    根据TDB在minsup条件下对C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中的候选项进行计数，推导出F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 err="1"/>
              <a:t> ；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k := k + 1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    }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return</a:t>
            </a:r>
            <a:r>
              <a:rPr lang="en-US" altLang="en-US" sz="2400" dirty="0">
                <a:sym typeface="Symbol" pitchFamily="18" charset="2"/>
              </a:rPr>
              <a:t> </a:t>
            </a:r>
            <a:r>
              <a:rPr lang="en-US" altLang="en-US" sz="2400" i="1" baseline="-25000" dirty="0"/>
              <a:t>k</a:t>
            </a:r>
            <a:r>
              <a:rPr lang="en-US" altLang="en-US" sz="2400" i="1" dirty="0" err="1"/>
              <a:t> 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                   // 返回在每个级别生成的 </a:t>
            </a:r>
            <a:r>
              <a:rPr lang="en-US" altLang="en-US" sz="2400" i="1" dirty="0" err="1"/>
              <a:t>F 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10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728FD-464B-053A-6BDD-3786402C7877}"/>
              </a:ext>
            </a:extLst>
          </p:cNvPr>
          <p:cNvSpPr txBox="1"/>
          <p:nvPr/>
        </p:nvSpPr>
        <p:spPr>
          <a:xfrm>
            <a:off x="650383" y="1261552"/>
            <a:ext cx="1025802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>
                <a:latin typeface="STKaiti" panose="02010600040101010101" pitchFamily="2" charset="-122"/>
              </a:rPr>
              <a:t>已知事务数据库D,假定最小支持度为50%,求所有的频繁项集和它们的支持度。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r>
              <a:rPr lang="ko-Kore-KR" altLang="en-US">
                <a:latin typeface="STKaiti" panose="02010600040101010101" pitchFamily="2" charset="-122"/>
              </a:rPr>
              <a:t>第一步</a:t>
            </a:r>
            <a:r>
              <a:rPr lang="en-US" altLang="ko-Kore-KR">
                <a:latin typeface="STKaiti" panose="02010600040101010101" pitchFamily="2" charset="-122"/>
              </a:rPr>
              <a:t>:</a:t>
            </a:r>
            <a:r>
              <a:rPr lang="ko-Kore-KR" altLang="en-US">
                <a:latin typeface="STKaiti" panose="02010600040101010101" pitchFamily="2" charset="-122"/>
              </a:rPr>
              <a:t> 由数据库D求得候选数据项集C₁,项A、B、C、 D、E的支持度计数分别为2、3、3、1、3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r>
              <a:rPr lang="ko-Kore-KR" altLang="en-US">
                <a:latin typeface="STKaiti" panose="02010600040101010101" pitchFamily="2" charset="-122"/>
              </a:rPr>
              <a:t>第二步:</a:t>
            </a:r>
            <a:r>
              <a:rPr lang="en-US" altLang="ko-Kore-KR">
                <a:latin typeface="STKaiti" panose="02010600040101010101" pitchFamily="2" charset="-122"/>
              </a:rPr>
              <a:t> </a:t>
            </a:r>
            <a:r>
              <a:rPr lang="ko-Kore-KR" altLang="en-US">
                <a:latin typeface="STKaiti" panose="02010600040101010101" pitchFamily="2" charset="-122"/>
              </a:rPr>
              <a:t>根据最小支持度计数为2,生成一维数据项集</a:t>
            </a:r>
            <a:r>
              <a:rPr lang="en-US" altLang="ko-Kore-KR">
                <a:latin typeface="STKaiti" panose="02010600040101010101" pitchFamily="2" charset="-122"/>
              </a:rPr>
              <a:t>F</a:t>
            </a:r>
            <a:r>
              <a:rPr lang="ko-Kore-KR" altLang="en-US">
                <a:latin typeface="STKaiti" panose="02010600040101010101" pitchFamily="2" charset="-122"/>
              </a:rPr>
              <a:t>₁</a:t>
            </a:r>
          </a:p>
        </p:txBody>
      </p:sp>
      <p:graphicFrame>
        <p:nvGraphicFramePr>
          <p:cNvPr id="7" name="Group 21">
            <a:extLst>
              <a:ext uri="{FF2B5EF4-FFF2-40B4-BE49-F238E27FC236}">
                <a16:creationId xmlns:a16="http://schemas.microsoft.com/office/drawing/2014/main" id="{8360BA6A-7FD0-732F-DD15-2EE6CEE86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44790"/>
              </p:ext>
            </p:extLst>
          </p:nvPr>
        </p:nvGraphicFramePr>
        <p:xfrm>
          <a:off x="1016000" y="3922977"/>
          <a:ext cx="2540000" cy="15627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项目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A、C、D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A、B、C、E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B,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roup 41">
            <a:extLst>
              <a:ext uri="{FF2B5EF4-FFF2-40B4-BE49-F238E27FC236}">
                <a16:creationId xmlns:a16="http://schemas.microsoft.com/office/drawing/2014/main" id="{F4502D08-E7C3-4009-4786-6461E47C2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07569"/>
              </p:ext>
            </p:extLst>
          </p:nvPr>
        </p:nvGraphicFramePr>
        <p:xfrm>
          <a:off x="4927600" y="3773004"/>
          <a:ext cx="2336800" cy="187561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sup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{B}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{C}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{D}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{E}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64">
            <a:extLst>
              <a:ext uri="{FF2B5EF4-FFF2-40B4-BE49-F238E27FC236}">
                <a16:creationId xmlns:a16="http://schemas.microsoft.com/office/drawing/2014/main" id="{A15C62B5-B731-4683-15C8-F328135F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24971"/>
              </p:ext>
            </p:extLst>
          </p:nvPr>
        </p:nvGraphicFramePr>
        <p:xfrm>
          <a:off x="8571606" y="3922977"/>
          <a:ext cx="2336800" cy="1562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sup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{B}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{C}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{E}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ADD490B-2435-2CC6-30CF-4AC46316A683}"/>
              </a:ext>
            </a:extLst>
          </p:cNvPr>
          <p:cNvSpPr txBox="1"/>
          <p:nvPr/>
        </p:nvSpPr>
        <p:spPr>
          <a:xfrm>
            <a:off x="5894232" y="3286538"/>
            <a:ext cx="656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b="1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kumimoji="1" lang="en-US" altLang="zh-CN" sz="2000" b="1" baseline="-2500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endParaRPr kumimoji="1" lang="ko-Kore-KR" altLang="en-US" b="1" baseline="-25000">
              <a:latin typeface="STKaiti" panose="02010600040101010101" pitchFamily="2" charset="-122"/>
            </a:endParaRPr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F1F9E098-1D09-7D42-184E-453C857C0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7617" y="4803977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D8AFB8-0A72-ABEB-5837-5A4761A391A6}"/>
              </a:ext>
            </a:extLst>
          </p:cNvPr>
          <p:cNvSpPr txBox="1"/>
          <p:nvPr/>
        </p:nvSpPr>
        <p:spPr>
          <a:xfrm>
            <a:off x="3737617" y="4392290"/>
            <a:ext cx="1102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>
                <a:latin typeface="STKaiti" panose="02010600040101010101" pitchFamily="2" charset="-122"/>
              </a:rPr>
              <a:t>扫描数据库</a:t>
            </a:r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0B06F95C-A4AE-9972-83C1-7FA5AB684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3120" y="4803977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556235-8FC6-2EAC-FF50-66AEEF5FA46C}"/>
              </a:ext>
            </a:extLst>
          </p:cNvPr>
          <p:cNvSpPr txBox="1"/>
          <p:nvPr/>
        </p:nvSpPr>
        <p:spPr>
          <a:xfrm>
            <a:off x="7353120" y="4392290"/>
            <a:ext cx="1102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>
                <a:latin typeface="STKaiti" panose="02010600040101010101" pitchFamily="2" charset="-122"/>
              </a:rPr>
              <a:t>比较支持度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AE33D196-DDAA-A30D-A30A-7FF4E5BC0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3860" y="3367791"/>
            <a:ext cx="4122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2000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4775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728FD-464B-053A-6BDD-3786402C7877}"/>
              </a:ext>
            </a:extLst>
          </p:cNvPr>
          <p:cNvSpPr txBox="1"/>
          <p:nvPr/>
        </p:nvSpPr>
        <p:spPr>
          <a:xfrm>
            <a:off x="650383" y="1261552"/>
            <a:ext cx="102580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第三步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: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 为生成</a:t>
            </a:r>
            <a:r>
              <a:rPr lang="en" altLang="zh-CN">
                <a:latin typeface="STKaiti" panose="02010600040101010101" pitchFamily="2" charset="-122"/>
                <a:ea typeface="STKaiti" panose="02010600040101010101" pitchFamily="2" charset="-122"/>
              </a:rPr>
              <a:t>F₂,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通过</a:t>
            </a:r>
            <a:r>
              <a:rPr lang="en" altLang="zh-CN">
                <a:latin typeface="STKaiti" panose="02010600040101010101" pitchFamily="2" charset="-122"/>
                <a:ea typeface="STKaiti" panose="02010600040101010101" pitchFamily="2" charset="-122"/>
              </a:rPr>
              <a:t>F₁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与自己连接产生候选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项集的集合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,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记为</a:t>
            </a:r>
            <a:r>
              <a:rPr lang="en" altLang="zh-CN">
                <a:latin typeface="STKaiti" panose="02010600040101010101" pitchFamily="2" charset="-122"/>
                <a:ea typeface="STKaiti" panose="02010600040101010101" pitchFamily="2" charset="-122"/>
              </a:rPr>
              <a:t>C₂,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再由最小支持度得到</a:t>
            </a:r>
            <a:r>
              <a:rPr lang="en" altLang="zh-CN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" altLang="zh-CN" baseline="-2500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endParaRPr lang="en-US" altLang="ko-Kore-KR" baseline="-2500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endParaRPr lang="en-US" altLang="ko-Kore-KR">
              <a:latin typeface="STKaiti" panose="02010600040101010101" pitchFamily="2" charset="-122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3221D8F1-B80F-0775-1F87-91AA2FC00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951" y="193866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graphicFrame>
        <p:nvGraphicFramePr>
          <p:cNvPr id="5" name="Group 84">
            <a:extLst>
              <a:ext uri="{FF2B5EF4-FFF2-40B4-BE49-F238E27FC236}">
                <a16:creationId xmlns:a16="http://schemas.microsoft.com/office/drawing/2014/main" id="{9B32C275-0E90-3E72-9B4F-C94A34CE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688229"/>
              </p:ext>
            </p:extLst>
          </p:nvPr>
        </p:nvGraphicFramePr>
        <p:xfrm>
          <a:off x="1125412" y="2340769"/>
          <a:ext cx="1524000" cy="218833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Group 102">
            <a:extLst>
              <a:ext uri="{FF2B5EF4-FFF2-40B4-BE49-F238E27FC236}">
                <a16:creationId xmlns:a16="http://schemas.microsoft.com/office/drawing/2014/main" id="{1B0A10CC-EDAB-651A-B3E3-CB85C19D5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930945"/>
              </p:ext>
            </p:extLst>
          </p:nvPr>
        </p:nvGraphicFramePr>
        <p:xfrm>
          <a:off x="4289089" y="2504746"/>
          <a:ext cx="2336800" cy="205970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Line 5">
            <a:extLst>
              <a:ext uri="{FF2B5EF4-FFF2-40B4-BE49-F238E27FC236}">
                <a16:creationId xmlns:a16="http://schemas.microsoft.com/office/drawing/2014/main" id="{D8A63586-FF63-8361-E372-A8DE65BD4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0490" y="3532910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7F27D-FF91-4AF8-1918-3B3B90CD62CC}"/>
              </a:ext>
            </a:extLst>
          </p:cNvPr>
          <p:cNvSpPr txBox="1"/>
          <p:nvPr/>
        </p:nvSpPr>
        <p:spPr>
          <a:xfrm>
            <a:off x="2900490" y="3121223"/>
            <a:ext cx="1102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>
                <a:latin typeface="STKaiti" panose="02010600040101010101" pitchFamily="2" charset="-122"/>
              </a:rPr>
              <a:t>扫描数据库</a:t>
            </a:r>
          </a:p>
        </p:txBody>
      </p:sp>
      <p:graphicFrame>
        <p:nvGraphicFramePr>
          <p:cNvPr id="19" name="Group 128">
            <a:extLst>
              <a:ext uri="{FF2B5EF4-FFF2-40B4-BE49-F238E27FC236}">
                <a16:creationId xmlns:a16="http://schemas.microsoft.com/office/drawing/2014/main" id="{E37C3162-B77A-2946-3257-99EBBFF8F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780187"/>
              </p:ext>
            </p:extLst>
          </p:nvPr>
        </p:nvGraphicFramePr>
        <p:xfrm>
          <a:off x="8123110" y="2791288"/>
          <a:ext cx="2336800" cy="147099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Line 5">
            <a:extLst>
              <a:ext uri="{FF2B5EF4-FFF2-40B4-BE49-F238E27FC236}">
                <a16:creationId xmlns:a16="http://schemas.microsoft.com/office/drawing/2014/main" id="{AA8C773C-CC8F-0B9F-6894-54D9708C5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6662" y="3532910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994FE1-77BB-4602-C4A0-B396B35155C6}"/>
              </a:ext>
            </a:extLst>
          </p:cNvPr>
          <p:cNvSpPr txBox="1"/>
          <p:nvPr/>
        </p:nvSpPr>
        <p:spPr>
          <a:xfrm>
            <a:off x="6876662" y="3121223"/>
            <a:ext cx="1102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400">
                <a:latin typeface="STKaiti" panose="02010600040101010101" pitchFamily="2" charset="-122"/>
              </a:rPr>
              <a:t>比较支持度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044B1CA0-7232-76E8-9036-5B281FD76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4105" y="2169492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323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20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728FD-464B-053A-6BDD-3786402C7877}"/>
              </a:ext>
            </a:extLst>
          </p:cNvPr>
          <p:cNvSpPr txBox="1"/>
          <p:nvPr/>
        </p:nvSpPr>
        <p:spPr>
          <a:xfrm>
            <a:off x="437882" y="1261552"/>
            <a:ext cx="1144931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第四步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:</a:t>
            </a:r>
          </a:p>
          <a:p>
            <a:pPr algn="just"/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由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zh-CN" sz="2000" baseline="-2500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与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zh-CN" sz="2000" baseline="-2500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连接生成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C₃,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首先找到两个具有相同首项的数据项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:{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BC}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和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BE},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再考察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BC}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和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BE}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的尾项生成的数据项集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CE}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是否在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₂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中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,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结果成立。这样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BCE}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的所有二项子集都是频繁项集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所以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{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BCE}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是候选三项集。另外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,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从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ko-KR" sz="2000" baseline="-2500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中得不到其他候选三项集。这样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C₃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就确定了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,</a:t>
            </a:r>
            <a:r>
              <a:rPr lang="ko-KR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同理求出</a:t>
            </a:r>
            <a:r>
              <a:rPr lang="en-US" altLang="ko-KR" sz="200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ko-Kore-KR" sz="2000" baseline="-2500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ko-Kore-KR" sz="2000">
                <a:latin typeface="STKaiti" panose="02010600040101010101" pitchFamily="2" charset="-122"/>
                <a:ea typeface="STKaiti" panose="02010600040101010101" pitchFamily="2" charset="-122"/>
              </a:rPr>
              <a:t>.</a:t>
            </a:r>
          </a:p>
          <a:p>
            <a:pPr algn="just"/>
            <a:endParaRPr lang="en-US" altLang="ko-Kore-KR" sz="2000">
              <a:latin typeface="STKaiti" panose="02010600040101010101" pitchFamily="2" charset="-122"/>
            </a:endParaRPr>
          </a:p>
        </p:txBody>
      </p:sp>
      <p:sp>
        <p:nvSpPr>
          <p:cNvPr id="3" name="Line 14">
            <a:extLst>
              <a:ext uri="{FF2B5EF4-FFF2-40B4-BE49-F238E27FC236}">
                <a16:creationId xmlns:a16="http://schemas.microsoft.com/office/drawing/2014/main" id="{87AB00F3-F07F-F443-C44A-FDEB0B431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0912" y="3860800"/>
            <a:ext cx="2256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40D134AD-E966-802E-9BB1-4D55E61F4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0372" y="2855080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2D66F649-3A08-0CCB-DA0F-6639E4754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3191" y="2855080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3803EAF4-DF4F-EEDC-1555-8E1C72EC6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236" y="3441056"/>
            <a:ext cx="1207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baseline="30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rd</a:t>
            </a: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扫描</a:t>
            </a:r>
          </a:p>
        </p:txBody>
      </p:sp>
      <p:graphicFrame>
        <p:nvGraphicFramePr>
          <p:cNvPr id="9" name="Group 148">
            <a:extLst>
              <a:ext uri="{FF2B5EF4-FFF2-40B4-BE49-F238E27FC236}">
                <a16:creationId xmlns:a16="http://schemas.microsoft.com/office/drawing/2014/main" id="{4FA1889C-50B6-C314-C8BA-D74E98C29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702894"/>
              </p:ext>
            </p:extLst>
          </p:nvPr>
        </p:nvGraphicFramePr>
        <p:xfrm>
          <a:off x="2334594" y="3429001"/>
          <a:ext cx="1524000" cy="66044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C, E}</a:t>
                      </a: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156">
            <a:extLst>
              <a:ext uri="{FF2B5EF4-FFF2-40B4-BE49-F238E27FC236}">
                <a16:creationId xmlns:a16="http://schemas.microsoft.com/office/drawing/2014/main" id="{1A3EEBA4-27AD-73E2-59B8-6A3F0F6EF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45777"/>
              </p:ext>
            </p:extLst>
          </p:nvPr>
        </p:nvGraphicFramePr>
        <p:xfrm>
          <a:off x="6906594" y="3429000"/>
          <a:ext cx="2336800" cy="61912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C, E}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4B0A6EE-0A3B-8446-3B06-E032A2C96A9A}"/>
              </a:ext>
            </a:extLst>
          </p:cNvPr>
          <p:cNvSpPr txBox="1"/>
          <p:nvPr/>
        </p:nvSpPr>
        <p:spPr>
          <a:xfrm>
            <a:off x="2334594" y="4717912"/>
            <a:ext cx="6764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2000">
                <a:latin typeface="STKaiti" panose="02010600040101010101" pitchFamily="2" charset="-122"/>
              </a:rPr>
              <a:t>到此为止,得不到更高维的项集了,即所有频繁项集就确定了。</a:t>
            </a:r>
          </a:p>
        </p:txBody>
      </p:sp>
    </p:spTree>
    <p:extLst>
      <p:ext uri="{BB962C8B-B14F-4D97-AF65-F5344CB8AC3E}">
        <p14:creationId xmlns:p14="http://schemas.microsoft.com/office/powerpoint/2010/main" val="56928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563034" y="304800"/>
            <a:ext cx="10945284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Apriori算法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779557" y="1496368"/>
            <a:ext cx="18085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数据库 TDB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402801" y="2398068"/>
            <a:ext cx="11721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r>
              <a:rPr lang="en-US" altLang="en-US" baseline="30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st</a:t>
            </a: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扫描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3422652" y="2846388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4118346" y="184561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7555105" y="1688455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  <p:sp>
        <p:nvSpPr>
          <p:cNvPr id="19465" name="Text Box 8"/>
          <p:cNvSpPr txBox="1">
            <a:spLocks noChangeArrowheads="1"/>
          </p:cNvSpPr>
          <p:nvPr/>
        </p:nvSpPr>
        <p:spPr bwMode="auto">
          <a:xfrm>
            <a:off x="828338" y="3853806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4078130" y="34569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461746" y="35077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H="1">
            <a:off x="7196668" y="4775200"/>
            <a:ext cx="1494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7324674" y="4239568"/>
            <a:ext cx="1236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baseline="30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nd</a:t>
            </a: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扫描</a:t>
            </a:r>
          </a:p>
        </p:txBody>
      </p:sp>
      <p:sp>
        <p:nvSpPr>
          <p:cNvPr id="19470" name="AutoShape 13"/>
          <p:cNvSpPr>
            <a:spLocks noChangeArrowheads="1"/>
          </p:cNvSpPr>
          <p:nvPr/>
        </p:nvSpPr>
        <p:spPr bwMode="auto">
          <a:xfrm>
            <a:off x="10841568" y="3394224"/>
            <a:ext cx="836084" cy="461665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3740152" y="6426200"/>
            <a:ext cx="2256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370913" y="592708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5912572" y="5915969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4116476" y="6006456"/>
            <a:ext cx="1207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baseline="30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rd</a:t>
            </a:r>
            <a:r>
              <a:rPr lang="en-US" altLang="en-US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扫描</a:t>
            </a:r>
          </a:p>
        </p:txBody>
      </p:sp>
      <p:sp>
        <p:nvSpPr>
          <p:cNvPr id="19475" name="AutoShape 18"/>
          <p:cNvSpPr>
            <a:spLocks noChangeArrowheads="1"/>
          </p:cNvSpPr>
          <p:nvPr/>
        </p:nvSpPr>
        <p:spPr bwMode="auto">
          <a:xfrm>
            <a:off x="828337" y="5071343"/>
            <a:ext cx="381241" cy="461665"/>
          </a:xfrm>
          <a:prstGeom prst="curvedRightArrow">
            <a:avLst>
              <a:gd name="adj1" fmla="val 56619"/>
              <a:gd name="adj2" fmla="val 50000"/>
              <a:gd name="adj3" fmla="val 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7471834" y="2565400"/>
            <a:ext cx="7027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477" name="Line 20"/>
          <p:cNvSpPr>
            <a:spLocks noChangeShapeType="1"/>
          </p:cNvSpPr>
          <p:nvPr/>
        </p:nvSpPr>
        <p:spPr bwMode="auto">
          <a:xfrm flipH="1">
            <a:off x="3915834" y="4775200"/>
            <a:ext cx="508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aphicFrame>
        <p:nvGraphicFramePr>
          <p:cNvPr id="1532949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43508"/>
              </p:ext>
            </p:extLst>
          </p:nvPr>
        </p:nvGraphicFramePr>
        <p:xfrm>
          <a:off x="563034" y="1955800"/>
          <a:ext cx="2540000" cy="15627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项目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A、C、D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A、B、C、E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B,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129169"/>
              </p:ext>
            </p:extLst>
          </p:nvPr>
        </p:nvGraphicFramePr>
        <p:xfrm>
          <a:off x="4931834" y="1462088"/>
          <a:ext cx="2336800" cy="187561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sup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{B}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{C}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{D}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{E}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319253"/>
              </p:ext>
            </p:extLst>
          </p:nvPr>
        </p:nvGraphicFramePr>
        <p:xfrm>
          <a:off x="8284634" y="1651000"/>
          <a:ext cx="2336800" cy="1562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sup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{A}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{B}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{C}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{E}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27117"/>
              </p:ext>
            </p:extLst>
          </p:nvPr>
        </p:nvGraphicFramePr>
        <p:xfrm>
          <a:off x="9097434" y="3708401"/>
          <a:ext cx="1524000" cy="218833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7263"/>
              </p:ext>
            </p:extLst>
          </p:nvPr>
        </p:nvGraphicFramePr>
        <p:xfrm>
          <a:off x="4627034" y="3684588"/>
          <a:ext cx="2336800" cy="205970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064435"/>
              </p:ext>
            </p:extLst>
          </p:nvPr>
        </p:nvGraphicFramePr>
        <p:xfrm>
          <a:off x="1375834" y="3989388"/>
          <a:ext cx="2336800" cy="147099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{C,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625172"/>
              </p:ext>
            </p:extLst>
          </p:nvPr>
        </p:nvGraphicFramePr>
        <p:xfrm>
          <a:off x="1883834" y="5994401"/>
          <a:ext cx="1524000" cy="66044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C, E}</a:t>
                      </a: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787237"/>
              </p:ext>
            </p:extLst>
          </p:nvPr>
        </p:nvGraphicFramePr>
        <p:xfrm>
          <a:off x="6455834" y="5994400"/>
          <a:ext cx="2336800" cy="61912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sup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{B, C, E}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24" name="Text Box 167"/>
          <p:cNvSpPr txBox="1">
            <a:spLocks noChangeArrowheads="1"/>
          </p:cNvSpPr>
          <p:nvPr/>
        </p:nvSpPr>
        <p:spPr bwMode="auto">
          <a:xfrm>
            <a:off x="3240962" y="1485255"/>
            <a:ext cx="153035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minsup = 2</a:t>
            </a:r>
          </a:p>
        </p:txBody>
      </p:sp>
    </p:spTree>
    <p:extLst>
      <p:ext uri="{BB962C8B-B14F-4D97-AF65-F5344CB8AC3E}">
        <p14:creationId xmlns:p14="http://schemas.microsoft.com/office/powerpoint/2010/main" val="53201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  <p:bldP spid="19463" grpId="0"/>
      <p:bldP spid="19464" grpId="0"/>
      <p:bldP spid="19465" grpId="0"/>
      <p:bldP spid="19466" grpId="0"/>
      <p:bldP spid="19467" grpId="0"/>
      <p:bldP spid="19468" grpId="0" animBg="1"/>
      <p:bldP spid="19469" grpId="0"/>
      <p:bldP spid="19470" grpId="0" animBg="1"/>
      <p:bldP spid="19471" grpId="0" animBg="1"/>
      <p:bldP spid="19472" grpId="0"/>
      <p:bldP spid="19473" grpId="0"/>
      <p:bldP spid="19474" grpId="0"/>
      <p:bldP spid="19475" grpId="0" animBg="1"/>
      <p:bldP spid="19476" grpId="0" animBg="1"/>
      <p:bldP spid="1947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082316"/>
              </p:ext>
            </p:extLst>
          </p:nvPr>
        </p:nvGraphicFramePr>
        <p:xfrm>
          <a:off x="6532465" y="4114809"/>
          <a:ext cx="4922935" cy="396875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6" name="Curved Up Arrow 3"/>
          <p:cNvSpPr>
            <a:spLocks noChangeArrowheads="1"/>
          </p:cNvSpPr>
          <p:nvPr/>
        </p:nvSpPr>
        <p:spPr bwMode="auto">
          <a:xfrm>
            <a:off x="7142064" y="44958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497" name="Curved Up Arrow 7"/>
          <p:cNvSpPr>
            <a:spLocks noChangeArrowheads="1"/>
          </p:cNvSpPr>
          <p:nvPr/>
        </p:nvSpPr>
        <p:spPr bwMode="auto">
          <a:xfrm>
            <a:off x="9174064" y="44958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Minus 4"/>
          <p:cNvSpPr/>
          <p:nvPr/>
        </p:nvSpPr>
        <p:spPr bwMode="auto">
          <a:xfrm>
            <a:off x="6634064" y="44196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Minus 9"/>
          <p:cNvSpPr/>
          <p:nvPr/>
        </p:nvSpPr>
        <p:spPr bwMode="auto">
          <a:xfrm>
            <a:off x="7650064" y="44196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1" name="Minus 10"/>
          <p:cNvSpPr/>
          <p:nvPr/>
        </p:nvSpPr>
        <p:spPr bwMode="auto">
          <a:xfrm>
            <a:off x="8666064" y="44196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2" name="Minus 11"/>
          <p:cNvSpPr/>
          <p:nvPr/>
        </p:nvSpPr>
        <p:spPr bwMode="auto">
          <a:xfrm>
            <a:off x="9682064" y="44196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46816"/>
              </p:ext>
            </p:extLst>
          </p:nvPr>
        </p:nvGraphicFramePr>
        <p:xfrm>
          <a:off x="7027765" y="4800609"/>
          <a:ext cx="1231900" cy="396875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abcd</a:t>
                      </a: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541558"/>
              </p:ext>
            </p:extLst>
          </p:nvPr>
        </p:nvGraphicFramePr>
        <p:xfrm>
          <a:off x="9174064" y="4800609"/>
          <a:ext cx="1117600" cy="396875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4" name="Down Arrow 8"/>
          <p:cNvSpPr>
            <a:spLocks noChangeArrowheads="1"/>
          </p:cNvSpPr>
          <p:nvPr/>
        </p:nvSpPr>
        <p:spPr bwMode="auto">
          <a:xfrm>
            <a:off x="7548464" y="46482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515" name="Down Arrow 17"/>
          <p:cNvSpPr>
            <a:spLocks noChangeArrowheads="1"/>
          </p:cNvSpPr>
          <p:nvPr/>
        </p:nvSpPr>
        <p:spPr bwMode="auto">
          <a:xfrm>
            <a:off x="9605864" y="46482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9" name="Minus 18"/>
          <p:cNvSpPr/>
          <p:nvPr/>
        </p:nvSpPr>
        <p:spPr bwMode="auto">
          <a:xfrm>
            <a:off x="7396064" y="5105408"/>
            <a:ext cx="711200" cy="46038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517" name="Curved Up Arrow 19"/>
          <p:cNvSpPr>
            <a:spLocks noChangeArrowheads="1"/>
          </p:cNvSpPr>
          <p:nvPr/>
        </p:nvSpPr>
        <p:spPr bwMode="auto">
          <a:xfrm rot="-922558">
            <a:off x="7690282" y="4856171"/>
            <a:ext cx="3702049" cy="654050"/>
          </a:xfrm>
          <a:prstGeom prst="curvedUpArrow">
            <a:avLst>
              <a:gd name="adj1" fmla="val 25019"/>
              <a:gd name="adj2" fmla="val 50057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8864" y="37338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464" y="37338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自连接</a:t>
            </a:r>
          </a:p>
        </p:txBody>
      </p:sp>
      <p:sp>
        <p:nvSpPr>
          <p:cNvPr id="2" name="Multiply 1"/>
          <p:cNvSpPr/>
          <p:nvPr/>
        </p:nvSpPr>
        <p:spPr bwMode="auto">
          <a:xfrm>
            <a:off x="8759198" y="4695833"/>
            <a:ext cx="548217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07415" y="5667383"/>
            <a:ext cx="1257300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修剪</a:t>
            </a:r>
          </a:p>
        </p:txBody>
      </p:sp>
      <p:sp>
        <p:nvSpPr>
          <p:cNvPr id="4" name="Curved Right Arrow 3"/>
          <p:cNvSpPr/>
          <p:nvPr/>
        </p:nvSpPr>
        <p:spPr bwMode="auto">
          <a:xfrm rot="20251953">
            <a:off x="8928531" y="5016508"/>
            <a:ext cx="412751" cy="901700"/>
          </a:xfrm>
          <a:prstGeom prst="curvedRightArrow">
            <a:avLst>
              <a:gd name="adj1" fmla="val 25000"/>
              <a:gd name="adj2" fmla="val 50000"/>
              <a:gd name="adj3" fmla="val 6995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Apriori：实现技巧</a:t>
            </a:r>
          </a:p>
        </p:txBody>
      </p:sp>
      <p:sp>
        <p:nvSpPr>
          <p:cNvPr id="20525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122228"/>
            <a:ext cx="9967814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dirty="0"/>
              <a:t>如何生成候选项？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步骤 1：自连接 </a:t>
            </a:r>
            <a:r>
              <a:rPr lang="en-US" altLang="en-US" sz="2000" i="1" dirty="0" err="1"/>
              <a:t>F</a:t>
            </a:r>
            <a:r>
              <a:rPr lang="en-US" altLang="en-US" sz="2000" i="1" baseline="-25000" dirty="0" err="1"/>
              <a:t>k</a:t>
            </a:r>
            <a:r>
              <a:rPr lang="zh-CN" altLang="en-US" sz="2000" i="1" baseline="-25000" dirty="0" err="1"/>
              <a:t> </a:t>
            </a:r>
            <a:r>
              <a:rPr lang="zh-CN" altLang="en-US" sz="2000" dirty="0" err="1"/>
              <a:t> ：</a:t>
            </a:r>
            <a:r>
              <a:rPr lang="en-US" altLang="en-US" sz="2000" b="1" dirty="0">
                <a:solidFill>
                  <a:srgbClr val="FF0000"/>
                </a:solidFill>
              </a:rPr>
              <a:t>如果前 k-1</a:t>
            </a:r>
            <a:r>
              <a:rPr lang="en-US" altLang="en-US" sz="2000" b="1" dirty="0">
                <a:solidFill>
                  <a:srgbClr val="FF0000"/>
                </a:solidFill>
                <a:ea typeface="STKaiti" panose="02010600040101010101" pitchFamily="2" charset="-122"/>
              </a:rPr>
              <a:t>个元素相同</a:t>
            </a:r>
            <a:r>
              <a:rPr lang="zh-CN" altLang="en-US" sz="2000" b="1" dirty="0">
                <a:solidFill>
                  <a:srgbClr val="FF0000"/>
                </a:solidFill>
                <a:ea typeface="STKaiti" panose="02010600040101010101" pitchFamily="2" charset="-122"/>
              </a:rPr>
              <a:t>，就可以合并成一个</a:t>
            </a:r>
            <a:r>
              <a:rPr lang="en-US" altLang="zh-CN" sz="2000" b="1" dirty="0">
                <a:solidFill>
                  <a:srgbClr val="FF0000"/>
                </a:solidFill>
                <a:ea typeface="STKaiti" panose="02010600040101010101" pitchFamily="2" charset="-122"/>
              </a:rPr>
              <a:t>(k+1)</a:t>
            </a:r>
            <a:r>
              <a:rPr lang="zh-CN" altLang="en-US" sz="2000" b="1" dirty="0">
                <a:solidFill>
                  <a:srgbClr val="FF0000"/>
                </a:solidFill>
                <a:ea typeface="STKaiti" panose="02010600040101010101" pitchFamily="2" charset="-122"/>
              </a:rPr>
              <a:t>项集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步骤 2：剪枝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2">
              <a:lnSpc>
                <a:spcPct val="110000"/>
              </a:lnSpc>
            </a:pPr>
            <a:r>
              <a:rPr lang="zh-CN" altLang="en-US" sz="1600" dirty="0">
                <a:ea typeface="STKaiti" panose="02010600040101010101" pitchFamily="2" charset="-122"/>
              </a:rPr>
              <a:t>即使通过自连接生成了候选项，也必须检查它的所有子集是否都是频繁的</a:t>
            </a:r>
            <a:endParaRPr lang="en-US" altLang="zh-CN" sz="1600" dirty="0">
              <a:ea typeface="STKaiti" panose="0201060004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1600" dirty="0">
                <a:ea typeface="STKaiti" panose="02010600040101010101" pitchFamily="2" charset="-122"/>
              </a:rPr>
              <a:t>如果其中有一个</a:t>
            </a:r>
            <a:r>
              <a:rPr lang="en-US" altLang="zh-CN" sz="1600" dirty="0">
                <a:ea typeface="STKaiti" panose="02010600040101010101" pitchFamily="2" charset="-122"/>
              </a:rPr>
              <a:t>k-</a:t>
            </a:r>
            <a:r>
              <a:rPr lang="zh-CN" altLang="en-US" sz="1600" dirty="0">
                <a:ea typeface="STKaiti" panose="02010600040101010101" pitchFamily="2" charset="-122"/>
              </a:rPr>
              <a:t>子集不在</a:t>
            </a:r>
            <a:r>
              <a:rPr lang="en-US" altLang="en-US" sz="1600" i="1" dirty="0" err="1"/>
              <a:t>F</a:t>
            </a:r>
            <a:r>
              <a:rPr lang="en-US" altLang="en-US" sz="1600" i="1" baseline="-25000" dirty="0" err="1"/>
              <a:t>k</a:t>
            </a:r>
            <a:r>
              <a:rPr lang="zh-CN" altLang="en-US" sz="1600" dirty="0" err="1">
                <a:ea typeface="STKaiti" panose="02010600040101010101" pitchFamily="2" charset="-122"/>
              </a:rPr>
              <a:t>中，说明他不频繁，这个候选项就被</a:t>
            </a:r>
            <a:r>
              <a:rPr lang="en-US" altLang="en-US" sz="1600" dirty="0"/>
              <a:t>剪枝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候选生成示例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F</a:t>
            </a:r>
            <a:r>
              <a:rPr lang="en-US" altLang="en-US" sz="2000" i="1" baseline="-25000" dirty="0"/>
              <a:t>3 </a:t>
            </a:r>
            <a:r>
              <a:rPr lang="en-US" altLang="en-US" sz="2000" dirty="0"/>
              <a:t> = {</a:t>
            </a:r>
            <a:r>
              <a:rPr lang="en-US" altLang="en-US" sz="2000" i="1" dirty="0" err="1"/>
              <a:t>abc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abd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acd</a:t>
            </a:r>
            <a:r>
              <a:rPr lang="en-US" altLang="en-US" sz="2000" i="1" dirty="0"/>
              <a:t>, ace, </a:t>
            </a:r>
            <a:r>
              <a:rPr lang="en-US" altLang="en-US" sz="2000" i="1" dirty="0" err="1"/>
              <a:t>bcd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自连接：</a:t>
            </a:r>
            <a:r>
              <a:rPr lang="en-US" altLang="en-US" sz="2000" i="1" dirty="0"/>
              <a:t>F</a:t>
            </a:r>
            <a:r>
              <a:rPr lang="en-US" altLang="en-US" sz="2000" i="1" baseline="-25000" dirty="0"/>
              <a:t>3</a:t>
            </a:r>
            <a:r>
              <a:rPr lang="en-US" altLang="en-US" sz="2000" i="1" dirty="0"/>
              <a:t> *</a:t>
            </a:r>
            <a:r>
              <a:rPr lang="zh-CN" altLang="en-US" sz="2000" i="1" dirty="0"/>
              <a:t> </a:t>
            </a:r>
            <a:r>
              <a:rPr lang="en-US" altLang="en-US" sz="2000" i="1" dirty="0"/>
              <a:t>F</a:t>
            </a:r>
            <a:r>
              <a:rPr lang="en-US" altLang="en-US" sz="2000" i="1" baseline="-25000" dirty="0"/>
              <a:t>3</a:t>
            </a:r>
            <a:endParaRPr lang="en-US" altLang="en-US" sz="20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 dirty="0" err="1"/>
              <a:t>abcd</a:t>
            </a:r>
            <a:r>
              <a:rPr lang="en-US" altLang="en-US" sz="2000" dirty="0"/>
              <a:t> 从 </a:t>
            </a:r>
            <a:r>
              <a:rPr lang="en-US" altLang="en-US" sz="2000" i="1" dirty="0" err="1"/>
              <a:t>abc </a:t>
            </a:r>
            <a:r>
              <a:rPr lang="en-US" altLang="en-US" sz="2000" dirty="0"/>
              <a:t>和 </a:t>
            </a:r>
            <a:r>
              <a:rPr lang="en-US" altLang="en-US" sz="2000" i="1" dirty="0" err="1"/>
              <a:t>abd 中生成</a:t>
            </a:r>
            <a:endParaRPr lang="en-US" altLang="en-US" sz="20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 dirty="0" err="1"/>
              <a:t>acde</a:t>
            </a:r>
            <a:r>
              <a:rPr lang="en-US" altLang="en-US" sz="2000" dirty="0"/>
              <a:t> 来自 </a:t>
            </a:r>
            <a:r>
              <a:rPr lang="en-US" altLang="en-US" sz="2000" i="1" dirty="0" err="1"/>
              <a:t>acd </a:t>
            </a:r>
            <a:r>
              <a:rPr lang="en-US" altLang="en-US" sz="2000" dirty="0"/>
              <a:t>和 </a:t>
            </a:r>
            <a:r>
              <a:rPr lang="en-US" altLang="en-US" sz="2000" i="1" dirty="0"/>
              <a:t>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dirty="0"/>
              <a:t>剪枝：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 i="1" dirty="0" err="1"/>
              <a:t>acde</a:t>
            </a:r>
            <a:r>
              <a:rPr lang="en-US" altLang="en-US" sz="2000" dirty="0"/>
              <a:t> 被移除，因为 </a:t>
            </a:r>
            <a:r>
              <a:rPr lang="en-US" altLang="en-US" sz="2000" i="1" dirty="0" err="1"/>
              <a:t>ade</a:t>
            </a:r>
            <a:r>
              <a:rPr lang="en-US" altLang="en-US" sz="2000" dirty="0"/>
              <a:t> 不在 </a:t>
            </a:r>
            <a:r>
              <a:rPr lang="en-US" altLang="en-US" sz="2000" i="1" dirty="0"/>
              <a:t>F</a:t>
            </a:r>
            <a:r>
              <a:rPr lang="en-US" altLang="en-US" sz="2000" dirty="0"/>
              <a:t> 中</a:t>
            </a:r>
            <a:r>
              <a:rPr lang="en-US" altLang="en-US" sz="2000" i="1" baseline="-25000" dirty="0"/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i="1" dirty="0"/>
              <a:t>C</a:t>
            </a:r>
            <a:r>
              <a:rPr lang="en-US" altLang="en-US" sz="2000" i="1" baseline="-25000" dirty="0"/>
              <a:t>4 </a:t>
            </a:r>
            <a:r>
              <a:rPr lang="en-US" altLang="en-US" sz="2000" dirty="0"/>
              <a:t> = {</a:t>
            </a:r>
            <a:r>
              <a:rPr lang="en-US" altLang="en-US" sz="2000" i="1" dirty="0" err="1"/>
              <a:t>abcd</a:t>
            </a:r>
            <a:r>
              <a:rPr lang="en-US" altLang="en-US" sz="2000" dirty="0"/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78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1"/>
            <a:ext cx="12598400" cy="6397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候选生成（伪代码）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520699" y="1155699"/>
            <a:ext cx="11335807" cy="5597525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假设数组 F</a:t>
            </a:r>
            <a:r>
              <a:rPr lang="en-US" altLang="en-US" sz="2400" i="1" baseline="-25000" dirty="0">
                <a:ea typeface="STKaiti" panose="02010600040101010101" pitchFamily="2" charset="-122"/>
              </a:rPr>
              <a:t>k-1</a:t>
            </a:r>
            <a:r>
              <a:rPr lang="en-US" altLang="en-US" sz="2400" dirty="0">
                <a:ea typeface="STKaiti" panose="02010600040101010101" pitchFamily="2" charset="-122"/>
              </a:rPr>
              <a:t> 中的元素按顺序排列</a:t>
            </a:r>
          </a:p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// 步骤 1：合并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sz="2400" b="1" dirty="0">
                <a:ea typeface="STKaiti" panose="02010600040101010101" pitchFamily="2" charset="-122"/>
              </a:rPr>
              <a:t>对于 </a:t>
            </a:r>
            <a:r>
              <a:rPr lang="en-US" altLang="en-US" sz="2400" i="1" dirty="0">
                <a:ea typeface="STKaiti" panose="02010600040101010101" pitchFamily="2" charset="-122"/>
              </a:rPr>
              <a:t>F</a:t>
            </a:r>
            <a:r>
              <a:rPr lang="en-US" altLang="en-US" sz="2400" b="1" dirty="0">
                <a:ea typeface="STKaiti" panose="02010600040101010101" pitchFamily="2" charset="-122"/>
              </a:rPr>
              <a:t> 中的每个 </a:t>
            </a:r>
            <a:r>
              <a:rPr lang="en-US" altLang="en-US" sz="2400" i="1" dirty="0">
                <a:ea typeface="STKaiti" panose="02010600040101010101" pitchFamily="2" charset="-122"/>
              </a:rPr>
              <a:t>p</a:t>
            </a:r>
            <a:r>
              <a:rPr lang="en-US" altLang="en-US" sz="2400" i="1" baseline="-25000" dirty="0">
                <a:ea typeface="STKaiti" panose="02010600040101010101" pitchFamily="2" charset="-122"/>
              </a:rPr>
              <a:t>k-1</a:t>
            </a:r>
          </a:p>
          <a:p>
            <a:pPr marL="457200" lvl="1" indent="0">
              <a:buNone/>
            </a:pPr>
            <a:r>
              <a:rPr lang="en-US" altLang="en-US" sz="2400" b="1" dirty="0">
                <a:ea typeface="STKaiti" panose="02010600040101010101" pitchFamily="2" charset="-122"/>
              </a:rPr>
              <a:t>	对于每个 </a:t>
            </a:r>
            <a:r>
              <a:rPr lang="en-US" altLang="en-US" sz="2400" dirty="0">
                <a:ea typeface="STKaiti" panose="02010600040101010101" pitchFamily="2" charset="-122"/>
              </a:rPr>
              <a:t>q </a:t>
            </a:r>
            <a:r>
              <a:rPr lang="en-US" altLang="en-US" sz="2400" b="1" dirty="0">
                <a:ea typeface="STKaiti" panose="02010600040101010101" pitchFamily="2" charset="-122"/>
              </a:rPr>
              <a:t>在 </a:t>
            </a:r>
            <a:r>
              <a:rPr lang="en-US" altLang="en-US" sz="2400" dirty="0">
                <a:ea typeface="STKaiti" panose="02010600040101010101" pitchFamily="2" charset="-122"/>
              </a:rPr>
              <a:t>F</a:t>
            </a:r>
            <a:r>
              <a:rPr lang="en-US" altLang="en-US" sz="2400" b="1" dirty="0">
                <a:ea typeface="STKaiti" panose="02010600040101010101" pitchFamily="2" charset="-122"/>
              </a:rPr>
              <a:t> 中</a:t>
            </a:r>
            <a:r>
              <a:rPr lang="en-US" altLang="en-US" sz="2400" i="1" baseline="-25000" dirty="0">
                <a:ea typeface="STKaiti" panose="02010600040101010101" pitchFamily="2" charset="-122"/>
              </a:rPr>
              <a:t>k-1</a:t>
            </a:r>
            <a:endParaRPr lang="en-US" altLang="en-US" sz="2400" i="1" dirty="0">
              <a:ea typeface="STKaiti" panose="02010600040101010101" pitchFamily="2" charset="-122"/>
            </a:endParaRPr>
          </a:p>
          <a:p>
            <a:pPr marL="457200" lvl="1" indent="0"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		如果 </a:t>
            </a:r>
            <a:r>
              <a:rPr lang="en-US" altLang="en-US" sz="2400" b="1" dirty="0">
                <a:ea typeface="STKaiti" panose="02010600040101010101" pitchFamily="2" charset="-122"/>
              </a:rPr>
              <a:t>p</a:t>
            </a:r>
            <a:r>
              <a:rPr lang="en-US" altLang="en-US" sz="2400" dirty="0">
                <a:ea typeface="STKaiti" panose="02010600040101010101" pitchFamily="2" charset="-122"/>
              </a:rPr>
              <a:t>.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1</a:t>
            </a: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 = q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.item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1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 , …, p.item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k-2 </a:t>
            </a: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 = q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.item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k-2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 , p.item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k-1 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 &lt; q.item</a:t>
            </a:r>
            <a:r>
              <a:rPr lang="en-US" altLang="en-US" sz="2400" i="1" baseline="-25000" dirty="0">
                <a:solidFill>
                  <a:srgbClr val="FF0000"/>
                </a:solidFill>
                <a:ea typeface="STKaiti" panose="02010600040101010101" pitchFamily="2" charset="-122"/>
              </a:rPr>
              <a:t>k-1</a:t>
            </a: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</a:rPr>
              <a:t> {</a:t>
            </a:r>
          </a:p>
          <a:p>
            <a:pPr marL="457200" lvl="1" indent="0">
              <a:buNone/>
            </a:pPr>
            <a:r>
              <a:rPr lang="en-US" altLang="en-US" sz="2400" b="1" i="1" dirty="0">
                <a:ea typeface="STKaiti" panose="02010600040101010101" pitchFamily="2" charset="-122"/>
              </a:rPr>
              <a:t>			c = </a:t>
            </a:r>
            <a:r>
              <a:rPr lang="en-US" altLang="en-US" sz="2400" b="1" dirty="0">
                <a:ea typeface="STKaiti" panose="02010600040101010101" pitchFamily="2" charset="-122"/>
              </a:rPr>
              <a:t>join(p, </a:t>
            </a:r>
            <a:r>
              <a:rPr lang="en-US" altLang="en-US" sz="2400" i="1" dirty="0">
                <a:ea typeface="STKaiti" panose="02010600040101010101" pitchFamily="2" charset="-122"/>
              </a:rPr>
              <a:t>q)</a:t>
            </a:r>
          </a:p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// 步骤 2：剪枝</a:t>
            </a:r>
          </a:p>
          <a:p>
            <a:pPr marL="457200" lvl="1" indent="0"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			if </a:t>
            </a:r>
            <a:r>
              <a:rPr lang="en-US" altLang="en-US" sz="2400" b="1" dirty="0" err="1">
                <a:ea typeface="STKaiti" panose="02010600040101010101" pitchFamily="2" charset="-122"/>
              </a:rPr>
              <a:t>has_infrequent_subset(c, </a:t>
            </a:r>
            <a:r>
              <a:rPr lang="en-US" altLang="en-US" sz="2400" dirty="0">
                <a:ea typeface="STKaiti" panose="02010600040101010101" pitchFamily="2" charset="-122"/>
              </a:rPr>
              <a:t>F</a:t>
            </a:r>
            <a:r>
              <a:rPr lang="en-US" altLang="en-US" sz="2400" i="1" baseline="-25000" dirty="0">
                <a:ea typeface="STKaiti" panose="02010600040101010101" pitchFamily="2" charset="-122"/>
              </a:rPr>
              <a:t>k-1</a:t>
            </a:r>
            <a:r>
              <a:rPr lang="en-US" altLang="en-US" sz="2400" dirty="0">
                <a:ea typeface="STKaiti" panose="02010600040101010101" pitchFamily="2" charset="-122"/>
              </a:rPr>
              <a:t> )</a:t>
            </a:r>
          </a:p>
          <a:p>
            <a:pPr marL="457200" lvl="1" indent="0">
              <a:buNone/>
            </a:pPr>
            <a:r>
              <a:rPr lang="en-US" altLang="en-US" sz="2400" b="1" dirty="0">
                <a:ea typeface="STKaiti" panose="02010600040101010101" pitchFamily="2" charset="-122"/>
              </a:rPr>
              <a:t>				继续 </a:t>
            </a:r>
            <a:r>
              <a:rPr lang="en-US" altLang="en-US" sz="2400" dirty="0">
                <a:ea typeface="STKaiti" panose="02010600040101010101" pitchFamily="2" charset="-122"/>
              </a:rPr>
              <a:t>    // 剪枝</a:t>
            </a:r>
          </a:p>
          <a:p>
            <a:pPr marL="457200" lvl="1" indent="0">
              <a:buNone/>
            </a:pPr>
            <a:r>
              <a:rPr lang="en-US" altLang="en-US" sz="2400" b="1" dirty="0">
                <a:ea typeface="STKaiti" panose="02010600040101010101" pitchFamily="2" charset="-122"/>
              </a:rPr>
              <a:t>			else 添加 c</a:t>
            </a:r>
            <a:r>
              <a:rPr lang="en-US" altLang="en-US" sz="2400" i="1" dirty="0">
                <a:ea typeface="STKaiti" panose="02010600040101010101" pitchFamily="2" charset="-122"/>
              </a:rPr>
              <a:t> 到 </a:t>
            </a:r>
            <a:r>
              <a:rPr lang="en-US" altLang="en-US" sz="2400" b="1" dirty="0">
                <a:ea typeface="STKaiti" panose="02010600040101010101" pitchFamily="2" charset="-122"/>
              </a:rPr>
              <a:t>C</a:t>
            </a:r>
            <a:r>
              <a:rPr lang="en-US" altLang="en-US" sz="2400" i="1" baseline="-25000" dirty="0" err="1">
                <a:ea typeface="STKaiti" panose="02010600040101010101" pitchFamily="2" charset="-122"/>
              </a:rPr>
              <a:t>k</a:t>
            </a:r>
            <a:endParaRPr lang="en-US" altLang="en-US" sz="2400" i="1" baseline="-25000" dirty="0">
              <a:ea typeface="STKaiti" panose="02010600040101010101" pitchFamily="2" charset="-122"/>
            </a:endParaRPr>
          </a:p>
          <a:p>
            <a:pPr marL="457200" lvl="1" indent="0">
              <a:buNone/>
            </a:pPr>
            <a:r>
              <a:rPr lang="en-US" altLang="en-US" sz="2400" i="1" baseline="-25000" dirty="0">
                <a:ea typeface="STKaiti" panose="02010600040101010101" pitchFamily="2" charset="-122"/>
              </a:rPr>
              <a:t>		</a:t>
            </a:r>
            <a:r>
              <a:rPr lang="en-US" altLang="en-US" sz="2400" b="1" i="1" dirty="0">
                <a:ea typeface="STKaiti" panose="02010600040101010101" pitchFamily="2" charset="-122"/>
              </a:rPr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35282"/>
              </p:ext>
            </p:extLst>
          </p:nvPr>
        </p:nvGraphicFramePr>
        <p:xfrm>
          <a:off x="6746873" y="1659414"/>
          <a:ext cx="5109633" cy="457346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3" name="Curved Up Arrow 5"/>
          <p:cNvSpPr>
            <a:spLocks noChangeArrowheads="1"/>
          </p:cNvSpPr>
          <p:nvPr/>
        </p:nvSpPr>
        <p:spPr bwMode="auto">
          <a:xfrm>
            <a:off x="7356472" y="2040413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1524" name="Curved Up Arrow 6"/>
          <p:cNvSpPr>
            <a:spLocks noChangeArrowheads="1"/>
          </p:cNvSpPr>
          <p:nvPr/>
        </p:nvSpPr>
        <p:spPr bwMode="auto">
          <a:xfrm>
            <a:off x="9388472" y="2040413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619966"/>
              </p:ext>
            </p:extLst>
          </p:nvPr>
        </p:nvGraphicFramePr>
        <p:xfrm>
          <a:off x="7242173" y="2345214"/>
          <a:ext cx="1231900" cy="457346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64355"/>
              </p:ext>
            </p:extLst>
          </p:nvPr>
        </p:nvGraphicFramePr>
        <p:xfrm>
          <a:off x="9388472" y="2345214"/>
          <a:ext cx="1117600" cy="45734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41" name="Down Arrow 13"/>
          <p:cNvSpPr>
            <a:spLocks noChangeArrowheads="1"/>
          </p:cNvSpPr>
          <p:nvPr/>
        </p:nvSpPr>
        <p:spPr bwMode="auto">
          <a:xfrm>
            <a:off x="7762872" y="2192813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1542" name="Down Arrow 14"/>
          <p:cNvSpPr>
            <a:spLocks noChangeArrowheads="1"/>
          </p:cNvSpPr>
          <p:nvPr/>
        </p:nvSpPr>
        <p:spPr bwMode="auto">
          <a:xfrm>
            <a:off x="9820272" y="2192813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3272" y="1278413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自连接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2" y="1278413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自连接</a:t>
            </a:r>
          </a:p>
        </p:txBody>
      </p:sp>
      <p:sp>
        <p:nvSpPr>
          <p:cNvPr id="21" name="Multiply 20"/>
          <p:cNvSpPr/>
          <p:nvPr/>
        </p:nvSpPr>
        <p:spPr bwMode="auto">
          <a:xfrm>
            <a:off x="9043456" y="2192813"/>
            <a:ext cx="548216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80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5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zh-CN" altLang="en-US" sz="4000" dirty="0" err="1"/>
              <a:t> 算法</a:t>
            </a:r>
            <a:endParaRPr lang="en-US" altLang="en-US" sz="4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8BE6F9-1F8F-3531-E311-F994F5767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0116" y="1219200"/>
            <a:ext cx="9829219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86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算法（代码</a:t>
            </a:r>
            <a:r>
              <a:rPr lang="zh-CN" altLang="en-US" sz="4000" dirty="0"/>
              <a:t>）</a:t>
            </a:r>
            <a:endParaRPr lang="en-US" altLang="en-US" sz="4000" dirty="0"/>
          </a:p>
        </p:txBody>
      </p:sp>
      <p:pic>
        <p:nvPicPr>
          <p:cNvPr id="2" name="내용 개체 틀 1">
            <a:extLst>
              <a:ext uri="{FF2B5EF4-FFF2-40B4-BE49-F238E27FC236}">
                <a16:creationId xmlns:a16="http://schemas.microsoft.com/office/drawing/2014/main" id="{E88DC934-8F5C-88EA-DBB5-C5FCC2469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900" y="1289957"/>
            <a:ext cx="5867400" cy="4953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E359113-6588-E859-226F-5C3B08A38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300" y="1221014"/>
            <a:ext cx="56388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84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算法（代码</a:t>
            </a:r>
            <a:r>
              <a:rPr lang="zh-CN" altLang="en-US" sz="4000" dirty="0"/>
              <a:t>）</a:t>
            </a:r>
            <a:endParaRPr lang="en-US" altLang="en-US" sz="4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1ED46F-D34B-C958-62D2-16C404C0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99" y="1219200"/>
            <a:ext cx="9630229" cy="50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61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 算法（代码</a:t>
            </a:r>
            <a:r>
              <a:rPr lang="zh-CN" altLang="en-US" sz="4000" dirty="0"/>
              <a:t>）</a:t>
            </a:r>
            <a:endParaRPr lang="en-US" altLang="en-US" sz="4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A27596-B115-ADB8-E1D4-DEE9E9B9C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08" y="1282699"/>
            <a:ext cx="8999764" cy="51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：改进与替代方案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4548"/>
            <a:ext cx="10871200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600" dirty="0"/>
              <a:t>减少事务数据库扫描的遍历次数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b="1" dirty="0"/>
              <a:t>分区</a:t>
            </a:r>
            <a:r>
              <a:rPr lang="en-US" altLang="en-US" sz="2600" dirty="0"/>
              <a:t>（例如，</a:t>
            </a:r>
            <a:r>
              <a:rPr lang="en-US" altLang="en-US" sz="2600" dirty="0" err="1"/>
              <a:t>Savasere </a:t>
            </a:r>
            <a:r>
              <a:rPr lang="en-US" altLang="en-US" sz="2600" dirty="0"/>
              <a:t>等，1995）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 err="1"/>
              <a:t>动态项集</a:t>
            </a:r>
            <a:r>
              <a:rPr lang="en-US" altLang="en-US" sz="2600" dirty="0"/>
              <a:t>计数（</a:t>
            </a:r>
            <a:r>
              <a:rPr lang="en-US" altLang="en-US" sz="2600" dirty="0" err="1"/>
              <a:t>Brin </a:t>
            </a:r>
            <a:r>
              <a:rPr lang="en-US" altLang="en-US" sz="2600" dirty="0"/>
              <a:t>等，1997）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600" dirty="0"/>
              <a:t>缩小候选集规模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b="1" dirty="0"/>
              <a:t>哈希</a:t>
            </a:r>
            <a:r>
              <a:rPr lang="en-US" altLang="en-US" sz="2600" dirty="0"/>
              <a:t>（例如，DHP：Park 等，1995）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/>
              <a:t>基于支持下界剪枝（例如，</a:t>
            </a:r>
            <a:r>
              <a:rPr lang="en-US" altLang="en-US" sz="2600" dirty="0" err="1"/>
              <a:t>Bayardo</a:t>
            </a:r>
            <a:r>
              <a:rPr lang="en-US" altLang="en-US" sz="2600" dirty="0"/>
              <a:t>，1998）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/>
              <a:t>采样（例如，Toivonen，1996）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600" dirty="0"/>
              <a:t>探索特殊数据结构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/>
              <a:t>树投影（Agarwal等，2001）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/>
              <a:t>H-矿工（Pei 等，2001）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600" dirty="0" err="1"/>
              <a:t>超立方体</a:t>
            </a:r>
            <a:r>
              <a:rPr lang="en-US" altLang="en-US" sz="2600" dirty="0"/>
              <a:t>分解（例如，LCM：Uno 等，2004）</a:t>
            </a:r>
          </a:p>
        </p:txBody>
      </p:sp>
    </p:spTree>
    <p:extLst>
      <p:ext uri="{BB962C8B-B14F-4D97-AF65-F5344CB8AC3E}">
        <p14:creationId xmlns:p14="http://schemas.microsoft.com/office/powerpoint/2010/main" val="388727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 练习</a:t>
            </a:r>
            <a:endParaRPr lang="en-US" altLang="en-US" sz="4000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DAFDC76-8E43-5DEC-7FBF-1AB282D42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6816" y="1273667"/>
            <a:ext cx="92583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0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为什么通过模式增长挖掘频繁模式？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606413" y="1208382"/>
            <a:ext cx="10106614" cy="4517009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Apriori</a:t>
            </a:r>
            <a:r>
              <a:rPr lang="en-US" altLang="en-US" sz="2400" dirty="0"/>
              <a:t>：一种广度优先搜索挖掘算法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首先找到所有频繁的k</a:t>
            </a:r>
            <a:r>
              <a:rPr lang="en-US" altLang="en-US" sz="2400" dirty="0" err="1"/>
              <a:t>元组</a:t>
            </a:r>
            <a:r>
              <a:rPr lang="en-US" altLang="en-US" sz="2400" dirty="0"/>
              <a:t>集合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然后推导出频繁的(k+1)</a:t>
            </a:r>
            <a:r>
              <a:rPr lang="en-US" altLang="en-US" sz="2400" dirty="0" err="1"/>
              <a:t>项</a:t>
            </a:r>
            <a:r>
              <a:rPr lang="en-US" altLang="en-US" sz="2400" dirty="0"/>
              <a:t>集候选集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再次扫描数据库以找到真正的频繁(k+1)项集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采用不同挖掘方法的动机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能否开发一种深度优先搜索挖掘算法？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对于一个频繁</a:t>
            </a:r>
            <a:r>
              <a:rPr lang="en-US" altLang="en-US" sz="2400" dirty="0" err="1"/>
              <a:t>项集</a:t>
            </a:r>
            <a:r>
              <a:rPr lang="en-US" altLang="en-US" sz="2400" dirty="0"/>
              <a:t>ρ，后续搜索是否可以仅限于</a:t>
            </a:r>
            <a:r>
              <a:rPr lang="el-GR" altLang="en-US" sz="2400" dirty="0"/>
              <a:t>包含ρ的</a:t>
            </a:r>
            <a:r>
              <a:rPr lang="en-US" altLang="en-US" sz="2400" dirty="0"/>
              <a:t>交易？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这种思路导致了频繁模式增长方法：FPGrowth </a:t>
            </a:r>
          </a:p>
        </p:txBody>
      </p:sp>
    </p:spTree>
    <p:extLst>
      <p:ext uri="{BB962C8B-B14F-4D97-AF65-F5344CB8AC3E}">
        <p14:creationId xmlns:p14="http://schemas.microsoft.com/office/powerpoint/2010/main" val="53553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 dirty="0"/>
              <a:t>示例：从事务型数据库到有序高频</a:t>
            </a:r>
            <a:r>
              <a:rPr lang="en-US" altLang="en-US" sz="3500" dirty="0" err="1"/>
              <a:t>商品列表</a:t>
            </a:r>
            <a:endParaRPr lang="en-US" altLang="en-US" sz="3500" dirty="0"/>
          </a:p>
        </p:txBody>
      </p: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562777" y="3429000"/>
            <a:ext cx="10410024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扫描数据库一次，查找单个商品的频繁模式： 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按频率降序排序高频项，形成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F-</a:t>
            </a:r>
            <a:r>
              <a:rPr lang="en-US" altLang="en-US" sz="22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列表</a:t>
            </a:r>
            <a:endParaRPr lang="en-US" altLang="en-US" sz="22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再次扫描数据库，使用有序</a:t>
            </a:r>
            <a:r>
              <a:rPr lang="zh-CN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的</a:t>
            </a:r>
            <a:r>
              <a:rPr lang="en-US" altLang="en-US" sz="22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频繁项列表为每个事务构建FP树</a:t>
            </a:r>
            <a:endParaRPr lang="en-US" altLang="en-US" sz="22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7722045" y="3853811"/>
            <a:ext cx="2642070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F-列表 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518899"/>
              </p:ext>
            </p:extLst>
          </p:nvPr>
        </p:nvGraphicFramePr>
        <p:xfrm>
          <a:off x="5443131" y="1182572"/>
          <a:ext cx="5417829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事务中的项</a:t>
                      </a: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m, p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b, c, f, l, m, o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f, h, j, o, w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k, s, p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6916799" y="3389098"/>
            <a:ext cx="2896947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f:4, a:3, c:4, b:3, m:3, p:3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1643458" y="297646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设 </a:t>
            </a:r>
            <a:r>
              <a:rPr lang="en-US" altLang="en-US" sz="2000" b="1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min_support </a:t>
            </a:r>
            <a:r>
              <a:rPr lang="en-US" altLang="en-US" sz="20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3</a:t>
            </a:r>
            <a:endParaRPr lang="en-US" altLang="en-US" b="1" u="sng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8E77A-272D-3B13-9497-2E96B4E774ED}"/>
              </a:ext>
            </a:extLst>
          </p:cNvPr>
          <p:cNvSpPr txBox="1"/>
          <p:nvPr/>
        </p:nvSpPr>
        <p:spPr>
          <a:xfrm>
            <a:off x="562777" y="1182572"/>
            <a:ext cx="4665518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示例：一个示例事务数据库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2C1BD-98EF-C479-8CC0-CA4F5C7A7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64505"/>
              </p:ext>
            </p:extLst>
          </p:nvPr>
        </p:nvGraphicFramePr>
        <p:xfrm>
          <a:off x="3200145" y="4709509"/>
          <a:ext cx="7144837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事务中的项目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有序的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频繁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项列表</a:t>
                      </a:r>
                      <a:endParaRPr lang="en-US" sz="20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, m, p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c, a, m, p</a:t>
                      </a:r>
                      <a:endParaRPr lang="en-US" altLang="en-US" sz="1600" b="1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{a, b, c, f, l, m, o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f, h, j, o, w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b</a:t>
                      </a:r>
                      <a:endParaRPr lang="en-US" altLang="en-US" sz="1600" b="1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k, s, p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c, b, p</a:t>
                      </a:r>
                      <a:endParaRPr lang="en-US" altLang="en-US" sz="1600" b="1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</a:t>
                      </a: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f, c, a, m, p</a:t>
                      </a:r>
                      <a:endParaRPr lang="en-US" altLang="en-US" sz="1600" b="1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45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89" grpId="0" animBg="1"/>
      <p:bldP spid="27720" grpId="0" animBg="1"/>
      <p:bldP spid="2768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9" name="Table 27658">
            <a:extLst>
              <a:ext uri="{FF2B5EF4-FFF2-40B4-BE49-F238E27FC236}">
                <a16:creationId xmlns:a16="http://schemas.microsoft.com/office/drawing/2014/main" id="{356A0F27-2A67-C222-CCC5-E85796025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298190"/>
              </p:ext>
            </p:extLst>
          </p:nvPr>
        </p:nvGraphicFramePr>
        <p:xfrm>
          <a:off x="8633803" y="2987739"/>
          <a:ext cx="964210" cy="2621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65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697D233-CADF-CB35-4392-737F091E5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02798"/>
              </p:ext>
            </p:extLst>
          </p:nvPr>
        </p:nvGraphicFramePr>
        <p:xfrm>
          <a:off x="6051989" y="2924075"/>
          <a:ext cx="1056333" cy="2621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71053"/>
              </p:ext>
            </p:extLst>
          </p:nvPr>
        </p:nvGraphicFramePr>
        <p:xfrm>
          <a:off x="3020277" y="2941321"/>
          <a:ext cx="1709292" cy="2497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频率</a:t>
                      </a:r>
                      <a:endParaRPr lang="en-US" sz="12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hdr</a:t>
                      </a:r>
                      <a:endParaRPr lang="en-US" sz="12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示例：从事务数据库构建FP树</a:t>
            </a:r>
          </a:p>
        </p:txBody>
      </p:sp>
      <p:grpSp>
        <p:nvGrpSpPr>
          <p:cNvPr id="27686" name="Group 6"/>
          <p:cNvGrpSpPr>
            <a:grpSpLocks/>
          </p:cNvGrpSpPr>
          <p:nvPr/>
        </p:nvGrpSpPr>
        <p:grpSpPr bwMode="auto">
          <a:xfrm>
            <a:off x="4303710" y="1770092"/>
            <a:ext cx="1379405" cy="3657813"/>
            <a:chOff x="6449944" y="2898540"/>
            <a:chExt cx="1034378" cy="3657813"/>
          </a:xfrm>
        </p:grpSpPr>
        <p:sp>
          <p:nvSpPr>
            <p:cNvPr id="27723" name="Text Box 4"/>
            <p:cNvSpPr txBox="1">
              <a:spLocks noChangeArrowheads="1"/>
            </p:cNvSpPr>
            <p:nvPr/>
          </p:nvSpPr>
          <p:spPr bwMode="auto">
            <a:xfrm>
              <a:off x="7119587" y="2898540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7724" name="Text Box 5"/>
            <p:cNvSpPr txBox="1">
              <a:spLocks noChangeArrowheads="1"/>
            </p:cNvSpPr>
            <p:nvPr/>
          </p:nvSpPr>
          <p:spPr bwMode="auto">
            <a:xfrm>
              <a:off x="7107797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f:1</a:t>
              </a:r>
            </a:p>
          </p:txBody>
        </p:sp>
        <p:cxnSp>
          <p:nvCxnSpPr>
            <p:cNvPr id="27731" name="AutoShape 12"/>
            <p:cNvCxnSpPr>
              <a:cxnSpLocks noChangeShapeType="1"/>
              <a:stCxn id="27723" idx="2"/>
              <a:endCxn id="27724" idx="0"/>
            </p:cNvCxnSpPr>
            <p:nvPr/>
          </p:nvCxnSpPr>
          <p:spPr bwMode="auto">
            <a:xfrm>
              <a:off x="7281382" y="3298650"/>
              <a:ext cx="2034" cy="3716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3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cxnSp>
          <p:nvCxnSpPr>
            <p:cNvPr id="27734" name="AutoShape 15"/>
            <p:cNvCxnSpPr>
              <a:cxnSpLocks noChangeShapeType="1"/>
              <a:stCxn id="27724" idx="2"/>
              <a:endCxn id="27733" idx="0"/>
            </p:cNvCxnSpPr>
            <p:nvPr/>
          </p:nvCxnSpPr>
          <p:spPr bwMode="auto">
            <a:xfrm flipH="1">
              <a:off x="7270745" y="4070455"/>
              <a:ext cx="12672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6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a:1</a:t>
              </a:r>
            </a:p>
          </p:txBody>
        </p:sp>
        <p:sp>
          <p:nvSpPr>
            <p:cNvPr id="27738" name="Text Box 19"/>
            <p:cNvSpPr txBox="1">
              <a:spLocks noChangeArrowheads="1"/>
            </p:cNvSpPr>
            <p:nvPr/>
          </p:nvSpPr>
          <p:spPr bwMode="auto">
            <a:xfrm>
              <a:off x="7046536" y="5547838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27739" name="Text Box 20"/>
            <p:cNvSpPr txBox="1">
              <a:spLocks noChangeArrowheads="1"/>
            </p:cNvSpPr>
            <p:nvPr/>
          </p:nvSpPr>
          <p:spPr bwMode="auto">
            <a:xfrm>
              <a:off x="7073487" y="6156243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7740" name="AutoShape 21"/>
            <p:cNvCxnSpPr>
              <a:cxnSpLocks noChangeShapeType="1"/>
              <a:stCxn id="27733" idx="2"/>
              <a:endCxn id="27736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1" name="AutoShape 22"/>
            <p:cNvCxnSpPr>
              <a:cxnSpLocks noChangeShapeType="1"/>
              <a:stCxn id="27736" idx="2"/>
              <a:endCxn id="27738" idx="0"/>
            </p:cNvCxnSpPr>
            <p:nvPr/>
          </p:nvCxnSpPr>
          <p:spPr bwMode="auto">
            <a:xfrm flipH="1">
              <a:off x="7265429" y="5322117"/>
              <a:ext cx="133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3" name="AutoShape 24"/>
            <p:cNvCxnSpPr>
              <a:cxnSpLocks noChangeShapeType="1"/>
              <a:stCxn id="27738" idx="2"/>
              <a:endCxn id="27739" idx="0"/>
            </p:cNvCxnSpPr>
            <p:nvPr/>
          </p:nvCxnSpPr>
          <p:spPr bwMode="auto">
            <a:xfrm>
              <a:off x="7265429" y="5947948"/>
              <a:ext cx="5315" cy="2082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46" name="Freeform 28"/>
            <p:cNvSpPr>
              <a:spLocks/>
            </p:cNvSpPr>
            <p:nvPr/>
          </p:nvSpPr>
          <p:spPr bwMode="auto">
            <a:xfrm>
              <a:off x="6503614" y="3939846"/>
              <a:ext cx="587956" cy="578622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48" name="Freeform 31"/>
            <p:cNvSpPr>
              <a:spLocks/>
            </p:cNvSpPr>
            <p:nvPr/>
          </p:nvSpPr>
          <p:spPr bwMode="auto">
            <a:xfrm flipV="1">
              <a:off x="6449944" y="5165476"/>
              <a:ext cx="613300" cy="59764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2" name="Freeform 35"/>
            <p:cNvSpPr>
              <a:spLocks/>
            </p:cNvSpPr>
            <p:nvPr/>
          </p:nvSpPr>
          <p:spPr bwMode="auto">
            <a:xfrm flipV="1">
              <a:off x="6460187" y="5814619"/>
              <a:ext cx="613300" cy="20829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4" name="Freeform 37"/>
            <p:cNvSpPr>
              <a:spLocks/>
            </p:cNvSpPr>
            <p:nvPr/>
          </p:nvSpPr>
          <p:spPr bwMode="auto">
            <a:xfrm flipV="1">
              <a:off x="6460187" y="6328966"/>
              <a:ext cx="586349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146028" y="3916679"/>
            <a:ext cx="2931921" cy="152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FP-树构建</a:t>
            </a:r>
            <a:r>
              <a:rPr lang="en-US" alt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：</a:t>
            </a:r>
          </a:p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对于每笔交易，将有序的频繁</a:t>
            </a:r>
            <a:r>
              <a:rPr lang="en-US" altLang="en-US" sz="1800" dirty="0" err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项列表</a:t>
            </a:r>
            <a:r>
              <a:rPr lang="en-US" alt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插入到 FP-树中，合并共享的子分支，并累积计数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28046"/>
              </p:ext>
            </p:extLst>
          </p:nvPr>
        </p:nvGraphicFramePr>
        <p:xfrm>
          <a:off x="170362" y="1376678"/>
          <a:ext cx="2832611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有序的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频繁</a:t>
                      </a:r>
                      <a:r>
                        <a:rPr lang="en-US" sz="1800" baseline="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项列表</a:t>
                      </a:r>
                      <a:endParaRPr lang="en-US" sz="18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1" name="Freeform 31"/>
          <p:cNvSpPr>
            <a:spLocks/>
          </p:cNvSpPr>
          <p:nvPr/>
        </p:nvSpPr>
        <p:spPr bwMode="auto">
          <a:xfrm flipV="1">
            <a:off x="4341486" y="3390020"/>
            <a:ext cx="817872" cy="324409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411" y="5909999"/>
            <a:ext cx="161789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表头表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14:cNvPr>
              <p14:cNvContentPartPr/>
              <p14:nvPr/>
            </p14:nvContentPartPr>
            <p14:xfrm>
              <a:off x="1419840" y="2321521"/>
              <a:ext cx="1126440" cy="55440"/>
            </p14:xfrm>
          </p:contentPart>
        </mc:Choice>
        <mc:Fallback xmlns:a14="http://schemas.microsoft.com/office/drawing/2010/main" xmlns:a16="http://schemas.microsoft.com/office/drawing/2014/main"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480" y="2312161"/>
                <a:ext cx="11451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6">
            <a:extLst>
              <a:ext uri="{FF2B5EF4-FFF2-40B4-BE49-F238E27FC236}">
                <a16:creationId xmlns:a16="http://schemas.microsoft.com/office/drawing/2014/main" id="{2762357A-1DA9-F594-46BD-756F97E826B0}"/>
              </a:ext>
            </a:extLst>
          </p:cNvPr>
          <p:cNvGrpSpPr>
            <a:grpSpLocks/>
          </p:cNvGrpSpPr>
          <p:nvPr/>
        </p:nvGrpSpPr>
        <p:grpSpPr bwMode="auto">
          <a:xfrm>
            <a:off x="6583848" y="1850197"/>
            <a:ext cx="1959930" cy="3632753"/>
            <a:chOff x="6386643" y="2944293"/>
            <a:chExt cx="1469700" cy="3632753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1D62D240-DB0F-ED86-137F-A013520EE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2944293"/>
              <a:ext cx="343482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 </a:t>
              </a: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03536B6-8167-26DB-FAA6-423133B31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3681012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f:2</a:t>
              </a:r>
            </a:p>
          </p:txBody>
        </p: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65654507-A394-424B-5CEE-629C9039D253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>
              <a:off x="7292277" y="3344403"/>
              <a:ext cx="3878" cy="33660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ACFF8117-C6F1-674C-A67F-CAE9B1426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396" y="4273967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c:2</a:t>
              </a:r>
            </a:p>
          </p:txBody>
        </p:sp>
        <p:cxnSp>
          <p:nvCxnSpPr>
            <p:cNvPr id="13" name="AutoShape 15">
              <a:extLst>
                <a:ext uri="{FF2B5EF4-FFF2-40B4-BE49-F238E27FC236}">
                  <a16:creationId xmlns:a16="http://schemas.microsoft.com/office/drawing/2014/main" id="{4B15BA31-7648-DE1B-D62C-723FD22134B4}"/>
                </a:ext>
              </a:extLst>
            </p:cNvPr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7289243" y="4081122"/>
              <a:ext cx="6912" cy="1928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BF5680A2-08FF-FCC5-01D4-257C00FA6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1029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a:2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CCDF0BEE-7237-569A-B19D-B39542B37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04ABCF5A-A383-F4D7-5BE7-7261348DB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FCE7FA6B-B30F-D0B7-3A1F-847AAFB67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19" name="AutoShape 21">
              <a:extLst>
                <a:ext uri="{FF2B5EF4-FFF2-40B4-BE49-F238E27FC236}">
                  <a16:creationId xmlns:a16="http://schemas.microsoft.com/office/drawing/2014/main" id="{457ECEF2-5EBB-454D-101D-6390F1216B38}"/>
                </a:ext>
              </a:extLst>
            </p:cNvPr>
            <p:cNvCxnSpPr>
              <a:cxnSpLocks noChangeShapeType="1"/>
              <a:stCxn id="12" idx="2"/>
              <a:endCxn id="15" idx="0"/>
            </p:cNvCxnSpPr>
            <p:nvPr/>
          </p:nvCxnSpPr>
          <p:spPr bwMode="auto">
            <a:xfrm>
              <a:off x="7289243" y="4674077"/>
              <a:ext cx="9042" cy="24793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22">
              <a:extLst>
                <a:ext uri="{FF2B5EF4-FFF2-40B4-BE49-F238E27FC236}">
                  <a16:creationId xmlns:a16="http://schemas.microsoft.com/office/drawing/2014/main" id="{C69266EF-7871-89B6-C2AA-01769468F722}"/>
                </a:ext>
              </a:extLst>
            </p:cNvPr>
            <p:cNvCxnSpPr>
              <a:cxnSpLocks noChangeShapeType="1"/>
              <a:stCxn id="15" idx="2"/>
              <a:endCxn id="17" idx="0"/>
            </p:cNvCxnSpPr>
            <p:nvPr/>
          </p:nvCxnSpPr>
          <p:spPr bwMode="auto">
            <a:xfrm flipH="1">
              <a:off x="6998826" y="5322117"/>
              <a:ext cx="299459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23">
              <a:extLst>
                <a:ext uri="{FF2B5EF4-FFF2-40B4-BE49-F238E27FC236}">
                  <a16:creationId xmlns:a16="http://schemas.microsoft.com/office/drawing/2014/main" id="{A9C65DC2-01C0-9A0D-AD78-3907FD1AC17D}"/>
                </a:ext>
              </a:extLst>
            </p:cNvPr>
            <p:cNvCxnSpPr>
              <a:cxnSpLocks noChangeShapeType="1"/>
              <a:stCxn id="15" idx="2"/>
              <a:endCxn id="16" idx="0"/>
            </p:cNvCxnSpPr>
            <p:nvPr/>
          </p:nvCxnSpPr>
          <p:spPr bwMode="auto">
            <a:xfrm>
              <a:off x="7298285" y="5322117"/>
              <a:ext cx="345703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E36C8A08-2F5F-A56E-2504-C77203CB263E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26748E10-9FC4-8730-24F7-FCB4B460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4" name="AutoShape 26">
              <a:extLst>
                <a:ext uri="{FF2B5EF4-FFF2-40B4-BE49-F238E27FC236}">
                  <a16:creationId xmlns:a16="http://schemas.microsoft.com/office/drawing/2014/main" id="{097E5F48-AEBE-427B-A481-0C8C83A7FAC9}"/>
                </a:ext>
              </a:extLst>
            </p:cNvPr>
            <p:cNvCxnSpPr>
              <a:cxnSpLocks noChangeShapeType="1"/>
              <a:stCxn id="16" idx="2"/>
              <a:endCxn id="23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95BB2B3-6B4C-1C3D-1511-5D219EA7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3927708"/>
              <a:ext cx="631998" cy="59419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407F8604-60EF-E87A-C5E7-5DEC68FB6E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65398" y="5165475"/>
              <a:ext cx="597845" cy="105517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DA9DE410-80EA-575A-9D09-8B5B6D2CA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5561580"/>
              <a:ext cx="953159" cy="210392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A8C6C01A-2EDC-485D-E1EA-312794ECAF6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11838" y="5856557"/>
              <a:ext cx="276919" cy="14578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FECEB5A4-C729-42D1-E135-0B601CB3D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EFC0C83C-6283-3B5A-E85B-3497E21F5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6643" y="6374686"/>
              <a:ext cx="465292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1" name="Freeform 28">
            <a:extLst>
              <a:ext uri="{FF2B5EF4-FFF2-40B4-BE49-F238E27FC236}">
                <a16:creationId xmlns:a16="http://schemas.microsoft.com/office/drawing/2014/main" id="{1576CE7C-1225-571D-A1E9-3EC6AE2C8EEB}"/>
              </a:ext>
            </a:extLst>
          </p:cNvPr>
          <p:cNvSpPr>
            <a:spLocks/>
          </p:cNvSpPr>
          <p:nvPr/>
        </p:nvSpPr>
        <p:spPr bwMode="auto">
          <a:xfrm>
            <a:off x="6742088" y="3361660"/>
            <a:ext cx="876951" cy="442890"/>
          </a:xfrm>
          <a:custGeom>
            <a:avLst/>
            <a:gdLst>
              <a:gd name="T0" fmla="*/ 0 w 672"/>
              <a:gd name="T1" fmla="*/ 2147483647 h 240"/>
              <a:gd name="T2" fmla="*/ 2147483647 w 672"/>
              <a:gd name="T3" fmla="*/ 2147483647 h 240"/>
              <a:gd name="T4" fmla="*/ 2147483647 w 672"/>
              <a:gd name="T5" fmla="*/ 2147483647 h 240"/>
              <a:gd name="T6" fmla="*/ 2147483647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11DB73B8-53F7-A15A-C015-D8D0E6FFF3AC}"/>
              </a:ext>
            </a:extLst>
          </p:cNvPr>
          <p:cNvGrpSpPr>
            <a:grpSpLocks/>
          </p:cNvGrpSpPr>
          <p:nvPr/>
        </p:nvGrpSpPr>
        <p:grpSpPr bwMode="auto">
          <a:xfrm>
            <a:off x="9324974" y="1851076"/>
            <a:ext cx="2753588" cy="3583455"/>
            <a:chOff x="6550920" y="2962813"/>
            <a:chExt cx="2064841" cy="3583455"/>
          </a:xfrm>
        </p:grpSpPr>
        <p:sp>
          <p:nvSpPr>
            <p:cNvPr id="37" name="Text Box 4">
              <a:extLst>
                <a:ext uri="{FF2B5EF4-FFF2-40B4-BE49-F238E27FC236}">
                  <a16:creationId xmlns:a16="http://schemas.microsoft.com/office/drawing/2014/main" id="{86959063-2CA0-5851-2952-904259834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04358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{}</a:t>
              </a:r>
            </a:p>
          </p:txBody>
        </p:sp>
        <p:sp>
          <p:nvSpPr>
            <p:cNvPr id="38" name="Text Box 5">
              <a:extLst>
                <a:ext uri="{FF2B5EF4-FFF2-40B4-BE49-F238E27FC236}">
                  <a16:creationId xmlns:a16="http://schemas.microsoft.com/office/drawing/2014/main" id="{A4C37A38-E0C5-8237-1BD1-534CD6B81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17582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f:4</a:t>
              </a:r>
            </a:p>
          </p:txBody>
        </p:sp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E4567C6F-F6E3-CBAE-8D68-F4963D32F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32006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c:1</a:t>
              </a:r>
            </a:p>
          </p:txBody>
        </p:sp>
        <p:sp>
          <p:nvSpPr>
            <p:cNvPr id="40" name="Text Box 7">
              <a:extLst>
                <a:ext uri="{FF2B5EF4-FFF2-40B4-BE49-F238E27FC236}">
                  <a16:creationId xmlns:a16="http://schemas.microsoft.com/office/drawing/2014/main" id="{6F305F49-B7C9-600A-E24D-B8C3A6040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48835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b:1</a:t>
              </a:r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D648F7A-3F36-AAD7-3BB6-E2FAB7D3B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48835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p:1</a:t>
              </a:r>
            </a:p>
          </p:txBody>
        </p:sp>
        <p:cxnSp>
          <p:nvCxnSpPr>
            <p:cNvPr id="42" name="AutoShape 9">
              <a:extLst>
                <a:ext uri="{FF2B5EF4-FFF2-40B4-BE49-F238E27FC236}">
                  <a16:creationId xmlns:a16="http://schemas.microsoft.com/office/drawing/2014/main" id="{D7BECFE0-F157-94B1-0997-46C037338DC5}"/>
                </a:ext>
              </a:extLst>
            </p:cNvPr>
            <p:cNvCxnSpPr>
              <a:cxnSpLocks noChangeShapeType="1"/>
              <a:stCxn id="39" idx="2"/>
              <a:endCxn id="40" idx="0"/>
            </p:cNvCxnSpPr>
            <p:nvPr/>
          </p:nvCxnSpPr>
          <p:spPr bwMode="auto">
            <a:xfrm>
              <a:off x="8439190" y="4039677"/>
              <a:ext cx="2154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10">
              <a:extLst>
                <a:ext uri="{FF2B5EF4-FFF2-40B4-BE49-F238E27FC236}">
                  <a16:creationId xmlns:a16="http://schemas.microsoft.com/office/drawing/2014/main" id="{70133C9C-CFE0-C3D0-0792-23C4C7495096}"/>
                </a:ext>
              </a:extLst>
            </p:cNvPr>
            <p:cNvCxnSpPr>
              <a:cxnSpLocks noChangeShapeType="1"/>
              <a:stCxn id="40" idx="2"/>
              <a:endCxn id="41" idx="0"/>
            </p:cNvCxnSpPr>
            <p:nvPr/>
          </p:nvCxnSpPr>
          <p:spPr bwMode="auto">
            <a:xfrm>
              <a:off x="8441344" y="4665508"/>
              <a:ext cx="0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11">
              <a:extLst>
                <a:ext uri="{FF2B5EF4-FFF2-40B4-BE49-F238E27FC236}">
                  <a16:creationId xmlns:a16="http://schemas.microsoft.com/office/drawing/2014/main" id="{DD0D12A3-480D-CD6E-3532-2B2F24491D8B}"/>
                </a:ext>
              </a:extLst>
            </p:cNvPr>
            <p:cNvCxnSpPr>
              <a:cxnSpLocks noChangeShapeType="1"/>
              <a:stCxn id="37" idx="2"/>
              <a:endCxn id="39" idx="0"/>
            </p:cNvCxnSpPr>
            <p:nvPr/>
          </p:nvCxnSpPr>
          <p:spPr bwMode="auto">
            <a:xfrm>
              <a:off x="7974573" y="3332145"/>
              <a:ext cx="464618" cy="33820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12">
              <a:extLst>
                <a:ext uri="{FF2B5EF4-FFF2-40B4-BE49-F238E27FC236}">
                  <a16:creationId xmlns:a16="http://schemas.microsoft.com/office/drawing/2014/main" id="{1ADB2FBD-EA2C-2F9B-7F95-D90568FFD2B2}"/>
                </a:ext>
              </a:extLst>
            </p:cNvPr>
            <p:cNvCxnSpPr>
              <a:cxnSpLocks noChangeShapeType="1"/>
              <a:stCxn id="37" idx="2"/>
              <a:endCxn id="38" idx="0"/>
            </p:cNvCxnSpPr>
            <p:nvPr/>
          </p:nvCxnSpPr>
          <p:spPr bwMode="auto">
            <a:xfrm flipH="1">
              <a:off x="7530390" y="3332145"/>
              <a:ext cx="444183" cy="33820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Text Box 13">
              <a:extLst>
                <a:ext uri="{FF2B5EF4-FFF2-40B4-BE49-F238E27FC236}">
                  <a16:creationId xmlns:a16="http://schemas.microsoft.com/office/drawing/2014/main" id="{AF7AB747-7F95-FBEE-E6F5-5855A7122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48835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b:1</a:t>
              </a:r>
            </a:p>
          </p:txBody>
        </p:sp>
        <p:sp>
          <p:nvSpPr>
            <p:cNvPr id="47" name="Text Box 14">
              <a:extLst>
                <a:ext uri="{FF2B5EF4-FFF2-40B4-BE49-F238E27FC236}">
                  <a16:creationId xmlns:a16="http://schemas.microsoft.com/office/drawing/2014/main" id="{507D918C-EEF9-528D-42D0-901027C3D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32006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c:3</a:t>
              </a:r>
            </a:p>
          </p:txBody>
        </p:sp>
        <p:cxnSp>
          <p:nvCxnSpPr>
            <p:cNvPr id="48" name="AutoShape 15">
              <a:extLst>
                <a:ext uri="{FF2B5EF4-FFF2-40B4-BE49-F238E27FC236}">
                  <a16:creationId xmlns:a16="http://schemas.microsoft.com/office/drawing/2014/main" id="{75F405DB-5CB0-85B0-68E7-F0ED3E559D48}"/>
                </a:ext>
              </a:extLst>
            </p:cNvPr>
            <p:cNvCxnSpPr>
              <a:cxnSpLocks noChangeShapeType="1"/>
              <a:stCxn id="38" idx="2"/>
              <a:endCxn id="47" idx="0"/>
            </p:cNvCxnSpPr>
            <p:nvPr/>
          </p:nvCxnSpPr>
          <p:spPr bwMode="auto">
            <a:xfrm flipH="1">
              <a:off x="7244900" y="4039677"/>
              <a:ext cx="285489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16">
              <a:extLst>
                <a:ext uri="{FF2B5EF4-FFF2-40B4-BE49-F238E27FC236}">
                  <a16:creationId xmlns:a16="http://schemas.microsoft.com/office/drawing/2014/main" id="{CC612984-F848-7F3A-BEC7-59E77F7E0ED6}"/>
                </a:ext>
              </a:extLst>
            </p:cNvPr>
            <p:cNvCxnSpPr>
              <a:cxnSpLocks noChangeShapeType="1"/>
              <a:stCxn id="38" idx="2"/>
              <a:endCxn id="46" idx="0"/>
            </p:cNvCxnSpPr>
            <p:nvPr/>
          </p:nvCxnSpPr>
          <p:spPr bwMode="auto">
            <a:xfrm>
              <a:off x="7530390" y="4039677"/>
              <a:ext cx="316155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4993281B-33D8-B917-31A9-F21898FD9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47632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a:3</a:t>
              </a:r>
            </a:p>
          </p:txBody>
        </p:sp>
        <p:sp>
          <p:nvSpPr>
            <p:cNvPr id="51" name="Text Box 18">
              <a:extLst>
                <a:ext uri="{FF2B5EF4-FFF2-40B4-BE49-F238E27FC236}">
                  <a16:creationId xmlns:a16="http://schemas.microsoft.com/office/drawing/2014/main" id="{AAFB6DF7-BEB6-642C-E5B7-E7ED57075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48835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b:1</a:t>
              </a:r>
            </a:p>
          </p:txBody>
        </p:sp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C0AC327F-CD83-E97E-7179-8FCAF9781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394513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m:2</a:t>
              </a:r>
            </a:p>
          </p:txBody>
        </p:sp>
        <p:sp>
          <p:nvSpPr>
            <p:cNvPr id="53" name="Text Box 20">
              <a:extLst>
                <a:ext uri="{FF2B5EF4-FFF2-40B4-BE49-F238E27FC236}">
                  <a16:creationId xmlns:a16="http://schemas.microsoft.com/office/drawing/2014/main" id="{09D3D49D-D8DD-DE34-A314-56927752B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48835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p:2</a:t>
              </a:r>
            </a:p>
          </p:txBody>
        </p:sp>
        <p:cxnSp>
          <p:nvCxnSpPr>
            <p:cNvPr id="54" name="AutoShape 21">
              <a:extLst>
                <a:ext uri="{FF2B5EF4-FFF2-40B4-BE49-F238E27FC236}">
                  <a16:creationId xmlns:a16="http://schemas.microsoft.com/office/drawing/2014/main" id="{0F03DEE2-3D9E-2CCF-3C0C-39D06BFC768A}"/>
                </a:ext>
              </a:extLst>
            </p:cNvPr>
            <p:cNvCxnSpPr>
              <a:cxnSpLocks noChangeShapeType="1"/>
              <a:stCxn id="47" idx="2"/>
              <a:endCxn id="50" idx="0"/>
            </p:cNvCxnSpPr>
            <p:nvPr/>
          </p:nvCxnSpPr>
          <p:spPr bwMode="auto">
            <a:xfrm flipH="1">
              <a:off x="7243321" y="4665508"/>
              <a:ext cx="1579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AutoShape 22">
              <a:extLst>
                <a:ext uri="{FF2B5EF4-FFF2-40B4-BE49-F238E27FC236}">
                  <a16:creationId xmlns:a16="http://schemas.microsoft.com/office/drawing/2014/main" id="{39C3C177-B8E8-F6DA-6396-E088CC8B834A}"/>
                </a:ext>
              </a:extLst>
            </p:cNvPr>
            <p:cNvCxnSpPr>
              <a:cxnSpLocks noChangeShapeType="1"/>
              <a:stCxn id="50" idx="2"/>
              <a:endCxn id="52" idx="0"/>
            </p:cNvCxnSpPr>
            <p:nvPr/>
          </p:nvCxnSpPr>
          <p:spPr bwMode="auto">
            <a:xfrm flipH="1">
              <a:off x="6977189" y="5291339"/>
              <a:ext cx="266132" cy="25976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AutoShape 23">
              <a:extLst>
                <a:ext uri="{FF2B5EF4-FFF2-40B4-BE49-F238E27FC236}">
                  <a16:creationId xmlns:a16="http://schemas.microsoft.com/office/drawing/2014/main" id="{1D4878CB-E066-4D31-04EB-E93378A0A05F}"/>
                </a:ext>
              </a:extLst>
            </p:cNvPr>
            <p:cNvCxnSpPr>
              <a:cxnSpLocks noChangeShapeType="1"/>
              <a:stCxn id="50" idx="2"/>
              <a:endCxn id="51" idx="0"/>
            </p:cNvCxnSpPr>
            <p:nvPr/>
          </p:nvCxnSpPr>
          <p:spPr bwMode="auto">
            <a:xfrm>
              <a:off x="7243321" y="5291339"/>
              <a:ext cx="377828" cy="25976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4">
              <a:extLst>
                <a:ext uri="{FF2B5EF4-FFF2-40B4-BE49-F238E27FC236}">
                  <a16:creationId xmlns:a16="http://schemas.microsoft.com/office/drawing/2014/main" id="{066A32B0-E2AD-E944-B627-2B1BC9134A40}"/>
                </a:ext>
              </a:extLst>
            </p:cNvPr>
            <p:cNvCxnSpPr>
              <a:cxnSpLocks noChangeShapeType="1"/>
              <a:stCxn id="52" idx="2"/>
              <a:endCxn id="53" idx="0"/>
            </p:cNvCxnSpPr>
            <p:nvPr/>
          </p:nvCxnSpPr>
          <p:spPr bwMode="auto">
            <a:xfrm>
              <a:off x="6977189" y="5920437"/>
              <a:ext cx="5335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Text Box 25">
              <a:extLst>
                <a:ext uri="{FF2B5EF4-FFF2-40B4-BE49-F238E27FC236}">
                  <a16:creationId xmlns:a16="http://schemas.microsoft.com/office/drawing/2014/main" id="{1EF45C95-B5FD-C550-E35C-5CDFCF5AD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394513" cy="369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m:1</a:t>
              </a:r>
            </a:p>
          </p:txBody>
        </p:sp>
        <p:cxnSp>
          <p:nvCxnSpPr>
            <p:cNvPr id="59" name="AutoShape 26">
              <a:extLst>
                <a:ext uri="{FF2B5EF4-FFF2-40B4-BE49-F238E27FC236}">
                  <a16:creationId xmlns:a16="http://schemas.microsoft.com/office/drawing/2014/main" id="{0D5FAE8A-928C-AAE6-D246-504665B4874C}"/>
                </a:ext>
              </a:extLst>
            </p:cNvPr>
            <p:cNvCxnSpPr>
              <a:cxnSpLocks noChangeShapeType="1"/>
              <a:stCxn id="51" idx="2"/>
              <a:endCxn id="58" idx="0"/>
            </p:cNvCxnSpPr>
            <p:nvPr/>
          </p:nvCxnSpPr>
          <p:spPr bwMode="auto">
            <a:xfrm flipH="1">
              <a:off x="7615813" y="5920437"/>
              <a:ext cx="5336" cy="25649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355465DD-9929-EC65-B477-28B2DC5BA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3892572"/>
              <a:ext cx="802769" cy="563563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FAFAF2A1-F998-DDE4-063C-4B70E6CC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592" y="3892572"/>
              <a:ext cx="802769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62069721-3A32-FB01-84D8-995A457190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07323" y="5165476"/>
              <a:ext cx="355921" cy="45719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E42DE4CC-B001-2037-5018-A013DAFF9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5606693"/>
              <a:ext cx="835638" cy="45719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48" name="Freeform 33">
              <a:extLst>
                <a:ext uri="{FF2B5EF4-FFF2-40B4-BE49-F238E27FC236}">
                  <a16:creationId xmlns:a16="http://schemas.microsoft.com/office/drawing/2014/main" id="{F908289C-E847-68E1-08A7-2A969D3E2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9384" y="4694877"/>
              <a:ext cx="122056" cy="105628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49" name="Line 34">
              <a:extLst>
                <a:ext uri="{FF2B5EF4-FFF2-40B4-BE49-F238E27FC236}">
                  <a16:creationId xmlns:a16="http://schemas.microsoft.com/office/drawing/2014/main" id="{B0482E84-E0AE-90FB-EDEC-55FD0044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6642" y="4496231"/>
              <a:ext cx="198719" cy="2380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50" name="Freeform 35">
              <a:extLst>
                <a:ext uri="{FF2B5EF4-FFF2-40B4-BE49-F238E27FC236}">
                  <a16:creationId xmlns:a16="http://schemas.microsoft.com/office/drawing/2014/main" id="{CCFDB5ED-678A-132D-09F3-1B2826C9E8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50920" y="5871372"/>
              <a:ext cx="32881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51" name="Freeform 36">
              <a:extLst>
                <a:ext uri="{FF2B5EF4-FFF2-40B4-BE49-F238E27FC236}">
                  <a16:creationId xmlns:a16="http://schemas.microsoft.com/office/drawing/2014/main" id="{C628572D-464F-98F5-1E28-10FCB1D6F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52" name="Freeform 37">
              <a:extLst>
                <a:ext uri="{FF2B5EF4-FFF2-40B4-BE49-F238E27FC236}">
                  <a16:creationId xmlns:a16="http://schemas.microsoft.com/office/drawing/2014/main" id="{82757BAC-3868-E042-E99A-74378799E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9218" y="6346714"/>
              <a:ext cx="282717" cy="73692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7653" name="Freeform 38">
              <a:extLst>
                <a:ext uri="{FF2B5EF4-FFF2-40B4-BE49-F238E27FC236}">
                  <a16:creationId xmlns:a16="http://schemas.microsoft.com/office/drawing/2014/main" id="{02991E36-133A-9EB0-0C75-963219424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7719" y="5322342"/>
              <a:ext cx="1287125" cy="107520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27654" name="Freeform 31">
            <a:extLst>
              <a:ext uri="{FF2B5EF4-FFF2-40B4-BE49-F238E27FC236}">
                <a16:creationId xmlns:a16="http://schemas.microsoft.com/office/drawing/2014/main" id="{CB5F4F95-908E-0BCC-AB46-1A0CF8A2EEBF}"/>
              </a:ext>
            </a:extLst>
          </p:cNvPr>
          <p:cNvSpPr>
            <a:spLocks/>
          </p:cNvSpPr>
          <p:nvPr/>
        </p:nvSpPr>
        <p:spPr bwMode="auto">
          <a:xfrm flipV="1">
            <a:off x="9533544" y="3438575"/>
            <a:ext cx="514048" cy="293486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14:cNvPr>
              <p14:cNvContentPartPr/>
              <p14:nvPr/>
            </p14:nvContentPartPr>
            <p14:xfrm>
              <a:off x="1404035" y="2656032"/>
              <a:ext cx="1126440" cy="55440"/>
            </p14:xfrm>
          </p:contentPart>
        </mc:Choice>
        <mc:Fallback xmlns:a14="http://schemas.microsoft.com/office/drawing/2010/main" xmlns:a16="http://schemas.microsoft.com/office/drawing/2014/main" xmlns="">
          <p:pic>
            <p:nvPicPr>
              <p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4675" y="2646672"/>
                <a:ext cx="114516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27660" name="Arrow: Right 27659">
            <a:extLst>
              <a:ext uri="{FF2B5EF4-FFF2-40B4-BE49-F238E27FC236}">
                <a16:creationId xmlns:a16="http://schemas.microsoft.com/office/drawing/2014/main" id="{9459A293-D851-077A-7D14-44372C641C86}"/>
              </a:ext>
            </a:extLst>
          </p:cNvPr>
          <p:cNvSpPr/>
          <p:nvPr/>
        </p:nvSpPr>
        <p:spPr>
          <a:xfrm rot="17706872">
            <a:off x="3574473" y="5629171"/>
            <a:ext cx="405245" cy="168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B98BF-0532-73C3-8ED8-08CE2EC9853B}"/>
              </a:ext>
            </a:extLst>
          </p:cNvPr>
          <p:cNvSpPr txBox="1"/>
          <p:nvPr/>
        </p:nvSpPr>
        <p:spPr>
          <a:xfrm>
            <a:off x="3020277" y="1774811"/>
            <a:ext cx="2099006" cy="830997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inserting the 1</a:t>
            </a:r>
            <a:r>
              <a:rPr lang="en-US" sz="16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frequent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Itemlist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f, c, a, m, 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7BFC8C-737C-C144-7C33-44D7C7AA4F9E}"/>
              </a:ext>
            </a:extLst>
          </p:cNvPr>
          <p:cNvSpPr txBox="1"/>
          <p:nvPr/>
        </p:nvSpPr>
        <p:spPr>
          <a:xfrm>
            <a:off x="5677234" y="1762428"/>
            <a:ext cx="1905884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inserting the 2</a:t>
            </a:r>
            <a:r>
              <a:rPr lang="en-US" sz="16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frequent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itemlist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f, c, a, b, m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5BF7D-CE37-3950-4C93-8CDE8D747529}"/>
              </a:ext>
            </a:extLst>
          </p:cNvPr>
          <p:cNvSpPr txBox="1"/>
          <p:nvPr/>
        </p:nvSpPr>
        <p:spPr>
          <a:xfrm>
            <a:off x="8257486" y="1949738"/>
            <a:ext cx="2186739" cy="584775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inserting all the frequent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itemlists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21" grpId="0" animBg="1"/>
      <p:bldP spid="4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366" y="-82602"/>
            <a:ext cx="9949430" cy="131379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/>
              <a:t>FP-树挖掘：分治策略 </a:t>
            </a:r>
            <a:br>
              <a:rPr lang="en-US" altLang="en-US" sz="3600" dirty="0"/>
            </a:br>
            <a:r>
              <a:rPr lang="en-US" altLang="en-US" sz="3600" dirty="0"/>
              <a:t>基于模式与数据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1127" y="1143000"/>
            <a:ext cx="10671384" cy="225897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ea typeface="STKaiti" panose="02010600040101010101" pitchFamily="2" charset="-122"/>
              </a:rPr>
              <a:t>模式挖掘可根据当前模式进行划分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i="1" dirty="0">
                <a:ea typeface="STKaiti" panose="02010600040101010101" pitchFamily="2" charset="-122"/>
              </a:rPr>
              <a:t>包含p的</a:t>
            </a:r>
            <a:r>
              <a:rPr lang="en-US" altLang="en-US" sz="2400" dirty="0">
                <a:ea typeface="STKaiti" panose="02010600040101010101" pitchFamily="2" charset="-122"/>
              </a:rPr>
              <a:t>模式：p的条件数据库：</a:t>
            </a:r>
            <a:r>
              <a:rPr lang="en-US" altLang="en-US" sz="2400" i="1" dirty="0">
                <a:ea typeface="STKaiti" panose="02010600040101010101" pitchFamily="2" charset="-122"/>
              </a:rPr>
              <a:t>fcam:2，cb:1</a:t>
            </a:r>
          </a:p>
          <a:p>
            <a:pPr lvl="2">
              <a:spcBef>
                <a:spcPct val="0"/>
              </a:spcBef>
            </a:pPr>
            <a:r>
              <a:rPr lang="en-US" altLang="ja-JP" sz="2400" dirty="0">
                <a:ea typeface="STKaiti" panose="02010600040101010101" pitchFamily="2" charset="-122"/>
              </a:rPr>
              <a:t>p的</a:t>
            </a:r>
            <a:r>
              <a:rPr lang="en-US" altLang="en-US" sz="2400" dirty="0">
                <a:ea typeface="STKaiti" panose="02010600040101010101" pitchFamily="2" charset="-122"/>
              </a:rPr>
              <a:t>条件</a:t>
            </a:r>
            <a:r>
              <a:rPr lang="en-US" altLang="ja-JP" sz="2400" dirty="0">
                <a:ea typeface="STKaiti" panose="02010600040101010101" pitchFamily="2" charset="-122"/>
              </a:rPr>
              <a:t>数据库（即在</a:t>
            </a:r>
            <a:r>
              <a:rPr lang="en-US" altLang="ja-JP" sz="2400" i="1" dirty="0">
                <a:ea typeface="STKaiti" panose="02010600040101010101" pitchFamily="2" charset="-122"/>
              </a:rPr>
              <a:t>p</a:t>
            </a:r>
            <a:r>
              <a:rPr lang="en-US" altLang="ja-JP" sz="2400" dirty="0">
                <a:ea typeface="STKaiti" panose="02010600040101010101" pitchFamily="2" charset="-122"/>
              </a:rPr>
              <a:t>存在条件下的数据库）： </a:t>
            </a:r>
          </a:p>
          <a:p>
            <a:pPr lvl="3">
              <a:spcBef>
                <a:spcPct val="0"/>
              </a:spcBef>
            </a:pPr>
            <a:r>
              <a:rPr lang="en-US" altLang="ja-JP" sz="2400" i="1" dirty="0" err="1">
                <a:ea typeface="STKaiti" panose="02010600040101010101" pitchFamily="2" charset="-122"/>
              </a:rPr>
              <a:t>p</a:t>
            </a:r>
            <a:r>
              <a:rPr lang="en-US" altLang="ja-JP" sz="2400" dirty="0" err="1">
                <a:ea typeface="STKaiti" panose="02010600040101010101" pitchFamily="2" charset="-122"/>
              </a:rPr>
              <a:t>的</a:t>
            </a:r>
            <a:r>
              <a:rPr lang="en-US" altLang="ja-JP" sz="2400" i="1" dirty="0" err="1">
                <a:solidFill>
                  <a:srgbClr val="FF0000"/>
                </a:solidFill>
                <a:ea typeface="STKaiti" panose="02010600040101010101" pitchFamily="2" charset="-122"/>
              </a:rPr>
              <a:t>转换前缀路径</a:t>
            </a:r>
            <a:endParaRPr lang="en-US" altLang="en-US" sz="2400" i="1" dirty="0">
              <a:ea typeface="STKaiti" panose="0201060004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en-US" sz="2400" dirty="0">
                <a:ea typeface="STKaiti" panose="02010600040101010101" pitchFamily="2" charset="-122"/>
              </a:rPr>
              <a:t>包含m但不包含p的模式：m的条件数据库：</a:t>
            </a:r>
            <a:r>
              <a:rPr lang="en-US" altLang="en-US" sz="2400" i="1" dirty="0">
                <a:ea typeface="STKaiti" panose="02010600040101010101" pitchFamily="2" charset="-122"/>
              </a:rPr>
              <a:t>fca:2, fcab:1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>
                <a:ea typeface="STKaiti" panose="02010600040101010101" pitchFamily="2" charset="-122"/>
              </a:rPr>
              <a:t>……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923019"/>
              </p:ext>
            </p:extLst>
          </p:nvPr>
        </p:nvGraphicFramePr>
        <p:xfrm>
          <a:off x="591127" y="3928635"/>
          <a:ext cx="2719341" cy="25690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7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</a:t>
                      </a:r>
                      <a:endParaRPr lang="en-US" sz="14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频率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头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711" name="Group 79"/>
          <p:cNvGrpSpPr>
            <a:grpSpLocks/>
          </p:cNvGrpSpPr>
          <p:nvPr/>
        </p:nvGrpSpPr>
        <p:grpSpPr bwMode="auto">
          <a:xfrm>
            <a:off x="2682761" y="3108499"/>
            <a:ext cx="3319547" cy="3614232"/>
            <a:chOff x="6172200" y="2962813"/>
            <a:chExt cx="2489239" cy="3614233"/>
          </a:xfrm>
        </p:grpSpPr>
        <p:sp>
          <p:nvSpPr>
            <p:cNvPr id="28716" name="Text Box 4"/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8717" name="Text Box 5"/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28718" name="Text Box 6"/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28719" name="Text Box 7"/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0" name="Text Box 8"/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8721" name="AutoShape 9"/>
            <p:cNvCxnSpPr>
              <a:cxnSpLocks noChangeShapeType="1"/>
              <a:stCxn id="28718" idx="2"/>
              <a:endCxn id="28719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AutoShape 10"/>
            <p:cNvCxnSpPr>
              <a:cxnSpLocks noChangeShapeType="1"/>
              <a:stCxn id="28719" idx="2"/>
              <a:endCxn id="28720" idx="0"/>
            </p:cNvCxnSpPr>
            <p:nvPr/>
          </p:nvCxnSpPr>
          <p:spPr bwMode="auto">
            <a:xfrm>
              <a:off x="8464183" y="4696286"/>
              <a:ext cx="0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AutoShape 11"/>
            <p:cNvCxnSpPr>
              <a:cxnSpLocks noChangeShapeType="1"/>
              <a:stCxn id="28716" idx="2"/>
              <a:endCxn id="28718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AutoShape 12"/>
            <p:cNvCxnSpPr>
              <a:cxnSpLocks noChangeShapeType="1"/>
              <a:stCxn id="28716" idx="2"/>
              <a:endCxn id="28717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5" name="Text Box 13"/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6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8727" name="AutoShape 15"/>
            <p:cNvCxnSpPr>
              <a:cxnSpLocks noChangeShapeType="1"/>
              <a:stCxn id="28717" idx="2"/>
              <a:endCxn id="28726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AutoShape 16"/>
            <p:cNvCxnSpPr>
              <a:cxnSpLocks noChangeShapeType="1"/>
              <a:stCxn id="28717" idx="2"/>
              <a:endCxn id="28725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9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28730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31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28732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28733" name="AutoShape 21"/>
            <p:cNvCxnSpPr>
              <a:cxnSpLocks noChangeShapeType="1"/>
              <a:stCxn id="28726" idx="2"/>
              <a:endCxn id="28729" idx="0"/>
            </p:cNvCxnSpPr>
            <p:nvPr/>
          </p:nvCxnSpPr>
          <p:spPr bwMode="auto">
            <a:xfrm flipH="1">
              <a:off x="7266761" y="4696286"/>
              <a:ext cx="3983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22"/>
            <p:cNvCxnSpPr>
              <a:cxnSpLocks noChangeShapeType="1"/>
              <a:stCxn id="28729" idx="2"/>
              <a:endCxn id="28731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23"/>
            <p:cNvCxnSpPr>
              <a:cxnSpLocks noChangeShapeType="1"/>
              <a:stCxn id="28729" idx="2"/>
              <a:endCxn id="28730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6" name="AutoShape 24"/>
            <p:cNvCxnSpPr>
              <a:cxnSpLocks noChangeShapeType="1"/>
              <a:stCxn id="28731" idx="2"/>
              <a:endCxn id="28732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7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8738" name="AutoShape 26"/>
            <p:cNvCxnSpPr>
              <a:cxnSpLocks noChangeShapeType="1"/>
              <a:stCxn id="28730" idx="2"/>
              <a:endCxn id="28737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9" name="Freeform 28"/>
            <p:cNvSpPr>
              <a:spLocks/>
            </p:cNvSpPr>
            <p:nvPr/>
          </p:nvSpPr>
          <p:spPr bwMode="auto">
            <a:xfrm>
              <a:off x="6248400" y="3892572"/>
              <a:ext cx="1190506" cy="41014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0" name="Freeform 30"/>
            <p:cNvSpPr>
              <a:spLocks/>
            </p:cNvSpPr>
            <p:nvPr/>
          </p:nvSpPr>
          <p:spPr bwMode="auto">
            <a:xfrm>
              <a:off x="7514038" y="3892572"/>
              <a:ext cx="751323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1" name="Freeform 31"/>
            <p:cNvSpPr>
              <a:spLocks/>
            </p:cNvSpPr>
            <p:nvPr/>
          </p:nvSpPr>
          <p:spPr bwMode="auto">
            <a:xfrm>
              <a:off x="6172200" y="5008610"/>
              <a:ext cx="891044" cy="156866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2" name="Freeform 32"/>
            <p:cNvSpPr>
              <a:spLocks/>
            </p:cNvSpPr>
            <p:nvPr/>
          </p:nvSpPr>
          <p:spPr bwMode="auto">
            <a:xfrm>
              <a:off x="6172200" y="5448160"/>
              <a:ext cx="1299575" cy="204253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3" name="Freeform 33"/>
            <p:cNvSpPr>
              <a:spLocks/>
            </p:cNvSpPr>
            <p:nvPr/>
          </p:nvSpPr>
          <p:spPr bwMode="auto">
            <a:xfrm>
              <a:off x="7903786" y="4694877"/>
              <a:ext cx="87654" cy="109806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4" name="Line 34"/>
            <p:cNvSpPr>
              <a:spLocks noChangeShapeType="1"/>
            </p:cNvSpPr>
            <p:nvPr/>
          </p:nvSpPr>
          <p:spPr bwMode="auto">
            <a:xfrm>
              <a:off x="8115096" y="4520037"/>
              <a:ext cx="15026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Freeform 35"/>
            <p:cNvSpPr>
              <a:spLocks/>
            </p:cNvSpPr>
            <p:nvPr/>
          </p:nvSpPr>
          <p:spPr bwMode="auto">
            <a:xfrm>
              <a:off x="6172200" y="5747221"/>
              <a:ext cx="67973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6" name="Freeform 36"/>
            <p:cNvSpPr>
              <a:spLocks/>
            </p:cNvSpPr>
            <p:nvPr/>
          </p:nvSpPr>
          <p:spPr bwMode="auto">
            <a:xfrm>
              <a:off x="7302728" y="5792941"/>
              <a:ext cx="150265" cy="627465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Freeform 37"/>
            <p:cNvSpPr>
              <a:spLocks/>
            </p:cNvSpPr>
            <p:nvPr/>
          </p:nvSpPr>
          <p:spPr bwMode="auto">
            <a:xfrm>
              <a:off x="6172200" y="6176936"/>
              <a:ext cx="679735" cy="243470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Freeform 38"/>
            <p:cNvSpPr>
              <a:spLocks/>
            </p:cNvSpPr>
            <p:nvPr/>
          </p:nvSpPr>
          <p:spPr bwMode="auto">
            <a:xfrm>
              <a:off x="7302728" y="5322342"/>
              <a:ext cx="1202116" cy="109806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712" name="Freeform 31"/>
          <p:cNvSpPr>
            <a:spLocks/>
          </p:cNvSpPr>
          <p:nvPr/>
        </p:nvSpPr>
        <p:spPr bwMode="auto">
          <a:xfrm flipV="1">
            <a:off x="2781055" y="4591822"/>
            <a:ext cx="1126067" cy="242887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713" name="Group 2"/>
          <p:cNvGrpSpPr>
            <a:grpSpLocks/>
          </p:cNvGrpSpPr>
          <p:nvPr/>
        </p:nvGrpSpPr>
        <p:grpSpPr bwMode="auto">
          <a:xfrm>
            <a:off x="6139937" y="3409233"/>
            <a:ext cx="3891304" cy="2796391"/>
            <a:chOff x="4794950" y="3451978"/>
            <a:chExt cx="2977710" cy="2796579"/>
          </a:xfrm>
        </p:grpSpPr>
        <p:sp>
          <p:nvSpPr>
            <p:cNvPr id="28714" name="Rectangle 4"/>
            <p:cNvSpPr>
              <a:spLocks noChangeArrowheads="1"/>
            </p:cNvSpPr>
            <p:nvPr/>
          </p:nvSpPr>
          <p:spPr bwMode="auto">
            <a:xfrm>
              <a:off x="5049994" y="3909298"/>
              <a:ext cx="2660063" cy="2339259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en-US" sz="2000" b="1" i="1" u="sng" dirty="0">
                  <a:latin typeface="STKaiti" panose="02010600040101010101" pitchFamily="2" charset="-122"/>
                  <a:ea typeface="STKaiti" panose="02010600040101010101" pitchFamily="2" charset="-122"/>
                </a:rPr>
                <a:t>项目      条件数据库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c            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a            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b            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m            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p            fcam:2, cb:1</a:t>
              </a:r>
            </a:p>
          </p:txBody>
        </p:sp>
        <p:sp>
          <p:nvSpPr>
            <p:cNvPr id="28715" name="TextBox 1"/>
            <p:cNvSpPr txBox="1">
              <a:spLocks noChangeArrowheads="1"/>
            </p:cNvSpPr>
            <p:nvPr/>
          </p:nvSpPr>
          <p:spPr bwMode="auto">
            <a:xfrm>
              <a:off x="4794950" y="3451978"/>
              <a:ext cx="2977710" cy="36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每个模式的条件数据库</a:t>
              </a:r>
            </a:p>
          </p:txBody>
        </p:sp>
      </p:grp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955843" y="3528425"/>
            <a:ext cx="1985022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>
                <a:latin typeface="STKaiti" panose="02010600040101010101" pitchFamily="2" charset="-122"/>
                <a:ea typeface="STKaiti" panose="02010600040101010101" pitchFamily="2" charset="-122"/>
              </a:rPr>
              <a:t>min_support </a:t>
            </a:r>
            <a:r>
              <a:rPr lang="en-US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= 3</a:t>
            </a:r>
            <a:endParaRPr lang="en-US" altLang="en-US" b="1" u="sng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849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2" grpId="0" animBg="1"/>
      <p:bldP spid="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3"/>
          <p:cNvSpPr txBox="1">
            <a:spLocks noChangeArrowheads="1"/>
          </p:cNvSpPr>
          <p:nvPr/>
        </p:nvSpPr>
        <p:spPr bwMode="auto">
          <a:xfrm>
            <a:off x="5080000" y="5023940"/>
            <a:ext cx="711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latin typeface="STKaiti" panose="02010600040101010101" pitchFamily="2" charset="-122"/>
                <a:ea typeface="STKaiti" panose="02010600040101010101" pitchFamily="2" charset="-122"/>
              </a:rPr>
              <a:t>f:3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121920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4000" dirty="0"/>
              <a:t>递归遍历每个条件数据库</a:t>
            </a:r>
            <a:endParaRPr lang="en-US" altLang="en-US" sz="4800" dirty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5467" y="1143000"/>
            <a:ext cx="6908800" cy="1347787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ea typeface="STKaiti" panose="02010600040101010101" pitchFamily="2" charset="-122"/>
              </a:rPr>
              <a:t>对于每个条件数据库</a:t>
            </a:r>
          </a:p>
          <a:p>
            <a:pPr lvl="1" eaLnBrk="1" hangingPunct="1"/>
            <a:r>
              <a:rPr lang="en-US" altLang="en-US" sz="1800" dirty="0">
                <a:ea typeface="STKaiti" panose="02010600040101010101" pitchFamily="2" charset="-122"/>
              </a:rPr>
              <a:t>挖掘单项模式</a:t>
            </a:r>
          </a:p>
          <a:p>
            <a:pPr lvl="1" eaLnBrk="1" hangingPunct="1"/>
            <a:r>
              <a:rPr lang="en-US" altLang="en-US" sz="1800" dirty="0">
                <a:ea typeface="STKaiti" panose="02010600040101010101" pitchFamily="2" charset="-122"/>
              </a:rPr>
              <a:t>构建其FP树并挖掘它</a:t>
            </a:r>
          </a:p>
        </p:txBody>
      </p:sp>
      <p:grpSp>
        <p:nvGrpSpPr>
          <p:cNvPr id="29702" name="Group 5"/>
          <p:cNvGrpSpPr>
            <a:grpSpLocks/>
          </p:cNvGrpSpPr>
          <p:nvPr/>
        </p:nvGrpSpPr>
        <p:grpSpPr bwMode="auto">
          <a:xfrm>
            <a:off x="-424731" y="4398466"/>
            <a:ext cx="1587501" cy="2408238"/>
            <a:chOff x="3264" y="2736"/>
            <a:chExt cx="750" cy="1517"/>
          </a:xfrm>
        </p:grpSpPr>
        <p:grpSp>
          <p:nvGrpSpPr>
            <p:cNvPr id="29730" name="Group 6"/>
            <p:cNvGrpSpPr>
              <a:grpSpLocks/>
            </p:cNvGrpSpPr>
            <p:nvPr/>
          </p:nvGrpSpPr>
          <p:grpSpPr bwMode="auto">
            <a:xfrm>
              <a:off x="3792" y="2736"/>
              <a:ext cx="222" cy="1280"/>
              <a:chOff x="2282" y="2456"/>
              <a:chExt cx="222" cy="1280"/>
            </a:xfrm>
          </p:grpSpPr>
          <p:sp>
            <p:nvSpPr>
              <p:cNvPr id="2973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1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dirty="0">
                    <a:latin typeface="STKaiti" panose="02010600040101010101" pitchFamily="2" charset="-122"/>
                    <a:ea typeface="STKaiti" panose="02010600040101010101" pitchFamily="2" charset="-122"/>
                  </a:rPr>
                  <a:t>{}</a:t>
                </a:r>
              </a:p>
            </p:txBody>
          </p:sp>
          <p:sp>
            <p:nvSpPr>
              <p:cNvPr id="2973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STKaiti" panose="02010600040101010101" pitchFamily="2" charset="-122"/>
                    <a:ea typeface="STKaiti" panose="02010600040101010101" pitchFamily="2" charset="-122"/>
                  </a:rPr>
                  <a:t>f:3</a:t>
                </a:r>
              </a:p>
            </p:txBody>
          </p:sp>
          <p:sp>
            <p:nvSpPr>
              <p:cNvPr id="2973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2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 dirty="0">
                    <a:latin typeface="STKaiti" panose="02010600040101010101" pitchFamily="2" charset="-122"/>
                    <a:ea typeface="STKaiti" panose="02010600040101010101" pitchFamily="2" charset="-122"/>
                  </a:rPr>
                  <a:t>c:3</a:t>
                </a:r>
              </a:p>
            </p:txBody>
          </p:sp>
          <p:sp>
            <p:nvSpPr>
              <p:cNvPr id="2973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21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STKaiti" panose="02010600040101010101" pitchFamily="2" charset="-122"/>
                    <a:ea typeface="STKaiti" panose="02010600040101010101" pitchFamily="2" charset="-122"/>
                  </a:rPr>
                  <a:t>a:3</a:t>
                </a:r>
              </a:p>
            </p:txBody>
          </p:sp>
          <p:cxnSp>
            <p:nvCxnSpPr>
              <p:cNvPr id="29736" name="AutoShape 11"/>
              <p:cNvCxnSpPr>
                <a:cxnSpLocks noChangeShapeType="1"/>
                <a:stCxn id="29732" idx="2"/>
                <a:endCxn id="29733" idx="0"/>
              </p:cNvCxnSpPr>
              <p:nvPr/>
            </p:nvCxnSpPr>
            <p:spPr bwMode="auto">
              <a:xfrm flipH="1">
                <a:off x="2400" y="2689"/>
                <a:ext cx="8" cy="15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7" name="AutoShape 12"/>
              <p:cNvCxnSpPr>
                <a:cxnSpLocks noChangeShapeType="1"/>
                <a:stCxn id="29733" idx="2"/>
                <a:endCxn id="29734" idx="0"/>
              </p:cNvCxnSpPr>
              <p:nvPr/>
            </p:nvCxnSpPr>
            <p:spPr bwMode="auto">
              <a:xfrm flipH="1">
                <a:off x="2391" y="3073"/>
                <a:ext cx="9" cy="9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8" name="AutoShape 13"/>
              <p:cNvCxnSpPr>
                <a:cxnSpLocks noChangeShapeType="1"/>
                <a:stCxn id="29734" idx="2"/>
                <a:endCxn id="29735" idx="0"/>
              </p:cNvCxnSpPr>
              <p:nvPr/>
            </p:nvCxnSpPr>
            <p:spPr bwMode="auto">
              <a:xfrm>
                <a:off x="2392" y="3400"/>
                <a:ext cx="0" cy="10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31" name="Text Box 14"/>
            <p:cNvSpPr txBox="1">
              <a:spLocks noChangeArrowheads="1"/>
            </p:cNvSpPr>
            <p:nvPr/>
          </p:nvSpPr>
          <p:spPr bwMode="auto">
            <a:xfrm>
              <a:off x="3264" y="4020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29703" name="Group 53"/>
          <p:cNvGrpSpPr>
            <a:grpSpLocks/>
          </p:cNvGrpSpPr>
          <p:nvPr/>
        </p:nvGrpSpPr>
        <p:grpSpPr bwMode="auto">
          <a:xfrm>
            <a:off x="578696" y="1514233"/>
            <a:ext cx="3406776" cy="2544450"/>
            <a:chOff x="5334000" y="3479244"/>
            <a:chExt cx="2555082" cy="2544621"/>
          </a:xfrm>
        </p:grpSpPr>
        <p:sp>
          <p:nvSpPr>
            <p:cNvPr id="29728" name="Rectangle 4"/>
            <p:cNvSpPr>
              <a:spLocks noChangeArrowheads="1"/>
            </p:cNvSpPr>
            <p:nvPr/>
          </p:nvSpPr>
          <p:spPr bwMode="auto">
            <a:xfrm>
              <a:off x="5334000" y="3909298"/>
              <a:ext cx="2555082" cy="2114567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u="sng" dirty="0">
                  <a:latin typeface="STKaiti" panose="02010600040101010101" pitchFamily="2" charset="-122"/>
                  <a:ea typeface="STKaiti" panose="02010600040101010101" pitchFamily="2" charset="-122"/>
                </a:rPr>
                <a:t>项    条件数据集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c    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a    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b    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m    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p    fcam:2, cb:1</a:t>
              </a:r>
            </a:p>
          </p:txBody>
        </p:sp>
        <p:sp>
          <p:nvSpPr>
            <p:cNvPr id="29729" name="TextBox 55"/>
            <p:cNvSpPr txBox="1">
              <a:spLocks noChangeArrowheads="1"/>
            </p:cNvSpPr>
            <p:nvPr/>
          </p:nvSpPr>
          <p:spPr bwMode="auto">
            <a:xfrm>
              <a:off x="5621918" y="3479244"/>
              <a:ext cx="2021204" cy="36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>
                  <a:latin typeface="STKaiti" panose="02010600040101010101" pitchFamily="2" charset="-122"/>
                  <a:ea typeface="STKaiti" panose="02010600040101010101" pitchFamily="2" charset="-122"/>
                </a:rPr>
                <a:t>条件数据集</a:t>
              </a:r>
            </a:p>
          </p:txBody>
        </p:sp>
      </p:grpSp>
      <p:sp>
        <p:nvSpPr>
          <p:cNvPr id="29704" name="Rectangle 3"/>
          <p:cNvSpPr txBox="1">
            <a:spLocks noChangeArrowheads="1"/>
          </p:cNvSpPr>
          <p:nvPr/>
        </p:nvSpPr>
        <p:spPr bwMode="auto">
          <a:xfrm>
            <a:off x="5587278" y="2567635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p的条件数据库：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fcam:2, cb:1 </a:t>
            </a:r>
            <a:r>
              <a:rPr lang="en-US" altLang="en-US" sz="1800" b="1" dirty="0">
                <a:latin typeface="STKaiti" panose="02010600040101010101" pitchFamily="2" charset="-122"/>
                <a:ea typeface="STKaiti" panose="02010600040101010101" pitchFamily="2" charset="-122"/>
              </a:rPr>
              <a:t>→ 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c: 3</a:t>
            </a:r>
          </a:p>
        </p:txBody>
      </p:sp>
      <p:sp>
        <p:nvSpPr>
          <p:cNvPr id="29705" name="Rectangle 3"/>
          <p:cNvSpPr txBox="1">
            <a:spLocks noChangeArrowheads="1"/>
          </p:cNvSpPr>
          <p:nvPr/>
        </p:nvSpPr>
        <p:spPr bwMode="auto">
          <a:xfrm>
            <a:off x="5587277" y="3028407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m 的条件数据库：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fca:2, fcab:1 </a:t>
            </a:r>
            <a:r>
              <a:rPr lang="en-US" altLang="en-US" sz="1800" b="1" dirty="0">
                <a:latin typeface="STKaiti" panose="02010600040101010101" pitchFamily="2" charset="-122"/>
                <a:ea typeface="STKaiti" panose="02010600040101010101" pitchFamily="2" charset="-122"/>
              </a:rPr>
              <a:t>→ </a:t>
            </a:r>
            <a:r>
              <a:rPr lang="en-US" altLang="en-US" sz="1800" b="1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fca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: 3</a:t>
            </a:r>
          </a:p>
        </p:txBody>
      </p:sp>
      <p:sp>
        <p:nvSpPr>
          <p:cNvPr id="29706" name="Rectangle 3"/>
          <p:cNvSpPr txBox="1">
            <a:spLocks noChangeArrowheads="1"/>
          </p:cNvSpPr>
          <p:nvPr/>
        </p:nvSpPr>
        <p:spPr bwMode="auto">
          <a:xfrm>
            <a:off x="5650329" y="3542102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b 的条件数据库：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fca:1, f:1, c:1 </a:t>
            </a:r>
            <a:r>
              <a:rPr lang="en-US" altLang="en-US" sz="1800" b="1" dirty="0">
                <a:latin typeface="STKaiti" panose="02010600040101010101" pitchFamily="2" charset="-122"/>
                <a:ea typeface="STKaiti" panose="02010600040101010101" pitchFamily="2" charset="-122"/>
              </a:rPr>
              <a:t>→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 ɸ</a:t>
            </a:r>
          </a:p>
        </p:txBody>
      </p:sp>
      <p:grpSp>
        <p:nvGrpSpPr>
          <p:cNvPr id="29707" name="Group 14"/>
          <p:cNvGrpSpPr>
            <a:grpSpLocks/>
          </p:cNvGrpSpPr>
          <p:nvPr/>
        </p:nvGrpSpPr>
        <p:grpSpPr bwMode="auto">
          <a:xfrm>
            <a:off x="1523992" y="4376241"/>
            <a:ext cx="1279334" cy="1870075"/>
            <a:chOff x="4393" y="1248"/>
            <a:chExt cx="710" cy="1178"/>
          </a:xfrm>
        </p:grpSpPr>
        <p:sp>
          <p:nvSpPr>
            <p:cNvPr id="29722" name="Text Box 15"/>
            <p:cNvSpPr txBox="1">
              <a:spLocks noChangeArrowheads="1"/>
            </p:cNvSpPr>
            <p:nvPr/>
          </p:nvSpPr>
          <p:spPr bwMode="auto">
            <a:xfrm>
              <a:off x="4878" y="1248"/>
              <a:ext cx="22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{}</a:t>
              </a:r>
            </a:p>
          </p:txBody>
        </p:sp>
        <p:sp>
          <p:nvSpPr>
            <p:cNvPr id="29723" name="Text Box 16"/>
            <p:cNvSpPr txBox="1">
              <a:spLocks noChangeArrowheads="1"/>
            </p:cNvSpPr>
            <p:nvPr/>
          </p:nvSpPr>
          <p:spPr bwMode="auto">
            <a:xfrm>
              <a:off x="4866" y="1632"/>
              <a:ext cx="2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STKaiti" panose="02010600040101010101" pitchFamily="2" charset="-122"/>
                  <a:ea typeface="STKaiti" panose="02010600040101010101" pitchFamily="2" charset="-122"/>
                </a:rPr>
                <a:t>f:3</a:t>
              </a:r>
            </a:p>
          </p:txBody>
        </p:sp>
        <p:sp>
          <p:nvSpPr>
            <p:cNvPr id="29724" name="Text Box 17"/>
            <p:cNvSpPr txBox="1">
              <a:spLocks noChangeArrowheads="1"/>
            </p:cNvSpPr>
            <p:nvPr/>
          </p:nvSpPr>
          <p:spPr bwMode="auto">
            <a:xfrm>
              <a:off x="4853" y="1959"/>
              <a:ext cx="2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STKaiti" panose="02010600040101010101" pitchFamily="2" charset="-122"/>
                  <a:ea typeface="STKaiti" panose="02010600040101010101" pitchFamily="2" charset="-122"/>
                </a:rPr>
                <a:t>c:3</a:t>
              </a:r>
            </a:p>
          </p:txBody>
        </p:sp>
        <p:cxnSp>
          <p:nvCxnSpPr>
            <p:cNvPr id="29725" name="AutoShape 18"/>
            <p:cNvCxnSpPr>
              <a:cxnSpLocks noChangeShapeType="1"/>
              <a:stCxn id="29722" idx="2"/>
              <a:endCxn id="29723" idx="0"/>
            </p:cNvCxnSpPr>
            <p:nvPr/>
          </p:nvCxnSpPr>
          <p:spPr bwMode="auto">
            <a:xfrm flipH="1">
              <a:off x="4984" y="1481"/>
              <a:ext cx="7" cy="15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19"/>
            <p:cNvCxnSpPr>
              <a:cxnSpLocks noChangeShapeType="1"/>
              <a:stCxn id="29723" idx="2"/>
              <a:endCxn id="29724" idx="0"/>
            </p:cNvCxnSpPr>
            <p:nvPr/>
          </p:nvCxnSpPr>
          <p:spPr bwMode="auto">
            <a:xfrm flipH="1">
              <a:off x="4976" y="1865"/>
              <a:ext cx="8" cy="9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7" name="Text Box 20"/>
            <p:cNvSpPr txBox="1">
              <a:spLocks noChangeArrowheads="1"/>
            </p:cNvSpPr>
            <p:nvPr/>
          </p:nvSpPr>
          <p:spPr bwMode="auto">
            <a:xfrm>
              <a:off x="4393" y="2193"/>
              <a:ext cx="10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29708" name="Rectangle 2"/>
          <p:cNvSpPr>
            <a:spLocks noChangeArrowheads="1"/>
          </p:cNvSpPr>
          <p:nvPr/>
        </p:nvSpPr>
        <p:spPr bwMode="auto">
          <a:xfrm>
            <a:off x="1940220" y="5949453"/>
            <a:ext cx="13837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am 的 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FP 树</a:t>
            </a:r>
            <a:endParaRPr lang="en-US" altLang="en-US" sz="1800" i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09" name="Rectangle 3"/>
          <p:cNvSpPr>
            <a:spLocks noChangeArrowheads="1"/>
          </p:cNvSpPr>
          <p:nvPr/>
        </p:nvSpPr>
        <p:spPr bwMode="auto">
          <a:xfrm>
            <a:off x="368641" y="6319341"/>
            <a:ext cx="1265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latin typeface="STKaiti" panose="02010600040101010101" pitchFamily="2" charset="-122"/>
                <a:ea typeface="STKaiti" panose="02010600040101010101" pitchFamily="2" charset="-122"/>
              </a:rPr>
              <a:t>m 的 FP 树</a:t>
            </a:r>
          </a:p>
        </p:txBody>
      </p:sp>
      <p:sp>
        <p:nvSpPr>
          <p:cNvPr id="29710" name="Text Box 22"/>
          <p:cNvSpPr txBox="1">
            <a:spLocks noChangeArrowheads="1"/>
          </p:cNvSpPr>
          <p:nvPr/>
        </p:nvSpPr>
        <p:spPr bwMode="auto">
          <a:xfrm>
            <a:off x="3668185" y="4398466"/>
            <a:ext cx="4058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{}</a:t>
            </a:r>
          </a:p>
        </p:txBody>
      </p: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3642785" y="5008066"/>
            <a:ext cx="4235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latin typeface="STKaiti" panose="02010600040101010101" pitchFamily="2" charset="-122"/>
                <a:ea typeface="STKaiti" panose="02010600040101010101" pitchFamily="2" charset="-122"/>
              </a:rPr>
              <a:t>f:3</a:t>
            </a:r>
          </a:p>
        </p:txBody>
      </p:sp>
      <p:cxnSp>
        <p:nvCxnSpPr>
          <p:cNvPr id="29712" name="AutoShape 24"/>
          <p:cNvCxnSpPr>
            <a:cxnSpLocks noChangeShapeType="1"/>
            <a:stCxn id="29710" idx="2"/>
            <a:endCxn id="29711" idx="0"/>
          </p:cNvCxnSpPr>
          <p:nvPr/>
        </p:nvCxnSpPr>
        <p:spPr bwMode="auto">
          <a:xfrm flipH="1">
            <a:off x="3854542" y="4767798"/>
            <a:ext cx="16583" cy="24026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Text Box 25"/>
          <p:cNvSpPr txBox="1">
            <a:spLocks noChangeArrowheads="1"/>
          </p:cNvSpPr>
          <p:nvPr/>
        </p:nvSpPr>
        <p:spPr bwMode="auto">
          <a:xfrm>
            <a:off x="3148608" y="5477846"/>
            <a:ext cx="15397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latin typeface="STKaiti" panose="02010600040101010101" pitchFamily="2" charset="-122"/>
                <a:ea typeface="STKaiti" panose="02010600040101010101" pitchFamily="2" charset="-122"/>
              </a:rPr>
              <a:t>cm 的 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FP 树</a:t>
            </a:r>
            <a:endParaRPr lang="en-US" altLang="en-US" sz="1800" i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14" name="Curved Down Arrow 5"/>
          <p:cNvSpPr>
            <a:spLocks noChangeArrowheads="1"/>
          </p:cNvSpPr>
          <p:nvPr/>
        </p:nvSpPr>
        <p:spPr bwMode="auto">
          <a:xfrm rot="-882105">
            <a:off x="1134534" y="4930278"/>
            <a:ext cx="2478617" cy="493712"/>
          </a:xfrm>
          <a:prstGeom prst="curvedDownArrow">
            <a:avLst>
              <a:gd name="adj1" fmla="val 24980"/>
              <a:gd name="adj2" fmla="val 49942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15" name="Curved Up Arrow 6"/>
          <p:cNvSpPr>
            <a:spLocks noChangeArrowheads="1"/>
          </p:cNvSpPr>
          <p:nvPr/>
        </p:nvSpPr>
        <p:spPr bwMode="auto">
          <a:xfrm rot="-929925">
            <a:off x="2969685" y="5571628"/>
            <a:ext cx="2364316" cy="366712"/>
          </a:xfrm>
          <a:prstGeom prst="curvedUpArrow">
            <a:avLst>
              <a:gd name="adj1" fmla="val 24983"/>
              <a:gd name="adj2" fmla="val 50012"/>
              <a:gd name="adj3" fmla="val 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16" name="Curved Down Arrow 78"/>
          <p:cNvSpPr>
            <a:spLocks noChangeArrowheads="1"/>
          </p:cNvSpPr>
          <p:nvPr/>
        </p:nvSpPr>
        <p:spPr bwMode="auto">
          <a:xfrm rot="-1772547">
            <a:off x="1117601" y="5703391"/>
            <a:ext cx="1299633" cy="282575"/>
          </a:xfrm>
          <a:prstGeom prst="curvedDownArrow">
            <a:avLst>
              <a:gd name="adj1" fmla="val 25088"/>
              <a:gd name="adj2" fmla="val 50161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17" name="Text Box 22"/>
          <p:cNvSpPr txBox="1">
            <a:spLocks noChangeArrowheads="1"/>
          </p:cNvSpPr>
          <p:nvPr/>
        </p:nvSpPr>
        <p:spPr bwMode="auto">
          <a:xfrm>
            <a:off x="5196418" y="4414341"/>
            <a:ext cx="4058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{}</a:t>
            </a:r>
          </a:p>
        </p:txBody>
      </p:sp>
      <p:cxnSp>
        <p:nvCxnSpPr>
          <p:cNvPr id="29718" name="AutoShape 24"/>
          <p:cNvCxnSpPr>
            <a:cxnSpLocks noChangeShapeType="1"/>
            <a:stCxn id="29717" idx="2"/>
            <a:endCxn id="29698" idx="0"/>
          </p:cNvCxnSpPr>
          <p:nvPr/>
        </p:nvCxnSpPr>
        <p:spPr bwMode="auto">
          <a:xfrm>
            <a:off x="5399358" y="4783673"/>
            <a:ext cx="36242" cy="2402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Text Box 25"/>
          <p:cNvSpPr txBox="1">
            <a:spLocks noChangeArrowheads="1"/>
          </p:cNvSpPr>
          <p:nvPr/>
        </p:nvSpPr>
        <p:spPr bwMode="auto">
          <a:xfrm>
            <a:off x="4735948" y="5432300"/>
            <a:ext cx="1577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latin typeface="STKaiti" panose="02010600040101010101" pitchFamily="2" charset="-122"/>
                <a:ea typeface="STKaiti" panose="02010600040101010101" pitchFamily="2" charset="-122"/>
              </a:rPr>
              <a:t>cam 的 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FP 树</a:t>
            </a:r>
            <a:endParaRPr lang="en-US" altLang="en-US" sz="1800" i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9720" name="Rectangle 15"/>
          <p:cNvSpPr>
            <a:spLocks noChangeArrowheads="1"/>
          </p:cNvSpPr>
          <p:nvPr/>
        </p:nvSpPr>
        <p:spPr bwMode="auto">
          <a:xfrm>
            <a:off x="6889046" y="4937941"/>
            <a:ext cx="2476500" cy="12834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m: 3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fm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: 3, cm: 3, 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fcm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: 3, fam:3, cam: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fcam</a:t>
            </a:r>
            <a:r>
              <a:rPr lang="en-US" altLang="en-US" sz="1800" b="1" i="1" dirty="0">
                <a:latin typeface="STKaiti" panose="02010600040101010101" pitchFamily="2" charset="-122"/>
                <a:ea typeface="STKaiti" panose="02010600040101010101" pitchFamily="2" charset="-122"/>
              </a:rPr>
              <a:t>: 3</a:t>
            </a:r>
          </a:p>
        </p:txBody>
      </p:sp>
      <p:sp>
        <p:nvSpPr>
          <p:cNvPr id="89" name="Rectangle 3"/>
          <p:cNvSpPr txBox="1">
            <a:spLocks noChangeArrowheads="1"/>
          </p:cNvSpPr>
          <p:nvPr/>
        </p:nvSpPr>
        <p:spPr bwMode="auto">
          <a:xfrm>
            <a:off x="5700182" y="4363247"/>
            <a:ext cx="6160513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en-US" sz="1800" kern="0" dirty="0">
                <a:latin typeface="STKaiti" panose="02010600040101010101" pitchFamily="2" charset="-122"/>
                <a:ea typeface="STKaiti" panose="02010600040101010101" pitchFamily="2" charset="-122"/>
              </a:rPr>
              <a:t>实际上，对于单分支 FP-树，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所有频繁模式均可一次性生成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1295883" y="1161410"/>
            <a:ext cx="1985022" cy="2585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 err="1">
                <a:latin typeface="STKaiti" panose="02010600040101010101" pitchFamily="2" charset="-122"/>
                <a:ea typeface="STKaiti" panose="02010600040101010101" pitchFamily="2" charset="-122"/>
              </a:rPr>
              <a:t>min_support </a:t>
            </a:r>
            <a:r>
              <a:rPr lang="en-US" altLang="en-US" sz="1800" b="1" dirty="0">
                <a:latin typeface="STKaiti" panose="02010600040101010101" pitchFamily="2" charset="-122"/>
                <a:ea typeface="STKaiti" panose="02010600040101010101" pitchFamily="2" charset="-122"/>
              </a:rPr>
              <a:t>= 3</a:t>
            </a:r>
            <a:endParaRPr lang="en-US" altLang="en-US" sz="1800" b="1" u="sng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64362" y="6324590"/>
            <a:ext cx="325910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然后，挖掘m的FP树：fca:3</a:t>
            </a:r>
          </a:p>
        </p:txBody>
      </p:sp>
    </p:spTree>
    <p:extLst>
      <p:ext uri="{BB962C8B-B14F-4D97-AF65-F5344CB8AC3E}">
        <p14:creationId xmlns:p14="http://schemas.microsoft.com/office/powerpoint/2010/main" val="108350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4" grpId="0" animBg="1"/>
      <p:bldP spid="29705" grpId="0" animBg="1"/>
      <p:bldP spid="29706" grpId="0" animBg="1"/>
      <p:bldP spid="29708" grpId="0"/>
      <p:bldP spid="29709" grpId="0"/>
      <p:bldP spid="29710" grpId="0"/>
      <p:bldP spid="29711" grpId="0"/>
      <p:bldP spid="29713" grpId="0"/>
      <p:bldP spid="29714" grpId="0" animBg="1"/>
      <p:bldP spid="29715" grpId="0" animBg="1"/>
      <p:bldP spid="29716" grpId="0" animBg="1"/>
      <p:bldP spid="29717" grpId="0"/>
      <p:bldP spid="29719" grpId="0"/>
      <p:bldP spid="29720" grpId="0" animBg="1"/>
      <p:bldP spid="42" grpId="0" animBg="1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C5D06-09C1-CF3E-9A31-809AB1797B40}"/>
              </a:ext>
            </a:extLst>
          </p:cNvPr>
          <p:cNvSpPr txBox="1"/>
          <p:nvPr/>
        </p:nvSpPr>
        <p:spPr>
          <a:xfrm>
            <a:off x="812800" y="1151453"/>
            <a:ext cx="9227128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2400" b="1">
                <a:latin typeface="STKaiti" panose="02010600040101010101" pitchFamily="2" charset="-122"/>
              </a:rPr>
              <a:t>算法步骤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altLang="ko-Kore-KR">
                <a:latin typeface="STKaiti" panose="02010600040101010101" pitchFamily="2" charset="-122"/>
              </a:rPr>
              <a:t>Step 1: </a:t>
            </a:r>
            <a:r>
              <a:rPr lang="ko-Kore-KR" altLang="en-US">
                <a:latin typeface="STKaiti" panose="02010600040101010101" pitchFamily="2" charset="-122"/>
              </a:rPr>
              <a:t>扫描数据库,计算单一项的频率(或支持度计数);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altLang="ko-Kore-KR">
                <a:latin typeface="STKaiti" panose="02010600040101010101" pitchFamily="2" charset="-122"/>
              </a:rPr>
              <a:t>Step 2: </a:t>
            </a:r>
            <a:r>
              <a:rPr lang="ko-Kore-KR" altLang="en-US">
                <a:latin typeface="STKaiti" panose="02010600040101010101" pitchFamily="2" charset="-122"/>
              </a:rPr>
              <a:t>按频率降序排列,写出频繁1项集集合;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ko-Kore-KR" altLang="en-US">
                <a:latin typeface="STKaiti" panose="02010600040101010101" pitchFamily="2" charset="-122"/>
              </a:rPr>
              <a:t>支持度过滤</a:t>
            </a:r>
            <a:r>
              <a:rPr lang="en-US" altLang="ko-Kore-KR">
                <a:latin typeface="STKaiti" panose="02010600040101010101" pitchFamily="2" charset="-122"/>
              </a:rPr>
              <a:t>(</a:t>
            </a:r>
            <a:r>
              <a:rPr lang="ko-Kore-KR" altLang="en-US">
                <a:latin typeface="STKaiti" panose="02010600040101010101" pitchFamily="2" charset="-122"/>
              </a:rPr>
              <a:t>丢弃非频繁的项</a:t>
            </a:r>
            <a:r>
              <a:rPr lang="zh-CN" altLang="en-US">
                <a:latin typeface="STKaiti" panose="02010600040101010101" pitchFamily="2" charset="-122"/>
              </a:rPr>
              <a:t>）</a:t>
            </a:r>
            <a:r>
              <a:rPr lang="ko-Kore-KR" altLang="en-US">
                <a:latin typeface="STKaiti" panose="02010600040101010101" pitchFamily="2" charset="-122"/>
              </a:rPr>
              <a:t>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ko-Kore-KR" altLang="en-US">
              <a:latin typeface="STKaiti" panose="02010600040101010101" pitchFamily="2" charset="-122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ko-Kore-KR" altLang="en-US">
                <a:latin typeface="STKaiti" panose="02010600040101010101" pitchFamily="2" charset="-122"/>
              </a:rPr>
              <a:t>按频率递减排序</a:t>
            </a:r>
            <a:r>
              <a:rPr lang="en-US" altLang="ko-Kore-KR">
                <a:latin typeface="STKaiti" panose="02010600040101010101" pitchFamily="2" charset="-122"/>
              </a:rPr>
              <a:t>(</a:t>
            </a:r>
            <a:r>
              <a:rPr lang="ko-Kore-KR" altLang="en-US">
                <a:latin typeface="STKaiti" panose="02010600040101010101" pitchFamily="2" charset="-122"/>
              </a:rPr>
              <a:t>降序排列</a:t>
            </a:r>
            <a:r>
              <a:rPr lang="zh-CN" altLang="en-US">
                <a:latin typeface="STKaiti" panose="02010600040101010101" pitchFamily="2" charset="-122"/>
              </a:rPr>
              <a:t>）</a:t>
            </a:r>
            <a:r>
              <a:rPr lang="ko-Kore-KR" altLang="en-US">
                <a:latin typeface="STKaiti" panose="02010600040101010101" pitchFamily="2" charset="-122"/>
              </a:rPr>
              <a:t>;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ko-Kore-KR" altLang="en-US">
              <a:latin typeface="STKaiti" panose="02010600040101010101" pitchFamily="2" charset="-122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ko-Kore-KR" altLang="en-US">
                <a:latin typeface="STKaiti" panose="02010600040101010101" pitchFamily="2" charset="-122"/>
              </a:rPr>
              <a:t>相同频率按字典序排列;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endParaRPr lang="en-US" altLang="zh-CN">
              <a:latin typeface="STKaiti" panose="02010600040101010101" pitchFamily="2" charset="-122"/>
            </a:endParaRPr>
          </a:p>
          <a:p>
            <a:pPr lvl="1"/>
            <a:r>
              <a:rPr lang="en" altLang="zh-CN">
                <a:latin typeface="STKaiti" panose="02010600040101010101" pitchFamily="2" charset="-122"/>
              </a:rPr>
              <a:t>L = {{12</a:t>
            </a:r>
            <a:r>
              <a:rPr lang="zh-CN" altLang="en">
                <a:latin typeface="STKaiti" panose="02010600040101010101" pitchFamily="2" charset="-122"/>
              </a:rPr>
              <a:t>：</a:t>
            </a:r>
            <a:r>
              <a:rPr lang="en" altLang="zh-CN">
                <a:latin typeface="STKaiti" panose="02010600040101010101" pitchFamily="2" charset="-122"/>
              </a:rPr>
              <a:t>7}</a:t>
            </a:r>
            <a:r>
              <a:rPr lang="zh-CN" altLang="en">
                <a:latin typeface="STKaiti" panose="02010600040101010101" pitchFamily="2" charset="-122"/>
              </a:rPr>
              <a:t>，</a:t>
            </a:r>
            <a:r>
              <a:rPr lang="en" altLang="zh-CN">
                <a:latin typeface="STKaiti" panose="02010600040101010101" pitchFamily="2" charset="-122"/>
              </a:rPr>
              <a:t>{11</a:t>
            </a:r>
            <a:r>
              <a:rPr lang="zh-CN" altLang="en">
                <a:latin typeface="STKaiti" panose="02010600040101010101" pitchFamily="2" charset="-122"/>
              </a:rPr>
              <a:t>：</a:t>
            </a:r>
            <a:r>
              <a:rPr lang="en" altLang="zh-CN">
                <a:latin typeface="STKaiti" panose="02010600040101010101" pitchFamily="2" charset="-122"/>
              </a:rPr>
              <a:t>6}</a:t>
            </a:r>
            <a:r>
              <a:rPr lang="zh-CN" altLang="en">
                <a:latin typeface="STKaiti" panose="02010600040101010101" pitchFamily="2" charset="-122"/>
              </a:rPr>
              <a:t>，</a:t>
            </a:r>
            <a:r>
              <a:rPr lang="en" altLang="zh-CN">
                <a:latin typeface="STKaiti" panose="02010600040101010101" pitchFamily="2" charset="-122"/>
              </a:rPr>
              <a:t>{13</a:t>
            </a:r>
            <a:r>
              <a:rPr lang="zh-CN" altLang="en">
                <a:latin typeface="STKaiti" panose="02010600040101010101" pitchFamily="2" charset="-122"/>
              </a:rPr>
              <a:t>：</a:t>
            </a:r>
            <a:r>
              <a:rPr lang="en" altLang="zh-CN">
                <a:latin typeface="STKaiti" panose="02010600040101010101" pitchFamily="2" charset="-122"/>
              </a:rPr>
              <a:t>6}</a:t>
            </a:r>
            <a:r>
              <a:rPr lang="zh-CN" altLang="en">
                <a:latin typeface="STKaiti" panose="02010600040101010101" pitchFamily="2" charset="-122"/>
              </a:rPr>
              <a:t>，</a:t>
            </a:r>
            <a:r>
              <a:rPr lang="en" altLang="zh-CN">
                <a:latin typeface="STKaiti" panose="02010600040101010101" pitchFamily="2" charset="-122"/>
              </a:rPr>
              <a:t>{14</a:t>
            </a:r>
            <a:r>
              <a:rPr lang="zh-CN" altLang="en">
                <a:latin typeface="STKaiti" panose="02010600040101010101" pitchFamily="2" charset="-122"/>
              </a:rPr>
              <a:t>：</a:t>
            </a:r>
            <a:r>
              <a:rPr lang="en" altLang="zh-CN">
                <a:latin typeface="STKaiti" panose="02010600040101010101" pitchFamily="2" charset="-122"/>
              </a:rPr>
              <a:t>2}</a:t>
            </a:r>
            <a:r>
              <a:rPr lang="zh-CN" altLang="en">
                <a:latin typeface="STKaiti" panose="02010600040101010101" pitchFamily="2" charset="-122"/>
              </a:rPr>
              <a:t>，</a:t>
            </a:r>
            <a:r>
              <a:rPr lang="en" altLang="zh-CN">
                <a:latin typeface="STKaiti" panose="02010600040101010101" pitchFamily="2" charset="-122"/>
              </a:rPr>
              <a:t>{15</a:t>
            </a:r>
            <a:r>
              <a:rPr lang="zh-CN" altLang="en">
                <a:latin typeface="STKaiti" panose="02010600040101010101" pitchFamily="2" charset="-122"/>
              </a:rPr>
              <a:t>：</a:t>
            </a:r>
            <a:r>
              <a:rPr lang="en" altLang="zh-CN">
                <a:latin typeface="STKaiti" panose="02010600040101010101" pitchFamily="2" charset="-122"/>
              </a:rPr>
              <a:t>2}}</a:t>
            </a:r>
            <a:endParaRPr lang="ko-Kore-KR" altLang="en-US">
              <a:latin typeface="STKaiti" panose="02010600040101010101" pitchFamily="2" charset="-122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ko-Kore-KR" altLang="en-US">
              <a:latin typeface="STKaiti" panose="02010600040101010101" pitchFamily="2" charset="-122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ko-Kore-KR" altLang="en-US">
                <a:latin typeface="STKaiti" panose="02010600040101010101" pitchFamily="2" charset="-122"/>
              </a:rPr>
              <a:t>重写事务数据库。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248CB4-9F02-67A2-2138-EA98F095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340113"/>
            <a:ext cx="3949700" cy="4597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9A286-9799-2921-BBA0-56B673103362}"/>
              </a:ext>
            </a:extLst>
          </p:cNvPr>
          <p:cNvSpPr txBox="1"/>
          <p:nvPr/>
        </p:nvSpPr>
        <p:spPr>
          <a:xfrm>
            <a:off x="7831859" y="5941561"/>
            <a:ext cx="441613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ore-KR">
                <a:latin typeface="STKaiti" panose="02010600040101010101" pitchFamily="2" charset="-122"/>
              </a:rPr>
              <a:t>minsup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</a:rPr>
              <a:t>=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</a:rPr>
              <a:t>2</a:t>
            </a:r>
            <a:endParaRPr lang="ko-Kore-KR" altLang="en-US">
              <a:latin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8999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18D1D-6CB0-099D-B665-711D2DFF1D91}"/>
              </a:ext>
            </a:extLst>
          </p:cNvPr>
          <p:cNvSpPr txBox="1"/>
          <p:nvPr/>
        </p:nvSpPr>
        <p:spPr>
          <a:xfrm>
            <a:off x="854363" y="1388211"/>
            <a:ext cx="231717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>
                <a:latin typeface="STKaiti" panose="02010600040101010101" pitchFamily="2" charset="-122"/>
              </a:rPr>
              <a:t>Step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</a:rPr>
              <a:t>1: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r>
              <a:rPr lang="ko-Kore-KR" altLang="en-US">
                <a:latin typeface="STKaiti" panose="02010600040101010101" pitchFamily="2" charset="-122"/>
              </a:rPr>
              <a:t>扫描数据库</a:t>
            </a:r>
            <a:endParaRPr lang="ko-Kore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C444378-5F24-ACB4-8CA0-D294DE33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62302"/>
              </p:ext>
            </p:extLst>
          </p:nvPr>
        </p:nvGraphicFramePr>
        <p:xfrm>
          <a:off x="854363" y="1994284"/>
          <a:ext cx="2096656" cy="2607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328">
                  <a:extLst>
                    <a:ext uri="{9D8B030D-6E8A-4147-A177-3AD203B41FA5}">
                      <a16:colId xmlns:a16="http://schemas.microsoft.com/office/drawing/2014/main" val="3037993879"/>
                    </a:ext>
                  </a:extLst>
                </a:gridCol>
                <a:gridCol w="1048328">
                  <a:extLst>
                    <a:ext uri="{9D8B030D-6E8A-4147-A177-3AD203B41FA5}">
                      <a16:colId xmlns:a16="http://schemas.microsoft.com/office/drawing/2014/main" val="3490155095"/>
                    </a:ext>
                  </a:extLst>
                </a:gridCol>
              </a:tblGrid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Frequence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051546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398538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7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922639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I3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496813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I4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027975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I5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530873"/>
                  </a:ext>
                </a:extLst>
              </a:tr>
              <a:tr h="372482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1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79840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6F6772-56E6-8AF5-0DCA-6F277FE65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999427"/>
              </p:ext>
            </p:extLst>
          </p:nvPr>
        </p:nvGraphicFramePr>
        <p:xfrm>
          <a:off x="3983133" y="2323386"/>
          <a:ext cx="2096656" cy="2259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328">
                  <a:extLst>
                    <a:ext uri="{9D8B030D-6E8A-4147-A177-3AD203B41FA5}">
                      <a16:colId xmlns:a16="http://schemas.microsoft.com/office/drawing/2014/main" val="3037993879"/>
                    </a:ext>
                  </a:extLst>
                </a:gridCol>
                <a:gridCol w="1048328">
                  <a:extLst>
                    <a:ext uri="{9D8B030D-6E8A-4147-A177-3AD203B41FA5}">
                      <a16:colId xmlns:a16="http://schemas.microsoft.com/office/drawing/2014/main" val="3490155095"/>
                    </a:ext>
                  </a:extLst>
                </a:gridCol>
              </a:tblGrid>
              <a:tr h="447523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Frequence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051546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</a:t>
                      </a:r>
                      <a:r>
                        <a:rPr lang="en-US" altLang="zh-CN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7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398538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</a:t>
                      </a:r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1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22639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I3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496813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I4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27975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I5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53087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8DE3C93-0500-7664-8F36-92B507C77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381537"/>
              </p:ext>
            </p:extLst>
          </p:nvPr>
        </p:nvGraphicFramePr>
        <p:xfrm>
          <a:off x="6710952" y="2323386"/>
          <a:ext cx="4302673" cy="33735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98081">
                  <a:extLst>
                    <a:ext uri="{9D8B030D-6E8A-4147-A177-3AD203B41FA5}">
                      <a16:colId xmlns:a16="http://schemas.microsoft.com/office/drawing/2014/main" val="3500915993"/>
                    </a:ext>
                  </a:extLst>
                </a:gridCol>
                <a:gridCol w="1587551">
                  <a:extLst>
                    <a:ext uri="{9D8B030D-6E8A-4147-A177-3AD203B41FA5}">
                      <a16:colId xmlns:a16="http://schemas.microsoft.com/office/drawing/2014/main" val="2899802426"/>
                    </a:ext>
                  </a:extLst>
                </a:gridCol>
                <a:gridCol w="1917041">
                  <a:extLst>
                    <a:ext uri="{9D8B030D-6E8A-4147-A177-3AD203B41FA5}">
                      <a16:colId xmlns:a16="http://schemas.microsoft.com/office/drawing/2014/main" val="3556069129"/>
                    </a:ext>
                  </a:extLst>
                </a:gridCol>
              </a:tblGrid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Item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Ordered Itemset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4212656890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T100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I5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I5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3941868361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T200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I4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I4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604481381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T300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356067574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T400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I4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I4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644567244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T500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326614065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T600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32938976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T700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520179956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T800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I3, I5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I3, I5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088959774"/>
                  </a:ext>
                </a:extLst>
              </a:tr>
              <a:tr h="337358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T900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I3, I6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I3</a:t>
                      </a:r>
                      <a:endParaRPr lang="ko-Kore-KR" sz="12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938251850"/>
                  </a:ext>
                </a:extLst>
              </a:tr>
            </a:tbl>
          </a:graphicData>
        </a:graphic>
      </p:graphicFrame>
      <p:sp>
        <p:nvSpPr>
          <p:cNvPr id="12" name="왼쪽 대괄호[L] 11">
            <a:extLst>
              <a:ext uri="{FF2B5EF4-FFF2-40B4-BE49-F238E27FC236}">
                <a16:creationId xmlns:a16="http://schemas.microsoft.com/office/drawing/2014/main" id="{BEDAD11B-8F48-CA25-F7D7-D8F058C5E592}"/>
              </a:ext>
            </a:extLst>
          </p:cNvPr>
          <p:cNvSpPr/>
          <p:nvPr/>
        </p:nvSpPr>
        <p:spPr>
          <a:xfrm rot="5400000">
            <a:off x="7009812" y="-214531"/>
            <a:ext cx="436866" cy="463896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BEE74-7042-156E-2675-07C4D08B63F5}"/>
              </a:ext>
            </a:extLst>
          </p:cNvPr>
          <p:cNvSpPr txBox="1"/>
          <p:nvPr/>
        </p:nvSpPr>
        <p:spPr>
          <a:xfrm>
            <a:off x="6280682" y="1388211"/>
            <a:ext cx="218444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>
                <a:latin typeface="STKaiti" panose="02010600040101010101" pitchFamily="2" charset="-122"/>
              </a:rPr>
              <a:t>Step</a:t>
            </a:r>
            <a:r>
              <a:rPr lang="zh-CN" altLang="en-US">
                <a:latin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</a:rPr>
              <a:t>2</a:t>
            </a:r>
            <a:r>
              <a:rPr lang="zh-CN" altLang="en-US">
                <a:latin typeface="STKaiti" panose="02010600040101010101" pitchFamily="2" charset="-122"/>
              </a:rPr>
              <a:t>：</a:t>
            </a:r>
            <a:r>
              <a:rPr lang="ko-Kore-KR" altLang="en-US">
                <a:latin typeface="STKaiti" panose="02010600040101010101" pitchFamily="2" charset="-122"/>
              </a:rPr>
              <a:t>降序排列</a:t>
            </a:r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615947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535A8-A1E3-71EA-9E1E-DBD4B29E9CDC}"/>
              </a:ext>
            </a:extLst>
          </p:cNvPr>
          <p:cNvSpPr txBox="1"/>
          <p:nvPr/>
        </p:nvSpPr>
        <p:spPr>
          <a:xfrm>
            <a:off x="812800" y="1151453"/>
            <a:ext cx="9037782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2400" b="1">
                <a:latin typeface="STKaiti" panose="02010600040101010101" pitchFamily="2" charset="-122"/>
              </a:rPr>
              <a:t>算法步骤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altLang="ko-Kore-KR">
                <a:latin typeface="STKaiti" panose="02010600040101010101" pitchFamily="2" charset="-122"/>
              </a:rPr>
              <a:t>Step 3: </a:t>
            </a:r>
            <a:r>
              <a:rPr lang="ko-Kore-KR" altLang="en-US">
                <a:latin typeface="STKaiti" panose="02010600040101010101" pitchFamily="2" charset="-122"/>
              </a:rPr>
              <a:t>构建</a:t>
            </a:r>
            <a:r>
              <a:rPr lang="en-US" altLang="ko-Kore-KR">
                <a:latin typeface="STKaiti" panose="02010600040101010101" pitchFamily="2" charset="-122"/>
                <a:ea typeface="STKaiti" panose="02010600040101010101" pitchFamily="2" charset="-122"/>
              </a:rPr>
              <a:t>FP</a:t>
            </a:r>
            <a:r>
              <a:rPr lang="ko-Kore-KR" altLang="en-US">
                <a:latin typeface="STKaiti" panose="02010600040101010101" pitchFamily="2" charset="-122"/>
              </a:rPr>
              <a:t>树</a:t>
            </a:r>
            <a:endParaRPr lang="en-US" altLang="ko-Kore-KR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altLang="ko-Kore-KR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914389" lvl="1" indent="-457200">
              <a:buFont typeface="+mj-lt"/>
              <a:buAutoNum type="arabicParenR"/>
            </a:pPr>
            <a:r>
              <a:rPr lang="ko-Kore-KR" altLang="en-US">
                <a:latin typeface="STKaiti" panose="02010600040101010101" pitchFamily="2" charset="-122"/>
              </a:rPr>
              <a:t>创建树木的根结点</a:t>
            </a:r>
            <a:r>
              <a:rPr lang="en-US" altLang="ko-Kore-KR">
                <a:latin typeface="STKaiti" panose="02010600040101010101" pitchFamily="2" charset="-122"/>
                <a:ea typeface="STKaiti" panose="02010600040101010101" pitchFamily="2" charset="-122"/>
              </a:rPr>
              <a:t>null</a:t>
            </a:r>
          </a:p>
          <a:p>
            <a:pPr marL="914389" lvl="1" indent="-457200">
              <a:buFont typeface="+mj-lt"/>
              <a:buAutoNum type="arabicParenR"/>
            </a:pPr>
            <a:r>
              <a:rPr lang="ko-Kore-KR" altLang="en-US">
                <a:latin typeface="STKaiti" panose="02010600040101010101" pitchFamily="2" charset="-122"/>
              </a:rPr>
              <a:t>扫描事务数据库</a:t>
            </a:r>
            <a:r>
              <a:rPr lang="en-US" altLang="ko-Kore-KR">
                <a:latin typeface="STKaiti" panose="02010600040101010101" pitchFamily="2" charset="-122"/>
                <a:ea typeface="STKaiti" panose="02010600040101010101" pitchFamily="2" charset="-122"/>
              </a:rPr>
              <a:t>D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，将项集按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L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中的次序处理，针对每个事物创建一个分支，添加事务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{I2,I1,I5}</a:t>
            </a:r>
          </a:p>
          <a:p>
            <a:endParaRPr lang="ko-Kore-KR" altLang="en-US">
              <a:latin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1064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5BA2A75-FD17-F82A-15AA-F9BF8DD55FF8}"/>
              </a:ext>
            </a:extLst>
          </p:cNvPr>
          <p:cNvGrpSpPr/>
          <p:nvPr/>
        </p:nvGrpSpPr>
        <p:grpSpPr>
          <a:xfrm>
            <a:off x="864900" y="1722092"/>
            <a:ext cx="2770908" cy="3657541"/>
            <a:chOff x="1070738" y="1540170"/>
            <a:chExt cx="2770908" cy="3657541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DBFC0041-3924-1214-737E-50F5CD3BD84A}"/>
                </a:ext>
              </a:extLst>
            </p:cNvPr>
            <p:cNvSpPr/>
            <p:nvPr/>
          </p:nvSpPr>
          <p:spPr>
            <a:xfrm>
              <a:off x="2733283" y="1540170"/>
              <a:ext cx="1108363" cy="720436"/>
            </a:xfrm>
            <a:prstGeom prst="ellipse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1800">
                  <a:solidFill>
                    <a:schemeClr val="tx1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null</a:t>
              </a:r>
              <a:endParaRPr kumimoji="1" lang="ko-Kore-KR" altLang="en-US" sz="1800">
                <a:solidFill>
                  <a:schemeClr val="tx1"/>
                </a:solidFill>
                <a:latin typeface="STKaiti" panose="02010600040101010101" pitchFamily="2" charset="-122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D2178434-CEA1-101C-545B-660119A76F57}"/>
                </a:ext>
              </a:extLst>
            </p:cNvPr>
            <p:cNvSpPr/>
            <p:nvPr/>
          </p:nvSpPr>
          <p:spPr>
            <a:xfrm>
              <a:off x="2179103" y="2519205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12:1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77B9698-98BA-80AD-FB2D-1E7EF1FF0953}"/>
                </a:ext>
              </a:extLst>
            </p:cNvPr>
            <p:cNvSpPr/>
            <p:nvPr/>
          </p:nvSpPr>
          <p:spPr>
            <a:xfrm>
              <a:off x="1624920" y="3498240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11:1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E66089B-9ADD-E40B-3837-CAA9240A5085}"/>
                </a:ext>
              </a:extLst>
            </p:cNvPr>
            <p:cNvSpPr/>
            <p:nvPr/>
          </p:nvSpPr>
          <p:spPr>
            <a:xfrm>
              <a:off x="1070738" y="4477275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15:1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E621C755-4471-33E7-CF61-70B085B9E9DD}"/>
                </a:ext>
              </a:extLst>
            </p:cNvPr>
            <p:cNvCxnSpPr/>
            <p:nvPr/>
          </p:nvCxnSpPr>
          <p:spPr>
            <a:xfrm flipH="1">
              <a:off x="2881745" y="2260606"/>
              <a:ext cx="166255" cy="2585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2274557A-A7BF-14A1-3227-0A28E06A456F}"/>
                </a:ext>
              </a:extLst>
            </p:cNvPr>
            <p:cNvCxnSpPr/>
            <p:nvPr/>
          </p:nvCxnSpPr>
          <p:spPr>
            <a:xfrm flipH="1">
              <a:off x="2327564" y="3239641"/>
              <a:ext cx="221672" cy="2585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71A98292-DE1E-B6A9-B61E-1ACE3912A578}"/>
                </a:ext>
              </a:extLst>
            </p:cNvPr>
            <p:cNvCxnSpPr/>
            <p:nvPr/>
          </p:nvCxnSpPr>
          <p:spPr>
            <a:xfrm flipH="1">
              <a:off x="1759527" y="4218676"/>
              <a:ext cx="216716" cy="2585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96A4993-731B-64DB-8C94-F1737FC3970E}"/>
              </a:ext>
            </a:extLst>
          </p:cNvPr>
          <p:cNvSpPr txBox="1"/>
          <p:nvPr/>
        </p:nvSpPr>
        <p:spPr>
          <a:xfrm>
            <a:off x="4013123" y="5647310"/>
            <a:ext cx="2654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{I2,I4}</a:t>
            </a:r>
          </a:p>
        </p:txBody>
      </p:sp>
      <p:grpSp>
        <p:nvGrpSpPr>
          <p:cNvPr id="30726" name="그룹 30725">
            <a:extLst>
              <a:ext uri="{FF2B5EF4-FFF2-40B4-BE49-F238E27FC236}">
                <a16:creationId xmlns:a16="http://schemas.microsoft.com/office/drawing/2014/main" id="{4D3FCF3E-B998-E59C-63A2-BD39F148E135}"/>
              </a:ext>
            </a:extLst>
          </p:cNvPr>
          <p:cNvGrpSpPr/>
          <p:nvPr/>
        </p:nvGrpSpPr>
        <p:grpSpPr>
          <a:xfrm>
            <a:off x="3286015" y="1724472"/>
            <a:ext cx="3792207" cy="3657541"/>
            <a:chOff x="3422072" y="1540169"/>
            <a:chExt cx="3792207" cy="3657541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075C24F0-2D37-55C8-A018-6FB4E55A7B2B}"/>
                </a:ext>
              </a:extLst>
            </p:cNvPr>
            <p:cNvGrpSpPr/>
            <p:nvPr/>
          </p:nvGrpSpPr>
          <p:grpSpPr>
            <a:xfrm>
              <a:off x="3422072" y="1540169"/>
              <a:ext cx="2770908" cy="3657541"/>
              <a:chOff x="1070738" y="1540170"/>
              <a:chExt cx="2770908" cy="3657541"/>
            </a:xfrm>
          </p:grpSpPr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F2B55983-2EAE-4F0F-7269-935D95FE5B7A}"/>
                  </a:ext>
                </a:extLst>
              </p:cNvPr>
              <p:cNvSpPr/>
              <p:nvPr/>
            </p:nvSpPr>
            <p:spPr>
              <a:xfrm>
                <a:off x="2733283" y="1540170"/>
                <a:ext cx="1108363" cy="720436"/>
              </a:xfrm>
              <a:prstGeom prst="ellipse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18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null</a:t>
                </a:r>
                <a:endParaRPr kumimoji="1" lang="ko-Kore-KR" altLang="en-US" sz="1800">
                  <a:solidFill>
                    <a:schemeClr val="tx1"/>
                  </a:solidFill>
                  <a:latin typeface="STKaiti" panose="02010600040101010101" pitchFamily="2" charset="-122"/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ECFF8828-7D90-BBD7-C099-E6915A94796A}"/>
                  </a:ext>
                </a:extLst>
              </p:cNvPr>
              <p:cNvSpPr/>
              <p:nvPr/>
            </p:nvSpPr>
            <p:spPr>
              <a:xfrm>
                <a:off x="2179103" y="2519205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12: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E0DA293E-AEF4-5D11-A9FC-A9FB3B0A756A}"/>
                  </a:ext>
                </a:extLst>
              </p:cNvPr>
              <p:cNvSpPr/>
              <p:nvPr/>
            </p:nvSpPr>
            <p:spPr>
              <a:xfrm>
                <a:off x="1624920" y="3498240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11:1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1263481F-E363-522A-B0A5-E118D575CCD6}"/>
                  </a:ext>
                </a:extLst>
              </p:cNvPr>
              <p:cNvSpPr/>
              <p:nvPr/>
            </p:nvSpPr>
            <p:spPr>
              <a:xfrm>
                <a:off x="1070738" y="4477275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15:1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8CD90B76-95E3-5F72-0DE2-3AEA06559BB9}"/>
                  </a:ext>
                </a:extLst>
              </p:cNvPr>
              <p:cNvCxnSpPr/>
              <p:nvPr/>
            </p:nvCxnSpPr>
            <p:spPr>
              <a:xfrm flipH="1">
                <a:off x="2881745" y="2260606"/>
                <a:ext cx="166255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D6D187CE-458D-C759-00E0-F219F71E7C0C}"/>
                  </a:ext>
                </a:extLst>
              </p:cNvPr>
              <p:cNvCxnSpPr/>
              <p:nvPr/>
            </p:nvCxnSpPr>
            <p:spPr>
              <a:xfrm flipH="1">
                <a:off x="2327564" y="3239641"/>
                <a:ext cx="221672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20" name="직선 화살표 연결선 30719">
                <a:extLst>
                  <a:ext uri="{FF2B5EF4-FFF2-40B4-BE49-F238E27FC236}">
                    <a16:creationId xmlns:a16="http://schemas.microsoft.com/office/drawing/2014/main" id="{7F26C95E-1478-5DCC-1B6D-DEF7A2245CEE}"/>
                  </a:ext>
                </a:extLst>
              </p:cNvPr>
              <p:cNvCxnSpPr/>
              <p:nvPr/>
            </p:nvCxnSpPr>
            <p:spPr>
              <a:xfrm flipH="1">
                <a:off x="1759527" y="4218676"/>
                <a:ext cx="216716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21" name="타원 30720">
              <a:extLst>
                <a:ext uri="{FF2B5EF4-FFF2-40B4-BE49-F238E27FC236}">
                  <a16:creationId xmlns:a16="http://schemas.microsoft.com/office/drawing/2014/main" id="{A7A8BF14-E464-1AAB-5BB2-D7AD2AF2701B}"/>
                </a:ext>
              </a:extLst>
            </p:cNvPr>
            <p:cNvSpPr/>
            <p:nvPr/>
          </p:nvSpPr>
          <p:spPr>
            <a:xfrm>
              <a:off x="6105916" y="3498239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14:1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cxnSp>
          <p:nvCxnSpPr>
            <p:cNvPr id="30724" name="직선 화살표 연결선 30723">
              <a:extLst>
                <a:ext uri="{FF2B5EF4-FFF2-40B4-BE49-F238E27FC236}">
                  <a16:creationId xmlns:a16="http://schemas.microsoft.com/office/drawing/2014/main" id="{3DEA753C-9A44-5362-4838-0D573F7ADFAD}"/>
                </a:ext>
              </a:extLst>
            </p:cNvPr>
            <p:cNvCxnSpPr>
              <a:stCxn id="59" idx="5"/>
              <a:endCxn id="30721" idx="1"/>
            </p:cNvCxnSpPr>
            <p:nvPr/>
          </p:nvCxnSpPr>
          <p:spPr>
            <a:xfrm>
              <a:off x="5476484" y="3134135"/>
              <a:ext cx="791748" cy="46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25" name="TextBox 30724">
            <a:extLst>
              <a:ext uri="{FF2B5EF4-FFF2-40B4-BE49-F238E27FC236}">
                <a16:creationId xmlns:a16="http://schemas.microsoft.com/office/drawing/2014/main" id="{F04CCD5F-6BCA-B7CF-6CBB-949AEC19BF48}"/>
              </a:ext>
            </a:extLst>
          </p:cNvPr>
          <p:cNvSpPr txBox="1"/>
          <p:nvPr/>
        </p:nvSpPr>
        <p:spPr>
          <a:xfrm>
            <a:off x="8607689" y="5552722"/>
            <a:ext cx="22978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{I2,I3}</a:t>
            </a:r>
          </a:p>
        </p:txBody>
      </p:sp>
      <p:grpSp>
        <p:nvGrpSpPr>
          <p:cNvPr id="30728" name="그룹 30727">
            <a:extLst>
              <a:ext uri="{FF2B5EF4-FFF2-40B4-BE49-F238E27FC236}">
                <a16:creationId xmlns:a16="http://schemas.microsoft.com/office/drawing/2014/main" id="{AF8B820F-C186-33B9-97C2-88998DDB9149}"/>
              </a:ext>
            </a:extLst>
          </p:cNvPr>
          <p:cNvGrpSpPr/>
          <p:nvPr/>
        </p:nvGrpSpPr>
        <p:grpSpPr>
          <a:xfrm>
            <a:off x="7230113" y="1851390"/>
            <a:ext cx="4249406" cy="3657541"/>
            <a:chOff x="3422072" y="1540169"/>
            <a:chExt cx="4249406" cy="3657541"/>
          </a:xfrm>
        </p:grpSpPr>
        <p:grpSp>
          <p:nvGrpSpPr>
            <p:cNvPr id="30729" name="그룹 30728">
              <a:extLst>
                <a:ext uri="{FF2B5EF4-FFF2-40B4-BE49-F238E27FC236}">
                  <a16:creationId xmlns:a16="http://schemas.microsoft.com/office/drawing/2014/main" id="{4D904B87-433B-8024-FBF9-813E07741A6E}"/>
                </a:ext>
              </a:extLst>
            </p:cNvPr>
            <p:cNvGrpSpPr/>
            <p:nvPr/>
          </p:nvGrpSpPr>
          <p:grpSpPr>
            <a:xfrm>
              <a:off x="3422072" y="1540169"/>
              <a:ext cx="2770908" cy="3657541"/>
              <a:chOff x="1070738" y="1540170"/>
              <a:chExt cx="2770908" cy="3657541"/>
            </a:xfrm>
          </p:grpSpPr>
          <p:sp>
            <p:nvSpPr>
              <p:cNvPr id="30732" name="타원 30731">
                <a:extLst>
                  <a:ext uri="{FF2B5EF4-FFF2-40B4-BE49-F238E27FC236}">
                    <a16:creationId xmlns:a16="http://schemas.microsoft.com/office/drawing/2014/main" id="{24712617-D0EB-3A1E-1D0E-2E0A5E7F145F}"/>
                  </a:ext>
                </a:extLst>
              </p:cNvPr>
              <p:cNvSpPr/>
              <p:nvPr/>
            </p:nvSpPr>
            <p:spPr>
              <a:xfrm>
                <a:off x="2733283" y="1540170"/>
                <a:ext cx="1108363" cy="720436"/>
              </a:xfrm>
              <a:prstGeom prst="ellipse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1800">
                    <a:solidFill>
                      <a:schemeClr val="tx1"/>
                    </a:solidFill>
                    <a:latin typeface="STKaiti" panose="02010600040101010101" pitchFamily="2" charset="-122"/>
                    <a:ea typeface="STKaiti" panose="02010600040101010101" pitchFamily="2" charset="-122"/>
                  </a:rPr>
                  <a:t>null</a:t>
                </a:r>
                <a:endParaRPr kumimoji="1" lang="ko-Kore-KR" altLang="en-US" sz="1800">
                  <a:solidFill>
                    <a:schemeClr val="tx1"/>
                  </a:solidFill>
                  <a:latin typeface="STKaiti" panose="02010600040101010101" pitchFamily="2" charset="-122"/>
                </a:endParaRPr>
              </a:p>
            </p:txBody>
          </p:sp>
          <p:sp>
            <p:nvSpPr>
              <p:cNvPr id="30733" name="타원 30732">
                <a:extLst>
                  <a:ext uri="{FF2B5EF4-FFF2-40B4-BE49-F238E27FC236}">
                    <a16:creationId xmlns:a16="http://schemas.microsoft.com/office/drawing/2014/main" id="{EEE6B69B-D91B-1951-C054-DEA7FF9FDCC5}"/>
                  </a:ext>
                </a:extLst>
              </p:cNvPr>
              <p:cNvSpPr/>
              <p:nvPr/>
            </p:nvSpPr>
            <p:spPr>
              <a:xfrm>
                <a:off x="2179103" y="2519205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12: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sp>
            <p:nvSpPr>
              <p:cNvPr id="30734" name="타원 30733">
                <a:extLst>
                  <a:ext uri="{FF2B5EF4-FFF2-40B4-BE49-F238E27FC236}">
                    <a16:creationId xmlns:a16="http://schemas.microsoft.com/office/drawing/2014/main" id="{AD1A81C9-A6E6-E6DE-AAAB-6AED788330F1}"/>
                  </a:ext>
                </a:extLst>
              </p:cNvPr>
              <p:cNvSpPr/>
              <p:nvPr/>
            </p:nvSpPr>
            <p:spPr>
              <a:xfrm>
                <a:off x="1624920" y="3498240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11:1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sp>
            <p:nvSpPr>
              <p:cNvPr id="30735" name="타원 30734">
                <a:extLst>
                  <a:ext uri="{FF2B5EF4-FFF2-40B4-BE49-F238E27FC236}">
                    <a16:creationId xmlns:a16="http://schemas.microsoft.com/office/drawing/2014/main" id="{5291B0D8-0F0B-7E44-D725-A99EB8E0C83F}"/>
                  </a:ext>
                </a:extLst>
              </p:cNvPr>
              <p:cNvSpPr/>
              <p:nvPr/>
            </p:nvSpPr>
            <p:spPr>
              <a:xfrm>
                <a:off x="1070738" y="4477275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15:1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cxnSp>
            <p:nvCxnSpPr>
              <p:cNvPr id="30736" name="직선 화살표 연결선 30735">
                <a:extLst>
                  <a:ext uri="{FF2B5EF4-FFF2-40B4-BE49-F238E27FC236}">
                    <a16:creationId xmlns:a16="http://schemas.microsoft.com/office/drawing/2014/main" id="{F2C5D560-BA7F-67FF-C0B7-3AFD3FD1CB99}"/>
                  </a:ext>
                </a:extLst>
              </p:cNvPr>
              <p:cNvCxnSpPr/>
              <p:nvPr/>
            </p:nvCxnSpPr>
            <p:spPr>
              <a:xfrm flipH="1">
                <a:off x="2881745" y="2260606"/>
                <a:ext cx="166255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7" name="직선 화살표 연결선 30736">
                <a:extLst>
                  <a:ext uri="{FF2B5EF4-FFF2-40B4-BE49-F238E27FC236}">
                    <a16:creationId xmlns:a16="http://schemas.microsoft.com/office/drawing/2014/main" id="{E2C09471-64AB-1A90-6D9D-F176F569DDA7}"/>
                  </a:ext>
                </a:extLst>
              </p:cNvPr>
              <p:cNvCxnSpPr/>
              <p:nvPr/>
            </p:nvCxnSpPr>
            <p:spPr>
              <a:xfrm flipH="1">
                <a:off x="2327564" y="3239641"/>
                <a:ext cx="221672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38" name="직선 화살표 연결선 30737">
                <a:extLst>
                  <a:ext uri="{FF2B5EF4-FFF2-40B4-BE49-F238E27FC236}">
                    <a16:creationId xmlns:a16="http://schemas.microsoft.com/office/drawing/2014/main" id="{462FEA3F-6AB4-D0C1-61E1-182F5AEDB5D9}"/>
                  </a:ext>
                </a:extLst>
              </p:cNvPr>
              <p:cNvCxnSpPr/>
              <p:nvPr/>
            </p:nvCxnSpPr>
            <p:spPr>
              <a:xfrm flipH="1">
                <a:off x="1759527" y="4218676"/>
                <a:ext cx="216716" cy="2585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30" name="타원 30729">
              <a:extLst>
                <a:ext uri="{FF2B5EF4-FFF2-40B4-BE49-F238E27FC236}">
                  <a16:creationId xmlns:a16="http://schemas.microsoft.com/office/drawing/2014/main" id="{A3BBE758-C1E0-BF8C-526B-49BD0C617A96}"/>
                </a:ext>
              </a:extLst>
            </p:cNvPr>
            <p:cNvSpPr/>
            <p:nvPr/>
          </p:nvSpPr>
          <p:spPr>
            <a:xfrm>
              <a:off x="6563115" y="3474445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14:1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cxnSp>
          <p:nvCxnSpPr>
            <p:cNvPr id="30731" name="직선 화살표 연결선 30730">
              <a:extLst>
                <a:ext uri="{FF2B5EF4-FFF2-40B4-BE49-F238E27FC236}">
                  <a16:creationId xmlns:a16="http://schemas.microsoft.com/office/drawing/2014/main" id="{23558DAC-C1C6-AC12-E64F-3C78085CBE74}"/>
                </a:ext>
              </a:extLst>
            </p:cNvPr>
            <p:cNvCxnSpPr>
              <a:stCxn id="30733" idx="5"/>
              <a:endCxn id="30730" idx="1"/>
            </p:cNvCxnSpPr>
            <p:nvPr/>
          </p:nvCxnSpPr>
          <p:spPr>
            <a:xfrm>
              <a:off x="5476484" y="3134135"/>
              <a:ext cx="1248947" cy="445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40" name="타원 30739">
            <a:extLst>
              <a:ext uri="{FF2B5EF4-FFF2-40B4-BE49-F238E27FC236}">
                <a16:creationId xmlns:a16="http://schemas.microsoft.com/office/drawing/2014/main" id="{629F210E-FBB4-A3BF-950E-CB19CDF78DD8}"/>
              </a:ext>
            </a:extLst>
          </p:cNvPr>
          <p:cNvSpPr/>
          <p:nvPr/>
        </p:nvSpPr>
        <p:spPr>
          <a:xfrm>
            <a:off x="9027265" y="3805574"/>
            <a:ext cx="1108363" cy="720436"/>
          </a:xfrm>
          <a:prstGeom prst="ellipse">
            <a:avLst/>
          </a:prstGeom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>
                <a:latin typeface="STKaiti" panose="02010600040101010101" pitchFamily="2" charset="-122"/>
                <a:ea typeface="STKaiti" panose="02010600040101010101" pitchFamily="2" charset="-122"/>
              </a:rPr>
              <a:t>13:1</a:t>
            </a:r>
            <a:endParaRPr kumimoji="1" lang="ko-Kore-KR" altLang="en-US" sz="1800">
              <a:latin typeface="STKaiti" panose="02010600040101010101" pitchFamily="2" charset="-122"/>
            </a:endParaRPr>
          </a:p>
        </p:txBody>
      </p:sp>
      <p:cxnSp>
        <p:nvCxnSpPr>
          <p:cNvPr id="30742" name="직선 화살표 연결선 30741">
            <a:extLst>
              <a:ext uri="{FF2B5EF4-FFF2-40B4-BE49-F238E27FC236}">
                <a16:creationId xmlns:a16="http://schemas.microsoft.com/office/drawing/2014/main" id="{ECAC4B68-7E10-4F73-2F9B-5C3D18B351BE}"/>
              </a:ext>
            </a:extLst>
          </p:cNvPr>
          <p:cNvCxnSpPr/>
          <p:nvPr/>
        </p:nvCxnSpPr>
        <p:spPr>
          <a:xfrm>
            <a:off x="9077725" y="3610922"/>
            <a:ext cx="206800" cy="227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0974927-9B6C-1A02-1BE9-13C85CCAF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91564"/>
              </p:ext>
            </p:extLst>
          </p:nvPr>
        </p:nvGraphicFramePr>
        <p:xfrm>
          <a:off x="131717" y="110045"/>
          <a:ext cx="2348247" cy="17718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5564">
                  <a:extLst>
                    <a:ext uri="{9D8B030D-6E8A-4147-A177-3AD203B41FA5}">
                      <a16:colId xmlns:a16="http://schemas.microsoft.com/office/drawing/2014/main" val="2964295679"/>
                    </a:ext>
                  </a:extLst>
                </a:gridCol>
                <a:gridCol w="866429">
                  <a:extLst>
                    <a:ext uri="{9D8B030D-6E8A-4147-A177-3AD203B41FA5}">
                      <a16:colId xmlns:a16="http://schemas.microsoft.com/office/drawing/2014/main" val="1103344988"/>
                    </a:ext>
                  </a:extLst>
                </a:gridCol>
                <a:gridCol w="1046254">
                  <a:extLst>
                    <a:ext uri="{9D8B030D-6E8A-4147-A177-3AD203B41FA5}">
                      <a16:colId xmlns:a16="http://schemas.microsoft.com/office/drawing/2014/main" val="2712007588"/>
                    </a:ext>
                  </a:extLst>
                </a:gridCol>
              </a:tblGrid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Item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Ordered Itemset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778758103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T100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I5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I5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476707264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T200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I4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I4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3430524631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T300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883743225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T400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I4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I4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85941802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T500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172039816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T600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935608298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T700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523603395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T800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I3, I5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I3, I5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983546663"/>
                  </a:ext>
                </a:extLst>
              </a:tr>
              <a:tr h="177185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T900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I1, I2, I3, I6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100" kern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I2, I1, I3</a:t>
                      </a:r>
                      <a:endParaRPr lang="ko-Kore-KR" sz="1000" kern="100">
                        <a:effectLst/>
                        <a:latin typeface="STKaiti" panose="02010600040101010101" pitchFamily="2" charset="-122"/>
                        <a:ea typeface="맑은 고딕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17595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0169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6A4993-731B-64DB-8C94-F1737FC3970E}"/>
              </a:ext>
            </a:extLst>
          </p:cNvPr>
          <p:cNvSpPr txBox="1"/>
          <p:nvPr/>
        </p:nvSpPr>
        <p:spPr>
          <a:xfrm>
            <a:off x="721961" y="5838649"/>
            <a:ext cx="2654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{I2,I1,I4}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E7F2B2-51D7-21F9-F1A8-52E9C05BFC64}"/>
              </a:ext>
            </a:extLst>
          </p:cNvPr>
          <p:cNvGrpSpPr/>
          <p:nvPr/>
        </p:nvGrpSpPr>
        <p:grpSpPr>
          <a:xfrm>
            <a:off x="591806" y="1796387"/>
            <a:ext cx="4249406" cy="3741988"/>
            <a:chOff x="591806" y="1796387"/>
            <a:chExt cx="4249406" cy="374198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F16F1E3-0C14-76D6-ECC8-789A606456A5}"/>
                </a:ext>
              </a:extLst>
            </p:cNvPr>
            <p:cNvGrpSpPr/>
            <p:nvPr/>
          </p:nvGrpSpPr>
          <p:grpSpPr>
            <a:xfrm>
              <a:off x="591806" y="1796387"/>
              <a:ext cx="4249406" cy="3657541"/>
              <a:chOff x="7034170" y="1752596"/>
              <a:chExt cx="4249406" cy="3657541"/>
            </a:xfrm>
          </p:grpSpPr>
          <p:grpSp>
            <p:nvGrpSpPr>
              <p:cNvPr id="30728" name="그룹 30727">
                <a:extLst>
                  <a:ext uri="{FF2B5EF4-FFF2-40B4-BE49-F238E27FC236}">
                    <a16:creationId xmlns:a16="http://schemas.microsoft.com/office/drawing/2014/main" id="{AF8B820F-C186-33B9-97C2-88998DDB9149}"/>
                  </a:ext>
                </a:extLst>
              </p:cNvPr>
              <p:cNvGrpSpPr/>
              <p:nvPr/>
            </p:nvGrpSpPr>
            <p:grpSpPr>
              <a:xfrm>
                <a:off x="7034170" y="1752596"/>
                <a:ext cx="4249406" cy="3657541"/>
                <a:chOff x="3422072" y="1540169"/>
                <a:chExt cx="4249406" cy="3657541"/>
              </a:xfrm>
            </p:grpSpPr>
            <p:grpSp>
              <p:nvGrpSpPr>
                <p:cNvPr id="30729" name="그룹 30728">
                  <a:extLst>
                    <a:ext uri="{FF2B5EF4-FFF2-40B4-BE49-F238E27FC236}">
                      <a16:creationId xmlns:a16="http://schemas.microsoft.com/office/drawing/2014/main" id="{4D904B87-433B-8024-FBF9-813E07741A6E}"/>
                    </a:ext>
                  </a:extLst>
                </p:cNvPr>
                <p:cNvGrpSpPr/>
                <p:nvPr/>
              </p:nvGrpSpPr>
              <p:grpSpPr>
                <a:xfrm>
                  <a:off x="3422072" y="1540169"/>
                  <a:ext cx="2770908" cy="3657541"/>
                  <a:chOff x="1070738" y="1540170"/>
                  <a:chExt cx="2770908" cy="3657541"/>
                </a:xfrm>
              </p:grpSpPr>
              <p:sp>
                <p:nvSpPr>
                  <p:cNvPr id="30732" name="타원 30731">
                    <a:extLst>
                      <a:ext uri="{FF2B5EF4-FFF2-40B4-BE49-F238E27FC236}">
                        <a16:creationId xmlns:a16="http://schemas.microsoft.com/office/drawing/2014/main" id="{24712617-D0EB-3A1E-1D0E-2E0A5E7F145F}"/>
                      </a:ext>
                    </a:extLst>
                  </p:cNvPr>
                  <p:cNvSpPr/>
                  <p:nvPr/>
                </p:nvSpPr>
                <p:spPr>
                  <a:xfrm>
                    <a:off x="2733283" y="1540170"/>
                    <a:ext cx="1108363" cy="720436"/>
                  </a:xfrm>
                  <a:prstGeom prst="ellipse">
                    <a:avLst/>
                  </a:prstGeom>
                  <a:noFill/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ko-Kore-KR" sz="180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rPr>
                      <a:t>null</a:t>
                    </a:r>
                    <a:endParaRPr kumimoji="1" lang="ko-Kore-KR" altLang="en-US" sz="1800">
                      <a:solidFill>
                        <a:schemeClr val="tx1"/>
                      </a:solidFill>
                      <a:latin typeface="STKaiti" panose="02010600040101010101" pitchFamily="2" charset="-122"/>
                    </a:endParaRPr>
                  </a:p>
                </p:txBody>
              </p:sp>
              <p:sp>
                <p:nvSpPr>
                  <p:cNvPr id="30733" name="타원 30732">
                    <a:extLst>
                      <a:ext uri="{FF2B5EF4-FFF2-40B4-BE49-F238E27FC236}">
                        <a16:creationId xmlns:a16="http://schemas.microsoft.com/office/drawing/2014/main" id="{EEE6B69B-D91B-1951-C054-DEA7FF9FDCC5}"/>
                      </a:ext>
                    </a:extLst>
                  </p:cNvPr>
                  <p:cNvSpPr/>
                  <p:nvPr/>
                </p:nvSpPr>
                <p:spPr>
                  <a:xfrm>
                    <a:off x="2179103" y="2519205"/>
                    <a:ext cx="1108363" cy="720436"/>
                  </a:xfrm>
                  <a:prstGeom prst="ellipse">
                    <a:avLst/>
                  </a:prstGeom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800">
                        <a:latin typeface="STKaiti" panose="02010600040101010101" pitchFamily="2" charset="-122"/>
                        <a:ea typeface="STKaiti" panose="02010600040101010101" pitchFamily="2" charset="-122"/>
                      </a:rPr>
                      <a:t>12:</a:t>
                    </a:r>
                    <a:endParaRPr kumimoji="1" lang="ko-Kore-KR" altLang="en-US" sz="1800">
                      <a:latin typeface="STKaiti" panose="02010600040101010101" pitchFamily="2" charset="-122"/>
                    </a:endParaRPr>
                  </a:p>
                </p:txBody>
              </p:sp>
              <p:sp>
                <p:nvSpPr>
                  <p:cNvPr id="30734" name="타원 30733">
                    <a:extLst>
                      <a:ext uri="{FF2B5EF4-FFF2-40B4-BE49-F238E27FC236}">
                        <a16:creationId xmlns:a16="http://schemas.microsoft.com/office/drawing/2014/main" id="{AD1A81C9-A6E6-E6DE-AAAB-6AED788330F1}"/>
                      </a:ext>
                    </a:extLst>
                  </p:cNvPr>
                  <p:cNvSpPr/>
                  <p:nvPr/>
                </p:nvSpPr>
                <p:spPr>
                  <a:xfrm>
                    <a:off x="1624920" y="3498240"/>
                    <a:ext cx="1108363" cy="720436"/>
                  </a:xfrm>
                  <a:prstGeom prst="ellipse">
                    <a:avLst/>
                  </a:prstGeom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800">
                        <a:latin typeface="STKaiti" panose="02010600040101010101" pitchFamily="2" charset="-122"/>
                        <a:ea typeface="STKaiti" panose="02010600040101010101" pitchFamily="2" charset="-122"/>
                      </a:rPr>
                      <a:t>11:</a:t>
                    </a:r>
                    <a:endParaRPr kumimoji="1" lang="ko-Kore-KR" altLang="en-US" sz="1800">
                      <a:latin typeface="STKaiti" panose="02010600040101010101" pitchFamily="2" charset="-122"/>
                    </a:endParaRPr>
                  </a:p>
                </p:txBody>
              </p:sp>
              <p:sp>
                <p:nvSpPr>
                  <p:cNvPr id="30735" name="타원 30734">
                    <a:extLst>
                      <a:ext uri="{FF2B5EF4-FFF2-40B4-BE49-F238E27FC236}">
                        <a16:creationId xmlns:a16="http://schemas.microsoft.com/office/drawing/2014/main" id="{5291B0D8-0F0B-7E44-D725-A99EB8E0C83F}"/>
                      </a:ext>
                    </a:extLst>
                  </p:cNvPr>
                  <p:cNvSpPr/>
                  <p:nvPr/>
                </p:nvSpPr>
                <p:spPr>
                  <a:xfrm>
                    <a:off x="1070738" y="4477275"/>
                    <a:ext cx="1108363" cy="720436"/>
                  </a:xfrm>
                  <a:prstGeom prst="ellipse">
                    <a:avLst/>
                  </a:prstGeom>
                  <a:ln>
                    <a:solidFill>
                      <a:schemeClr val="accent1">
                        <a:shade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1800">
                        <a:latin typeface="STKaiti" panose="02010600040101010101" pitchFamily="2" charset="-122"/>
                        <a:ea typeface="STKaiti" panose="02010600040101010101" pitchFamily="2" charset="-122"/>
                      </a:rPr>
                      <a:t>15:1</a:t>
                    </a:r>
                    <a:endParaRPr kumimoji="1" lang="ko-Kore-KR" altLang="en-US" sz="1800">
                      <a:latin typeface="STKaiti" panose="02010600040101010101" pitchFamily="2" charset="-122"/>
                    </a:endParaRPr>
                  </a:p>
                </p:txBody>
              </p:sp>
              <p:cxnSp>
                <p:nvCxnSpPr>
                  <p:cNvPr id="30736" name="직선 화살표 연결선 30735">
                    <a:extLst>
                      <a:ext uri="{FF2B5EF4-FFF2-40B4-BE49-F238E27FC236}">
                        <a16:creationId xmlns:a16="http://schemas.microsoft.com/office/drawing/2014/main" id="{F2C5D560-BA7F-67FF-C0B7-3AFD3FD1CB9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881745" y="2260606"/>
                    <a:ext cx="166255" cy="2585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37" name="직선 화살표 연결선 30736">
                    <a:extLst>
                      <a:ext uri="{FF2B5EF4-FFF2-40B4-BE49-F238E27FC236}">
                        <a16:creationId xmlns:a16="http://schemas.microsoft.com/office/drawing/2014/main" id="{E2C09471-64AB-1A90-6D9D-F176F569DDA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327564" y="3239641"/>
                    <a:ext cx="221672" cy="2585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38" name="직선 화살표 연결선 30737">
                    <a:extLst>
                      <a:ext uri="{FF2B5EF4-FFF2-40B4-BE49-F238E27FC236}">
                        <a16:creationId xmlns:a16="http://schemas.microsoft.com/office/drawing/2014/main" id="{462FEA3F-6AB4-D0C1-61E1-182F5AEDB5D9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759527" y="4218676"/>
                    <a:ext cx="216716" cy="2585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730" name="타원 30729">
                  <a:extLst>
                    <a:ext uri="{FF2B5EF4-FFF2-40B4-BE49-F238E27FC236}">
                      <a16:creationId xmlns:a16="http://schemas.microsoft.com/office/drawing/2014/main" id="{A3BBE758-C1E0-BF8C-526B-49BD0C617A96}"/>
                    </a:ext>
                  </a:extLst>
                </p:cNvPr>
                <p:cNvSpPr/>
                <p:nvPr/>
              </p:nvSpPr>
              <p:spPr>
                <a:xfrm>
                  <a:off x="6563115" y="3474445"/>
                  <a:ext cx="1108363" cy="720436"/>
                </a:xfrm>
                <a:prstGeom prst="ellipse">
                  <a:avLst/>
                </a:prstGeom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1800">
                      <a:latin typeface="STKaiti" panose="02010600040101010101" pitchFamily="2" charset="-122"/>
                      <a:ea typeface="STKaiti" panose="02010600040101010101" pitchFamily="2" charset="-122"/>
                    </a:rPr>
                    <a:t>14:1</a:t>
                  </a:r>
                  <a:endParaRPr kumimoji="1" lang="ko-Kore-KR" altLang="en-US" sz="1800">
                    <a:latin typeface="STKaiti" panose="02010600040101010101" pitchFamily="2" charset="-122"/>
                  </a:endParaRPr>
                </a:p>
              </p:txBody>
            </p:sp>
            <p:cxnSp>
              <p:nvCxnSpPr>
                <p:cNvPr id="30731" name="직선 화살표 연결선 30730">
                  <a:extLst>
                    <a:ext uri="{FF2B5EF4-FFF2-40B4-BE49-F238E27FC236}">
                      <a16:creationId xmlns:a16="http://schemas.microsoft.com/office/drawing/2014/main" id="{23558DAC-C1C6-AC12-E64F-3C78085CBE74}"/>
                    </a:ext>
                  </a:extLst>
                </p:cNvPr>
                <p:cNvCxnSpPr>
                  <a:stCxn id="30733" idx="5"/>
                  <a:endCxn id="30730" idx="1"/>
                </p:cNvCxnSpPr>
                <p:nvPr/>
              </p:nvCxnSpPr>
              <p:spPr>
                <a:xfrm>
                  <a:off x="5476484" y="3134135"/>
                  <a:ext cx="1248947" cy="4458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740" name="타원 30739">
                <a:extLst>
                  <a:ext uri="{FF2B5EF4-FFF2-40B4-BE49-F238E27FC236}">
                    <a16:creationId xmlns:a16="http://schemas.microsoft.com/office/drawing/2014/main" id="{629F210E-FBB4-A3BF-950E-CB19CDF78DD8}"/>
                  </a:ext>
                </a:extLst>
              </p:cNvPr>
              <p:cNvSpPr/>
              <p:nvPr/>
            </p:nvSpPr>
            <p:spPr>
              <a:xfrm>
                <a:off x="8831322" y="3706780"/>
                <a:ext cx="1108363" cy="720436"/>
              </a:xfrm>
              <a:prstGeom prst="ellipse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800">
                    <a:latin typeface="STKaiti" panose="02010600040101010101" pitchFamily="2" charset="-122"/>
                    <a:ea typeface="STKaiti" panose="02010600040101010101" pitchFamily="2" charset="-122"/>
                  </a:rPr>
                  <a:t>13:1</a:t>
                </a:r>
                <a:endParaRPr kumimoji="1" lang="ko-Kore-KR" altLang="en-US" sz="1800">
                  <a:latin typeface="STKaiti" panose="02010600040101010101" pitchFamily="2" charset="-122"/>
                </a:endParaRPr>
              </a:p>
            </p:txBody>
          </p:sp>
          <p:cxnSp>
            <p:nvCxnSpPr>
              <p:cNvPr id="30742" name="직선 화살표 연결선 30741">
                <a:extLst>
                  <a:ext uri="{FF2B5EF4-FFF2-40B4-BE49-F238E27FC236}">
                    <a16:creationId xmlns:a16="http://schemas.microsoft.com/office/drawing/2014/main" id="{ECAC4B68-7E10-4F73-2F9B-5C3D18B351BE}"/>
                  </a:ext>
                </a:extLst>
              </p:cNvPr>
              <p:cNvCxnSpPr/>
              <p:nvPr/>
            </p:nvCxnSpPr>
            <p:spPr>
              <a:xfrm>
                <a:off x="8881782" y="3512128"/>
                <a:ext cx="206800" cy="2274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BA7C6BF-4DC1-808B-F996-38D404DFCDC7}"/>
                </a:ext>
              </a:extLst>
            </p:cNvPr>
            <p:cNvSpPr/>
            <p:nvPr/>
          </p:nvSpPr>
          <p:spPr>
            <a:xfrm>
              <a:off x="2254351" y="4817939"/>
              <a:ext cx="1108363" cy="720436"/>
            </a:xfrm>
            <a:prstGeom prst="ellipse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800">
                  <a:latin typeface="STKaiti" panose="02010600040101010101" pitchFamily="2" charset="-122"/>
                  <a:ea typeface="STKaiti" panose="02010600040101010101" pitchFamily="2" charset="-122"/>
                </a:rPr>
                <a:t>14:1</a:t>
              </a:r>
              <a:endParaRPr kumimoji="1" lang="ko-Kore-KR" altLang="en-US" sz="1800">
                <a:latin typeface="STKaiti" panose="02010600040101010101" pitchFamily="2" charset="-122"/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07135E2-3F20-49B2-C067-F08808369700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1959468" y="4471007"/>
              <a:ext cx="457199" cy="4524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31565F0-4EEB-2F98-DD4E-ED1A35C68F47}"/>
              </a:ext>
            </a:extLst>
          </p:cNvPr>
          <p:cNvSpPr txBox="1"/>
          <p:nvPr/>
        </p:nvSpPr>
        <p:spPr>
          <a:xfrm>
            <a:off x="5465499" y="5900879"/>
            <a:ext cx="506395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{I1,I3}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-&gt; 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添加事务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{I2,I3}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zh-CN">
                <a:latin typeface="STKaiti" panose="02010600040101010101" pitchFamily="2" charset="-122"/>
                <a:ea typeface="STKaiti" panose="02010600040101010101" pitchFamily="2" charset="-122"/>
              </a:rPr>
              <a:t>-&gt; …</a:t>
            </a:r>
          </a:p>
        </p:txBody>
      </p:sp>
      <p:pic>
        <p:nvPicPr>
          <p:cNvPr id="2056" name="Picture 8" descr="问号消息象征问号PNG-免费下载-PPTer吧">
            <a:extLst>
              <a:ext uri="{FF2B5EF4-FFF2-40B4-BE49-F238E27FC236}">
                <a16:creationId xmlns:a16="http://schemas.microsoft.com/office/drawing/2014/main" id="{6B08EA23-D295-230B-5654-39957E348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63" y="259642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036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22736E69-2AC3-3B84-A935-F71A700A5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1" t="10381" r="24773"/>
          <a:stretch/>
        </p:blipFill>
        <p:spPr bwMode="auto">
          <a:xfrm>
            <a:off x="1348509" y="1858815"/>
            <a:ext cx="9081590" cy="411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5290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89F75-0C25-5F7A-0D3C-E0518953BCF2}"/>
              </a:ext>
            </a:extLst>
          </p:cNvPr>
          <p:cNvSpPr txBox="1"/>
          <p:nvPr/>
        </p:nvSpPr>
        <p:spPr>
          <a:xfrm>
            <a:off x="812799" y="1289998"/>
            <a:ext cx="1018770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2400" b="1">
                <a:latin typeface="STKaiti" panose="02010600040101010101" pitchFamily="2" charset="-122"/>
              </a:rPr>
              <a:t>算法步骤</a:t>
            </a:r>
          </a:p>
          <a:p>
            <a:endParaRPr lang="ko-Kore-KR" altLang="en-US">
              <a:latin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altLang="ko-Kore-KR">
                <a:latin typeface="STKaiti" panose="02010600040101010101" pitchFamily="2" charset="-122"/>
              </a:rPr>
              <a:t>Step 4: FP</a:t>
            </a:r>
            <a:r>
              <a:rPr lang="ko-Kore-KR" altLang="en-US">
                <a:latin typeface="STKaiti" panose="02010600040101010101" pitchFamily="2" charset="-122"/>
              </a:rPr>
              <a:t>树挖掘生成频繁项集</a:t>
            </a:r>
            <a:endParaRPr lang="en-US" altLang="ko-Kore-KR">
              <a:latin typeface="STKaiti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US" altLang="ko-Kore-KR">
              <a:latin typeface="STKaiti" panose="02010600040101010101" pitchFamily="2" charset="-122"/>
            </a:endParaRPr>
          </a:p>
          <a:p>
            <a:pPr marL="800089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(1)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对项头表按频率从低到高遍历</a:t>
            </a: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,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构造各个项目</a:t>
            </a: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(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节点</a:t>
            </a: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)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的条件模式基</a:t>
            </a: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;</a:t>
            </a:r>
            <a:r>
              <a:rPr lang="zh-CN" altLang="en-US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条件模式基</a:t>
            </a: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: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头部链表中某一节点的前缀路径组合。</a:t>
            </a:r>
          </a:p>
          <a:p>
            <a:pPr marL="800089" lvl="1" indent="-342900">
              <a:buClr>
                <a:srgbClr val="FF0000"/>
              </a:buClr>
              <a:buFont typeface="Wingdings" pitchFamily="2" charset="2"/>
              <a:buChar char="q"/>
            </a:pPr>
            <a:endParaRPr lang="ko-KR" altLang="en-US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800089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(2)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构造条件 </a:t>
            </a:r>
            <a:r>
              <a:rPr lang="en-US" altLang="ko-Kore-KR">
                <a:latin typeface="STKaiti" panose="02010600040101010101" pitchFamily="2" charset="-122"/>
                <a:ea typeface="STKaiti" panose="02010600040101010101" pitchFamily="2" charset="-122"/>
              </a:rPr>
              <a:t>FP 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树</a:t>
            </a:r>
          </a:p>
          <a:p>
            <a:pPr marL="1257277" lvl="2" indent="-342900">
              <a:buClr>
                <a:schemeClr val="bg2">
                  <a:lumMod val="90000"/>
                </a:schemeClr>
              </a:buClr>
              <a:buFont typeface="Wingdings" pitchFamily="2" charset="2"/>
              <a:buChar char="q"/>
            </a:pP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支持度计数大于等于最小支持度计数</a:t>
            </a:r>
          </a:p>
          <a:p>
            <a:pPr marL="800089" lvl="1" indent="-342900">
              <a:buClr>
                <a:srgbClr val="FF0000"/>
              </a:buClr>
              <a:buFont typeface="Wingdings" pitchFamily="2" charset="2"/>
              <a:buChar char="q"/>
            </a:pPr>
            <a:endParaRPr lang="ko-KR" altLang="en-US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800089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en-US" altLang="ko-KR">
                <a:latin typeface="STKaiti" panose="02010600040101010101" pitchFamily="2" charset="-122"/>
                <a:ea typeface="STKaiti" panose="02010600040101010101" pitchFamily="2" charset="-122"/>
              </a:rPr>
              <a:t>(3)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条件 </a:t>
            </a:r>
            <a:r>
              <a:rPr lang="en-US" altLang="ko-Kore-KR">
                <a:latin typeface="STKaiti" panose="02010600040101010101" pitchFamily="2" charset="-122"/>
                <a:ea typeface="STKaiti" panose="02010600040101010101" pitchFamily="2" charset="-122"/>
              </a:rPr>
              <a:t>FP </a:t>
            </a:r>
            <a:r>
              <a:rPr lang="ko-KR" altLang="en-US">
                <a:latin typeface="STKaiti" panose="02010600040101010101" pitchFamily="2" charset="-122"/>
                <a:ea typeface="STKaiti" panose="02010600040101010101" pitchFamily="2" charset="-122"/>
              </a:rPr>
              <a:t>树与叶子节点组合得到频繁项集</a:t>
            </a:r>
          </a:p>
        </p:txBody>
      </p:sp>
    </p:spTree>
    <p:extLst>
      <p:ext uri="{BB962C8B-B14F-4D97-AF65-F5344CB8AC3E}">
        <p14:creationId xmlns:p14="http://schemas.microsoft.com/office/powerpoint/2010/main" val="42171032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75A9-822C-6B13-AE01-CDA9E99BE855}"/>
              </a:ext>
            </a:extLst>
          </p:cNvPr>
          <p:cNvSpPr txBox="1"/>
          <p:nvPr/>
        </p:nvSpPr>
        <p:spPr>
          <a:xfrm>
            <a:off x="786245" y="1403582"/>
            <a:ext cx="10671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理最低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频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率的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I5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项</a:t>
            </a:r>
            <a:endParaRPr lang="ko-Kore-KR" altLang="ko-Kore-KR" sz="20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ore-KR" altLang="ko-Kore-KR" sz="20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理最低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频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率的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I5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，在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FP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树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中找到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两项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I5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，找出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从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root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这两项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I5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间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的路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，分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别为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{root =&gt; I2 =&gt; I1 =&gt; I5}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{root =&gt; I2 =&gt; I1 =&gt; I3 =&gt; I5}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，其中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记录节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频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率（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从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叶子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结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点向上，根据父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点子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点之和的原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则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则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两个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I5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各出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一次，再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I3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一次，再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I1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I2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现两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次）。</a:t>
            </a:r>
            <a:endParaRPr lang="ko-Kore-KR" altLang="ko-Kore-KR" sz="20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7" name="Picture 2" descr="在这里插入图片描述">
            <a:extLst>
              <a:ext uri="{FF2B5EF4-FFF2-40B4-BE49-F238E27FC236}">
                <a16:creationId xmlns:a16="http://schemas.microsoft.com/office/drawing/2014/main" id="{CD611A54-E489-53AC-F458-AF784030E4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4"/>
          <a:stretch/>
        </p:blipFill>
        <p:spPr bwMode="auto">
          <a:xfrm>
            <a:off x="960581" y="3429000"/>
            <a:ext cx="10169237" cy="319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085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75A9-822C-6B13-AE01-CDA9E99BE855}"/>
              </a:ext>
            </a:extLst>
          </p:cNvPr>
          <p:cNvSpPr txBox="1"/>
          <p:nvPr/>
        </p:nvSpPr>
        <p:spPr>
          <a:xfrm>
            <a:off x="786245" y="1403582"/>
            <a:ext cx="10671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所以根据上右图的路径，记录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I5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的条件模式基（含义即就是前缀路径，其中不含叶子结点本身）为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{{I2 I1: 1}, {I2 I1 I3: 1}}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，如下图：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6146" name="Picture 2" descr="在这里插入图片描述">
            <a:extLst>
              <a:ext uri="{FF2B5EF4-FFF2-40B4-BE49-F238E27FC236}">
                <a16:creationId xmlns:a16="http://schemas.microsoft.com/office/drawing/2014/main" id="{7D8886F6-75D9-C36F-9AAF-14C5C5707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6" r="14725"/>
          <a:stretch/>
        </p:blipFill>
        <p:spPr bwMode="auto">
          <a:xfrm>
            <a:off x="1799358" y="2113599"/>
            <a:ext cx="8473356" cy="1774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7B56E2-A17B-632E-7170-86B7643F23A5}"/>
              </a:ext>
            </a:extLst>
          </p:cNvPr>
          <p:cNvSpPr txBox="1"/>
          <p:nvPr/>
        </p:nvSpPr>
        <p:spPr>
          <a:xfrm>
            <a:off x="786244" y="4034874"/>
            <a:ext cx="10897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因为其中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I3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频率不满足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minSupport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故被删掉，则条件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FP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树（即右上图中蓝色节点，其是由条件模式基按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minSupport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筛选得到的路径，其不含叶子节点和被删掉的点）为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&lt;I2: 2, I1: 2&gt;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，如下图：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6148" name="Picture 4" descr="在这里插入图片描述">
            <a:extLst>
              <a:ext uri="{FF2B5EF4-FFF2-40B4-BE49-F238E27FC236}">
                <a16:creationId xmlns:a16="http://schemas.microsoft.com/office/drawing/2014/main" id="{34FCE009-55EF-CCC5-67AE-76E0E83AF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1" r="8779"/>
          <a:stretch/>
        </p:blipFill>
        <p:spPr bwMode="auto">
          <a:xfrm>
            <a:off x="1362155" y="4744891"/>
            <a:ext cx="9467690" cy="19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879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75A9-822C-6B13-AE01-CDA9E99BE855}"/>
              </a:ext>
            </a:extLst>
          </p:cNvPr>
          <p:cNvSpPr txBox="1"/>
          <p:nvPr/>
        </p:nvSpPr>
        <p:spPr>
          <a:xfrm>
            <a:off x="786244" y="1403582"/>
            <a:ext cx="104775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其次处理次低频率的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项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其次处理次低频率的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，在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FP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树中找到两项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，找出从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root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到这两项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之间的路径，分别为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{root =&gt; I2 =&gt; I4}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{root =&gt; I2=&gt; I1 =&gt; I4}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，其中记录节点频率（从叶子结点向上，根据父节点子节点之和的原则：则先两个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各出现一次，再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I1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出现一次，再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I2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出现两次）。如下图：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7170" name="Picture 2" descr="在这里插入图片描述">
            <a:extLst>
              <a:ext uri="{FF2B5EF4-FFF2-40B4-BE49-F238E27FC236}">
                <a16:creationId xmlns:a16="http://schemas.microsoft.com/office/drawing/2014/main" id="{A9AC729F-83C6-48F1-2FFB-8AC8AE9B2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" r="4380"/>
          <a:stretch/>
        </p:blipFill>
        <p:spPr bwMode="auto">
          <a:xfrm>
            <a:off x="370031" y="2984501"/>
            <a:ext cx="11503891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208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E75A9-822C-6B13-AE01-CDA9E99BE855}"/>
              </a:ext>
            </a:extLst>
          </p:cNvPr>
          <p:cNvSpPr txBox="1"/>
          <p:nvPr/>
        </p:nvSpPr>
        <p:spPr>
          <a:xfrm>
            <a:off x="786245" y="1403582"/>
            <a:ext cx="10671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根据上右图的路径，记录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I4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的条件模式基（含义即就是前缀路径，其中不含叶子结点本身）为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{{I2 I1: 1}, {I2: 1}}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，如下图：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8194" name="Picture 2" descr="在这里插入图片描述">
            <a:extLst>
              <a:ext uri="{FF2B5EF4-FFF2-40B4-BE49-F238E27FC236}">
                <a16:creationId xmlns:a16="http://schemas.microsoft.com/office/drawing/2014/main" id="{AAF7A80A-5E03-1087-94B6-05A815726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6" r="12472"/>
          <a:stretch/>
        </p:blipFill>
        <p:spPr bwMode="auto">
          <a:xfrm>
            <a:off x="734291" y="2049913"/>
            <a:ext cx="10041544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7DC4A6-CFDE-97AB-FAC8-A0E1FD3D88CB}"/>
              </a:ext>
            </a:extLst>
          </p:cNvPr>
          <p:cNvSpPr txBox="1"/>
          <p:nvPr/>
        </p:nvSpPr>
        <p:spPr>
          <a:xfrm>
            <a:off x="786245" y="4168338"/>
            <a:ext cx="10671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因为其中均满足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minSupport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不需删节点，则条件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FP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树（即右上图中蓝色节点，其是由条件模式基按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minSupport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筛选得到的路径，其不含叶子节点和被删掉的点）为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 &lt;I2: 4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I1: 2&gt;, &lt;I1: 2&gt;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，如下图：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8196" name="Picture 4" descr="在这里插入图片描述">
            <a:extLst>
              <a:ext uri="{FF2B5EF4-FFF2-40B4-BE49-F238E27FC236}">
                <a16:creationId xmlns:a16="http://schemas.microsoft.com/office/drawing/2014/main" id="{23B6E72E-FB7A-1535-43A4-F3A1D3BF9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7" r="15682"/>
          <a:stretch/>
        </p:blipFill>
        <p:spPr bwMode="auto">
          <a:xfrm>
            <a:off x="1598699" y="4804444"/>
            <a:ext cx="8321155" cy="191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868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C1D648-4028-90A6-D688-9F3ADB0B7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299780"/>
              </p:ext>
            </p:extLst>
          </p:nvPr>
        </p:nvGraphicFramePr>
        <p:xfrm>
          <a:off x="796588" y="1798223"/>
          <a:ext cx="2096656" cy="2707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8328">
                  <a:extLst>
                    <a:ext uri="{9D8B030D-6E8A-4147-A177-3AD203B41FA5}">
                      <a16:colId xmlns:a16="http://schemas.microsoft.com/office/drawing/2014/main" val="3037993879"/>
                    </a:ext>
                  </a:extLst>
                </a:gridCol>
                <a:gridCol w="1048328">
                  <a:extLst>
                    <a:ext uri="{9D8B030D-6E8A-4147-A177-3AD203B41FA5}">
                      <a16:colId xmlns:a16="http://schemas.microsoft.com/office/drawing/2014/main" val="3490155095"/>
                    </a:ext>
                  </a:extLst>
                </a:gridCol>
              </a:tblGrid>
              <a:tr h="44752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Head Table</a:t>
                      </a:r>
                    </a:p>
                  </a:txBody>
                  <a:tcPr>
                    <a:solidFill>
                      <a:srgbClr val="00AD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450713"/>
                  </a:ext>
                </a:extLst>
              </a:tr>
              <a:tr h="447523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Item</a:t>
                      </a:r>
                    </a:p>
                  </a:txBody>
                  <a:tcPr>
                    <a:solidFill>
                      <a:srgbClr val="00A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Frequence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>
                    <a:solidFill>
                      <a:srgbClr val="00A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51546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I</a:t>
                      </a:r>
                      <a:r>
                        <a:rPr lang="en-US" altLang="zh-CN" sz="160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7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398538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</a:t>
                      </a:r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1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22639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I3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6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96813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I4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27975"/>
                  </a:ext>
                </a:extLst>
              </a:tr>
              <a:tr h="362465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I5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>
                          <a:latin typeface="STKaiti" panose="02010600040101010101" pitchFamily="2" charset="-122"/>
                        </a:rPr>
                        <a:t>2</a:t>
                      </a:r>
                      <a:endParaRPr lang="ko-Kore-KR" altLang="en-US" sz="1600">
                        <a:latin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530873"/>
                  </a:ext>
                </a:extLst>
              </a:tr>
            </a:tbl>
          </a:graphicData>
        </a:graphic>
      </p:graphicFrame>
      <p:pic>
        <p:nvPicPr>
          <p:cNvPr id="3" name="Picture 8" descr="问号消息象征问号PNG-免费下载-PPTer吧">
            <a:extLst>
              <a:ext uri="{FF2B5EF4-FFF2-40B4-BE49-F238E27FC236}">
                <a16:creationId xmlns:a16="http://schemas.microsoft.com/office/drawing/2014/main" id="{DFE42665-0EE9-C961-FFF4-EA4F7C2C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927" y="234704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533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FP树</a:t>
            </a:r>
          </a:p>
        </p:txBody>
      </p:sp>
      <p:pic>
        <p:nvPicPr>
          <p:cNvPr id="10244" name="Picture 4" descr="在这里插入图片描述">
            <a:extLst>
              <a:ext uri="{FF2B5EF4-FFF2-40B4-BE49-F238E27FC236}">
                <a16:creationId xmlns:a16="http://schemas.microsoft.com/office/drawing/2014/main" id="{F762F076-E25C-5011-D19F-39024CF125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1" r="11477"/>
          <a:stretch/>
        </p:blipFill>
        <p:spPr bwMode="auto">
          <a:xfrm>
            <a:off x="502344" y="2679412"/>
            <a:ext cx="11187312" cy="2599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433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特殊情况：FP-树中的单前缀路径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122" y="1215831"/>
            <a:ext cx="9294545" cy="2346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假设一个（条件）FP-树T具有一个共享的单一前缀路径P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挖掘过程可以分解为两部分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将单一前缀路径简化为一个节点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两部分挖掘结果的拼接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0D4CF45-FB68-6F65-BC16-9327B77BF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616" y="4442981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itchFamily="18" charset="0"/>
                <a:sym typeface="Wingdings 3" pitchFamily="18" charset="2"/>
              </a:rPr>
              <a:t>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27B93BD7-B5D5-0E90-FA3B-9D18B4DC3BB4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2487592"/>
            <a:ext cx="2584450" cy="3632200"/>
            <a:chOff x="0" y="1833"/>
            <a:chExt cx="1221" cy="2288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9FAD7E8-559C-399B-B4B2-1CB292FF0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14" name="Text Box 7">
                <a:extLst>
                  <a:ext uri="{FF2B5EF4-FFF2-40B4-BE49-F238E27FC236}">
                    <a16:creationId xmlns:a16="http://schemas.microsoft.com/office/drawing/2014/main" id="{11517202-310E-03AB-7E4C-F8218F7166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8C5B92FC-9280-C4B0-623E-3313B2F7FB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16" name="Text Box 9">
                <a:extLst>
                  <a:ext uri="{FF2B5EF4-FFF2-40B4-BE49-F238E27FC236}">
                    <a16:creationId xmlns:a16="http://schemas.microsoft.com/office/drawing/2014/main" id="{BF96AB53-AD8D-231C-FD71-779E2B019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0B319665-F8DD-1AD2-54C7-1A2AA1271B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" y="1833"/>
                <a:ext cx="204" cy="991"/>
                <a:chOff x="2372" y="2466"/>
                <a:chExt cx="219" cy="1037"/>
              </a:xfrm>
            </p:grpSpPr>
            <p:sp>
              <p:nvSpPr>
                <p:cNvPr id="18" name="Text Box 11">
                  <a:extLst>
                    <a:ext uri="{FF2B5EF4-FFF2-40B4-BE49-F238E27FC236}">
                      <a16:creationId xmlns:a16="http://schemas.microsoft.com/office/drawing/2014/main" id="{4CC95FAE-DF19-49E6-B73F-8B18BDC74D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72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19" name="AutoShape 12">
                  <a:extLst>
                    <a:ext uri="{FF2B5EF4-FFF2-40B4-BE49-F238E27FC236}">
                      <a16:creationId xmlns:a16="http://schemas.microsoft.com/office/drawing/2014/main" id="{CD4F2EFC-15EF-6640-C475-BFDA9077262D}"/>
                    </a:ext>
                  </a:extLst>
                </p:cNvPr>
                <p:cNvCxnSpPr>
                  <a:cxnSpLocks noChangeShapeType="1"/>
                  <a:stCxn id="18" idx="2"/>
                  <a:endCxn id="16" idx="0"/>
                </p:cNvCxnSpPr>
                <p:nvPr/>
              </p:nvCxnSpPr>
              <p:spPr bwMode="auto">
                <a:xfrm flipH="1">
                  <a:off x="2476" y="2730"/>
                  <a:ext cx="6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" name="AutoShape 13">
                  <a:extLst>
                    <a:ext uri="{FF2B5EF4-FFF2-40B4-BE49-F238E27FC236}">
                      <a16:creationId xmlns:a16="http://schemas.microsoft.com/office/drawing/2014/main" id="{2ED1D8EA-D317-AC21-F805-8BB736F0C9CE}"/>
                    </a:ext>
                  </a:extLst>
                </p:cNvPr>
                <p:cNvCxnSpPr>
                  <a:cxnSpLocks noChangeShapeType="1"/>
                  <a:stCxn id="16" idx="2"/>
                  <a:endCxn id="14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" name="AutoShape 14">
                  <a:extLst>
                    <a:ext uri="{FF2B5EF4-FFF2-40B4-BE49-F238E27FC236}">
                      <a16:creationId xmlns:a16="http://schemas.microsoft.com/office/drawing/2014/main" id="{DFAA9735-ED04-574A-6FEC-CCD4390691AB}"/>
                    </a:ext>
                  </a:extLst>
                </p:cNvPr>
                <p:cNvCxnSpPr>
                  <a:cxnSpLocks noChangeShapeType="1"/>
                  <a:stCxn id="14" idx="2"/>
                  <a:endCxn id="15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5" name="Group 15">
              <a:extLst>
                <a:ext uri="{FF2B5EF4-FFF2-40B4-BE49-F238E27FC236}">
                  <a16:creationId xmlns:a16="http://schemas.microsoft.com/office/drawing/2014/main" id="{DD5635DB-5254-E8C0-2B48-73F91E77A5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6" name="Line 16">
                <a:extLst>
                  <a:ext uri="{FF2B5EF4-FFF2-40B4-BE49-F238E27FC236}">
                    <a16:creationId xmlns:a16="http://schemas.microsoft.com/office/drawing/2014/main" id="{B9ECEE5C-AB8D-9502-62B7-1F4302396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" name="Line 17">
                <a:extLst>
                  <a:ext uri="{FF2B5EF4-FFF2-40B4-BE49-F238E27FC236}">
                    <a16:creationId xmlns:a16="http://schemas.microsoft.com/office/drawing/2014/main" id="{BA3AC7F7-CDAC-EEDC-59A4-5CF2708B8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" name="Text Box 18">
                <a:extLst>
                  <a:ext uri="{FF2B5EF4-FFF2-40B4-BE49-F238E27FC236}">
                    <a16:creationId xmlns:a16="http://schemas.microsoft.com/office/drawing/2014/main" id="{E7EA42C4-3996-68D7-EED7-1EBAAFF81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9" name="Text Box 19">
                <a:extLst>
                  <a:ext uri="{FF2B5EF4-FFF2-40B4-BE49-F238E27FC236}">
                    <a16:creationId xmlns:a16="http://schemas.microsoft.com/office/drawing/2014/main" id="{1DEFA25D-2DBF-CF98-37D9-DBEB0524E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10" name="Line 20">
                <a:extLst>
                  <a:ext uri="{FF2B5EF4-FFF2-40B4-BE49-F238E27FC236}">
                    <a16:creationId xmlns:a16="http://schemas.microsoft.com/office/drawing/2014/main" id="{6F8031C0-60C1-C84D-8723-E8EBB9EE9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" name="Line 21">
                <a:extLst>
                  <a:ext uri="{FF2B5EF4-FFF2-40B4-BE49-F238E27FC236}">
                    <a16:creationId xmlns:a16="http://schemas.microsoft.com/office/drawing/2014/main" id="{EAA3B06C-8AEB-D28B-FFDA-7AB54CAE1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2" name="Rectangle 22">
                <a:extLst>
                  <a:ext uri="{FF2B5EF4-FFF2-40B4-BE49-F238E27FC236}">
                    <a16:creationId xmlns:a16="http://schemas.microsoft.com/office/drawing/2014/main" id="{7CD65757-D067-71F1-8271-A049FDC8A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13" name="Rectangle 23">
                <a:extLst>
                  <a:ext uri="{FF2B5EF4-FFF2-40B4-BE49-F238E27FC236}">
                    <a16:creationId xmlns:a16="http://schemas.microsoft.com/office/drawing/2014/main" id="{64D4E383-43D3-AEC2-448F-82AEAEB42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</p:grpSp>
      <p:grpSp>
        <p:nvGrpSpPr>
          <p:cNvPr id="22" name="Group 24">
            <a:extLst>
              <a:ext uri="{FF2B5EF4-FFF2-40B4-BE49-F238E27FC236}">
                <a16:creationId xmlns:a16="http://schemas.microsoft.com/office/drawing/2014/main" id="{84A5750E-1DFC-CD03-42ED-4FF5C0514F01}"/>
              </a:ext>
            </a:extLst>
          </p:cNvPr>
          <p:cNvGrpSpPr>
            <a:grpSpLocks/>
          </p:cNvGrpSpPr>
          <p:nvPr/>
        </p:nvGrpSpPr>
        <p:grpSpPr bwMode="auto">
          <a:xfrm>
            <a:off x="7259815" y="3680981"/>
            <a:ext cx="2584450" cy="2046288"/>
            <a:chOff x="2304" y="2880"/>
            <a:chExt cx="1221" cy="1289"/>
          </a:xfrm>
        </p:grpSpPr>
        <p:grpSp>
          <p:nvGrpSpPr>
            <p:cNvPr id="23" name="Group 25">
              <a:extLst>
                <a:ext uri="{FF2B5EF4-FFF2-40B4-BE49-F238E27FC236}">
                  <a16:creationId xmlns:a16="http://schemas.microsoft.com/office/drawing/2014/main" id="{CB029903-674B-3DE3-FF3D-117D0CEB6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168"/>
              <a:ext cx="1221" cy="1001"/>
              <a:chOff x="0" y="3120"/>
              <a:chExt cx="1221" cy="1001"/>
            </a:xfrm>
          </p:grpSpPr>
          <p:sp>
            <p:nvSpPr>
              <p:cNvPr id="25" name="Line 26">
                <a:extLst>
                  <a:ext uri="{FF2B5EF4-FFF2-40B4-BE49-F238E27FC236}">
                    <a16:creationId xmlns:a16="http://schemas.microsoft.com/office/drawing/2014/main" id="{08B7F50B-FCDC-5C09-9A0C-013A835E8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2CDA95DE-9BBD-32D9-BAC1-59A427BE1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" name="Text Box 28">
                <a:extLst>
                  <a:ext uri="{FF2B5EF4-FFF2-40B4-BE49-F238E27FC236}">
                    <a16:creationId xmlns:a16="http://schemas.microsoft.com/office/drawing/2014/main" id="{4F27F870-BDBD-DD2A-5EDD-4BB2954C20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8" name="Text Box 29">
                <a:extLst>
                  <a:ext uri="{FF2B5EF4-FFF2-40B4-BE49-F238E27FC236}">
                    <a16:creationId xmlns:a16="http://schemas.microsoft.com/office/drawing/2014/main" id="{DC7C3BD7-2535-FD71-2E37-5981C1BF2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9" name="Line 30">
                <a:extLst>
                  <a:ext uri="{FF2B5EF4-FFF2-40B4-BE49-F238E27FC236}">
                    <a16:creationId xmlns:a16="http://schemas.microsoft.com/office/drawing/2014/main" id="{3A43A467-17C6-9889-2077-02E99F5BE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" name="Line 31">
                <a:extLst>
                  <a:ext uri="{FF2B5EF4-FFF2-40B4-BE49-F238E27FC236}">
                    <a16:creationId xmlns:a16="http://schemas.microsoft.com/office/drawing/2014/main" id="{3C17FFC3-18DB-A342-DB54-F5EBCA171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" name="Rectangle 32">
                <a:extLst>
                  <a:ext uri="{FF2B5EF4-FFF2-40B4-BE49-F238E27FC236}">
                    <a16:creationId xmlns:a16="http://schemas.microsoft.com/office/drawing/2014/main" id="{CB08359C-1ACF-4758-E993-9C51E95EF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2" name="Rectangle 33">
                <a:extLst>
                  <a:ext uri="{FF2B5EF4-FFF2-40B4-BE49-F238E27FC236}">
                    <a16:creationId xmlns:a16="http://schemas.microsoft.com/office/drawing/2014/main" id="{1681E378-53F3-ED3B-BC0F-E2988DD2A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  <p:sp>
          <p:nvSpPr>
            <p:cNvPr id="24" name="Text Box 34">
              <a:extLst>
                <a:ext uri="{FF2B5EF4-FFF2-40B4-BE49-F238E27FC236}">
                  <a16:creationId xmlns:a16="http://schemas.microsoft.com/office/drawing/2014/main" id="{CBFF48FF-DD90-B387-4AB7-BE5BE38A7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880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Tahoma" pitchFamily="34" charset="0"/>
                </a:rPr>
                <a:t>r</a:t>
              </a:r>
              <a:r>
                <a:rPr lang="en-US" altLang="en-US" sz="1800" i="1" baseline="-25000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33" name="Rectangle 35">
            <a:extLst>
              <a:ext uri="{FF2B5EF4-FFF2-40B4-BE49-F238E27FC236}">
                <a16:creationId xmlns:a16="http://schemas.microsoft.com/office/drawing/2014/main" id="{3C189C11-B8B4-6FA2-6779-ED5AAD895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16" y="4442981"/>
            <a:ext cx="447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itchFamily="18" charset="0"/>
                <a:sym typeface="Wingdings 3" pitchFamily="18" charset="2"/>
              </a:rPr>
              <a:t>+</a:t>
            </a:r>
          </a:p>
        </p:txBody>
      </p:sp>
      <p:grpSp>
        <p:nvGrpSpPr>
          <p:cNvPr id="34" name="Group 36">
            <a:extLst>
              <a:ext uri="{FF2B5EF4-FFF2-40B4-BE49-F238E27FC236}">
                <a16:creationId xmlns:a16="http://schemas.microsoft.com/office/drawing/2014/main" id="{9CEEAE1A-836C-3FD7-9D35-FF49D3F207CA}"/>
              </a:ext>
            </a:extLst>
          </p:cNvPr>
          <p:cNvGrpSpPr>
            <a:grpSpLocks/>
          </p:cNvGrpSpPr>
          <p:nvPr/>
        </p:nvGrpSpPr>
        <p:grpSpPr bwMode="auto">
          <a:xfrm>
            <a:off x="3500618" y="3701621"/>
            <a:ext cx="1926167" cy="2044701"/>
            <a:chOff x="2112" y="2893"/>
            <a:chExt cx="910" cy="1288"/>
          </a:xfrm>
        </p:grpSpPr>
        <p:grpSp>
          <p:nvGrpSpPr>
            <p:cNvPr id="35" name="Group 37">
              <a:extLst>
                <a:ext uri="{FF2B5EF4-FFF2-40B4-BE49-F238E27FC236}">
                  <a16:creationId xmlns:a16="http://schemas.microsoft.com/office/drawing/2014/main" id="{9BA6A6B1-302B-422F-0C63-D2B84287C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2893"/>
              <a:ext cx="334" cy="1288"/>
              <a:chOff x="144" y="1789"/>
              <a:chExt cx="334" cy="1288"/>
            </a:xfrm>
          </p:grpSpPr>
          <p:sp>
            <p:nvSpPr>
              <p:cNvPr id="38" name="Text Box 38">
                <a:extLst>
                  <a:ext uri="{FF2B5EF4-FFF2-40B4-BE49-F238E27FC236}">
                    <a16:creationId xmlns:a16="http://schemas.microsoft.com/office/drawing/2014/main" id="{C1CC9FD3-323E-5CE2-D905-1145145C03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9" name="Text Box 39">
                <a:extLst>
                  <a:ext uri="{FF2B5EF4-FFF2-40B4-BE49-F238E27FC236}">
                    <a16:creationId xmlns:a16="http://schemas.microsoft.com/office/drawing/2014/main" id="{4E64E73A-105F-D228-7A2C-A72F89C8B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40" name="Text Box 40">
                <a:extLst>
                  <a:ext uri="{FF2B5EF4-FFF2-40B4-BE49-F238E27FC236}">
                    <a16:creationId xmlns:a16="http://schemas.microsoft.com/office/drawing/2014/main" id="{2FAD8A39-5626-BCC6-D560-DF5E0ADD5E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41" name="Group 41">
                <a:extLst>
                  <a:ext uri="{FF2B5EF4-FFF2-40B4-BE49-F238E27FC236}">
                    <a16:creationId xmlns:a16="http://schemas.microsoft.com/office/drawing/2014/main" id="{BAEF2C9D-233B-6524-1138-4432EDA10F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" y="1789"/>
                <a:ext cx="204" cy="1035"/>
                <a:chOff x="2366" y="2420"/>
                <a:chExt cx="219" cy="1083"/>
              </a:xfrm>
            </p:grpSpPr>
            <p:sp>
              <p:nvSpPr>
                <p:cNvPr id="42" name="Text Box 42">
                  <a:extLst>
                    <a:ext uri="{FF2B5EF4-FFF2-40B4-BE49-F238E27FC236}">
                      <a16:creationId xmlns:a16="http://schemas.microsoft.com/office/drawing/2014/main" id="{B2E6A581-8447-A815-2669-95843E1A77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66" y="2420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43" name="AutoShape 43">
                  <a:extLst>
                    <a:ext uri="{FF2B5EF4-FFF2-40B4-BE49-F238E27FC236}">
                      <a16:creationId xmlns:a16="http://schemas.microsoft.com/office/drawing/2014/main" id="{00AE3C39-CE83-EDDC-A3BF-E9BFEA92A747}"/>
                    </a:ext>
                  </a:extLst>
                </p:cNvPr>
                <p:cNvCxnSpPr>
                  <a:cxnSpLocks noChangeShapeType="1"/>
                  <a:stCxn id="42" idx="2"/>
                  <a:endCxn id="40" idx="0"/>
                </p:cNvCxnSpPr>
                <p:nvPr/>
              </p:nvCxnSpPr>
              <p:spPr bwMode="auto">
                <a:xfrm>
                  <a:off x="2475" y="2684"/>
                  <a:ext cx="1" cy="15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4" name="AutoShape 44">
                  <a:extLst>
                    <a:ext uri="{FF2B5EF4-FFF2-40B4-BE49-F238E27FC236}">
                      <a16:creationId xmlns:a16="http://schemas.microsoft.com/office/drawing/2014/main" id="{22A2C055-F842-F379-87DB-BCFD1B02E74B}"/>
                    </a:ext>
                  </a:extLst>
                </p:cNvPr>
                <p:cNvCxnSpPr>
                  <a:cxnSpLocks noChangeShapeType="1"/>
                  <a:stCxn id="40" idx="2"/>
                  <a:endCxn id="38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5" name="AutoShape 45">
                  <a:extLst>
                    <a:ext uri="{FF2B5EF4-FFF2-40B4-BE49-F238E27FC236}">
                      <a16:creationId xmlns:a16="http://schemas.microsoft.com/office/drawing/2014/main" id="{4195F953-9692-A693-1B13-6270BEDE9366}"/>
                    </a:ext>
                  </a:extLst>
                </p:cNvPr>
                <p:cNvCxnSpPr>
                  <a:cxnSpLocks noChangeShapeType="1"/>
                  <a:stCxn id="38" idx="2"/>
                  <a:endCxn id="39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E2AA94A0-5A91-B543-3A52-71C683227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408"/>
              <a:ext cx="1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ahoma" pitchFamily="34" charset="0"/>
                </a:rPr>
                <a:t>r</a:t>
              </a:r>
              <a:r>
                <a:rPr lang="en-US" altLang="en-US" sz="2000" i="1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37" name="Rectangle 47">
              <a:extLst>
                <a:ext uri="{FF2B5EF4-FFF2-40B4-BE49-F238E27FC236}">
                  <a16:creationId xmlns:a16="http://schemas.microsoft.com/office/drawing/2014/main" id="{B2B4842C-EC41-586D-C7E7-CBD1C6168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408"/>
              <a:ext cx="1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Times New Roman" pitchFamily="18" charset="0"/>
                  <a:sym typeface="Wingdings 3" pitchFamily="18" charset="2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9526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67C3A71-12AE-3AE1-7A2E-A2AB8C3F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73" y="75612"/>
            <a:ext cx="10818254" cy="675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2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err="1"/>
              <a:t>FPGrowth</a:t>
            </a:r>
            <a:r>
              <a:rPr lang="en-US" altLang="en-US" sz="3600" dirty="0"/>
              <a:t>：基于模式增长的频繁模式挖掘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288" y="1219200"/>
            <a:ext cx="11088860" cy="5412828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FPGrowth方法</a:t>
            </a:r>
            <a:r>
              <a:rPr lang="en-US" altLang="en-US" sz="2400" dirty="0"/>
              <a:t>的核心原理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识别频繁的单一项目，并根据每个此类单一项目模式对数据库进行分区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通过对每个</a:t>
            </a:r>
            <a:r>
              <a:rPr lang="en-US" altLang="en-US" sz="2400" i="1" dirty="0"/>
              <a:t>划分的数据库</a:t>
            </a:r>
            <a:r>
              <a:rPr lang="en-US" altLang="en-US" sz="2400" dirty="0"/>
              <a:t>（也称为模式的</a:t>
            </a:r>
            <a:r>
              <a:rPr lang="en-US" altLang="en-US" sz="2400" i="1" dirty="0"/>
              <a:t>条件数据库</a:t>
            </a:r>
            <a:r>
              <a:rPr lang="en-US" altLang="en-US" sz="2400" dirty="0"/>
              <a:t>）重复上述步骤，递归地扩展频繁模式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为实现高效处理，可构建高效数据结构FP-树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挖掘过程变为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递归构建并挖掘（条件）FP-树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直到生成的FP树为空，或仅包含一条路径——单一路径将生成其所有子路径的组合，每个组合均为一个频繁模式</a:t>
            </a:r>
          </a:p>
        </p:txBody>
      </p:sp>
    </p:spTree>
    <p:extLst>
      <p:ext uri="{BB962C8B-B14F-4D97-AF65-F5344CB8AC3E}">
        <p14:creationId xmlns:p14="http://schemas.microsoft.com/office/powerpoint/2010/main" val="406429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6"/>
          <p:cNvSpPr txBox="1">
            <a:spLocks noChangeArrowheads="1"/>
          </p:cNvSpPr>
          <p:nvPr/>
        </p:nvSpPr>
        <p:spPr bwMode="auto">
          <a:xfrm>
            <a:off x="2182283" y="5281804"/>
            <a:ext cx="2137834" cy="830997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假设只有f是高频项，且高频项的排序为：f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-f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-f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-f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4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通过基于项的数据投影对FP增长进行缩放</a:t>
            </a:r>
            <a:endParaRPr lang="en-US" altLang="en-US" b="1" dirty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43000"/>
            <a:ext cx="11480800" cy="3276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200" dirty="0"/>
              <a:t>如果 FP-树无法放入内存怎么办？——不构建 FP-树</a:t>
            </a:r>
          </a:p>
          <a:p>
            <a:pPr lvl="1">
              <a:spcBef>
                <a:spcPts val="300"/>
              </a:spcBef>
            </a:pPr>
            <a:r>
              <a:rPr lang="en-US" altLang="en-US" sz="2200" dirty="0"/>
              <a:t>基于频繁单个项对数据库进行“投影”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200" dirty="0"/>
              <a:t>为每个投影后的数据库构建并挖掘 FP-树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200" dirty="0">
                <a:solidFill>
                  <a:srgbClr val="FF0000"/>
                </a:solidFill>
              </a:rPr>
              <a:t>并行投影</a:t>
            </a:r>
            <a:r>
              <a:rPr lang="en-US" altLang="en-US" sz="2200" dirty="0"/>
              <a:t>与</a:t>
            </a:r>
            <a:r>
              <a:rPr lang="en-US" altLang="en-US" sz="2200" dirty="0">
                <a:solidFill>
                  <a:srgbClr val="FF0000"/>
                </a:solidFill>
              </a:rPr>
              <a:t>分区投影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200" dirty="0"/>
              <a:t>并行投影：对每个频繁项投影数据库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200" dirty="0"/>
              <a:t>空间开销大，所有分区可并行处理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200" dirty="0"/>
              <a:t>分区投影：按顺序将数据库分区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200" dirty="0"/>
              <a:t>将未处理的部分传递给后续分区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4732"/>
              </p:ext>
            </p:extLst>
          </p:nvPr>
        </p:nvGraphicFramePr>
        <p:xfrm>
          <a:off x="508000" y="4876800"/>
          <a:ext cx="1625600" cy="18288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g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i j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k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…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59" name="TextBox 2"/>
          <p:cNvSpPr txBox="1">
            <a:spLocks noChangeArrowheads="1"/>
          </p:cNvSpPr>
          <p:nvPr/>
        </p:nvSpPr>
        <p:spPr bwMode="auto">
          <a:xfrm>
            <a:off x="508000" y="4419600"/>
            <a:ext cx="1524000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STKaiti" panose="02010600040101010101" pitchFamily="2" charset="-122"/>
                <a:ea typeface="STKaiti" panose="02010600040101010101" pitchFamily="2" charset="-122"/>
              </a:rPr>
              <a:t>Trans. DB</a:t>
            </a:r>
          </a:p>
        </p:txBody>
      </p:sp>
      <p:sp>
        <p:nvSpPr>
          <p:cNvPr id="31760" name="TextBox 6"/>
          <p:cNvSpPr txBox="1">
            <a:spLocks noChangeArrowheads="1"/>
          </p:cNvSpPr>
          <p:nvPr/>
        </p:nvSpPr>
        <p:spPr bwMode="auto">
          <a:xfrm>
            <a:off x="4267200" y="4419600"/>
            <a:ext cx="2641600" cy="307777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STKaiti" panose="02010600040101010101" pitchFamily="2" charset="-122"/>
                <a:ea typeface="STKaiti" panose="02010600040101010101" pitchFamily="2" charset="-122"/>
              </a:rPr>
              <a:t>平行投影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951480"/>
              </p:ext>
            </p:extLst>
          </p:nvPr>
        </p:nvGraphicFramePr>
        <p:xfrm>
          <a:off x="4572000" y="5241925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69" name="TextBox 3"/>
          <p:cNvSpPr txBox="1">
            <a:spLocks noChangeArrowheads="1"/>
          </p:cNvSpPr>
          <p:nvPr/>
        </p:nvSpPr>
        <p:spPr bwMode="auto">
          <a:xfrm>
            <a:off x="4373034" y="4843464"/>
            <a:ext cx="1214966" cy="30777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1400" b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4</a:t>
            </a:r>
            <a:r>
              <a:rPr lang="en-US" altLang="en-US" sz="1400" b="1" dirty="0">
                <a:latin typeface="STKaiti" panose="02010600040101010101" pitchFamily="2" charset="-122"/>
                <a:ea typeface="STKaiti" panose="02010600040101010101" pitchFamily="2" charset="-122"/>
              </a:rPr>
              <a:t> -投影. DB</a:t>
            </a:r>
          </a:p>
        </p:txBody>
      </p:sp>
      <p:sp>
        <p:nvSpPr>
          <p:cNvPr id="31770" name="TextBox 9"/>
          <p:cNvSpPr txBox="1">
            <a:spLocks noChangeArrowheads="1"/>
          </p:cNvSpPr>
          <p:nvPr/>
        </p:nvSpPr>
        <p:spPr bwMode="auto">
          <a:xfrm>
            <a:off x="5888566" y="4843464"/>
            <a:ext cx="1223434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1600" b="1" baseline="-2500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 -proj. DB</a:t>
            </a:r>
          </a:p>
        </p:txBody>
      </p:sp>
      <p:sp>
        <p:nvSpPr>
          <p:cNvPr id="31771" name="TextBox 10"/>
          <p:cNvSpPr txBox="1">
            <a:spLocks noChangeArrowheads="1"/>
          </p:cNvSpPr>
          <p:nvPr/>
        </p:nvSpPr>
        <p:spPr bwMode="auto">
          <a:xfrm>
            <a:off x="7721601" y="4843464"/>
            <a:ext cx="1528233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1600" b="1" baseline="-25000">
                <a:latin typeface="STKaiti" panose="02010600040101010101" pitchFamily="2" charset="-122"/>
                <a:ea typeface="STKaiti" panose="02010600040101010101" pitchFamily="2" charset="-122"/>
              </a:rPr>
              <a:t>4</a:t>
            </a: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 -proj. DB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48401"/>
              </p:ext>
            </p:extLst>
          </p:nvPr>
        </p:nvGraphicFramePr>
        <p:xfrm>
          <a:off x="5994400" y="5257800"/>
          <a:ext cx="812800" cy="10970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79" name="TextBox 12"/>
          <p:cNvSpPr txBox="1">
            <a:spLocks noChangeArrowheads="1"/>
          </p:cNvSpPr>
          <p:nvPr/>
        </p:nvSpPr>
        <p:spPr bwMode="auto">
          <a:xfrm>
            <a:off x="8026401" y="4432300"/>
            <a:ext cx="2791884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STKaiti" panose="02010600040101010101" pitchFamily="2" charset="-122"/>
                <a:ea typeface="STKaiti" panose="02010600040101010101" pitchFamily="2" charset="-122"/>
              </a:rPr>
              <a:t>分区投影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62432"/>
              </p:ext>
            </p:extLst>
          </p:nvPr>
        </p:nvGraphicFramePr>
        <p:xfrm>
          <a:off x="8128000" y="5181600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19742"/>
              </p:ext>
            </p:extLst>
          </p:nvPr>
        </p:nvGraphicFramePr>
        <p:xfrm>
          <a:off x="9855200" y="5181600"/>
          <a:ext cx="812800" cy="733426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94" name="TextBox 15"/>
          <p:cNvSpPr txBox="1">
            <a:spLocks noChangeArrowheads="1"/>
          </p:cNvSpPr>
          <p:nvPr/>
        </p:nvSpPr>
        <p:spPr bwMode="auto">
          <a:xfrm>
            <a:off x="9550400" y="4840289"/>
            <a:ext cx="1422400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1600" b="1" baseline="-2500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sz="1600" b="1">
                <a:latin typeface="STKaiti" panose="02010600040101010101" pitchFamily="2" charset="-122"/>
                <a:ea typeface="STKaiti" panose="02010600040101010101" pitchFamily="2" charset="-122"/>
              </a:rPr>
              <a:t> -proj. DB</a:t>
            </a:r>
          </a:p>
        </p:txBody>
      </p:sp>
      <p:sp>
        <p:nvSpPr>
          <p:cNvPr id="31795" name="Oval 4"/>
          <p:cNvSpPr>
            <a:spLocks noChangeArrowheads="1"/>
          </p:cNvSpPr>
          <p:nvPr/>
        </p:nvSpPr>
        <p:spPr bwMode="auto">
          <a:xfrm>
            <a:off x="8128000" y="5257800"/>
            <a:ext cx="406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1796" name="TextBox 8"/>
          <p:cNvSpPr txBox="1">
            <a:spLocks noChangeArrowheads="1"/>
          </p:cNvSpPr>
          <p:nvPr/>
        </p:nvSpPr>
        <p:spPr bwMode="auto">
          <a:xfrm>
            <a:off x="8940800" y="6041729"/>
            <a:ext cx="2641600" cy="584775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仅在处理 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4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-proj. DB 时，才会投影为 f</a:t>
            </a:r>
            <a:r>
              <a:rPr lang="en-US" altLang="en-US" sz="16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  <a:r>
              <a:rPr lang="en-US" altLang="en-US" sz="1600" dirty="0">
                <a:latin typeface="STKaiti" panose="02010600040101010101" pitchFamily="2" charset="-122"/>
                <a:ea typeface="STKaiti" panose="02010600040101010101" pitchFamily="2" charset="-122"/>
              </a:rPr>
              <a:t> -proj. DB </a:t>
            </a:r>
          </a:p>
        </p:txBody>
      </p:sp>
      <p:sp>
        <p:nvSpPr>
          <p:cNvPr id="31797" name="Curved Up Arrow 2"/>
          <p:cNvSpPr>
            <a:spLocks noChangeArrowheads="1"/>
          </p:cNvSpPr>
          <p:nvPr/>
        </p:nvSpPr>
        <p:spPr bwMode="auto">
          <a:xfrm rot="687619">
            <a:off x="8244418" y="5662614"/>
            <a:ext cx="1627716" cy="238125"/>
          </a:xfrm>
          <a:prstGeom prst="curvedUpArrow">
            <a:avLst>
              <a:gd name="adj1" fmla="val 24921"/>
              <a:gd name="adj2" fmla="val 49843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1798" name="Curved Up Arrow 21"/>
          <p:cNvSpPr>
            <a:spLocks noChangeArrowheads="1"/>
          </p:cNvSpPr>
          <p:nvPr/>
        </p:nvSpPr>
        <p:spPr bwMode="auto">
          <a:xfrm rot="151062" flipV="1">
            <a:off x="1943792" y="4993891"/>
            <a:ext cx="2527300" cy="232515"/>
          </a:xfrm>
          <a:prstGeom prst="curvedUpArrow">
            <a:avLst>
              <a:gd name="adj1" fmla="val 24960"/>
              <a:gd name="adj2" fmla="val 49920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1799" name="Curved Up Arrow 22"/>
          <p:cNvSpPr>
            <a:spLocks noChangeArrowheads="1"/>
          </p:cNvSpPr>
          <p:nvPr/>
        </p:nvSpPr>
        <p:spPr bwMode="auto">
          <a:xfrm rot="151062" flipV="1">
            <a:off x="1825412" y="4683521"/>
            <a:ext cx="4238972" cy="576459"/>
          </a:xfrm>
          <a:prstGeom prst="curvedUpArrow">
            <a:avLst>
              <a:gd name="adj1" fmla="val 24997"/>
              <a:gd name="adj2" fmla="val 49944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64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9" grpId="0" animBg="1"/>
      <p:bldP spid="31760" grpId="0" animBg="1"/>
      <p:bldP spid="31769" grpId="0" animBg="1"/>
      <p:bldP spid="31770" grpId="0" animBg="1"/>
      <p:bldP spid="31771" grpId="0" animBg="1"/>
      <p:bldP spid="31779" grpId="0" animBg="1"/>
      <p:bldP spid="31794" grpId="0" animBg="1"/>
      <p:bldP spid="31795" grpId="0" animBg="1"/>
      <p:bldP spid="31796" grpId="0" animBg="1"/>
      <p:bldP spid="31797" grpId="0" animBg="1"/>
      <p:bldP spid="31798" grpId="0" animBg="1"/>
      <p:bldP spid="3179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b="1" dirty="0"/>
              <a:t>ECLAT算法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85B64-3263-4045-8016-1F100688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与</a:t>
            </a:r>
            <a:r>
              <a:rPr lang="en-US" altLang="ko-Kore-KR" sz="20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Apriori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算法不同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,Eclat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算法把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据集中的事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务划归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到每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个项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采用垂直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据表示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并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以此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基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础挖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掘事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务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集的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频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繁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项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集。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这种数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据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结构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又叫作 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Tidset 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据集</a:t>
            </a:r>
            <a:r>
              <a:rPr lang="en-US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示例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数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据如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图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所示。</a:t>
            </a:r>
            <a:endParaRPr lang="ko-Kore-KR" altLang="ko-Kore-KR" sz="20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endParaRPr kumimoji="1" lang="ko-Kore-KR" altLang="en-US" sz="2400">
              <a:latin typeface="KaiTi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23B802-1E42-A471-5898-F512F3009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b="7026"/>
          <a:stretch/>
        </p:blipFill>
        <p:spPr bwMode="auto">
          <a:xfrm>
            <a:off x="434109" y="2438400"/>
            <a:ext cx="1095400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2359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b="1" dirty="0"/>
              <a:t>ECLAT算法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85B64-3263-4045-8016-1F100688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1"/>
            <a:r>
              <a:rPr lang="en-US" altLang="ko-Kore-KR" sz="1800" kern="100">
                <a:effectLst/>
                <a:latin typeface="KaiTi" panose="02010609060101010101" pitchFamily="49" charset="-122"/>
                <a:ea typeface="맑은 고딕" panose="020B0503020000020004" pitchFamily="34" charset="-127"/>
                <a:cs typeface="Times New Roman" panose="02020603050405020304" pitchFamily="18" charset="0"/>
              </a:rPr>
              <a:t>Eclat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算法使用这种数据表示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计算支持度时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只需要一次读取数据集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首先得到每个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项集的支持度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然后再对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k-1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项集进行事务项交集操作来计算候选项集的支持度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这与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Apriori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算法次读取数据集而言确实有了改进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只是将效率花费在交集操作上。现以示例数据为例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假设最小支持度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minsup=0.5(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对应支持度计数为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3),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候选项集、频繁项集、自连接、剪枝仍然使用</a:t>
            </a:r>
            <a:r>
              <a:rPr lang="en-US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 Apriori </a:t>
            </a:r>
            <a:r>
              <a:rPr lang="ko-Kore-KR" altLang="ko-Kore-KR" sz="18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算法中的表示及做法</a:t>
            </a:r>
            <a:r>
              <a:rPr lang="zh-CN" altLang="en-US" sz="1800" kern="100"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ko-Kore-KR" altLang="ko-Kore-KR" sz="18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/>
            <a:endParaRPr kumimoji="1" lang="ko-Kore-KR" altLang="en-US" sz="2400">
              <a:latin typeface="KaiTi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E08F9A-5620-9BD0-93B8-C947DB406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87" y="2785771"/>
            <a:ext cx="99949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5375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b="1" dirty="0"/>
              <a:t>ECLAT算法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F7EBFD4-5878-FB4C-2A4F-90395B224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18" y="1136445"/>
            <a:ext cx="9994900" cy="55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2265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b="1" dirty="0"/>
              <a:t>ECLAT算法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F53B6C6-1BBD-FBE9-E50D-27104DFC7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1460691"/>
            <a:ext cx="99314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243B6F4-112A-089E-8CF3-6F6FA4744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99"/>
          <a:stretch/>
        </p:blipFill>
        <p:spPr bwMode="auto">
          <a:xfrm>
            <a:off x="1130300" y="3925244"/>
            <a:ext cx="10045700" cy="147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965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练习</a:t>
            </a:r>
            <a:endParaRPr lang="en-US" altLang="en-US" sz="4000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DAFDC76-8E43-5DEC-7FBF-1AB282D42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6816" y="1273667"/>
            <a:ext cx="92583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954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练习</a:t>
            </a:r>
            <a:endParaRPr lang="en-US" altLang="en-US" sz="4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7B95A4-BE82-80C0-C1CC-17147B3FC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37"/>
          <a:stretch/>
        </p:blipFill>
        <p:spPr>
          <a:xfrm>
            <a:off x="1264674" y="1357854"/>
            <a:ext cx="9662652" cy="497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272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模式挖掘：基本概念与方法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基本概念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频繁项集挖掘方法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哪些模式是有趣的？——模式评估方法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总结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10858563" y="4134734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26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如何判断一条规则/模式是否有趣？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95400"/>
            <a:ext cx="9335247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模式挖掘会生成大量模式/规则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并非所有生成的模式/规则都具有趣味性</a:t>
            </a:r>
          </a:p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有趣性衡量标准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：</a:t>
            </a: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客观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与主观 </a:t>
            </a:r>
            <a:endParaRPr lang="en-US" altLang="en-US" sz="2400" dirty="0">
              <a:ea typeface="STKaiti" panose="02010600040101010101" pitchFamily="2" charset="-122"/>
              <a:sym typeface="Symbol" pitchFamily="18" charset="2"/>
            </a:endParaRP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客观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有趣性衡量标准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支持度、置信度、相关性等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主观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有趣性度量： </a:t>
            </a:r>
          </a:p>
          <a:p>
            <a:pPr lvl="4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不同用户可能对有趣性有不同判断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让用户自行指定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基于查询：与用户的特定请求相关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与用户的知识库进行对比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意外性、新鲜度、及时性</a:t>
            </a:r>
          </a:p>
        </p:txBody>
      </p:sp>
    </p:spTree>
    <p:extLst>
      <p:ext uri="{BB962C8B-B14F-4D97-AF65-F5344CB8AC3E}">
        <p14:creationId xmlns:p14="http://schemas.microsoft.com/office/powerpoint/2010/main" val="413736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381000"/>
            <a:ext cx="12598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支持-置信框架的局限性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399" y="1295400"/>
            <a:ext cx="10672417" cy="51054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en-US" altLang="en-US" dirty="0">
                <a:ea typeface="STKaiti" panose="02010600040101010101" pitchFamily="2" charset="-122"/>
              </a:rPr>
              <a:t>在关联规则中，“A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  B” [</a:t>
            </a:r>
            <a:r>
              <a:rPr lang="en-US" altLang="en-US" i="1" dirty="0">
                <a:ea typeface="STKaiti" panose="02010600040101010101" pitchFamily="2" charset="-122"/>
                <a:sym typeface="Symbol" pitchFamily="18" charset="2"/>
              </a:rPr>
              <a:t>s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, </a:t>
            </a:r>
            <a:r>
              <a:rPr lang="en-US" altLang="en-US" i="1" dirty="0">
                <a:ea typeface="STKaiti" panose="02010600040101010101" pitchFamily="2" charset="-122"/>
                <a:sym typeface="Symbol" pitchFamily="18" charset="2"/>
              </a:rPr>
              <a:t>c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]</a:t>
            </a:r>
            <a:r>
              <a:rPr lang="en-US" altLang="en-US" dirty="0">
                <a:ea typeface="STKaiti" panose="02010600040101010101" pitchFamily="2" charset="-122"/>
              </a:rPr>
              <a:t> 中的 </a:t>
            </a:r>
            <a:r>
              <a:rPr lang="en-US" altLang="en-US" sz="2400" i="1" dirty="0">
                <a:ea typeface="STKaiti" panose="02010600040101010101" pitchFamily="2" charset="-122"/>
              </a:rPr>
              <a:t>s </a:t>
            </a:r>
            <a:r>
              <a:rPr lang="en-US" altLang="en-US" sz="2400" dirty="0">
                <a:ea typeface="STKaiti" panose="02010600040101010101" pitchFamily="2" charset="-122"/>
              </a:rPr>
              <a:t>和 </a:t>
            </a:r>
            <a:r>
              <a:rPr lang="en-US" altLang="en-US" sz="2400" i="1" dirty="0">
                <a:ea typeface="STKaiti" panose="02010600040101010101" pitchFamily="2" charset="-122"/>
              </a:rPr>
              <a:t>c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 是否具有研究价值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？ </a:t>
            </a: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ea typeface="STKaiti" panose="02010600040101010101" pitchFamily="2" charset="-122"/>
              </a:rPr>
              <a:t>示例：假设某所学校有以下关于学生打篮球和/或吃谷物早餐的统计数据：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endParaRPr lang="en-US" altLang="en-US" sz="2400" dirty="0">
              <a:ea typeface="STKaiti" panose="02010600040101010101" pitchFamily="2" charset="-122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ea typeface="STKaiti" panose="02010600040101010101" pitchFamily="2" charset="-122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ea typeface="STKaiti" panose="02010600040101010101" pitchFamily="2" charset="-122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ea typeface="STKaiti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ea typeface="STKaiti" panose="02010600040101010101" pitchFamily="2" charset="-122"/>
              </a:rPr>
              <a:t>关联规则挖掘可能生成以下结果：</a:t>
            </a:r>
          </a:p>
          <a:p>
            <a:pPr lvl="1"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i="1" dirty="0">
                <a:ea typeface="STKaiti" panose="02010600040101010101" pitchFamily="2" charset="-122"/>
              </a:rPr>
              <a:t>打篮球 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 </a:t>
            </a:r>
            <a:r>
              <a:rPr lang="en-US" altLang="en-US" sz="2400" i="1" dirty="0">
                <a:ea typeface="STKaiti" panose="02010600040101010101" pitchFamily="2" charset="-122"/>
                <a:sym typeface="Symbol" pitchFamily="18" charset="2"/>
              </a:rPr>
              <a:t> 吃麦片 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[40%, 66.7%]  (更高 s </a:t>
            </a:r>
            <a:r>
              <a:rPr lang="en-US" altLang="zh-CN" sz="2400" dirty="0">
                <a:ea typeface="STKaiti" panose="02010600040101010101" pitchFamily="2" charset="-122"/>
                <a:sym typeface="Symbol" pitchFamily="18" charset="2"/>
              </a:rPr>
              <a:t>&amp;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 c)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但</a:t>
            </a:r>
            <a:r>
              <a:rPr lang="en-US" altLang="en-US" sz="2400" dirty="0">
                <a:ea typeface="STKaiti" panose="02010600040101010101" pitchFamily="2" charset="-122"/>
              </a:rPr>
              <a:t>这个强关联规则具有误导性：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吃谷物早餐的学生比例为75%，高于66.7%。更具说明性的规则为：</a:t>
            </a:r>
          </a:p>
          <a:p>
            <a:pPr marL="742950" lvl="2" indent="-342900" eaLnBrk="1" hangingPunct="1">
              <a:spcBef>
                <a:spcPts val="600"/>
              </a:spcBef>
              <a:spcAft>
                <a:spcPts val="300"/>
              </a:spcAft>
              <a:buSzPct val="60000"/>
              <a:defRPr/>
            </a:pPr>
            <a:r>
              <a:rPr lang="en-US" altLang="en-US" i="1" dirty="0">
                <a:ea typeface="STKaiti" panose="02010600040101010101" pitchFamily="2" charset="-122"/>
                <a:sym typeface="Symbol" pitchFamily="18" charset="2"/>
              </a:rPr>
              <a:t>¬</a:t>
            </a:r>
            <a:r>
              <a:rPr lang="en-US" altLang="en-US" i="1" dirty="0">
                <a:ea typeface="STKaiti" panose="02010600040101010101" pitchFamily="2" charset="-122"/>
              </a:rPr>
              <a:t> 打篮球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 </a:t>
            </a:r>
            <a:r>
              <a:rPr lang="en-US" altLang="en-US" i="1" dirty="0">
                <a:ea typeface="STKaiti" panose="02010600040101010101" pitchFamily="2" charset="-122"/>
                <a:sym typeface="Symbol" pitchFamily="18" charset="2"/>
              </a:rPr>
              <a:t> 吃麦片 </a:t>
            </a: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[35%, 87.5%] (高关联度和高共同发生率)</a:t>
            </a:r>
          </a:p>
        </p:txBody>
      </p:sp>
      <p:graphicFrame>
        <p:nvGraphicFramePr>
          <p:cNvPr id="1408050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789855"/>
              </p:ext>
            </p:extLst>
          </p:nvPr>
        </p:nvGraphicFramePr>
        <p:xfrm>
          <a:off x="1222375" y="2676865"/>
          <a:ext cx="7213600" cy="1262063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打篮球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不打篮球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行总和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吃谷物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不吃谷物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总和（列）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 rot="766528">
            <a:off x="8258670" y="3047814"/>
            <a:ext cx="1986561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2×2列联表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4443" y="1292087"/>
            <a:ext cx="1581373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注意！</a:t>
            </a:r>
            <a:endParaRPr lang="en-US" sz="24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02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4="http://schemas.microsoft.com/office/drawing/2010/main" xmlns:a16="http://schemas.microsoft.com/office/drawing/2014/main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有趣度度量：提升率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7236" y="1254124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相关事件的度量：</a:t>
            </a:r>
            <a:r>
              <a:rPr lang="en-US" altLang="en-US" b="1" dirty="0">
                <a:ea typeface="STKaiti" panose="02010600040101010101" pitchFamily="2" charset="-122"/>
                <a:sym typeface="Symbol" pitchFamily="18" charset="2"/>
              </a:rPr>
              <a:t>提升率</a:t>
            </a:r>
          </a:p>
        </p:txBody>
      </p:sp>
      <p:graphicFrame>
        <p:nvGraphicFramePr>
          <p:cNvPr id="8199" name="Object 3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78250" y="5056188"/>
          <a:ext cx="4176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393700" progId="Equation.3">
                  <p:embed/>
                </p:oleObj>
              </mc:Choice>
              <mc:Fallback>
                <p:oleObj name="Equation" r:id="rId3" imgW="2616200" imgH="393700" progId="Equation.3">
                  <p:embed/>
                  <p:pic>
                    <p:nvPicPr>
                      <p:cNvPr id="819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5056188"/>
                        <a:ext cx="4176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30663" y="4462463"/>
          <a:ext cx="39639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393700" progId="Equation.3">
                  <p:embed/>
                </p:oleObj>
              </mc:Choice>
              <mc:Fallback>
                <p:oleObj name="Equation" r:id="rId5" imgW="2514600" imgH="393700" progId="Equation.3">
                  <p:embed/>
                  <p:pic>
                    <p:nvPicPr>
                      <p:cNvPr id="8197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462463"/>
                        <a:ext cx="39639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532495"/>
              </p:ext>
            </p:extLst>
          </p:nvPr>
        </p:nvGraphicFramePr>
        <p:xfrm>
          <a:off x="1123274" y="1808242"/>
          <a:ext cx="4230603" cy="750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419100" progId="Equation.3">
                  <p:embed/>
                </p:oleObj>
              </mc:Choice>
              <mc:Fallback>
                <p:oleObj name="Equation" r:id="rId7" imgW="2184400" imgH="419100" progId="Equation.3">
                  <p:embed/>
                  <p:pic>
                    <p:nvPicPr>
                      <p:cNvPr id="819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274" y="1808242"/>
                        <a:ext cx="4230603" cy="750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81581"/>
              </p:ext>
            </p:extLst>
          </p:nvPr>
        </p:nvGraphicFramePr>
        <p:xfrm>
          <a:off x="7541491" y="1854199"/>
          <a:ext cx="4063999" cy="1350327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09600" y="3733800"/>
            <a:ext cx="7019636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8C8C8C"/>
              </a:buClr>
              <a:defRPr/>
            </a:pPr>
            <a:endParaRPr lang="en-US" altLang="en-US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8228" name="TextBox 1"/>
          <p:cNvSpPr txBox="1">
            <a:spLocks noChangeArrowheads="1"/>
          </p:cNvSpPr>
          <p:nvPr/>
        </p:nvSpPr>
        <p:spPr bwMode="auto">
          <a:xfrm>
            <a:off x="7472219" y="1320799"/>
            <a:ext cx="4202545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提升</a:t>
            </a:r>
            <a:r>
              <a:rPr lang="en-US" altLang="en-US" sz="18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效果比标准差和方差更具参考价值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31095" y="2730526"/>
            <a:ext cx="7644717" cy="386391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lift(B, C)反映B和C之间的相关性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lift(B, C) = 1：B 和 C 相互独立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&gt; 1：正相关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&lt; 1：负相关</a:t>
            </a: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对于我们的示例，</a:t>
            </a: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因此，B 和 C 呈负相关，因为 Lift(B, C) &lt; 1; 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B 与 ¬C 正相关，因为 lift(B, ¬C) &gt;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4584A-D5FA-A8FC-0F6E-E51717315751}"/>
              </a:ext>
            </a:extLst>
          </p:cNvPr>
          <p:cNvSpPr txBox="1"/>
          <p:nvPr/>
        </p:nvSpPr>
        <p:spPr>
          <a:xfrm>
            <a:off x="8094215" y="3429000"/>
            <a:ext cx="295854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¬B </a:t>
            </a:r>
            <a:r>
              <a:rPr lang="ko-KR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表示“事件 </a:t>
            </a: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B </a:t>
            </a:r>
            <a:r>
              <a:rPr lang="ko-KR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没有发生”</a:t>
            </a:r>
            <a:endParaRPr lang="en-US" altLang="en-US" kern="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792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:a14="http://schemas.microsoft.com/office/drawing/2010/main" xmlns:v="urn:schemas-microsoft-com:vml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12619" y="316454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有趣性度量：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36245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另一种用于测试相关事件的度量：</a:t>
            </a:r>
            <a:r>
              <a:rPr lang="el-GR" altLang="en-US" b="1" dirty="0">
                <a:ea typeface="STKaiti" panose="02010600040101010101" pitchFamily="2" charset="-122"/>
              </a:rPr>
              <a:t>χ</a:t>
            </a:r>
            <a:r>
              <a:rPr lang="en-US" altLang="en-US" b="1" baseline="30000" dirty="0">
                <a:ea typeface="STKaiti" panose="02010600040101010101" pitchFamily="2" charset="-122"/>
              </a:rPr>
              <a:t>2</a:t>
            </a:r>
            <a:endParaRPr lang="en-US" altLang="en-US" dirty="0">
              <a:ea typeface="STKaiti" panose="02010600040101010101" pitchFamily="2" charset="-122"/>
              <a:sym typeface="Symbol" pitchFamily="18" charset="2"/>
            </a:endParaRPr>
          </a:p>
        </p:txBody>
      </p:sp>
      <p:graphicFrame>
        <p:nvGraphicFramePr>
          <p:cNvPr id="9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370465"/>
              </p:ext>
            </p:extLst>
          </p:nvPr>
        </p:nvGraphicFramePr>
        <p:xfrm>
          <a:off x="7823201" y="1402426"/>
          <a:ext cx="4063999" cy="138549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 (450)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 (300)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 (150)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 (100)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435411"/>
              </p:ext>
            </p:extLst>
          </p:nvPr>
        </p:nvGraphicFramePr>
        <p:xfrm>
          <a:off x="2336800" y="1780309"/>
          <a:ext cx="34706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44240" progId="Equation.3">
                  <p:embed/>
                </p:oleObj>
              </mc:Choice>
              <mc:Fallback>
                <p:oleObj name="Equation" r:id="rId3" imgW="2057400" imgH="444240" progId="Equation.3">
                  <p:embed/>
                  <p:pic>
                    <p:nvPicPr>
                      <p:cNvPr id="927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780309"/>
                        <a:ext cx="34706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26557" y="2449577"/>
            <a:ext cx="9143539" cy="414040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对于右侧的表格，</a:t>
            </a: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查阅 </a:t>
            </a:r>
            <a:r>
              <a:rPr lang="el-GR" altLang="en-US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分布表 → B 和 C 相关</a:t>
            </a:r>
            <a:endParaRPr lang="en-US" altLang="en-US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检验表明B和C呈负相关，因为预期值为450，但观察值仅为400</a:t>
            </a: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因此</a:t>
            </a:r>
            <a:r>
              <a:rPr lang="el-GR" altLang="en-US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，</a:t>
            </a: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比支持-置信框架更能说明问题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0097" y="2988756"/>
            <a:ext cx="115778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期望值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5205" y="3644090"/>
            <a:ext cx="1200790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观测值</a:t>
            </a:r>
          </a:p>
        </p:txBody>
      </p:sp>
      <p:sp>
        <p:nvSpPr>
          <p:cNvPr id="4" name="Curved Left Arrow 3"/>
          <p:cNvSpPr/>
          <p:nvPr/>
        </p:nvSpPr>
        <p:spPr>
          <a:xfrm rot="9641858">
            <a:off x="8817023" y="1862440"/>
            <a:ext cx="607481" cy="1768105"/>
          </a:xfrm>
          <a:prstGeom prst="curvedLef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 rot="9843011">
            <a:off x="8436211" y="1836710"/>
            <a:ext cx="473759" cy="2084117"/>
          </a:xfrm>
          <a:prstGeom prst="curvedLeftArrow">
            <a:avLst/>
          </a:prstGeom>
          <a:solidFill>
            <a:srgbClr val="F0CD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90118"/>
              </p:ext>
            </p:extLst>
          </p:nvPr>
        </p:nvGraphicFramePr>
        <p:xfrm>
          <a:off x="1010745" y="3024262"/>
          <a:ext cx="621371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41800" imgH="406400" progId="Equation.3">
                  <p:embed/>
                </p:oleObj>
              </mc:Choice>
              <mc:Fallback>
                <p:oleObj name="Equation" r:id="rId5" imgW="4241800" imgH="406400" progId="Equation.3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45" y="3024262"/>
                        <a:ext cx="621371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5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v="urn:schemas-microsoft-com:vml" xmlns:a16="http://schemas.microsoft.com/office/drawing/2014/main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2" grpId="0" animBg="1"/>
      <p:bldP spid="14" grpId="0" animBg="1"/>
      <p:bldP spid="4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314040"/>
            <a:ext cx="11074400" cy="667323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提升率和χ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：它们总是好的指标吗？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4877" y="1227128"/>
            <a:ext cx="6862619" cy="531293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空交易：不包含B或C的交易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让我们分析新的数据集 D</a:t>
            </a:r>
          </a:p>
          <a:p>
            <a:pPr lvl="1">
              <a:lnSpc>
                <a:spcPct val="130000"/>
              </a:lnSpc>
            </a:pPr>
            <a:r>
              <a:rPr lang="en-US" altLang="en-US" dirty="0">
                <a:ea typeface="STKaiti" panose="02010600040101010101" pitchFamily="2" charset="-122"/>
                <a:sym typeface="Symbol" pitchFamily="18" charset="2"/>
              </a:rPr>
              <a:t>BC (100) 比 </a:t>
            </a:r>
            <a:r>
              <a:rPr lang="en-US" dirty="0">
                <a:ea typeface="STKaiti" panose="02010600040101010101" pitchFamily="2" charset="-122"/>
              </a:rPr>
              <a:t>B¬C (1000) 和 ¬BC (1000) 少得多，但 ¬B¬C (100000) 的数量却很多</a:t>
            </a:r>
          </a:p>
          <a:p>
            <a:pPr lvl="1">
              <a:lnSpc>
                <a:spcPct val="130000"/>
              </a:lnSpc>
            </a:pPr>
            <a:r>
              <a:rPr lang="en-US" altLang="en-US" kern="0" dirty="0">
                <a:ea typeface="STKaiti" panose="02010600040101010101" pitchFamily="2" charset="-122"/>
                <a:sym typeface="Symbol" pitchFamily="18" charset="2"/>
              </a:rPr>
              <a:t>B 和 C 同时出现的可能性极低！</a:t>
            </a:r>
            <a:endParaRPr lang="en-US" dirty="0">
              <a:ea typeface="STKaiti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en-US" kern="0" dirty="0">
                <a:ea typeface="STKaiti" panose="02010600040101010101" pitchFamily="2" charset="-122"/>
                <a:sym typeface="Symbol" pitchFamily="18" charset="2"/>
              </a:rPr>
              <a:t>但，Lift(B, C) = 8.44 &gt;&gt; 1（Lift 表明 B 和 C 之间存在强正相关！）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n-US" altLang="en-US" kern="0" dirty="0">
                <a:ea typeface="STKaiti" panose="02010600040101010101" pitchFamily="2" charset="-122"/>
                <a:sym typeface="Symbol" pitchFamily="18" charset="2"/>
              </a:rPr>
              <a:t>χ</a:t>
            </a:r>
            <a:r>
              <a:rPr lang="en-US" altLang="en-US" b="1" baseline="30000" dirty="0">
                <a:ea typeface="STKaiti" panose="02010600040101010101" pitchFamily="2" charset="-122"/>
              </a:rPr>
              <a:t>2 </a:t>
            </a:r>
            <a:r>
              <a:rPr lang="en-US" altLang="en-US" kern="0" dirty="0">
                <a:ea typeface="STKaiti" panose="02010600040101010101" pitchFamily="2" charset="-122"/>
                <a:sym typeface="Symbol" pitchFamily="18" charset="2"/>
              </a:rPr>
              <a:t> =670：观察值(BC)远大于预期值(11.85)</a:t>
            </a:r>
          </a:p>
          <a:p>
            <a:pPr>
              <a:lnSpc>
                <a:spcPct val="130000"/>
              </a:lnSpc>
            </a:pPr>
            <a:r>
              <a:rPr lang="en-US" altLang="en-US" i="1" dirty="0">
                <a:ea typeface="STKaiti" panose="02010600040101010101" pitchFamily="2" charset="-122"/>
              </a:rPr>
              <a:t>过多的</a:t>
            </a:r>
            <a:r>
              <a:rPr lang="en-US" altLang="en-US" i="1" dirty="0">
                <a:solidFill>
                  <a:srgbClr val="FF0000"/>
                </a:solidFill>
                <a:ea typeface="STKaiti" panose="02010600040101010101" pitchFamily="2" charset="-122"/>
              </a:rPr>
              <a:t>空交易</a:t>
            </a:r>
            <a:r>
              <a:rPr lang="en-US" altLang="en-US" i="1" dirty="0">
                <a:ea typeface="STKaiti" panose="02010600040101010101" pitchFamily="2" charset="-122"/>
              </a:rPr>
              <a:t>可能“破坏整体效果”！</a:t>
            </a:r>
            <a:endParaRPr lang="en-US" altLang="en-US" kern="0" dirty="0">
              <a:ea typeface="STKaiti" panose="02010600040101010101" pitchFamily="2" charset="-122"/>
              <a:sym typeface="Symbol" pitchFamily="18" charset="2"/>
            </a:endParaRPr>
          </a:p>
        </p:txBody>
      </p:sp>
      <p:graphicFrame>
        <p:nvGraphicFramePr>
          <p:cNvPr id="12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24993"/>
              </p:ext>
            </p:extLst>
          </p:nvPr>
        </p:nvGraphicFramePr>
        <p:xfrm>
          <a:off x="7398328" y="1230835"/>
          <a:ext cx="4063999" cy="1350327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11719"/>
              </p:ext>
            </p:extLst>
          </p:nvPr>
        </p:nvGraphicFramePr>
        <p:xfrm>
          <a:off x="7329056" y="3936991"/>
          <a:ext cx="4368799" cy="1350327"/>
        </p:xfrm>
        <a:graphic>
          <a:graphicData uri="http://schemas.openxmlformats.org/drawingml/2006/table">
            <a:tbl>
              <a:tblPr/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(11.85)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 (988.15)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9492673" y="2614580"/>
            <a:ext cx="1936377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空交易</a:t>
            </a:r>
            <a:endParaRPr lang="en-US" altLang="en-US" sz="2000" dirty="0">
              <a:solidFill>
                <a:srgbClr val="00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TextBox 12"/>
          <p:cNvSpPr txBox="1">
            <a:spLocks noChangeArrowheads="1"/>
          </p:cNvSpPr>
          <p:nvPr/>
        </p:nvSpPr>
        <p:spPr bwMode="auto">
          <a:xfrm>
            <a:off x="7303491" y="3509556"/>
            <a:ext cx="4378363" cy="3385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带预期值的列联表</a:t>
            </a:r>
          </a:p>
        </p:txBody>
      </p:sp>
      <p:sp>
        <p:nvSpPr>
          <p:cNvPr id="2" name="Curved Left Arrow 1"/>
          <p:cNvSpPr/>
          <p:nvPr/>
        </p:nvSpPr>
        <p:spPr>
          <a:xfrm rot="10272491">
            <a:off x="9069399" y="2153572"/>
            <a:ext cx="368027" cy="751197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20927834">
            <a:off x="5635296" y="2158243"/>
            <a:ext cx="819807" cy="27077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4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4="http://schemas.microsoft.com/office/drawing/2010/main" xmlns:a16="http://schemas.microsoft.com/office/drawing/2014/main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" grpId="0" animBg="1"/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561" y="2641600"/>
            <a:ext cx="8331867" cy="3604117"/>
          </a:xfrm>
          <a:prstGeom prst="rect">
            <a:avLst/>
          </a:prstGeom>
          <a:noFill/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有趣性度量与空值不变性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5391" y="1320800"/>
            <a:ext cx="9843315" cy="914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i="1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空值不变性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意味着：零交易的数量无关紧要。不会改变度量值。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一些有趣性度量：其中部分具有</a:t>
            </a:r>
            <a:r>
              <a:rPr lang="ko-KR" altLang="en-US" sz="2400" dirty="0">
                <a:ea typeface="STKaiti" panose="02010600040101010101" pitchFamily="2" charset="-122"/>
                <a:sym typeface="Symbol" pitchFamily="18" charset="2"/>
              </a:rPr>
              <a:t>空值不变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性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019EB0-51F6-3D43-B501-440898640025}"/>
              </a:ext>
            </a:extLst>
          </p:cNvPr>
          <p:cNvGrpSpPr/>
          <p:nvPr/>
        </p:nvGrpSpPr>
        <p:grpSpPr>
          <a:xfrm>
            <a:off x="9079878" y="2187914"/>
            <a:ext cx="2817655" cy="2434887"/>
            <a:chOff x="9569789" y="2260590"/>
            <a:chExt cx="2817655" cy="24348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47A4E0-8836-024F-92E4-5A06A440B400}"/>
                </a:ext>
              </a:extLst>
            </p:cNvPr>
            <p:cNvSpPr/>
            <p:nvPr/>
          </p:nvSpPr>
          <p:spPr>
            <a:xfrm>
              <a:off x="9569789" y="2260590"/>
              <a:ext cx="2568696" cy="218722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/>
                <p:nvPr/>
              </p:nvSpPr>
              <p:spPr>
                <a:xfrm>
                  <a:off x="9569789" y="2341627"/>
                  <a:ext cx="2817655" cy="23538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>
                      <a:latin typeface="STKaiti" panose="02010600040101010101" pitchFamily="2" charset="-122"/>
                      <a:ea typeface="STKaiti" panose="02010600040101010101" pitchFamily="2" charset="-122"/>
                    </a:rPr>
                    <a:t>令 </a:t>
                  </a:r>
                  <a:endParaRPr lang="en-US" sz="1800" b="0" i="1" dirty="0">
                    <a:latin typeface="STKaiti" panose="02010600040101010101" pitchFamily="2" charset="-122"/>
                    <a:ea typeface="STKaiti" panose="02010600040101010101" pitchFamily="2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800" b="0" i="0" dirty="0">
                    <a:latin typeface="STKaiti" panose="02010600040101010101" pitchFamily="2" charset="-122"/>
                    <a:ea typeface="STKaiti" panose="02010600040101010101" pitchFamily="2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b="0" dirty="0">
                    <a:latin typeface="STKaiti" panose="02010600040101010101" pitchFamily="2" charset="-122"/>
                    <a:ea typeface="STKaiti" panose="02010600040101010101" pitchFamily="2" charset="-122"/>
                  </a:endParaRPr>
                </a:p>
                <a:p>
                  <a:endParaRPr lang="en-US" sz="1800" b="0" i="1" dirty="0">
                    <a:latin typeface="STKaiti" panose="02010600040101010101" pitchFamily="2" charset="-122"/>
                    <a:ea typeface="STKaiti" panose="02010600040101010101" pitchFamily="2" charset="-122"/>
                  </a:endParaRPr>
                </a:p>
                <a:p>
                  <a:r>
                    <a:rPr lang="en-US" sz="1800" b="0" dirty="0">
                      <a:latin typeface="STKaiti" panose="02010600040101010101" pitchFamily="2" charset="-122"/>
                      <a:ea typeface="STKaiti" panose="02010600040101010101" pitchFamily="2" charset="-122"/>
                    </a:rPr>
                    <a:t> 为空值不变</a:t>
                  </a:r>
                </a:p>
                <a:p>
                  <a:endParaRPr lang="en-US" sz="1800" dirty="0">
                    <a:latin typeface="STKaiti" panose="02010600040101010101" pitchFamily="2" charset="-122"/>
                    <a:ea typeface="STKaiti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9789" y="2341627"/>
                  <a:ext cx="2817655" cy="2353850"/>
                </a:xfrm>
                <a:prstGeom prst="rect">
                  <a:avLst/>
                </a:prstGeom>
                <a:blipFill>
                  <a:blip r:embed="rId4"/>
                  <a:stretch>
                    <a:fillRect l="-1794" t="-1075"/>
                  </a:stretch>
                </a:blipFill>
              </p:spPr>
              <p:txBody>
                <a:bodyPr/>
                <a:lstStyle/>
                <a:p>
                  <a:r>
                    <a:rPr lang="ko-Kore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73F3F90-2C83-DE4C-8019-00161425C3CB}"/>
              </a:ext>
            </a:extLst>
          </p:cNvPr>
          <p:cNvSpPr/>
          <p:nvPr/>
        </p:nvSpPr>
        <p:spPr>
          <a:xfrm>
            <a:off x="8884434" y="3996753"/>
            <a:ext cx="195444" cy="217082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321E6-3AE2-124A-B7ED-A3F5F6513E21}"/>
              </a:ext>
            </a:extLst>
          </p:cNvPr>
          <p:cNvSpPr txBox="1"/>
          <p:nvPr/>
        </p:nvSpPr>
        <p:spPr>
          <a:xfrm>
            <a:off x="9148517" y="4692830"/>
            <a:ext cx="250005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本质上是最小值、最大值、平均值的变体。 </a:t>
            </a:r>
          </a:p>
        </p:txBody>
      </p:sp>
    </p:spTree>
    <p:extLst>
      <p:ext uri="{BB962C8B-B14F-4D97-AF65-F5344CB8AC3E}">
        <p14:creationId xmlns:p14="http://schemas.microsoft.com/office/powerpoint/2010/main" val="161978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4="http://schemas.microsoft.com/office/drawing/2010/main" xmlns:a16="http://schemas.microsoft.com/office/drawing/2014/main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空值不变性：一个重要属性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3818"/>
            <a:ext cx="10233891" cy="919018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ea typeface="STKaiti" panose="02010600040101010101" pitchFamily="2" charset="-122"/>
              </a:rPr>
              <a:t>为什么空值不变性对分析海量交易数据至关重要？ </a:t>
            </a:r>
          </a:p>
          <a:p>
            <a:pPr lvl="1"/>
            <a:r>
              <a:rPr lang="en-US" altLang="en-US" sz="2000" dirty="0">
                <a:ea typeface="STKaiti" panose="02010600040101010101" pitchFamily="2" charset="-122"/>
              </a:rPr>
              <a:t>许多交易可能既不包含牛奶也不包含咖啡！</a:t>
            </a:r>
          </a:p>
        </p:txBody>
      </p:sp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95735"/>
            <a:ext cx="3731491" cy="146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436" y="4378326"/>
            <a:ext cx="10594110" cy="2212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896601" y="2306362"/>
            <a:ext cx="6101097" cy="1073726"/>
          </a:xfrm>
          <a:prstGeom prst="rect">
            <a:avLst/>
          </a:prstGeom>
          <a:solidFill>
            <a:srgbClr val="F6E6EA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000" kern="0" dirty="0">
                <a:latin typeface="STKaiti" panose="02010600040101010101" pitchFamily="2" charset="-122"/>
                <a:ea typeface="STKaiti" panose="02010600040101010101" pitchFamily="2" charset="-122"/>
              </a:rPr>
              <a:t>Lift 和</a:t>
            </a:r>
            <a:r>
              <a:rPr lang="en-US" altLang="en-US" sz="2000" b="1" kern="0" dirty="0"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</a:t>
            </a:r>
            <a:r>
              <a:rPr lang="en-US" altLang="en-US" sz="2000" b="1" kern="0" baseline="30000" dirty="0"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2</a:t>
            </a:r>
            <a:r>
              <a:rPr lang="en-US" altLang="en-US" sz="2000" b="1" kern="0" dirty="0"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 </a:t>
            </a:r>
            <a:r>
              <a:rPr lang="en-US" altLang="en-US" sz="2000" kern="0" dirty="0"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并非</a:t>
            </a:r>
            <a:r>
              <a:rPr lang="en-US" altLang="en-US" sz="2000" kern="0" dirty="0">
                <a:latin typeface="STKaiti" panose="02010600040101010101" pitchFamily="2" charset="-122"/>
                <a:ea typeface="STKaiti" panose="02010600040101010101" pitchFamily="2" charset="-122"/>
              </a:rPr>
              <a:t>空值不变：不适合用于评估</a:t>
            </a:r>
            <a:r>
              <a:rPr lang="en-US" altLang="en-US" sz="2000" kern="0">
                <a:latin typeface="STKaiti" panose="02010600040101010101" pitchFamily="2" charset="-122"/>
                <a:ea typeface="STKaiti" panose="02010600040101010101" pitchFamily="2" charset="-122"/>
              </a:rPr>
              <a:t>包含</a:t>
            </a:r>
            <a:r>
              <a:rPr lang="en-US" altLang="en-US" sz="2000" kern="0" dirty="0">
                <a:latin typeface="STKaiti" panose="02010600040101010101" pitchFamily="2" charset="-122"/>
                <a:ea typeface="STKaiti" panose="02010600040101010101" pitchFamily="2" charset="-122"/>
              </a:rPr>
              <a:t>过多或过少空值交易的数据！</a:t>
            </a:r>
          </a:p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000" kern="0" dirty="0">
                <a:latin typeface="STKaiti" panose="02010600040101010101" pitchFamily="2" charset="-122"/>
                <a:ea typeface="STKaiti" panose="02010600040101010101" pitchFamily="2" charset="-122"/>
              </a:rPr>
              <a:t>许多指标不具备空值不变性！ </a:t>
            </a:r>
          </a:p>
        </p:txBody>
      </p:sp>
      <p:sp>
        <p:nvSpPr>
          <p:cNvPr id="9" name="AutoShape 108"/>
          <p:cNvSpPr>
            <a:spLocks noChangeArrowheads="1"/>
          </p:cNvSpPr>
          <p:nvPr/>
        </p:nvSpPr>
        <p:spPr bwMode="auto">
          <a:xfrm>
            <a:off x="5115984" y="3730626"/>
            <a:ext cx="2707216" cy="638175"/>
          </a:xfrm>
          <a:prstGeom prst="wedgeRoundRectCallout">
            <a:avLst>
              <a:gd name="adj1" fmla="val 45823"/>
              <a:gd name="adj2" fmla="val 108808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  <a:cs typeface="Arial" charset="0"/>
              </a:rPr>
              <a:t>空交易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  <a:cs typeface="Arial" charset="0"/>
              </a:rPr>
              <a:t>相对于 m 和 c</a:t>
            </a:r>
          </a:p>
        </p:txBody>
      </p:sp>
      <p:sp>
        <p:nvSpPr>
          <p:cNvPr id="11273" name="Oval 107"/>
          <p:cNvSpPr>
            <a:spLocks noChangeArrowheads="1"/>
          </p:cNvSpPr>
          <p:nvPr/>
        </p:nvSpPr>
        <p:spPr bwMode="auto">
          <a:xfrm>
            <a:off x="7010400" y="4724399"/>
            <a:ext cx="1625600" cy="66848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1746" y="2306362"/>
            <a:ext cx="4202546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牛奶与咖啡的列联表</a:t>
            </a:r>
          </a:p>
        </p:txBody>
      </p:sp>
    </p:spTree>
    <p:extLst>
      <p:ext uri="{BB962C8B-B14F-4D97-AF65-F5344CB8AC3E}">
        <p14:creationId xmlns:p14="http://schemas.microsoft.com/office/powerpoint/2010/main" val="37065319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273" grpId="0" animBg="1"/>
      <p:bldP spid="1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962400"/>
            <a:ext cx="1193338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1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ko-KR" altLang="en-US" sz="4000" dirty="0">
                <a:latin typeface="KaiTi" panose="02010609060101010101" pitchFamily="49" charset="-122"/>
                <a:ea typeface="KaiTi" panose="02010609060101010101" pitchFamily="49" charset="-122"/>
              </a:rPr>
              <a:t>空值不变度</a:t>
            </a:r>
            <a:r>
              <a:rPr lang="en-US" altLang="en-US" sz="4000" dirty="0"/>
              <a:t>量测度比较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0354"/>
            <a:ext cx="7407275" cy="2150919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并非所有</a:t>
            </a:r>
            <a:r>
              <a:rPr lang="ko-KR" altLang="en-US" sz="2400" dirty="0">
                <a:ea typeface="STKaiti" panose="02010600040101010101" pitchFamily="2" charset="-122"/>
              </a:rPr>
              <a:t>空值不变</a:t>
            </a:r>
            <a:r>
              <a:rPr lang="en-US" altLang="en-US" sz="2400" dirty="0">
                <a:ea typeface="STKaiti" panose="02010600040101010101" pitchFamily="2" charset="-122"/>
              </a:rPr>
              <a:t>量度量都是等效的</a:t>
            </a:r>
          </a:p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哪个更好？</a:t>
            </a:r>
          </a:p>
          <a:p>
            <a:pPr lvl="1" eaLnBrk="1" hangingPunct="1"/>
            <a:r>
              <a:rPr lang="en-US" altLang="en-US" sz="2400" dirty="0">
                <a:ea typeface="STKaiti" panose="02010600040101010101" pitchFamily="2" charset="-122"/>
              </a:rPr>
              <a:t>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4</a:t>
            </a:r>
            <a:r>
              <a:rPr lang="en-US" altLang="en-US" sz="2400" dirty="0">
                <a:ea typeface="STKaiti" panose="02010600040101010101" pitchFamily="2" charset="-122"/>
              </a:rPr>
              <a:t> —D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6</a:t>
            </a:r>
            <a:r>
              <a:rPr lang="en-US" altLang="en-US" sz="2400" dirty="0">
                <a:ea typeface="STKaiti" panose="02010600040101010101" pitchFamily="2" charset="-122"/>
              </a:rPr>
              <a:t> 区分</a:t>
            </a:r>
            <a:r>
              <a:rPr lang="ko-KR" altLang="en-US" sz="2400" dirty="0">
                <a:ea typeface="STKaiti" panose="02010600040101010101" pitchFamily="2" charset="-122"/>
              </a:rPr>
              <a:t>空值不变</a:t>
            </a:r>
            <a:r>
              <a:rPr lang="en-US" altLang="en-US" sz="2400" dirty="0">
                <a:ea typeface="STKaiti" panose="02010600040101010101" pitchFamily="2" charset="-122"/>
              </a:rPr>
              <a:t>量度量</a:t>
            </a:r>
          </a:p>
          <a:p>
            <a:pPr lvl="1" eaLnBrk="1" hangingPunct="1"/>
            <a:r>
              <a:rPr lang="en-US" altLang="en-US" sz="2400" dirty="0" err="1">
                <a:ea typeface="STKaiti" panose="02010600040101010101" pitchFamily="2" charset="-122"/>
              </a:rPr>
              <a:t>Kulc</a:t>
            </a:r>
            <a:r>
              <a:rPr lang="en-US" altLang="en-US" sz="2400" dirty="0">
                <a:ea typeface="STKaiti" panose="02010600040101010101" pitchFamily="2" charset="-122"/>
              </a:rPr>
              <a:t>（</a:t>
            </a:r>
            <a:r>
              <a:rPr lang="en-US" altLang="en-US" sz="2400" dirty="0" err="1">
                <a:ea typeface="STKaiti" panose="02010600040101010101" pitchFamily="2" charset="-122"/>
              </a:rPr>
              <a:t>Kulczynski</a:t>
            </a:r>
            <a:r>
              <a:rPr lang="en-US" altLang="en-US" sz="2400" dirty="0">
                <a:ea typeface="STKaiti" panose="02010600040101010101" pitchFamily="2" charset="-122"/>
              </a:rPr>
              <a:t> 1927）保持稳定，并在两个方向的含义上保持平衡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2133600"/>
            <a:ext cx="360218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Oval 115"/>
          <p:cNvSpPr>
            <a:spLocks noChangeArrowheads="1"/>
          </p:cNvSpPr>
          <p:nvPr/>
        </p:nvSpPr>
        <p:spPr bwMode="auto">
          <a:xfrm>
            <a:off x="812800" y="4800600"/>
            <a:ext cx="5054600" cy="1143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6" name="AutoShape 109"/>
          <p:cNvSpPr>
            <a:spLocks noChangeArrowheads="1"/>
          </p:cNvSpPr>
          <p:nvPr/>
        </p:nvSpPr>
        <p:spPr bwMode="auto">
          <a:xfrm>
            <a:off x="4064001" y="3505200"/>
            <a:ext cx="3416300" cy="381000"/>
          </a:xfrm>
          <a:prstGeom prst="wedgeRoundRectCallout">
            <a:avLst>
              <a:gd name="adj1" fmla="val 59056"/>
              <a:gd name="adj2" fmla="val 15208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所有5种都是</a:t>
            </a:r>
            <a:r>
              <a:rPr lang="ko-KR" altLang="en-US" sz="1800"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空值不变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的</a:t>
            </a:r>
          </a:p>
        </p:txBody>
      </p:sp>
      <p:sp>
        <p:nvSpPr>
          <p:cNvPr id="12297" name="Oval 110"/>
          <p:cNvSpPr>
            <a:spLocks noChangeArrowheads="1"/>
          </p:cNvSpPr>
          <p:nvPr/>
        </p:nvSpPr>
        <p:spPr bwMode="auto">
          <a:xfrm>
            <a:off x="6096000" y="4267200"/>
            <a:ext cx="8286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8" name="Oval 110"/>
          <p:cNvSpPr>
            <a:spLocks noChangeArrowheads="1"/>
          </p:cNvSpPr>
          <p:nvPr/>
        </p:nvSpPr>
        <p:spPr bwMode="auto">
          <a:xfrm>
            <a:off x="7296150" y="4295775"/>
            <a:ext cx="93345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9" name="Oval 110"/>
          <p:cNvSpPr>
            <a:spLocks noChangeArrowheads="1"/>
          </p:cNvSpPr>
          <p:nvPr/>
        </p:nvSpPr>
        <p:spPr bwMode="auto">
          <a:xfrm>
            <a:off x="8401050" y="4267200"/>
            <a:ext cx="10572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0" name="Oval 110"/>
          <p:cNvSpPr>
            <a:spLocks noChangeArrowheads="1"/>
          </p:cNvSpPr>
          <p:nvPr/>
        </p:nvSpPr>
        <p:spPr bwMode="auto">
          <a:xfrm>
            <a:off x="9575800" y="4295775"/>
            <a:ext cx="87312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1" name="Oval 110"/>
          <p:cNvSpPr>
            <a:spLocks noChangeArrowheads="1"/>
          </p:cNvSpPr>
          <p:nvPr/>
        </p:nvSpPr>
        <p:spPr bwMode="auto">
          <a:xfrm>
            <a:off x="10524837" y="4295775"/>
            <a:ext cx="13208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2" name="Oval 116"/>
          <p:cNvSpPr>
            <a:spLocks noChangeArrowheads="1"/>
          </p:cNvSpPr>
          <p:nvPr/>
        </p:nvSpPr>
        <p:spPr bwMode="auto">
          <a:xfrm>
            <a:off x="5966691" y="4838700"/>
            <a:ext cx="6225309" cy="1104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2303" name="AutoShape 117"/>
          <p:cNvSpPr>
            <a:spLocks noChangeArrowheads="1"/>
          </p:cNvSpPr>
          <p:nvPr/>
        </p:nvSpPr>
        <p:spPr bwMode="auto">
          <a:xfrm>
            <a:off x="3302001" y="6086475"/>
            <a:ext cx="7023100" cy="443270"/>
          </a:xfrm>
          <a:prstGeom prst="wedgeRoundRectCallout">
            <a:avLst>
              <a:gd name="adj1" fmla="val 30634"/>
              <a:gd name="adj2" fmla="val -93750"/>
              <a:gd name="adj3" fmla="val 16667"/>
            </a:avLst>
          </a:prstGeom>
          <a:solidFill>
            <a:srgbClr val="FFFF00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微妙之处：它们在某些情况下存在分歧</a:t>
            </a:r>
          </a:p>
        </p:txBody>
      </p:sp>
      <p:sp>
        <p:nvSpPr>
          <p:cNvPr id="12304" name="Oval 110"/>
          <p:cNvSpPr>
            <a:spLocks noChangeArrowheads="1"/>
          </p:cNvSpPr>
          <p:nvPr/>
        </p:nvSpPr>
        <p:spPr bwMode="auto">
          <a:xfrm>
            <a:off x="4673600" y="4267200"/>
            <a:ext cx="1098551" cy="561975"/>
          </a:xfrm>
          <a:prstGeom prst="ellips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331200" y="1671935"/>
            <a:ext cx="3759200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二元列联表</a:t>
            </a:r>
          </a:p>
        </p:txBody>
      </p:sp>
    </p:spTree>
    <p:extLst>
      <p:ext uri="{BB962C8B-B14F-4D97-AF65-F5344CB8AC3E}">
        <p14:creationId xmlns:p14="http://schemas.microsoft.com/office/powerpoint/2010/main" val="17415707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不平衡比率（</a:t>
            </a:r>
            <a:r>
              <a:rPr lang="en-US" altLang="en-US" sz="4000" dirty="0" err="1"/>
              <a:t>Kulczynski</a:t>
            </a:r>
            <a:r>
              <a:rPr lang="en-US" altLang="en-US" sz="4000" dirty="0"/>
              <a:t> 度量）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38151" y="1220094"/>
            <a:ext cx="11379200" cy="302060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IR（不平衡比率）：用于衡量规则推导中两个</a:t>
            </a:r>
            <a:r>
              <a:rPr lang="en-US" altLang="en-US" sz="2400" dirty="0" err="1">
                <a:ea typeface="STKaiti" panose="02010600040101010101" pitchFamily="2" charset="-122"/>
              </a:rPr>
              <a:t>项集</a:t>
            </a:r>
            <a:r>
              <a:rPr lang="en-US" altLang="en-US" sz="2400" dirty="0">
                <a:ea typeface="STKaiti" panose="02010600040101010101" pitchFamily="2" charset="-122"/>
              </a:rPr>
              <a:t>A和B的不平衡程度：</a:t>
            </a:r>
          </a:p>
          <a:p>
            <a:pPr marL="200025" lvl="1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 </a:t>
            </a:r>
          </a:p>
          <a:p>
            <a:pPr marL="200025" lvl="1" indent="0">
              <a:spcBef>
                <a:spcPts val="600"/>
              </a:spcBef>
              <a:spcAft>
                <a:spcPts val="300"/>
              </a:spcAft>
              <a:buNone/>
            </a:pPr>
            <a:endParaRPr lang="en-US" altLang="en-US" sz="2400" dirty="0">
              <a:ea typeface="STKaiti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库尔钦斯基和不平衡比率（IR）共同为三个数据集D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4</a:t>
            </a:r>
            <a:r>
              <a:rPr lang="en-US" altLang="en-US" sz="2400" dirty="0">
                <a:ea typeface="STKaiti" panose="02010600040101010101" pitchFamily="2" charset="-122"/>
              </a:rPr>
              <a:t> 至D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6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ea typeface="STKaiti" panose="02010600040101010101" pitchFamily="2" charset="-122"/>
              </a:rPr>
              <a:t>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4  </a:t>
            </a:r>
            <a:r>
              <a:rPr lang="en-US" altLang="en-US" sz="2400" dirty="0">
                <a:ea typeface="STKaiti" panose="02010600040101010101" pitchFamily="2" charset="-122"/>
              </a:rPr>
              <a:t> 为中性且平衡；D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5  </a:t>
            </a:r>
            <a:r>
              <a:rPr lang="en-US" altLang="en-US" sz="2400" dirty="0">
                <a:ea typeface="STKaiti" panose="02010600040101010101" pitchFamily="2" charset="-122"/>
              </a:rPr>
              <a:t> 为中性但不平衡； 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ea typeface="STKaiti" panose="02010600040101010101" pitchFamily="2" charset="-122"/>
              </a:rPr>
              <a:t>D</a:t>
            </a:r>
            <a:r>
              <a:rPr lang="en-US" altLang="en-US" sz="2400" baseline="-25000" dirty="0">
                <a:ea typeface="STKaiti" panose="02010600040101010101" pitchFamily="2" charset="-122"/>
              </a:rPr>
              <a:t>6  </a:t>
            </a:r>
            <a:r>
              <a:rPr lang="en-US" altLang="en-US" sz="2400" dirty="0">
                <a:ea typeface="STKaiti" panose="02010600040101010101" pitchFamily="2" charset="-122"/>
              </a:rPr>
              <a:t> 是中立但极度不平衡的 </a:t>
            </a:r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229" y="1927235"/>
            <a:ext cx="4633901" cy="620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84493" y="4470190"/>
            <a:ext cx="11023014" cy="1966129"/>
            <a:chOff x="438151" y="4413540"/>
            <a:chExt cx="11023014" cy="1966129"/>
          </a:xfrm>
        </p:grpSpPr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1" y="4413540"/>
              <a:ext cx="11018982" cy="1966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/>
            <p:cNvSpPr/>
            <p:nvPr/>
          </p:nvSpPr>
          <p:spPr>
            <a:xfrm>
              <a:off x="9514935" y="5787615"/>
              <a:ext cx="1934135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prstClr val="white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527029" y="6067314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prstClr val="white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514934" y="5507916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prstClr val="white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779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示例：DBLP 合作者关系分析</a:t>
            </a:r>
          </a:p>
        </p:txBody>
      </p:sp>
      <p:sp>
        <p:nvSpPr>
          <p:cNvPr id="13325" name="Content Placeholder 1"/>
          <p:cNvSpPr>
            <a:spLocks noGrp="1"/>
          </p:cNvSpPr>
          <p:nvPr>
            <p:ph idx="1"/>
          </p:nvPr>
        </p:nvSpPr>
        <p:spPr>
          <a:xfrm>
            <a:off x="587974" y="5613151"/>
            <a:ext cx="11176000" cy="990600"/>
          </a:xfrm>
        </p:spPr>
        <p:txBody>
          <a:bodyPr/>
          <a:lstStyle/>
          <a:p>
            <a:r>
              <a:rPr lang="en-US" altLang="en-US" sz="2000" dirty="0">
                <a:ea typeface="STKaiti" panose="02010600040101010101" pitchFamily="2" charset="-122"/>
              </a:rPr>
              <a:t>哪些作者对之间存在紧密关联？A 是导师还是学生？</a:t>
            </a:r>
          </a:p>
          <a:p>
            <a:pPr lvl="1"/>
            <a:r>
              <a:rPr lang="en-US" altLang="en-US" sz="2000" dirty="0">
                <a:ea typeface="STKaiti" panose="02010600040101010101" pitchFamily="2" charset="-122"/>
              </a:rPr>
              <a:t>使用</a:t>
            </a:r>
            <a:r>
              <a:rPr lang="en-US" altLang="en-US" sz="2000" dirty="0" err="1">
                <a:ea typeface="STKaiti" panose="02010600040101010101" pitchFamily="2" charset="-122"/>
              </a:rPr>
              <a:t>Kulc</a:t>
            </a:r>
            <a:r>
              <a:rPr lang="en-US" altLang="en-US" sz="2000" dirty="0">
                <a:ea typeface="STKaiti" panose="02010600040101010101" pitchFamily="2" charset="-122"/>
              </a:rPr>
              <a:t>查找导师-学生关系及紧密合作者</a:t>
            </a:r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587974" y="1120236"/>
            <a:ext cx="11176000" cy="73444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DBLP：计算机科学研究论文文献数据库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Arial" pitchFamily="34" charset="0"/>
              </a:rPr>
              <a:t>包含超过380万条关于作者、论文、会议、年份等信息的记录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974" y="1854679"/>
            <a:ext cx="11899991" cy="3748105"/>
            <a:chOff x="79974" y="1956756"/>
            <a:chExt cx="12058651" cy="3532398"/>
          </a:xfrm>
        </p:grpSpPr>
        <p:pic>
          <p:nvPicPr>
            <p:cNvPr id="13314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74" y="1956756"/>
              <a:ext cx="12058651" cy="278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" name="Oval 4"/>
            <p:cNvSpPr>
              <a:spLocks noChangeArrowheads="1"/>
            </p:cNvSpPr>
            <p:nvPr/>
          </p:nvSpPr>
          <p:spPr bwMode="auto">
            <a:xfrm>
              <a:off x="8106374" y="3203154"/>
              <a:ext cx="39624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8207974" y="4117554"/>
              <a:ext cx="3860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3320" name="AutoShape 7"/>
            <p:cNvSpPr>
              <a:spLocks noChangeArrowheads="1"/>
            </p:cNvSpPr>
            <p:nvPr/>
          </p:nvSpPr>
          <p:spPr bwMode="auto">
            <a:xfrm>
              <a:off x="5566374" y="4879554"/>
              <a:ext cx="6502400" cy="609600"/>
            </a:xfrm>
            <a:prstGeom prst="wedgeRoundRectCallout">
              <a:avLst>
                <a:gd name="adj1" fmla="val 28978"/>
                <a:gd name="adj2" fmla="val -49186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Arial" pitchFamily="34" charset="0"/>
                </a:rPr>
                <a:t>导师-学生关系：</a:t>
              </a:r>
              <a:r>
                <a:rPr lang="en-US" altLang="en-US" sz="2000" dirty="0" err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Arial" pitchFamily="34" charset="0"/>
                </a:rPr>
                <a:t>Kulc</a:t>
              </a:r>
              <a:r>
                <a:rPr lang="en-US" altLang="en-US" sz="2000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Arial" pitchFamily="34" charset="0"/>
                </a:rPr>
                <a:t>：高，</a:t>
              </a:r>
              <a:r>
                <a:rPr lang="en-US" altLang="en-US" sz="2000" dirty="0" err="1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Arial" pitchFamily="34" charset="0"/>
                </a:rPr>
                <a:t>Jaccard</a:t>
              </a:r>
              <a:r>
                <a:rPr lang="en-US" altLang="en-US" sz="2000" dirty="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  <a:cs typeface="Arial" pitchFamily="34" charset="0"/>
                </a:rPr>
                <a:t>：低，余弦：中等</a:t>
              </a:r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5769574" y="4193754"/>
              <a:ext cx="2438400" cy="2286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3322" name="Oval 9"/>
            <p:cNvSpPr>
              <a:spLocks noChangeArrowheads="1"/>
            </p:cNvSpPr>
            <p:nvPr/>
          </p:nvSpPr>
          <p:spPr bwMode="auto">
            <a:xfrm>
              <a:off x="5871174" y="3660354"/>
              <a:ext cx="2336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3323" name="Oval 10"/>
            <p:cNvSpPr>
              <a:spLocks noChangeArrowheads="1"/>
            </p:cNvSpPr>
            <p:nvPr/>
          </p:nvSpPr>
          <p:spPr bwMode="auto">
            <a:xfrm>
              <a:off x="5871174" y="3203154"/>
              <a:ext cx="21336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" name="Right Arrow 2"/>
            <p:cNvSpPr/>
            <p:nvPr/>
          </p:nvSpPr>
          <p:spPr>
            <a:xfrm rot="17985244">
              <a:off x="10640938" y="4463819"/>
              <a:ext cx="365089" cy="45720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prstClr val="white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8207974" y="3660354"/>
            <a:ext cx="40640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1648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18" y="254252"/>
            <a:ext cx="11925426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如何选择有效的模式评估方法？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8946" y="1148609"/>
            <a:ext cx="11170969" cy="5549020"/>
          </a:xfrm>
        </p:spPr>
        <p:txBody>
          <a:bodyPr/>
          <a:lstStyle/>
          <a:p>
            <a:r>
              <a:rPr lang="en-US" altLang="en-US" dirty="0">
                <a:ea typeface="STKaiti" panose="02010600040101010101" pitchFamily="2" charset="-122"/>
              </a:rPr>
              <a:t>空值情况在许多大型数据集中占主导地位 </a:t>
            </a:r>
          </a:p>
          <a:p>
            <a:pPr lvl="1"/>
            <a:r>
              <a:rPr lang="en-US" altLang="en-US" dirty="0">
                <a:ea typeface="STKaiti" panose="02010600040101010101" pitchFamily="2" charset="-122"/>
              </a:rPr>
              <a:t>大多数购物篮中既没有牛奶也没有咖啡；大多数论文的作者中既没有迈克也没有吉姆；……</a:t>
            </a:r>
          </a:p>
          <a:p>
            <a:r>
              <a:rPr lang="en-US" altLang="en-US" i="1" dirty="0">
                <a:ea typeface="STKaiti" panose="02010600040101010101" pitchFamily="2" charset="-122"/>
              </a:rPr>
              <a:t>空值不变性</a:t>
            </a:r>
            <a:r>
              <a:rPr lang="en-US" altLang="en-US" dirty="0">
                <a:ea typeface="STKaiti" panose="02010600040101010101" pitchFamily="2" charset="-122"/>
              </a:rPr>
              <a:t>是一个重要属性</a:t>
            </a:r>
          </a:p>
          <a:p>
            <a:r>
              <a:rPr lang="en-US" altLang="en-US" dirty="0">
                <a:ea typeface="STKaiti" panose="02010600040101010101" pitchFamily="2" charset="-122"/>
              </a:rPr>
              <a:t>如果空交易不占主导地位，提升率、χ</a:t>
            </a:r>
            <a:r>
              <a:rPr lang="en-US" altLang="en-US" b="1" baseline="30000" dirty="0">
                <a:ea typeface="STKaiti" panose="02010600040101010101" pitchFamily="2" charset="-122"/>
              </a:rPr>
              <a:t>2</a:t>
            </a:r>
            <a:r>
              <a:rPr lang="en-US" altLang="en-US" dirty="0">
                <a:ea typeface="STKaiti" panose="02010600040101010101" pitchFamily="2" charset="-122"/>
              </a:rPr>
              <a:t> 和余弦都是良好的度量方法</a:t>
            </a:r>
          </a:p>
          <a:p>
            <a:pPr lvl="1"/>
            <a:r>
              <a:rPr lang="en-US" altLang="en-US" dirty="0">
                <a:ea typeface="STKaiti" panose="02010600040101010101" pitchFamily="2" charset="-122"/>
              </a:rPr>
              <a:t>否则，应使用</a:t>
            </a:r>
            <a:r>
              <a:rPr lang="en-US" altLang="en-US" i="1" dirty="0" err="1">
                <a:ea typeface="STKaiti" panose="02010600040101010101" pitchFamily="2" charset="-122"/>
              </a:rPr>
              <a:t>Kulczynski </a:t>
            </a:r>
            <a:r>
              <a:rPr lang="en-US" altLang="en-US" dirty="0">
                <a:ea typeface="STKaiti" panose="02010600040101010101" pitchFamily="2" charset="-122"/>
              </a:rPr>
              <a:t>+ </a:t>
            </a:r>
            <a:r>
              <a:rPr lang="en-US" altLang="en-US" i="1" dirty="0">
                <a:ea typeface="STKaiti" panose="02010600040101010101" pitchFamily="2" charset="-122"/>
              </a:rPr>
              <a:t>不平衡</a:t>
            </a:r>
            <a:r>
              <a:rPr lang="en-US" altLang="en-US" dirty="0">
                <a:ea typeface="STKaiti" panose="02010600040101010101" pitchFamily="2" charset="-122"/>
              </a:rPr>
              <a:t>比率来判断模式的有趣性 </a:t>
            </a:r>
          </a:p>
          <a:p>
            <a:r>
              <a:rPr lang="en-US" altLang="en-US" dirty="0">
                <a:ea typeface="STKaiti" panose="02010600040101010101" pitchFamily="2" charset="-122"/>
              </a:rPr>
              <a:t>练习：从研究文献数据中挖掘研究合作关系 </a:t>
            </a:r>
          </a:p>
          <a:p>
            <a:pPr lvl="1"/>
            <a:r>
              <a:rPr lang="en-US" altLang="en-US" dirty="0">
                <a:ea typeface="STKaiti" panose="02010600040101010101" pitchFamily="2" charset="-122"/>
              </a:rPr>
              <a:t>从研究文献数据（如DBLP）中找出一个频繁合作者群体</a:t>
            </a:r>
          </a:p>
          <a:p>
            <a:pPr lvl="1"/>
            <a:r>
              <a:rPr lang="en-US" altLang="en-US" dirty="0">
                <a:ea typeface="STKaiti" panose="02010600040101010101" pitchFamily="2" charset="-122"/>
              </a:rPr>
              <a:t>你能找到可能的导师-学生关系以及这种关系发生在哪些年份吗？</a:t>
            </a:r>
          </a:p>
          <a:p>
            <a:pPr lvl="1"/>
            <a:r>
              <a:rPr lang="en-US" altLang="en-US" dirty="0">
                <a:ea typeface="STKaiti" panose="02010600040101010101" pitchFamily="2" charset="-122"/>
              </a:rPr>
              <a:t>参考文献：</a:t>
            </a:r>
            <a:r>
              <a:rPr lang="en-US" dirty="0">
                <a:ea typeface="STKaiti" panose="02010600040101010101" pitchFamily="2" charset="-122"/>
              </a:rPr>
              <a:t>C. Wang, J. Han, Y. </a:t>
            </a:r>
            <a:r>
              <a:rPr lang="en-US" dirty="0" err="1">
                <a:ea typeface="STKaiti" panose="02010600040101010101" pitchFamily="2" charset="-122"/>
              </a:rPr>
              <a:t>Jia</a:t>
            </a:r>
            <a:r>
              <a:rPr lang="en-US" dirty="0">
                <a:ea typeface="STKaiti" panose="02010600040101010101" pitchFamily="2" charset="-122"/>
              </a:rPr>
              <a:t>, J. Tang, D. Zhang, Y. Yu, and J. </a:t>
            </a:r>
            <a:r>
              <a:rPr lang="en-US" dirty="0" err="1">
                <a:ea typeface="STKaiti" panose="02010600040101010101" pitchFamily="2" charset="-122"/>
              </a:rPr>
              <a:t>Guo</a:t>
            </a:r>
            <a:r>
              <a:rPr lang="en-US" dirty="0">
                <a:ea typeface="STKaiti" panose="02010600040101010101" pitchFamily="2" charset="-122"/>
              </a:rPr>
              <a:t>, "Mining Advisor-Advisee Relationships from Research Publication Networks", KDD'10</a:t>
            </a:r>
            <a:endParaRPr lang="en-US" altLang="en-US" dirty="0"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288828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模式挖掘：基本概念与方法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基本概念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频繁项集挖掘方法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哪些模式是有趣的？——模式评估方法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总结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054991" y="524656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摘要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83" y="1200363"/>
            <a:ext cx="9304001" cy="5472042"/>
          </a:xfrm>
        </p:spPr>
        <p:txBody>
          <a:bodyPr/>
          <a:lstStyle/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基本概念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什么是模式发现？   为什么它重要？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基本概念：频繁模式与关联规则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压缩表示：闭合模式与最大模式</a:t>
            </a:r>
            <a:endParaRPr lang="en-US" alt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kern="0" dirty="0">
                <a:latin typeface="KaiTi" panose="02010609060101010101" pitchFamily="49" charset="-122"/>
                <a:ea typeface="KaiTi" panose="02010609060101010101" pitchFamily="49" charset="-122"/>
              </a:rPr>
              <a:t>高效模式挖掘方法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频繁模式的向下闭包性质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算法</a:t>
            </a:r>
          </a:p>
          <a:p>
            <a:pPr lvl="2" defTabSz="1219110">
              <a:spcBef>
                <a:spcPts val="300"/>
              </a:spcBef>
            </a:pPr>
            <a:r>
              <a:rPr lang="en-US" altLang="en-US" sz="2000" dirty="0" err="1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en-US" altLang="en-US" sz="20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算法的扩展或改进</a:t>
            </a:r>
            <a:endParaRPr lang="en-US" sz="20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通过探索垂直数据格式挖掘频繁模式</a:t>
            </a:r>
            <a:endParaRPr lang="en-US" alt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2">
              <a:spcBef>
                <a:spcPts val="300"/>
              </a:spcBef>
            </a:pP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FPGrowth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：一种基于频繁模式增长的方法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挖掘闭合模式 </a:t>
            </a:r>
            <a:endParaRPr lang="en-US" altLang="en-US" sz="2000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ts val="300"/>
              </a:spcBef>
            </a:pPr>
            <a:r>
              <a:rPr lang="en-US" altLang="en-US" sz="2000" kern="0" dirty="0">
                <a:latin typeface="KaiTi" panose="02010609060101010101" pitchFamily="49" charset="-122"/>
                <a:ea typeface="KaiTi" panose="02010609060101010101" pitchFamily="49" charset="-122"/>
              </a:rPr>
              <a:t>模式评估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模式挖掘中的有趣性度量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有趣性度量：提升度与</a:t>
            </a:r>
            <a:r>
              <a:rPr lang="el-GR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χ</a:t>
            </a:r>
            <a:r>
              <a:rPr lang="en-US" altLang="en-US" sz="2000" baseline="30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pPr lvl="2">
              <a:spcBef>
                <a:spcPts val="300"/>
              </a:spcBef>
            </a:pPr>
            <a:r>
              <a:rPr lang="ko-KR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空值不变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度量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有趣性度量比较</a:t>
            </a:r>
          </a:p>
        </p:txBody>
      </p:sp>
    </p:spTree>
    <p:extLst>
      <p:ext uri="{BB962C8B-B14F-4D97-AF65-F5344CB8AC3E}">
        <p14:creationId xmlns:p14="http://schemas.microsoft.com/office/powerpoint/2010/main" val="42264104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52525"/>
            <a:ext cx="11277600" cy="771525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ea typeface="STKaiti" panose="02010600040101010101" pitchFamily="2" charset="-122"/>
              </a:rPr>
              <a:t>定理：</a:t>
            </a:r>
            <a:r>
              <a:rPr lang="en-US" altLang="en-US" sz="2400" i="1" dirty="0">
                <a:ea typeface="STKaiti" panose="02010600040101010101" pitchFamily="2" charset="-122"/>
              </a:rPr>
              <a:t>TDB 中任何可能频繁的项</a:t>
            </a:r>
            <a:r>
              <a:rPr lang="en-US" altLang="en-US" sz="2400" i="1" dirty="0" err="1">
                <a:ea typeface="STKaiti" panose="02010600040101010101" pitchFamily="2" charset="-122"/>
              </a:rPr>
              <a:t>集</a:t>
            </a:r>
            <a:r>
              <a:rPr lang="en-US" altLang="en-US" sz="2400" i="1" dirty="0">
                <a:ea typeface="STKaiti" panose="02010600040101010101" pitchFamily="2" charset="-122"/>
              </a:rPr>
              <a:t>在 TDB 的至少一个分区中必须是频繁的。   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90717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分区：仅扫描数据库两次</a:t>
            </a:r>
          </a:p>
        </p:txBody>
      </p:sp>
      <p:grpSp>
        <p:nvGrpSpPr>
          <p:cNvPr id="23557" name="Group 2"/>
          <p:cNvGrpSpPr>
            <a:grpSpLocks/>
          </p:cNvGrpSpPr>
          <p:nvPr/>
        </p:nvGrpSpPr>
        <p:grpSpPr bwMode="auto">
          <a:xfrm>
            <a:off x="789978" y="2034955"/>
            <a:ext cx="10246859" cy="1613273"/>
            <a:chOff x="424561" y="4267200"/>
            <a:chExt cx="8297165" cy="1976483"/>
          </a:xfrm>
        </p:grpSpPr>
        <p:sp>
          <p:nvSpPr>
            <p:cNvPr id="23559" name="Rectangle 6"/>
            <p:cNvSpPr>
              <a:spLocks noChangeArrowheads="1"/>
            </p:cNvSpPr>
            <p:nvPr/>
          </p:nvSpPr>
          <p:spPr bwMode="auto">
            <a:xfrm>
              <a:off x="990600" y="43434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0" name="Rectangle 7"/>
            <p:cNvSpPr>
              <a:spLocks noChangeArrowheads="1"/>
            </p:cNvSpPr>
            <p:nvPr/>
          </p:nvSpPr>
          <p:spPr bwMode="auto">
            <a:xfrm>
              <a:off x="2857500" y="42672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5943600" y="4267200"/>
              <a:ext cx="114300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2" name="Oval 9"/>
            <p:cNvSpPr>
              <a:spLocks noChangeArrowheads="1"/>
            </p:cNvSpPr>
            <p:nvPr/>
          </p:nvSpPr>
          <p:spPr bwMode="auto">
            <a:xfrm>
              <a:off x="45720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3" name="Oval 11"/>
            <p:cNvSpPr>
              <a:spLocks noChangeArrowheads="1"/>
            </p:cNvSpPr>
            <p:nvPr/>
          </p:nvSpPr>
          <p:spPr bwMode="auto">
            <a:xfrm>
              <a:off x="4906963" y="5105400"/>
              <a:ext cx="46037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52578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23565" name="TextBox 13"/>
            <p:cNvSpPr txBox="1">
              <a:spLocks noChangeArrowheads="1"/>
            </p:cNvSpPr>
            <p:nvPr/>
          </p:nvSpPr>
          <p:spPr bwMode="auto">
            <a:xfrm>
              <a:off x="1219200" y="5791200"/>
              <a:ext cx="7620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TDB</a:t>
              </a:r>
              <a:r>
                <a:rPr lang="en-US" altLang="en-US" sz="1800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1</a:t>
              </a:r>
            </a:p>
          </p:txBody>
        </p:sp>
        <p:sp>
          <p:nvSpPr>
            <p:cNvPr id="23566" name="TextBox 14"/>
            <p:cNvSpPr txBox="1">
              <a:spLocks noChangeArrowheads="1"/>
            </p:cNvSpPr>
            <p:nvPr/>
          </p:nvSpPr>
          <p:spPr bwMode="auto">
            <a:xfrm>
              <a:off x="3048000" y="5715000"/>
              <a:ext cx="7620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TDB</a:t>
              </a:r>
              <a:r>
                <a:rPr lang="en-US" altLang="en-US" sz="1800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2</a:t>
              </a:r>
            </a:p>
          </p:txBody>
        </p:sp>
        <p:sp>
          <p:nvSpPr>
            <p:cNvPr id="23567" name="TextBox 15"/>
            <p:cNvSpPr txBox="1">
              <a:spLocks noChangeArrowheads="1"/>
            </p:cNvSpPr>
            <p:nvPr/>
          </p:nvSpPr>
          <p:spPr bwMode="auto">
            <a:xfrm>
              <a:off x="6172200" y="5715000"/>
              <a:ext cx="6858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TDB</a:t>
              </a:r>
              <a:r>
                <a:rPr lang="en-US" altLang="en-US" sz="1800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k</a:t>
              </a:r>
            </a:p>
          </p:txBody>
        </p:sp>
        <p:sp>
          <p:nvSpPr>
            <p:cNvPr id="23568" name="TextBox 16"/>
            <p:cNvSpPr txBox="1">
              <a:spLocks noChangeArrowheads="1"/>
            </p:cNvSpPr>
            <p:nvPr/>
          </p:nvSpPr>
          <p:spPr bwMode="auto">
            <a:xfrm>
              <a:off x="2362200" y="5715000"/>
              <a:ext cx="2286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+</a:t>
              </a:r>
            </a:p>
          </p:txBody>
        </p:sp>
        <p:sp>
          <p:nvSpPr>
            <p:cNvPr id="23569" name="TextBox 18"/>
            <p:cNvSpPr txBox="1">
              <a:spLocks noChangeArrowheads="1"/>
            </p:cNvSpPr>
            <p:nvPr/>
          </p:nvSpPr>
          <p:spPr bwMode="auto">
            <a:xfrm>
              <a:off x="7350126" y="5715000"/>
              <a:ext cx="13716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STKaiti" panose="02010600040101010101" pitchFamily="2" charset="-122"/>
                  <a:ea typeface="STKaiti" panose="02010600040101010101" pitchFamily="2" charset="-122"/>
                </a:rPr>
                <a:t>=       TDB</a:t>
              </a:r>
            </a:p>
          </p:txBody>
        </p:sp>
        <p:sp>
          <p:nvSpPr>
            <p:cNvPr id="23570" name="TextBox 19"/>
            <p:cNvSpPr txBox="1">
              <a:spLocks noChangeArrowheads="1"/>
            </p:cNvSpPr>
            <p:nvPr/>
          </p:nvSpPr>
          <p:spPr bwMode="auto">
            <a:xfrm>
              <a:off x="5638800" y="5715000"/>
              <a:ext cx="2286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+</a:t>
              </a:r>
            </a:p>
          </p:txBody>
        </p:sp>
        <p:sp>
          <p:nvSpPr>
            <p:cNvPr id="23571" name="TextBox 20"/>
            <p:cNvSpPr txBox="1">
              <a:spLocks noChangeArrowheads="1"/>
            </p:cNvSpPr>
            <p:nvPr/>
          </p:nvSpPr>
          <p:spPr bwMode="auto">
            <a:xfrm>
              <a:off x="4114800" y="5715000"/>
              <a:ext cx="228600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+</a:t>
              </a:r>
            </a:p>
          </p:txBody>
        </p:sp>
        <p:sp>
          <p:nvSpPr>
            <p:cNvPr id="23576" name="TextBox 21"/>
            <p:cNvSpPr txBox="1">
              <a:spLocks noChangeArrowheads="1"/>
            </p:cNvSpPr>
            <p:nvPr/>
          </p:nvSpPr>
          <p:spPr bwMode="auto">
            <a:xfrm rot="338854">
              <a:off x="424561" y="4860305"/>
              <a:ext cx="1395605" cy="4901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STKaiti" panose="02010600040101010101" pitchFamily="2" charset="-122"/>
                  <a:ea typeface="STKaiti" panose="02010600040101010101" pitchFamily="2" charset="-122"/>
                </a:rPr>
                <a:t>以下是证明！</a:t>
              </a:r>
            </a:p>
          </p:txBody>
        </p:sp>
        <p:sp>
          <p:nvSpPr>
            <p:cNvPr id="23577" name="TextBox 2"/>
            <p:cNvSpPr txBox="1">
              <a:spLocks noChangeArrowheads="1"/>
            </p:cNvSpPr>
            <p:nvPr/>
          </p:nvSpPr>
          <p:spPr bwMode="auto">
            <a:xfrm>
              <a:off x="4724400" y="5562600"/>
              <a:ext cx="609600" cy="565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STKaiti" panose="02010600040101010101" pitchFamily="2" charset="-122"/>
                  <a:ea typeface="STKaiti" panose="02010600040101010101" pitchFamily="2" charset="-122"/>
                </a:rPr>
                <a:t>...</a:t>
              </a:r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608207" y="4145386"/>
            <a:ext cx="11077185" cy="264515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方法：两次扫描数据库（A. </a:t>
            </a:r>
            <a:r>
              <a:rPr lang="en-US" altLang="en-US" sz="2200" dirty="0" err="1">
                <a:latin typeface="STKaiti" panose="02010600040101010101" pitchFamily="2" charset="-122"/>
                <a:ea typeface="STKaiti" panose="02010600040101010101" pitchFamily="2" charset="-122"/>
              </a:rPr>
              <a:t>Savasere</a:t>
            </a: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, E. </a:t>
            </a:r>
            <a:r>
              <a:rPr lang="en-US" altLang="en-US" sz="2200" dirty="0" err="1">
                <a:latin typeface="STKaiti" panose="02010600040101010101" pitchFamily="2" charset="-122"/>
                <a:ea typeface="STKaiti" panose="02010600040101010101" pitchFamily="2" charset="-122"/>
              </a:rPr>
              <a:t>Omiecinski </a:t>
            </a: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和 S. </a:t>
            </a:r>
            <a:r>
              <a:rPr lang="en-US" altLang="en-US" sz="2200" dirty="0" err="1">
                <a:latin typeface="STKaiti" panose="02010600040101010101" pitchFamily="2" charset="-122"/>
                <a:ea typeface="STKaiti" panose="02010600040101010101" pitchFamily="2" charset="-122"/>
              </a:rPr>
              <a:t>Navathe</a:t>
            </a: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, </a:t>
            </a:r>
            <a:r>
              <a:rPr lang="en-US" altLang="en-US" sz="2200" i="1" dirty="0">
                <a:latin typeface="STKaiti" panose="02010600040101010101" pitchFamily="2" charset="-122"/>
                <a:ea typeface="STKaiti" panose="02010600040101010101" pitchFamily="2" charset="-122"/>
              </a:rPr>
              <a:t>VLDB’95</a:t>
            </a:r>
            <a:r>
              <a:rPr lang="en-US" altLang="en-US" sz="2200" i="1" dirty="0">
                <a:solidFill>
                  <a:schemeClr val="tx2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  <a:endParaRPr lang="en-US" altLang="en-US" sz="22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/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扫描 1：将数据库划分为多个分区，确保每个分区都能放入主内存（为什么？）</a:t>
            </a:r>
          </a:p>
          <a:p>
            <a:pPr lvl="2"/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在该分区中挖掘本地频繁模式</a:t>
            </a:r>
          </a:p>
          <a:p>
            <a:pPr lvl="1"/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扫描 2：合并全局频繁模式</a:t>
            </a:r>
          </a:p>
          <a:p>
            <a:pPr lvl="2"/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查找全局频繁</a:t>
            </a:r>
            <a:r>
              <a:rPr lang="en-US" altLang="en-US" sz="2200" dirty="0" err="1">
                <a:latin typeface="STKaiti" panose="02010600040101010101" pitchFamily="2" charset="-122"/>
                <a:ea typeface="STKaiti" panose="02010600040101010101" pitchFamily="2" charset="-122"/>
              </a:rPr>
              <a:t>项</a:t>
            </a: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集候选（在至少一个分区中频繁出现的项集）</a:t>
            </a:r>
          </a:p>
          <a:p>
            <a:pPr lvl="2"/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通过再次扫描TDB</a:t>
            </a:r>
            <a:r>
              <a:rPr lang="en-US" altLang="en-US" sz="2200" baseline="-25000" dirty="0" err="1">
                <a:latin typeface="STKaiti" panose="02010600040101010101" pitchFamily="2" charset="-122"/>
                <a:ea typeface="STKaiti" panose="02010600040101010101" pitchFamily="2" charset="-122"/>
              </a:rPr>
              <a:t>i</a:t>
            </a: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 ，确定这些候选项的真实频率</a:t>
            </a:r>
          </a:p>
        </p:txBody>
      </p:sp>
      <p:sp>
        <p:nvSpPr>
          <p:cNvPr id="2" name="TextBox 21">
            <a:extLst>
              <a:ext uri="{FF2B5EF4-FFF2-40B4-BE49-F238E27FC236}">
                <a16:creationId xmlns:a16="http://schemas.microsoft.com/office/drawing/2014/main" id="{E7A1BB07-0E59-66D0-36A4-A7BA0E50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87" y="3648228"/>
            <a:ext cx="2258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sup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(X) &lt; </a:t>
            </a:r>
            <a:r>
              <a:rPr lang="el-GR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σ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|TDB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</a:t>
            </a:r>
            <a:endParaRPr lang="en-US" altLang="en-US" sz="1800" baseline="-25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75328E93-AD50-2363-14AC-71C2694C4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193" y="3635411"/>
            <a:ext cx="2258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sup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(X) &lt; </a:t>
            </a:r>
            <a:r>
              <a:rPr lang="el-GR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σ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|TDB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</a:t>
            </a:r>
            <a:endParaRPr lang="en-US" altLang="en-US" sz="1800" baseline="-25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2EC843DC-2FF2-FB61-0DE7-2C5C1FA47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75" y="3651894"/>
            <a:ext cx="2097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sup</a:t>
            </a:r>
            <a:r>
              <a:rPr lang="en-US" altLang="en-US" sz="1800" baseline="-25000" dirty="0" err="1">
                <a:latin typeface="STKaiti" panose="02010600040101010101" pitchFamily="2" charset="-122"/>
                <a:ea typeface="STKaiti" panose="02010600040101010101" pitchFamily="2" charset="-122"/>
              </a:rPr>
              <a:t>k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(X) &lt; </a:t>
            </a:r>
            <a:r>
              <a:rPr lang="el-GR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σ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</a:t>
            </a:r>
            <a:r>
              <a:rPr lang="en-US" alt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TDB</a:t>
            </a:r>
            <a:r>
              <a:rPr lang="en-US" altLang="en-US" sz="1800" baseline="-25000" dirty="0" err="1">
                <a:latin typeface="STKaiti" panose="02010600040101010101" pitchFamily="2" charset="-122"/>
                <a:ea typeface="STKaiti" panose="02010600040101010101" pitchFamily="2" charset="-122"/>
              </a:rPr>
              <a:t>k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</a:t>
            </a:r>
            <a:endParaRPr lang="en-US" altLang="en-US" sz="1800" baseline="-25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C616E56B-488E-D0B7-593E-A156E4171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273" y="3635411"/>
            <a:ext cx="20703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sup(X) &lt; </a:t>
            </a:r>
            <a:r>
              <a:rPr lang="el-GR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σ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|TDB|</a:t>
            </a:r>
            <a:endParaRPr lang="en-US" altLang="en-US" sz="1800" baseline="-25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867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直接哈希与剪枝（DHP）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542101" y="1221731"/>
            <a:ext cx="6935145" cy="5105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哈希</a:t>
            </a:r>
            <a:r>
              <a:rPr lang="en-US" altLang="en-US" sz="2400" dirty="0"/>
              <a:t>：v = </a:t>
            </a:r>
            <a:r>
              <a:rPr lang="en-US" altLang="en-US" sz="2400" i="1" dirty="0"/>
              <a:t>hash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1</a:t>
            </a:r>
            <a:r>
              <a:rPr lang="en-US" altLang="en-US" sz="2400" b="1" baseline="30000" dirty="0"/>
              <a:t>st</a:t>
            </a:r>
            <a:r>
              <a:rPr lang="en-US" altLang="en-US" sz="2400" b="1" dirty="0"/>
              <a:t> 扫描</a:t>
            </a:r>
            <a:r>
              <a:rPr lang="en-US" altLang="en-US" sz="2400" dirty="0"/>
              <a:t>：在统计1-itemset时，对2-itemset进行哈希以计算桶的数量</a:t>
            </a:r>
          </a:p>
          <a:p>
            <a:r>
              <a:rPr lang="en-US" altLang="en-US" sz="2400" dirty="0"/>
              <a:t>示例：在TDB的1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扫描中，统计1-itemset，并将事务中的2-itemset哈希到其桶中</a:t>
            </a:r>
          </a:p>
          <a:p>
            <a:pPr lvl="3"/>
            <a:r>
              <a:rPr lang="en-US" altLang="en-US" sz="2400" dirty="0"/>
              <a:t>{ab, ad, </a:t>
            </a:r>
            <a:r>
              <a:rPr lang="en-US" altLang="en-US" sz="2400" dirty="0" err="1"/>
              <a:t>ce</a:t>
            </a:r>
            <a:r>
              <a:rPr lang="en-US" altLang="en-US" sz="2400" dirty="0"/>
              <a:t>}</a:t>
            </a:r>
          </a:p>
          <a:p>
            <a:pPr lvl="3"/>
            <a:r>
              <a:rPr lang="en-US" altLang="en-US" sz="2400" dirty="0"/>
              <a:t>{</a:t>
            </a:r>
            <a:r>
              <a:rPr lang="en-US" altLang="en-US" sz="2400" dirty="0" err="1"/>
              <a:t>bd</a:t>
            </a:r>
            <a:r>
              <a:rPr lang="en-US" altLang="en-US" sz="2400" dirty="0"/>
              <a:t>, be, de} </a:t>
            </a:r>
          </a:p>
          <a:p>
            <a:pPr lvl="3"/>
            <a:r>
              <a:rPr lang="en-US" altLang="en-US" sz="2400" dirty="0"/>
              <a:t>…</a:t>
            </a:r>
          </a:p>
          <a:p>
            <a:pPr lvl="1"/>
            <a:r>
              <a:rPr lang="en-US" altLang="en-US" sz="2400" dirty="0"/>
              <a:t>在第一次扫描结束时，</a:t>
            </a:r>
          </a:p>
          <a:p>
            <a:pPr lvl="2"/>
            <a:r>
              <a:rPr lang="en-US" altLang="en-US" sz="2400" i="1" dirty="0"/>
              <a:t>如果 </a:t>
            </a:r>
            <a:r>
              <a:rPr lang="en-US" altLang="en-US" sz="2400" i="1" dirty="0" err="1"/>
              <a:t>minsup </a:t>
            </a:r>
            <a:r>
              <a:rPr lang="en-US" altLang="en-US" sz="2400" i="1" dirty="0"/>
              <a:t>= 80，则移除 ab、ad</a:t>
            </a:r>
            <a:r>
              <a:rPr lang="en-US" altLang="en-US" sz="2400" i="1" dirty="0" err="1"/>
              <a:t>、</a:t>
            </a:r>
            <a:r>
              <a:rPr lang="en-US" altLang="en-US" sz="2400" i="1" dirty="0"/>
              <a:t>ce，因为 count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ab, ad, </a:t>
            </a:r>
            <a:r>
              <a:rPr lang="en-US" altLang="en-US" sz="2400" i="1" dirty="0" err="1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ce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} &lt; 80</a:t>
            </a:r>
          </a:p>
        </p:txBody>
      </p:sp>
      <p:sp>
        <p:nvSpPr>
          <p:cNvPr id="24581" name="Rectangle 26"/>
          <p:cNvSpPr>
            <a:spLocks noChangeArrowheads="1"/>
          </p:cNvSpPr>
          <p:nvPr/>
        </p:nvSpPr>
        <p:spPr bwMode="auto">
          <a:xfrm>
            <a:off x="9866002" y="3316661"/>
            <a:ext cx="1463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ahoma" pitchFamily="34" charset="0"/>
              </a:rPr>
              <a:t>哈希表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247500" y="1421315"/>
          <a:ext cx="2700867" cy="1851684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2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项集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计数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ab, ad,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3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bd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be, de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29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yz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qs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wt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  58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72806" y="2266927"/>
            <a:ext cx="207906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V 可能在</a:t>
            </a:r>
            <a:r>
              <a:rPr 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不同项集中</a:t>
            </a:r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相同</a:t>
            </a:r>
          </a:p>
        </p:txBody>
      </p:sp>
      <p:sp>
        <p:nvSpPr>
          <p:cNvPr id="5" name="Left Brace 4"/>
          <p:cNvSpPr/>
          <p:nvPr/>
        </p:nvSpPr>
        <p:spPr>
          <a:xfrm>
            <a:off x="9334310" y="1907187"/>
            <a:ext cx="196770" cy="1365812"/>
          </a:xfrm>
          <a:prstGeom prst="leftBrac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39018" y="1736203"/>
            <a:ext cx="481930" cy="158045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00398" y="4016415"/>
            <a:ext cx="1800493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检查</a:t>
            </a:r>
            <a:r>
              <a:rPr 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最小</a:t>
            </a:r>
            <a:r>
              <a:rPr 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支持度</a:t>
            </a:r>
          </a:p>
        </p:txBody>
      </p:sp>
      <p:sp>
        <p:nvSpPr>
          <p:cNvPr id="10" name="Down Arrow 9"/>
          <p:cNvSpPr/>
          <p:nvPr/>
        </p:nvSpPr>
        <p:spPr>
          <a:xfrm flipH="1">
            <a:off x="11350734" y="3499334"/>
            <a:ext cx="349344" cy="468789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EC1E-A5B6-DE4A-974E-2D84D9186422}"/>
              </a:ext>
            </a:extLst>
          </p:cNvPr>
          <p:cNvSpPr txBox="1"/>
          <p:nvPr/>
        </p:nvSpPr>
        <p:spPr>
          <a:xfrm>
            <a:off x="2591904" y="6337128"/>
            <a:ext cx="8006029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DHP（直接哈希与剪枝）：（J. Park, M. Chen, 和 P. Yu, SIGMOD’95）</a:t>
            </a:r>
            <a:endParaRPr lang="en-US" altLang="en-US" sz="18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2B8F8-2AD6-1B29-572E-F4468DBEF01C}"/>
              </a:ext>
            </a:extLst>
          </p:cNvPr>
          <p:cNvSpPr txBox="1"/>
          <p:nvPr/>
        </p:nvSpPr>
        <p:spPr>
          <a:xfrm>
            <a:off x="7001265" y="4825468"/>
            <a:ext cx="4719683" cy="92333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一个关键观察：如果一个k-项集对应的哈希桶计数低于</a:t>
            </a:r>
            <a:r>
              <a:rPr lang="en-US" altLang="en-US" sz="1800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最小支持度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阈值，则该项集不能被视为频繁项集。</a:t>
            </a:r>
          </a:p>
        </p:txBody>
      </p:sp>
    </p:spTree>
    <p:extLst>
      <p:ext uri="{BB962C8B-B14F-4D97-AF65-F5344CB8AC3E}">
        <p14:creationId xmlns:p14="http://schemas.microsoft.com/office/powerpoint/2010/main" val="424601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探索垂直数据格式：ECLAT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066800"/>
            <a:ext cx="9023927" cy="5486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200" dirty="0"/>
              <a:t>ECLAT（等价类转换）：一种基于集合交集的</a:t>
            </a:r>
            <a:r>
              <a:rPr lang="en-US" altLang="en-US" sz="2200" b="1" dirty="0"/>
              <a:t>深度优先搜索</a:t>
            </a:r>
            <a:r>
              <a:rPr lang="en-US" altLang="en-US" sz="2200" dirty="0"/>
              <a:t>算法 </a:t>
            </a:r>
            <a:r>
              <a:rPr lang="en-US" altLang="en-US" sz="2200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en-US" altLang="en-US" sz="2200" dirty="0" err="1">
                <a:solidFill>
                  <a:schemeClr val="bg1">
                    <a:lumMod val="65000"/>
                  </a:schemeClr>
                </a:solidFill>
              </a:rPr>
              <a:t>Zaki </a:t>
            </a:r>
            <a:r>
              <a:rPr lang="en-US" altLang="en-US" sz="2200" dirty="0">
                <a:solidFill>
                  <a:schemeClr val="bg1">
                    <a:lumMod val="65000"/>
                  </a:schemeClr>
                </a:solidFill>
              </a:rPr>
              <a:t>等 @KDD’97] </a:t>
            </a:r>
          </a:p>
          <a:p>
            <a:pPr>
              <a:lnSpc>
                <a:spcPct val="120000"/>
              </a:lnSpc>
            </a:pPr>
            <a:r>
              <a:rPr lang="en-US" altLang="en-US" sz="2200" dirty="0"/>
              <a:t>垂直格式</a:t>
            </a:r>
          </a:p>
          <a:p>
            <a:pPr>
              <a:lnSpc>
                <a:spcPct val="120000"/>
              </a:lnSpc>
            </a:pPr>
            <a:r>
              <a:rPr lang="en-US" altLang="en-US" sz="2200" dirty="0"/>
              <a:t>Tid-列表的特性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/>
              <a:t>t(X) = t(Y)：X 和 Y 总是同时发生（</a:t>
            </a:r>
            <a:r>
              <a:rPr lang="en-US" altLang="en-US" sz="2200" dirty="0">
                <a:sym typeface="Symbol" pitchFamily="18" charset="2"/>
              </a:rPr>
              <a:t>例如，t(ac) = t(d)） </a:t>
            </a:r>
            <a:endParaRPr lang="en-US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200" dirty="0"/>
              <a:t>t(X)</a:t>
            </a:r>
            <a:r>
              <a:rPr lang="en-US" altLang="en-US" sz="2200" dirty="0">
                <a:sym typeface="Symbol" pitchFamily="18" charset="2"/>
              </a:rPr>
              <a:t> ⊆ t(Y)：包含 X 的事务总是包含 Y（例如，t(ac) ⊆ t(</a:t>
            </a:r>
            <a:r>
              <a:rPr lang="en-US" altLang="en-US" sz="2200" dirty="0" err="1">
                <a:sym typeface="Symbol" pitchFamily="18" charset="2"/>
              </a:rPr>
              <a:t>ce</a:t>
            </a:r>
            <a:r>
              <a:rPr lang="en-US" altLang="en-US" sz="2200" dirty="0">
                <a:sym typeface="Symbol" pitchFamily="18" charset="2"/>
              </a:rPr>
              <a:t>)）</a:t>
            </a:r>
          </a:p>
          <a:p>
            <a:pPr>
              <a:lnSpc>
                <a:spcPct val="120000"/>
              </a:lnSpc>
            </a:pPr>
            <a:r>
              <a:rPr lang="en-US" altLang="en-US" sz="2200" dirty="0"/>
              <a:t>频繁模式：垂直交集</a:t>
            </a:r>
            <a:endParaRPr lang="en-US" altLang="en-US" sz="2200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200" dirty="0">
                <a:sym typeface="Symbol" pitchFamily="18" charset="2"/>
              </a:rPr>
              <a:t>使用</a:t>
            </a:r>
            <a:r>
              <a:rPr lang="en-US" altLang="en-US" sz="2200" dirty="0" err="1">
                <a:solidFill>
                  <a:srgbClr val="FF0000"/>
                </a:solidFill>
                <a:sym typeface="Symbol" pitchFamily="18" charset="2"/>
              </a:rPr>
              <a:t>差集</a:t>
            </a:r>
            <a:r>
              <a:rPr lang="en-US" altLang="en-US" sz="2200" dirty="0">
                <a:sym typeface="Symbol" pitchFamily="18" charset="2"/>
              </a:rPr>
              <a:t>加速挖掘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200" dirty="0">
                <a:sym typeface="Symbol" pitchFamily="18" charset="2"/>
              </a:rPr>
              <a:t>仅跟踪 </a:t>
            </a:r>
            <a:r>
              <a:rPr lang="en-US" altLang="en-US" sz="2200" dirty="0" err="1">
                <a:sym typeface="Symbol" pitchFamily="18" charset="2"/>
              </a:rPr>
              <a:t>TID</a:t>
            </a:r>
            <a:r>
              <a:rPr lang="en-US" altLang="en-US" sz="2200" dirty="0">
                <a:sym typeface="Symbol" pitchFamily="18" charset="2"/>
              </a:rPr>
              <a:t> 的差异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200" dirty="0">
                <a:sym typeface="Symbol" pitchFamily="18" charset="2"/>
              </a:rPr>
              <a:t>t(e) = {T</a:t>
            </a:r>
            <a:r>
              <a:rPr lang="en-US" altLang="en-US" sz="2200" baseline="-25000" dirty="0">
                <a:sym typeface="Symbol" pitchFamily="18" charset="2"/>
              </a:rPr>
              <a:t>10</a:t>
            </a:r>
            <a:r>
              <a:rPr lang="en-US" altLang="en-US" sz="2200" dirty="0">
                <a:sym typeface="Symbol" pitchFamily="18" charset="2"/>
              </a:rPr>
              <a:t> , T</a:t>
            </a:r>
            <a:r>
              <a:rPr lang="en-US" altLang="en-US" sz="2200" baseline="-25000" dirty="0">
                <a:sym typeface="Symbol" pitchFamily="18" charset="2"/>
              </a:rPr>
              <a:t>20</a:t>
            </a:r>
            <a:r>
              <a:rPr lang="en-US" altLang="en-US" sz="2200" dirty="0">
                <a:sym typeface="Symbol" pitchFamily="18" charset="2"/>
              </a:rPr>
              <a:t> , T</a:t>
            </a:r>
            <a:r>
              <a:rPr lang="en-US" altLang="en-US" sz="2200" baseline="-25000" dirty="0">
                <a:sym typeface="Symbol" pitchFamily="18" charset="2"/>
              </a:rPr>
              <a:t>30</a:t>
            </a:r>
            <a:r>
              <a:rPr lang="en-US" altLang="en-US" sz="2200" dirty="0">
                <a:sym typeface="Symbol" pitchFamily="18" charset="2"/>
              </a:rPr>
              <a:t> }, t(</a:t>
            </a:r>
            <a:r>
              <a:rPr lang="en-US" altLang="en-US" sz="2200" dirty="0" err="1">
                <a:sym typeface="Symbol" pitchFamily="18" charset="2"/>
              </a:rPr>
              <a:t>ce</a:t>
            </a:r>
            <a:r>
              <a:rPr lang="en-US" altLang="en-US" sz="2200" dirty="0">
                <a:sym typeface="Symbol" pitchFamily="18" charset="2"/>
              </a:rPr>
              <a:t>) = {T</a:t>
            </a:r>
            <a:r>
              <a:rPr lang="en-US" altLang="en-US" sz="2200" baseline="-25000" dirty="0">
                <a:sym typeface="Symbol" pitchFamily="18" charset="2"/>
              </a:rPr>
              <a:t>10</a:t>
            </a:r>
            <a:r>
              <a:rPr lang="en-US" altLang="en-US" sz="2200" dirty="0">
                <a:sym typeface="Symbol" pitchFamily="18" charset="2"/>
              </a:rPr>
              <a:t> , T</a:t>
            </a:r>
            <a:r>
              <a:rPr lang="en-US" altLang="en-US" sz="2200" baseline="-25000" dirty="0">
                <a:sym typeface="Symbol" pitchFamily="18" charset="2"/>
              </a:rPr>
              <a:t>30</a:t>
            </a:r>
            <a:r>
              <a:rPr lang="en-US" altLang="en-US" sz="2200" dirty="0">
                <a:sym typeface="Symbol" pitchFamily="18" charset="2"/>
              </a:rPr>
              <a:t> } → </a:t>
            </a:r>
            <a:r>
              <a:rPr lang="en-US" altLang="en-US" sz="2200" dirty="0" err="1">
                <a:sym typeface="Symbol" pitchFamily="18" charset="2"/>
              </a:rPr>
              <a:t>Diffset</a:t>
            </a:r>
            <a:r>
              <a:rPr lang="en-US" altLang="en-US" sz="2200" dirty="0">
                <a:sym typeface="Symbol" pitchFamily="18" charset="2"/>
              </a:rPr>
              <a:t>(</a:t>
            </a:r>
            <a:r>
              <a:rPr lang="en-US" altLang="en-US" sz="2200" dirty="0" err="1">
                <a:sym typeface="Symbol" pitchFamily="18" charset="2"/>
              </a:rPr>
              <a:t>ce</a:t>
            </a:r>
            <a:r>
              <a:rPr lang="en-US" altLang="en-US" sz="2200" dirty="0">
                <a:sym typeface="Symbol" pitchFamily="18" charset="2"/>
              </a:rPr>
              <a:t>, e) = {T</a:t>
            </a:r>
            <a:r>
              <a:rPr lang="en-US" altLang="en-US" sz="2200" baseline="-25000" dirty="0">
                <a:sym typeface="Symbol" pitchFamily="18" charset="2"/>
              </a:rPr>
              <a:t>20</a:t>
            </a:r>
            <a:r>
              <a:rPr lang="en-US" altLang="en-US" sz="2200" dirty="0">
                <a:sym typeface="Symbol" pitchFamily="18" charset="2"/>
              </a:rPr>
              <a:t> }</a:t>
            </a:r>
          </a:p>
        </p:txBody>
      </p:sp>
      <p:sp>
        <p:nvSpPr>
          <p:cNvPr id="25605" name="TextBox 1"/>
          <p:cNvSpPr txBox="1">
            <a:spLocks noChangeArrowheads="1"/>
          </p:cNvSpPr>
          <p:nvPr/>
        </p:nvSpPr>
        <p:spPr bwMode="auto">
          <a:xfrm>
            <a:off x="9144000" y="1168400"/>
            <a:ext cx="2946400" cy="33855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水平数据格式下的事务数据库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91963" y="4044015"/>
          <a:ext cx="23368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TidList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10, 20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10, 20, 30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29" name="TextBox 7"/>
          <p:cNvSpPr txBox="1">
            <a:spLocks noChangeArrowheads="1"/>
          </p:cNvSpPr>
          <p:nvPr/>
        </p:nvSpPr>
        <p:spPr bwMode="auto">
          <a:xfrm>
            <a:off x="9245600" y="3530600"/>
            <a:ext cx="2946400" cy="33855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垂直数据格式的交易数据库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448800" y="1736725"/>
          <a:ext cx="2336800" cy="146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  <a:endParaRPr lang="en-US" sz="16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  <a:endParaRPr lang="en-US" sz="1800" dirty="0">
                        <a:solidFill>
                          <a:schemeClr val="tx1"/>
                        </a:solidFill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d,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204364" y="4111630"/>
            <a:ext cx="2336800" cy="104522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t(e) = {T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10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, 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20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, 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30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}; </a:t>
            </a:r>
          </a:p>
          <a:p>
            <a:pPr>
              <a:lnSpc>
                <a:spcPct val="120000"/>
              </a:lnSpc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t(a) = {T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10, 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20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}; </a:t>
            </a:r>
          </a:p>
          <a:p>
            <a:pPr>
              <a:lnSpc>
                <a:spcPct val="120000"/>
              </a:lnSpc>
            </a:pP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t(ae) = {T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10, 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T</a:t>
            </a:r>
            <a:r>
              <a:rPr lang="en-US" altLang="en-US" sz="180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20</a:t>
            </a:r>
            <a:r>
              <a:rPr lang="en-US" altLang="en-US" sz="1800" dirty="0">
                <a:latin typeface="STKaiti" panose="02010600040101010101" pitchFamily="2" charset="-122"/>
                <a:ea typeface="STKaiti" panose="02010600040101010101" pitchFamily="2" charset="-12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0353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  <p:bldP spid="256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案列代码练习</a:t>
            </a:r>
          </a:p>
        </p:txBody>
      </p:sp>
    </p:spTree>
    <p:extLst>
      <p:ext uri="{BB962C8B-B14F-4D97-AF65-F5344CB8AC3E}">
        <p14:creationId xmlns:p14="http://schemas.microsoft.com/office/powerpoint/2010/main" val="3639541356"/>
      </p:ext>
    </p:extLst>
  </p:cSld>
  <p:clrMapOvr>
    <a:masterClrMapping/>
  </p:clrMapOvr>
</p:sld>
</file>

<file path=ppt/theme/theme1.xml><?xml version="1.0" encoding="utf-8"?>
<a:theme xmlns:a="http://schemas.openxmlformats.org/drawingml/2006/main" name="2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20848</TotalTime>
  <Words>5377</Words>
  <Application>Microsoft Office PowerPoint</Application>
  <PresentationFormat>宽屏</PresentationFormat>
  <Paragraphs>1376</Paragraphs>
  <Slides>85</Slides>
  <Notes>81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100" baseType="lpstr">
      <vt:lpstr>MingLiU</vt:lpstr>
      <vt:lpstr>STKaiti</vt:lpstr>
      <vt:lpstr>KaiTi</vt:lpstr>
      <vt:lpstr>Arial</vt:lpstr>
      <vt:lpstr>Berlin Sans FB Demi</vt:lpstr>
      <vt:lpstr>Calibri</vt:lpstr>
      <vt:lpstr>Cambria Math</vt:lpstr>
      <vt:lpstr>Symbol</vt:lpstr>
      <vt:lpstr>Tahoma</vt:lpstr>
      <vt:lpstr>Times New Roman</vt:lpstr>
      <vt:lpstr>Wingdings</vt:lpstr>
      <vt:lpstr>2_Retrospect</vt:lpstr>
      <vt:lpstr>Visio.Drawing.11</vt:lpstr>
      <vt:lpstr>Visio</vt:lpstr>
      <vt:lpstr>Equation</vt:lpstr>
      <vt:lpstr>模式挖掘：基本概念与方法</vt:lpstr>
      <vt:lpstr>什么是模式？</vt:lpstr>
      <vt:lpstr>什么是模式发现？</vt:lpstr>
      <vt:lpstr>模式发现：为什么它很重要？</vt:lpstr>
      <vt:lpstr>模式发现：为什么它很重要？</vt:lpstr>
      <vt:lpstr>基本概念：事务型数据库</vt:lpstr>
      <vt:lpstr>基本概念：k-项集及其支持集</vt:lpstr>
      <vt:lpstr>基本概念：频繁项集（模式）</vt:lpstr>
      <vt:lpstr>从频繁项集到关联规则</vt:lpstr>
      <vt:lpstr>关联规则</vt:lpstr>
      <vt:lpstr>关联规则 – 练习</vt:lpstr>
      <vt:lpstr>挖掘频繁项集与关联规则</vt:lpstr>
      <vt:lpstr>Myth No.1</vt:lpstr>
      <vt:lpstr>Myth No.1</vt:lpstr>
      <vt:lpstr>Myth No.2</vt:lpstr>
      <vt:lpstr>Myth No.3</vt:lpstr>
      <vt:lpstr>挖掘关联规则</vt:lpstr>
      <vt:lpstr>模式挖掘：基本概念与方法</vt:lpstr>
      <vt:lpstr>频繁模式挖掘原始方法</vt:lpstr>
      <vt:lpstr>高效模式挖掘方法</vt:lpstr>
      <vt:lpstr>Apriori方法</vt:lpstr>
      <vt:lpstr>剪枝过程</vt:lpstr>
      <vt:lpstr>剪枝过程</vt:lpstr>
      <vt:lpstr>Apriori Pruning and Scalable Mining Methods</vt:lpstr>
      <vt:lpstr>Apriori算法</vt:lpstr>
      <vt:lpstr>Apriori算法</vt:lpstr>
      <vt:lpstr>Apriori 算法（伪代码）</vt:lpstr>
      <vt:lpstr>Apriori 算法</vt:lpstr>
      <vt:lpstr>Apriori 算法</vt:lpstr>
      <vt:lpstr>Apriori 算法</vt:lpstr>
      <vt:lpstr>Apriori算法</vt:lpstr>
      <vt:lpstr>Apriori：实现技巧</vt:lpstr>
      <vt:lpstr>候选生成（伪代码）</vt:lpstr>
      <vt:lpstr>Apriori 算法</vt:lpstr>
      <vt:lpstr>Apriori 算法（代码）</vt:lpstr>
      <vt:lpstr>Apriori 算法（代码）</vt:lpstr>
      <vt:lpstr>Apriori 算法（代码）</vt:lpstr>
      <vt:lpstr>Apriori：改进与替代方案</vt:lpstr>
      <vt:lpstr>Apriori 练习</vt:lpstr>
      <vt:lpstr>为什么通过模式增长挖掘频繁模式？</vt:lpstr>
      <vt:lpstr>示例：从事务型数据库到有序高频商品列表</vt:lpstr>
      <vt:lpstr>示例：从事务数据库构建FP树</vt:lpstr>
      <vt:lpstr>FP-树挖掘：分治策略  基于模式与数据</vt:lpstr>
      <vt:lpstr>递归遍历每个条件数据库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FP树</vt:lpstr>
      <vt:lpstr>特殊情况：FP-树中的单前缀路径</vt:lpstr>
      <vt:lpstr>PowerPoint 演示文稿</vt:lpstr>
      <vt:lpstr>FPGrowth：基于模式增长的频繁模式挖掘</vt:lpstr>
      <vt:lpstr>通过基于项的数据投影对FP增长进行缩放</vt:lpstr>
      <vt:lpstr>ECLAT算法</vt:lpstr>
      <vt:lpstr>ECLAT算法</vt:lpstr>
      <vt:lpstr>ECLAT算法</vt:lpstr>
      <vt:lpstr>ECLAT算法</vt:lpstr>
      <vt:lpstr>练习</vt:lpstr>
      <vt:lpstr>练习</vt:lpstr>
      <vt:lpstr>模式挖掘：基本概念与方法</vt:lpstr>
      <vt:lpstr>如何判断一条规则/模式是否有趣？</vt:lpstr>
      <vt:lpstr>支持-置信框架的局限性</vt:lpstr>
      <vt:lpstr>有趣度度量：提升率</vt:lpstr>
      <vt:lpstr>有趣性度量：χ2 </vt:lpstr>
      <vt:lpstr>提升率和χ2 ：它们总是好的指标吗？</vt:lpstr>
      <vt:lpstr>有趣性度量与空值不变性</vt:lpstr>
      <vt:lpstr>空值不变性：一个重要属性</vt:lpstr>
      <vt:lpstr>空值不变度量测度比较</vt:lpstr>
      <vt:lpstr>不平衡比率（Kulczynski 度量）</vt:lpstr>
      <vt:lpstr>示例：DBLP 合作者关系分析</vt:lpstr>
      <vt:lpstr>如何选择有效的模式评估方法？</vt:lpstr>
      <vt:lpstr>模式挖掘：基本概念与方法</vt:lpstr>
      <vt:lpstr>摘要</vt:lpstr>
      <vt:lpstr>分区：仅扫描数据库两次</vt:lpstr>
      <vt:lpstr>直接哈希与剪枝（DHP）</vt:lpstr>
      <vt:lpstr>探索垂直数据格式：ECLAT</vt:lpstr>
      <vt:lpstr>案列代码练习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Wang, Chi</dc:creator>
  <cp:keywords>, docId:A442A241349094767232D8647C4550C7</cp:keywords>
  <cp:lastModifiedBy>明源 周</cp:lastModifiedBy>
  <cp:revision>1004</cp:revision>
  <cp:lastPrinted>2022-12-31T17:52:29Z</cp:lastPrinted>
  <dcterms:created xsi:type="dcterms:W3CDTF">2014-06-02T15:06:14Z</dcterms:created>
  <dcterms:modified xsi:type="dcterms:W3CDTF">2025-10-13T14:34:27Z</dcterms:modified>
</cp:coreProperties>
</file>