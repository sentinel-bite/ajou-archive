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if" ContentType="image/tif"/>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6"/>
  </p:notesMasterIdLst>
  <p:sldIdLst>
    <p:sldId id="1409" r:id="rId2"/>
    <p:sldId id="1488" r:id="rId3"/>
    <p:sldId id="1489" r:id="rId4"/>
    <p:sldId id="1490" r:id="rId5"/>
    <p:sldId id="1491" r:id="rId6"/>
    <p:sldId id="1492" r:id="rId7"/>
    <p:sldId id="1551" r:id="rId8"/>
    <p:sldId id="1649" r:id="rId9"/>
    <p:sldId id="1495" r:id="rId10"/>
    <p:sldId id="1559" r:id="rId11"/>
    <p:sldId id="1650" r:id="rId12"/>
    <p:sldId id="1561" r:id="rId13"/>
    <p:sldId id="1651" r:id="rId14"/>
    <p:sldId id="1496" r:id="rId15"/>
    <p:sldId id="1562" r:id="rId16"/>
    <p:sldId id="1615" r:id="rId17"/>
    <p:sldId id="1596" r:id="rId18"/>
    <p:sldId id="1616" r:id="rId19"/>
    <p:sldId id="1618" r:id="rId20"/>
    <p:sldId id="1619" r:id="rId21"/>
    <p:sldId id="1586" r:id="rId22"/>
    <p:sldId id="1587" r:id="rId23"/>
    <p:sldId id="1595" r:id="rId24"/>
    <p:sldId id="1588" r:id="rId25"/>
    <p:sldId id="1589" r:id="rId26"/>
    <p:sldId id="1590" r:id="rId27"/>
    <p:sldId id="1591" r:id="rId28"/>
    <p:sldId id="1501" r:id="rId29"/>
    <p:sldId id="1497" r:id="rId30"/>
    <p:sldId id="1502" r:id="rId31"/>
    <p:sldId id="1503" r:id="rId32"/>
    <p:sldId id="1504" r:id="rId33"/>
    <p:sldId id="1505" r:id="rId34"/>
    <p:sldId id="1506" r:id="rId35"/>
    <p:sldId id="1507" r:id="rId36"/>
    <p:sldId id="1508" r:id="rId37"/>
    <p:sldId id="1553" r:id="rId38"/>
    <p:sldId id="1611" r:id="rId39"/>
    <p:sldId id="1598" r:id="rId40"/>
    <p:sldId id="1600" r:id="rId41"/>
    <p:sldId id="1601" r:id="rId42"/>
    <p:sldId id="1602" r:id="rId43"/>
    <p:sldId id="1603" r:id="rId44"/>
    <p:sldId id="1604" r:id="rId45"/>
    <p:sldId id="1652" r:id="rId46"/>
    <p:sldId id="1655" r:id="rId47"/>
    <p:sldId id="1606" r:id="rId48"/>
    <p:sldId id="1607" r:id="rId49"/>
    <p:sldId id="1609" r:id="rId50"/>
    <p:sldId id="1610" r:id="rId51"/>
    <p:sldId id="1656" r:id="rId52"/>
    <p:sldId id="1545" r:id="rId53"/>
    <p:sldId id="1612" r:id="rId54"/>
    <p:sldId id="1546" r:id="rId55"/>
    <p:sldId id="1643" r:id="rId56"/>
    <p:sldId id="1640" r:id="rId57"/>
    <p:sldId id="1493" r:id="rId58"/>
    <p:sldId id="1620" r:id="rId59"/>
    <p:sldId id="1621" r:id="rId60"/>
    <p:sldId id="1622" r:id="rId61"/>
    <p:sldId id="1623" r:id="rId62"/>
    <p:sldId id="1498" r:id="rId63"/>
    <p:sldId id="1624" r:id="rId64"/>
    <p:sldId id="1597" r:id="rId65"/>
    <p:sldId id="1626" r:id="rId66"/>
    <p:sldId id="1627" r:id="rId67"/>
    <p:sldId id="1628" r:id="rId68"/>
    <p:sldId id="1641" r:id="rId69"/>
    <p:sldId id="1538" r:id="rId70"/>
    <p:sldId id="1539" r:id="rId71"/>
    <p:sldId id="1540" r:id="rId72"/>
    <p:sldId id="1541" r:id="rId73"/>
    <p:sldId id="1542" r:id="rId74"/>
    <p:sldId id="1543" r:id="rId75"/>
    <p:sldId id="1544" r:id="rId76"/>
    <p:sldId id="1638" r:id="rId77"/>
    <p:sldId id="1639" r:id="rId78"/>
    <p:sldId id="1547" r:id="rId79"/>
    <p:sldId id="1535" r:id="rId80"/>
    <p:sldId id="1534" r:id="rId81"/>
    <p:sldId id="1548" r:id="rId82"/>
    <p:sldId id="1593" r:id="rId83"/>
    <p:sldId id="1531" r:id="rId84"/>
    <p:sldId id="1633" r:id="rId85"/>
    <p:sldId id="1634" r:id="rId86"/>
    <p:sldId id="1635" r:id="rId87"/>
    <p:sldId id="1636" r:id="rId88"/>
    <p:sldId id="1585" r:id="rId89"/>
    <p:sldId id="1528" r:id="rId90"/>
    <p:sldId id="1637" r:id="rId91"/>
    <p:sldId id="1642" r:id="rId92"/>
    <p:sldId id="1567" r:id="rId93"/>
    <p:sldId id="1568" r:id="rId94"/>
    <p:sldId id="1574" r:id="rId95"/>
    <p:sldId id="1575" r:id="rId96"/>
    <p:sldId id="1576" r:id="rId97"/>
    <p:sldId id="1577" r:id="rId98"/>
    <p:sldId id="1578" r:id="rId99"/>
    <p:sldId id="1644" r:id="rId100"/>
    <p:sldId id="1645" r:id="rId101"/>
    <p:sldId id="1648" r:id="rId102"/>
    <p:sldId id="1646" r:id="rId103"/>
    <p:sldId id="1647" r:id="rId104"/>
    <p:sldId id="1420" r:id="rId105"/>
  </p:sldIdLst>
  <p:sldSz cx="12192000" cy="6858000"/>
  <p:notesSz cx="7010400" cy="9296400"/>
  <p:defaultText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CDBC"/>
    <a:srgbClr val="008080"/>
    <a:srgbClr val="0033CC"/>
    <a:srgbClr val="0000CC"/>
    <a:srgbClr val="BD582C"/>
    <a:srgbClr val="E48312"/>
    <a:srgbClr val="7F7F7F"/>
    <a:srgbClr val="94A088"/>
    <a:srgbClr val="86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41" autoAdjust="0"/>
    <p:restoredTop sz="93281" autoAdjust="0"/>
  </p:normalViewPr>
  <p:slideViewPr>
    <p:cSldViewPr snapToGrid="0">
      <p:cViewPr varScale="1">
        <p:scale>
          <a:sx n="78" d="100"/>
          <a:sy n="78" d="100"/>
        </p:scale>
        <p:origin x="1066" y="58"/>
      </p:cViewPr>
      <p:guideLst>
        <p:guide orient="horz" pos="2160"/>
        <p:guide pos="3840"/>
      </p:guideLst>
    </p:cSldViewPr>
  </p:slideViewPr>
  <p:outlineViewPr>
    <p:cViewPr>
      <p:scale>
        <a:sx n="33" d="100"/>
        <a:sy n="33" d="100"/>
      </p:scale>
      <p:origin x="0" y="-8358"/>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1" d="1"/>
        <a:sy n="1" d="1"/>
      </p:scale>
      <p:origin x="0" y="0"/>
    </p:cViewPr>
  </p:notesTextViewPr>
  <p:sorterViewPr>
    <p:cViewPr varScale="1">
      <p:scale>
        <a:sx n="1" d="1"/>
        <a:sy n="1" d="1"/>
      </p:scale>
      <p:origin x="0" y="-2578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commentAuthors" Target="commentAuthor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28.xml"/><Relationship Id="rId3" Type="http://schemas.openxmlformats.org/officeDocument/2006/relationships/slide" Target="slides/slide10.xml"/><Relationship Id="rId7" Type="http://schemas.openxmlformats.org/officeDocument/2006/relationships/slide" Target="slides/slide15.xml"/><Relationship Id="rId2" Type="http://schemas.openxmlformats.org/officeDocument/2006/relationships/slide" Target="slides/slide9.xml"/><Relationship Id="rId1" Type="http://schemas.openxmlformats.org/officeDocument/2006/relationships/slide" Target="slides/slide8.xml"/><Relationship Id="rId6" Type="http://schemas.openxmlformats.org/officeDocument/2006/relationships/slide" Target="slides/slide13.xml"/><Relationship Id="rId5" Type="http://schemas.openxmlformats.org/officeDocument/2006/relationships/slide" Target="slides/slide12.xml"/><Relationship Id="rId4" Type="http://schemas.openxmlformats.org/officeDocument/2006/relationships/slide" Target="slides/slide11.xml"/><Relationship Id="rId9"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7" tIns="46584" rIns="93167" bIns="46584"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67" tIns="46584" rIns="93167" bIns="46584" rtlCol="0"/>
          <a:lstStyle>
            <a:lvl1pPr algn="r">
              <a:defRPr sz="1200"/>
            </a:lvl1pPr>
          </a:lstStyle>
          <a:p>
            <a:fld id="{F87AF23C-6CAB-4A6A-B3BC-A88F610E0570}" type="datetimeFigureOut">
              <a:rPr lang="en-US" smtClean="0"/>
              <a:t>10/13/2025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7" tIns="46584" rIns="93167" bIns="46584"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7" tIns="46584" rIns="93167" bIns="46584" rtlCol="0"/>
          <a:lstStyle/>
          <a:p>
            <a:pPr lvl="0"/>
            <a:r>
              <a:rPr lang="en-US"/>
              <a:t>点击编辑主文本样式</a:t>
            </a:r>
          </a:p>
          <a:p>
            <a:pPr lvl="1"/>
            <a:r>
              <a:rPr lang="en-US"/>
              <a:t>二级</a:t>
            </a:r>
          </a:p>
          <a:p>
            <a:pPr lvl="2"/>
            <a:r>
              <a:rPr lang="en-US"/>
              <a:t>第三级</a:t>
            </a:r>
          </a:p>
          <a:p>
            <a:pPr lvl="3"/>
            <a:r>
              <a:rPr lang="en-US"/>
              <a:t>第四级</a:t>
            </a:r>
          </a:p>
          <a:p>
            <a:pPr lvl="4"/>
            <a:r>
              <a:rPr lang="en-US"/>
              <a:t>第五级</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3167" tIns="46584" rIns="93167" bIns="4658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3167" tIns="46584" rIns="93167" bIns="4658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t>1</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dirty="0"/>
          </a:p>
        </p:txBody>
      </p:sp>
    </p:spTree>
    <p:extLst>
      <p:ext uri="{BB962C8B-B14F-4D97-AF65-F5344CB8AC3E}">
        <p14:creationId xmlns:p14="http://schemas.microsoft.com/office/powerpoint/2010/main" val="3784570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0EA108-B661-449A-8B49-8ED13120A001}" type="slidenum">
              <a:rPr lang="en-US" altLang="en-US"/>
              <a:t>2</a:t>
            </a:fld>
            <a:endParaRPr lang="en-US" altLang="en-US"/>
          </a:p>
        </p:txBody>
      </p:sp>
    </p:spTree>
    <p:extLst>
      <p:ext uri="{BB962C8B-B14F-4D97-AF65-F5344CB8AC3E}">
        <p14:creationId xmlns:p14="http://schemas.microsoft.com/office/powerpoint/2010/main" val="2685854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E1E230E-4AD5-40B1-BE3E-2B62A0E13469}" type="slidenum">
              <a:rPr lang="en-US" altLang="en-US"/>
              <a:t>3</a:t>
            </a:fld>
            <a:endParaRPr lang="en-US" altLang="en-US"/>
          </a:p>
        </p:txBody>
      </p:sp>
    </p:spTree>
    <p:extLst>
      <p:ext uri="{BB962C8B-B14F-4D97-AF65-F5344CB8AC3E}">
        <p14:creationId xmlns:p14="http://schemas.microsoft.com/office/powerpoint/2010/main" val="601139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D4C30E-8644-4685-AE37-561BF0C21D59}" type="slidenum">
              <a:rPr lang="en-US" altLang="en-US"/>
              <a:t>4</a:t>
            </a:fld>
            <a:endParaRPr lang="en-US" altLang="en-US"/>
          </a:p>
        </p:txBody>
      </p:sp>
      <p:sp>
        <p:nvSpPr>
          <p:cNvPr id="82947" name="Rectangle 2"/>
          <p:cNvSpPr>
            <a:spLocks noGrp="1" noRot="1" noChangeAspect="1" noChangeArrowheads="1" noTextEdit="1"/>
          </p:cNvSpPr>
          <p:nvPr>
            <p:ph type="sldImg"/>
          </p:nvPr>
        </p:nvSpPr>
        <p:spPr>
          <a:xfrm>
            <a:off x="346075" y="698500"/>
            <a:ext cx="6192838" cy="3484563"/>
          </a:xfrm>
          <a:ln/>
        </p:spPr>
      </p:sp>
      <p:sp>
        <p:nvSpPr>
          <p:cNvPr id="82948"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100135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E515979-15B8-40FE-999C-378DAE3E647C}" type="slidenum">
              <a:rPr lang="en-US" altLang="en-US"/>
              <a:t>5</a:t>
            </a:fld>
            <a:endParaRPr lang="en-US" altLang="en-US"/>
          </a:p>
        </p:txBody>
      </p:sp>
      <p:sp>
        <p:nvSpPr>
          <p:cNvPr id="83971" name="Rectangle 2"/>
          <p:cNvSpPr>
            <a:spLocks noGrp="1" noRot="1" noChangeAspect="1" noChangeArrowheads="1" noTextEdit="1"/>
          </p:cNvSpPr>
          <p:nvPr>
            <p:ph type="sldImg"/>
          </p:nvPr>
        </p:nvSpPr>
        <p:spPr>
          <a:xfrm>
            <a:off x="346075" y="698500"/>
            <a:ext cx="6192838" cy="3484563"/>
          </a:xfrm>
          <a:ln/>
        </p:spPr>
      </p:sp>
      <p:sp>
        <p:nvSpPr>
          <p:cNvPr id="83972"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307774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45DDDA9-5F3C-4F15-8095-45AACD1E7848}" type="slidenum">
              <a:rPr lang="en-US" altLang="en-US"/>
              <a:t>6</a:t>
            </a:fld>
            <a:endParaRPr lang="en-US" altLang="en-US"/>
          </a:p>
        </p:txBody>
      </p:sp>
      <p:sp>
        <p:nvSpPr>
          <p:cNvPr id="84995" name="Rectangle 2"/>
          <p:cNvSpPr>
            <a:spLocks noGrp="1" noRot="1" noChangeAspect="1" noChangeArrowheads="1" noTextEdit="1"/>
          </p:cNvSpPr>
          <p:nvPr>
            <p:ph type="sldImg"/>
          </p:nvPr>
        </p:nvSpPr>
        <p:spPr>
          <a:xfrm>
            <a:off x="346075" y="698500"/>
            <a:ext cx="6192838" cy="3484563"/>
          </a:xfrm>
          <a:ln/>
        </p:spPr>
      </p:sp>
      <p:sp>
        <p:nvSpPr>
          <p:cNvPr id="84996"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024516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t>7</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3841110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2661ED2-B1EC-46F8-953E-02CB7FE315D6}" type="slidenum">
              <a:rPr lang="en-US" altLang="en-US"/>
              <a:t>8</a:t>
            </a:fld>
            <a:endParaRPr lang="en-US" altLang="en-US"/>
          </a:p>
        </p:txBody>
      </p:sp>
      <p:sp>
        <p:nvSpPr>
          <p:cNvPr id="87043" name="Rectangle 2"/>
          <p:cNvSpPr>
            <a:spLocks noGrp="1" noRot="1" noChangeAspect="1" noChangeArrowheads="1" noTextEdit="1"/>
          </p:cNvSpPr>
          <p:nvPr>
            <p:ph type="sldImg"/>
          </p:nvPr>
        </p:nvSpPr>
        <p:spPr>
          <a:xfrm>
            <a:off x="293688" y="677863"/>
            <a:ext cx="6294437" cy="3541712"/>
          </a:xfrm>
          <a:ln/>
        </p:spPr>
      </p:sp>
      <p:sp>
        <p:nvSpPr>
          <p:cNvPr id="87044"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r>
              <a:rPr lang="en-US" altLang="en-US"/>
              <a:t>备忘录（MK）：本页最后一部分与后续幻灯片内容不完全一致</a:t>
            </a:r>
          </a:p>
          <a:p>
            <a:r>
              <a:rPr lang="en-US" altLang="en-US"/>
              <a:t>介绍幻灯片： </a:t>
            </a:r>
          </a:p>
          <a:p>
            <a:r>
              <a:rPr lang="en-US" altLang="en-US"/>
              <a:t>在当前版本中，我们仅讨论数值数据。是否可以添加一些关于非数值数据的材料。</a:t>
            </a:r>
          </a:p>
          <a:p>
            <a:endParaRPr lang="en-US" altLang="en-US"/>
          </a:p>
          <a:p>
            <a:r>
              <a:rPr lang="en-US" altLang="en-US"/>
              <a:t>   - 文本统计，TF/IDF</a:t>
            </a:r>
          </a:p>
          <a:p>
            <a:r>
              <a:rPr lang="en-US" altLang="en-US"/>
              <a:t>   - 文本统计的可视化，如词云</a:t>
            </a:r>
          </a:p>
          <a:p>
            <a:r>
              <a:rPr lang="en-US" altLang="en-US"/>
              <a:t>   - 互联网分布（IN、SCC、OUT 等）</a:t>
            </a:r>
          </a:p>
          <a:p>
            <a:r>
              <a:rPr lang="en-US" altLang="en-US"/>
              <a:t>   - 社交关系可视化（例如：http://renlifang.msra.cn/）</a:t>
            </a:r>
          </a:p>
        </p:txBody>
      </p:sp>
    </p:spTree>
    <p:extLst>
      <p:ext uri="{BB962C8B-B14F-4D97-AF65-F5344CB8AC3E}">
        <p14:creationId xmlns:p14="http://schemas.microsoft.com/office/powerpoint/2010/main" val="357013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t>9</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414208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t>10</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dirty="0"/>
          </a:p>
        </p:txBody>
      </p:sp>
    </p:spTree>
    <p:extLst>
      <p:ext uri="{BB962C8B-B14F-4D97-AF65-F5344CB8AC3E}">
        <p14:creationId xmlns:p14="http://schemas.microsoft.com/office/powerpoint/2010/main" val="2079883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t>11</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dirty="0"/>
          </a:p>
        </p:txBody>
      </p:sp>
    </p:spTree>
    <p:extLst>
      <p:ext uri="{BB962C8B-B14F-4D97-AF65-F5344CB8AC3E}">
        <p14:creationId xmlns:p14="http://schemas.microsoft.com/office/powerpoint/2010/main" val="2767770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t>12</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20187685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t>13</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35828932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92074F7-FA56-40C6-8B2F-46DCAFDDCD7E}" type="slidenum">
              <a:rPr lang="en-US" altLang="en-US"/>
              <a:t>14</a:t>
            </a:fld>
            <a:endParaRPr lang="en-US" alt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09041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F6A872-0A59-46E4-B192-72E475259C41}" type="slidenum">
              <a:rPr lang="en-US" altLang="en-US"/>
              <a:t>15</a:t>
            </a:fld>
            <a:endParaRPr lang="en-US" altLang="en-US"/>
          </a:p>
        </p:txBody>
      </p:sp>
      <p:sp>
        <p:nvSpPr>
          <p:cNvPr id="90115" name="Rectangle 2"/>
          <p:cNvSpPr>
            <a:spLocks noGrp="1" noRot="1" noChangeAspect="1" noChangeArrowheads="1" noTextEdit="1"/>
          </p:cNvSpPr>
          <p:nvPr>
            <p:ph type="sldImg"/>
          </p:nvPr>
        </p:nvSpPr>
        <p:spPr>
          <a:xfrm>
            <a:off x="293688" y="677863"/>
            <a:ext cx="6294437" cy="3541712"/>
          </a:xfrm>
          <a:ln/>
        </p:spPr>
      </p:sp>
      <p:sp>
        <p:nvSpPr>
          <p:cNvPr id="90116"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8175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611085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612563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46147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63116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06739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21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068365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22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5121799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24</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829877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25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785153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26</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84933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27</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协方差矩阵讲一下-&gt;ppt进行一下补充</a:t>
            </a:r>
          </a:p>
        </p:txBody>
      </p:sp>
    </p:spTree>
    <p:extLst>
      <p:ext uri="{BB962C8B-B14F-4D97-AF65-F5344CB8AC3E}">
        <p14:creationId xmlns:p14="http://schemas.microsoft.com/office/powerpoint/2010/main" val="25817827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F9F399F-A00E-42D3-9E81-8DE628E50397}" type="slidenum">
              <a:rPr lang="en-US" altLang="en-US"/>
              <a:t>28</a:t>
            </a:fld>
            <a:endParaRPr lang="en-US" altLang="en-US"/>
          </a:p>
        </p:txBody>
      </p:sp>
      <p:sp>
        <p:nvSpPr>
          <p:cNvPr id="94211" name="Rectangle 2"/>
          <p:cNvSpPr>
            <a:spLocks noGrp="1" noRot="1" noChangeAspect="1" noChangeArrowheads="1" noTextEdit="1"/>
          </p:cNvSpPr>
          <p:nvPr>
            <p:ph type="sldImg"/>
          </p:nvPr>
        </p:nvSpPr>
        <p:spPr>
          <a:xfrm>
            <a:off x="293688" y="677863"/>
            <a:ext cx="6294437" cy="3541712"/>
          </a:xfrm>
          <a:ln/>
        </p:spPr>
      </p:sp>
      <p:sp>
        <p:nvSpPr>
          <p:cNvPr id="94212"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r>
              <a:rPr lang="en-US" altLang="en-US"/>
              <a:t>JH：也许我们可以移除黄土曲线</a:t>
            </a:r>
          </a:p>
        </p:txBody>
      </p:sp>
    </p:spTree>
    <p:extLst>
      <p:ext uri="{BB962C8B-B14F-4D97-AF65-F5344CB8AC3E}">
        <p14:creationId xmlns:p14="http://schemas.microsoft.com/office/powerpoint/2010/main" val="42062347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F6A872-0A59-46E4-B192-72E475259C41}" type="slidenum">
              <a:rPr lang="en-US" altLang="en-US"/>
              <a:t>29</a:t>
            </a:fld>
            <a:endParaRPr lang="en-US" altLang="en-US"/>
          </a:p>
        </p:txBody>
      </p:sp>
      <p:sp>
        <p:nvSpPr>
          <p:cNvPr id="90115" name="Rectangle 2"/>
          <p:cNvSpPr>
            <a:spLocks noGrp="1" noRot="1" noChangeAspect="1" noChangeArrowheads="1" noTextEdit="1"/>
          </p:cNvSpPr>
          <p:nvPr>
            <p:ph type="sldImg"/>
          </p:nvPr>
        </p:nvSpPr>
        <p:spPr>
          <a:xfrm>
            <a:off x="293688" y="677863"/>
            <a:ext cx="6294437" cy="3541712"/>
          </a:xfrm>
          <a:ln/>
        </p:spPr>
      </p:sp>
      <p:sp>
        <p:nvSpPr>
          <p:cNvPr id="90116"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18393891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231EBFC-A0A4-4E21-B20C-3F4FB1C9CC5D}" type="slidenum">
              <a:rPr lang="en-US" altLang="en-US"/>
              <a:t>30</a:t>
            </a:fld>
            <a:endParaRPr lang="en-US" alt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JH：一个更好且基本的直方图图示——因为这个图与后面的一个图重叠了！</a:t>
            </a:r>
          </a:p>
        </p:txBody>
      </p:sp>
    </p:spTree>
    <p:extLst>
      <p:ext uri="{BB962C8B-B14F-4D97-AF65-F5344CB8AC3E}">
        <p14:creationId xmlns:p14="http://schemas.microsoft.com/office/powerpoint/2010/main" val="20696377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AA24AE-7CD5-425A-9425-01AFA6CA3CB2}" type="slidenum">
              <a:rPr lang="en-US" altLang="en-US"/>
              <a:t>31</a:t>
            </a:fld>
            <a:endParaRPr lang="en-US" alt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547750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EB2C53D-2200-45E9-8A2B-978D074B6EFD}" type="slidenum">
              <a:rPr lang="en-US" altLang="en-US"/>
              <a:t>32</a:t>
            </a:fld>
            <a:endParaRPr lang="en-US" alt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839517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BE46D1-EE33-4313-AB35-0C02F19132C6}" type="slidenum">
              <a:rPr lang="en-US" altLang="en-US"/>
              <a:t>33</a:t>
            </a:fld>
            <a:endParaRPr lang="en-US"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7769755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8C8C8CE-F8D8-4175-AD77-519B7DCB72E6}" type="slidenum">
              <a:rPr lang="en-US" altLang="en-US"/>
              <a:t>34</a:t>
            </a:fld>
            <a:endParaRPr lang="en-US" alt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需要一个更好、更具意义的散点图！ -JH</a:t>
            </a:r>
          </a:p>
        </p:txBody>
      </p:sp>
    </p:spTree>
    <p:extLst>
      <p:ext uri="{BB962C8B-B14F-4D97-AF65-F5344CB8AC3E}">
        <p14:creationId xmlns:p14="http://schemas.microsoft.com/office/powerpoint/2010/main" val="15372704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215AC35-66F9-4340-A1A6-70CB99440241}" type="slidenum">
              <a:rPr lang="en-US" altLang="en-US"/>
              <a:t>35</a:t>
            </a:fld>
            <a:endParaRPr lang="en-US" alt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4622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118F472-7076-4759-839C-B96341DDE640}" type="slidenum">
              <a:rPr lang="en-US" altLang="en-US"/>
              <a:t>36</a:t>
            </a:fld>
            <a:endParaRPr lang="en-US" alt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73626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t>37</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1450949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38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243340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39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3065983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A4C53A-154B-483F-BB63-C5B68814D43F}" type="slidenum">
              <a:rPr lang="en-US" altLang="en-US">
                <a:solidFill>
                  <a:srgbClr val="000000"/>
                </a:solidFill>
              </a:rPr>
              <a:t>40</a:t>
            </a:fld>
            <a:endParaRPr lang="en-US" altLang="en-US">
              <a:solidFill>
                <a:srgbClr val="000000"/>
              </a:solidFill>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584592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5EDAD38-CF67-46E9-8730-3F6A9ACE7D31}" type="slidenum">
              <a:rPr lang="en-US" altLang="en-US">
                <a:solidFill>
                  <a:srgbClr val="000000"/>
                </a:solidFill>
              </a:rPr>
              <a:t>41</a:t>
            </a:fld>
            <a:endParaRPr lang="en-US" altLang="en-US">
              <a:solidFill>
                <a:srgbClr val="000000"/>
              </a:solidFill>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 </a:t>
            </a:r>
          </a:p>
          <a:p>
            <a:endParaRPr lang="en-US" altLang="en-US"/>
          </a:p>
        </p:txBody>
      </p:sp>
    </p:spTree>
    <p:extLst>
      <p:ext uri="{BB962C8B-B14F-4D97-AF65-F5344CB8AC3E}">
        <p14:creationId xmlns:p14="http://schemas.microsoft.com/office/powerpoint/2010/main" val="25371546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5E966D-9331-4C9C-A98B-BCFBB5DDC2FD}" type="slidenum">
              <a:rPr lang="en-US" altLang="en-US">
                <a:solidFill>
                  <a:srgbClr val="000000"/>
                </a:solidFill>
              </a:rPr>
              <a:t>42</a:t>
            </a:fld>
            <a:endParaRPr lang="en-US" altLang="en-US">
              <a:solidFill>
                <a:srgbClr val="000000"/>
              </a:solidFill>
            </a:endParaRPr>
          </a:p>
        </p:txBody>
      </p:sp>
      <p:sp>
        <p:nvSpPr>
          <p:cNvPr id="134147" name="Rectangle 2"/>
          <p:cNvSpPr>
            <a:spLocks noGrp="1" noRot="1" noChangeAspect="1" noChangeArrowheads="1" noTextEdit="1"/>
          </p:cNvSpPr>
          <p:nvPr>
            <p:ph type="sldImg"/>
          </p:nvPr>
        </p:nvSpPr>
        <p:spPr>
          <a:xfrm>
            <a:off x="357188" y="704850"/>
            <a:ext cx="6172200" cy="3471863"/>
          </a:xfrm>
          <a:ln/>
        </p:spPr>
      </p:sp>
      <p:sp>
        <p:nvSpPr>
          <p:cNvPr id="134148"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950427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43</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805449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44</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7221504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45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5374697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46</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2961796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47</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115661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48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362003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49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0781692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50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099203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t>51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587778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11070-0741-4A7D-8E8E-470CB8CB6D01}" type="slidenum">
              <a:rPr lang="en-US" altLang="en-US"/>
              <a:t>52</a:t>
            </a:fld>
            <a:endParaRPr lang="en-US" alt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9481249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11070-0741-4A7D-8E8E-470CB8CB6D01}" type="slidenum">
              <a:rPr lang="en-US" altLang="en-US"/>
              <a:t>53</a:t>
            </a:fld>
            <a:endParaRPr lang="en-US" alt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580252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D040A6C-D23A-42F9-B45F-6450789BDFF1}" type="slidenum">
              <a:rPr lang="en-US" altLang="en-US"/>
              <a:t>54</a:t>
            </a:fld>
            <a:endParaRPr lang="en-US" altLang="en-US"/>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需要平滑的场景</a:t>
            </a:r>
            <a:r>
              <a:rPr lang="zh-CN" altLang="en-US"/>
              <a:t>：自然语言处理，分类模型，推荐系统等</a:t>
            </a:r>
            <a:endParaRPr lang="en-US" altLang="en-US"/>
          </a:p>
        </p:txBody>
      </p:sp>
    </p:spTree>
    <p:extLst>
      <p:ext uri="{BB962C8B-B14F-4D97-AF65-F5344CB8AC3E}">
        <p14:creationId xmlns:p14="http://schemas.microsoft.com/office/powerpoint/2010/main" val="23040392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t>55</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5382570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t>56</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10352453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FF34A50-07D1-44CB-9408-0E782FD706D3}" type="slidenum">
              <a:rPr lang="en-US" altLang="en-US" sz="1200">
                <a:latin typeface="Times New Roman" panose="02020603050405020304" pitchFamily="18" charset="0"/>
              </a:rPr>
              <a:t>57</a:t>
            </a:fld>
            <a:endParaRPr lang="en-US" altLang="en-US" sz="12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xfrm>
            <a:off x="342900" y="696913"/>
            <a:ext cx="6197600" cy="3486150"/>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861767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6B3D275-F0AF-46F8-A705-99F19946D77F}" type="slidenum">
              <a:rPr lang="en-US" altLang="en-US" sz="1200">
                <a:latin typeface="Times New Roman" panose="02020603050405020304" pitchFamily="18" charset="0"/>
              </a:rPr>
              <a:t>58</a:t>
            </a:fld>
            <a:endParaRPr lang="en-US" altLang="en-US" sz="12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xfrm>
            <a:off x="342900" y="696913"/>
            <a:ext cx="6197600" cy="3486150"/>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488" tIns="46744" rIns="93488" bIns="46744"/>
          <a:lstStyle/>
          <a:p>
            <a:endParaRPr lang="en-US" altLang="en-US"/>
          </a:p>
        </p:txBody>
      </p:sp>
    </p:spTree>
    <p:extLst>
      <p:ext uri="{BB962C8B-B14F-4D97-AF65-F5344CB8AC3E}">
        <p14:creationId xmlns:p14="http://schemas.microsoft.com/office/powerpoint/2010/main" val="18049905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DA31005-A9AE-427D-A1E6-B4F95CC9350D}" type="slidenum">
              <a:rPr lang="en-US" altLang="en-US" sz="1200">
                <a:latin typeface="Times New Roman" panose="02020603050405020304" pitchFamily="18" charset="0"/>
              </a:rPr>
              <a:t>59</a:t>
            </a:fld>
            <a:endParaRPr lang="en-US" altLang="en-US" sz="12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xfrm>
            <a:off x="342900" y="696913"/>
            <a:ext cx="6197600" cy="3486150"/>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767761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B941015-BDD8-4043-9B19-260F64EC13CE}" type="slidenum">
              <a:rPr lang="en-US" altLang="en-US" sz="1200">
                <a:latin typeface="Times New Roman" panose="02020603050405020304" pitchFamily="18" charset="0"/>
              </a:rPr>
              <a:t>60</a:t>
            </a:fld>
            <a:endParaRPr lang="en-US" altLang="en-US" sz="12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xfrm>
            <a:off x="342900" y="696913"/>
            <a:ext cx="6197600" cy="3486150"/>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233405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66C23B9-057C-4049-84C5-5DF26CBD538D}" type="slidenum">
              <a:rPr lang="en-US" altLang="en-US" sz="1200">
                <a:latin typeface="Times New Roman" panose="02020603050405020304" pitchFamily="18" charset="0"/>
              </a:rPr>
              <a:t>61</a:t>
            </a:fld>
            <a:endParaRPr lang="en-US" altLang="en-US" sz="12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xfrm>
            <a:off x="342900" y="696913"/>
            <a:ext cx="6197600" cy="3486150"/>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931784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E7C151C-7188-4BCA-B5D8-23923E3151E0}" type="slidenum">
              <a:rPr lang="en-US" altLang="en-US" sz="1200">
                <a:latin typeface="Times New Roman" panose="02020603050405020304" pitchFamily="18" charset="0"/>
              </a:rPr>
              <a:t>62</a:t>
            </a:fld>
            <a:endParaRPr lang="en-US" altLang="en-US" sz="12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342900" y="696913"/>
            <a:ext cx="6197600" cy="3486150"/>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6490932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4158AEE2-013A-46CE-A419-A848A549FFD3}" type="slidenum">
              <a:rPr lang="en-US" altLang="en-US" sz="1200">
                <a:latin typeface="Times New Roman" panose="02020603050405020304" pitchFamily="18" charset="0"/>
              </a:rPr>
              <a:t>63</a:t>
            </a:fld>
            <a:endParaRPr lang="en-US" altLang="en-US" sz="1200">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xfrm>
            <a:off x="342900" y="696913"/>
            <a:ext cx="6197600" cy="3486150"/>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通过数据集成研究实现数据价值提升！！</a:t>
            </a:r>
          </a:p>
        </p:txBody>
      </p:sp>
    </p:spTree>
    <p:extLst>
      <p:ext uri="{BB962C8B-B14F-4D97-AF65-F5344CB8AC3E}">
        <p14:creationId xmlns:p14="http://schemas.microsoft.com/office/powerpoint/2010/main" val="17300098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EE89F8B-EDEE-4D25-A041-4B0E285AF6C9}" type="slidenum">
              <a:rPr lang="en-US" altLang="en-US" sz="1200">
                <a:latin typeface="Times New Roman" panose="02020603050405020304" pitchFamily="18" charset="0"/>
              </a:rPr>
              <a:t>64</a:t>
            </a:fld>
            <a:endParaRPr lang="en-US" altLang="en-US" sz="1200">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xfrm>
            <a:off x="342900" y="696913"/>
            <a:ext cx="6197600" cy="3486150"/>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796159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0A8D45C1-9A88-4173-B064-7E0C68F13B83}" type="slidenum">
              <a:rPr lang="en-US" altLang="en-US" sz="1200">
                <a:latin typeface="Times New Roman" panose="02020603050405020304" pitchFamily="18" charset="0"/>
              </a:rPr>
              <a:t>65</a:t>
            </a:fld>
            <a:endParaRPr lang="en-US" altLang="en-US" sz="120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xfrm>
            <a:off x="342900" y="696913"/>
            <a:ext cx="6197600" cy="3486150"/>
          </a:xfrm>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应要求学生进行一些数据集成方面的调查。  -JH</a:t>
            </a:r>
          </a:p>
        </p:txBody>
      </p:sp>
    </p:spTree>
    <p:extLst>
      <p:ext uri="{BB962C8B-B14F-4D97-AF65-F5344CB8AC3E}">
        <p14:creationId xmlns:p14="http://schemas.microsoft.com/office/powerpoint/2010/main" val="205214791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45C277-89BB-477A-B926-4AE44C60DD2C}" type="slidenum">
              <a:rPr lang="en-US" altLang="en-US" sz="1200">
                <a:latin typeface="Times New Roman" panose="02020603050405020304" pitchFamily="18" charset="0"/>
              </a:rPr>
              <a:t>66</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342900" y="696913"/>
            <a:ext cx="6197600" cy="348615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4866221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45C277-89BB-477A-B926-4AE44C60DD2C}" type="slidenum">
              <a:rPr lang="en-US" altLang="en-US" sz="1200">
                <a:latin typeface="Times New Roman" panose="02020603050405020304" pitchFamily="18" charset="0"/>
              </a:rPr>
              <a:t>67</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342900" y="696913"/>
            <a:ext cx="6197600" cy="348615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598134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t>68</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200547990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F9A72662-B96E-40C8-BA77-46944AB9FC12}" type="slidenum">
              <a:rPr lang="en-US" altLang="en-US" sz="1200">
                <a:latin typeface="Times New Roman" panose="02020603050405020304" pitchFamily="18" charset="0"/>
              </a:rPr>
              <a:t>69</a:t>
            </a:fld>
            <a:endParaRPr lang="en-US" altLang="en-US" sz="1200">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a:xfrm>
            <a:off x="342900" y="696913"/>
            <a:ext cx="6197600" cy="3486150"/>
          </a:xfrm>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155470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3A204DE-0BD7-4C9B-BCF1-CFEBAB2759A6}" type="slidenum">
              <a:rPr lang="en-US" altLang="en-US" sz="1200">
                <a:latin typeface="Times New Roman" panose="02020603050405020304" pitchFamily="18" charset="0"/>
              </a:rPr>
              <a:t>70</a:t>
            </a:fld>
            <a:endParaRPr lang="en-US" altLang="en-US" sz="120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a:xfrm>
            <a:off x="342900" y="696913"/>
            <a:ext cx="6197600" cy="3486150"/>
          </a:xfrm>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2580105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472F7D5-3156-4DEE-9803-408508CA57DF}" type="slidenum">
              <a:rPr lang="en-US" altLang="en-US" sz="1200">
                <a:latin typeface="Times New Roman" panose="02020603050405020304" pitchFamily="18" charset="0"/>
              </a:rPr>
              <a:t>71</a:t>
            </a:fld>
            <a:endParaRPr lang="en-US" altLang="en-US" sz="1200">
              <a:latin typeface="Times New Roman" panose="02020603050405020304" pitchFamily="18" charset="0"/>
            </a:endParaRPr>
          </a:p>
        </p:txBody>
      </p:sp>
      <p:sp>
        <p:nvSpPr>
          <p:cNvPr id="123907" name="Rectangle 2"/>
          <p:cNvSpPr>
            <a:spLocks noGrp="1" noRot="1" noChangeAspect="1" noChangeArrowheads="1" noTextEdit="1"/>
          </p:cNvSpPr>
          <p:nvPr>
            <p:ph type="sldImg"/>
          </p:nvPr>
        </p:nvSpPr>
        <p:spPr>
          <a:xfrm>
            <a:off x="342900" y="696913"/>
            <a:ext cx="6197600" cy="3486150"/>
          </a:xfrm>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08.09.12 MK：将此幻灯片从第3章移动至此处。新增示例。</a:t>
            </a:r>
          </a:p>
        </p:txBody>
      </p:sp>
    </p:spTree>
    <p:extLst>
      <p:ext uri="{BB962C8B-B14F-4D97-AF65-F5344CB8AC3E}">
        <p14:creationId xmlns:p14="http://schemas.microsoft.com/office/powerpoint/2010/main" val="14081480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D2C52C3-3FB7-4848-AD78-3F75AF48CFF3}" type="slidenum">
              <a:rPr lang="en-US" altLang="en-US" sz="1200">
                <a:latin typeface="Times New Roman" panose="02020603050405020304" pitchFamily="18" charset="0"/>
              </a:rPr>
              <a:t>72</a:t>
            </a:fld>
            <a:endParaRPr lang="en-US" altLang="en-US" sz="1200">
              <a:latin typeface="Times New Roman" panose="02020603050405020304" pitchFamily="18" charset="0"/>
            </a:endParaRPr>
          </a:p>
        </p:txBody>
      </p:sp>
      <p:sp>
        <p:nvSpPr>
          <p:cNvPr id="124931" name="Rectangle 2"/>
          <p:cNvSpPr>
            <a:spLocks noGrp="1" noRot="1" noChangeAspect="1" noChangeArrowheads="1" noTextEdit="1"/>
          </p:cNvSpPr>
          <p:nvPr>
            <p:ph type="sldImg"/>
          </p:nvPr>
        </p:nvSpPr>
        <p:spPr>
          <a:xfrm>
            <a:off x="342900" y="696913"/>
            <a:ext cx="6197600" cy="3486150"/>
          </a:xfrm>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646589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06BDC1-E7B3-43D1-A50D-C3FED9372CD4}" type="slidenum">
              <a:rPr lang="en-US" altLang="en-US" sz="1200">
                <a:latin typeface="Times New Roman" panose="02020603050405020304" pitchFamily="18" charset="0"/>
              </a:rPr>
              <a:t>73</a:t>
            </a:fld>
            <a:endParaRPr lang="en-US" altLang="en-US" sz="120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a:xfrm>
            <a:off x="342900" y="696913"/>
            <a:ext cx="6197600" cy="3486150"/>
          </a:xfrm>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25169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05B14DB-3742-4234-9CBF-2A141DDB3692}" type="slidenum">
              <a:rPr lang="en-US" altLang="en-US" sz="1200">
                <a:latin typeface="Times New Roman" panose="02020603050405020304" pitchFamily="18" charset="0"/>
              </a:rPr>
              <a:t>74</a:t>
            </a:fld>
            <a:endParaRPr lang="en-US" altLang="en-US" sz="1200">
              <a:latin typeface="Times New Roman" panose="02020603050405020304" pitchFamily="18" charset="0"/>
            </a:endParaRPr>
          </a:p>
        </p:txBody>
      </p:sp>
      <p:sp>
        <p:nvSpPr>
          <p:cNvPr id="126979" name="Rectangle 2"/>
          <p:cNvSpPr>
            <a:spLocks noGrp="1" noRot="1" noChangeAspect="1" noChangeArrowheads="1" noTextEdit="1"/>
          </p:cNvSpPr>
          <p:nvPr>
            <p:ph type="sldImg"/>
          </p:nvPr>
        </p:nvSpPr>
        <p:spPr>
          <a:xfrm>
            <a:off x="342900" y="696913"/>
            <a:ext cx="6197600" cy="3486150"/>
          </a:xfrm>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285003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860B9C05-8700-4EBB-B47E-AE5092D0A509}" type="slidenum">
              <a:rPr lang="en-US" altLang="en-US" sz="1200">
                <a:latin typeface="Times New Roman" panose="02020603050405020304" pitchFamily="18" charset="0"/>
              </a:rPr>
              <a:t>75</a:t>
            </a:fld>
            <a:endParaRPr lang="en-US" altLang="en-US" sz="1200">
              <a:latin typeface="Times New Roman" panose="02020603050405020304" pitchFamily="18" charset="0"/>
            </a:endParaRPr>
          </a:p>
        </p:txBody>
      </p:sp>
      <p:sp>
        <p:nvSpPr>
          <p:cNvPr id="128003" name="Rectangle 2"/>
          <p:cNvSpPr>
            <a:spLocks noGrp="1" noRot="1" noChangeAspect="1" noChangeArrowheads="1" noTextEdit="1"/>
          </p:cNvSpPr>
          <p:nvPr>
            <p:ph type="sldImg"/>
          </p:nvPr>
        </p:nvSpPr>
        <p:spPr>
          <a:xfrm>
            <a:off x="346075" y="698500"/>
            <a:ext cx="6192838" cy="3484563"/>
          </a:xfrm>
          <a:ln/>
        </p:spPr>
      </p:sp>
      <p:sp>
        <p:nvSpPr>
          <p:cNvPr id="128004"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50415548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C7633C9F-BA5D-4E89-B22E-9D46BEEF47F4}" type="slidenum">
              <a:rPr lang="en-US" altLang="en-US" sz="1200">
                <a:latin typeface="Times New Roman" panose="02020603050405020304" pitchFamily="18" charset="0"/>
              </a:rPr>
              <a:t>76</a:t>
            </a:fld>
            <a:endParaRPr lang="en-US" altLang="en-US" sz="1200">
              <a:latin typeface="Times New Roman" panose="02020603050405020304" pitchFamily="18" charset="0"/>
            </a:endParaRPr>
          </a:p>
        </p:txBody>
      </p:sp>
      <p:sp>
        <p:nvSpPr>
          <p:cNvPr id="129027" name="Rectangle 2"/>
          <p:cNvSpPr>
            <a:spLocks noGrp="1" noRot="1" noChangeAspect="1" noChangeArrowheads="1" noTextEdit="1"/>
          </p:cNvSpPr>
          <p:nvPr>
            <p:ph type="sldImg"/>
          </p:nvPr>
        </p:nvSpPr>
        <p:spPr>
          <a:xfrm>
            <a:off x="346075" y="698500"/>
            <a:ext cx="6192838" cy="3484563"/>
          </a:xfrm>
          <a:ln/>
        </p:spPr>
      </p:sp>
      <p:sp>
        <p:nvSpPr>
          <p:cNvPr id="129028"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55635472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A53B6EF-B6B4-4EB0-B483-F277FA5CD05D}" type="slidenum">
              <a:rPr lang="en-US" altLang="en-US" sz="1200">
                <a:latin typeface="Times New Roman" panose="02020603050405020304" pitchFamily="18" charset="0"/>
              </a:rPr>
              <a:t>77</a:t>
            </a:fld>
            <a:endParaRPr lang="en-US" altLang="en-US" sz="1200">
              <a:latin typeface="Times New Roman" panose="02020603050405020304" pitchFamily="18" charset="0"/>
            </a:endParaRPr>
          </a:p>
        </p:txBody>
      </p:sp>
      <p:sp>
        <p:nvSpPr>
          <p:cNvPr id="130051" name="Rectangle 2"/>
          <p:cNvSpPr>
            <a:spLocks noGrp="1" noRot="1" noChangeAspect="1" noChangeArrowheads="1" noTextEdit="1"/>
          </p:cNvSpPr>
          <p:nvPr>
            <p:ph type="sldImg"/>
          </p:nvPr>
        </p:nvSpPr>
        <p:spPr>
          <a:xfrm>
            <a:off x="342900" y="696913"/>
            <a:ext cx="6197600" cy="3486150"/>
          </a:xfrm>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9967903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44612-F3C7-46CA-844C-31F101627286}" type="slidenum">
              <a:rPr lang="en-US" altLang="en-US" sz="1200">
                <a:latin typeface="Times New Roman" panose="02020603050405020304" pitchFamily="18" charset="0"/>
              </a:rPr>
              <a:t>78</a:t>
            </a:fld>
            <a:endParaRPr lang="en-US" altLang="en-US" sz="1200">
              <a:latin typeface="Times New Roman" panose="02020603050405020304" pitchFamily="18" charset="0"/>
            </a:endParaRPr>
          </a:p>
        </p:txBody>
      </p:sp>
      <p:sp>
        <p:nvSpPr>
          <p:cNvPr id="131075" name="Rectangle 2"/>
          <p:cNvSpPr>
            <a:spLocks noGrp="1" noRot="1" noChangeAspect="1" noChangeArrowheads="1" noTextEdit="1"/>
          </p:cNvSpPr>
          <p:nvPr>
            <p:ph type="sldImg"/>
          </p:nvPr>
        </p:nvSpPr>
        <p:spPr>
          <a:xfrm>
            <a:off x="342900" y="696913"/>
            <a:ext cx="6197600" cy="3486150"/>
          </a:xfrm>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是否需要简要介绍本体论？本体论在生物医学数据仓库中得到了广泛应用。 -- JP</a:t>
            </a:r>
          </a:p>
          <a:p>
            <a:endParaRPr lang="en-US" altLang="en-US"/>
          </a:p>
          <a:p>
            <a:r>
              <a:rPr lang="en-US" altLang="en-US"/>
              <a:t>我们应使用1-2张幻灯片介绍这一部分 - JH</a:t>
            </a:r>
          </a:p>
        </p:txBody>
      </p:sp>
    </p:spTree>
    <p:extLst>
      <p:ext uri="{BB962C8B-B14F-4D97-AF65-F5344CB8AC3E}">
        <p14:creationId xmlns:p14="http://schemas.microsoft.com/office/powerpoint/2010/main" val="327829186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F3FBCBF-55D9-4416-A489-32CB6ADC8BD4}" type="slidenum">
              <a:rPr lang="en-US" altLang="en-US" sz="1200">
                <a:latin typeface="Times New Roman" panose="02020603050405020304" pitchFamily="18" charset="0"/>
              </a:rPr>
              <a:t>79</a:t>
            </a:fld>
            <a:endParaRPr lang="en-US" altLang="en-US" sz="120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PCA（主成分分析）和小波变换也是数据压缩的一种形式。</a:t>
            </a:r>
          </a:p>
          <a:p>
            <a:endParaRPr lang="en-US" altLang="en-US"/>
          </a:p>
        </p:txBody>
      </p:sp>
    </p:spTree>
    <p:extLst>
      <p:ext uri="{BB962C8B-B14F-4D97-AF65-F5344CB8AC3E}">
        <p14:creationId xmlns:p14="http://schemas.microsoft.com/office/powerpoint/2010/main" val="407777673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7862981-7992-40A5-A058-5E70B3805409}" type="slidenum">
              <a:rPr lang="en-US" altLang="en-US" sz="1200">
                <a:latin typeface="Times New Roman" panose="02020603050405020304" pitchFamily="18" charset="0"/>
              </a:rPr>
              <a:t>80</a:t>
            </a:fld>
            <a:endParaRPr lang="en-US" altLang="en-US" sz="120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8484330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0BA65-AC1C-4D2C-B1E4-421048BA61A8}" type="slidenum">
              <a:rPr lang="en-US" altLang="en-US" sz="1200">
                <a:latin typeface="Times New Roman" panose="02020603050405020304" pitchFamily="18" charset="0"/>
              </a:rPr>
              <a:t>81</a:t>
            </a:fld>
            <a:endParaRPr lang="en-US" altLang="en-US" sz="1200">
              <a:latin typeface="Times New Roman" panose="02020603050405020304" pitchFamily="18" charset="0"/>
            </a:endParaRPr>
          </a:p>
        </p:txBody>
      </p:sp>
      <p:sp>
        <p:nvSpPr>
          <p:cNvPr id="132099" name="Rectangle 2"/>
          <p:cNvSpPr>
            <a:spLocks noGrp="1" noRot="1" noChangeAspect="1" noChangeArrowheads="1" noTextEdit="1"/>
          </p:cNvSpPr>
          <p:nvPr>
            <p:ph type="sldImg"/>
          </p:nvPr>
        </p:nvSpPr>
        <p:spPr>
          <a:xfrm>
            <a:off x="342900" y="696913"/>
            <a:ext cx="6197600" cy="3486150"/>
          </a:xfrm>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1966134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F5B721A-0EBA-459A-8096-CF9923B3D033}" type="slidenum">
              <a:rPr lang="en-US" altLang="en-US" sz="1200">
                <a:latin typeface="Times New Roman" panose="02020603050405020304" pitchFamily="18" charset="0"/>
              </a:rPr>
              <a:t>82</a:t>
            </a:fld>
            <a:endParaRPr lang="en-US" altLang="en-US" sz="1200">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1742296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D44D5F-98C1-4126-94C4-B394A51AD157}" type="slidenum">
              <a:rPr lang="en-US" altLang="en-US" sz="1200">
                <a:latin typeface="Times New Roman" panose="02020603050405020304" pitchFamily="18" charset="0"/>
              </a:rPr>
              <a:t>83</a:t>
            </a:fld>
            <a:endParaRPr lang="en-US" altLang="en-US" sz="1200">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7832347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BEDE18-97A2-4E92-B3F0-A3EB083D711C}" type="slidenum">
              <a:rPr lang="en-US" altLang="en-US" sz="1200">
                <a:latin typeface="Times New Roman" panose="02020603050405020304" pitchFamily="18" charset="0"/>
              </a:rPr>
              <a:t>84</a:t>
            </a:fld>
            <a:endParaRPr lang="en-US" altLang="en-US" sz="1200">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MK 09/09/05：维基百科将维度缩减作为特征提取（PCA）和特征子集选择的特征。它将小波变换和PCA都列为数据压缩的形式。它没有</a:t>
            </a:r>
            <a:r>
              <a:rPr lang="en-US" altLang="en-US" dirty="0" err="1"/>
              <a:t>关于“</a:t>
            </a:r>
            <a:r>
              <a:rPr lang="en-US" altLang="en-US" dirty="0"/>
              <a:t>数值缩减”的页面。我们认为数据缩减策略的组织方式多种多样，这一点是正确的，因此下面的呈现方式应可接受。让我们讨论一下。</a:t>
            </a:r>
          </a:p>
          <a:p>
            <a:endParaRPr lang="en-US" altLang="en-US" dirty="0"/>
          </a:p>
        </p:txBody>
      </p:sp>
    </p:spTree>
    <p:extLst>
      <p:ext uri="{BB962C8B-B14F-4D97-AF65-F5344CB8AC3E}">
        <p14:creationId xmlns:p14="http://schemas.microsoft.com/office/powerpoint/2010/main" val="53106695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3F67201-8130-4B5D-9604-093023B6CBBD}" type="slidenum">
              <a:rPr lang="en-US" altLang="en-US" sz="1200">
                <a:latin typeface="Times New Roman" panose="02020603050405020304" pitchFamily="18" charset="0"/>
              </a:rPr>
              <a:t>85</a:t>
            </a:fld>
            <a:endParaRPr lang="en-US" altLang="en-US" sz="12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4815646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6A3D4F7-439C-4F32-ABC6-03DB07EEA4C8}" type="slidenum">
              <a:rPr lang="en-US" altLang="en-US" sz="1200">
                <a:latin typeface="Times New Roman" panose="02020603050405020304" pitchFamily="18" charset="0"/>
              </a:rPr>
              <a:t>86</a:t>
            </a:fld>
            <a:endParaRPr lang="en-US" altLang="en-US" sz="12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xfrm>
            <a:off x="342900" y="696913"/>
            <a:ext cx="6197600" cy="3486150"/>
          </a:xfrm>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4953769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t>87</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56373314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t>88</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263844918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6C1ED0B-C9A9-4CFD-800B-C8936A698F6F}" type="slidenum">
              <a:rPr lang="en-US" altLang="en-US" sz="1200">
                <a:latin typeface="Times New Roman" panose="02020603050405020304" pitchFamily="18" charset="0"/>
              </a:rPr>
              <a:t>89</a:t>
            </a:fld>
            <a:endParaRPr lang="en-US" altLang="en-US" sz="120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移除日期：2010年9月9日：V-最优：具有最小</a:t>
            </a:r>
            <a:r>
              <a:rPr lang="en-US" altLang="en-US" i="1"/>
              <a:t>直方图方差</a:t>
            </a:r>
            <a:r>
              <a:rPr lang="en-US" altLang="en-US"/>
              <a:t>（每个桶所代表的原始值的加权和）</a:t>
            </a:r>
          </a:p>
        </p:txBody>
      </p:sp>
    </p:spTree>
    <p:extLst>
      <p:ext uri="{BB962C8B-B14F-4D97-AF65-F5344CB8AC3E}">
        <p14:creationId xmlns:p14="http://schemas.microsoft.com/office/powerpoint/2010/main" val="173041088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BBC1FE1-7884-48B1-8941-455F84666BB1}" type="slidenum">
              <a:rPr lang="en-US" altLang="en-US" sz="1200">
                <a:latin typeface="Times New Roman" panose="02020603050405020304" pitchFamily="18" charset="0"/>
              </a:rPr>
              <a:t>90</a:t>
            </a:fld>
            <a:endParaRPr lang="en-US" altLang="en-US" sz="1200">
              <a:latin typeface="Times New Roman" panose="02020603050405020304" pitchFamily="18"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4916140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t>91</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403584415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t>92</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JH：将SVD用于高维度聚类和维度缩减。</a:t>
            </a:r>
          </a:p>
        </p:txBody>
      </p:sp>
    </p:spTree>
    <p:extLst>
      <p:ext uri="{BB962C8B-B14F-4D97-AF65-F5344CB8AC3E}">
        <p14:creationId xmlns:p14="http://schemas.microsoft.com/office/powerpoint/2010/main" val="63799975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t>93</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JH：将SVD用于高维数据聚类与维度缩减。</a:t>
            </a:r>
          </a:p>
        </p:txBody>
      </p:sp>
    </p:spTree>
    <p:extLst>
      <p:ext uri="{BB962C8B-B14F-4D97-AF65-F5344CB8AC3E}">
        <p14:creationId xmlns:p14="http://schemas.microsoft.com/office/powerpoint/2010/main" val="240830896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7D61654-4A93-4D79-B9F4-A9ADF36C014E}" type="slidenum">
              <a:rPr lang="en-US" altLang="en-US" sz="1200">
                <a:latin typeface="Times New Roman" panose="02020603050405020304" pitchFamily="18" charset="0"/>
              </a:rPr>
              <a:t>94</a:t>
            </a:fld>
            <a:endParaRPr lang="en-US" altLang="en-US" sz="1200">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119742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0C16A1-ECF4-43AB-93EE-C812D0FE0C28}" type="slidenum">
              <a:rPr lang="en-US" altLang="en-US" sz="1200">
                <a:latin typeface="Times New Roman" panose="02020603050405020304" pitchFamily="18" charset="0"/>
              </a:rPr>
              <a:t>95</a:t>
            </a:fld>
            <a:endParaRPr lang="en-US" altLang="en-US" sz="1200">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1063849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620224F-3801-4DDC-954F-82C755A5A92E}" type="slidenum">
              <a:rPr lang="en-US" altLang="en-US" sz="1200">
                <a:latin typeface="Times New Roman" panose="02020603050405020304" pitchFamily="18" charset="0"/>
              </a:rPr>
              <a:t>96</a:t>
            </a:fld>
            <a:endParaRPr lang="en-US" altLang="en-US" sz="1200">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xfrm>
            <a:off x="346075" y="698500"/>
            <a:ext cx="6192838" cy="3484563"/>
          </a:xfrm>
          <a:ln/>
        </p:spPr>
      </p:sp>
      <p:sp>
        <p:nvSpPr>
          <p:cNvPr id="104452"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72049053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2F609C4-178D-4C1E-91DE-6CE5DF2FFD3C}" type="slidenum">
              <a:rPr lang="en-US" altLang="en-US" sz="1200">
                <a:latin typeface="Times New Roman" panose="02020603050405020304" pitchFamily="18" charset="0"/>
              </a:rPr>
              <a:t>97</a:t>
            </a:fld>
            <a:endParaRPr lang="en-US" altLang="en-US" sz="1200">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3819638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DCCC807E-A950-4409-BEFB-19DEF03F3280}" type="slidenum">
              <a:rPr lang="en-US" altLang="en-US" sz="1200">
                <a:latin typeface="Times New Roman" panose="02020603050405020304" pitchFamily="18" charset="0"/>
              </a:rPr>
              <a:t>98</a:t>
            </a:fld>
            <a:endParaRPr lang="en-US" altLang="en-US" sz="120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xfrm>
            <a:off x="357188" y="704850"/>
            <a:ext cx="6172200" cy="3471863"/>
          </a:xfrm>
          <a:ln/>
        </p:spPr>
      </p:sp>
      <p:sp>
        <p:nvSpPr>
          <p:cNvPr id="106500"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1789521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99</a:t>
            </a:fld>
            <a:endParaRPr lang="en-US"/>
          </a:p>
        </p:txBody>
      </p:sp>
    </p:spTree>
    <p:extLst>
      <p:ext uri="{BB962C8B-B14F-4D97-AF65-F5344CB8AC3E}">
        <p14:creationId xmlns:p14="http://schemas.microsoft.com/office/powerpoint/2010/main" val="337675392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100</a:t>
            </a:fld>
            <a:endParaRPr lang="en-US"/>
          </a:p>
        </p:txBody>
      </p:sp>
    </p:spTree>
    <p:extLst>
      <p:ext uri="{BB962C8B-B14F-4D97-AF65-F5344CB8AC3E}">
        <p14:creationId xmlns:p14="http://schemas.microsoft.com/office/powerpoint/2010/main" val="238000017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101</a:t>
            </a:fld>
            <a:endParaRPr lang="en-US"/>
          </a:p>
        </p:txBody>
      </p:sp>
    </p:spTree>
    <p:extLst>
      <p:ext uri="{BB962C8B-B14F-4D97-AF65-F5344CB8AC3E}">
        <p14:creationId xmlns:p14="http://schemas.microsoft.com/office/powerpoint/2010/main" val="367376535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12AE2494-E246-464F-AA19-05B4B0487F8D}" type="slidenum">
              <a:rPr lang="en-US" altLang="en-US" sz="1200"/>
              <a:t>104</a:t>
            </a:fld>
            <a:endParaRPr lang="en-US" altLang="en-US" sz="1200"/>
          </a:p>
        </p:txBody>
      </p:sp>
    </p:spTree>
    <p:extLst>
      <p:ext uri="{BB962C8B-B14F-4D97-AF65-F5344CB8AC3E}">
        <p14:creationId xmlns:p14="http://schemas.microsoft.com/office/powerpoint/2010/main" val="3861288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a:latin typeface="STKaiti" panose="02010600040101010101" pitchFamily="2" charset="-122"/>
              </a:defRPr>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atin typeface="STKaiti" panose="02010600040101010101" pitchFamily="2" charset="-122"/>
              </a:defRPr>
            </a:lvl1pPr>
            <a:lvl2pPr marL="738170" indent="-538149">
              <a:defRPr sz="2800">
                <a:latin typeface="STKaiti" panose="02010600040101010101" pitchFamily="2" charset="-122"/>
              </a:defRPr>
            </a:lvl2pPr>
            <a:lvl3pPr marL="858817" indent="-474651">
              <a:defRPr sz="2800">
                <a:latin typeface="STKaiti" panose="02010600040101010101" pitchFamily="2" charset="-122"/>
              </a:defRPr>
            </a:lvl3pPr>
            <a:lvl4pPr marL="1144559" indent="-522275">
              <a:defRPr sz="2800">
                <a:latin typeface="STKaiti" panose="02010600040101010101" pitchFamily="2" charset="-122"/>
              </a:defRPr>
            </a:lvl4pPr>
            <a:lvl5pPr marL="1376328" indent="-507987">
              <a:defRPr sz="2800">
                <a:latin typeface="STKaiti" panose="02010600040101010101" pitchFamily="2" charset="-122"/>
              </a:defRPr>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lvl1pPr>
              <a:defRPr>
                <a:latin typeface="STKaiti" panose="02010600040101010101" pitchFamily="2" charset="-122"/>
              </a:defRPr>
            </a:lvl1pPr>
            <a:lvl2pPr>
              <a:defRPr>
                <a:latin typeface="STKaiti" panose="02010600040101010101" pitchFamily="2" charset="-122"/>
              </a:defRPr>
            </a:lvl2pPr>
            <a:lvl3pPr>
              <a:defRPr>
                <a:latin typeface="STKaiti" panose="02010600040101010101" pitchFamily="2" charset="-122"/>
              </a:defRPr>
            </a:lvl3pPr>
            <a:lvl4pPr>
              <a:defRPr>
                <a:latin typeface="STKaiti" panose="02010600040101010101" pitchFamily="2" charset="-122"/>
              </a:defRPr>
            </a:lvl4pPr>
            <a:lvl5pPr>
              <a:defRPr>
                <a:latin typeface="STKaiti" panose="02010600040101010101" pitchFamily="2" charset="-12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lvl1pPr>
              <a:defRPr>
                <a:latin typeface="STKaiti" panose="02010600040101010101" pitchFamily="2" charset="-122"/>
              </a:defRPr>
            </a:lvl1pPr>
            <a:lvl2pPr>
              <a:defRPr>
                <a:latin typeface="STKaiti" panose="02010600040101010101" pitchFamily="2" charset="-122"/>
              </a:defRPr>
            </a:lvl2pPr>
            <a:lvl3pPr>
              <a:defRPr>
                <a:latin typeface="STKaiti" panose="02010600040101010101" pitchFamily="2" charset="-122"/>
              </a:defRPr>
            </a:lvl3pPr>
            <a:lvl4pPr>
              <a:defRPr>
                <a:latin typeface="STKaiti" panose="02010600040101010101" pitchFamily="2" charset="-122"/>
              </a:defRPr>
            </a:lvl4pPr>
            <a:lvl5pPr>
              <a:defRPr>
                <a:latin typeface="STKaiti" panose="02010600040101010101" pitchFamily="2" charset="-12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6419116"/>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lvl1pPr>
              <a:defRPr>
                <a:latin typeface="STKaiti" panose="02010600040101010101" pitchFamily="2" charset="-122"/>
              </a:defRPr>
            </a:lvl1pPr>
            <a:lvl2pPr>
              <a:defRPr>
                <a:latin typeface="STKaiti" panose="02010600040101010101" pitchFamily="2" charset="-122"/>
              </a:defRPr>
            </a:lvl2pPr>
            <a:lvl3pPr>
              <a:defRPr>
                <a:latin typeface="STKaiti" panose="02010600040101010101" pitchFamily="2" charset="-122"/>
              </a:defRPr>
            </a:lvl3pPr>
            <a:lvl4pPr>
              <a:defRPr>
                <a:latin typeface="STKaiti" panose="02010600040101010101" pitchFamily="2" charset="-122"/>
              </a:defRPr>
            </a:lvl4pPr>
            <a:lvl5pPr>
              <a:defRPr>
                <a:latin typeface="STKaiti" panose="02010600040101010101" pitchFamily="2" charset="-12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lvl1pPr>
              <a:defRPr>
                <a:latin typeface="STKaiti" panose="02010600040101010101" pitchFamily="2" charset="-122"/>
              </a:defRPr>
            </a:lvl1pPr>
            <a:lvl2pPr>
              <a:defRPr>
                <a:latin typeface="STKaiti" panose="02010600040101010101" pitchFamily="2" charset="-122"/>
              </a:defRPr>
            </a:lvl2pPr>
            <a:lvl3pPr>
              <a:defRPr>
                <a:latin typeface="STKaiti" panose="02010600040101010101" pitchFamily="2" charset="-122"/>
              </a:defRPr>
            </a:lvl3pPr>
            <a:lvl4pPr>
              <a:defRPr>
                <a:latin typeface="STKaiti" panose="02010600040101010101" pitchFamily="2" charset="-122"/>
              </a:defRPr>
            </a:lvl4pPr>
            <a:lvl5pPr>
              <a:defRPr>
                <a:latin typeface="STKaiti" panose="02010600040101010101" pitchFamily="2" charset="-12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0" y="3962400"/>
            <a:ext cx="5486400" cy="2514600"/>
          </a:xfrm>
        </p:spPr>
        <p:txBody>
          <a:bodyPr/>
          <a:lstStyle>
            <a:lvl1pPr>
              <a:defRPr>
                <a:latin typeface="STKaiti" panose="02010600040101010101" pitchFamily="2" charset="-122"/>
              </a:defRPr>
            </a:lvl1pPr>
            <a:lvl2pPr>
              <a:defRPr>
                <a:latin typeface="STKaiti" panose="02010600040101010101" pitchFamily="2" charset="-122"/>
              </a:defRPr>
            </a:lvl2pPr>
            <a:lvl3pPr>
              <a:defRPr>
                <a:latin typeface="STKaiti" panose="02010600040101010101" pitchFamily="2" charset="-122"/>
              </a:defRPr>
            </a:lvl3pPr>
            <a:lvl4pPr>
              <a:defRPr>
                <a:latin typeface="STKaiti" panose="02010600040101010101" pitchFamily="2" charset="-122"/>
              </a:defRPr>
            </a:lvl4pPr>
            <a:lvl5pPr>
              <a:defRPr>
                <a:latin typeface="STKaiti" panose="02010600040101010101" pitchFamily="2" charset="-12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1278949"/>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lvl1pPr>
              <a:defRPr>
                <a:latin typeface="STKaiti" panose="02010600040101010101" pitchFamily="2" charset="-122"/>
              </a:defRPr>
            </a:lvl1pPr>
            <a:lvl2pPr>
              <a:defRPr>
                <a:latin typeface="STKaiti" panose="02010600040101010101" pitchFamily="2" charset="-122"/>
              </a:defRPr>
            </a:lvl2pPr>
            <a:lvl3pPr>
              <a:defRPr>
                <a:latin typeface="STKaiti" panose="02010600040101010101" pitchFamily="2" charset="-122"/>
              </a:defRPr>
            </a:lvl3pPr>
            <a:lvl4pPr>
              <a:defRPr>
                <a:latin typeface="STKaiti" panose="02010600040101010101" pitchFamily="2" charset="-122"/>
              </a:defRPr>
            </a:lvl4pPr>
            <a:lvl5pPr>
              <a:defRPr>
                <a:latin typeface="STKaiti" panose="02010600040101010101" pitchFamily="2" charset="-12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6096000" y="1295400"/>
            <a:ext cx="5486400" cy="5181600"/>
          </a:xfrm>
        </p:spPr>
        <p:txBody>
          <a:bodyPr/>
          <a:lstStyle/>
          <a:p>
            <a:pPr lvl="0"/>
            <a:endParaRPr lang="en-US" noProof="0"/>
          </a:p>
        </p:txBody>
      </p:sp>
    </p:spTree>
    <p:extLst>
      <p:ext uri="{BB962C8B-B14F-4D97-AF65-F5344CB8AC3E}">
        <p14:creationId xmlns:p14="http://schemas.microsoft.com/office/powerpoint/2010/main" val="1471594711"/>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295400"/>
            <a:ext cx="5486400" cy="5181600"/>
          </a:xfrm>
        </p:spPr>
        <p:txBody>
          <a:bodyPr/>
          <a:lstStyle>
            <a:lvl1pPr>
              <a:defRPr sz="2800">
                <a:latin typeface="STKaiti" panose="02010600040101010101" pitchFamily="2" charset="-122"/>
              </a:defRPr>
            </a:lvl1pPr>
            <a:lvl2pPr>
              <a:defRPr sz="2400">
                <a:latin typeface="STKaiti" panose="02010600040101010101" pitchFamily="2" charset="-122"/>
              </a:defRPr>
            </a:lvl2pPr>
            <a:lvl3pPr>
              <a:defRPr sz="2000">
                <a:latin typeface="STKaiti" panose="02010600040101010101" pitchFamily="2" charset="-122"/>
              </a:defRPr>
            </a:lvl3pPr>
            <a:lvl4pPr>
              <a:defRPr sz="1800">
                <a:latin typeface="STKaiti" panose="02010600040101010101" pitchFamily="2" charset="-122"/>
              </a:defRPr>
            </a:lvl4pPr>
            <a:lvl5pPr>
              <a:defRPr sz="1800">
                <a:latin typeface="STKaiti" panose="02010600040101010101" pitchFamily="2" charset="-122"/>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lvl1pPr>
              <a:defRPr sz="2800">
                <a:latin typeface="STKaiti" panose="02010600040101010101" pitchFamily="2" charset="-122"/>
              </a:defRPr>
            </a:lvl1pPr>
            <a:lvl2pPr>
              <a:defRPr sz="2400">
                <a:latin typeface="STKaiti" panose="02010600040101010101" pitchFamily="2" charset="-122"/>
              </a:defRPr>
            </a:lvl2pPr>
            <a:lvl3pPr>
              <a:defRPr sz="2000">
                <a:latin typeface="STKaiti" panose="02010600040101010101" pitchFamily="2" charset="-122"/>
              </a:defRPr>
            </a:lvl3pPr>
            <a:lvl4pPr>
              <a:defRPr sz="1800">
                <a:latin typeface="STKaiti" panose="02010600040101010101" pitchFamily="2" charset="-122"/>
              </a:defRPr>
            </a:lvl4pPr>
            <a:lvl5pPr>
              <a:defRPr sz="1800">
                <a:latin typeface="STKaiti" panose="02010600040101010101" pitchFamily="2" charset="-122"/>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7570732"/>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03200" y="304800"/>
            <a:ext cx="11684000" cy="609600"/>
          </a:xfrm>
        </p:spPr>
        <p:txBody>
          <a:bodyPr/>
          <a:lstStyle/>
          <a:p>
            <a:r>
              <a:rPr lang="en-US"/>
              <a:t>Click to edit Master title style</a:t>
            </a:r>
          </a:p>
        </p:txBody>
      </p:sp>
      <p:sp>
        <p:nvSpPr>
          <p:cNvPr id="3" name="Content Placeholder 2"/>
          <p:cNvSpPr>
            <a:spLocks noGrp="1"/>
          </p:cNvSpPr>
          <p:nvPr>
            <p:ph sz="quarter" idx="1"/>
          </p:nvPr>
        </p:nvSpPr>
        <p:spPr>
          <a:xfrm>
            <a:off x="406400" y="1295400"/>
            <a:ext cx="5486400" cy="2514600"/>
          </a:xfrm>
        </p:spPr>
        <p:txBody>
          <a:bodyPr/>
          <a:lstStyle>
            <a:lvl1pPr>
              <a:defRPr>
                <a:latin typeface="STKaiti" panose="02010600040101010101" pitchFamily="2" charset="-122"/>
              </a:defRPr>
            </a:lvl1pPr>
            <a:lvl2pPr>
              <a:defRPr>
                <a:latin typeface="STKaiti" panose="02010600040101010101" pitchFamily="2" charset="-122"/>
              </a:defRPr>
            </a:lvl2pPr>
            <a:lvl3pPr>
              <a:defRPr>
                <a:latin typeface="STKaiti" panose="02010600040101010101" pitchFamily="2" charset="-122"/>
              </a:defRPr>
            </a:lvl3pPr>
            <a:lvl4pPr>
              <a:defRPr>
                <a:latin typeface="STKaiti" panose="02010600040101010101" pitchFamily="2" charset="-122"/>
              </a:defRPr>
            </a:lvl4pPr>
            <a:lvl5pPr>
              <a:defRPr>
                <a:latin typeface="STKaiti" panose="02010600040101010101" pitchFamily="2" charset="-12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lvl1pPr>
              <a:defRPr>
                <a:latin typeface="STKaiti" panose="02010600040101010101" pitchFamily="2" charset="-122"/>
              </a:defRPr>
            </a:lvl1pPr>
            <a:lvl2pPr>
              <a:defRPr>
                <a:latin typeface="STKaiti" panose="02010600040101010101" pitchFamily="2" charset="-122"/>
              </a:defRPr>
            </a:lvl2pPr>
            <a:lvl3pPr>
              <a:defRPr>
                <a:latin typeface="STKaiti" panose="02010600040101010101" pitchFamily="2" charset="-122"/>
              </a:defRPr>
            </a:lvl3pPr>
            <a:lvl4pPr>
              <a:defRPr>
                <a:latin typeface="STKaiti" panose="02010600040101010101" pitchFamily="2" charset="-122"/>
              </a:defRPr>
            </a:lvl4pPr>
            <a:lvl5pPr>
              <a:defRPr>
                <a:latin typeface="STKaiti" panose="02010600040101010101" pitchFamily="2" charset="-12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06400" y="3962400"/>
            <a:ext cx="5486400" cy="2514600"/>
          </a:xfrm>
        </p:spPr>
        <p:txBody>
          <a:bodyPr/>
          <a:lstStyle>
            <a:lvl1pPr>
              <a:defRPr>
                <a:latin typeface="STKaiti" panose="02010600040101010101" pitchFamily="2" charset="-122"/>
              </a:defRPr>
            </a:lvl1pPr>
            <a:lvl2pPr>
              <a:defRPr>
                <a:latin typeface="STKaiti" panose="02010600040101010101" pitchFamily="2" charset="-122"/>
              </a:defRPr>
            </a:lvl2pPr>
            <a:lvl3pPr>
              <a:defRPr>
                <a:latin typeface="STKaiti" panose="02010600040101010101" pitchFamily="2" charset="-122"/>
              </a:defRPr>
            </a:lvl3pPr>
            <a:lvl4pPr>
              <a:defRPr>
                <a:latin typeface="STKaiti" panose="02010600040101010101" pitchFamily="2" charset="-122"/>
              </a:defRPr>
            </a:lvl4pPr>
            <a:lvl5pPr>
              <a:defRPr>
                <a:latin typeface="STKaiti" panose="02010600040101010101" pitchFamily="2" charset="-12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096000" y="3962400"/>
            <a:ext cx="5486400" cy="2514600"/>
          </a:xfrm>
        </p:spPr>
        <p:txBody>
          <a:bodyPr/>
          <a:lstStyle>
            <a:lvl1pPr>
              <a:defRPr>
                <a:latin typeface="STKaiti" panose="02010600040101010101" pitchFamily="2" charset="-122"/>
              </a:defRPr>
            </a:lvl1pPr>
            <a:lvl2pPr>
              <a:defRPr>
                <a:latin typeface="STKaiti" panose="02010600040101010101" pitchFamily="2" charset="-122"/>
              </a:defRPr>
            </a:lvl2pPr>
            <a:lvl3pPr>
              <a:defRPr>
                <a:latin typeface="STKaiti" panose="02010600040101010101" pitchFamily="2" charset="-122"/>
              </a:defRPr>
            </a:lvl3pPr>
            <a:lvl4pPr>
              <a:defRPr>
                <a:latin typeface="STKaiti" panose="02010600040101010101" pitchFamily="2" charset="-122"/>
              </a:defRPr>
            </a:lvl4pPr>
            <a:lvl5pPr>
              <a:defRPr>
                <a:latin typeface="STKaiti" panose="02010600040101010101" pitchFamily="2" charset="-122"/>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5745170"/>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87519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点击编辑主标题样式</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点击编辑主文本样式</a:t>
            </a:r>
          </a:p>
          <a:p>
            <a:pPr lvl="1"/>
            <a:r>
              <a:rPr lang="en-US" dirty="0"/>
              <a:t> 二级</a:t>
            </a:r>
          </a:p>
          <a:p>
            <a:pPr lvl="2"/>
            <a:r>
              <a:rPr lang="en-US" dirty="0"/>
              <a:t> 第三级</a:t>
            </a:r>
          </a:p>
          <a:p>
            <a:pPr lvl="3"/>
            <a:r>
              <a:rPr lang="en-US" dirty="0"/>
              <a:t> 第四级</a:t>
            </a:r>
          </a:p>
          <a:p>
            <a:pPr lvl="4"/>
            <a:r>
              <a:rPr lang="en-US" dirty="0"/>
              <a:t> 第五级</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Lst>
  <p:hf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STKaiti" panose="02010600040101010101" pitchFamily="2" charset="-122"/>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STKaiti" panose="02010600040101010101" pitchFamily="2" charset="-122"/>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STKaiti" panose="02010600040101010101" pitchFamily="2" charset="-122"/>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STKaiti" panose="02010600040101010101" pitchFamily="2" charset="-122"/>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STKaiti" panose="02010600040101010101" pitchFamily="2" charset="-122"/>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STKaiti" panose="02010600040101010101" pitchFamily="2" charset="-122"/>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wmf"/></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oleObject" Target="../embeddings/oleObject5.bin"/><Relationship Id="rId7" Type="http://schemas.openxmlformats.org/officeDocument/2006/relationships/image" Target="../media/image12.gi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6.wmf"/><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7.bin"/><Relationship Id="rId4" Type="http://schemas.openxmlformats.org/officeDocument/2006/relationships/image" Target="../media/image17.wmf"/></Relationships>
</file>

<file path=ppt/slides/_rels/slide1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0.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21.tmp"/><Relationship Id="rId4" Type="http://schemas.openxmlformats.org/officeDocument/2006/relationships/image" Target="../media/image20.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3.wmf"/><Relationship Id="rId5" Type="http://schemas.openxmlformats.org/officeDocument/2006/relationships/oleObject" Target="../embeddings/oleObject10.bin"/><Relationship Id="rId4" Type="http://schemas.openxmlformats.org/officeDocument/2006/relationships/image" Target="../media/image22.wmf"/></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4.wmf"/><Relationship Id="rId4" Type="http://schemas.openxmlformats.org/officeDocument/2006/relationships/oleObject" Target="../embeddings/oleObject11.bin"/></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5" Type="http://schemas.openxmlformats.org/officeDocument/2006/relationships/image" Target="../media/image24.wmf"/><Relationship Id="rId4" Type="http://schemas.openxmlformats.org/officeDocument/2006/relationships/oleObject" Target="../embeddings/oleObject11.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5.wmf"/><Relationship Id="rId5" Type="http://schemas.openxmlformats.org/officeDocument/2006/relationships/oleObject" Target="../embeddings/oleObject12.bin"/><Relationship Id="rId4" Type="http://schemas.openxmlformats.org/officeDocument/2006/relationships/image" Target="../media/image24.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26.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oleObject" Target="../embeddings/oleObject15.bin"/><Relationship Id="rId7" Type="http://schemas.openxmlformats.org/officeDocument/2006/relationships/image" Target="../media/image30.emf"/><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9.wmf"/><Relationship Id="rId5" Type="http://schemas.openxmlformats.org/officeDocument/2006/relationships/oleObject" Target="../embeddings/oleObject16.bin"/><Relationship Id="rId4" Type="http://schemas.openxmlformats.org/officeDocument/2006/relationships/image" Target="../media/image28.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34.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image" Target="../media/image37.wmf"/><Relationship Id="rId5" Type="http://schemas.openxmlformats.org/officeDocument/2006/relationships/oleObject" Target="../embeddings/oleObject19.bin"/><Relationship Id="rId4" Type="http://schemas.openxmlformats.org/officeDocument/2006/relationships/image" Target="../media/image36.wmf"/></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45.wmf"/><Relationship Id="rId4" Type="http://schemas.openxmlformats.org/officeDocument/2006/relationships/image" Target="../media/image44.wmf"/></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0.wmf"/><Relationship Id="rId5" Type="http://schemas.openxmlformats.org/officeDocument/2006/relationships/oleObject" Target="../embeddings/oleObject21.bin"/><Relationship Id="rId4" Type="http://schemas.openxmlformats.org/officeDocument/2006/relationships/image" Target="../media/image49.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51.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image" Target="../media/image54.emf"/><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53.wmf"/><Relationship Id="rId5" Type="http://schemas.openxmlformats.org/officeDocument/2006/relationships/oleObject" Target="../embeddings/oleObject24.bin"/><Relationship Id="rId4" Type="http://schemas.openxmlformats.org/officeDocument/2006/relationships/image" Target="../media/image52.wmf"/></Relationships>
</file>

<file path=ppt/slides/_rels/slide42.xml.rels><?xml version="1.0" encoding="UTF-8" standalone="yes"?>
<Relationships xmlns="http://schemas.openxmlformats.org/package/2006/relationships"><Relationship Id="rId8" Type="http://schemas.openxmlformats.org/officeDocument/2006/relationships/image" Target="../media/image57.e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59.wmf"/><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6.e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58.emf"/><Relationship Id="rId4" Type="http://schemas.openxmlformats.org/officeDocument/2006/relationships/image" Target="../media/image55.emf"/><Relationship Id="rId9" Type="http://schemas.openxmlformats.org/officeDocument/2006/relationships/oleObject" Target="../embeddings/oleObject28.bin"/></Relationships>
</file>

<file path=ppt/slides/_rels/slide4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jpeg"/><Relationship Id="rId4" Type="http://schemas.openxmlformats.org/officeDocument/2006/relationships/image" Target="../media/image61.jpeg"/></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0.bin"/><Relationship Id="rId7" Type="http://schemas.openxmlformats.org/officeDocument/2006/relationships/image" Target="../media/image62.jpe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65.wmf"/><Relationship Id="rId5" Type="http://schemas.openxmlformats.org/officeDocument/2006/relationships/oleObject" Target="../embeddings/oleObject31.bin"/><Relationship Id="rId4" Type="http://schemas.openxmlformats.org/officeDocument/2006/relationships/image" Target="../media/image64.wmf"/></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67.wmf"/><Relationship Id="rId4" Type="http://schemas.openxmlformats.org/officeDocument/2006/relationships/oleObject" Target="../embeddings/oleObject32.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69.wmf"/><Relationship Id="rId5" Type="http://schemas.openxmlformats.org/officeDocument/2006/relationships/oleObject" Target="../embeddings/oleObject34.bin"/><Relationship Id="rId4" Type="http://schemas.openxmlformats.org/officeDocument/2006/relationships/image" Target="../media/image68.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image" Target="../media/image71.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70.wmf"/><Relationship Id="rId5" Type="http://schemas.openxmlformats.org/officeDocument/2006/relationships/oleObject" Target="../embeddings/oleObject35.bin"/><Relationship Id="rId4" Type="http://schemas.openxmlformats.org/officeDocument/2006/relationships/image" Target="../media/image68.wmf"/></Relationships>
</file>

<file path=ppt/slides/_rels/slide4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73.wmf"/><Relationship Id="rId4" Type="http://schemas.openxmlformats.org/officeDocument/2006/relationships/oleObject" Target="../embeddings/oleObject36.bin"/></Relationships>
</file>

<file path=ppt/slides/_rels/slide50.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oleObject" Target="../embeddings/oleObject37.bin"/><Relationship Id="rId7" Type="http://schemas.openxmlformats.org/officeDocument/2006/relationships/oleObject" Target="../embeddings/oleObject36.bin"/><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75.wmf"/><Relationship Id="rId5" Type="http://schemas.openxmlformats.org/officeDocument/2006/relationships/oleObject" Target="../embeddings/oleObject38.bin"/><Relationship Id="rId4" Type="http://schemas.openxmlformats.org/officeDocument/2006/relationships/image" Target="../media/image74.wmf"/><Relationship Id="rId9" Type="http://schemas.openxmlformats.org/officeDocument/2006/relationships/image" Target="../media/image76.png"/></Relationships>
</file>

<file path=ppt/slides/_rels/slide5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80.png"/><Relationship Id="rId4" Type="http://schemas.openxmlformats.org/officeDocument/2006/relationships/image" Target="../media/image79.png"/></Relationships>
</file>

<file path=ppt/slides/_rels/slide5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oleObject" Target="../embeddings/oleObject44.bin"/><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85.wmf"/><Relationship Id="rId2" Type="http://schemas.openxmlformats.org/officeDocument/2006/relationships/notesSlide" Target="../notesSlides/notesSlide69.xml"/><Relationship Id="rId1" Type="http://schemas.openxmlformats.org/officeDocument/2006/relationships/slideLayout" Target="../slideLayouts/slideLayout3.xml"/><Relationship Id="rId6" Type="http://schemas.openxmlformats.org/officeDocument/2006/relationships/image" Target="../media/image82.wmf"/><Relationship Id="rId11" Type="http://schemas.openxmlformats.org/officeDocument/2006/relationships/oleObject" Target="../embeddings/oleObject43.bin"/><Relationship Id="rId5" Type="http://schemas.openxmlformats.org/officeDocument/2006/relationships/oleObject" Target="../embeddings/oleObject40.bin"/><Relationship Id="rId10" Type="http://schemas.openxmlformats.org/officeDocument/2006/relationships/image" Target="../media/image84.wmf"/><Relationship Id="rId4" Type="http://schemas.openxmlformats.org/officeDocument/2006/relationships/image" Target="../media/image81.wmf"/><Relationship Id="rId9" Type="http://schemas.openxmlformats.org/officeDocument/2006/relationships/oleObject" Target="../embeddings/oleObject42.bin"/><Relationship Id="rId14" Type="http://schemas.openxmlformats.org/officeDocument/2006/relationships/image" Target="../media/image86.wmf"/></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74.xml"/><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84.xml"/><Relationship Id="rId1" Type="http://schemas.openxmlformats.org/officeDocument/2006/relationships/slideLayout" Target="../slideLayouts/slideLayout1.xml"/><Relationship Id="rId4" Type="http://schemas.openxmlformats.org/officeDocument/2006/relationships/image" Target="../media/image95.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86.xml"/><Relationship Id="rId1" Type="http://schemas.openxmlformats.org/officeDocument/2006/relationships/slideLayout" Target="../slideLayouts/slideLayout1.xml"/><Relationship Id="rId4" Type="http://schemas.openxmlformats.org/officeDocument/2006/relationships/image" Target="../media/image97.jpeg"/></Relationships>
</file>

<file path=ppt/slides/_rels/slide8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87.xml"/><Relationship Id="rId1" Type="http://schemas.openxmlformats.org/officeDocument/2006/relationships/slideLayout" Target="../slideLayouts/slideLayout1.xml"/><Relationship Id="rId4" Type="http://schemas.openxmlformats.org/officeDocument/2006/relationships/image" Target="../media/image99.png"/></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88.xml"/><Relationship Id="rId1" Type="http://schemas.openxmlformats.org/officeDocument/2006/relationships/slideLayout" Target="../slideLayouts/slideLayout1.xml"/><Relationship Id="rId4" Type="http://schemas.openxmlformats.org/officeDocument/2006/relationships/image" Target="../media/image100.emf"/></Relationships>
</file>

<file path=ppt/slides/_rels/slide90.xml.rels><?xml version="1.0" encoding="UTF-8" standalone="yes"?>
<Relationships xmlns="http://schemas.openxmlformats.org/package/2006/relationships"><Relationship Id="rId3" Type="http://schemas.openxmlformats.org/officeDocument/2006/relationships/image" Target="../media/image101.tif"/><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105.emf"/><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06.emf"/><Relationship Id="rId2" Type="http://schemas.openxmlformats.org/officeDocument/2006/relationships/notesSlide" Target="../notesSlides/notesSlide99.xml"/><Relationship Id="rId1" Type="http://schemas.openxmlformats.org/officeDocument/2006/relationships/slideLayout" Target="../slideLayouts/slideLayout1.xml"/><Relationship Id="rId5" Type="http://schemas.openxmlformats.org/officeDocument/2006/relationships/image" Target="../media/image108.emf"/><Relationship Id="rId4" Type="http://schemas.openxmlformats.org/officeDocument/2006/relationships/image" Target="../media/image107.emf"/></Relationships>
</file>

<file path=ppt/slides/_rels/slide101.xml.rels><?xml version="1.0" encoding="UTF-8" standalone="yes"?>
<Relationships xmlns="http://schemas.openxmlformats.org/package/2006/relationships"><Relationship Id="rId3" Type="http://schemas.openxmlformats.org/officeDocument/2006/relationships/image" Target="../media/image106.emf"/><Relationship Id="rId2" Type="http://schemas.openxmlformats.org/officeDocument/2006/relationships/notesSlide" Target="../notesSlides/notesSlide100.xml"/><Relationship Id="rId1" Type="http://schemas.openxmlformats.org/officeDocument/2006/relationships/slideLayout" Target="../slideLayouts/slideLayout1.xml"/><Relationship Id="rId5" Type="http://schemas.openxmlformats.org/officeDocument/2006/relationships/image" Target="../media/image110.emf"/><Relationship Id="rId4" Type="http://schemas.openxmlformats.org/officeDocument/2006/relationships/image" Target="../media/image109.emf"/></Relationships>
</file>

<file path=ppt/slides/_rels/slide102.xml.rels><?xml version="1.0" encoding="UTF-8" standalone="yes"?>
<Relationships xmlns="http://schemas.openxmlformats.org/package/2006/relationships"><Relationship Id="rId2" Type="http://schemas.openxmlformats.org/officeDocument/2006/relationships/image" Target="../media/image111.emf"/><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112.emf"/><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52260" y="0"/>
            <a:ext cx="10976351" cy="1066800"/>
          </a:xfrm>
        </p:spPr>
        <p:txBody>
          <a:bodyPr>
            <a:normAutofit/>
          </a:bodyPr>
          <a:lstStyle/>
          <a:p>
            <a:pPr eaLnBrk="1" hangingPunct="1"/>
            <a:r>
              <a:rPr lang="en-US" altLang="en-US" b="1" dirty="0"/>
              <a:t>数据、测量与数据预处理</a:t>
            </a:r>
          </a:p>
        </p:txBody>
      </p:sp>
      <p:sp>
        <p:nvSpPr>
          <p:cNvPr id="3" name="내용 개체 틀 2">
            <a:extLst>
              <a:ext uri="{FF2B5EF4-FFF2-40B4-BE49-F238E27FC236}">
                <a16:creationId xmlns:a16="http://schemas.microsoft.com/office/drawing/2014/main" id="{A1423112-70E9-4795-9F15-4B890F704D56}"/>
              </a:ext>
            </a:extLst>
          </p:cNvPr>
          <p:cNvSpPr>
            <a:spLocks noGrp="1"/>
          </p:cNvSpPr>
          <p:nvPr>
            <p:ph idx="1"/>
          </p:nvPr>
        </p:nvSpPr>
        <p:spPr/>
        <p:txBody>
          <a:bodyPr/>
          <a:lstStyle/>
          <a:p>
            <a:pPr marL="342900" lvl="0" indent="-342900" algn="just" latinLnBrk="1">
              <a:buFont typeface="Wingdings" pitchFamily="2" charset="2"/>
              <a:buChar char="q"/>
              <a:tabLst>
                <a:tab pos="457200" algn="l"/>
              </a:tabLst>
            </a:pPr>
            <a:r>
              <a:rPr lang="zh-CN" altLang="en-US" sz="3200" b="1" kern="100">
                <a:effectLst/>
                <a:latin typeface="Calibri" panose="020F0502020204030204" pitchFamily="34" charset="0"/>
                <a:ea typeface="KaiTi" panose="02010609060101010101" pitchFamily="49" charset="-122"/>
                <a:cs typeface="Times New Roman" panose="02020603050405020304" pitchFamily="18" charset="0"/>
              </a:rPr>
              <a:t> </a:t>
            </a:r>
            <a:r>
              <a:rPr lang="ko-Kore-KR" altLang="ko-Kore-KR" sz="3200" b="1" kern="100">
                <a:effectLst/>
                <a:latin typeface="Calibri" panose="020F0502020204030204" pitchFamily="34" charset="0"/>
                <a:ea typeface="KaiTi" panose="02010609060101010101" pitchFamily="49" charset="-122"/>
                <a:cs typeface="Times New Roman" panose="02020603050405020304" pitchFamily="18" charset="0"/>
              </a:rPr>
              <a:t>数据类型</a:t>
            </a:r>
            <a:endParaRPr lang="ko-Kore-KR" altLang="ko-Kore-KR" sz="3200" kern="100">
              <a:effectLst/>
              <a:latin typeface="Calibri" panose="020F0502020204030204" pitchFamily="34" charset="0"/>
              <a:ea typeface="맑은 고딕" panose="020B0503020000020004" pitchFamily="34" charset="-127"/>
              <a:cs typeface="Times New Roman" panose="02020603050405020304" pitchFamily="18" charset="0"/>
            </a:endParaRPr>
          </a:p>
          <a:p>
            <a:pPr marL="342900" lvl="0" indent="-342900" algn="just" latinLnBrk="1">
              <a:buFont typeface="Wingdings" pitchFamily="2" charset="2"/>
              <a:buChar char="q"/>
              <a:tabLst>
                <a:tab pos="457200" algn="l"/>
              </a:tabLst>
            </a:pPr>
            <a:r>
              <a:rPr lang="zh-CN" altLang="en-US" sz="3200" b="1" kern="100">
                <a:effectLst/>
                <a:latin typeface="Calibri" panose="020F0502020204030204" pitchFamily="34" charset="0"/>
                <a:ea typeface="KaiTi" panose="02010609060101010101" pitchFamily="49" charset="-122"/>
                <a:cs typeface="Times New Roman" panose="02020603050405020304" pitchFamily="18" charset="0"/>
              </a:rPr>
              <a:t> </a:t>
            </a:r>
            <a:r>
              <a:rPr lang="ko-Kore-KR" altLang="ko-Kore-KR" sz="3200" b="1" kern="100">
                <a:effectLst/>
                <a:latin typeface="Calibri" panose="020F0502020204030204" pitchFamily="34" charset="0"/>
                <a:ea typeface="KaiTi" panose="02010609060101010101" pitchFamily="49" charset="-122"/>
                <a:cs typeface="Times New Roman" panose="02020603050405020304" pitchFamily="18" charset="0"/>
              </a:rPr>
              <a:t>数据统计</a:t>
            </a:r>
            <a:endParaRPr lang="ko-Kore-KR" altLang="ko-Kore-KR" sz="3200" kern="100">
              <a:effectLst/>
              <a:latin typeface="Calibri" panose="020F0502020204030204" pitchFamily="34" charset="0"/>
              <a:ea typeface="맑은 고딕" panose="020B0503020000020004" pitchFamily="34" charset="-127"/>
              <a:cs typeface="Times New Roman" panose="02020603050405020304" pitchFamily="18" charset="0"/>
            </a:endParaRPr>
          </a:p>
          <a:p>
            <a:pPr marL="342900" lvl="0" indent="-342900" algn="just" latinLnBrk="1">
              <a:buFont typeface="Wingdings" pitchFamily="2" charset="2"/>
              <a:buChar char="q"/>
              <a:tabLst>
                <a:tab pos="457200" algn="l"/>
              </a:tabLst>
            </a:pPr>
            <a:r>
              <a:rPr lang="zh-CN" altLang="en-US" sz="3200" b="1" kern="100">
                <a:effectLst/>
                <a:latin typeface="Calibri" panose="020F0502020204030204" pitchFamily="34" charset="0"/>
                <a:ea typeface="KaiTi" panose="02010609060101010101" pitchFamily="49" charset="-122"/>
                <a:cs typeface="Times New Roman" panose="02020603050405020304" pitchFamily="18" charset="0"/>
              </a:rPr>
              <a:t> </a:t>
            </a:r>
            <a:r>
              <a:rPr lang="ko-Kore-KR" altLang="ko-Kore-KR" sz="3200" b="1" kern="100">
                <a:effectLst/>
                <a:latin typeface="Calibri" panose="020F0502020204030204" pitchFamily="34" charset="0"/>
                <a:ea typeface="KaiTi" panose="02010609060101010101" pitchFamily="49" charset="-122"/>
                <a:cs typeface="Times New Roman" panose="02020603050405020304" pitchFamily="18" charset="0"/>
              </a:rPr>
              <a:t>相似性与距离度量</a:t>
            </a:r>
            <a:endParaRPr lang="ko-Kore-KR" altLang="ko-Kore-KR" sz="3200" kern="100">
              <a:effectLst/>
              <a:latin typeface="Calibri" panose="020F0502020204030204" pitchFamily="34" charset="0"/>
              <a:ea typeface="맑은 고딕" panose="020B0503020000020004" pitchFamily="34" charset="-127"/>
              <a:cs typeface="Times New Roman" panose="02020603050405020304" pitchFamily="18" charset="0"/>
            </a:endParaRPr>
          </a:p>
          <a:p>
            <a:pPr marL="342900" lvl="0" indent="-342900" algn="just" latinLnBrk="1">
              <a:buFont typeface="Wingdings" pitchFamily="2" charset="2"/>
              <a:buChar char="q"/>
              <a:tabLst>
                <a:tab pos="457200" algn="l"/>
              </a:tabLst>
            </a:pPr>
            <a:r>
              <a:rPr lang="zh-CN" altLang="en-US" sz="3200" b="1" kern="100">
                <a:effectLst/>
                <a:latin typeface="Calibri" panose="020F0502020204030204" pitchFamily="34" charset="0"/>
                <a:ea typeface="KaiTi" panose="02010609060101010101" pitchFamily="49" charset="-122"/>
                <a:cs typeface="Times New Roman" panose="02020603050405020304" pitchFamily="18" charset="0"/>
              </a:rPr>
              <a:t> </a:t>
            </a:r>
            <a:r>
              <a:rPr lang="ko-Kore-KR" altLang="ko-Kore-KR" sz="3200" b="1" kern="100">
                <a:effectLst/>
                <a:latin typeface="Calibri" panose="020F0502020204030204" pitchFamily="34" charset="0"/>
                <a:ea typeface="KaiTi" panose="02010609060101010101" pitchFamily="49" charset="-122"/>
                <a:cs typeface="Times New Roman" panose="02020603050405020304" pitchFamily="18" charset="0"/>
              </a:rPr>
              <a:t>数据质量、数据清洗与数据集成</a:t>
            </a:r>
            <a:endParaRPr lang="ko-Kore-KR" altLang="ko-Kore-KR" sz="3200" kern="100">
              <a:effectLst/>
              <a:latin typeface="Calibri" panose="020F0502020204030204" pitchFamily="34" charset="0"/>
              <a:ea typeface="맑은 고딕" panose="020B0503020000020004" pitchFamily="34" charset="-127"/>
              <a:cs typeface="Times New Roman" panose="02020603050405020304" pitchFamily="18" charset="0"/>
            </a:endParaRPr>
          </a:p>
          <a:p>
            <a:pPr marL="342900" lvl="0" indent="-342900" algn="just" latinLnBrk="1">
              <a:buFont typeface="Wingdings" pitchFamily="2" charset="2"/>
              <a:buChar char="q"/>
              <a:tabLst>
                <a:tab pos="457200" algn="l"/>
              </a:tabLst>
            </a:pPr>
            <a:r>
              <a:rPr lang="zh-CN" altLang="en-US" sz="3200" b="1" kern="100">
                <a:effectLst/>
                <a:latin typeface="Calibri" panose="020F0502020204030204" pitchFamily="34" charset="0"/>
                <a:ea typeface="KaiTi" panose="02010609060101010101" pitchFamily="49" charset="-122"/>
                <a:cs typeface="Times New Roman" panose="02020603050405020304" pitchFamily="18" charset="0"/>
              </a:rPr>
              <a:t> </a:t>
            </a:r>
            <a:r>
              <a:rPr lang="ko-Kore-KR" altLang="ko-Kore-KR" sz="3200" b="1" kern="100">
                <a:effectLst/>
                <a:latin typeface="Calibri" panose="020F0502020204030204" pitchFamily="34" charset="0"/>
                <a:ea typeface="KaiTi" panose="02010609060101010101" pitchFamily="49" charset="-122"/>
                <a:cs typeface="Times New Roman" panose="02020603050405020304" pitchFamily="18" charset="0"/>
              </a:rPr>
              <a:t>数据转换</a:t>
            </a:r>
            <a:endParaRPr lang="ko-Kore-KR" altLang="ko-Kore-KR" sz="3200" kern="100">
              <a:effectLst/>
              <a:latin typeface="Calibri" panose="020F0502020204030204" pitchFamily="34" charset="0"/>
              <a:ea typeface="맑은 고딕" panose="020B0503020000020004" pitchFamily="34" charset="-127"/>
              <a:cs typeface="Times New Roman" panose="02020603050405020304" pitchFamily="18" charset="0"/>
            </a:endParaRPr>
          </a:p>
          <a:p>
            <a:pPr marL="342900" lvl="0" indent="-342900" algn="just" latinLnBrk="1">
              <a:buFont typeface="Wingdings" pitchFamily="2" charset="2"/>
              <a:buChar char="q"/>
              <a:tabLst>
                <a:tab pos="457200" algn="l"/>
              </a:tabLst>
            </a:pPr>
            <a:r>
              <a:rPr lang="zh-CN" altLang="en-US" sz="3200" b="1" kern="100">
                <a:effectLst/>
                <a:latin typeface="Calibri" panose="020F0502020204030204" pitchFamily="34" charset="0"/>
                <a:ea typeface="KaiTi" panose="02010609060101010101" pitchFamily="49" charset="-122"/>
                <a:cs typeface="Times New Roman" panose="02020603050405020304" pitchFamily="18" charset="0"/>
              </a:rPr>
              <a:t> </a:t>
            </a:r>
            <a:r>
              <a:rPr lang="ko-Kore-KR" altLang="ko-Kore-KR" sz="3200" b="1" kern="100">
                <a:effectLst/>
                <a:latin typeface="Calibri" panose="020F0502020204030204" pitchFamily="34" charset="0"/>
                <a:ea typeface="KaiTi" panose="02010609060101010101" pitchFamily="49" charset="-122"/>
                <a:cs typeface="Times New Roman" panose="02020603050405020304" pitchFamily="18" charset="0"/>
              </a:rPr>
              <a:t>维度缩减</a:t>
            </a:r>
            <a:endParaRPr lang="ko-Kore-KR" altLang="ko-Kore-KR" sz="3200" kern="100">
              <a:effectLst/>
              <a:latin typeface="Calibri" panose="020F0502020204030204" pitchFamily="34" charset="0"/>
              <a:ea typeface="맑은 고딕" panose="020B0503020000020004" pitchFamily="34" charset="-127"/>
              <a:cs typeface="Times New Roman" panose="02020603050405020304" pitchFamily="18" charset="0"/>
            </a:endParaRPr>
          </a:p>
          <a:p>
            <a:pPr marL="342900" lvl="0" indent="-342900" algn="just" latinLnBrk="1">
              <a:buFont typeface="Wingdings" pitchFamily="2" charset="2"/>
              <a:buChar char="q"/>
              <a:tabLst>
                <a:tab pos="457200" algn="l"/>
              </a:tabLst>
            </a:pPr>
            <a:r>
              <a:rPr lang="zh-CN" altLang="en-US" sz="3200" b="1" kern="100">
                <a:effectLst/>
                <a:latin typeface="Calibri" panose="020F0502020204030204" pitchFamily="34" charset="0"/>
                <a:ea typeface="KaiTi" panose="02010609060101010101" pitchFamily="49" charset="-122"/>
                <a:cs typeface="Times New Roman" panose="02020603050405020304" pitchFamily="18" charset="0"/>
              </a:rPr>
              <a:t> </a:t>
            </a:r>
            <a:r>
              <a:rPr lang="ko-Kore-KR" altLang="ko-Kore-KR" sz="3200" b="1" kern="100">
                <a:effectLst/>
                <a:latin typeface="Calibri" panose="020F0502020204030204" pitchFamily="34" charset="0"/>
                <a:ea typeface="KaiTi" panose="02010609060101010101" pitchFamily="49" charset="-122"/>
                <a:cs typeface="Times New Roman" panose="02020603050405020304" pitchFamily="18" charset="0"/>
              </a:rPr>
              <a:t>总结</a:t>
            </a:r>
            <a:endParaRPr lang="ko-Kore-KR" altLang="ko-Kore-KR" sz="320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3670404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p:cNvSpPr>
            <a:spLocks noGrp="1" noChangeArrowheads="1"/>
          </p:cNvSpPr>
          <p:nvPr>
            <p:ph type="body" idx="1"/>
          </p:nvPr>
        </p:nvSpPr>
        <p:spPr/>
        <p:txBody>
          <a:bodyPr/>
          <a:lstStyle/>
          <a:p>
            <a:pPr eaLnBrk="1" hangingPunct="1">
              <a:lnSpc>
                <a:spcPct val="120000"/>
              </a:lnSpc>
            </a:pPr>
            <a:r>
              <a:rPr lang="ko-KR" altLang="en-US" sz="2400" dirty="0">
                <a:latin typeface="STKaiti" panose="02010600040101010101" pitchFamily="2" charset="-122"/>
                <a:ea typeface="STKaiti" panose="02010600040101010101" pitchFamily="2" charset="-122"/>
              </a:rPr>
              <a:t>数据集由数据对象组成</a:t>
            </a:r>
          </a:p>
          <a:p>
            <a:pPr eaLnBrk="1" hangingPunct="1">
              <a:lnSpc>
                <a:spcPct val="120000"/>
              </a:lnSpc>
            </a:pPr>
            <a:r>
              <a:rPr lang="ko-KR" altLang="en-US" sz="2400" dirty="0">
                <a:latin typeface="STKaiti" panose="02010600040101010101" pitchFamily="2" charset="-122"/>
                <a:ea typeface="STKaiti" panose="02010600040101010101" pitchFamily="2" charset="-122"/>
              </a:rPr>
              <a:t>数据对象表示一个实体</a:t>
            </a:r>
            <a:endParaRPr lang="en-US" altLang="ko-KR" sz="2400" dirty="0">
              <a:latin typeface="STKaiti" panose="02010600040101010101" pitchFamily="2" charset="-122"/>
              <a:ea typeface="STKaiti" panose="02010600040101010101" pitchFamily="2" charset="-122"/>
            </a:endParaRPr>
          </a:p>
          <a:p>
            <a:pPr eaLnBrk="1" hangingPunct="1">
              <a:lnSpc>
                <a:spcPct val="120000"/>
              </a:lnSpc>
            </a:pPr>
            <a:r>
              <a:rPr lang="en-US" altLang="en-US" sz="2400" dirty="0">
                <a:latin typeface="STKaiti" panose="02010600040101010101" pitchFamily="2" charset="-122"/>
                <a:ea typeface="STKaiti" panose="02010600040101010101" pitchFamily="2" charset="-122"/>
              </a:rPr>
              <a:t>示例: </a:t>
            </a:r>
          </a:p>
          <a:p>
            <a:pPr lvl="1" eaLnBrk="1" hangingPunct="1">
              <a:lnSpc>
                <a:spcPct val="120000"/>
              </a:lnSpc>
            </a:pPr>
            <a:r>
              <a:rPr lang="ko-KR" altLang="en-US" sz="2400" dirty="0">
                <a:latin typeface="STKaiti" panose="02010600040101010101" pitchFamily="2" charset="-122"/>
                <a:ea typeface="STKaiti" panose="02010600040101010101" pitchFamily="2" charset="-122"/>
              </a:rPr>
              <a:t>销售数据库：客户、商品、销售记录</a:t>
            </a:r>
          </a:p>
          <a:p>
            <a:pPr lvl="1" eaLnBrk="1" hangingPunct="1">
              <a:lnSpc>
                <a:spcPct val="120000"/>
              </a:lnSpc>
            </a:pPr>
            <a:r>
              <a:rPr lang="ko-KR" altLang="en-US" sz="2400" dirty="0">
                <a:latin typeface="STKaiti" panose="02010600040101010101" pitchFamily="2" charset="-122"/>
                <a:ea typeface="STKaiti" panose="02010600040101010101" pitchFamily="2" charset="-122"/>
              </a:rPr>
              <a:t>医疗数据库：患者、治疗方案</a:t>
            </a:r>
          </a:p>
          <a:p>
            <a:pPr lvl="1" eaLnBrk="1" hangingPunct="1">
              <a:lnSpc>
                <a:spcPct val="120000"/>
              </a:lnSpc>
            </a:pPr>
            <a:r>
              <a:rPr lang="ko-KR" altLang="en-US" sz="2400" dirty="0">
                <a:latin typeface="STKaiti" panose="02010600040101010101" pitchFamily="2" charset="-122"/>
                <a:ea typeface="STKaiti" panose="02010600040101010101" pitchFamily="2" charset="-122"/>
              </a:rPr>
              <a:t>大学数据库：学生、教授、课程</a:t>
            </a:r>
            <a:endParaRPr lang="en-US" altLang="ko-KR" sz="2400" dirty="0">
              <a:latin typeface="STKaiti" panose="02010600040101010101" pitchFamily="2" charset="-122"/>
              <a:ea typeface="STKaiti" panose="02010600040101010101" pitchFamily="2" charset="-122"/>
            </a:endParaRPr>
          </a:p>
          <a:p>
            <a:pPr marL="461951" lvl="1" indent="-461951">
              <a:lnSpc>
                <a:spcPct val="120000"/>
              </a:lnSpc>
              <a:buClr>
                <a:srgbClr val="0000CC"/>
              </a:buClr>
            </a:pPr>
            <a:r>
              <a:rPr lang="ko-KR" altLang="en-US" sz="2400" dirty="0">
                <a:latin typeface="STKaiti" panose="02010600040101010101" pitchFamily="2" charset="-122"/>
                <a:ea typeface="STKaiti" panose="02010600040101010101" pitchFamily="2" charset="-122"/>
              </a:rPr>
              <a:t>也称为样本、示例、实例、数据点、对象、元组</a:t>
            </a:r>
            <a:endParaRPr lang="en-US" altLang="ko-KR" sz="2400" dirty="0">
              <a:latin typeface="STKaiti" panose="02010600040101010101" pitchFamily="2" charset="-122"/>
              <a:ea typeface="STKaiti" panose="02010600040101010101" pitchFamily="2" charset="-122"/>
            </a:endParaRPr>
          </a:p>
          <a:p>
            <a:pPr marL="461951" lvl="1" indent="-461951">
              <a:lnSpc>
                <a:spcPct val="120000"/>
              </a:lnSpc>
              <a:buClr>
                <a:srgbClr val="0000CC"/>
              </a:buClr>
            </a:pPr>
            <a:r>
              <a:rPr lang="ko-KR" altLang="en-US" sz="2400" dirty="0">
                <a:latin typeface="STKaiti" panose="02010600040101010101" pitchFamily="2" charset="-122"/>
                <a:ea typeface="STKaiti" panose="02010600040101010101" pitchFamily="2" charset="-122"/>
              </a:rPr>
              <a:t>数据对象由属性描述</a:t>
            </a:r>
          </a:p>
          <a:p>
            <a:pPr marL="461951" lvl="1" indent="-461951">
              <a:lnSpc>
                <a:spcPct val="120000"/>
              </a:lnSpc>
              <a:buClr>
                <a:srgbClr val="0000CC"/>
              </a:buClr>
            </a:pPr>
            <a:r>
              <a:rPr lang="ko-KR" altLang="en-US" sz="2400" dirty="0">
                <a:latin typeface="STKaiti" panose="02010600040101010101" pitchFamily="2" charset="-122"/>
                <a:ea typeface="STKaiti" panose="02010600040101010101" pitchFamily="2" charset="-122"/>
              </a:rPr>
              <a:t>数据库行 → 数据对象；列 → 属性</a:t>
            </a:r>
            <a:endParaRPr lang="en-US" altLang="en-US" sz="2400" dirty="0">
              <a:latin typeface="STKaiti" panose="02010600040101010101" pitchFamily="2" charset="-122"/>
              <a:ea typeface="STKaiti" panose="02010600040101010101" pitchFamily="2" charset="-122"/>
            </a:endParaRPr>
          </a:p>
        </p:txBody>
      </p:sp>
      <p:sp>
        <p:nvSpPr>
          <p:cNvPr id="3" name="제목 2">
            <a:extLst>
              <a:ext uri="{FF2B5EF4-FFF2-40B4-BE49-F238E27FC236}">
                <a16:creationId xmlns:a16="http://schemas.microsoft.com/office/drawing/2014/main" id="{E44E9AEB-DE9C-9DF4-F505-71BB71C6795B}"/>
              </a:ext>
            </a:extLst>
          </p:cNvPr>
          <p:cNvSpPr>
            <a:spLocks noGrp="1"/>
          </p:cNvSpPr>
          <p:nvPr>
            <p:ph type="title"/>
          </p:nvPr>
        </p:nvSpPr>
        <p:spPr/>
        <p:txBody>
          <a:bodyPr/>
          <a:lstStyle/>
          <a:p>
            <a:r>
              <a:rPr lang="ko-Kore-KR" altLang="en-US"/>
              <a:t>数据对象</a:t>
            </a:r>
          </a:p>
        </p:txBody>
      </p:sp>
    </p:spTree>
    <p:extLst>
      <p:ext uri="{BB962C8B-B14F-4D97-AF65-F5344CB8AC3E}">
        <p14:creationId xmlns:p14="http://schemas.microsoft.com/office/powerpoint/2010/main" val="1346478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altLang="en-US" dirty="0"/>
              <a:t>属性</a:t>
            </a:r>
          </a:p>
        </p:txBody>
      </p:sp>
      <p:sp>
        <p:nvSpPr>
          <p:cNvPr id="12292" name="Rectangle 3"/>
          <p:cNvSpPr>
            <a:spLocks noGrp="1" noChangeArrowheads="1"/>
          </p:cNvSpPr>
          <p:nvPr>
            <p:ph type="body" idx="1"/>
          </p:nvPr>
        </p:nvSpPr>
        <p:spPr>
          <a:xfrm>
            <a:off x="590924" y="1175084"/>
            <a:ext cx="11130024" cy="5596908"/>
          </a:xfrm>
        </p:spPr>
        <p:txBody>
          <a:bodyPr/>
          <a:lstStyle/>
          <a:p>
            <a:pPr eaLnBrk="1" hangingPunct="1"/>
            <a:r>
              <a:rPr lang="ko-KR" altLang="en-US" sz="2200" dirty="0">
                <a:latin typeface="STKaiti" panose="02010600040101010101" pitchFamily="2" charset="-122"/>
                <a:ea typeface="STKaiti" panose="02010600040101010101" pitchFamily="2" charset="-122"/>
              </a:rPr>
              <a:t>属性（或维度、特征、变量） </a:t>
            </a:r>
            <a:endParaRPr lang="en-US" altLang="en-US" sz="2200" dirty="0">
              <a:latin typeface="STKaiti" panose="02010600040101010101" pitchFamily="2" charset="-122"/>
              <a:ea typeface="STKaiti" panose="02010600040101010101" pitchFamily="2" charset="-122"/>
            </a:endParaRPr>
          </a:p>
          <a:p>
            <a:pPr lvl="1"/>
            <a:r>
              <a:rPr lang="ko-KR" altLang="en-US" sz="2200" dirty="0">
                <a:latin typeface="STKaiti" panose="02010600040101010101" pitchFamily="2" charset="-122"/>
                <a:ea typeface="STKaiti" panose="02010600040101010101" pitchFamily="2" charset="-122"/>
              </a:rPr>
              <a:t>数据字段，代表数据对象的特征或属性。  </a:t>
            </a:r>
          </a:p>
          <a:p>
            <a:pPr lvl="1"/>
            <a:r>
              <a:rPr lang="ko-KR" altLang="en-US" sz="2200" dirty="0">
                <a:latin typeface="STKaiti" panose="02010600040101010101" pitchFamily="2" charset="-122"/>
                <a:ea typeface="STKaiti" panose="02010600040101010101" pitchFamily="2" charset="-122"/>
              </a:rPr>
              <a:t>例如：</a:t>
            </a:r>
            <a:r>
              <a:rPr lang="en-US" altLang="en-US" sz="2200" dirty="0">
                <a:latin typeface="STKaiti" panose="02010600040101010101" pitchFamily="2" charset="-122"/>
                <a:ea typeface="STKaiti" panose="02010600040101010101" pitchFamily="2" charset="-122"/>
              </a:rPr>
              <a:t>客户ID、</a:t>
            </a:r>
            <a:r>
              <a:rPr lang="ko-KR" altLang="en-US" sz="2200" dirty="0">
                <a:latin typeface="STKaiti" panose="02010600040101010101" pitchFamily="2" charset="-122"/>
                <a:ea typeface="STKaiti" panose="02010600040101010101" pitchFamily="2" charset="-122"/>
              </a:rPr>
              <a:t>姓名、地址 </a:t>
            </a:r>
            <a:endParaRPr lang="en-US" altLang="en-US" sz="2200" i="1" dirty="0">
              <a:latin typeface="STKaiti" panose="02010600040101010101" pitchFamily="2" charset="-122"/>
              <a:ea typeface="STKaiti" panose="02010600040101010101" pitchFamily="2" charset="-122"/>
            </a:endParaRPr>
          </a:p>
          <a:p>
            <a:pPr eaLnBrk="1" hangingPunct="1"/>
            <a:r>
              <a:rPr lang="en-US" altLang="en-US" sz="2200" dirty="0">
                <a:latin typeface="STKaiti" panose="02010600040101010101" pitchFamily="2" charset="-122"/>
                <a:ea typeface="STKaiti" panose="02010600040101010101" pitchFamily="2" charset="-122"/>
              </a:rPr>
              <a:t>类型:</a:t>
            </a:r>
          </a:p>
          <a:p>
            <a:pPr lvl="1" eaLnBrk="1" hangingPunct="1"/>
            <a:r>
              <a:rPr lang="zh-CN" altLang="en-US" sz="2200" dirty="0">
                <a:ea typeface="STKaiti" panose="02010600040101010101" pitchFamily="2" charset="-122"/>
              </a:rPr>
              <a:t>标称</a:t>
            </a:r>
            <a:r>
              <a:rPr lang="ko-KR" altLang="en-US" sz="2200" dirty="0">
                <a:latin typeface="STKaiti" panose="02010600040101010101" pitchFamily="2" charset="-122"/>
                <a:ea typeface="STKaiti" panose="02010600040101010101" pitchFamily="2" charset="-122"/>
              </a:rPr>
              <a:t>型</a:t>
            </a:r>
            <a:r>
              <a:rPr lang="en-US" altLang="ko-KR" sz="2200" dirty="0">
                <a:latin typeface="STKaiti" panose="02010600040101010101" pitchFamily="2" charset="-122"/>
                <a:ea typeface="STKaiti" panose="02010600040101010101" pitchFamily="2" charset="-122"/>
              </a:rPr>
              <a:t>（Nominal）：</a:t>
            </a:r>
            <a:r>
              <a:rPr lang="ko-KR" altLang="en-US" sz="2200" dirty="0">
                <a:latin typeface="STKaiti" panose="02010600040101010101" pitchFamily="2" charset="-122"/>
                <a:ea typeface="STKaiti" panose="02010600040101010101" pitchFamily="2" charset="-122"/>
              </a:rPr>
              <a:t>（例如：红色、蓝色）  </a:t>
            </a:r>
          </a:p>
          <a:p>
            <a:pPr lvl="1" eaLnBrk="1" hangingPunct="1"/>
            <a:r>
              <a:rPr lang="ko-KR" altLang="en-US" sz="2200" dirty="0">
                <a:latin typeface="STKaiti" panose="02010600040101010101" pitchFamily="2" charset="-122"/>
                <a:ea typeface="STKaiti" panose="02010600040101010101" pitchFamily="2" charset="-122"/>
              </a:rPr>
              <a:t>二元型</a:t>
            </a:r>
            <a:r>
              <a:rPr lang="en-US" altLang="ko-KR" sz="2200" dirty="0">
                <a:latin typeface="STKaiti" panose="02010600040101010101" pitchFamily="2" charset="-122"/>
                <a:ea typeface="STKaiti" panose="02010600040101010101" pitchFamily="2" charset="-122"/>
              </a:rPr>
              <a:t>(Binary):</a:t>
            </a:r>
            <a:r>
              <a:rPr lang="ko-KR" altLang="en-US" sz="2200" dirty="0">
                <a:latin typeface="STKaiti" panose="02010600040101010101" pitchFamily="2" charset="-122"/>
                <a:ea typeface="STKaiti" panose="02010600040101010101" pitchFamily="2" charset="-122"/>
              </a:rPr>
              <a:t>（例如：</a:t>
            </a:r>
            <a:r>
              <a:rPr lang="en-US" altLang="ko-KR" sz="2200" dirty="0">
                <a:latin typeface="STKaiti" panose="02010600040101010101" pitchFamily="2" charset="-122"/>
                <a:ea typeface="STKaiti" panose="02010600040101010101" pitchFamily="2" charset="-122"/>
              </a:rPr>
              <a:t>{</a:t>
            </a:r>
            <a:r>
              <a:rPr lang="ko-KR" altLang="en-US" sz="2200" dirty="0">
                <a:latin typeface="STKaiti" panose="02010600040101010101" pitchFamily="2" charset="-122"/>
                <a:ea typeface="STKaiti" panose="02010600040101010101" pitchFamily="2" charset="-122"/>
              </a:rPr>
              <a:t>真，假</a:t>
            </a:r>
            <a:r>
              <a:rPr lang="en-US" altLang="ko-KR" sz="2200" dirty="0">
                <a:latin typeface="STKaiti" panose="02010600040101010101" pitchFamily="2" charset="-122"/>
                <a:ea typeface="STKaiti" panose="02010600040101010101" pitchFamily="2" charset="-122"/>
              </a:rPr>
              <a:t>}</a:t>
            </a:r>
            <a:r>
              <a:rPr lang="ko-KR" altLang="en-US" sz="2200" dirty="0">
                <a:latin typeface="STKaiti" panose="02010600040101010101" pitchFamily="2" charset="-122"/>
                <a:ea typeface="STKaiti" panose="02010600040101010101" pitchFamily="2" charset="-122"/>
              </a:rPr>
              <a:t>）  </a:t>
            </a:r>
          </a:p>
          <a:p>
            <a:pPr lvl="1" eaLnBrk="1" hangingPunct="1"/>
            <a:r>
              <a:rPr lang="zh-CN" altLang="en-US" sz="2200" dirty="0">
                <a:latin typeface="STKaiti" panose="02010600040101010101" pitchFamily="2" charset="-122"/>
                <a:ea typeface="STKaiti" panose="02010600040101010101" pitchFamily="2" charset="-122"/>
              </a:rPr>
              <a:t>序数</a:t>
            </a:r>
            <a:r>
              <a:rPr lang="ko-KR" altLang="en-US" sz="2200" dirty="0">
                <a:latin typeface="STKaiti" panose="02010600040101010101" pitchFamily="2" charset="-122"/>
                <a:ea typeface="STKaiti" panose="02010600040101010101" pitchFamily="2" charset="-122"/>
              </a:rPr>
              <a:t>型</a:t>
            </a:r>
            <a:r>
              <a:rPr lang="en-US" altLang="ko-KR" sz="2200" dirty="0">
                <a:latin typeface="STKaiti" panose="02010600040101010101" pitchFamily="2" charset="-122"/>
                <a:ea typeface="STKaiti" panose="02010600040101010101" pitchFamily="2" charset="-122"/>
              </a:rPr>
              <a:t>(Ordinal):</a:t>
            </a:r>
            <a:r>
              <a:rPr lang="ko-KR" altLang="en-US" sz="2200" dirty="0">
                <a:latin typeface="STKaiti" panose="02010600040101010101" pitchFamily="2" charset="-122"/>
                <a:ea typeface="STKaiti" panose="02010600040101010101" pitchFamily="2" charset="-122"/>
              </a:rPr>
              <a:t>（例如：大一、大二、大三、大四）</a:t>
            </a:r>
          </a:p>
          <a:p>
            <a:pPr lvl="1" eaLnBrk="1" hangingPunct="1"/>
            <a:r>
              <a:rPr lang="ko-KR" altLang="en-US" sz="2200" dirty="0">
                <a:latin typeface="STKaiti" panose="02010600040101010101" pitchFamily="2" charset="-122"/>
                <a:ea typeface="STKaiti" panose="02010600040101010101" pitchFamily="2" charset="-122"/>
              </a:rPr>
              <a:t>数值型</a:t>
            </a:r>
            <a:r>
              <a:rPr lang="en-US" altLang="ko-KR" sz="2200" dirty="0">
                <a:latin typeface="STKaiti" panose="02010600040101010101" pitchFamily="2" charset="-122"/>
                <a:ea typeface="STKaiti" panose="02010600040101010101" pitchFamily="2" charset="-122"/>
              </a:rPr>
              <a:t>(Numeric)</a:t>
            </a:r>
            <a:r>
              <a:rPr lang="ko-KR" altLang="en-US" sz="2200" dirty="0">
                <a:latin typeface="STKaiti" panose="02010600040101010101" pitchFamily="2" charset="-122"/>
                <a:ea typeface="STKaiti" panose="02010600040101010101" pitchFamily="2" charset="-122"/>
              </a:rPr>
              <a:t>：定量</a:t>
            </a:r>
            <a:r>
              <a:rPr lang="en-US" altLang="ko-KR" sz="2200" dirty="0">
                <a:latin typeface="STKaiti" panose="02010600040101010101" pitchFamily="2" charset="-122"/>
                <a:ea typeface="STKaiti" panose="02010600040101010101" pitchFamily="2" charset="-122"/>
              </a:rPr>
              <a:t>(Quantitative)</a:t>
            </a:r>
            <a:endParaRPr lang="en-US" altLang="en-US" sz="2200" dirty="0">
              <a:latin typeface="STKaiti" panose="02010600040101010101" pitchFamily="2" charset="-122"/>
              <a:ea typeface="STKaiti" panose="02010600040101010101" pitchFamily="2" charset="-122"/>
            </a:endParaRPr>
          </a:p>
          <a:p>
            <a:pPr lvl="2" eaLnBrk="1" hangingPunct="1"/>
            <a:r>
              <a:rPr lang="en-US" altLang="en-US" sz="2200" dirty="0">
                <a:latin typeface="STKaiti" panose="02010600040101010101" pitchFamily="2" charset="-122"/>
                <a:ea typeface="STKaiti" panose="02010600040101010101" pitchFamily="2" charset="-122"/>
              </a:rPr>
              <a:t>间隔尺度(Interval-scaled): 100</a:t>
            </a:r>
            <a:r>
              <a:rPr lang="en-US" altLang="en-US" sz="2200" baseline="30000" dirty="0">
                <a:latin typeface="STKaiti" panose="02010600040101010101" pitchFamily="2" charset="-122"/>
                <a:ea typeface="STKaiti" panose="02010600040101010101" pitchFamily="2" charset="-122"/>
              </a:rPr>
              <a:t>○</a:t>
            </a:r>
            <a:r>
              <a:rPr lang="en-US" altLang="en-US" sz="2200" dirty="0">
                <a:latin typeface="STKaiti" panose="02010600040101010101" pitchFamily="2" charset="-122"/>
                <a:ea typeface="STKaiti" panose="02010600040101010101" pitchFamily="2" charset="-122"/>
              </a:rPr>
              <a:t> C </a:t>
            </a:r>
          </a:p>
          <a:p>
            <a:pPr lvl="2" eaLnBrk="1" hangingPunct="1"/>
            <a:r>
              <a:rPr lang="en-US" altLang="en-US" sz="2200" dirty="0">
                <a:latin typeface="STKaiti" panose="02010600040101010101" pitchFamily="2" charset="-122"/>
                <a:ea typeface="STKaiti" panose="02010600040101010101" pitchFamily="2" charset="-122"/>
              </a:rPr>
              <a:t>比率尺度(Ratio-scaled): 100</a:t>
            </a:r>
            <a:r>
              <a:rPr lang="en-US" altLang="en-US" sz="2200" baseline="30000" dirty="0">
                <a:latin typeface="STKaiti" panose="02010600040101010101" pitchFamily="2" charset="-122"/>
                <a:ea typeface="STKaiti" panose="02010600040101010101" pitchFamily="2" charset="-122"/>
              </a:rPr>
              <a:t>○</a:t>
            </a:r>
            <a:r>
              <a:rPr lang="en-US" altLang="en-US" sz="2200" dirty="0">
                <a:latin typeface="STKaiti" panose="02010600040101010101" pitchFamily="2" charset="-122"/>
                <a:ea typeface="STKaiti" panose="02010600040101010101" pitchFamily="2" charset="-122"/>
              </a:rPr>
              <a:t> K 是比率尺度，因为比50</a:t>
            </a:r>
            <a:r>
              <a:rPr lang="en-US" altLang="en-US" sz="2200" baseline="30000" dirty="0">
                <a:latin typeface="STKaiti" panose="02010600040101010101" pitchFamily="2" charset="-122"/>
                <a:ea typeface="STKaiti" panose="02010600040101010101" pitchFamily="2" charset="-122"/>
              </a:rPr>
              <a:t> ○</a:t>
            </a:r>
            <a:r>
              <a:rPr lang="en-US" altLang="en-US" sz="2200" dirty="0">
                <a:latin typeface="STKaiti" panose="02010600040101010101" pitchFamily="2" charset="-122"/>
                <a:ea typeface="STKaiti" panose="02010600040101010101" pitchFamily="2" charset="-122"/>
              </a:rPr>
              <a:t> K高一倍</a:t>
            </a:r>
          </a:p>
          <a:p>
            <a:pPr lvl="1"/>
            <a:r>
              <a:rPr lang="en-US" sz="2200" dirty="0">
                <a:latin typeface="STKaiti" panose="02010600040101010101" pitchFamily="2" charset="-122"/>
                <a:ea typeface="STKaiti" panose="02010600040101010101" pitchFamily="2" charset="-122"/>
              </a:rPr>
              <a:t>离散属性(Discrete) vs. 连续属性(Continuous Attributes)</a:t>
            </a:r>
          </a:p>
        </p:txBody>
      </p:sp>
      <p:pic>
        <p:nvPicPr>
          <p:cNvPr id="2" name="图片 6">
            <a:extLst>
              <a:ext uri="{FF2B5EF4-FFF2-40B4-BE49-F238E27FC236}">
                <a16:creationId xmlns:a16="http://schemas.microsoft.com/office/drawing/2014/main" id="{8060D866-CAE6-7F20-75F8-5EBC2F122C91}"/>
              </a:ext>
            </a:extLst>
          </p:cNvPr>
          <p:cNvPicPr>
            <a:picLocks noChangeAspect="1"/>
          </p:cNvPicPr>
          <p:nvPr/>
        </p:nvPicPr>
        <p:blipFill>
          <a:blip r:embed="rId3"/>
          <a:stretch>
            <a:fillRect/>
          </a:stretch>
        </p:blipFill>
        <p:spPr>
          <a:xfrm>
            <a:off x="7069092" y="1348203"/>
            <a:ext cx="4763302" cy="2186734"/>
          </a:xfrm>
          <a:prstGeom prst="rect">
            <a:avLst/>
          </a:prstGeom>
        </p:spPr>
      </p:pic>
    </p:spTree>
    <p:extLst>
      <p:ext uri="{BB962C8B-B14F-4D97-AF65-F5344CB8AC3E}">
        <p14:creationId xmlns:p14="http://schemas.microsoft.com/office/powerpoint/2010/main" val="2716511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348384" y="221676"/>
            <a:ext cx="11369963" cy="738909"/>
          </a:xfrm>
        </p:spPr>
        <p:txBody>
          <a:bodyPr/>
          <a:lstStyle/>
          <a:p>
            <a:pPr eaLnBrk="1" hangingPunct="1"/>
            <a:r>
              <a:rPr lang="en-US" altLang="en-US" dirty="0"/>
              <a:t>属性类型</a:t>
            </a:r>
          </a:p>
        </p:txBody>
      </p:sp>
      <p:sp>
        <p:nvSpPr>
          <p:cNvPr id="13316" name="Rectangle 3"/>
          <p:cNvSpPr>
            <a:spLocks noGrp="1" noChangeArrowheads="1"/>
          </p:cNvSpPr>
          <p:nvPr>
            <p:ph type="body" idx="1"/>
          </p:nvPr>
        </p:nvSpPr>
        <p:spPr>
          <a:xfrm>
            <a:off x="579583" y="1152525"/>
            <a:ext cx="10907567" cy="5562600"/>
          </a:xfrm>
        </p:spPr>
        <p:txBody>
          <a:bodyPr/>
          <a:lstStyle/>
          <a:p>
            <a:pPr marL="292100" indent="-292100">
              <a:lnSpc>
                <a:spcPct val="90000"/>
              </a:lnSpc>
            </a:pPr>
            <a:r>
              <a:rPr lang="zh-CN" altLang="en-US" sz="2400" b="1" dirty="0">
                <a:latin typeface="STKaiti" panose="02010600040101010101" pitchFamily="2" charset="-122"/>
                <a:ea typeface="STKaiti" panose="02010600040101010101" pitchFamily="2" charset="-122"/>
              </a:rPr>
              <a:t>标称（</a:t>
            </a:r>
            <a:r>
              <a:rPr lang="en-US" altLang="en-US" sz="2400" b="1" dirty="0">
                <a:ea typeface="STKaiti" panose="02010600040101010101" pitchFamily="2" charset="-122"/>
              </a:rPr>
              <a:t> Nominal </a:t>
            </a:r>
            <a:r>
              <a:rPr lang="zh-CN" altLang="en-US" sz="2400" b="1" dirty="0">
                <a:latin typeface="STKaiti" panose="02010600040101010101" pitchFamily="2" charset="-122"/>
                <a:ea typeface="STKaiti" panose="02010600040101010101" pitchFamily="2" charset="-122"/>
              </a:rPr>
              <a:t>）</a:t>
            </a:r>
            <a:r>
              <a:rPr lang="en-US" altLang="en-US" sz="2400" b="1" dirty="0">
                <a:latin typeface="STKaiti" panose="02010600040101010101" pitchFamily="2" charset="-122"/>
                <a:ea typeface="STKaiti" panose="02010600040101010101" pitchFamily="2" charset="-122"/>
              </a:rPr>
              <a:t>：</a:t>
            </a:r>
            <a:r>
              <a:rPr lang="ko-KR" altLang="en-US" sz="2400" dirty="0">
                <a:latin typeface="STKaiti" panose="02010600040101010101" pitchFamily="2" charset="-122"/>
                <a:ea typeface="STKaiti" panose="02010600040101010101" pitchFamily="2" charset="-122"/>
              </a:rPr>
              <a:t>表示类别、状态或“名称”，没有大小或顺序之分。</a:t>
            </a:r>
            <a:endParaRPr lang="en-US" altLang="ko-KR" sz="2400" dirty="0">
              <a:latin typeface="STKaiti" panose="02010600040101010101" pitchFamily="2" charset="-122"/>
              <a:ea typeface="STKaiti" panose="02010600040101010101" pitchFamily="2" charset="-122"/>
            </a:endParaRPr>
          </a:p>
          <a:p>
            <a:pPr marL="749300" lvl="1" indent="-342900">
              <a:lnSpc>
                <a:spcPct val="90000"/>
              </a:lnSpc>
            </a:pPr>
            <a:r>
              <a:rPr lang="ko-KR" altLang="en-US" sz="2400" dirty="0">
                <a:latin typeface="STKaiti" panose="02010600040101010101" pitchFamily="2" charset="-122"/>
                <a:ea typeface="STKaiti" panose="02010600040101010101" pitchFamily="2" charset="-122"/>
              </a:rPr>
              <a:t>发色（</a:t>
            </a:r>
            <a:r>
              <a:rPr lang="en-US" altLang="ko-KR" sz="2400" dirty="0">
                <a:latin typeface="STKaiti" panose="02010600040101010101" pitchFamily="2" charset="-122"/>
                <a:ea typeface="STKaiti" panose="02010600040101010101" pitchFamily="2" charset="-122"/>
              </a:rPr>
              <a:t>Hair_color</a:t>
            </a:r>
            <a:r>
              <a:rPr lang="ko-KR" altLang="en-US" sz="2400" dirty="0">
                <a:latin typeface="STKaiti" panose="02010600040101010101" pitchFamily="2" charset="-122"/>
                <a:ea typeface="STKaiti" panose="02010600040101010101" pitchFamily="2" charset="-122"/>
              </a:rPr>
              <a:t>）：{红褐色、黑色、金色、棕色、灰色、红色、白色}</a:t>
            </a:r>
          </a:p>
          <a:p>
            <a:pPr marL="749300" lvl="1" indent="-342900">
              <a:lnSpc>
                <a:spcPct val="90000"/>
              </a:lnSpc>
            </a:pPr>
            <a:r>
              <a:rPr lang="ko-KR" altLang="en-US" sz="2400" dirty="0">
                <a:latin typeface="STKaiti" panose="02010600040101010101" pitchFamily="2" charset="-122"/>
                <a:ea typeface="STKaiti" panose="02010600040101010101" pitchFamily="2" charset="-122"/>
              </a:rPr>
              <a:t>婚姻状况、职业、身份证号、邮政编码等</a:t>
            </a:r>
            <a:endParaRPr lang="en-US" altLang="ko-KR" sz="2400" dirty="0">
              <a:latin typeface="STKaiti" panose="02010600040101010101" pitchFamily="2" charset="-122"/>
              <a:ea typeface="STKaiti" panose="02010600040101010101" pitchFamily="2" charset="-122"/>
            </a:endParaRPr>
          </a:p>
          <a:p>
            <a:pPr marL="406400" lvl="1" indent="0">
              <a:lnSpc>
                <a:spcPct val="90000"/>
              </a:lnSpc>
              <a:buNone/>
            </a:pPr>
            <a:endParaRPr lang="en-US" altLang="en-US" sz="2400" dirty="0">
              <a:latin typeface="STKaiti" panose="02010600040101010101" pitchFamily="2" charset="-122"/>
              <a:ea typeface="STKaiti" panose="02010600040101010101" pitchFamily="2" charset="-122"/>
            </a:endParaRPr>
          </a:p>
          <a:p>
            <a:pPr marL="292100" indent="-292100">
              <a:lnSpc>
                <a:spcPct val="90000"/>
              </a:lnSpc>
            </a:pPr>
            <a:r>
              <a:rPr lang="en-US" altLang="en-US" sz="2400" b="1" dirty="0">
                <a:latin typeface="STKaiti" panose="02010600040101010101" pitchFamily="2" charset="-122"/>
                <a:ea typeface="STKaiti" panose="02010600040101010101" pitchFamily="2" charset="-122"/>
              </a:rPr>
              <a:t>二元</a:t>
            </a:r>
            <a:r>
              <a:rPr lang="zh-CN" altLang="en-US" sz="2400" b="1" dirty="0">
                <a:latin typeface="STKaiti" panose="02010600040101010101" pitchFamily="2" charset="-122"/>
                <a:ea typeface="STKaiti" panose="02010600040101010101" pitchFamily="2" charset="-122"/>
              </a:rPr>
              <a:t>（</a:t>
            </a:r>
            <a:r>
              <a:rPr lang="en" altLang="zh-CN" sz="2400" b="1" dirty="0">
                <a:latin typeface="STKaiti" panose="02010600040101010101" pitchFamily="2" charset="-122"/>
                <a:ea typeface="STKaiti" panose="02010600040101010101" pitchFamily="2" charset="-122"/>
              </a:rPr>
              <a:t>Binary</a:t>
            </a:r>
            <a:r>
              <a:rPr lang="zh-CN" altLang="en-US" sz="2400" b="1" dirty="0">
                <a:latin typeface="STKaiti" panose="02010600040101010101" pitchFamily="2" charset="-122"/>
                <a:ea typeface="STKaiti" panose="02010600040101010101" pitchFamily="2" charset="-122"/>
              </a:rPr>
              <a:t>）</a:t>
            </a:r>
            <a:endParaRPr lang="en-US" altLang="en-US" sz="2400" b="1" dirty="0">
              <a:latin typeface="STKaiti" panose="02010600040101010101" pitchFamily="2" charset="-122"/>
              <a:ea typeface="STKaiti" panose="02010600040101010101" pitchFamily="2" charset="-122"/>
            </a:endParaRPr>
          </a:p>
          <a:p>
            <a:pPr marL="749300" lvl="1" indent="-342900">
              <a:lnSpc>
                <a:spcPct val="90000"/>
              </a:lnSpc>
            </a:pPr>
            <a:r>
              <a:rPr lang="ko-KR" altLang="en-US" sz="2400" dirty="0">
                <a:latin typeface="STKaiti" panose="02010600040101010101" pitchFamily="2" charset="-122"/>
                <a:ea typeface="STKaiti" panose="02010600040101010101" pitchFamily="2" charset="-122"/>
              </a:rPr>
              <a:t>仅有两个可能的取值（如</a:t>
            </a:r>
            <a:r>
              <a:rPr lang="en-US" altLang="ko-KR" sz="2400" dirty="0">
                <a:latin typeface="STKaiti" panose="02010600040101010101" pitchFamily="2" charset="-122"/>
                <a:ea typeface="STKaiti" panose="02010600040101010101" pitchFamily="2" charset="-122"/>
              </a:rPr>
              <a:t> 0 </a:t>
            </a:r>
            <a:r>
              <a:rPr lang="ko-KR" altLang="en-US" sz="2400" dirty="0">
                <a:latin typeface="STKaiti" panose="02010600040101010101" pitchFamily="2" charset="-122"/>
                <a:ea typeface="STKaiti" panose="02010600040101010101" pitchFamily="2" charset="-122"/>
              </a:rPr>
              <a:t>和</a:t>
            </a:r>
            <a:r>
              <a:rPr lang="en-US" altLang="ko-KR" sz="2400" dirty="0">
                <a:latin typeface="STKaiti" panose="02010600040101010101" pitchFamily="2" charset="-122"/>
                <a:ea typeface="STKaiti" panose="02010600040101010101" pitchFamily="2" charset="-122"/>
              </a:rPr>
              <a:t> 1</a:t>
            </a:r>
            <a:r>
              <a:rPr lang="ko-KR" altLang="en-US" sz="2400" dirty="0">
                <a:latin typeface="STKaiti" panose="02010600040101010101" pitchFamily="2" charset="-122"/>
                <a:ea typeface="STKaiti" panose="02010600040101010101" pitchFamily="2" charset="-122"/>
              </a:rPr>
              <a:t>），可视为特殊的名义型。</a:t>
            </a:r>
            <a:endParaRPr lang="en-US" altLang="ko-KR" sz="2400" dirty="0">
              <a:latin typeface="STKaiti" panose="02010600040101010101" pitchFamily="2" charset="-122"/>
              <a:ea typeface="STKaiti" panose="02010600040101010101" pitchFamily="2" charset="-122"/>
            </a:endParaRPr>
          </a:p>
          <a:p>
            <a:pPr marL="749300" lvl="1" indent="-342900">
              <a:lnSpc>
                <a:spcPct val="90000"/>
              </a:lnSpc>
            </a:pPr>
            <a:r>
              <a:rPr lang="ko-KR" altLang="en-US" sz="2400" u="sng" dirty="0">
                <a:latin typeface="STKaiti" panose="02010600040101010101" pitchFamily="2" charset="-122"/>
                <a:ea typeface="STKaiti" panose="02010600040101010101" pitchFamily="2" charset="-122"/>
              </a:rPr>
              <a:t>对称二元属性（</a:t>
            </a:r>
            <a:r>
              <a:rPr lang="en-US" altLang="en-US" sz="2400" u="sng" dirty="0">
                <a:latin typeface="STKaiti" panose="02010600040101010101" pitchFamily="2" charset="-122"/>
                <a:ea typeface="STKaiti" panose="02010600040101010101" pitchFamily="2" charset="-122"/>
              </a:rPr>
              <a:t>Symmetric Binary</a:t>
            </a:r>
            <a:r>
              <a:rPr lang="zh-CN" altLang="en-US" sz="2400" u="sng" dirty="0">
                <a:latin typeface="STKaiti" panose="02010600040101010101" pitchFamily="2" charset="-122"/>
                <a:ea typeface="STKaiti" panose="02010600040101010101" pitchFamily="2" charset="-122"/>
              </a:rPr>
              <a:t>）：</a:t>
            </a:r>
            <a:r>
              <a:rPr lang="zh-CN" altLang="en-US" sz="2400" dirty="0">
                <a:latin typeface="STKaiti" panose="02010600040101010101" pitchFamily="2" charset="-122"/>
                <a:ea typeface="STKaiti" panose="02010600040101010101" pitchFamily="2" charset="-122"/>
              </a:rPr>
              <a:t>两个取值同等重要（</a:t>
            </a:r>
            <a:r>
              <a:rPr lang="en-US" altLang="zh-CN" sz="2400" dirty="0">
                <a:latin typeface="STKaiti" panose="02010600040101010101" pitchFamily="2" charset="-122"/>
                <a:ea typeface="STKaiti" panose="02010600040101010101" pitchFamily="2" charset="-122"/>
              </a:rPr>
              <a:t>例如</a:t>
            </a:r>
            <a:r>
              <a:rPr lang="zh-CN" altLang="en-US" sz="2400" dirty="0">
                <a:latin typeface="STKaiti" panose="02010600040101010101" pitchFamily="2" charset="-122"/>
                <a:ea typeface="STKaiti" panose="02010600040101010101" pitchFamily="2" charset="-122"/>
              </a:rPr>
              <a:t>性别</a:t>
            </a:r>
            <a:r>
              <a:rPr lang="en-US" altLang="zh-CN" sz="2400" dirty="0">
                <a:latin typeface="STKaiti" panose="02010600040101010101" pitchFamily="2" charset="-122"/>
                <a:ea typeface="STKaiti" panose="02010600040101010101" pitchFamily="2" charset="-122"/>
              </a:rPr>
              <a:t>）</a:t>
            </a:r>
            <a:endParaRPr lang="en-US" altLang="en-US" sz="2400" dirty="0">
              <a:latin typeface="STKaiti" panose="02010600040101010101" pitchFamily="2" charset="-122"/>
              <a:ea typeface="STKaiti" panose="02010600040101010101" pitchFamily="2" charset="-122"/>
            </a:endParaRPr>
          </a:p>
          <a:p>
            <a:pPr marL="749300" lvl="1" indent="-342900">
              <a:lnSpc>
                <a:spcPct val="90000"/>
              </a:lnSpc>
            </a:pPr>
            <a:r>
              <a:rPr lang="ko-KR" altLang="en-US" sz="2400" u="sng" dirty="0">
                <a:latin typeface="STKaiti" panose="02010600040101010101" pitchFamily="2" charset="-122"/>
                <a:ea typeface="STKaiti" panose="02010600040101010101" pitchFamily="2" charset="-122"/>
              </a:rPr>
              <a:t>非对称二元属性（</a:t>
            </a:r>
            <a:r>
              <a:rPr lang="en-US" altLang="en-US" sz="2400" u="sng" dirty="0">
                <a:latin typeface="STKaiti" panose="02010600040101010101" pitchFamily="2" charset="-122"/>
                <a:ea typeface="STKaiti" panose="02010600040101010101" pitchFamily="2" charset="-122"/>
              </a:rPr>
              <a:t>Asymmetric Binary）：</a:t>
            </a:r>
            <a:r>
              <a:rPr lang="ko-KR" altLang="en-US" sz="2400" dirty="0">
                <a:latin typeface="STKaiti" panose="02010600040101010101" pitchFamily="2" charset="-122"/>
                <a:ea typeface="STKaiti" panose="02010600040101010101" pitchFamily="2" charset="-122"/>
              </a:rPr>
              <a:t>两个取值的重要性不同</a:t>
            </a:r>
            <a:endParaRPr lang="en-US" altLang="ko-KR" sz="2400" dirty="0">
              <a:latin typeface="STKaiti" panose="02010600040101010101" pitchFamily="2" charset="-122"/>
              <a:ea typeface="STKaiti" panose="02010600040101010101" pitchFamily="2" charset="-122"/>
            </a:endParaRPr>
          </a:p>
          <a:p>
            <a:pPr marL="869947" lvl="2" indent="-342900">
              <a:lnSpc>
                <a:spcPct val="90000"/>
              </a:lnSpc>
            </a:pPr>
            <a:r>
              <a:rPr lang="zh-CN" altLang="en-US" sz="2400" dirty="0">
                <a:ea typeface="STKaiti" panose="02010600040101010101" pitchFamily="2" charset="-122"/>
              </a:rPr>
              <a:t> </a:t>
            </a:r>
            <a:r>
              <a:rPr lang="en-US" altLang="zh-CN" sz="2400" dirty="0">
                <a:ea typeface="STKaiti" panose="02010600040101010101" pitchFamily="2" charset="-122"/>
              </a:rPr>
              <a:t>eg: </a:t>
            </a:r>
            <a:r>
              <a:rPr lang="ko-KR" altLang="en-US" sz="2400" dirty="0">
                <a:latin typeface="STKaiti" panose="02010600040101010101" pitchFamily="2" charset="-122"/>
                <a:ea typeface="STKaiti" panose="02010600040101010101" pitchFamily="2" charset="-122"/>
              </a:rPr>
              <a:t>医学检测（阳性 </a:t>
            </a:r>
            <a:r>
              <a:rPr lang="en-US" altLang="ko-KR" sz="2400" dirty="0">
                <a:latin typeface="STKaiti" panose="02010600040101010101" pitchFamily="2" charset="-122"/>
                <a:ea typeface="STKaiti" panose="02010600040101010101" pitchFamily="2" charset="-122"/>
              </a:rPr>
              <a:t>vs. </a:t>
            </a:r>
            <a:r>
              <a:rPr lang="ko-KR" altLang="en-US" sz="2400" dirty="0">
                <a:latin typeface="STKaiti" panose="02010600040101010101" pitchFamily="2" charset="-122"/>
                <a:ea typeface="STKaiti" panose="02010600040101010101" pitchFamily="2" charset="-122"/>
              </a:rPr>
              <a:t>阴性）</a:t>
            </a:r>
          </a:p>
          <a:p>
            <a:pPr marL="869947" lvl="2" indent="-342900">
              <a:lnSpc>
                <a:spcPct val="90000"/>
              </a:lnSpc>
            </a:pPr>
            <a:r>
              <a:rPr lang="ko-KR" altLang="en-US" sz="2400" dirty="0">
                <a:ea typeface="STKaiti" panose="02010600040101010101" pitchFamily="2" charset="-122"/>
              </a:rPr>
              <a:t>一般情况下</a:t>
            </a:r>
            <a:r>
              <a:rPr lang="ko-KR" altLang="en-US" sz="2400" dirty="0">
                <a:latin typeface="STKaiti" panose="02010600040101010101" pitchFamily="2" charset="-122"/>
                <a:ea typeface="STKaiti" panose="02010600040101010101" pitchFamily="2" charset="-122"/>
              </a:rPr>
              <a:t>将更重要的结果（如HIV阳性）</a:t>
            </a:r>
            <a:r>
              <a:rPr lang="en-US" altLang="ko-KR" sz="2400" dirty="0">
                <a:latin typeface="STKaiti" panose="02010600040101010101" pitchFamily="2" charset="-122"/>
                <a:ea typeface="STKaiti" panose="02010600040101010101" pitchFamily="2" charset="-122"/>
              </a:rPr>
              <a:t>设为1</a:t>
            </a:r>
          </a:p>
          <a:p>
            <a:pPr marL="406400" lvl="1" indent="0">
              <a:lnSpc>
                <a:spcPct val="90000"/>
              </a:lnSpc>
              <a:buNone/>
            </a:pPr>
            <a:endParaRPr lang="en-US" altLang="en-US" sz="2400" dirty="0">
              <a:latin typeface="STKaiti" panose="02010600040101010101" pitchFamily="2" charset="-122"/>
              <a:ea typeface="STKaiti" panose="02010600040101010101" pitchFamily="2" charset="-122"/>
            </a:endParaRPr>
          </a:p>
          <a:p>
            <a:pPr marL="292100" indent="-292100">
              <a:lnSpc>
                <a:spcPct val="90000"/>
              </a:lnSpc>
            </a:pPr>
            <a:r>
              <a:rPr lang="en-US" altLang="en-US" sz="2400" b="1" dirty="0">
                <a:latin typeface="STKaiti" panose="02010600040101010101" pitchFamily="2" charset="-122"/>
                <a:ea typeface="STKaiti" panose="02010600040101010101" pitchFamily="2" charset="-122"/>
              </a:rPr>
              <a:t>序数</a:t>
            </a:r>
            <a:r>
              <a:rPr lang="zh-CN" altLang="en-US" sz="2400" b="1" dirty="0">
                <a:latin typeface="STKaiti" panose="02010600040101010101" pitchFamily="2" charset="-122"/>
                <a:ea typeface="STKaiti" panose="02010600040101010101" pitchFamily="2" charset="-122"/>
              </a:rPr>
              <a:t>（</a:t>
            </a:r>
            <a:r>
              <a:rPr lang="en" altLang="zh-CN" sz="2400" b="1" dirty="0">
                <a:latin typeface="STKaiti" panose="02010600040101010101" pitchFamily="2" charset="-122"/>
                <a:ea typeface="STKaiti" panose="02010600040101010101" pitchFamily="2" charset="-122"/>
              </a:rPr>
              <a:t>Ordinal </a:t>
            </a:r>
            <a:r>
              <a:rPr lang="zh-CN" altLang="en-US" sz="2400" b="1" dirty="0">
                <a:latin typeface="STKaiti" panose="02010600040101010101" pitchFamily="2" charset="-122"/>
                <a:ea typeface="STKaiti" panose="02010600040101010101" pitchFamily="2" charset="-122"/>
              </a:rPr>
              <a:t>）</a:t>
            </a:r>
            <a:endParaRPr lang="en-US" altLang="en-US" sz="2400" b="1" dirty="0">
              <a:latin typeface="STKaiti" panose="02010600040101010101" pitchFamily="2" charset="-122"/>
              <a:ea typeface="STKaiti" panose="02010600040101010101" pitchFamily="2" charset="-122"/>
            </a:endParaRPr>
          </a:p>
          <a:p>
            <a:pPr marL="749300" lvl="1" indent="-342900">
              <a:lnSpc>
                <a:spcPct val="90000"/>
              </a:lnSpc>
            </a:pPr>
            <a:r>
              <a:rPr lang="ko-KR" altLang="en-US" sz="2400" dirty="0">
                <a:latin typeface="STKaiti" panose="02010600040101010101" pitchFamily="2" charset="-122"/>
                <a:ea typeface="STKaiti" panose="02010600040101010101" pitchFamily="2" charset="-122"/>
              </a:rPr>
              <a:t>属性值之间存在有意义的顺序，但相邻值之间的间隔未知</a:t>
            </a:r>
            <a:endParaRPr lang="en-US" altLang="ko-KR" sz="2400" dirty="0">
              <a:latin typeface="STKaiti" panose="02010600040101010101" pitchFamily="2" charset="-122"/>
              <a:ea typeface="STKaiti" panose="02010600040101010101" pitchFamily="2" charset="-122"/>
            </a:endParaRPr>
          </a:p>
          <a:p>
            <a:pPr marL="749300" lvl="1" indent="-342900">
              <a:lnSpc>
                <a:spcPct val="90000"/>
              </a:lnSpc>
            </a:pPr>
            <a:r>
              <a:rPr lang="en-US" altLang="en-US" sz="2400" i="1" dirty="0">
                <a:latin typeface="STKaiti" panose="02010600040101010101" pitchFamily="2" charset="-122"/>
                <a:ea typeface="STKaiti" panose="02010600040101010101" pitchFamily="2" charset="-122"/>
              </a:rPr>
              <a:t>大小 = </a:t>
            </a:r>
            <a:r>
              <a:rPr lang="en-US" altLang="en-US" sz="2400" dirty="0">
                <a:latin typeface="STKaiti" panose="02010600040101010101" pitchFamily="2" charset="-122"/>
                <a:ea typeface="STKaiti" panose="02010600040101010101" pitchFamily="2" charset="-122"/>
              </a:rPr>
              <a:t>{</a:t>
            </a:r>
            <a:r>
              <a:rPr lang="en-US" altLang="en-US" sz="2400" i="1" dirty="0">
                <a:latin typeface="STKaiti" panose="02010600040101010101" pitchFamily="2" charset="-122"/>
                <a:ea typeface="STKaiti" panose="02010600040101010101" pitchFamily="2" charset="-122"/>
              </a:rPr>
              <a:t>小，中，大</a:t>
            </a:r>
            <a:r>
              <a:rPr lang="en-US" altLang="en-US" sz="2400" dirty="0">
                <a:latin typeface="STKaiti" panose="02010600040101010101" pitchFamily="2" charset="-122"/>
                <a:ea typeface="STKaiti" panose="02010600040101010101" pitchFamily="2" charset="-122"/>
              </a:rPr>
              <a:t>}</a:t>
            </a:r>
            <a:r>
              <a:rPr lang="en-US" altLang="en-US" sz="2400" i="1" dirty="0">
                <a:latin typeface="STKaiti" panose="02010600040101010101" pitchFamily="2" charset="-122"/>
                <a:ea typeface="STKaiti" panose="02010600040101010101" pitchFamily="2" charset="-122"/>
              </a:rPr>
              <a:t>，</a:t>
            </a:r>
            <a:r>
              <a:rPr lang="en-US" altLang="en-US" sz="2400" dirty="0">
                <a:latin typeface="STKaiti" panose="02010600040101010101" pitchFamily="2" charset="-122"/>
                <a:ea typeface="STKaiti" panose="02010600040101010101" pitchFamily="2" charset="-122"/>
              </a:rPr>
              <a:t>成绩等级，军队军衔</a:t>
            </a:r>
            <a:r>
              <a:rPr lang="zh-CN" altLang="en-US" sz="2400" dirty="0">
                <a:latin typeface="STKaiti" panose="02010600040101010101" pitchFamily="2" charset="-122"/>
                <a:ea typeface="STKaiti" panose="02010600040101010101" pitchFamily="2" charset="-122"/>
              </a:rPr>
              <a:t>，</a:t>
            </a:r>
            <a:r>
              <a:rPr lang="en-US" altLang="zh-CN" sz="2400" dirty="0">
                <a:latin typeface="STKaiti" panose="02010600040101010101" pitchFamily="2" charset="-122"/>
                <a:ea typeface="STKaiti" panose="02010600040101010101" pitchFamily="2" charset="-122"/>
              </a:rPr>
              <a:t>…</a:t>
            </a:r>
            <a:endParaRPr lang="en-US" altLang="en-US" sz="2400" dirty="0">
              <a:latin typeface="STKaiti" panose="02010600040101010101" pitchFamily="2" charset="-122"/>
              <a:ea typeface="STKaiti" panose="02010600040101010101" pitchFamily="2" charset="-122"/>
            </a:endParaRPr>
          </a:p>
        </p:txBody>
      </p:sp>
    </p:spTree>
    <p:extLst>
      <p:ext uri="{BB962C8B-B14F-4D97-AF65-F5344CB8AC3E}">
        <p14:creationId xmlns:p14="http://schemas.microsoft.com/office/powerpoint/2010/main" val="1279991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altLang="en-US" dirty="0"/>
              <a:t>数值属性类型</a:t>
            </a:r>
          </a:p>
        </p:txBody>
      </p:sp>
      <p:sp>
        <p:nvSpPr>
          <p:cNvPr id="14340" name="Rectangle 3"/>
          <p:cNvSpPr>
            <a:spLocks noGrp="1" noChangeArrowheads="1"/>
          </p:cNvSpPr>
          <p:nvPr>
            <p:ph type="body" idx="1"/>
          </p:nvPr>
        </p:nvSpPr>
        <p:spPr>
          <a:xfrm>
            <a:off x="582903" y="1142999"/>
            <a:ext cx="10923297" cy="5591175"/>
          </a:xfrm>
        </p:spPr>
        <p:txBody>
          <a:bodyPr/>
          <a:lstStyle/>
          <a:p>
            <a:pPr marL="292100" indent="-292100">
              <a:spcAft>
                <a:spcPts val="600"/>
              </a:spcAft>
            </a:pPr>
            <a:r>
              <a:rPr lang="ko-KR" altLang="en-US" sz="2400" dirty="0">
                <a:ea typeface="STKaiti" panose="02010600040101010101" pitchFamily="2" charset="-122"/>
              </a:rPr>
              <a:t>数量（整数或实数）</a:t>
            </a:r>
          </a:p>
          <a:p>
            <a:pPr marL="292100" indent="-292100">
              <a:spcAft>
                <a:spcPts val="600"/>
              </a:spcAft>
            </a:pPr>
            <a:r>
              <a:rPr lang="en-US" altLang="en-US" sz="2400" b="1" dirty="0">
                <a:ea typeface="STKaiti" panose="02010600040101010101" pitchFamily="2" charset="-122"/>
              </a:rPr>
              <a:t>区间</a:t>
            </a:r>
            <a:r>
              <a:rPr lang="zh-CN" altLang="en-US" sz="2400" b="1" dirty="0">
                <a:ea typeface="STKaiti" panose="02010600040101010101" pitchFamily="2" charset="-122"/>
              </a:rPr>
              <a:t>（</a:t>
            </a:r>
            <a:r>
              <a:rPr lang="en-US" altLang="en-US" sz="2400" b="1" dirty="0">
                <a:ea typeface="STKaiti" panose="02010600040101010101" pitchFamily="2" charset="-122"/>
              </a:rPr>
              <a:t>Interval</a:t>
            </a:r>
            <a:r>
              <a:rPr lang="zh-CN" altLang="en-US" sz="2400" b="1" dirty="0">
                <a:ea typeface="STKaiti" panose="02010600040101010101" pitchFamily="2" charset="-122"/>
              </a:rPr>
              <a:t>）</a:t>
            </a:r>
            <a:endParaRPr lang="en-US" altLang="en-US" sz="2400" b="1" dirty="0">
              <a:ea typeface="STKaiti" panose="02010600040101010101" pitchFamily="2" charset="-122"/>
            </a:endParaRPr>
          </a:p>
          <a:p>
            <a:pPr marL="1257300" lvl="2" indent="-393700">
              <a:spcAft>
                <a:spcPts val="600"/>
              </a:spcAft>
            </a:pPr>
            <a:r>
              <a:rPr lang="ko-KR" altLang="en-US" sz="2400" dirty="0">
                <a:ea typeface="STKaiti" panose="02010600040101010101" pitchFamily="2" charset="-122"/>
              </a:rPr>
              <a:t>以等分单位为刻度的量表进行测量</a:t>
            </a:r>
          </a:p>
          <a:p>
            <a:pPr marL="1257300" lvl="2" indent="-393700">
              <a:spcAft>
                <a:spcPts val="600"/>
              </a:spcAft>
            </a:pPr>
            <a:r>
              <a:rPr lang="ko-KR" altLang="en-US" sz="2400" dirty="0">
                <a:ea typeface="STKaiti" panose="02010600040101010101" pitchFamily="2" charset="-122"/>
              </a:rPr>
              <a:t>数值具有顺序性</a:t>
            </a:r>
            <a:endParaRPr lang="en-US" altLang="en-US" sz="2400" dirty="0">
              <a:ea typeface="STKaiti" panose="02010600040101010101" pitchFamily="2" charset="-122"/>
            </a:endParaRPr>
          </a:p>
          <a:p>
            <a:pPr marL="1714500" lvl="3" indent="-393700">
              <a:spcAft>
                <a:spcPts val="600"/>
              </a:spcAft>
            </a:pPr>
            <a:r>
              <a:rPr lang="ko-KR" altLang="en-US" sz="2400" dirty="0">
                <a:ea typeface="STKaiti" panose="02010600040101010101" pitchFamily="2" charset="-122"/>
              </a:rPr>
              <a:t>例如：摄氏度（℃）或华氏度（℉）的温度，日历日期</a:t>
            </a:r>
            <a:endParaRPr lang="en-US" altLang="en-US" sz="2400" i="1" dirty="0">
              <a:ea typeface="STKaiti" panose="02010600040101010101" pitchFamily="2" charset="-122"/>
            </a:endParaRPr>
          </a:p>
          <a:p>
            <a:pPr marL="1257300" lvl="2" indent="-393700">
              <a:spcAft>
                <a:spcPts val="600"/>
              </a:spcAft>
            </a:pPr>
            <a:r>
              <a:rPr lang="ko-KR" altLang="en-US" sz="2400" dirty="0">
                <a:ea typeface="STKaiti" panose="02010600040101010101" pitchFamily="2" charset="-122"/>
              </a:rPr>
              <a:t>无真实零点</a:t>
            </a:r>
            <a:endParaRPr lang="en-US" altLang="en-US" sz="2400" dirty="0">
              <a:ea typeface="STKaiti" panose="02010600040101010101" pitchFamily="2" charset="-122"/>
            </a:endParaRPr>
          </a:p>
          <a:p>
            <a:pPr marL="292100" indent="-292100">
              <a:spcAft>
                <a:spcPts val="600"/>
              </a:spcAft>
            </a:pPr>
            <a:r>
              <a:rPr lang="en-US" altLang="en-US" sz="2400" b="1" dirty="0">
                <a:ea typeface="STKaiti" panose="02010600040101010101" pitchFamily="2" charset="-122"/>
              </a:rPr>
              <a:t>比值</a:t>
            </a:r>
            <a:r>
              <a:rPr lang="zh-CN" altLang="en-US" sz="2400" b="1" dirty="0">
                <a:ea typeface="STKaiti" panose="02010600040101010101" pitchFamily="2" charset="-122"/>
              </a:rPr>
              <a:t>（</a:t>
            </a:r>
            <a:r>
              <a:rPr lang="en-US" altLang="en-US" sz="2400" b="1" dirty="0">
                <a:ea typeface="STKaiti" panose="02010600040101010101" pitchFamily="2" charset="-122"/>
              </a:rPr>
              <a:t>Ratio</a:t>
            </a:r>
            <a:r>
              <a:rPr lang="zh-CN" altLang="en-US" sz="2400" b="1" dirty="0">
                <a:ea typeface="STKaiti" panose="02010600040101010101" pitchFamily="2" charset="-122"/>
              </a:rPr>
              <a:t>）</a:t>
            </a:r>
            <a:endParaRPr lang="en-US" altLang="en-US" sz="2400" b="1" dirty="0">
              <a:ea typeface="STKaiti" panose="02010600040101010101" pitchFamily="2" charset="-122"/>
            </a:endParaRPr>
          </a:p>
          <a:p>
            <a:pPr marL="1257300" lvl="2" indent="-393700">
              <a:spcAft>
                <a:spcPts val="600"/>
              </a:spcAft>
            </a:pPr>
            <a:r>
              <a:rPr lang="ko-KR" altLang="en-US" sz="2400" dirty="0">
                <a:ea typeface="STKaiti" panose="02010600040101010101" pitchFamily="2" charset="-122"/>
              </a:rPr>
              <a:t>固有零点</a:t>
            </a:r>
            <a:endParaRPr lang="en-US" altLang="ko-KR" sz="2400" dirty="0">
              <a:ea typeface="STKaiti" panose="02010600040101010101" pitchFamily="2" charset="-122"/>
            </a:endParaRPr>
          </a:p>
          <a:p>
            <a:pPr marL="1257300" lvl="2" indent="-393700">
              <a:spcAft>
                <a:spcPts val="600"/>
              </a:spcAft>
            </a:pPr>
            <a:r>
              <a:rPr lang="ko-KR" altLang="en-US" sz="2400" dirty="0">
                <a:ea typeface="STKaiti" panose="02010600040101010101" pitchFamily="2" charset="-122"/>
              </a:rPr>
              <a:t>我们可以将值描述为比测量单位大一个数量级（</a:t>
            </a:r>
            <a:r>
              <a:rPr lang="en-US" altLang="ko-KR" sz="2400" dirty="0">
                <a:ea typeface="STKaiti" panose="02010600040101010101" pitchFamily="2" charset="-122"/>
              </a:rPr>
              <a:t>10 K˚是5 </a:t>
            </a:r>
            <a:r>
              <a:rPr lang="ko-KR" altLang="en-US" sz="2400" dirty="0">
                <a:ea typeface="STKaiti" panose="02010600040101010101" pitchFamily="2" charset="-122"/>
              </a:rPr>
              <a:t>K˚的两倍）</a:t>
            </a:r>
            <a:endParaRPr lang="en-US" altLang="en-US" sz="2400" dirty="0">
              <a:ea typeface="STKaiti" panose="02010600040101010101" pitchFamily="2" charset="-122"/>
            </a:endParaRPr>
          </a:p>
          <a:p>
            <a:pPr marL="1714500" lvl="3" indent="-393700">
              <a:spcAft>
                <a:spcPts val="600"/>
              </a:spcAft>
            </a:pPr>
            <a:r>
              <a:rPr lang="ko-KR" altLang="en-US" sz="2400" dirty="0">
                <a:ea typeface="STKaiti" panose="02010600040101010101" pitchFamily="2" charset="-122"/>
              </a:rPr>
              <a:t>例如</a:t>
            </a:r>
            <a:r>
              <a:rPr lang="zh-CN" altLang="en-US" sz="2400" dirty="0">
                <a:ea typeface="STKaiti" panose="02010600040101010101" pitchFamily="2" charset="-122"/>
              </a:rPr>
              <a:t>：</a:t>
            </a:r>
            <a:r>
              <a:rPr lang="ko-KR" altLang="en-US" sz="2400" dirty="0">
                <a:ea typeface="STKaiti" panose="02010600040101010101" pitchFamily="2" charset="-122"/>
              </a:rPr>
              <a:t>开尔文</a:t>
            </a:r>
            <a:r>
              <a:rPr lang="en-US" altLang="ko-KR" sz="2400" dirty="0">
                <a:ea typeface="STKaiti" panose="02010600040101010101" pitchFamily="2" charset="-122"/>
              </a:rPr>
              <a:t>（Kelvin）</a:t>
            </a:r>
            <a:r>
              <a:rPr lang="ko-KR" altLang="en-US" sz="2400" dirty="0">
                <a:ea typeface="STKaiti" panose="02010600040101010101" pitchFamily="2" charset="-122"/>
              </a:rPr>
              <a:t>温度、长度、计数、货币数量</a:t>
            </a:r>
            <a:endParaRPr lang="en-US" altLang="en-US" sz="2400" i="1" dirty="0">
              <a:ea typeface="STKaiti" panose="02010600040101010101" pitchFamily="2" charset="-122"/>
            </a:endParaRPr>
          </a:p>
        </p:txBody>
      </p:sp>
    </p:spTree>
    <p:extLst>
      <p:ext uri="{BB962C8B-B14F-4D97-AF65-F5344CB8AC3E}">
        <p14:creationId xmlns:p14="http://schemas.microsoft.com/office/powerpoint/2010/main" val="227808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ltLang="en-US"/>
              <a:t>离散属性与连续属性</a:t>
            </a:r>
          </a:p>
        </p:txBody>
      </p:sp>
      <p:sp>
        <p:nvSpPr>
          <p:cNvPr id="15364" name="Rectangle 3"/>
          <p:cNvSpPr>
            <a:spLocks noGrp="1" noChangeArrowheads="1"/>
          </p:cNvSpPr>
          <p:nvPr>
            <p:ph type="body" idx="1"/>
          </p:nvPr>
        </p:nvSpPr>
        <p:spPr>
          <a:xfrm>
            <a:off x="525753" y="1171575"/>
            <a:ext cx="11094747" cy="5524500"/>
          </a:xfrm>
        </p:spPr>
        <p:txBody>
          <a:bodyPr/>
          <a:lstStyle/>
          <a:p>
            <a:pPr eaLnBrk="1" hangingPunct="1">
              <a:spcAft>
                <a:spcPts val="600"/>
              </a:spcAft>
            </a:pPr>
            <a:r>
              <a:rPr lang="en-US" altLang="en-US" sz="2400" b="1" dirty="0">
                <a:latin typeface="STKaiti" panose="02010600040101010101" pitchFamily="2" charset="-122"/>
                <a:ea typeface="STKaiti" panose="02010600040101010101" pitchFamily="2" charset="-122"/>
              </a:rPr>
              <a:t>离散属性</a:t>
            </a:r>
          </a:p>
          <a:p>
            <a:pPr lvl="1" eaLnBrk="1" hangingPunct="1">
              <a:spcAft>
                <a:spcPts val="600"/>
              </a:spcAft>
            </a:pPr>
            <a:r>
              <a:rPr lang="ko-KR" altLang="en-US" sz="2400" dirty="0">
                <a:latin typeface="STKaiti" panose="02010600040101010101" pitchFamily="2" charset="-122"/>
                <a:ea typeface="STKaiti" panose="02010600040101010101" pitchFamily="2" charset="-122"/>
              </a:rPr>
              <a:t>仅具有有限个或可数无限个取值</a:t>
            </a:r>
            <a:endParaRPr lang="en-US" altLang="en-US" sz="2400" dirty="0">
              <a:latin typeface="STKaiti" panose="02010600040101010101" pitchFamily="2" charset="-122"/>
              <a:ea typeface="STKaiti" panose="02010600040101010101" pitchFamily="2" charset="-122"/>
            </a:endParaRPr>
          </a:p>
          <a:p>
            <a:pPr lvl="2" eaLnBrk="1" hangingPunct="1">
              <a:spcAft>
                <a:spcPts val="600"/>
              </a:spcAft>
            </a:pPr>
            <a:r>
              <a:rPr lang="ko-KR" altLang="en-US" sz="2400" dirty="0">
                <a:latin typeface="STKaiti" panose="02010600040101010101" pitchFamily="2" charset="-122"/>
                <a:ea typeface="STKaiti" panose="02010600040101010101" pitchFamily="2" charset="-122"/>
              </a:rPr>
              <a:t>例如，邮政编码、职业或文档集合中的词汇集</a:t>
            </a:r>
            <a:endParaRPr lang="en-US" altLang="en-US" sz="2400" dirty="0">
              <a:latin typeface="STKaiti" panose="02010600040101010101" pitchFamily="2" charset="-122"/>
              <a:ea typeface="STKaiti" panose="02010600040101010101" pitchFamily="2" charset="-122"/>
            </a:endParaRPr>
          </a:p>
          <a:p>
            <a:pPr lvl="1" eaLnBrk="1" hangingPunct="1">
              <a:spcAft>
                <a:spcPts val="600"/>
              </a:spcAft>
            </a:pPr>
            <a:r>
              <a:rPr lang="ko-KR" altLang="en-US" sz="2400" dirty="0">
                <a:latin typeface="STKaiti" panose="02010600040101010101" pitchFamily="2" charset="-122"/>
                <a:ea typeface="STKaiti" panose="02010600040101010101" pitchFamily="2" charset="-122"/>
              </a:rPr>
              <a:t>有时以整数变量表示</a:t>
            </a:r>
          </a:p>
          <a:p>
            <a:pPr lvl="1" eaLnBrk="1" hangingPunct="1">
              <a:spcAft>
                <a:spcPts val="600"/>
              </a:spcAft>
            </a:pPr>
            <a:r>
              <a:rPr lang="ko-KR" altLang="en-US" sz="2400" dirty="0">
                <a:latin typeface="STKaiti" panose="02010600040101010101" pitchFamily="2" charset="-122"/>
                <a:ea typeface="STKaiti" panose="02010600040101010101" pitchFamily="2" charset="-122"/>
              </a:rPr>
              <a:t>注意：二进制属性是离散属性的特殊情况</a:t>
            </a:r>
            <a:endParaRPr lang="en-US" altLang="en-US" sz="2400" dirty="0">
              <a:latin typeface="STKaiti" panose="02010600040101010101" pitchFamily="2" charset="-122"/>
              <a:ea typeface="STKaiti" panose="02010600040101010101" pitchFamily="2" charset="-122"/>
            </a:endParaRPr>
          </a:p>
          <a:p>
            <a:pPr eaLnBrk="1" hangingPunct="1">
              <a:spcAft>
                <a:spcPts val="600"/>
              </a:spcAft>
            </a:pPr>
            <a:r>
              <a:rPr lang="en-US" altLang="en-US" sz="2400" b="1" dirty="0">
                <a:latin typeface="STKaiti" panose="02010600040101010101" pitchFamily="2" charset="-122"/>
                <a:ea typeface="STKaiti" panose="02010600040101010101" pitchFamily="2" charset="-122"/>
              </a:rPr>
              <a:t>连续属性</a:t>
            </a:r>
          </a:p>
          <a:p>
            <a:pPr lvl="1" eaLnBrk="1" hangingPunct="1">
              <a:spcAft>
                <a:spcPts val="600"/>
              </a:spcAft>
            </a:pPr>
            <a:r>
              <a:rPr lang="ko-KR" altLang="en-US" sz="2400" dirty="0">
                <a:latin typeface="STKaiti" panose="02010600040101010101" pitchFamily="2" charset="-122"/>
                <a:ea typeface="STKaiti" panose="02010600040101010101" pitchFamily="2" charset="-122"/>
              </a:rPr>
              <a:t>属性值为实数</a:t>
            </a:r>
            <a:endParaRPr lang="en-US" altLang="en-US" sz="2400" dirty="0">
              <a:latin typeface="STKaiti" panose="02010600040101010101" pitchFamily="2" charset="-122"/>
              <a:ea typeface="STKaiti" panose="02010600040101010101" pitchFamily="2" charset="-122"/>
            </a:endParaRPr>
          </a:p>
          <a:p>
            <a:pPr lvl="2" eaLnBrk="1" hangingPunct="1">
              <a:spcAft>
                <a:spcPts val="600"/>
              </a:spcAft>
            </a:pPr>
            <a:r>
              <a:rPr lang="ko-KR" altLang="en-US" sz="2400" dirty="0">
                <a:latin typeface="STKaiti" panose="02010600040101010101" pitchFamily="2" charset="-122"/>
                <a:ea typeface="STKaiti" panose="02010600040101010101" pitchFamily="2" charset="-122"/>
              </a:rPr>
              <a:t>例如，温度、身高或体重</a:t>
            </a:r>
            <a:endParaRPr lang="en-US" altLang="en-US" sz="2400" dirty="0">
              <a:latin typeface="STKaiti" panose="02010600040101010101" pitchFamily="2" charset="-122"/>
              <a:ea typeface="STKaiti" panose="02010600040101010101" pitchFamily="2" charset="-122"/>
            </a:endParaRPr>
          </a:p>
          <a:p>
            <a:pPr lvl="1" eaLnBrk="1" hangingPunct="1">
              <a:spcAft>
                <a:spcPts val="600"/>
              </a:spcAft>
            </a:pPr>
            <a:r>
              <a:rPr lang="ko-KR" altLang="en-US" sz="2400" dirty="0">
                <a:latin typeface="STKaiti" panose="02010600040101010101" pitchFamily="2" charset="-122"/>
                <a:ea typeface="STKaiti" panose="02010600040101010101" pitchFamily="2" charset="-122"/>
              </a:rPr>
              <a:t>实际上，实数值只能通过有限位数进行测量和表示</a:t>
            </a:r>
          </a:p>
          <a:p>
            <a:pPr lvl="1" eaLnBrk="1" hangingPunct="1">
              <a:spcAft>
                <a:spcPts val="600"/>
              </a:spcAft>
            </a:pPr>
            <a:r>
              <a:rPr lang="ko-KR" altLang="en-US" sz="2400" dirty="0">
                <a:latin typeface="STKaiti" panose="02010600040101010101" pitchFamily="2" charset="-122"/>
                <a:ea typeface="STKaiti" panose="02010600040101010101" pitchFamily="2" charset="-122"/>
              </a:rPr>
              <a:t>连续属性通常表示为浮点变量</a:t>
            </a:r>
            <a:endParaRPr lang="en-US" altLang="en-US" sz="2400" dirty="0">
              <a:latin typeface="STKaiti" panose="02010600040101010101" pitchFamily="2" charset="-122"/>
              <a:ea typeface="STKaiti" panose="02010600040101010101" pitchFamily="2" charset="-122"/>
            </a:endParaRPr>
          </a:p>
        </p:txBody>
      </p:sp>
    </p:spTree>
    <p:extLst>
      <p:ext uri="{BB962C8B-B14F-4D97-AF65-F5344CB8AC3E}">
        <p14:creationId xmlns:p14="http://schemas.microsoft.com/office/powerpoint/2010/main" val="2012556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228600"/>
            <a:ext cx="11106150" cy="838200"/>
          </a:xfrm>
        </p:spPr>
        <p:txBody>
          <a:bodyPr>
            <a:normAutofit/>
          </a:bodyPr>
          <a:lstStyle/>
          <a:p>
            <a:r>
              <a:rPr lang="en-US" altLang="en-US" sz="4400" dirty="0"/>
              <a:t>Statics of Data</a:t>
            </a:r>
            <a:endParaRPr lang="en-US" altLang="en-US" dirty="0"/>
          </a:p>
        </p:txBody>
      </p:sp>
      <p:sp>
        <p:nvSpPr>
          <p:cNvPr id="16388" name="Rectangle 3"/>
          <p:cNvSpPr>
            <a:spLocks noGrp="1" noChangeArrowheads="1"/>
          </p:cNvSpPr>
          <p:nvPr>
            <p:ph type="body" idx="1"/>
          </p:nvPr>
        </p:nvSpPr>
        <p:spPr>
          <a:xfrm>
            <a:off x="663388" y="1294960"/>
            <a:ext cx="10865223" cy="5257800"/>
          </a:xfrm>
        </p:spPr>
        <p:txBody>
          <a:bodyPr/>
          <a:lstStyle/>
          <a:p>
            <a:pPr>
              <a:lnSpc>
                <a:spcPct val="200000"/>
              </a:lnSpc>
            </a:pPr>
            <a:r>
              <a:rPr lang="ko-KR" altLang="en-US" sz="3200" dirty="0">
                <a:latin typeface="STKaiti" panose="02010600040101010101" pitchFamily="2" charset="-122"/>
                <a:ea typeface="STKaiti" panose="02010600040101010101" pitchFamily="2" charset="-122"/>
              </a:rPr>
              <a:t>测量集中趋势 </a:t>
            </a:r>
          </a:p>
          <a:p>
            <a:pPr>
              <a:lnSpc>
                <a:spcPct val="200000"/>
              </a:lnSpc>
            </a:pPr>
            <a:r>
              <a:rPr lang="ko-KR" altLang="en-US" sz="3200" dirty="0">
                <a:latin typeface="STKaiti" panose="02010600040101010101" pitchFamily="2" charset="-122"/>
                <a:ea typeface="STKaiti" panose="02010600040101010101" pitchFamily="2" charset="-122"/>
              </a:rPr>
              <a:t>测量数据的离散程度</a:t>
            </a:r>
          </a:p>
          <a:p>
            <a:pPr>
              <a:lnSpc>
                <a:spcPct val="200000"/>
              </a:lnSpc>
            </a:pPr>
            <a:r>
              <a:rPr lang="ko-KR" altLang="en-US" sz="3200" dirty="0">
                <a:latin typeface="STKaiti" panose="02010600040101010101" pitchFamily="2" charset="-122"/>
                <a:ea typeface="STKaiti" panose="02010600040101010101" pitchFamily="2" charset="-122"/>
              </a:rPr>
              <a:t>协方差与相关性分析</a:t>
            </a:r>
          </a:p>
          <a:p>
            <a:pPr>
              <a:lnSpc>
                <a:spcPct val="200000"/>
              </a:lnSpc>
            </a:pPr>
            <a:r>
              <a:rPr lang="ko-KR" altLang="en-US" sz="3200" dirty="0">
                <a:latin typeface="STKaiti" panose="02010600040101010101" pitchFamily="2" charset="-122"/>
                <a:ea typeface="STKaiti" panose="02010600040101010101" pitchFamily="2" charset="-122"/>
              </a:rPr>
              <a:t>数据基本统计量的图形展示</a:t>
            </a:r>
            <a:endParaRPr lang="en-US" altLang="en-US" sz="3200" dirty="0">
              <a:latin typeface="STKaiti" panose="02010600040101010101" pitchFamily="2" charset="-122"/>
              <a:ea typeface="STKaiti" panose="02010600040101010101" pitchFamily="2" charset="-122"/>
            </a:endParaRPr>
          </a:p>
        </p:txBody>
      </p:sp>
    </p:spTree>
    <p:extLst>
      <p:ext uri="{BB962C8B-B14F-4D97-AF65-F5344CB8AC3E}">
        <p14:creationId xmlns:p14="http://schemas.microsoft.com/office/powerpoint/2010/main" val="714846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524000" y="304800"/>
            <a:ext cx="9144000" cy="762000"/>
          </a:xfrm>
        </p:spPr>
        <p:txBody>
          <a:bodyPr/>
          <a:lstStyle/>
          <a:p>
            <a:pPr eaLnBrk="1" hangingPunct="1"/>
            <a:r>
              <a:rPr lang="en-US" altLang="en-US" b="1"/>
              <a:t>数据的基本统计描述</a:t>
            </a:r>
          </a:p>
        </p:txBody>
      </p:sp>
      <p:sp>
        <p:nvSpPr>
          <p:cNvPr id="17412" name="Rectangle 3"/>
          <p:cNvSpPr>
            <a:spLocks noGrp="1" noChangeArrowheads="1"/>
          </p:cNvSpPr>
          <p:nvPr>
            <p:ph type="body" idx="1"/>
          </p:nvPr>
        </p:nvSpPr>
        <p:spPr>
          <a:xfrm>
            <a:off x="609600" y="1164557"/>
            <a:ext cx="10928684" cy="848729"/>
          </a:xfrm>
        </p:spPr>
        <p:txBody>
          <a:bodyPr/>
          <a:lstStyle/>
          <a:p>
            <a:pPr eaLnBrk="1" hangingPunct="1">
              <a:buSzPct val="80000"/>
            </a:pPr>
            <a:r>
              <a:rPr lang="en-US" altLang="en-US" sz="2200" u="sng" dirty="0">
                <a:latin typeface="STKaiti" panose="02010600040101010101" pitchFamily="2" charset="-122"/>
                <a:ea typeface="STKaiti" panose="02010600040101010101" pitchFamily="2" charset="-122"/>
              </a:rPr>
              <a:t>动机</a:t>
            </a:r>
          </a:p>
          <a:p>
            <a:pPr marL="619119" lvl="1" indent="-342900"/>
            <a:r>
              <a:rPr lang="ko-KR" altLang="en-US" sz="2200" dirty="0">
                <a:latin typeface="STKaiti" panose="02010600040101010101" pitchFamily="2" charset="-122"/>
                <a:ea typeface="STKaiti" panose="02010600040101010101" pitchFamily="2" charset="-122"/>
              </a:rPr>
              <a:t>为了更好地理解数据：集中趋势、变异性和离散程度</a:t>
            </a:r>
            <a:endParaRPr lang="en-US" altLang="en-US" sz="2200" dirty="0">
              <a:latin typeface="STKaiti" panose="02010600040101010101" pitchFamily="2" charset="-122"/>
              <a:ea typeface="STKaiti" panose="02010600040101010101" pitchFamily="2" charset="-122"/>
            </a:endParaRPr>
          </a:p>
        </p:txBody>
      </p:sp>
      <p:sp>
        <p:nvSpPr>
          <p:cNvPr id="5" name="Rectangle 3"/>
          <p:cNvSpPr txBox="1">
            <a:spLocks noChangeArrowheads="1"/>
          </p:cNvSpPr>
          <p:nvPr/>
        </p:nvSpPr>
        <p:spPr>
          <a:xfrm>
            <a:off x="609600" y="2111043"/>
            <a:ext cx="7620000" cy="4085220"/>
          </a:xfrm>
          <a:prstGeom prst="rect">
            <a:avLst/>
          </a:prstGeom>
        </p:spPr>
        <p:txBody>
          <a:bodyPr vert="horz" lIns="91436" tIns="45718" rIns="91436" bIns="4571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ko-KR" altLang="en-US" sz="2200" u="sng" dirty="0">
                <a:latin typeface="STKaiti" panose="02010600040101010101" pitchFamily="2" charset="-122"/>
                <a:ea typeface="STKaiti" panose="02010600040101010101" pitchFamily="2" charset="-122"/>
              </a:rPr>
              <a:t>数据分散特征</a:t>
            </a:r>
            <a:endParaRPr lang="en-US" altLang="en-US" sz="2200" dirty="0">
              <a:latin typeface="STKaiti" panose="02010600040101010101" pitchFamily="2" charset="-122"/>
              <a:ea typeface="STKaiti" panose="02010600040101010101" pitchFamily="2" charset="-122"/>
            </a:endParaRPr>
          </a:p>
          <a:p>
            <a:pPr lvl="1"/>
            <a:r>
              <a:rPr lang="ko-KR" altLang="en-US" sz="2200" dirty="0">
                <a:latin typeface="STKaiti" panose="02010600040101010101" pitchFamily="2" charset="-122"/>
                <a:ea typeface="STKaiti" panose="02010600040101010101" pitchFamily="2" charset="-122"/>
              </a:rPr>
              <a:t>中位数、最大值、最小值、分位数、异常值、方差等</a:t>
            </a:r>
            <a:endParaRPr lang="en-US" altLang="en-US" sz="2200" dirty="0">
              <a:latin typeface="STKaiti" panose="02010600040101010101" pitchFamily="2" charset="-122"/>
              <a:ea typeface="STKaiti" panose="02010600040101010101" pitchFamily="2" charset="-122"/>
            </a:endParaRPr>
          </a:p>
          <a:p>
            <a:r>
              <a:rPr lang="ko-KR" altLang="en-US" sz="2200" u="sng" dirty="0">
                <a:latin typeface="STKaiti" panose="02010600040101010101" pitchFamily="2" charset="-122"/>
                <a:ea typeface="STKaiti" panose="02010600040101010101" pitchFamily="2" charset="-122"/>
              </a:rPr>
              <a:t>数值维度对应排序区间</a:t>
            </a:r>
            <a:endParaRPr lang="en-US" altLang="en-US" sz="2200" dirty="0">
              <a:latin typeface="STKaiti" panose="02010600040101010101" pitchFamily="2" charset="-122"/>
              <a:ea typeface="STKaiti" panose="02010600040101010101" pitchFamily="2" charset="-122"/>
            </a:endParaRPr>
          </a:p>
          <a:p>
            <a:pPr lvl="1"/>
            <a:r>
              <a:rPr lang="ko-KR" altLang="en-US" sz="2200" dirty="0">
                <a:latin typeface="STKaiti" panose="02010600040101010101" pitchFamily="2" charset="-122"/>
                <a:ea typeface="STKaiti" panose="02010600040101010101" pitchFamily="2" charset="-122"/>
              </a:rPr>
              <a:t>数据分散</a:t>
            </a:r>
            <a:endParaRPr lang="en-US" altLang="en-US" sz="2200" dirty="0">
              <a:latin typeface="STKaiti" panose="02010600040101010101" pitchFamily="2" charset="-122"/>
              <a:ea typeface="STKaiti" panose="02010600040101010101" pitchFamily="2" charset="-122"/>
            </a:endParaRPr>
          </a:p>
          <a:p>
            <a:pPr lvl="2"/>
            <a:r>
              <a:rPr lang="ko-KR" altLang="en-US" sz="2200" dirty="0">
                <a:latin typeface="STKaiti" panose="02010600040101010101" pitchFamily="2" charset="-122"/>
                <a:ea typeface="STKaiti" panose="02010600040101010101" pitchFamily="2" charset="-122"/>
              </a:rPr>
              <a:t>以多种精度级别进行分析</a:t>
            </a:r>
            <a:endParaRPr lang="en-US" altLang="en-US" sz="2200" dirty="0">
              <a:latin typeface="STKaiti" panose="02010600040101010101" pitchFamily="2" charset="-122"/>
              <a:ea typeface="STKaiti" panose="02010600040101010101" pitchFamily="2" charset="-122"/>
            </a:endParaRPr>
          </a:p>
          <a:p>
            <a:pPr lvl="1"/>
            <a:r>
              <a:rPr lang="ko-KR" altLang="en-US" sz="2200" dirty="0">
                <a:latin typeface="STKaiti" panose="02010600040101010101" pitchFamily="2" charset="-122"/>
                <a:ea typeface="STKaiti" panose="02010600040101010101" pitchFamily="2" charset="-122"/>
              </a:rPr>
              <a:t>对排序区间进行箱线图或分位数分析</a:t>
            </a:r>
            <a:endParaRPr lang="en-US" altLang="en-US" sz="2200" dirty="0">
              <a:latin typeface="STKaiti" panose="02010600040101010101" pitchFamily="2" charset="-122"/>
              <a:ea typeface="STKaiti" panose="02010600040101010101" pitchFamily="2" charset="-122"/>
            </a:endParaRPr>
          </a:p>
          <a:p>
            <a:r>
              <a:rPr lang="ko-KR" altLang="en-US" sz="2200" u="sng" dirty="0">
                <a:latin typeface="STKaiti" panose="02010600040101010101" pitchFamily="2" charset="-122"/>
                <a:ea typeface="STKaiti" panose="02010600040101010101" pitchFamily="2" charset="-122"/>
              </a:rPr>
              <a:t>对计算指标进行分散分析</a:t>
            </a:r>
            <a:endParaRPr lang="en-US" altLang="en-US" sz="2200" dirty="0">
              <a:latin typeface="STKaiti" panose="02010600040101010101" pitchFamily="2" charset="-122"/>
              <a:ea typeface="STKaiti" panose="02010600040101010101" pitchFamily="2" charset="-122"/>
            </a:endParaRPr>
          </a:p>
          <a:p>
            <a:pPr lvl="1"/>
            <a:r>
              <a:rPr lang="ko-KR" altLang="en-US" sz="2200" dirty="0">
                <a:latin typeface="STKaiti" panose="02010600040101010101" pitchFamily="2" charset="-122"/>
                <a:ea typeface="STKaiti" panose="02010600040101010101" pitchFamily="2" charset="-122"/>
              </a:rPr>
              <a:t>将指标折叠为数值维度</a:t>
            </a:r>
          </a:p>
          <a:p>
            <a:pPr lvl="1"/>
            <a:r>
              <a:rPr lang="ko-KR" altLang="en-US" sz="2200" dirty="0">
                <a:latin typeface="STKaiti" panose="02010600040101010101" pitchFamily="2" charset="-122"/>
                <a:ea typeface="STKaiti" panose="02010600040101010101" pitchFamily="2" charset="-122"/>
              </a:rPr>
              <a:t>对转换后的立方体进行箱线图或分位数分析</a:t>
            </a:r>
            <a:endParaRPr lang="en-US" altLang="ko-KR" sz="2200" dirty="0">
              <a:latin typeface="STKaiti" panose="02010600040101010101" pitchFamily="2" charset="-122"/>
              <a:ea typeface="STKaiti" panose="02010600040101010101" pitchFamily="2" charset="-122"/>
            </a:endParaRPr>
          </a:p>
        </p:txBody>
      </p:sp>
      <p:pic>
        <p:nvPicPr>
          <p:cNvPr id="38916" name="Picture 4" descr="https://upload.wikimedia.org/wikipedia/commons/thumb/7/74/Normal_Distribution_PDF.svg/2000px-Normal_Distribution_PDF.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8498" y="3055435"/>
            <a:ext cx="4586197" cy="2930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3496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sz="4000" b="1" dirty="0">
                <a:ea typeface="STKaiti" panose="02010600040101010101" pitchFamily="2" charset="-122"/>
              </a:rPr>
              <a:t>测量中心趋势</a:t>
            </a:r>
            <a:r>
              <a:rPr lang="zh-CN" altLang="en-US" sz="4000" b="1" dirty="0">
                <a:ea typeface="STKaiti" panose="02010600040101010101" pitchFamily="2" charset="-122"/>
              </a:rPr>
              <a:t>：平均数</a:t>
            </a:r>
            <a:endParaRPr lang="en-US" altLang="en-US" sz="4000" b="1" dirty="0">
              <a:ea typeface="STKaiti" panose="02010600040101010101" pitchFamily="2" charset="-122"/>
            </a:endParaRPr>
          </a:p>
        </p:txBody>
      </p:sp>
      <p:sp>
        <p:nvSpPr>
          <p:cNvPr id="18436" name="Rectangle 3"/>
          <p:cNvSpPr>
            <a:spLocks noGrp="1" noChangeArrowheads="1"/>
          </p:cNvSpPr>
          <p:nvPr>
            <p:ph type="body" sz="half" idx="1"/>
          </p:nvPr>
        </p:nvSpPr>
        <p:spPr>
          <a:xfrm>
            <a:off x="561975" y="1143000"/>
            <a:ext cx="10531141" cy="5029200"/>
          </a:xfrm>
        </p:spPr>
        <p:txBody>
          <a:bodyPr/>
          <a:lstStyle/>
          <a:p>
            <a:pPr eaLnBrk="1" hangingPunct="1">
              <a:spcBef>
                <a:spcPts val="400"/>
              </a:spcBef>
              <a:buSzPct val="80000"/>
            </a:pPr>
            <a:r>
              <a:rPr lang="ko-KR" altLang="en-US" u="sng" dirty="0">
                <a:latin typeface="STKaiti" panose="02010600040101010101" pitchFamily="2" charset="-122"/>
                <a:ea typeface="STKaiti" panose="02010600040101010101" pitchFamily="2" charset="-122"/>
              </a:rPr>
              <a:t>均值</a:t>
            </a:r>
            <a:r>
              <a:rPr lang="en-US" altLang="ko-KR" u="sng" dirty="0">
                <a:latin typeface="STKaiti" panose="02010600040101010101" pitchFamily="2" charset="-122"/>
                <a:ea typeface="STKaiti" panose="02010600040101010101" pitchFamily="2" charset="-122"/>
              </a:rPr>
              <a:t> </a:t>
            </a:r>
            <a:r>
              <a:rPr lang="ko-KR" altLang="en-US" u="sng" dirty="0">
                <a:latin typeface="STKaiti" panose="02010600040101010101" pitchFamily="2" charset="-122"/>
                <a:ea typeface="STKaiti" panose="02010600040101010101" pitchFamily="2" charset="-122"/>
              </a:rPr>
              <a:t>——</a:t>
            </a:r>
            <a:r>
              <a:rPr lang="en-US" altLang="ko-KR" u="sng" dirty="0">
                <a:latin typeface="STKaiti" panose="02010600040101010101" pitchFamily="2" charset="-122"/>
                <a:ea typeface="STKaiti" panose="02010600040101010101" pitchFamily="2" charset="-122"/>
              </a:rPr>
              <a:t> </a:t>
            </a:r>
            <a:r>
              <a:rPr lang="ko-KR" altLang="en-US" u="sng" dirty="0">
                <a:latin typeface="STKaiti" panose="02010600040101010101" pitchFamily="2" charset="-122"/>
                <a:ea typeface="STKaiti" panose="02010600040101010101" pitchFamily="2" charset="-122"/>
              </a:rPr>
              <a:t>样本 </a:t>
            </a:r>
            <a:r>
              <a:rPr lang="en-US" altLang="en-US" u="sng" dirty="0">
                <a:latin typeface="STKaiti" panose="02010600040101010101" pitchFamily="2" charset="-122"/>
                <a:ea typeface="STKaiti" panose="02010600040101010101" pitchFamily="2" charset="-122"/>
              </a:rPr>
              <a:t>vs.</a:t>
            </a:r>
            <a:r>
              <a:rPr lang="ko-KR" altLang="en-US" u="sng" dirty="0">
                <a:latin typeface="STKaiti" panose="02010600040101010101" pitchFamily="2" charset="-122"/>
                <a:ea typeface="STKaiti" panose="02010600040101010101" pitchFamily="2" charset="-122"/>
              </a:rPr>
              <a:t> 总体</a:t>
            </a:r>
            <a:endParaRPr lang="en-US" altLang="en-US" u="sng" dirty="0">
              <a:latin typeface="STKaiti" panose="02010600040101010101" pitchFamily="2" charset="-122"/>
              <a:ea typeface="STKaiti" panose="02010600040101010101" pitchFamily="2" charset="-122"/>
            </a:endParaRPr>
          </a:p>
          <a:p>
            <a:pPr lvl="1" eaLnBrk="1" hangingPunct="1">
              <a:spcBef>
                <a:spcPts val="400"/>
              </a:spcBef>
              <a:buSzPct val="80000"/>
              <a:buFont typeface="Wingdings" panose="05000000000000000000" pitchFamily="2" charset="2"/>
              <a:buNone/>
            </a:pPr>
            <a:r>
              <a:rPr lang="ko-KR" altLang="en-US" dirty="0">
                <a:latin typeface="STKaiti" panose="02010600040101010101" pitchFamily="2" charset="-122"/>
                <a:ea typeface="STKaiti" panose="02010600040101010101" pitchFamily="2" charset="-122"/>
              </a:rPr>
              <a:t>注：</a:t>
            </a:r>
            <a:r>
              <a:rPr lang="en-US" altLang="en-US" dirty="0">
                <a:latin typeface="STKaiti" panose="02010600040101010101" pitchFamily="2" charset="-122"/>
                <a:ea typeface="STKaiti" panose="02010600040101010101" pitchFamily="2" charset="-122"/>
              </a:rPr>
              <a:t>n</a:t>
            </a:r>
            <a:r>
              <a:rPr lang="ko-KR" altLang="en-US" dirty="0">
                <a:latin typeface="STKaiti" panose="02010600040101010101" pitchFamily="2" charset="-122"/>
                <a:ea typeface="STKaiti" panose="02010600040101010101" pitchFamily="2" charset="-122"/>
              </a:rPr>
              <a:t> 为样本大小</a:t>
            </a:r>
            <a:r>
              <a:rPr lang="en-US" altLang="en-US" dirty="0">
                <a:latin typeface="STKaiti" panose="02010600040101010101" pitchFamily="2" charset="-122"/>
                <a:ea typeface="STKaiti" panose="02010600040101010101" pitchFamily="2" charset="-122"/>
              </a:rPr>
              <a:t>，N</a:t>
            </a:r>
            <a:r>
              <a:rPr lang="ko-KR" altLang="en-US" dirty="0">
                <a:latin typeface="STKaiti" panose="02010600040101010101" pitchFamily="2" charset="-122"/>
                <a:ea typeface="STKaiti" panose="02010600040101010101" pitchFamily="2" charset="-122"/>
              </a:rPr>
              <a:t> 为总体大小</a:t>
            </a:r>
            <a:endParaRPr lang="en-US" altLang="en-US" dirty="0">
              <a:latin typeface="STKaiti" panose="02010600040101010101" pitchFamily="2" charset="-122"/>
              <a:ea typeface="STKaiti" panose="02010600040101010101" pitchFamily="2" charset="-122"/>
            </a:endParaRPr>
          </a:p>
          <a:p>
            <a:pPr marL="200021" lvl="1" indent="0" eaLnBrk="1" hangingPunct="1">
              <a:spcBef>
                <a:spcPts val="400"/>
              </a:spcBef>
              <a:buSzPct val="80000"/>
              <a:buNone/>
            </a:pPr>
            <a:endParaRPr lang="en-US" altLang="en-US" dirty="0">
              <a:latin typeface="STKaiti" panose="02010600040101010101" pitchFamily="2" charset="-122"/>
              <a:ea typeface="STKaiti" panose="02010600040101010101" pitchFamily="2" charset="-122"/>
            </a:endParaRPr>
          </a:p>
          <a:p>
            <a:pPr>
              <a:spcBef>
                <a:spcPts val="400"/>
              </a:spcBef>
            </a:pPr>
            <a:endParaRPr lang="en-US" altLang="en-US" dirty="0">
              <a:latin typeface="STKaiti" panose="02010600040101010101" pitchFamily="2" charset="-122"/>
              <a:ea typeface="STKaiti" panose="02010600040101010101" pitchFamily="2" charset="-122"/>
            </a:endParaRPr>
          </a:p>
          <a:p>
            <a:pPr>
              <a:spcBef>
                <a:spcPts val="400"/>
              </a:spcBef>
            </a:pPr>
            <a:endParaRPr lang="en-US" altLang="en-US" dirty="0">
              <a:latin typeface="STKaiti" panose="02010600040101010101" pitchFamily="2" charset="-122"/>
              <a:ea typeface="STKaiti" panose="02010600040101010101" pitchFamily="2" charset="-122"/>
            </a:endParaRPr>
          </a:p>
          <a:p>
            <a:pPr>
              <a:spcBef>
                <a:spcPts val="400"/>
              </a:spcBef>
            </a:pPr>
            <a:endParaRPr lang="en-US" altLang="en-US" dirty="0">
              <a:latin typeface="STKaiti" panose="02010600040101010101" pitchFamily="2" charset="-122"/>
              <a:ea typeface="STKaiti" panose="02010600040101010101" pitchFamily="2" charset="-122"/>
            </a:endParaRPr>
          </a:p>
          <a:p>
            <a:pPr>
              <a:spcBef>
                <a:spcPts val="400"/>
              </a:spcBef>
            </a:pPr>
            <a:r>
              <a:rPr lang="ko-KR" altLang="en-US" dirty="0">
                <a:latin typeface="STKaiti" panose="02010600040101010101" pitchFamily="2" charset="-122"/>
                <a:ea typeface="STKaiti" panose="02010600040101010101" pitchFamily="2" charset="-122"/>
              </a:rPr>
              <a:t>加权算术平均值：</a:t>
            </a:r>
            <a:endParaRPr lang="en-US" altLang="en-US" dirty="0">
              <a:latin typeface="STKaiti" panose="02010600040101010101" pitchFamily="2" charset="-122"/>
              <a:ea typeface="STKaiti" panose="02010600040101010101" pitchFamily="2" charset="-122"/>
            </a:endParaRPr>
          </a:p>
          <a:p>
            <a:pPr>
              <a:spcBef>
                <a:spcPts val="400"/>
              </a:spcBef>
            </a:pPr>
            <a:endParaRPr lang="en-US" altLang="en-US" dirty="0">
              <a:latin typeface="STKaiti" panose="02010600040101010101" pitchFamily="2" charset="-122"/>
              <a:ea typeface="STKaiti" panose="02010600040101010101" pitchFamily="2" charset="-122"/>
            </a:endParaRPr>
          </a:p>
          <a:p>
            <a:pPr marL="0" indent="0">
              <a:spcBef>
                <a:spcPts val="400"/>
              </a:spcBef>
              <a:buNone/>
            </a:pPr>
            <a:endParaRPr lang="en-US" altLang="en-US" dirty="0">
              <a:latin typeface="STKaiti" panose="02010600040101010101" pitchFamily="2" charset="-122"/>
              <a:ea typeface="STKaiti" panose="02010600040101010101" pitchFamily="2" charset="-122"/>
            </a:endParaRPr>
          </a:p>
          <a:p>
            <a:pPr marL="0" indent="0">
              <a:spcBef>
                <a:spcPts val="400"/>
              </a:spcBef>
              <a:buNone/>
            </a:pPr>
            <a:endParaRPr lang="en-US" altLang="en-US" dirty="0">
              <a:latin typeface="STKaiti" panose="02010600040101010101" pitchFamily="2" charset="-122"/>
              <a:ea typeface="STKaiti" panose="02010600040101010101" pitchFamily="2" charset="-122"/>
            </a:endParaRPr>
          </a:p>
          <a:p>
            <a:pPr>
              <a:spcBef>
                <a:spcPts val="400"/>
              </a:spcBef>
            </a:pPr>
            <a:r>
              <a:rPr lang="ko-KR" altLang="en-US" dirty="0">
                <a:latin typeface="STKaiti" panose="02010600040101010101" pitchFamily="2" charset="-122"/>
                <a:ea typeface="STKaiti" panose="02010600040101010101" pitchFamily="2" charset="-122"/>
              </a:rPr>
              <a:t>修剪平均值：</a:t>
            </a:r>
            <a:endParaRPr lang="en-US" altLang="ko-KR" dirty="0">
              <a:latin typeface="STKaiti" panose="02010600040101010101" pitchFamily="2" charset="-122"/>
              <a:ea typeface="STKaiti" panose="02010600040101010101" pitchFamily="2" charset="-122"/>
            </a:endParaRPr>
          </a:p>
          <a:p>
            <a:pPr lvl="1">
              <a:spcBef>
                <a:spcPts val="400"/>
              </a:spcBef>
            </a:pPr>
            <a:r>
              <a:rPr lang="ko-KR" altLang="en-US" dirty="0">
                <a:latin typeface="STKaiti" panose="02010600040101010101" pitchFamily="2" charset="-122"/>
                <a:ea typeface="STKaiti" panose="02010600040101010101" pitchFamily="2" charset="-122"/>
              </a:rPr>
              <a:t>剔除极端值（例如，奥运会体操评分计算）</a:t>
            </a:r>
            <a:endParaRPr lang="en-US" altLang="en-US" dirty="0">
              <a:latin typeface="STKaiti" panose="02010600040101010101" pitchFamily="2" charset="-122"/>
              <a:ea typeface="STKaiti" panose="02010600040101010101" pitchFamily="2" charset="-122"/>
            </a:endParaRPr>
          </a:p>
        </p:txBody>
      </p:sp>
      <p:graphicFrame>
        <p:nvGraphicFramePr>
          <p:cNvPr id="18437" name="Object 4"/>
          <p:cNvGraphicFramePr>
            <a:graphicFrameLocks noChangeAspect="1"/>
          </p:cNvGraphicFramePr>
          <p:nvPr>
            <p:extLst>
              <p:ext uri="{D42A27DB-BD31-4B8C-83A1-F6EECF244321}">
                <p14:modId xmlns:p14="http://schemas.microsoft.com/office/powerpoint/2010/main" val="863458616"/>
              </p:ext>
            </p:extLst>
          </p:nvPr>
        </p:nvGraphicFramePr>
        <p:xfrm>
          <a:off x="2125400" y="2533186"/>
          <a:ext cx="1855493" cy="895814"/>
        </p:xfrm>
        <a:graphic>
          <a:graphicData uri="http://schemas.openxmlformats.org/presentationml/2006/ole">
            <mc:AlternateContent xmlns:mc="http://schemas.openxmlformats.org/markup-compatibility/2006">
              <mc:Choice xmlns:v="urn:schemas-microsoft-com:vml" Requires="v">
                <p:oleObj name="Microsoft Equation 3.0" r:id="rId3" imgW="710891" imgH="431613" progId="Equation.3">
                  <p:embed/>
                </p:oleObj>
              </mc:Choice>
              <mc:Fallback>
                <p:oleObj name="Microsoft Equation 3.0" r:id="rId3" imgW="710891" imgH="431613" progId="Equation.3">
                  <p:embed/>
                  <p:pic>
                    <p:nvPicPr>
                      <p:cNvPr id="1843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5400" y="2533186"/>
                        <a:ext cx="1855493" cy="895814"/>
                      </a:xfrm>
                      <a:prstGeom prst="rect">
                        <a:avLst/>
                      </a:prstGeom>
                      <a:noFill/>
                      <a:ln>
                        <a:noFill/>
                      </a:ln>
                      <a:effectLst/>
                    </p:spPr>
                  </p:pic>
                </p:oleObj>
              </mc:Fallback>
            </mc:AlternateContent>
          </a:graphicData>
        </a:graphic>
      </p:graphicFrame>
      <p:graphicFrame>
        <p:nvGraphicFramePr>
          <p:cNvPr id="18438" name="Object 5"/>
          <p:cNvGraphicFramePr>
            <a:graphicFrameLocks noChangeAspect="1"/>
          </p:cNvGraphicFramePr>
          <p:nvPr>
            <p:extLst>
              <p:ext uri="{D42A27DB-BD31-4B8C-83A1-F6EECF244321}">
                <p14:modId xmlns:p14="http://schemas.microsoft.com/office/powerpoint/2010/main" val="4269629922"/>
              </p:ext>
            </p:extLst>
          </p:nvPr>
        </p:nvGraphicFramePr>
        <p:xfrm>
          <a:off x="4767865" y="3789216"/>
          <a:ext cx="1902164" cy="1721005"/>
        </p:xfrm>
        <a:graphic>
          <a:graphicData uri="http://schemas.openxmlformats.org/presentationml/2006/ole">
            <mc:AlternateContent xmlns:mc="http://schemas.openxmlformats.org/markup-compatibility/2006">
              <mc:Choice xmlns:v="urn:schemas-microsoft-com:vml" Requires="v">
                <p:oleObj name="Equation" r:id="rId5" imgW="749300" imgH="838200" progId="Equation.3">
                  <p:embed/>
                </p:oleObj>
              </mc:Choice>
              <mc:Fallback>
                <p:oleObj name="Equation" r:id="rId5" imgW="749300" imgH="838200" progId="Equation.3">
                  <p:embed/>
                  <p:pic>
                    <p:nvPicPr>
                      <p:cNvPr id="1843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7865" y="3789216"/>
                        <a:ext cx="1902164" cy="1721005"/>
                      </a:xfrm>
                      <a:prstGeom prst="rect">
                        <a:avLst/>
                      </a:prstGeom>
                      <a:noFill/>
                      <a:ln>
                        <a:noFill/>
                      </a:ln>
                      <a:effectLst/>
                    </p:spPr>
                  </p:pic>
                </p:oleObj>
              </mc:Fallback>
            </mc:AlternateContent>
          </a:graphicData>
        </a:graphic>
      </p:graphicFrame>
      <p:graphicFrame>
        <p:nvGraphicFramePr>
          <p:cNvPr id="18441" name="Object 8"/>
          <p:cNvGraphicFramePr>
            <a:graphicFrameLocks noGrp="1" noChangeAspect="1"/>
          </p:cNvGraphicFramePr>
          <p:nvPr>
            <p:ph sz="half" idx="2"/>
            <p:extLst>
              <p:ext uri="{D42A27DB-BD31-4B8C-83A1-F6EECF244321}">
                <p14:modId xmlns:p14="http://schemas.microsoft.com/office/powerpoint/2010/main" val="2005026624"/>
              </p:ext>
            </p:extLst>
          </p:nvPr>
        </p:nvGraphicFramePr>
        <p:xfrm>
          <a:off x="5156555" y="2545181"/>
          <a:ext cx="1447989" cy="1047206"/>
        </p:xfrm>
        <a:graphic>
          <a:graphicData uri="http://schemas.openxmlformats.org/presentationml/2006/ole">
            <mc:AlternateContent xmlns:mc="http://schemas.openxmlformats.org/markup-compatibility/2006">
              <mc:Choice xmlns:v="urn:schemas-microsoft-com:vml" Requires="v">
                <p:oleObj name="Equation" r:id="rId7" imgW="596900" imgH="431800" progId="Equation.3">
                  <p:embed/>
                </p:oleObj>
              </mc:Choice>
              <mc:Fallback>
                <p:oleObj name="Equation" r:id="rId7" imgW="596900" imgH="431800" progId="Equation.3">
                  <p:embed/>
                  <p:pic>
                    <p:nvPicPr>
                      <p:cNvPr id="18441"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56555" y="2545181"/>
                        <a:ext cx="1447989" cy="1047206"/>
                      </a:xfrm>
                      <a:prstGeom prst="rect">
                        <a:avLst/>
                      </a:prstGeom>
                      <a:noFill/>
                      <a:ln>
                        <a:noFill/>
                      </a:ln>
                      <a:effectLst/>
                    </p:spPr>
                  </p:pic>
                </p:oleObj>
              </mc:Fallback>
            </mc:AlternateContent>
          </a:graphicData>
        </a:graphic>
      </p:graphicFrame>
      <p:sp>
        <p:nvSpPr>
          <p:cNvPr id="2" name="Down Arrow 1"/>
          <p:cNvSpPr/>
          <p:nvPr/>
        </p:nvSpPr>
        <p:spPr>
          <a:xfrm rot="17220723">
            <a:off x="2277927" y="1889277"/>
            <a:ext cx="349754" cy="827719"/>
          </a:xfrm>
          <a:prstGeom prst="down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rot="16483461">
            <a:off x="3991877" y="3979935"/>
            <a:ext cx="349754" cy="827719"/>
          </a:xfrm>
          <a:prstGeom prst="downArrow">
            <a:avLst/>
          </a:prstGeom>
          <a:solidFill>
            <a:srgbClr val="FFC0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rot="16914701">
            <a:off x="5034032" y="1857501"/>
            <a:ext cx="349754" cy="827719"/>
          </a:xfrm>
          <a:prstGeom prst="downArrow">
            <a:avLst/>
          </a:prstGeom>
          <a:solidFill>
            <a:srgbClr val="00B0F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7135451"/>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type="body" sz="half" idx="1"/>
          </p:nvPr>
        </p:nvSpPr>
        <p:spPr>
          <a:xfrm>
            <a:off x="553911" y="1212431"/>
            <a:ext cx="11333289" cy="1880813"/>
          </a:xfrm>
        </p:spPr>
        <p:txBody>
          <a:bodyPr/>
          <a:lstStyle/>
          <a:p>
            <a:pPr eaLnBrk="1" hangingPunct="1">
              <a:spcBef>
                <a:spcPts val="400"/>
              </a:spcBef>
              <a:buSzPct val="80000"/>
            </a:pPr>
            <a:r>
              <a:rPr lang="ko-KR" altLang="en-US" u="sng" dirty="0">
                <a:latin typeface="STKaiti" panose="02010600040101010101" pitchFamily="2" charset="-122"/>
                <a:ea typeface="STKaiti" panose="02010600040101010101" pitchFamily="2" charset="-122"/>
              </a:rPr>
              <a:t>中位数： </a:t>
            </a:r>
          </a:p>
          <a:p>
            <a:pPr marL="574669" lvl="1" indent="-342900">
              <a:spcBef>
                <a:spcPts val="400"/>
              </a:spcBef>
            </a:pPr>
            <a:r>
              <a:rPr lang="ko-KR" altLang="en-US" dirty="0">
                <a:latin typeface="STKaiti" panose="02010600040101010101" pitchFamily="2" charset="-122"/>
                <a:ea typeface="STKaiti" panose="02010600040101010101" pitchFamily="2" charset="-122"/>
              </a:rPr>
              <a:t>若数据个数为奇数，则为中间值；否则为中间两个值的平均值</a:t>
            </a:r>
          </a:p>
          <a:p>
            <a:pPr eaLnBrk="1" hangingPunct="1">
              <a:spcBef>
                <a:spcPts val="400"/>
              </a:spcBef>
              <a:buSzPct val="80000"/>
            </a:pPr>
            <a:r>
              <a:rPr lang="ko-KR" altLang="en-US" dirty="0">
                <a:latin typeface="STKaiti" panose="02010600040101010101" pitchFamily="2" charset="-122"/>
                <a:ea typeface="STKaiti" panose="02010600040101010101" pitchFamily="2" charset="-122"/>
              </a:rPr>
              <a:t>通过插值法估算（适用于分组数据）：</a:t>
            </a:r>
            <a:endParaRPr lang="en-US" altLang="en-US" dirty="0">
              <a:latin typeface="Calibri" panose="020F0502020204030204" pitchFamily="34" charset="0"/>
            </a:endParaRPr>
          </a:p>
          <a:p>
            <a:pPr eaLnBrk="1" hangingPunct="1">
              <a:spcBef>
                <a:spcPts val="400"/>
              </a:spcBef>
              <a:buSzPct val="80000"/>
            </a:pPr>
            <a:endParaRPr lang="en-US" altLang="en-US" dirty="0"/>
          </a:p>
        </p:txBody>
      </p:sp>
      <p:graphicFrame>
        <p:nvGraphicFramePr>
          <p:cNvPr id="18439" name="Object 6"/>
          <p:cNvGraphicFramePr>
            <a:graphicFrameLocks noChangeAspect="1"/>
          </p:cNvGraphicFramePr>
          <p:nvPr>
            <p:extLst>
              <p:ext uri="{D42A27DB-BD31-4B8C-83A1-F6EECF244321}">
                <p14:modId xmlns:p14="http://schemas.microsoft.com/office/powerpoint/2010/main" val="2434938100"/>
              </p:ext>
            </p:extLst>
          </p:nvPr>
        </p:nvGraphicFramePr>
        <p:xfrm>
          <a:off x="1979766" y="5337189"/>
          <a:ext cx="4922839" cy="968427"/>
        </p:xfrm>
        <a:graphic>
          <a:graphicData uri="http://schemas.openxmlformats.org/presentationml/2006/ole">
            <mc:AlternateContent xmlns:mc="http://schemas.openxmlformats.org/markup-compatibility/2006">
              <mc:Choice xmlns:v="urn:schemas-microsoft-com:vml" Requires="v">
                <p:oleObj name="Equation" r:id="rId3" imgW="2387600" imgH="469900" progId="Equation.3">
                  <p:embed/>
                </p:oleObj>
              </mc:Choice>
              <mc:Fallback>
                <p:oleObj name="Equation" r:id="rId3" imgW="2387600" imgH="469900" progId="Equation.3">
                  <p:embed/>
                  <p:pic>
                    <p:nvPicPr>
                      <p:cNvPr id="1843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66" y="5337189"/>
                        <a:ext cx="4922839" cy="968427"/>
                      </a:xfrm>
                      <a:prstGeom prst="rect">
                        <a:avLst/>
                      </a:prstGeom>
                      <a:noFill/>
                      <a:ln>
                        <a:noFill/>
                      </a:ln>
                      <a:effectLst/>
                    </p:spPr>
                  </p:pic>
                </p:oleObj>
              </mc:Fallback>
            </mc:AlternateContent>
          </a:graphicData>
        </a:graphic>
      </p:graphicFrame>
      <p:pic>
        <p:nvPicPr>
          <p:cNvPr id="18442"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9801" y="2314821"/>
            <a:ext cx="2349319" cy="210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774899" y="4860286"/>
            <a:ext cx="1455345" cy="369332"/>
          </a:xfrm>
          <a:prstGeom prst="rect">
            <a:avLst/>
          </a:prstGeom>
          <a:solidFill>
            <a:srgbClr val="FFFF00"/>
          </a:solidFill>
        </p:spPr>
        <p:txBody>
          <a:bodyPr wrap="square" rtlCol="0">
            <a:spAutoFit/>
          </a:bodyPr>
          <a:lstStyle/>
          <a:p>
            <a:pPr algn="ctr"/>
            <a:r>
              <a:rPr lang="ko-KR" altLang="en-US" sz="1800" dirty="0">
                <a:latin typeface="STKaiti" panose="02010600040101010101" pitchFamily="2" charset="-122"/>
                <a:ea typeface="STKaiti" panose="02010600040101010101" pitchFamily="2" charset="-122"/>
              </a:rPr>
              <a:t>近似中位数</a:t>
            </a:r>
            <a:endParaRPr lang="en-US" sz="1800" dirty="0">
              <a:latin typeface="STKaiti" panose="02010600040101010101" pitchFamily="2" charset="-122"/>
              <a:ea typeface="STKaiti" panose="02010600040101010101" pitchFamily="2" charset="-122"/>
            </a:endParaRPr>
          </a:p>
        </p:txBody>
      </p:sp>
      <p:sp>
        <p:nvSpPr>
          <p:cNvPr id="3" name="Curved Right Arrow 2"/>
          <p:cNvSpPr/>
          <p:nvPr/>
        </p:nvSpPr>
        <p:spPr>
          <a:xfrm rot="19277405">
            <a:off x="1376043" y="5412708"/>
            <a:ext cx="430813" cy="733667"/>
          </a:xfrm>
          <a:prstGeom prst="curv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2501152" y="6265549"/>
            <a:ext cx="1837765" cy="369332"/>
          </a:xfrm>
          <a:prstGeom prst="rect">
            <a:avLst/>
          </a:prstGeom>
          <a:solidFill>
            <a:srgbClr val="92D050"/>
          </a:solidFill>
        </p:spPr>
        <p:txBody>
          <a:bodyPr wrap="square" rtlCol="0">
            <a:spAutoFit/>
          </a:bodyPr>
          <a:lstStyle/>
          <a:p>
            <a:pPr algn="ctr"/>
            <a:r>
              <a:rPr lang="ko-KR" altLang="en-US" sz="1800" dirty="0">
                <a:latin typeface="STKaiti" panose="02010600040101010101" pitchFamily="2" charset="-122"/>
                <a:ea typeface="STKaiti" panose="02010600040101010101" pitchFamily="2" charset="-122"/>
              </a:rPr>
              <a:t>下限值</a:t>
            </a:r>
            <a:endParaRPr lang="en-US" sz="1800" dirty="0">
              <a:latin typeface="STKaiti" panose="02010600040101010101" pitchFamily="2" charset="-122"/>
              <a:ea typeface="STKaiti" panose="02010600040101010101" pitchFamily="2" charset="-122"/>
            </a:endParaRPr>
          </a:p>
        </p:txBody>
      </p:sp>
      <p:sp>
        <p:nvSpPr>
          <p:cNvPr id="11" name="TextBox 10"/>
          <p:cNvSpPr txBox="1"/>
          <p:nvPr/>
        </p:nvSpPr>
        <p:spPr>
          <a:xfrm>
            <a:off x="6096000" y="5276237"/>
            <a:ext cx="2515977" cy="369332"/>
          </a:xfrm>
          <a:prstGeom prst="rect">
            <a:avLst/>
          </a:prstGeom>
          <a:solidFill>
            <a:srgbClr val="92D050"/>
          </a:solidFill>
        </p:spPr>
        <p:txBody>
          <a:bodyPr wrap="square" rtlCol="0">
            <a:spAutoFit/>
          </a:bodyPr>
          <a:lstStyle/>
          <a:p>
            <a:pPr algn="ctr"/>
            <a:r>
              <a:rPr lang="ko-KR" altLang="en-US" sz="1800" dirty="0">
                <a:latin typeface="STKaiti" panose="02010600040101010101" pitchFamily="2" charset="-122"/>
                <a:ea typeface="STKaiti" panose="02010600040101010101" pitchFamily="2" charset="-122"/>
              </a:rPr>
              <a:t>区间宽度（</a:t>
            </a:r>
            <a:r>
              <a:rPr lang="en-US" sz="1800" dirty="0">
                <a:latin typeface="STKaiti" panose="02010600040101010101" pitchFamily="2" charset="-122"/>
                <a:ea typeface="STKaiti" panose="02010600040101010101" pitchFamily="2" charset="-122"/>
              </a:rPr>
              <a:t>L2 – L1）</a:t>
            </a:r>
          </a:p>
        </p:txBody>
      </p:sp>
      <p:sp>
        <p:nvSpPr>
          <p:cNvPr id="5" name="Right Arrow 4"/>
          <p:cNvSpPr/>
          <p:nvPr/>
        </p:nvSpPr>
        <p:spPr>
          <a:xfrm rot="7632380">
            <a:off x="7061556" y="5614612"/>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305373" y="4752715"/>
            <a:ext cx="2319925" cy="369332"/>
          </a:xfrm>
          <a:prstGeom prst="rect">
            <a:avLst/>
          </a:prstGeom>
          <a:solidFill>
            <a:srgbClr val="92D050"/>
          </a:solidFill>
        </p:spPr>
        <p:txBody>
          <a:bodyPr wrap="square" rtlCol="0">
            <a:spAutoFit/>
          </a:bodyPr>
          <a:lstStyle/>
          <a:p>
            <a:pPr algn="ctr"/>
            <a:r>
              <a:rPr lang="ko-KR" altLang="en-US" sz="1800" dirty="0">
                <a:latin typeface="STKaiti" panose="02010600040101010101" pitchFamily="2" charset="-122"/>
                <a:ea typeface="STKaiti" panose="02010600040101010101" pitchFamily="2" charset="-122"/>
              </a:rPr>
              <a:t>中位数区间前的和</a:t>
            </a:r>
            <a:endParaRPr lang="en-US" sz="1800" dirty="0">
              <a:latin typeface="STKaiti" panose="02010600040101010101" pitchFamily="2" charset="-122"/>
              <a:ea typeface="STKaiti" panose="02010600040101010101" pitchFamily="2" charset="-122"/>
            </a:endParaRPr>
          </a:p>
        </p:txBody>
      </p:sp>
      <p:sp>
        <p:nvSpPr>
          <p:cNvPr id="14" name="Right Arrow 13"/>
          <p:cNvSpPr/>
          <p:nvPr/>
        </p:nvSpPr>
        <p:spPr>
          <a:xfrm rot="5400000">
            <a:off x="5348795" y="5138706"/>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16200000">
            <a:off x="3303493" y="6046258"/>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
            <a:extLst>
              <a:ext uri="{FF2B5EF4-FFF2-40B4-BE49-F238E27FC236}">
                <a16:creationId xmlns:a16="http://schemas.microsoft.com/office/drawing/2014/main" id="{88C2F10C-0DE2-3FEA-6FE0-B8C1480D0E64}"/>
              </a:ext>
            </a:extLst>
          </p:cNvPr>
          <p:cNvSpPr>
            <a:spLocks noGrp="1" noChangeArrowheads="1"/>
          </p:cNvSpPr>
          <p:nvPr>
            <p:ph type="title"/>
          </p:nvPr>
        </p:nvSpPr>
        <p:spPr/>
        <p:txBody>
          <a:bodyPr>
            <a:noAutofit/>
          </a:bodyPr>
          <a:lstStyle/>
          <a:p>
            <a:pPr eaLnBrk="1" hangingPunct="1"/>
            <a:r>
              <a:rPr lang="en-US" altLang="en-US" sz="4000" b="1" dirty="0">
                <a:ea typeface="STKaiti" panose="02010600040101010101" pitchFamily="2" charset="-122"/>
              </a:rPr>
              <a:t>测量中心趋势</a:t>
            </a:r>
            <a:r>
              <a:rPr lang="zh-CN" altLang="en-US" sz="4000" b="1" dirty="0">
                <a:ea typeface="STKaiti" panose="02010600040101010101" pitchFamily="2" charset="-122"/>
              </a:rPr>
              <a:t>：中位数</a:t>
            </a:r>
            <a:endParaRPr lang="en-US" altLang="en-US" sz="4000" b="1" dirty="0">
              <a:ea typeface="STKaiti" panose="02010600040101010101" pitchFamily="2" charset="-122"/>
            </a:endParaRPr>
          </a:p>
        </p:txBody>
      </p:sp>
    </p:spTree>
    <p:extLst>
      <p:ext uri="{BB962C8B-B14F-4D97-AF65-F5344CB8AC3E}">
        <p14:creationId xmlns:p14="http://schemas.microsoft.com/office/powerpoint/2010/main" val="685924239"/>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type="body" sz="half" idx="1"/>
          </p:nvPr>
        </p:nvSpPr>
        <p:spPr>
          <a:xfrm>
            <a:off x="553911" y="1212431"/>
            <a:ext cx="11333289" cy="1880813"/>
          </a:xfrm>
        </p:spPr>
        <p:txBody>
          <a:bodyPr/>
          <a:lstStyle/>
          <a:p>
            <a:pPr eaLnBrk="1" hangingPunct="1">
              <a:spcBef>
                <a:spcPts val="400"/>
              </a:spcBef>
              <a:buSzPct val="80000"/>
            </a:pPr>
            <a:r>
              <a:rPr lang="ko-KR" altLang="en-US" dirty="0">
                <a:latin typeface="STKaiti" panose="02010600040101010101" pitchFamily="2" charset="-122"/>
                <a:ea typeface="STKaiti" panose="02010600040101010101" pitchFamily="2" charset="-122"/>
              </a:rPr>
              <a:t>例：某企业</a:t>
            </a:r>
            <a:r>
              <a:rPr lang="en-US" altLang="ko-KR" dirty="0">
                <a:latin typeface="STKaiti" panose="02010600040101010101" pitchFamily="2" charset="-122"/>
                <a:ea typeface="STKaiti" panose="02010600040101010101" pitchFamily="2" charset="-122"/>
              </a:rPr>
              <a:t>50</a:t>
            </a:r>
            <a:r>
              <a:rPr lang="ko-KR" altLang="en-US" dirty="0">
                <a:latin typeface="STKaiti" panose="02010600040101010101" pitchFamily="2" charset="-122"/>
                <a:ea typeface="STKaiti" panose="02010600040101010101" pitchFamily="2" charset="-122"/>
              </a:rPr>
              <a:t>名工人加工零件的数据如表</a:t>
            </a:r>
            <a:r>
              <a:rPr lang="en-US" altLang="ko-KR" dirty="0">
                <a:latin typeface="STKaiti" panose="02010600040101010101" pitchFamily="2" charset="-122"/>
                <a:ea typeface="STKaiti" panose="02010600040101010101" pitchFamily="2" charset="-122"/>
              </a:rPr>
              <a:t>3-1</a:t>
            </a:r>
            <a:r>
              <a:rPr lang="ko-KR" altLang="en-US" dirty="0">
                <a:latin typeface="STKaiti" panose="02010600040101010101" pitchFamily="2" charset="-122"/>
                <a:ea typeface="STKaiti" panose="02010600040101010101" pitchFamily="2" charset="-122"/>
              </a:rPr>
              <a:t>所示，计算加工零件数值的中位数。</a:t>
            </a:r>
          </a:p>
          <a:p>
            <a:pPr eaLnBrk="1" hangingPunct="1">
              <a:spcBef>
                <a:spcPts val="400"/>
              </a:spcBef>
              <a:buSzPct val="80000"/>
            </a:pPr>
            <a:endParaRPr lang="ko-KR" altLang="en-US" u="sng" dirty="0">
              <a:latin typeface="STKaiti" panose="02010600040101010101" pitchFamily="2" charset="-122"/>
              <a:ea typeface="STKaiti" panose="02010600040101010101" pitchFamily="2" charset="-122"/>
            </a:endParaRPr>
          </a:p>
          <a:p>
            <a:pPr eaLnBrk="1" hangingPunct="1">
              <a:spcBef>
                <a:spcPts val="400"/>
              </a:spcBef>
              <a:buSzPct val="80000"/>
            </a:pPr>
            <a:endParaRPr lang="en-US" altLang="en-US" dirty="0"/>
          </a:p>
        </p:txBody>
      </p:sp>
      <p:sp>
        <p:nvSpPr>
          <p:cNvPr id="7" name="Rectangle 2">
            <a:extLst>
              <a:ext uri="{FF2B5EF4-FFF2-40B4-BE49-F238E27FC236}">
                <a16:creationId xmlns:a16="http://schemas.microsoft.com/office/drawing/2014/main" id="{88C2F10C-0DE2-3FEA-6FE0-B8C1480D0E64}"/>
              </a:ext>
            </a:extLst>
          </p:cNvPr>
          <p:cNvSpPr>
            <a:spLocks noGrp="1" noChangeArrowheads="1"/>
          </p:cNvSpPr>
          <p:nvPr>
            <p:ph type="title"/>
          </p:nvPr>
        </p:nvSpPr>
        <p:spPr/>
        <p:txBody>
          <a:bodyPr>
            <a:noAutofit/>
          </a:bodyPr>
          <a:lstStyle/>
          <a:p>
            <a:pPr eaLnBrk="1" hangingPunct="1"/>
            <a:r>
              <a:rPr lang="zh-CN" altLang="en-US" sz="4000" b="1" dirty="0">
                <a:ea typeface="STKaiti" panose="02010600040101010101" pitchFamily="2" charset="-122"/>
              </a:rPr>
              <a:t>计算中位数</a:t>
            </a:r>
            <a:endParaRPr lang="en-US" altLang="en-US" sz="4000" b="1" dirty="0">
              <a:ea typeface="STKaiti" panose="02010600040101010101" pitchFamily="2" charset="-122"/>
            </a:endParaRPr>
          </a:p>
        </p:txBody>
      </p:sp>
      <p:pic>
        <p:nvPicPr>
          <p:cNvPr id="4" name="图片 5">
            <a:extLst>
              <a:ext uri="{FF2B5EF4-FFF2-40B4-BE49-F238E27FC236}">
                <a16:creationId xmlns:a16="http://schemas.microsoft.com/office/drawing/2014/main" id="{76975C58-6392-9825-B4B7-8327404B0CE6}"/>
              </a:ext>
            </a:extLst>
          </p:cNvPr>
          <p:cNvPicPr>
            <a:picLocks noChangeAspect="1"/>
          </p:cNvPicPr>
          <p:nvPr/>
        </p:nvPicPr>
        <p:blipFill>
          <a:blip r:embed="rId3"/>
          <a:stretch>
            <a:fillRect/>
          </a:stretch>
        </p:blipFill>
        <p:spPr>
          <a:xfrm>
            <a:off x="2141632" y="1954317"/>
            <a:ext cx="7671441" cy="3356944"/>
          </a:xfrm>
          <a:prstGeom prst="rect">
            <a:avLst/>
          </a:prstGeom>
        </p:spPr>
      </p:pic>
    </p:spTree>
    <p:extLst>
      <p:ext uri="{BB962C8B-B14F-4D97-AF65-F5344CB8AC3E}">
        <p14:creationId xmlns:p14="http://schemas.microsoft.com/office/powerpoint/2010/main" val="3850656680"/>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type="body" sz="half" idx="1"/>
          </p:nvPr>
        </p:nvSpPr>
        <p:spPr>
          <a:xfrm>
            <a:off x="561974" y="1142999"/>
            <a:ext cx="7058025" cy="4361329"/>
          </a:xfrm>
        </p:spPr>
        <p:txBody>
          <a:bodyPr/>
          <a:lstStyle/>
          <a:p>
            <a:pPr>
              <a:spcBef>
                <a:spcPts val="400"/>
              </a:spcBef>
            </a:pPr>
            <a:r>
              <a:rPr lang="ko-KR" altLang="en-US" dirty="0">
                <a:latin typeface="STKaiti" panose="02010600040101010101" pitchFamily="2" charset="-122"/>
                <a:ea typeface="STKaiti" panose="02010600040101010101" pitchFamily="2" charset="-122"/>
              </a:rPr>
              <a:t>众数（</a:t>
            </a:r>
            <a:r>
              <a:rPr lang="en" altLang="ko-KR" dirty="0">
                <a:latin typeface="STKaiti" panose="02010600040101010101" pitchFamily="2" charset="-122"/>
                <a:ea typeface="STKaiti" panose="02010600040101010101" pitchFamily="2" charset="-122"/>
              </a:rPr>
              <a:t>Mode</a:t>
            </a:r>
            <a:r>
              <a:rPr lang="zh-CN" altLang="en-US" dirty="0">
                <a:ea typeface="STKaiti" panose="02010600040101010101" pitchFamily="2" charset="-122"/>
              </a:rPr>
              <a:t>）：</a:t>
            </a:r>
            <a:r>
              <a:rPr lang="ko-KR" altLang="en-US" dirty="0">
                <a:latin typeface="STKaiti" panose="02010600040101010101" pitchFamily="2" charset="-122"/>
                <a:ea typeface="STKaiti" panose="02010600040101010101" pitchFamily="2" charset="-122"/>
              </a:rPr>
              <a:t>数据中出现频率最高的值</a:t>
            </a:r>
            <a:endParaRPr lang="en-US" altLang="ko-KR" dirty="0">
              <a:latin typeface="STKaiti" panose="02010600040101010101" pitchFamily="2" charset="-122"/>
              <a:ea typeface="STKaiti" panose="02010600040101010101" pitchFamily="2" charset="-122"/>
            </a:endParaRPr>
          </a:p>
          <a:p>
            <a:pPr>
              <a:spcBef>
                <a:spcPts val="400"/>
              </a:spcBef>
            </a:pPr>
            <a:endParaRPr lang="ko-KR" altLang="en-US" dirty="0">
              <a:latin typeface="STKaiti" panose="02010600040101010101" pitchFamily="2" charset="-122"/>
              <a:ea typeface="STKaiti" panose="02010600040101010101" pitchFamily="2" charset="-122"/>
            </a:endParaRPr>
          </a:p>
          <a:p>
            <a:pPr>
              <a:spcBef>
                <a:spcPts val="400"/>
              </a:spcBef>
            </a:pPr>
            <a:r>
              <a:rPr lang="ko-KR" altLang="en-US" dirty="0">
                <a:latin typeface="STKaiti" panose="02010600040101010101" pitchFamily="2" charset="-122"/>
                <a:ea typeface="STKaiti" panose="02010600040101010101" pitchFamily="2" charset="-122"/>
              </a:rPr>
              <a:t>单峰分布</a:t>
            </a:r>
          </a:p>
          <a:p>
            <a:pPr lvl="1">
              <a:spcBef>
                <a:spcPts val="400"/>
              </a:spcBef>
            </a:pPr>
            <a:r>
              <a:rPr lang="ko-KR" altLang="en-US" dirty="0">
                <a:latin typeface="STKaiti" panose="02010600040101010101" pitchFamily="2" charset="-122"/>
                <a:ea typeface="STKaiti" panose="02010600040101010101" pitchFamily="2" charset="-122"/>
              </a:rPr>
              <a:t>经验公式：</a:t>
            </a:r>
          </a:p>
          <a:p>
            <a:pPr marL="0" indent="0">
              <a:spcBef>
                <a:spcPts val="400"/>
              </a:spcBef>
              <a:buNone/>
            </a:pPr>
            <a:endParaRPr lang="en-US" altLang="en-US" dirty="0">
              <a:latin typeface="STKaiti" panose="02010600040101010101" pitchFamily="2" charset="-122"/>
              <a:ea typeface="STKaiti" panose="02010600040101010101" pitchFamily="2" charset="-122"/>
            </a:endParaRPr>
          </a:p>
          <a:p>
            <a:pPr>
              <a:spcBef>
                <a:spcPts val="400"/>
              </a:spcBef>
            </a:pPr>
            <a:endParaRPr lang="en-US" altLang="en-US" dirty="0">
              <a:latin typeface="STKaiti" panose="02010600040101010101" pitchFamily="2" charset="-122"/>
              <a:ea typeface="STKaiti" panose="02010600040101010101" pitchFamily="2" charset="-122"/>
            </a:endParaRPr>
          </a:p>
          <a:p>
            <a:pPr>
              <a:spcBef>
                <a:spcPts val="400"/>
              </a:spcBef>
            </a:pPr>
            <a:r>
              <a:rPr lang="ko-KR" altLang="en-US" dirty="0">
                <a:latin typeface="STKaiti" panose="02010600040101010101" pitchFamily="2" charset="-122"/>
                <a:ea typeface="STKaiti" panose="02010600040101010101" pitchFamily="2" charset="-122"/>
              </a:rPr>
              <a:t>多峰分布</a:t>
            </a:r>
          </a:p>
          <a:p>
            <a:pPr lvl="1">
              <a:spcBef>
                <a:spcPts val="400"/>
              </a:spcBef>
            </a:pPr>
            <a:r>
              <a:rPr lang="ko-KR" altLang="en-US" dirty="0">
                <a:latin typeface="STKaiti" panose="02010600040101010101" pitchFamily="2" charset="-122"/>
                <a:ea typeface="STKaiti" panose="02010600040101010101" pitchFamily="2" charset="-122"/>
              </a:rPr>
              <a:t>双峰分布</a:t>
            </a:r>
          </a:p>
          <a:p>
            <a:pPr>
              <a:spcBef>
                <a:spcPts val="400"/>
              </a:spcBef>
            </a:pPr>
            <a:endParaRPr lang="ko-KR" altLang="en-US" dirty="0">
              <a:latin typeface="STKaiti" panose="02010600040101010101" pitchFamily="2" charset="-122"/>
              <a:ea typeface="STKaiti" panose="02010600040101010101" pitchFamily="2" charset="-122"/>
            </a:endParaRPr>
          </a:p>
          <a:p>
            <a:pPr lvl="1">
              <a:spcBef>
                <a:spcPts val="400"/>
              </a:spcBef>
            </a:pPr>
            <a:r>
              <a:rPr lang="ko-KR" altLang="en-US" dirty="0">
                <a:latin typeface="STKaiti" panose="02010600040101010101" pitchFamily="2" charset="-122"/>
                <a:ea typeface="STKaiti" panose="02010600040101010101" pitchFamily="2" charset="-122"/>
              </a:rPr>
              <a:t>三峰分布</a:t>
            </a:r>
            <a:endParaRPr lang="en-US" altLang="en-US" dirty="0">
              <a:latin typeface="STKaiti" panose="02010600040101010101" pitchFamily="2" charset="-122"/>
              <a:ea typeface="STKaiti" panose="02010600040101010101" pitchFamily="2" charset="-122"/>
            </a:endParaRPr>
          </a:p>
        </p:txBody>
      </p:sp>
      <p:graphicFrame>
        <p:nvGraphicFramePr>
          <p:cNvPr id="18440" name="Object 7"/>
          <p:cNvGraphicFramePr>
            <a:graphicFrameLocks noChangeAspect="1"/>
          </p:cNvGraphicFramePr>
          <p:nvPr>
            <p:extLst>
              <p:ext uri="{D42A27DB-BD31-4B8C-83A1-F6EECF244321}">
                <p14:modId xmlns:p14="http://schemas.microsoft.com/office/powerpoint/2010/main" val="1697789195"/>
              </p:ext>
            </p:extLst>
          </p:nvPr>
        </p:nvGraphicFramePr>
        <p:xfrm>
          <a:off x="1788045" y="2902975"/>
          <a:ext cx="4449763" cy="420688"/>
        </p:xfrm>
        <a:graphic>
          <a:graphicData uri="http://schemas.openxmlformats.org/presentationml/2006/ole">
            <mc:AlternateContent xmlns:mc="http://schemas.openxmlformats.org/markup-compatibility/2006">
              <mc:Choice xmlns:v="urn:schemas-microsoft-com:vml" Requires="v">
                <p:oleObj name="Equation" r:id="rId3" imgW="2197100" imgH="203200" progId="Equation.3">
                  <p:embed/>
                </p:oleObj>
              </mc:Choice>
              <mc:Fallback>
                <p:oleObj name="Equation" r:id="rId3" imgW="2197100" imgH="203200" progId="Equation.3">
                  <p:embed/>
                  <p:pic>
                    <p:nvPicPr>
                      <p:cNvPr id="1844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8045" y="2902975"/>
                        <a:ext cx="4449763"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3012" name="Picture 4" descr="https://ned.ipac.caltech.edu/level5/March02/Silverman/Figures/figure2_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2003" y="4335976"/>
            <a:ext cx="3523997" cy="1862275"/>
          </a:xfrm>
          <a:prstGeom prst="rect">
            <a:avLst/>
          </a:prstGeom>
          <a:noFill/>
          <a:extLst>
            <a:ext uri="{909E8E84-426E-40DD-AFC4-6F175D3DCCD1}">
              <a14:hiddenFill xmlns:a14="http://schemas.microsoft.com/office/drawing/2010/main">
                <a:solidFill>
                  <a:srgbClr val="FFFFFF"/>
                </a:solidFill>
              </a14:hiddenFill>
            </a:ext>
          </a:extLst>
        </p:spPr>
      </p:pic>
      <p:pic>
        <p:nvPicPr>
          <p:cNvPr id="43016" name="Picture 8" descr="http://www.netenrich.com/wp-content/uploads/bimodal-it-pressures.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45200" y="3988336"/>
            <a:ext cx="2693144" cy="1515992"/>
          </a:xfrm>
          <a:prstGeom prst="rect">
            <a:avLst/>
          </a:prstGeom>
          <a:noFill/>
          <a:extLst>
            <a:ext uri="{909E8E84-426E-40DD-AFC4-6F175D3DCCD1}">
              <a14:hiddenFill xmlns:a14="http://schemas.microsoft.com/office/drawing/2010/main">
                <a:solidFill>
                  <a:srgbClr val="FFFFFF"/>
                </a:solidFill>
              </a14:hiddenFill>
            </a:ext>
          </a:extLst>
        </p:spPr>
      </p:pic>
      <p:pic>
        <p:nvPicPr>
          <p:cNvPr id="43021" name="Picture 13" descr="http://www.ndt.net/article/v11n04/benoit/fig4.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33447" y="4335976"/>
            <a:ext cx="3124579" cy="2186531"/>
          </a:xfrm>
          <a:prstGeom prst="rect">
            <a:avLst/>
          </a:prstGeom>
          <a:noFill/>
          <a:extLst>
            <a:ext uri="{909E8E84-426E-40DD-AFC4-6F175D3DCCD1}">
              <a14:hiddenFill xmlns:a14="http://schemas.microsoft.com/office/drawing/2010/main">
                <a:solidFill>
                  <a:srgbClr val="FFFFFF"/>
                </a:solidFill>
              </a14:hiddenFill>
            </a:ext>
          </a:extLst>
        </p:spPr>
      </p:pic>
      <p:pic>
        <p:nvPicPr>
          <p:cNvPr id="43023" name="Picture 15" descr="http://www.statisticshowto.com/wp-content/uploads/2013/09/right-skewed.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98970" y="1788341"/>
            <a:ext cx="4468955" cy="1825489"/>
          </a:xfrm>
          <a:prstGeom prst="rect">
            <a:avLst/>
          </a:prstGeom>
          <a:noFill/>
          <a:extLst>
            <a:ext uri="{909E8E84-426E-40DD-AFC4-6F175D3DCCD1}">
              <a14:hiddenFill xmlns:a14="http://schemas.microsoft.com/office/drawing/2010/main">
                <a:solidFill>
                  <a:srgbClr val="FFFFFF"/>
                </a:solidFill>
              </a14:hiddenFill>
            </a:ext>
          </a:extLst>
        </p:spPr>
      </p:pic>
      <p:sp>
        <p:nvSpPr>
          <p:cNvPr id="3" name="제목 2">
            <a:extLst>
              <a:ext uri="{FF2B5EF4-FFF2-40B4-BE49-F238E27FC236}">
                <a16:creationId xmlns:a16="http://schemas.microsoft.com/office/drawing/2014/main" id="{6224F8A7-40C8-1D87-F770-8A1C666555F3}"/>
              </a:ext>
            </a:extLst>
          </p:cNvPr>
          <p:cNvSpPr>
            <a:spLocks noGrp="1"/>
          </p:cNvSpPr>
          <p:nvPr>
            <p:ph type="title"/>
          </p:nvPr>
        </p:nvSpPr>
        <p:spPr/>
        <p:txBody>
          <a:bodyPr>
            <a:normAutofit fontScale="90000"/>
          </a:bodyPr>
          <a:lstStyle/>
          <a:p>
            <a:r>
              <a:rPr lang="en-US" altLang="en-US" sz="4400" b="1" dirty="0">
                <a:ea typeface="STKaiti" panose="02010600040101010101" pitchFamily="2" charset="-122"/>
              </a:rPr>
              <a:t>测量中心趋势 </a:t>
            </a:r>
            <a:r>
              <a:rPr lang="zh-CN" altLang="en-US" b="1">
                <a:ea typeface="STKaiti" panose="02010600040101010101" pitchFamily="2" charset="-122"/>
              </a:rPr>
              <a:t>：众数</a:t>
            </a:r>
            <a:endParaRPr lang="ko-Kore-KR" altLang="en-US" b="1"/>
          </a:p>
        </p:txBody>
      </p:sp>
    </p:spTree>
    <p:extLst>
      <p:ext uri="{BB962C8B-B14F-4D97-AF65-F5344CB8AC3E}">
        <p14:creationId xmlns:p14="http://schemas.microsoft.com/office/powerpoint/2010/main" val="1370049245"/>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type="body" sz="half" idx="1"/>
          </p:nvPr>
        </p:nvSpPr>
        <p:spPr>
          <a:xfrm>
            <a:off x="561973" y="1142999"/>
            <a:ext cx="11113353" cy="4361329"/>
          </a:xfrm>
        </p:spPr>
        <p:txBody>
          <a:bodyPr/>
          <a:lstStyle/>
          <a:p>
            <a:pPr>
              <a:spcBef>
                <a:spcPts val="400"/>
              </a:spcBef>
            </a:pPr>
            <a:r>
              <a:rPr lang="ko-KR" altLang="en-US" dirty="0">
                <a:latin typeface="STKaiti" panose="02010600040101010101" pitchFamily="2" charset="-122"/>
                <a:ea typeface="STKaiti" panose="02010600040101010101" pitchFamily="2" charset="-122"/>
              </a:rPr>
              <a:t>中列数（</a:t>
            </a:r>
            <a:r>
              <a:rPr lang="en" altLang="ko-KR" dirty="0">
                <a:latin typeface="STKaiti" panose="02010600040101010101" pitchFamily="2" charset="-122"/>
                <a:ea typeface="STKaiti" panose="02010600040101010101" pitchFamily="2" charset="-122"/>
              </a:rPr>
              <a:t>Midrange</a:t>
            </a:r>
            <a:r>
              <a:rPr lang="ko-KR" altLang="en" dirty="0">
                <a:latin typeface="STKaiti" panose="02010600040101010101" pitchFamily="2" charset="-122"/>
                <a:ea typeface="STKaiti" panose="02010600040101010101" pitchFamily="2" charset="-122"/>
              </a:rPr>
              <a:t>）</a:t>
            </a:r>
            <a:r>
              <a:rPr lang="ko-KR" altLang="en-US" dirty="0">
                <a:latin typeface="STKaiti" panose="02010600040101010101" pitchFamily="2" charset="-122"/>
                <a:ea typeface="STKaiti" panose="02010600040101010101" pitchFamily="2" charset="-122"/>
              </a:rPr>
              <a:t>是数据集中的最大值和最小值的平均值</a:t>
            </a:r>
            <a:endParaRPr lang="en-US" altLang="ko-KR" dirty="0">
              <a:latin typeface="STKaiti" panose="02010600040101010101" pitchFamily="2" charset="-122"/>
              <a:ea typeface="STKaiti" panose="02010600040101010101" pitchFamily="2" charset="-122"/>
            </a:endParaRPr>
          </a:p>
          <a:p>
            <a:pPr>
              <a:spcBef>
                <a:spcPts val="400"/>
              </a:spcBef>
            </a:pPr>
            <a:endParaRPr lang="ko-KR" altLang="en-US" dirty="0">
              <a:latin typeface="STKaiti" panose="02010600040101010101" pitchFamily="2" charset="-122"/>
              <a:ea typeface="STKaiti" panose="02010600040101010101" pitchFamily="2" charset="-122"/>
            </a:endParaRPr>
          </a:p>
        </p:txBody>
      </p:sp>
      <p:sp>
        <p:nvSpPr>
          <p:cNvPr id="3" name="제목 2">
            <a:extLst>
              <a:ext uri="{FF2B5EF4-FFF2-40B4-BE49-F238E27FC236}">
                <a16:creationId xmlns:a16="http://schemas.microsoft.com/office/drawing/2014/main" id="{6224F8A7-40C8-1D87-F770-8A1C666555F3}"/>
              </a:ext>
            </a:extLst>
          </p:cNvPr>
          <p:cNvSpPr>
            <a:spLocks noGrp="1"/>
          </p:cNvSpPr>
          <p:nvPr>
            <p:ph type="title"/>
          </p:nvPr>
        </p:nvSpPr>
        <p:spPr/>
        <p:txBody>
          <a:bodyPr>
            <a:normAutofit fontScale="90000"/>
          </a:bodyPr>
          <a:lstStyle/>
          <a:p>
            <a:r>
              <a:rPr lang="ko-Kore-KR" altLang="en-US" b="1"/>
              <a:t>测量中心趋势</a:t>
            </a:r>
            <a:r>
              <a:rPr lang="zh-CN" altLang="en-US" b="1">
                <a:ea typeface="STKaiti" panose="02010600040101010101" pitchFamily="2" charset="-122"/>
              </a:rPr>
              <a:t>：中列数</a:t>
            </a:r>
            <a:endParaRPr lang="ko-Kore-KR" altLang="en-US" b="1"/>
          </a:p>
        </p:txBody>
      </p:sp>
    </p:spTree>
    <p:extLst>
      <p:ext uri="{BB962C8B-B14F-4D97-AF65-F5344CB8AC3E}">
        <p14:creationId xmlns:p14="http://schemas.microsoft.com/office/powerpoint/2010/main" val="937294480"/>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4" name="Picture 8" descr="leftskewed"/>
          <p:cNvPicPr>
            <a:picLocks noGrp="1" noChangeAspect="1" noChangeArrowheads="1"/>
          </p:cNvPicPr>
          <p:nvPr>
            <p:ph sz="quarter" idx="3"/>
          </p:nvPr>
        </p:nvPicPr>
        <p:blipFill rotWithShape="1">
          <a:blip r:embed="rId3">
            <a:extLst>
              <a:ext uri="{28A0092B-C50C-407E-A947-70E740481C1C}">
                <a14:useLocalDpi xmlns:a14="http://schemas.microsoft.com/office/drawing/2010/main" val="0"/>
              </a:ext>
            </a:extLst>
          </a:blip>
          <a:srcRect b="5569"/>
          <a:stretch/>
        </p:blipFill>
        <p:spPr>
          <a:xfrm>
            <a:off x="4182729" y="3896865"/>
            <a:ext cx="4604481" cy="2847537"/>
          </a:xfrm>
          <a:noFill/>
        </p:spPr>
      </p:pic>
      <p:sp>
        <p:nvSpPr>
          <p:cNvPr id="19466" name="Rectangle 11"/>
          <p:cNvSpPr>
            <a:spLocks noChangeArrowheads="1"/>
          </p:cNvSpPr>
          <p:nvPr/>
        </p:nvSpPr>
        <p:spPr bwMode="auto">
          <a:xfrm>
            <a:off x="6523555" y="5203147"/>
            <a:ext cx="1457575" cy="3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ko-KR" altLang="en-US" sz="1800" dirty="0">
                <a:latin typeface="STKaiti" panose="02010600040101010101" pitchFamily="2" charset="-122"/>
                <a:ea typeface="STKaiti" panose="02010600040101010101" pitchFamily="2" charset="-122"/>
              </a:rPr>
              <a:t>正偏态分布</a:t>
            </a:r>
            <a:endParaRPr lang="en-US" altLang="en-US" sz="1800" dirty="0">
              <a:latin typeface="STKaiti" panose="02010600040101010101" pitchFamily="2" charset="-122"/>
              <a:ea typeface="STKaiti" panose="02010600040101010101" pitchFamily="2" charset="-122"/>
            </a:endParaRPr>
          </a:p>
        </p:txBody>
      </p:sp>
      <p:pic>
        <p:nvPicPr>
          <p:cNvPr id="19463" name="Picture 6" descr="rightskewed"/>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6801564" y="1396944"/>
            <a:ext cx="4151506" cy="3227673"/>
          </a:xfrm>
          <a:noFill/>
        </p:spPr>
      </p:pic>
      <p:pic>
        <p:nvPicPr>
          <p:cNvPr id="19465" name="Picture 10" descr="ha02skew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930" y="1453402"/>
            <a:ext cx="3504660" cy="2847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Rectangle 2"/>
          <p:cNvSpPr>
            <a:spLocks noGrp="1" noChangeArrowheads="1"/>
          </p:cNvSpPr>
          <p:nvPr>
            <p:ph type="title"/>
          </p:nvPr>
        </p:nvSpPr>
        <p:spPr>
          <a:xfrm>
            <a:off x="0" y="295507"/>
            <a:ext cx="7391400" cy="685800"/>
          </a:xfrm>
        </p:spPr>
        <p:txBody>
          <a:bodyPr>
            <a:normAutofit/>
          </a:bodyPr>
          <a:lstStyle/>
          <a:p>
            <a:pPr eaLnBrk="1" hangingPunct="1"/>
            <a:r>
              <a:rPr lang="en-US" altLang="en-US" sz="3600" b="1" dirty="0">
                <a:ea typeface="STKaiti" panose="02010600040101010101" pitchFamily="2" charset="-122"/>
                <a:cs typeface="Times New Roman" panose="02020603050405020304" pitchFamily="18" charset="0"/>
              </a:rPr>
              <a:t>对称数据与倾斜数据</a:t>
            </a:r>
          </a:p>
        </p:txBody>
      </p:sp>
      <p:sp>
        <p:nvSpPr>
          <p:cNvPr id="19467" name="Rectangle 12"/>
          <p:cNvSpPr>
            <a:spLocks noChangeArrowheads="1"/>
          </p:cNvSpPr>
          <p:nvPr/>
        </p:nvSpPr>
        <p:spPr bwMode="auto">
          <a:xfrm>
            <a:off x="7582613" y="2849438"/>
            <a:ext cx="1494098" cy="360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ko-KR" altLang="en-US" sz="1800" dirty="0">
                <a:latin typeface="STKaiti" panose="02010600040101010101" pitchFamily="2" charset="-122"/>
                <a:ea typeface="STKaiti" panose="02010600040101010101" pitchFamily="2" charset="-122"/>
              </a:rPr>
              <a:t>负偏态分布</a:t>
            </a:r>
            <a:endParaRPr lang="en-US" altLang="en-US" sz="1800" dirty="0"/>
          </a:p>
        </p:txBody>
      </p:sp>
      <p:sp>
        <p:nvSpPr>
          <p:cNvPr id="2" name="Rectangle 12">
            <a:extLst>
              <a:ext uri="{FF2B5EF4-FFF2-40B4-BE49-F238E27FC236}">
                <a16:creationId xmlns:a16="http://schemas.microsoft.com/office/drawing/2014/main" id="{DE0B5A75-1948-7E08-18AD-D77072499FCF}"/>
              </a:ext>
            </a:extLst>
          </p:cNvPr>
          <p:cNvSpPr>
            <a:spLocks noChangeArrowheads="1"/>
          </p:cNvSpPr>
          <p:nvPr/>
        </p:nvSpPr>
        <p:spPr bwMode="auto">
          <a:xfrm>
            <a:off x="1414678" y="2151966"/>
            <a:ext cx="767076" cy="372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ko-KR" altLang="en-US" sz="2000" dirty="0">
                <a:latin typeface="STKaiti" panose="02010600040101010101" pitchFamily="2" charset="-122"/>
                <a:ea typeface="STKaiti" panose="02010600040101010101" pitchFamily="2" charset="-122"/>
              </a:rPr>
              <a:t>对称</a:t>
            </a:r>
            <a:endParaRPr lang="en-US" altLang="en-US" sz="2000" dirty="0"/>
          </a:p>
        </p:txBody>
      </p:sp>
    </p:spTree>
    <p:extLst>
      <p:ext uri="{BB962C8B-B14F-4D97-AF65-F5344CB8AC3E}">
        <p14:creationId xmlns:p14="http://schemas.microsoft.com/office/powerpoint/2010/main" val="3146674761"/>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type="body" sz="half" idx="1"/>
          </p:nvPr>
        </p:nvSpPr>
        <p:spPr>
          <a:xfrm>
            <a:off x="571500" y="1142999"/>
            <a:ext cx="10788162" cy="1825891"/>
          </a:xfrm>
        </p:spPr>
        <p:txBody>
          <a:bodyPr/>
          <a:lstStyle/>
          <a:p>
            <a:pPr eaLnBrk="1" hangingPunct="1">
              <a:buClr>
                <a:srgbClr val="FF0000"/>
              </a:buClr>
              <a:buSzPct val="80000"/>
            </a:pPr>
            <a:r>
              <a:rPr lang="ko-KR" altLang="en-US" dirty="0">
                <a:latin typeface="STKaiti" panose="02010600040101010101" pitchFamily="2" charset="-122"/>
                <a:ea typeface="STKaiti" panose="02010600040101010101" pitchFamily="2" charset="-122"/>
              </a:rPr>
              <a:t>方差和标准差（样本：</a:t>
            </a:r>
            <a:r>
              <a:rPr lang="en-US" altLang="en-US" dirty="0">
                <a:latin typeface="STKaiti" panose="02010600040101010101" pitchFamily="2" charset="-122"/>
                <a:ea typeface="STKaiti" panose="02010600040101010101" pitchFamily="2" charset="-122"/>
              </a:rPr>
              <a:t>s，</a:t>
            </a:r>
            <a:r>
              <a:rPr lang="ko-KR" altLang="en-US" dirty="0">
                <a:latin typeface="STKaiti" panose="02010600040101010101" pitchFamily="2" charset="-122"/>
                <a:ea typeface="STKaiti" panose="02010600040101010101" pitchFamily="2" charset="-122"/>
              </a:rPr>
              <a:t>总体：</a:t>
            </a:r>
            <a:r>
              <a:rPr lang="el-GR" altLang="en-US" dirty="0">
                <a:latin typeface="STKaiti" panose="02010600040101010101" pitchFamily="2" charset="-122"/>
                <a:ea typeface="STKaiti" panose="02010600040101010101" pitchFamily="2" charset="-122"/>
              </a:rPr>
              <a:t>σ）</a:t>
            </a:r>
            <a:endParaRPr lang="en-US" altLang="en-US" dirty="0">
              <a:latin typeface="STKaiti" panose="02010600040101010101" pitchFamily="2" charset="-122"/>
              <a:ea typeface="STKaiti" panose="02010600040101010101" pitchFamily="2" charset="-122"/>
            </a:endParaRPr>
          </a:p>
          <a:p>
            <a:pPr eaLnBrk="1" hangingPunct="1">
              <a:buSzPct val="80000"/>
            </a:pPr>
            <a:endParaRPr lang="el-GR" altLang="en-US" dirty="0">
              <a:latin typeface="STKaiti" panose="02010600040101010101" pitchFamily="2" charset="-122"/>
              <a:ea typeface="STKaiti" panose="02010600040101010101" pitchFamily="2" charset="-122"/>
            </a:endParaRPr>
          </a:p>
          <a:p>
            <a:pPr lvl="1">
              <a:buClr>
                <a:srgbClr val="0033CC"/>
              </a:buClr>
            </a:pPr>
            <a:r>
              <a:rPr lang="ko-KR" altLang="en-US" dirty="0">
                <a:latin typeface="STKaiti" panose="02010600040101010101" pitchFamily="2" charset="-122"/>
                <a:ea typeface="STKaiti" panose="02010600040101010101" pitchFamily="2" charset="-122"/>
              </a:rPr>
              <a:t>方差</a:t>
            </a:r>
            <a:endParaRPr lang="en-US" altLang="ko-KR" b="1" dirty="0">
              <a:latin typeface="STKaiti" panose="02010600040101010101" pitchFamily="2" charset="-122"/>
              <a:ea typeface="STKaiti" panose="02010600040101010101" pitchFamily="2" charset="-122"/>
            </a:endParaRPr>
          </a:p>
          <a:p>
            <a:pPr lvl="1" eaLnBrk="1" hangingPunct="1">
              <a:buSzPct val="80000"/>
            </a:pPr>
            <a:endParaRPr lang="en-US" altLang="ko-KR" b="1" dirty="0">
              <a:latin typeface="STKaiti" panose="02010600040101010101" pitchFamily="2" charset="-122"/>
              <a:ea typeface="STKaiti" panose="02010600040101010101" pitchFamily="2" charset="-122"/>
            </a:endParaRPr>
          </a:p>
          <a:p>
            <a:pPr marL="200021" lvl="1" indent="0" eaLnBrk="1" hangingPunct="1">
              <a:buSzPct val="80000"/>
              <a:buNone/>
            </a:pPr>
            <a:endParaRPr lang="en-US" altLang="ko-KR" b="1" dirty="0">
              <a:latin typeface="STKaiti" panose="02010600040101010101" pitchFamily="2" charset="-122"/>
              <a:ea typeface="STKaiti" panose="02010600040101010101" pitchFamily="2" charset="-122"/>
            </a:endParaRPr>
          </a:p>
          <a:p>
            <a:pPr marL="200021" lvl="1" indent="0" eaLnBrk="1" hangingPunct="1">
              <a:buSzPct val="80000"/>
              <a:buNone/>
            </a:pPr>
            <a:endParaRPr lang="en-US" altLang="ko-KR" b="1" dirty="0">
              <a:latin typeface="STKaiti" panose="02010600040101010101" pitchFamily="2" charset="-122"/>
              <a:ea typeface="STKaiti" panose="02010600040101010101" pitchFamily="2" charset="-122"/>
            </a:endParaRPr>
          </a:p>
          <a:p>
            <a:pPr lvl="1" eaLnBrk="1" hangingPunct="1">
              <a:buClr>
                <a:srgbClr val="0033CC"/>
              </a:buClr>
              <a:buSzPct val="80000"/>
            </a:pPr>
            <a:r>
              <a:rPr lang="en-US" altLang="en-US" dirty="0">
                <a:latin typeface="STKaiti" panose="02010600040101010101" pitchFamily="2" charset="-122"/>
                <a:ea typeface="STKaiti" panose="02010600040101010101" pitchFamily="2" charset="-122"/>
              </a:rPr>
              <a:t>标准差s（</a:t>
            </a:r>
            <a:r>
              <a:rPr lang="el-GR" altLang="en-US" dirty="0">
                <a:latin typeface="STKaiti" panose="02010600040101010101" pitchFamily="2" charset="-122"/>
                <a:ea typeface="STKaiti" panose="02010600040101010101" pitchFamily="2" charset="-122"/>
              </a:rPr>
              <a:t>或σ）</a:t>
            </a:r>
            <a:r>
              <a:rPr lang="en-US" altLang="en-US" dirty="0">
                <a:latin typeface="STKaiti" panose="02010600040101010101" pitchFamily="2" charset="-122"/>
                <a:ea typeface="STKaiti" panose="02010600040101010101" pitchFamily="2" charset="-122"/>
              </a:rPr>
              <a:t>是方差s²（</a:t>
            </a:r>
            <a:r>
              <a:rPr lang="el-GR" altLang="en-US" dirty="0">
                <a:latin typeface="STKaiti" panose="02010600040101010101" pitchFamily="2" charset="-122"/>
                <a:ea typeface="STKaiti" panose="02010600040101010101" pitchFamily="2" charset="-122"/>
              </a:rPr>
              <a:t>或σ²）</a:t>
            </a:r>
            <a:r>
              <a:rPr lang="ko-KR" altLang="en-US" dirty="0">
                <a:latin typeface="STKaiti" panose="02010600040101010101" pitchFamily="2" charset="-122"/>
                <a:ea typeface="STKaiti" panose="02010600040101010101" pitchFamily="2" charset="-122"/>
              </a:rPr>
              <a:t>的平方根</a:t>
            </a:r>
            <a:endParaRPr lang="en-US" altLang="en-US" i="1" baseline="30000" dirty="0">
              <a:latin typeface="STKaiti" panose="02010600040101010101" pitchFamily="2" charset="-122"/>
              <a:ea typeface="STKaiti" panose="02010600040101010101" pitchFamily="2" charset="-122"/>
            </a:endParaRPr>
          </a:p>
        </p:txBody>
      </p:sp>
      <p:graphicFrame>
        <p:nvGraphicFramePr>
          <p:cNvPr id="20485" name="Object 10"/>
          <p:cNvGraphicFramePr>
            <a:graphicFrameLocks noChangeAspect="1"/>
          </p:cNvGraphicFramePr>
          <p:nvPr>
            <p:extLst>
              <p:ext uri="{D42A27DB-BD31-4B8C-83A1-F6EECF244321}">
                <p14:modId xmlns:p14="http://schemas.microsoft.com/office/powerpoint/2010/main" val="3317489106"/>
              </p:ext>
            </p:extLst>
          </p:nvPr>
        </p:nvGraphicFramePr>
        <p:xfrm>
          <a:off x="1676666" y="2571864"/>
          <a:ext cx="5248242" cy="857136"/>
        </p:xfrm>
        <a:graphic>
          <a:graphicData uri="http://schemas.openxmlformats.org/presentationml/2006/ole">
            <mc:AlternateContent xmlns:mc="http://schemas.openxmlformats.org/markup-compatibility/2006">
              <mc:Choice xmlns:v="urn:schemas-microsoft-com:vml" Requires="v">
                <p:oleObj name="Equation" r:id="rId3" imgW="2959100" imgH="431800" progId="Equation.3">
                  <p:embed/>
                </p:oleObj>
              </mc:Choice>
              <mc:Fallback>
                <p:oleObj name="Equation" r:id="rId3" imgW="2959100" imgH="431800" progId="Equation.3">
                  <p:embed/>
                  <p:pic>
                    <p:nvPicPr>
                      <p:cNvPr id="20485"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666" y="2571864"/>
                        <a:ext cx="5248242" cy="857136"/>
                      </a:xfrm>
                      <a:prstGeom prst="rect">
                        <a:avLst/>
                      </a:prstGeom>
                      <a:noFill/>
                      <a:ln>
                        <a:noFill/>
                      </a:ln>
                      <a:effectLst/>
                    </p:spPr>
                  </p:pic>
                </p:oleObj>
              </mc:Fallback>
            </mc:AlternateContent>
          </a:graphicData>
        </a:graphic>
      </p:graphicFrame>
      <p:graphicFrame>
        <p:nvGraphicFramePr>
          <p:cNvPr id="20486" name="Object 11"/>
          <p:cNvGraphicFramePr>
            <a:graphicFrameLocks noGrp="1" noChangeAspect="1"/>
          </p:cNvGraphicFramePr>
          <p:nvPr>
            <p:ph sz="half" idx="2"/>
            <p:extLst>
              <p:ext uri="{D42A27DB-BD31-4B8C-83A1-F6EECF244321}">
                <p14:modId xmlns:p14="http://schemas.microsoft.com/office/powerpoint/2010/main" val="1886292655"/>
              </p:ext>
            </p:extLst>
          </p:nvPr>
        </p:nvGraphicFramePr>
        <p:xfrm>
          <a:off x="1676666" y="4156105"/>
          <a:ext cx="4534564" cy="817322"/>
        </p:xfrm>
        <a:graphic>
          <a:graphicData uri="http://schemas.openxmlformats.org/presentationml/2006/ole">
            <mc:AlternateContent xmlns:mc="http://schemas.openxmlformats.org/markup-compatibility/2006">
              <mc:Choice xmlns:v="urn:schemas-microsoft-com:vml" Requires="v">
                <p:oleObj name="Equation" r:id="rId5" imgW="2235200" imgH="431800" progId="Equation.3">
                  <p:embed/>
                </p:oleObj>
              </mc:Choice>
              <mc:Fallback>
                <p:oleObj name="Equation" r:id="rId5" imgW="2235200" imgH="431800" progId="Equation.3">
                  <p:embed/>
                  <p:pic>
                    <p:nvPicPr>
                      <p:cNvPr id="20486"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666" y="4156105"/>
                        <a:ext cx="4534564" cy="817322"/>
                      </a:xfrm>
                      <a:prstGeom prst="rect">
                        <a:avLst/>
                      </a:prstGeom>
                      <a:noFill/>
                      <a:ln>
                        <a:noFill/>
                      </a:ln>
                      <a:effectLst/>
                    </p:spPr>
                  </p:pic>
                </p:oleObj>
              </mc:Fallback>
            </mc:AlternateContent>
          </a:graphicData>
        </a:graphic>
      </p:graphicFrame>
      <p:sp>
        <p:nvSpPr>
          <p:cNvPr id="3" name="TextBox 2">
            <a:extLst>
              <a:ext uri="{FF2B5EF4-FFF2-40B4-BE49-F238E27FC236}">
                <a16:creationId xmlns:a16="http://schemas.microsoft.com/office/drawing/2014/main" id="{2F6D9B36-AB83-424E-9BAB-4B0FF96448FA}"/>
              </a:ext>
            </a:extLst>
          </p:cNvPr>
          <p:cNvSpPr txBox="1"/>
          <p:nvPr/>
        </p:nvSpPr>
        <p:spPr>
          <a:xfrm>
            <a:off x="7700502" y="3411194"/>
            <a:ext cx="3659160" cy="923330"/>
          </a:xfrm>
          <a:prstGeom prst="rect">
            <a:avLst/>
          </a:prstGeom>
          <a:solidFill>
            <a:srgbClr val="FFFF00"/>
          </a:solidFill>
        </p:spPr>
        <p:txBody>
          <a:bodyPr wrap="square" rtlCol="0">
            <a:spAutoFit/>
          </a:bodyPr>
          <a:lstStyle/>
          <a:p>
            <a:r>
              <a:rPr lang="ko-KR" altLang="en-US" sz="1800" dirty="0">
                <a:latin typeface="STKaiti" panose="02010600040101010101" pitchFamily="2" charset="-122"/>
                <a:ea typeface="STKaiti" panose="02010600040101010101" pitchFamily="2" charset="-122"/>
              </a:rPr>
              <a:t>注意：样本与总体公式的细微差异</a:t>
            </a:r>
            <a:endParaRPr lang="en-US" altLang="ko-KR" sz="1800" dirty="0">
              <a:latin typeface="STKaiti" panose="02010600040101010101" pitchFamily="2" charset="-122"/>
              <a:ea typeface="STKaiti" panose="02010600040101010101" pitchFamily="2" charset="-122"/>
            </a:endParaRPr>
          </a:p>
          <a:p>
            <a:r>
              <a:rPr lang="en-US" sz="1800" dirty="0">
                <a:latin typeface="STKaiti" panose="02010600040101010101" pitchFamily="2" charset="-122"/>
                <a:ea typeface="STKaiti" panose="02010600040101010101" pitchFamily="2" charset="-122"/>
              </a:rPr>
              <a:t>n：</a:t>
            </a:r>
            <a:r>
              <a:rPr lang="ko-KR" altLang="en-US" sz="1800" dirty="0">
                <a:latin typeface="STKaiti" panose="02010600040101010101" pitchFamily="2" charset="-122"/>
                <a:ea typeface="STKaiti" panose="02010600040101010101" pitchFamily="2" charset="-122"/>
              </a:rPr>
              <a:t>样本的大小</a:t>
            </a:r>
          </a:p>
          <a:p>
            <a:r>
              <a:rPr lang="en-US" sz="1800" dirty="0">
                <a:latin typeface="STKaiti" panose="02010600040101010101" pitchFamily="2" charset="-122"/>
                <a:ea typeface="STKaiti" panose="02010600040101010101" pitchFamily="2" charset="-122"/>
              </a:rPr>
              <a:t>N</a:t>
            </a:r>
            <a:r>
              <a:rPr lang="zh-CN" altLang="en-US" sz="1800" dirty="0">
                <a:latin typeface="STKaiti" panose="02010600040101010101" pitchFamily="2" charset="-122"/>
                <a:ea typeface="STKaiti" panose="02010600040101010101" pitchFamily="2" charset="-122"/>
              </a:rPr>
              <a:t>：</a:t>
            </a:r>
            <a:r>
              <a:rPr lang="ko-KR" altLang="en-US" sz="1800" dirty="0">
                <a:latin typeface="STKaiti" panose="02010600040101010101" pitchFamily="2" charset="-122"/>
                <a:ea typeface="STKaiti" panose="02010600040101010101" pitchFamily="2" charset="-122"/>
              </a:rPr>
              <a:t>总体的大小</a:t>
            </a:r>
            <a:endParaRPr lang="en-US" sz="1800" dirty="0">
              <a:latin typeface="STKaiti" panose="02010600040101010101" pitchFamily="2" charset="-122"/>
              <a:ea typeface="STKaiti" panose="02010600040101010101" pitchFamily="2" charset="-122"/>
            </a:endParaRPr>
          </a:p>
        </p:txBody>
      </p:sp>
      <p:sp>
        <p:nvSpPr>
          <p:cNvPr id="4" name="제목 3">
            <a:extLst>
              <a:ext uri="{FF2B5EF4-FFF2-40B4-BE49-F238E27FC236}">
                <a16:creationId xmlns:a16="http://schemas.microsoft.com/office/drawing/2014/main" id="{733EBE01-CF35-2F7C-E031-7C485A6C20E7}"/>
              </a:ext>
            </a:extLst>
          </p:cNvPr>
          <p:cNvSpPr>
            <a:spLocks noGrp="1"/>
          </p:cNvSpPr>
          <p:nvPr>
            <p:ph type="title"/>
          </p:nvPr>
        </p:nvSpPr>
        <p:spPr/>
        <p:txBody>
          <a:bodyPr>
            <a:normAutofit fontScale="90000"/>
          </a:bodyPr>
          <a:lstStyle/>
          <a:p>
            <a:r>
              <a:rPr lang="ko-Kore-KR" altLang="en-US"/>
              <a:t>测量数据分布</a:t>
            </a:r>
            <a:r>
              <a:rPr lang="zh-CN" altLang="en-US">
                <a:ea typeface="STKaiti" panose="02010600040101010101" pitchFamily="2" charset="-122"/>
              </a:rPr>
              <a:t>：方差与标准差</a:t>
            </a:r>
            <a:endParaRPr lang="ko-Kore-KR" altLang="en-US"/>
          </a:p>
        </p:txBody>
      </p:sp>
    </p:spTree>
    <p:extLst>
      <p:ext uri="{BB962C8B-B14F-4D97-AF65-F5344CB8AC3E}">
        <p14:creationId xmlns:p14="http://schemas.microsoft.com/office/powerpoint/2010/main" val="3314275664"/>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type="body" sz="half" idx="1"/>
          </p:nvPr>
        </p:nvSpPr>
        <p:spPr>
          <a:xfrm>
            <a:off x="670559" y="1295400"/>
            <a:ext cx="10720251" cy="5181600"/>
          </a:xfrm>
        </p:spPr>
        <p:txBody>
          <a:bodyPr/>
          <a:lstStyle/>
          <a:p>
            <a:pPr>
              <a:lnSpc>
                <a:spcPct val="110000"/>
              </a:lnSpc>
            </a:pPr>
            <a:r>
              <a:rPr lang="el-GR" altLang="en-US" b="1" dirty="0">
                <a:latin typeface="STKaiti" panose="02010600040101010101" pitchFamily="2" charset="-122"/>
                <a:ea typeface="STKaiti" panose="02010600040101010101" pitchFamily="2" charset="-122"/>
              </a:rPr>
              <a:t>卡方</a:t>
            </a:r>
            <a:r>
              <a:rPr lang="en-US" altLang="en-US" b="1" dirty="0">
                <a:latin typeface="STKaiti" panose="02010600040101010101" pitchFamily="2" charset="-122"/>
                <a:ea typeface="STKaiti" panose="02010600040101010101" pitchFamily="2" charset="-122"/>
              </a:rPr>
              <a:t>检验（</a:t>
            </a:r>
            <a:r>
              <a:rPr lang="en-US" altLang="en-US" b="1" baseline="30000" dirty="0">
                <a:latin typeface="STKaiti" panose="02010600040101010101" pitchFamily="2" charset="-122"/>
                <a:ea typeface="STKaiti" panose="02010600040101010101" pitchFamily="2" charset="-122"/>
              </a:rPr>
              <a:t>2</a:t>
            </a:r>
            <a:r>
              <a:rPr lang="en-US" altLang="en-US" b="1" dirty="0">
                <a:latin typeface="STKaiti" panose="02010600040101010101" pitchFamily="2" charset="-122"/>
                <a:ea typeface="STKaiti" panose="02010600040101010101" pitchFamily="2" charset="-122"/>
              </a:rPr>
              <a:t> ）：</a:t>
            </a:r>
            <a:endParaRPr lang="el-GR" altLang="en-US" b="1" dirty="0">
              <a:latin typeface="STKaiti" panose="02010600040101010101" pitchFamily="2" charset="-122"/>
              <a:ea typeface="STKaiti" panose="02010600040101010101" pitchFamily="2" charset="-122"/>
            </a:endParaRPr>
          </a:p>
          <a:p>
            <a:pPr>
              <a:lnSpc>
                <a:spcPct val="110000"/>
              </a:lnSpc>
            </a:pPr>
            <a:endParaRPr lang="en-US" altLang="en-US" dirty="0">
              <a:latin typeface="STKaiti" panose="02010600040101010101" pitchFamily="2" charset="-122"/>
              <a:ea typeface="STKaiti" panose="02010600040101010101" pitchFamily="2" charset="-122"/>
            </a:endParaRPr>
          </a:p>
          <a:p>
            <a:pPr>
              <a:lnSpc>
                <a:spcPct val="110000"/>
              </a:lnSpc>
            </a:pPr>
            <a:endParaRPr lang="en-US" altLang="en-US" dirty="0">
              <a:latin typeface="STKaiti" panose="02010600040101010101" pitchFamily="2" charset="-122"/>
              <a:ea typeface="STKaiti" panose="02010600040101010101" pitchFamily="2" charset="-122"/>
            </a:endParaRPr>
          </a:p>
          <a:p>
            <a:pPr>
              <a:lnSpc>
                <a:spcPct val="110000"/>
              </a:lnSpc>
            </a:pPr>
            <a:endParaRPr lang="en-US" altLang="en-US" dirty="0">
              <a:latin typeface="STKaiti" panose="02010600040101010101" pitchFamily="2" charset="-122"/>
              <a:ea typeface="STKaiti" panose="02010600040101010101" pitchFamily="2" charset="-122"/>
            </a:endParaRPr>
          </a:p>
          <a:p>
            <a:pPr>
              <a:lnSpc>
                <a:spcPct val="110000"/>
              </a:lnSpc>
            </a:pPr>
            <a:r>
              <a:rPr lang="en-US" dirty="0">
                <a:latin typeface="STKaiti" panose="02010600040101010101" pitchFamily="2" charset="-122"/>
                <a:ea typeface="STKaiti" panose="02010600040101010101" pitchFamily="2" charset="-122"/>
              </a:rPr>
              <a:t>零假设（Null hypothesis）：</a:t>
            </a:r>
            <a:r>
              <a:rPr lang="ko-KR" altLang="en-US" dirty="0">
                <a:latin typeface="STKaiti" panose="02010600040101010101" pitchFamily="2" charset="-122"/>
                <a:ea typeface="STKaiti" panose="02010600040101010101" pitchFamily="2" charset="-122"/>
              </a:rPr>
              <a:t>两个分布相互独立</a:t>
            </a:r>
            <a:endParaRPr lang="en-US" dirty="0">
              <a:latin typeface="STKaiti" panose="02010600040101010101" pitchFamily="2" charset="-122"/>
              <a:ea typeface="STKaiti" panose="02010600040101010101" pitchFamily="2" charset="-122"/>
            </a:endParaRPr>
          </a:p>
          <a:p>
            <a:pPr>
              <a:lnSpc>
                <a:spcPct val="110000"/>
              </a:lnSpc>
            </a:pPr>
            <a:r>
              <a:rPr lang="el-GR" altLang="en-US" dirty="0">
                <a:latin typeface="STKaiti" panose="02010600040101010101" pitchFamily="2" charset="-122"/>
                <a:ea typeface="STKaiti" panose="02010600040101010101" pitchFamily="2" charset="-122"/>
              </a:rPr>
              <a:t>对</a:t>
            </a:r>
            <a:r>
              <a:rPr lang="en-US" altLang="en-US" dirty="0">
                <a:latin typeface="STKaiti" panose="02010600040101010101" pitchFamily="2" charset="-122"/>
                <a:ea typeface="STKaiti" panose="02010600040101010101" pitchFamily="2" charset="-122"/>
              </a:rPr>
              <a:t>Χ</a:t>
            </a:r>
            <a:r>
              <a:rPr lang="en-US" altLang="en-US" baseline="30000" dirty="0">
                <a:latin typeface="STKaiti" panose="02010600040101010101" pitchFamily="2" charset="-122"/>
                <a:ea typeface="STKaiti" panose="02010600040101010101" pitchFamily="2" charset="-122"/>
              </a:rPr>
              <a:t>2</a:t>
            </a:r>
            <a:r>
              <a:rPr lang="en-US" altLang="en-US" dirty="0">
                <a:latin typeface="STKaiti" panose="02010600040101010101" pitchFamily="2" charset="-122"/>
                <a:ea typeface="STKaiti" panose="02010600040101010101" pitchFamily="2" charset="-122"/>
              </a:rPr>
              <a:t> 值贡献最大的单元格是实际计数与预期计数差异最大的单元格</a:t>
            </a:r>
          </a:p>
          <a:p>
            <a:pPr lvl="1">
              <a:lnSpc>
                <a:spcPct val="110000"/>
              </a:lnSpc>
            </a:pPr>
            <a:r>
              <a:rPr lang="en-US" altLang="en-US" dirty="0">
                <a:latin typeface="STKaiti" panose="02010600040101010101" pitchFamily="2" charset="-122"/>
                <a:ea typeface="STKaiti" panose="02010600040101010101" pitchFamily="2" charset="-122"/>
              </a:rPr>
              <a:t>Χ</a:t>
            </a:r>
            <a:r>
              <a:rPr lang="en-US" altLang="en-US" baseline="30000" dirty="0">
                <a:latin typeface="STKaiti" panose="02010600040101010101" pitchFamily="2" charset="-122"/>
                <a:ea typeface="STKaiti" panose="02010600040101010101" pitchFamily="2" charset="-122"/>
              </a:rPr>
              <a:t>2</a:t>
            </a:r>
            <a:r>
              <a:rPr lang="en-US" altLang="en-US" dirty="0">
                <a:latin typeface="STKaiti" panose="02010600040101010101" pitchFamily="2" charset="-122"/>
                <a:ea typeface="STKaiti" panose="02010600040101010101" pitchFamily="2" charset="-122"/>
              </a:rPr>
              <a:t> 值越大，变量之间相关性越强</a:t>
            </a:r>
          </a:p>
          <a:p>
            <a:pPr>
              <a:lnSpc>
                <a:spcPct val="110000"/>
              </a:lnSpc>
            </a:pPr>
            <a:r>
              <a:rPr lang="en-US" altLang="en-US" dirty="0">
                <a:latin typeface="STKaiti" panose="02010600040101010101" pitchFamily="2" charset="-122"/>
                <a:ea typeface="STKaiti" panose="02010600040101010101" pitchFamily="2" charset="-122"/>
              </a:rPr>
              <a:t>注意：相关性并不意味着因果关系</a:t>
            </a:r>
          </a:p>
          <a:p>
            <a:pPr lvl="1">
              <a:lnSpc>
                <a:spcPct val="110000"/>
              </a:lnSpc>
            </a:pPr>
            <a:r>
              <a:rPr lang="en-US" altLang="en-US" dirty="0">
                <a:latin typeface="STKaiti" panose="02010600040101010101" pitchFamily="2" charset="-122"/>
                <a:ea typeface="STKaiti" panose="02010600040101010101" pitchFamily="2" charset="-122"/>
              </a:rPr>
              <a:t>城市中医院数量与汽车盗窃数量之间存在相关性</a:t>
            </a:r>
          </a:p>
          <a:p>
            <a:pPr lvl="1">
              <a:lnSpc>
                <a:spcPct val="110000"/>
              </a:lnSpc>
            </a:pPr>
            <a:r>
              <a:rPr lang="en-US" altLang="en-US" dirty="0">
                <a:latin typeface="STKaiti" panose="02010600040101010101" pitchFamily="2" charset="-122"/>
                <a:ea typeface="STKaiti" panose="02010600040101010101" pitchFamily="2" charset="-122"/>
              </a:rPr>
              <a:t>两者均与第三个变量（人口）存在因果关系</a:t>
            </a:r>
          </a:p>
        </p:txBody>
      </p:sp>
      <p:pic>
        <p:nvPicPr>
          <p:cNvPr id="2" name="Picture 1"/>
          <p:cNvPicPr>
            <a:picLocks noChangeAspect="1"/>
          </p:cNvPicPr>
          <p:nvPr/>
        </p:nvPicPr>
        <p:blipFill>
          <a:blip r:embed="rId3"/>
          <a:stretch>
            <a:fillRect/>
          </a:stretch>
        </p:blipFill>
        <p:spPr>
          <a:xfrm>
            <a:off x="4648201" y="1196788"/>
            <a:ext cx="3272118" cy="1832954"/>
          </a:xfrm>
          <a:prstGeom prst="rect">
            <a:avLst/>
          </a:prstGeom>
        </p:spPr>
      </p:pic>
      <p:sp>
        <p:nvSpPr>
          <p:cNvPr id="4" name="제목 3">
            <a:extLst>
              <a:ext uri="{FF2B5EF4-FFF2-40B4-BE49-F238E27FC236}">
                <a16:creationId xmlns:a16="http://schemas.microsoft.com/office/drawing/2014/main" id="{3DA5800E-C91C-0858-59CA-2FB4B153EF77}"/>
              </a:ext>
            </a:extLst>
          </p:cNvPr>
          <p:cNvSpPr>
            <a:spLocks noGrp="1"/>
          </p:cNvSpPr>
          <p:nvPr>
            <p:ph type="title"/>
          </p:nvPr>
        </p:nvSpPr>
        <p:spPr/>
        <p:txBody>
          <a:bodyPr>
            <a:normAutofit fontScale="90000"/>
          </a:bodyPr>
          <a:lstStyle/>
          <a:p>
            <a:r>
              <a:rPr lang="ko-Kore-KR" altLang="en-US"/>
              <a:t>相关性分析</a:t>
            </a:r>
            <a:r>
              <a:rPr lang="zh-CN" altLang="en-US">
                <a:ea typeface="STKaiti" panose="02010600040101010101" pitchFamily="2" charset="-122"/>
              </a:rPr>
              <a:t>（适用于数据分类）</a:t>
            </a:r>
            <a:endParaRPr lang="ko-Kore-KR" altLang="en-US"/>
          </a:p>
        </p:txBody>
      </p:sp>
    </p:spTree>
    <p:extLst>
      <p:ext uri="{BB962C8B-B14F-4D97-AF65-F5344CB8AC3E}">
        <p14:creationId xmlns:p14="http://schemas.microsoft.com/office/powerpoint/2010/main" val="2467819400"/>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7269" name="Group 5"/>
          <p:cNvGraphicFramePr>
            <a:graphicFrameLocks noGrp="1"/>
          </p:cNvGraphicFramePr>
          <p:nvPr>
            <p:extLst>
              <p:ext uri="{D42A27DB-BD31-4B8C-83A1-F6EECF244321}">
                <p14:modId xmlns:p14="http://schemas.microsoft.com/office/powerpoint/2010/main" val="3949212604"/>
              </p:ext>
            </p:extLst>
          </p:nvPr>
        </p:nvGraphicFramePr>
        <p:xfrm>
          <a:off x="2222159" y="1250343"/>
          <a:ext cx="6408885"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481285">
                  <a:extLst>
                    <a:ext uri="{9D8B030D-6E8A-4147-A177-3AD203B41FA5}">
                      <a16:colId xmlns:a16="http://schemas.microsoft.com/office/drawing/2014/main" val="20003"/>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下棋</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不玩国际象棋</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求和（行）</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喜欢科幻小说</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250 (X1)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200（×2）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45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不像科幻小说</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5</a:t>
                      </a:r>
                      <a:r>
                        <a:rPr kumimoji="0" lang="en-US" altLang="zh-CN"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0</a:t>
                      </a:r>
                      <a:r>
                        <a:rPr kumimoji="0" lang="zh-CN" alt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a:t>
                      </a: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X3）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1000（X4）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列和</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30</a:t>
                      </a:r>
                      <a:r>
                        <a:rPr kumimoji="0" lang="en-US" altLang="zh-CN"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0</a:t>
                      </a:r>
                      <a:endPar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文本占位符 5">
            <a:extLst>
              <a:ext uri="{FF2B5EF4-FFF2-40B4-BE49-F238E27FC236}">
                <a16:creationId xmlns:a16="http://schemas.microsoft.com/office/drawing/2014/main" id="{36072272-8A4E-4A01-83F7-726A3DC956D2}"/>
              </a:ext>
            </a:extLst>
          </p:cNvPr>
          <p:cNvSpPr>
            <a:spLocks noGrp="1"/>
          </p:cNvSpPr>
          <p:nvPr>
            <p:ph type="body" sz="half" idx="1"/>
          </p:nvPr>
        </p:nvSpPr>
        <p:spPr>
          <a:xfrm>
            <a:off x="282042" y="2896432"/>
            <a:ext cx="11141166" cy="3372694"/>
          </a:xfrm>
        </p:spPr>
        <p:txBody>
          <a:bodyPr/>
          <a:lstStyle/>
          <a:p>
            <a:r>
              <a:rPr lang="en-US" dirty="0"/>
              <a:t>零假设</a:t>
            </a:r>
            <a:r>
              <a:rPr lang="en-US" altLang="zh-CN" dirty="0"/>
              <a:t>H</a:t>
            </a:r>
            <a:r>
              <a:rPr lang="en-US" altLang="zh-CN" baseline="-25000" dirty="0"/>
              <a:t>0</a:t>
            </a:r>
            <a:r>
              <a:rPr lang="en-US" dirty="0"/>
              <a:t>：两个分布是独立的</a:t>
            </a:r>
          </a:p>
          <a:p>
            <a:pPr lvl="1"/>
            <a:r>
              <a:rPr lang="en-US" dirty="0"/>
              <a:t>这意味着什么？</a:t>
            </a:r>
          </a:p>
          <a:p>
            <a:pPr lvl="1"/>
            <a:r>
              <a:rPr lang="en-US" dirty="0"/>
              <a:t>喜欢科幻小说和不喜欢科幻小说的两组人群中，下棋的人与不下棋的人的比例是相同的。 </a:t>
            </a:r>
          </a:p>
          <a:p>
            <a:pPr lvl="1"/>
            <a:r>
              <a:rPr lang="en-US" dirty="0"/>
              <a:t>X1:X2=X3:X4=300:1200</a:t>
            </a:r>
          </a:p>
          <a:p>
            <a:pPr lvl="1"/>
            <a:r>
              <a:rPr lang="en-US" dirty="0"/>
              <a:t>X1:X3=X2:X4=450:1050</a:t>
            </a:r>
          </a:p>
          <a:p>
            <a:pPr lvl="1"/>
            <a:r>
              <a:rPr lang="en-US" dirty="0"/>
              <a:t>X1+X2=450    X3+X4=1050</a:t>
            </a:r>
          </a:p>
          <a:p>
            <a:pPr lvl="1"/>
            <a:r>
              <a:rPr lang="en-US" dirty="0"/>
              <a:t>X1+X3=300    X2+X4=1200</a:t>
            </a:r>
          </a:p>
          <a:p>
            <a:endParaRPr lang="en-US" dirty="0"/>
          </a:p>
        </p:txBody>
      </p:sp>
      <p:sp>
        <p:nvSpPr>
          <p:cNvPr id="3" name="제목 2">
            <a:extLst>
              <a:ext uri="{FF2B5EF4-FFF2-40B4-BE49-F238E27FC236}">
                <a16:creationId xmlns:a16="http://schemas.microsoft.com/office/drawing/2014/main" id="{1E05172E-8547-AD4D-82FF-60552C83B3C4}"/>
              </a:ext>
            </a:extLst>
          </p:cNvPr>
          <p:cNvSpPr>
            <a:spLocks noGrp="1"/>
          </p:cNvSpPr>
          <p:nvPr>
            <p:ph type="title"/>
          </p:nvPr>
        </p:nvSpPr>
        <p:spPr/>
        <p:txBody>
          <a:bodyPr>
            <a:normAutofit fontScale="90000"/>
          </a:bodyPr>
          <a:lstStyle/>
          <a:p>
            <a:r>
              <a:rPr lang="ko-Kore-KR" altLang="en-US"/>
              <a:t>卡方检验</a:t>
            </a:r>
          </a:p>
        </p:txBody>
      </p:sp>
    </p:spTree>
    <p:extLst>
      <p:ext uri="{BB962C8B-B14F-4D97-AF65-F5344CB8AC3E}">
        <p14:creationId xmlns:p14="http://schemas.microsoft.com/office/powerpoint/2010/main" val="1585979370"/>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rved Left Arrow 2"/>
          <p:cNvSpPr/>
          <p:nvPr/>
        </p:nvSpPr>
        <p:spPr>
          <a:xfrm rot="20222461">
            <a:off x="10109079" y="4138672"/>
            <a:ext cx="380222" cy="467294"/>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8" name="Rectangle 3"/>
          <p:cNvSpPr>
            <a:spLocks noGrp="1" noChangeArrowheads="1"/>
          </p:cNvSpPr>
          <p:nvPr>
            <p:ph type="body" sz="half" idx="1"/>
          </p:nvPr>
        </p:nvSpPr>
        <p:spPr>
          <a:xfrm>
            <a:off x="670560" y="2994211"/>
            <a:ext cx="10079215" cy="3213847"/>
          </a:xfrm>
        </p:spPr>
        <p:txBody>
          <a:bodyPr/>
          <a:lstStyle/>
          <a:p>
            <a:pPr>
              <a:lnSpc>
                <a:spcPct val="110000"/>
              </a:lnSpc>
            </a:pPr>
            <a:r>
              <a:rPr lang="en-US" altLang="en-US" dirty="0">
                <a:ea typeface="STKaiti" panose="02010600040101010101" pitchFamily="2" charset="-122"/>
              </a:rPr>
              <a:t>卡方检验计算（括号中的数字是根据两类数据分布计算的预期频数）</a:t>
            </a:r>
            <a:endParaRPr lang="el-GR" altLang="en-US" dirty="0">
              <a:ea typeface="STKaiti" panose="02010600040101010101" pitchFamily="2" charset="-122"/>
            </a:endParaRPr>
          </a:p>
          <a:p>
            <a:pPr>
              <a:lnSpc>
                <a:spcPct val="110000"/>
              </a:lnSpc>
            </a:pPr>
            <a:endParaRPr lang="en-US" altLang="en-US" dirty="0">
              <a:ea typeface="STKaiti" panose="02010600040101010101" pitchFamily="2" charset="-122"/>
            </a:endParaRPr>
          </a:p>
          <a:p>
            <a:pPr>
              <a:lnSpc>
                <a:spcPct val="110000"/>
              </a:lnSpc>
            </a:pPr>
            <a:endParaRPr lang="en-US" altLang="en-US" dirty="0">
              <a:ea typeface="STKaiti" panose="02010600040101010101" pitchFamily="2" charset="-122"/>
            </a:endParaRPr>
          </a:p>
          <a:p>
            <a:pPr>
              <a:lnSpc>
                <a:spcPct val="110000"/>
              </a:lnSpc>
            </a:pPr>
            <a:r>
              <a:rPr lang="en-US" altLang="en-US" dirty="0">
                <a:ea typeface="STKaiti" panose="02010600040101010101" pitchFamily="2" charset="-122"/>
              </a:rPr>
              <a:t>结果表明，在该组中，喜欢科幻小说与</a:t>
            </a:r>
            <a:r>
              <a:rPr lang="en-US" altLang="en-US" dirty="0" err="1">
                <a:ea typeface="STKaiti" panose="02010600040101010101" pitchFamily="2" charset="-122"/>
              </a:rPr>
              <a:t>下国际象棋之间</a:t>
            </a:r>
            <a:r>
              <a:rPr lang="en-US" altLang="en-US" dirty="0">
                <a:ea typeface="STKaiti" panose="02010600040101010101" pitchFamily="2" charset="-122"/>
              </a:rPr>
              <a:t>存在相关性</a:t>
            </a:r>
          </a:p>
        </p:txBody>
      </p:sp>
      <p:graphicFrame>
        <p:nvGraphicFramePr>
          <p:cNvPr id="21509" name="Object 4"/>
          <p:cNvGraphicFramePr>
            <a:graphicFrameLocks noGrp="1" noChangeAspect="1"/>
          </p:cNvGraphicFramePr>
          <p:nvPr>
            <p:ph sz="quarter" idx="2"/>
            <p:extLst>
              <p:ext uri="{D42A27DB-BD31-4B8C-83A1-F6EECF244321}">
                <p14:modId xmlns:p14="http://schemas.microsoft.com/office/powerpoint/2010/main" val="783939226"/>
              </p:ext>
            </p:extLst>
          </p:nvPr>
        </p:nvGraphicFramePr>
        <p:xfrm>
          <a:off x="2159000" y="3603714"/>
          <a:ext cx="7772400" cy="744538"/>
        </p:xfrm>
        <a:graphic>
          <a:graphicData uri="http://schemas.openxmlformats.org/presentationml/2006/ole">
            <mc:AlternateContent xmlns:mc="http://schemas.openxmlformats.org/markup-compatibility/2006">
              <mc:Choice xmlns:v="urn:schemas-microsoft-com:vml" Requires="v">
                <p:oleObj name="Equation" r:id="rId3" imgW="4381500" imgH="419100" progId="Equation.3">
                  <p:embed/>
                </p:oleObj>
              </mc:Choice>
              <mc:Fallback>
                <p:oleObj name="Equation" r:id="rId3" imgW="4381500" imgH="419100" progId="Equation.3">
                  <p:embed/>
                  <p:pic>
                    <p:nvPicPr>
                      <p:cNvPr id="2150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0" y="3603714"/>
                        <a:ext cx="77724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Group 5"/>
          <p:cNvGraphicFramePr>
            <a:graphicFrameLocks noGrp="1"/>
          </p:cNvGraphicFramePr>
          <p:nvPr>
            <p:extLst>
              <p:ext uri="{D42A27DB-BD31-4B8C-83A1-F6EECF244321}">
                <p14:modId xmlns:p14="http://schemas.microsoft.com/office/powerpoint/2010/main" val="3624214075"/>
              </p:ext>
            </p:extLst>
          </p:nvPr>
        </p:nvGraphicFramePr>
        <p:xfrm>
          <a:off x="2222159" y="1250343"/>
          <a:ext cx="5851324" cy="1595439"/>
        </p:xfrm>
        <a:graphic>
          <a:graphicData uri="http://schemas.openxmlformats.org/drawingml/2006/table">
            <a:tbl>
              <a:tblPr/>
              <a:tblGrid>
                <a:gridCol w="1703070">
                  <a:extLst>
                    <a:ext uri="{9D8B030D-6E8A-4147-A177-3AD203B41FA5}">
                      <a16:colId xmlns:a16="http://schemas.microsoft.com/office/drawing/2014/main" val="20000"/>
                    </a:ext>
                  </a:extLst>
                </a:gridCol>
                <a:gridCol w="1215483">
                  <a:extLst>
                    <a:ext uri="{9D8B030D-6E8A-4147-A177-3AD203B41FA5}">
                      <a16:colId xmlns:a16="http://schemas.microsoft.com/office/drawing/2014/main" val="20001"/>
                    </a:ext>
                  </a:extLst>
                </a:gridCol>
                <a:gridCol w="1628078">
                  <a:extLst>
                    <a:ext uri="{9D8B030D-6E8A-4147-A177-3AD203B41FA5}">
                      <a16:colId xmlns:a16="http://schemas.microsoft.com/office/drawing/2014/main" val="20002"/>
                    </a:ext>
                  </a:extLst>
                </a:gridCol>
                <a:gridCol w="1304693">
                  <a:extLst>
                    <a:ext uri="{9D8B030D-6E8A-4147-A177-3AD203B41FA5}">
                      <a16:colId xmlns:a16="http://schemas.microsoft.com/office/drawing/2014/main" val="20003"/>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下棋</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不玩国际象棋</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总和（行）</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喜欢科幻小说</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250 (90)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200 (360)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45</a:t>
                      </a:r>
                      <a:r>
                        <a:rPr kumimoji="0" lang="en-US" altLang="zh-CN"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0</a:t>
                      </a:r>
                      <a:endPar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不像科幻小说</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50 (210)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1000 (840)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列和</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1"/>
          <p:cNvSpPr/>
          <p:nvPr/>
        </p:nvSpPr>
        <p:spPr>
          <a:xfrm>
            <a:off x="9324703" y="4957754"/>
            <a:ext cx="2339473" cy="584775"/>
          </a:xfrm>
          <a:prstGeom prst="rect">
            <a:avLst/>
          </a:prstGeom>
          <a:solidFill>
            <a:srgbClr val="FFFF00"/>
          </a:solidFill>
        </p:spPr>
        <p:txBody>
          <a:bodyPr wrap="square">
            <a:spAutoFit/>
          </a:bodyPr>
          <a:lstStyle/>
          <a:p>
            <a:pPr algn="just"/>
            <a:r>
              <a:rPr lang="en-US" sz="1600" dirty="0">
                <a:latin typeface="STKaiti" panose="02010600040101010101" pitchFamily="2" charset="-122"/>
                <a:ea typeface="STKaiti" panose="02010600040101010101" pitchFamily="2" charset="-122"/>
              </a:rPr>
              <a:t>我们可以拒绝关于独立性假设，置信水平0.001</a:t>
            </a:r>
          </a:p>
        </p:txBody>
      </p:sp>
      <p:sp>
        <p:nvSpPr>
          <p:cNvPr id="7" name="제목 2">
            <a:extLst>
              <a:ext uri="{FF2B5EF4-FFF2-40B4-BE49-F238E27FC236}">
                <a16:creationId xmlns:a16="http://schemas.microsoft.com/office/drawing/2014/main" id="{4778887C-3968-0F43-92E3-75A4D55A6E75}"/>
              </a:ext>
            </a:extLst>
          </p:cNvPr>
          <p:cNvSpPr>
            <a:spLocks noGrp="1"/>
          </p:cNvSpPr>
          <p:nvPr>
            <p:ph type="title"/>
          </p:nvPr>
        </p:nvSpPr>
        <p:spPr/>
        <p:txBody>
          <a:bodyPr>
            <a:normAutofit fontScale="90000"/>
          </a:bodyPr>
          <a:lstStyle/>
          <a:p>
            <a:r>
              <a:rPr lang="ko-Kore-KR" altLang="en-US"/>
              <a:t>卡方检验</a:t>
            </a:r>
          </a:p>
        </p:txBody>
      </p:sp>
    </p:spTree>
    <p:extLst>
      <p:ext uri="{BB962C8B-B14F-4D97-AF65-F5344CB8AC3E}">
        <p14:creationId xmlns:p14="http://schemas.microsoft.com/office/powerpoint/2010/main" val="396923253"/>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3"/>
          <p:cNvSpPr>
            <a:spLocks noGrp="1" noChangeArrowheads="1"/>
          </p:cNvSpPr>
          <p:nvPr>
            <p:ph type="body" sz="half" idx="1"/>
          </p:nvPr>
        </p:nvSpPr>
        <p:spPr>
          <a:xfrm>
            <a:off x="603653" y="3875158"/>
            <a:ext cx="9324702" cy="1399369"/>
          </a:xfrm>
        </p:spPr>
        <p:txBody>
          <a:bodyPr/>
          <a:lstStyle/>
          <a:p>
            <a:pPr>
              <a:lnSpc>
                <a:spcPct val="110000"/>
              </a:lnSpc>
            </a:pPr>
            <a:r>
              <a:rPr lang="en-US" altLang="zh-CN" dirty="0">
                <a:ea typeface="STKaiti" panose="02010600040101010101" pitchFamily="2" charset="-122"/>
              </a:rPr>
              <a:t>自由度</a:t>
            </a:r>
          </a:p>
          <a:p>
            <a:pPr lvl="1">
              <a:lnSpc>
                <a:spcPct val="110000"/>
              </a:lnSpc>
            </a:pPr>
            <a:r>
              <a:rPr lang="en-US" altLang="en-US" dirty="0">
                <a:ea typeface="STKaiti" panose="02010600040101010101" pitchFamily="2" charset="-122"/>
              </a:rPr>
              <a:t>(</a:t>
            </a:r>
            <a:r>
              <a:rPr lang="en-US" altLang="en-US" dirty="0" err="1">
                <a:ea typeface="STKaiti" panose="02010600040101010101" pitchFamily="2" charset="-122"/>
              </a:rPr>
              <a:t>变量A中的类别数 </a:t>
            </a:r>
            <a:r>
              <a:rPr lang="en-US" altLang="en-US" dirty="0">
                <a:ea typeface="STKaiti" panose="02010600040101010101" pitchFamily="2" charset="-122"/>
              </a:rPr>
              <a:t>- 1)((</a:t>
            </a:r>
            <a:r>
              <a:rPr lang="en-US" altLang="en-US" dirty="0" err="1">
                <a:ea typeface="STKaiti" panose="02010600040101010101" pitchFamily="2" charset="-122"/>
              </a:rPr>
              <a:t>变量B中的类别数 </a:t>
            </a:r>
            <a:r>
              <a:rPr lang="en-US" altLang="en-US" dirty="0">
                <a:ea typeface="STKaiti" panose="02010600040101010101" pitchFamily="2" charset="-122"/>
              </a:rPr>
              <a:t>- 1)</a:t>
            </a:r>
          </a:p>
          <a:p>
            <a:pPr lvl="1">
              <a:lnSpc>
                <a:spcPct val="110000"/>
              </a:lnSpc>
            </a:pPr>
            <a:r>
              <a:rPr lang="en-US" altLang="en-US" dirty="0">
                <a:ea typeface="STKaiti" panose="02010600040101010101" pitchFamily="2" charset="-122"/>
              </a:rPr>
              <a:t>可变值的数量</a:t>
            </a:r>
          </a:p>
          <a:p>
            <a:pPr marL="200021" lvl="1" indent="0">
              <a:lnSpc>
                <a:spcPct val="110000"/>
              </a:lnSpc>
              <a:buNone/>
            </a:pPr>
            <a:endParaRPr lang="en-US" altLang="en-US" dirty="0">
              <a:ea typeface="STKaiti" panose="02010600040101010101" pitchFamily="2" charset="-122"/>
            </a:endParaRPr>
          </a:p>
        </p:txBody>
      </p:sp>
      <p:graphicFrame>
        <p:nvGraphicFramePr>
          <p:cNvPr id="267269" name="Group 5"/>
          <p:cNvGraphicFramePr>
            <a:graphicFrameLocks noGrp="1"/>
          </p:cNvGraphicFramePr>
          <p:nvPr>
            <p:extLst>
              <p:ext uri="{D42A27DB-BD31-4B8C-83A1-F6EECF244321}">
                <p14:modId xmlns:p14="http://schemas.microsoft.com/office/powerpoint/2010/main" val="400315133"/>
              </p:ext>
            </p:extLst>
          </p:nvPr>
        </p:nvGraphicFramePr>
        <p:xfrm>
          <a:off x="2039825" y="1419419"/>
          <a:ext cx="7888527" cy="1828800"/>
        </p:xfrm>
        <a:graphic>
          <a:graphicData uri="http://schemas.openxmlformats.org/drawingml/2006/table">
            <a:tbl>
              <a:tblPr/>
              <a:tblGrid>
                <a:gridCol w="1338995">
                  <a:extLst>
                    <a:ext uri="{9D8B030D-6E8A-4147-A177-3AD203B41FA5}">
                      <a16:colId xmlns:a16="http://schemas.microsoft.com/office/drawing/2014/main" val="20000"/>
                    </a:ext>
                  </a:extLst>
                </a:gridCol>
                <a:gridCol w="1152328">
                  <a:extLst>
                    <a:ext uri="{9D8B030D-6E8A-4147-A177-3AD203B41FA5}">
                      <a16:colId xmlns:a16="http://schemas.microsoft.com/office/drawing/2014/main" val="20001"/>
                    </a:ext>
                  </a:extLst>
                </a:gridCol>
                <a:gridCol w="1349301">
                  <a:extLst>
                    <a:ext uri="{9D8B030D-6E8A-4147-A177-3AD203B41FA5}">
                      <a16:colId xmlns:a16="http://schemas.microsoft.com/office/drawing/2014/main" val="20002"/>
                    </a:ext>
                  </a:extLst>
                </a:gridCol>
                <a:gridCol w="1349301">
                  <a:extLst>
                    <a:ext uri="{9D8B030D-6E8A-4147-A177-3AD203B41FA5}">
                      <a16:colId xmlns:a16="http://schemas.microsoft.com/office/drawing/2014/main" val="2427883829"/>
                    </a:ext>
                  </a:extLst>
                </a:gridCol>
                <a:gridCol w="1349301">
                  <a:extLst>
                    <a:ext uri="{9D8B030D-6E8A-4147-A177-3AD203B41FA5}">
                      <a16:colId xmlns:a16="http://schemas.microsoft.com/office/drawing/2014/main" val="1866276082"/>
                    </a:ext>
                  </a:extLst>
                </a:gridCol>
                <a:gridCol w="1349301">
                  <a:extLst>
                    <a:ext uri="{9D8B030D-6E8A-4147-A177-3AD203B41FA5}">
                      <a16:colId xmlns:a16="http://schemas.microsoft.com/office/drawing/2014/main" val="20003"/>
                    </a:ext>
                  </a:extLst>
                </a:gridCol>
              </a:tblGrid>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A</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B</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C</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D</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行总和</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48312"/>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48312"/>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100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求和（列）</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30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1200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bl>
          </a:graphicData>
        </a:graphic>
      </p:graphicFrame>
      <p:sp>
        <p:nvSpPr>
          <p:cNvPr id="3" name="제목 2">
            <a:extLst>
              <a:ext uri="{FF2B5EF4-FFF2-40B4-BE49-F238E27FC236}">
                <a16:creationId xmlns:a16="http://schemas.microsoft.com/office/drawing/2014/main" id="{C4AA26EA-1C4B-B7B9-A007-C2850591EADA}"/>
              </a:ext>
            </a:extLst>
          </p:cNvPr>
          <p:cNvSpPr>
            <a:spLocks noGrp="1"/>
          </p:cNvSpPr>
          <p:nvPr>
            <p:ph type="title"/>
          </p:nvPr>
        </p:nvSpPr>
        <p:spPr/>
        <p:txBody>
          <a:bodyPr>
            <a:normAutofit fontScale="90000"/>
          </a:bodyPr>
          <a:lstStyle/>
          <a:p>
            <a:r>
              <a:rPr lang="ko-Kore-KR" altLang="en-US"/>
              <a:t>卡方检验</a:t>
            </a:r>
          </a:p>
        </p:txBody>
      </p:sp>
    </p:spTree>
    <p:extLst>
      <p:ext uri="{BB962C8B-B14F-4D97-AF65-F5344CB8AC3E}">
        <p14:creationId xmlns:p14="http://schemas.microsoft.com/office/powerpoint/2010/main" val="3672574517"/>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rved Left Arrow 2"/>
          <p:cNvSpPr/>
          <p:nvPr/>
        </p:nvSpPr>
        <p:spPr>
          <a:xfrm rot="5400000">
            <a:off x="9324328" y="3403824"/>
            <a:ext cx="380222" cy="710634"/>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8" name="Rectangle 3"/>
          <p:cNvSpPr>
            <a:spLocks noGrp="1" noChangeArrowheads="1"/>
          </p:cNvSpPr>
          <p:nvPr>
            <p:ph type="body" sz="half" idx="1"/>
          </p:nvPr>
        </p:nvSpPr>
        <p:spPr>
          <a:xfrm>
            <a:off x="670561" y="3652632"/>
            <a:ext cx="9324702" cy="2555425"/>
          </a:xfrm>
        </p:spPr>
        <p:txBody>
          <a:bodyPr/>
          <a:lstStyle/>
          <a:p>
            <a:pPr>
              <a:lnSpc>
                <a:spcPct val="110000"/>
              </a:lnSpc>
            </a:pPr>
            <a:r>
              <a:rPr lang="en-US" altLang="zh-CN" dirty="0">
                <a:ea typeface="STKaiti" panose="02010600040101010101" pitchFamily="2" charset="-122"/>
              </a:rPr>
              <a:t>自由度 =?</a:t>
            </a:r>
          </a:p>
          <a:p>
            <a:pPr marL="0" indent="0">
              <a:lnSpc>
                <a:spcPct val="110000"/>
              </a:lnSpc>
              <a:buNone/>
            </a:pPr>
            <a:endParaRPr lang="en-US" altLang="en-US" dirty="0">
              <a:ea typeface="STKaiti" panose="02010600040101010101" pitchFamily="2" charset="-122"/>
            </a:endParaRPr>
          </a:p>
        </p:txBody>
      </p:sp>
      <p:graphicFrame>
        <p:nvGraphicFramePr>
          <p:cNvPr id="21509" name="Object 4"/>
          <p:cNvGraphicFramePr>
            <a:graphicFrameLocks noGrp="1" noChangeAspect="1"/>
          </p:cNvGraphicFramePr>
          <p:nvPr>
            <p:ph sz="quarter" idx="2"/>
          </p:nvPr>
        </p:nvGraphicFramePr>
        <p:xfrm>
          <a:off x="1630079" y="2883877"/>
          <a:ext cx="7772400" cy="744538"/>
        </p:xfrm>
        <a:graphic>
          <a:graphicData uri="http://schemas.openxmlformats.org/presentationml/2006/ole">
            <mc:AlternateContent xmlns:mc="http://schemas.openxmlformats.org/markup-compatibility/2006">
              <mc:Choice xmlns:v="urn:schemas-microsoft-com:vml" Requires="v">
                <p:oleObj name="Equation" r:id="rId3" imgW="4381500" imgH="419100" progId="Equation.3">
                  <p:embed/>
                </p:oleObj>
              </mc:Choice>
              <mc:Fallback>
                <p:oleObj name="Equation" r:id="rId3" imgW="4381500" imgH="419100" progId="Equation.3">
                  <p:embed/>
                  <p:pic>
                    <p:nvPicPr>
                      <p:cNvPr id="2150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0079" y="2883877"/>
                        <a:ext cx="77724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Group 5"/>
          <p:cNvGraphicFramePr>
            <a:graphicFrameLocks noGrp="1"/>
          </p:cNvGraphicFramePr>
          <p:nvPr>
            <p:extLst>
              <p:ext uri="{D42A27DB-BD31-4B8C-83A1-F6EECF244321}">
                <p14:modId xmlns:p14="http://schemas.microsoft.com/office/powerpoint/2010/main" val="2710219761"/>
              </p:ext>
            </p:extLst>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下棋</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不下棋</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行总和</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喜欢科幻小说</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250 (90)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200 (360)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45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不像科幻小说</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50 (210)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1000 (840)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列和</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STKaiti" panose="02010600040101010101" pitchFamily="2" charset="-122"/>
                          <a:ea typeface="STKaiti" panose="02010600040101010101" pitchFamily="2" charset="-122"/>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STKaiti" panose="02010600040101010101" pitchFamily="2" charset="-122"/>
                          <a:ea typeface="STKaiti" panose="02010600040101010101" pitchFamily="2" charset="-122"/>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1"/>
          <p:cNvSpPr/>
          <p:nvPr/>
        </p:nvSpPr>
        <p:spPr>
          <a:xfrm>
            <a:off x="9402479" y="2859660"/>
            <a:ext cx="2644160" cy="584775"/>
          </a:xfrm>
          <a:prstGeom prst="rect">
            <a:avLst/>
          </a:prstGeom>
          <a:solidFill>
            <a:srgbClr val="FFFF00"/>
          </a:solidFill>
        </p:spPr>
        <p:txBody>
          <a:bodyPr wrap="square">
            <a:spAutoFit/>
          </a:bodyPr>
          <a:lstStyle/>
          <a:p>
            <a:pPr algn="just"/>
            <a:r>
              <a:rPr lang="en-US" sz="1600" dirty="0">
                <a:latin typeface="STKaiti" panose="02010600040101010101" pitchFamily="2" charset="-122"/>
                <a:ea typeface="STKaiti" panose="02010600040101010101" pitchFamily="2" charset="-122"/>
              </a:rPr>
              <a:t>我们可以拒绝关于独立性，置信水平为0.001</a:t>
            </a:r>
          </a:p>
        </p:txBody>
      </p:sp>
      <p:pic>
        <p:nvPicPr>
          <p:cNvPr id="9" name="Picture 8" descr="Screen Clipping"/>
          <p:cNvPicPr>
            <a:picLocks noChangeAspect="1"/>
          </p:cNvPicPr>
          <p:nvPr/>
        </p:nvPicPr>
        <p:blipFill rotWithShape="1">
          <a:blip r:embed="rId5">
            <a:extLst>
              <a:ext uri="{28A0092B-C50C-407E-A947-70E740481C1C}">
                <a14:useLocalDpi xmlns:a14="http://schemas.microsoft.com/office/drawing/2010/main" val="0"/>
              </a:ext>
            </a:extLst>
          </a:blip>
          <a:srcRect l="982" t="-812" r="59724" b="46323"/>
          <a:stretch/>
        </p:blipFill>
        <p:spPr>
          <a:xfrm>
            <a:off x="457200" y="4378816"/>
            <a:ext cx="3505944" cy="2321828"/>
          </a:xfrm>
          <a:prstGeom prst="rect">
            <a:avLst/>
          </a:prstGeom>
        </p:spPr>
      </p:pic>
      <p:pic>
        <p:nvPicPr>
          <p:cNvPr id="10" name="Picture 9" descr="Screen Clipping"/>
          <p:cNvPicPr>
            <a:picLocks noChangeAspect="1"/>
          </p:cNvPicPr>
          <p:nvPr/>
        </p:nvPicPr>
        <p:blipFill rotWithShape="1">
          <a:blip r:embed="rId5">
            <a:extLst>
              <a:ext uri="{28A0092B-C50C-407E-A947-70E740481C1C}">
                <a14:useLocalDpi xmlns:a14="http://schemas.microsoft.com/office/drawing/2010/main" val="0"/>
              </a:ext>
            </a:extLst>
          </a:blip>
          <a:srcRect t="51951"/>
          <a:stretch/>
        </p:blipFill>
        <p:spPr>
          <a:xfrm>
            <a:off x="3269791" y="4756103"/>
            <a:ext cx="8922209" cy="2047404"/>
          </a:xfrm>
          <a:prstGeom prst="rect">
            <a:avLst/>
          </a:prstGeom>
        </p:spPr>
      </p:pic>
      <p:sp>
        <p:nvSpPr>
          <p:cNvPr id="5" name="제목 4">
            <a:extLst>
              <a:ext uri="{FF2B5EF4-FFF2-40B4-BE49-F238E27FC236}">
                <a16:creationId xmlns:a16="http://schemas.microsoft.com/office/drawing/2014/main" id="{C152EFF9-A3CF-0CB0-860F-1ED74DDD37B8}"/>
              </a:ext>
            </a:extLst>
          </p:cNvPr>
          <p:cNvSpPr>
            <a:spLocks noGrp="1"/>
          </p:cNvSpPr>
          <p:nvPr>
            <p:ph type="title"/>
          </p:nvPr>
        </p:nvSpPr>
        <p:spPr/>
        <p:txBody>
          <a:bodyPr>
            <a:normAutofit fontScale="90000"/>
          </a:bodyPr>
          <a:lstStyle/>
          <a:p>
            <a:r>
              <a:rPr lang="ko-Kore-KR" altLang="en-US"/>
              <a:t>卡方检验</a:t>
            </a:r>
          </a:p>
        </p:txBody>
      </p:sp>
    </p:spTree>
    <p:extLst>
      <p:ext uri="{BB962C8B-B14F-4D97-AF65-F5344CB8AC3E}">
        <p14:creationId xmlns:p14="http://schemas.microsoft.com/office/powerpoint/2010/main" val="274078730"/>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type="body" idx="1"/>
          </p:nvPr>
        </p:nvSpPr>
        <p:spPr>
          <a:xfrm>
            <a:off x="583793" y="1246525"/>
            <a:ext cx="10981853" cy="5450312"/>
          </a:xfrm>
        </p:spPr>
        <p:txBody>
          <a:bodyPr/>
          <a:lstStyle/>
          <a:p>
            <a:pPr>
              <a:lnSpc>
                <a:spcPct val="110000"/>
              </a:lnSpc>
            </a:pPr>
            <a:r>
              <a:rPr lang="ko-KR" altLang="en-US" sz="2400" dirty="0">
                <a:latin typeface="STKaiti" panose="02010600040101010101" pitchFamily="2" charset="-122"/>
                <a:ea typeface="STKaiti" panose="02010600040101010101" pitchFamily="2" charset="-122"/>
              </a:rPr>
              <a:t>随机变量 </a:t>
            </a:r>
            <a:r>
              <a:rPr lang="en-US" altLang="en-US" sz="2400" dirty="0">
                <a:latin typeface="STKaiti" panose="02010600040101010101" pitchFamily="2" charset="-122"/>
                <a:ea typeface="STKaiti" panose="02010600040101010101" pitchFamily="2" charset="-122"/>
              </a:rPr>
              <a:t>X </a:t>
            </a:r>
            <a:r>
              <a:rPr lang="ko-KR" altLang="en-US" sz="2400" dirty="0">
                <a:latin typeface="STKaiti" panose="02010600040101010101" pitchFamily="2" charset="-122"/>
                <a:ea typeface="STKaiti" panose="02010600040101010101" pitchFamily="2" charset="-122"/>
              </a:rPr>
              <a:t>的方差 提供了一种衡量 X 的值偏离其均值或期望值的程度的度量</a:t>
            </a:r>
            <a:r>
              <a:rPr lang="en-US" altLang="en-US" sz="2400" dirty="0">
                <a:latin typeface="STKaiti" panose="02010600040101010101" pitchFamily="2" charset="-122"/>
                <a:ea typeface="STKaiti" panose="02010600040101010101" pitchFamily="2" charset="-122"/>
              </a:rPr>
              <a:t>： </a:t>
            </a:r>
          </a:p>
          <a:p>
            <a:pPr marL="0" indent="0">
              <a:lnSpc>
                <a:spcPct val="110000"/>
              </a:lnSpc>
              <a:buNone/>
            </a:pPr>
            <a:endParaRPr lang="en-US" altLang="en-US" sz="2400" b="1" dirty="0">
              <a:latin typeface="STKaiti" panose="02010600040101010101" pitchFamily="2" charset="-122"/>
              <a:ea typeface="STKaiti" panose="02010600040101010101" pitchFamily="2" charset="-122"/>
            </a:endParaRPr>
          </a:p>
          <a:p>
            <a:pPr lvl="1">
              <a:lnSpc>
                <a:spcPct val="110000"/>
              </a:lnSpc>
            </a:pPr>
            <a:endParaRPr lang="en-US" altLang="en-US" sz="2400" dirty="0">
              <a:latin typeface="STKaiti" panose="02010600040101010101" pitchFamily="2" charset="-122"/>
              <a:ea typeface="STKaiti" panose="02010600040101010101" pitchFamily="2" charset="-122"/>
            </a:endParaRPr>
          </a:p>
          <a:p>
            <a:pPr lvl="1">
              <a:lnSpc>
                <a:spcPct val="110000"/>
              </a:lnSpc>
            </a:pPr>
            <a:endParaRPr lang="en-US" altLang="en-US" sz="2400" dirty="0">
              <a:latin typeface="STKaiti" panose="02010600040101010101" pitchFamily="2" charset="-122"/>
              <a:ea typeface="STKaiti" panose="02010600040101010101" pitchFamily="2" charset="-122"/>
            </a:endParaRPr>
          </a:p>
          <a:p>
            <a:pPr lvl="1">
              <a:lnSpc>
                <a:spcPct val="110000"/>
              </a:lnSpc>
            </a:pPr>
            <a:r>
              <a:rPr lang="en-US" altLang="en-US" sz="2400" dirty="0">
                <a:latin typeface="STKaiti" panose="02010600040101010101" pitchFamily="2" charset="-122"/>
                <a:ea typeface="STKaiti" panose="02010600040101010101" pitchFamily="2" charset="-122"/>
              </a:rPr>
              <a:t>其中 </a:t>
            </a:r>
            <a:r>
              <a:rPr lang="el-GR" altLang="en-US" sz="2400" dirty="0">
                <a:latin typeface="STKaiti" panose="02010600040101010101" pitchFamily="2" charset="-122"/>
                <a:ea typeface="STKaiti" panose="02010600040101010101" pitchFamily="2" charset="-122"/>
              </a:rPr>
              <a:t>σ</a:t>
            </a:r>
            <a:r>
              <a:rPr lang="en-US" altLang="en-US" sz="2400" baseline="30000" dirty="0">
                <a:latin typeface="STKaiti" panose="02010600040101010101" pitchFamily="2" charset="-122"/>
                <a:ea typeface="STKaiti" panose="02010600040101010101" pitchFamily="2" charset="-122"/>
              </a:rPr>
              <a:t>2</a:t>
            </a:r>
            <a:r>
              <a:rPr lang="en-US" altLang="en-US" sz="2400" dirty="0">
                <a:latin typeface="STKaiti" panose="02010600040101010101" pitchFamily="2" charset="-122"/>
                <a:ea typeface="STKaiti" panose="02010600040101010101" pitchFamily="2" charset="-122"/>
              </a:rPr>
              <a:t> 是 X 的方</a:t>
            </a:r>
            <a:r>
              <a:rPr lang="el-GR" altLang="en-US" sz="2400" dirty="0">
                <a:latin typeface="STKaiti" panose="02010600040101010101" pitchFamily="2" charset="-122"/>
                <a:ea typeface="STKaiti" panose="02010600040101010101" pitchFamily="2" charset="-122"/>
              </a:rPr>
              <a:t>差，σ</a:t>
            </a:r>
            <a:r>
              <a:rPr lang="en-US" altLang="en-US" sz="2400" i="1" dirty="0">
                <a:latin typeface="STKaiti" panose="02010600040101010101" pitchFamily="2" charset="-122"/>
                <a:ea typeface="STKaiti" panose="02010600040101010101" pitchFamily="2" charset="-122"/>
              </a:rPr>
              <a:t> 称为标准差</a:t>
            </a:r>
          </a:p>
          <a:p>
            <a:pPr marL="733407" lvl="4" indent="0">
              <a:lnSpc>
                <a:spcPct val="110000"/>
              </a:lnSpc>
              <a:buNone/>
            </a:pPr>
            <a:r>
              <a:rPr lang="el-GR" altLang="en-US" sz="2400" dirty="0">
                <a:latin typeface="STKaiti" panose="02010600040101010101" pitchFamily="2" charset="-122"/>
                <a:ea typeface="STKaiti" panose="02010600040101010101" pitchFamily="2" charset="-122"/>
              </a:rPr>
              <a:t>µ </a:t>
            </a:r>
            <a:r>
              <a:rPr lang="en-US" altLang="en-US" sz="2400" dirty="0">
                <a:latin typeface="STKaiti" panose="02010600040101010101" pitchFamily="2" charset="-122"/>
                <a:ea typeface="STKaiti" panose="02010600040101010101" pitchFamily="2" charset="-122"/>
              </a:rPr>
              <a:t>是</a:t>
            </a:r>
            <a:r>
              <a:rPr lang="el-GR" altLang="en-US" sz="2400" dirty="0">
                <a:latin typeface="STKaiti" panose="02010600040101010101" pitchFamily="2" charset="-122"/>
                <a:ea typeface="STKaiti" panose="02010600040101010101" pitchFamily="2" charset="-122"/>
              </a:rPr>
              <a:t>均值，µ </a:t>
            </a:r>
            <a:r>
              <a:rPr lang="en-US" altLang="en-US" sz="2400" dirty="0">
                <a:latin typeface="STKaiti" panose="02010600040101010101" pitchFamily="2" charset="-122"/>
                <a:ea typeface="STKaiti" panose="02010600040101010101" pitchFamily="2" charset="-122"/>
              </a:rPr>
              <a:t>= E[X] 是 X 的期望值</a:t>
            </a:r>
          </a:p>
          <a:p>
            <a:pPr lvl="1">
              <a:lnSpc>
                <a:spcPct val="110000"/>
              </a:lnSpc>
            </a:pPr>
            <a:r>
              <a:rPr lang="en-US" altLang="en-US" sz="2400" dirty="0">
                <a:latin typeface="STKaiti" panose="02010600040101010101" pitchFamily="2" charset="-122"/>
                <a:ea typeface="STKaiti" panose="02010600040101010101" pitchFamily="2" charset="-122"/>
              </a:rPr>
              <a:t> 也就是说，方差是偏离均值的平方值的期望值</a:t>
            </a:r>
          </a:p>
          <a:p>
            <a:pPr lvl="1">
              <a:lnSpc>
                <a:spcPct val="110000"/>
              </a:lnSpc>
            </a:pPr>
            <a:r>
              <a:rPr lang="en-US" altLang="en-US" sz="2400" dirty="0">
                <a:latin typeface="STKaiti" panose="02010600040101010101" pitchFamily="2" charset="-122"/>
                <a:ea typeface="STKaiti" panose="02010600040101010101" pitchFamily="2" charset="-122"/>
              </a:rPr>
              <a:t> 它也可以写为：</a:t>
            </a:r>
          </a:p>
          <a:p>
            <a:pPr>
              <a:lnSpc>
                <a:spcPct val="110000"/>
              </a:lnSpc>
            </a:pPr>
            <a:r>
              <a:rPr lang="en-US" altLang="en-US" sz="2400" dirty="0">
                <a:latin typeface="STKaiti" panose="02010600040101010101" pitchFamily="2" charset="-122"/>
                <a:ea typeface="STKaiti" panose="02010600040101010101" pitchFamily="2" charset="-122"/>
              </a:rPr>
              <a:t>样本方差</a:t>
            </a:r>
          </a:p>
        </p:txBody>
      </p:sp>
      <p:graphicFrame>
        <p:nvGraphicFramePr>
          <p:cNvPr id="10" name="Object 9"/>
          <p:cNvGraphicFramePr>
            <a:graphicFrameLocks noChangeAspect="1"/>
          </p:cNvGraphicFramePr>
          <p:nvPr>
            <p:extLst>
              <p:ext uri="{D42A27DB-BD31-4B8C-83A1-F6EECF244321}">
                <p14:modId xmlns:p14="http://schemas.microsoft.com/office/powerpoint/2010/main" val="3640844670"/>
              </p:ext>
            </p:extLst>
          </p:nvPr>
        </p:nvGraphicFramePr>
        <p:xfrm>
          <a:off x="1908312" y="2178643"/>
          <a:ext cx="6577767" cy="1250357"/>
        </p:xfrm>
        <a:graphic>
          <a:graphicData uri="http://schemas.openxmlformats.org/presentationml/2006/ole">
            <mc:AlternateContent xmlns:mc="http://schemas.openxmlformats.org/markup-compatibility/2006">
              <mc:Choice xmlns:v="urn:schemas-microsoft-com:vml" Requires="v">
                <p:oleObj name="Equation" r:id="rId3" imgW="4178160" imgH="838080" progId="Equation.DSMT4">
                  <p:embed/>
                </p:oleObj>
              </mc:Choice>
              <mc:Fallback>
                <p:oleObj name="Equation" r:id="rId3" imgW="4178160" imgH="838080" progId="Equation.DSMT4">
                  <p:embed/>
                  <p:pic>
                    <p:nvPicPr>
                      <p:cNvPr id="10" name="Object 9"/>
                      <p:cNvPicPr/>
                      <p:nvPr/>
                    </p:nvPicPr>
                    <p:blipFill>
                      <a:blip r:embed="rId4"/>
                      <a:stretch>
                        <a:fillRect/>
                      </a:stretch>
                    </p:blipFill>
                    <p:spPr>
                      <a:xfrm>
                        <a:off x="1908312" y="2178643"/>
                        <a:ext cx="6577767" cy="1250357"/>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494899440"/>
              </p:ext>
            </p:extLst>
          </p:nvPr>
        </p:nvGraphicFramePr>
        <p:xfrm>
          <a:off x="4576685" y="5110410"/>
          <a:ext cx="6780213" cy="412750"/>
        </p:xfrm>
        <a:graphic>
          <a:graphicData uri="http://schemas.openxmlformats.org/presentationml/2006/ole">
            <mc:AlternateContent xmlns:mc="http://schemas.openxmlformats.org/markup-compatibility/2006">
              <mc:Choice xmlns:v="urn:schemas-microsoft-com:vml" Requires="v">
                <p:oleObj name="Equation" r:id="rId5" imgW="3555720" imgH="228600" progId="Equation.DSMT4">
                  <p:embed/>
                </p:oleObj>
              </mc:Choice>
              <mc:Fallback>
                <p:oleObj name="Equation" r:id="rId5" imgW="3555720" imgH="228600" progId="Equation.DSMT4">
                  <p:embed/>
                  <p:pic>
                    <p:nvPicPr>
                      <p:cNvPr id="11" name="Object 10"/>
                      <p:cNvPicPr/>
                      <p:nvPr/>
                    </p:nvPicPr>
                    <p:blipFill>
                      <a:blip r:embed="rId6"/>
                      <a:stretch>
                        <a:fillRect/>
                      </a:stretch>
                    </p:blipFill>
                    <p:spPr>
                      <a:xfrm>
                        <a:off x="4576685" y="5110410"/>
                        <a:ext cx="6780213" cy="41275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27FB607-6D8E-4F49-96A6-5B56B3FF1FAF}"/>
                  </a:ext>
                </a:extLst>
              </p:cNvPr>
              <p:cNvSpPr/>
              <p:nvPr/>
            </p:nvSpPr>
            <p:spPr>
              <a:xfrm>
                <a:off x="2029938" y="5671409"/>
                <a:ext cx="8414918" cy="93262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𝑠</m:t>
                          </m:r>
                        </m:e>
                        <m:sup>
                          <m:r>
                            <a:rPr lang="en-US" altLang="en-US" sz="2000" i="1">
                              <a:latin typeface="Cambria Math" panose="02040503050406030204" pitchFamily="18" charset="0"/>
                            </a:rPr>
                            <m:t>2</m:t>
                          </m:r>
                        </m:sup>
                      </m:sSup>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r>
                            <a:rPr lang="en-US" altLang="en-US" sz="2000" i="1">
                              <a:latin typeface="Cambria Math" panose="02040503050406030204" pitchFamily="18" charset="0"/>
                            </a:rPr>
                            <m:t>1</m:t>
                          </m:r>
                        </m:num>
                        <m:den>
                          <m:r>
                            <a:rPr lang="en-US" altLang="en-US" sz="2000" i="1">
                              <a:latin typeface="Cambria Math" panose="02040503050406030204" pitchFamily="18" charset="0"/>
                            </a:rPr>
                            <m:t>𝑛</m:t>
                          </m:r>
                        </m:den>
                      </m:f>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d>
                            </m:e>
                            <m:sup>
                              <m:r>
                                <a:rPr lang="en-US" altLang="en-US" sz="2000" i="1">
                                  <a:latin typeface="Cambria Math" panose="02040503050406030204" pitchFamily="18" charset="0"/>
                                </a:rPr>
                                <m:t>2</m:t>
                              </m:r>
                            </m:sup>
                          </m:sSup>
                        </m:e>
                      </m:nary>
                      <m:r>
                        <a:rPr lang="en-US" altLang="en-US" sz="2000" i="1">
                          <a:latin typeface="Cambria Math" panose="02040503050406030204" pitchFamily="18" charset="0"/>
                        </a:rPr>
                        <m:t>                           </m:t>
                      </m:r>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𝑠</m:t>
                          </m:r>
                        </m:e>
                        <m:sup>
                          <m:r>
                            <a:rPr lang="en-US" altLang="en-US" sz="2000" i="1">
                              <a:latin typeface="Cambria Math" panose="02040503050406030204" pitchFamily="18" charset="0"/>
                            </a:rPr>
                            <m:t>2</m:t>
                          </m:r>
                        </m:sup>
                      </m:sSup>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r>
                            <a:rPr lang="en-US" altLang="en-US" sz="2000" i="1">
                              <a:latin typeface="Cambria Math" panose="02040503050406030204" pitchFamily="18" charset="0"/>
                            </a:rPr>
                            <m:t>1</m:t>
                          </m:r>
                        </m:num>
                        <m:den>
                          <m:r>
                            <a:rPr lang="en-US" altLang="en-US" sz="2000" i="1">
                              <a:latin typeface="Cambria Math" panose="02040503050406030204" pitchFamily="18" charset="0"/>
                            </a:rPr>
                            <m:t>𝑛</m:t>
                          </m:r>
                          <m:r>
                            <a:rPr lang="en-US" altLang="en-US" sz="2000" i="1">
                              <a:latin typeface="Cambria Math" panose="02040503050406030204" pitchFamily="18" charset="0"/>
                            </a:rPr>
                            <m:t>−1</m:t>
                          </m:r>
                        </m:den>
                      </m:f>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d>
                            </m:e>
                            <m:sup>
                              <m:r>
                                <a:rPr lang="en-US" altLang="en-US" sz="2000" i="1">
                                  <a:latin typeface="Cambria Math" panose="02040503050406030204" pitchFamily="18" charset="0"/>
                                </a:rPr>
                                <m:t>2</m:t>
                              </m:r>
                            </m:sup>
                          </m:sSup>
                        </m:e>
                      </m:nary>
                    </m:oMath>
                  </m:oMathPara>
                </a14:m>
                <a:endParaRPr lang="en-US" dirty="0"/>
              </a:p>
            </p:txBody>
          </p:sp>
        </mc:Choice>
        <mc:Fallback xmlns="">
          <p:sp>
            <p:nvSpPr>
              <p:cNvPr id="2" name="矩形 1">
                <a:extLst>
                  <a:ext uri="{FF2B5EF4-FFF2-40B4-BE49-F238E27FC236}">
                    <a16:creationId xmlns:a16="http://schemas.microsoft.com/office/drawing/2014/main" id="{E27FB607-6D8E-4F49-96A6-5B56B3FF1FAF}"/>
                  </a:ext>
                </a:extLst>
              </p:cNvPr>
              <p:cNvSpPr>
                <a:spLocks noRot="1" noChangeAspect="1" noMove="1" noResize="1" noEditPoints="1" noAdjustHandles="1" noChangeArrowheads="1" noChangeShapeType="1" noTextEdit="1"/>
              </p:cNvSpPr>
              <p:nvPr/>
            </p:nvSpPr>
            <p:spPr>
              <a:xfrm>
                <a:off x="2029938" y="5671409"/>
                <a:ext cx="8414918" cy="932628"/>
              </a:xfrm>
              <a:prstGeom prst="rect">
                <a:avLst/>
              </a:prstGeom>
              <a:blipFill>
                <a:blip r:embed="rId7"/>
                <a:stretch>
                  <a:fillRect t="-102703" b="-158108"/>
                </a:stretch>
              </a:blipFill>
            </p:spPr>
            <p:txBody>
              <a:bodyPr/>
              <a:lstStyle/>
              <a:p>
                <a:r>
                  <a:rPr lang="ko-Kore-KR" altLang="en-US">
                    <a:noFill/>
                  </a:rPr>
                  <a:t> </a:t>
                </a:r>
              </a:p>
            </p:txBody>
          </p:sp>
        </mc:Fallback>
      </mc:AlternateContent>
      <p:sp>
        <p:nvSpPr>
          <p:cNvPr id="4" name="제목 3">
            <a:extLst>
              <a:ext uri="{FF2B5EF4-FFF2-40B4-BE49-F238E27FC236}">
                <a16:creationId xmlns:a16="http://schemas.microsoft.com/office/drawing/2014/main" id="{2AC8DBBC-47F1-244A-95B9-3756E94CDDF8}"/>
              </a:ext>
            </a:extLst>
          </p:cNvPr>
          <p:cNvSpPr>
            <a:spLocks noGrp="1"/>
          </p:cNvSpPr>
          <p:nvPr>
            <p:ph type="title"/>
          </p:nvPr>
        </p:nvSpPr>
        <p:spPr/>
        <p:txBody>
          <a:bodyPr/>
          <a:lstStyle/>
          <a:p>
            <a:r>
              <a:rPr lang="ko-Kore-KR" altLang="en-US"/>
              <a:t>单变量方差</a:t>
            </a:r>
            <a:r>
              <a:rPr lang="zh-CN" altLang="en-US">
                <a:ea typeface="STKaiti" panose="02010600040101010101" pitchFamily="2" charset="-122"/>
              </a:rPr>
              <a:t>（数值数据）</a:t>
            </a:r>
            <a:endParaRPr lang="ko-Kore-KR" altLang="en-US"/>
          </a:p>
        </p:txBody>
      </p:sp>
    </p:spTree>
    <p:extLst>
      <p:ext uri="{BB962C8B-B14F-4D97-AF65-F5344CB8AC3E}">
        <p14:creationId xmlns:p14="http://schemas.microsoft.com/office/powerpoint/2010/main" val="940543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00" name="Rectangle 3"/>
              <p:cNvSpPr>
                <a:spLocks noGrp="1" noChangeArrowheads="1"/>
              </p:cNvSpPr>
              <p:nvPr>
                <p:ph type="body" idx="1"/>
              </p:nvPr>
            </p:nvSpPr>
            <p:spPr>
              <a:xfrm>
                <a:off x="552262" y="1151932"/>
                <a:ext cx="11184626" cy="5450312"/>
              </a:xfrm>
            </p:spPr>
            <p:txBody>
              <a:bodyPr/>
              <a:lstStyle/>
              <a:p>
                <a:pPr>
                  <a:lnSpc>
                    <a:spcPct val="110000"/>
                  </a:lnSpc>
                </a:pPr>
                <a:r>
                  <a:rPr lang="en-US" altLang="en-US" sz="2400" dirty="0">
                    <a:ea typeface="STKaiti" panose="02010600040101010101" pitchFamily="2" charset="-122"/>
                    <a:cs typeface="Times New Roman" panose="02020603050405020304" pitchFamily="18" charset="0"/>
                  </a:rPr>
                  <a:t>两个变量</a:t>
                </a:r>
                <a:r>
                  <a:rPr lang="en-US" altLang="en-US" sz="2400" i="1" dirty="0">
                    <a:ea typeface="STKaiti" panose="02010600040101010101" pitchFamily="2" charset="-122"/>
                    <a:cs typeface="Times New Roman" panose="02020603050405020304" pitchFamily="18" charset="0"/>
                  </a:rPr>
                  <a:t>X</a:t>
                </a:r>
                <a:r>
                  <a:rPr lang="en-US" altLang="en-US" sz="2400" baseline="-25000" dirty="0">
                    <a:ea typeface="STKaiti" panose="02010600040101010101" pitchFamily="2" charset="-122"/>
                    <a:cs typeface="Times New Roman" panose="02020603050405020304" pitchFamily="18" charset="0"/>
                  </a:rPr>
                  <a:t>1</a:t>
                </a:r>
                <a:r>
                  <a:rPr lang="en-US" altLang="en-US" sz="2400" dirty="0">
                    <a:ea typeface="STKaiti" panose="02010600040101010101" pitchFamily="2" charset="-122"/>
                    <a:cs typeface="Times New Roman" panose="02020603050405020304" pitchFamily="18" charset="0"/>
                  </a:rPr>
                  <a:t> 和</a:t>
                </a:r>
                <a:r>
                  <a:rPr lang="en-US" altLang="en-US" sz="2400" i="1" dirty="0">
                    <a:ea typeface="STKaiti" panose="02010600040101010101" pitchFamily="2" charset="-122"/>
                    <a:cs typeface="Times New Roman" panose="02020603050405020304" pitchFamily="18" charset="0"/>
                  </a:rPr>
                  <a:t>X</a:t>
                </a:r>
                <a:r>
                  <a:rPr lang="en-US" altLang="en-US" sz="2400" baseline="-25000" dirty="0">
                    <a:ea typeface="STKaiti" panose="02010600040101010101" pitchFamily="2" charset="-122"/>
                    <a:cs typeface="Times New Roman" panose="02020603050405020304" pitchFamily="18" charset="0"/>
                  </a:rPr>
                  <a:t>2</a:t>
                </a:r>
                <a:r>
                  <a:rPr lang="en-US" altLang="en-US" sz="2400" dirty="0">
                    <a:ea typeface="STKaiti" panose="02010600040101010101" pitchFamily="2" charset="-122"/>
                    <a:cs typeface="Times New Roman" panose="02020603050405020304" pitchFamily="18" charset="0"/>
                  </a:rPr>
                  <a:t> 之间的协方差 </a:t>
                </a:r>
              </a:p>
              <a:p>
                <a:pPr marL="0" indent="0">
                  <a:lnSpc>
                    <a:spcPct val="110000"/>
                  </a:lnSpc>
                  <a:buNone/>
                </a:pPr>
                <a:endParaRPr lang="en-US" altLang="en-US" sz="2400" dirty="0">
                  <a:ea typeface="STKaiti" panose="02010600040101010101" pitchFamily="2" charset="-122"/>
                  <a:cs typeface="Times New Roman" panose="02020603050405020304" pitchFamily="18" charset="0"/>
                </a:endParaRPr>
              </a:p>
              <a:p>
                <a:pPr lvl="2">
                  <a:lnSpc>
                    <a:spcPct val="110000"/>
                  </a:lnSpc>
                  <a:buNone/>
                </a:pPr>
                <a:r>
                  <a:rPr lang="en-US" altLang="en-US" sz="2400" dirty="0">
                    <a:ea typeface="STKaiti" panose="02010600040101010101" pitchFamily="2" charset="-122"/>
                    <a:cs typeface="Times New Roman" panose="02020603050405020304" pitchFamily="18" charset="0"/>
                  </a:rPr>
                  <a:t>其中 µ</a:t>
                </a:r>
                <a:r>
                  <a:rPr lang="en-US" altLang="en-US" sz="2400" baseline="-25000" dirty="0">
                    <a:ea typeface="STKaiti" panose="02010600040101010101" pitchFamily="2" charset="-122"/>
                    <a:cs typeface="Times New Roman" panose="02020603050405020304" pitchFamily="18" charset="0"/>
                  </a:rPr>
                  <a:t>1</a:t>
                </a:r>
                <a:r>
                  <a:rPr lang="en-US" altLang="en-US" sz="2400" dirty="0">
                    <a:ea typeface="STKaiti" panose="02010600040101010101" pitchFamily="2" charset="-122"/>
                    <a:cs typeface="Times New Roman" panose="02020603050405020304" pitchFamily="18" charset="0"/>
                  </a:rPr>
                  <a:t> = E[</a:t>
                </a:r>
                <a:r>
                  <a:rPr lang="en-US" altLang="en-US" sz="2400" i="1" dirty="0">
                    <a:ea typeface="STKaiti" panose="02010600040101010101" pitchFamily="2" charset="-122"/>
                    <a:cs typeface="Times New Roman" panose="02020603050405020304" pitchFamily="18" charset="0"/>
                  </a:rPr>
                  <a:t>X</a:t>
                </a:r>
                <a:r>
                  <a:rPr lang="en-US" altLang="en-US" sz="2400" baseline="-25000" dirty="0">
                    <a:ea typeface="STKaiti" panose="02010600040101010101" pitchFamily="2" charset="-122"/>
                    <a:cs typeface="Times New Roman" panose="02020603050405020304" pitchFamily="18" charset="0"/>
                  </a:rPr>
                  <a:t>1</a:t>
                </a:r>
                <a:r>
                  <a:rPr lang="en-US" altLang="en-US" sz="2400" dirty="0">
                    <a:ea typeface="STKaiti" panose="02010600040101010101" pitchFamily="2" charset="-122"/>
                    <a:cs typeface="Times New Roman" panose="02020603050405020304" pitchFamily="18" charset="0"/>
                  </a:rPr>
                  <a:t> ] 是 </a:t>
                </a:r>
                <a:r>
                  <a:rPr lang="en-US" altLang="en-US" sz="2400" i="1" dirty="0">
                    <a:ea typeface="STKaiti" panose="02010600040101010101" pitchFamily="2" charset="-122"/>
                    <a:cs typeface="Times New Roman" panose="02020603050405020304" pitchFamily="18" charset="0"/>
                  </a:rPr>
                  <a:t>X</a:t>
                </a:r>
                <a:r>
                  <a:rPr lang="en-US" altLang="en-US" sz="2400" baseline="-25000" dirty="0">
                    <a:ea typeface="STKaiti" panose="02010600040101010101" pitchFamily="2" charset="-122"/>
                    <a:cs typeface="Times New Roman" panose="02020603050405020304" pitchFamily="18" charset="0"/>
                  </a:rPr>
                  <a:t>1</a:t>
                </a:r>
                <a:r>
                  <a:rPr lang="en-US" altLang="en-US" sz="2400" dirty="0">
                    <a:ea typeface="STKaiti" panose="02010600040101010101" pitchFamily="2" charset="-122"/>
                    <a:cs typeface="Times New Roman" panose="02020603050405020304" pitchFamily="18" charset="0"/>
                  </a:rPr>
                  <a:t> 的均值或期望值；类似地，µ</a:t>
                </a:r>
                <a:r>
                  <a:rPr lang="en-US" altLang="en-US" sz="2400" baseline="-25000" dirty="0">
                    <a:ea typeface="STKaiti" panose="02010600040101010101" pitchFamily="2" charset="-122"/>
                    <a:cs typeface="Times New Roman" panose="02020603050405020304" pitchFamily="18" charset="0"/>
                  </a:rPr>
                  <a:t>2</a:t>
                </a:r>
                <a:r>
                  <a:rPr lang="en-US" altLang="en-US" sz="2400" dirty="0">
                    <a:ea typeface="STKaiti" panose="02010600040101010101" pitchFamily="2" charset="-122"/>
                    <a:cs typeface="Times New Roman" panose="02020603050405020304" pitchFamily="18" charset="0"/>
                  </a:rPr>
                  <a:t> 是 X 的均值或期望值。  </a:t>
                </a:r>
              </a:p>
              <a:p>
                <a:pPr>
                  <a:lnSpc>
                    <a:spcPct val="110000"/>
                  </a:lnSpc>
                </a:pPr>
                <a:r>
                  <a:rPr lang="en-US" altLang="en-US" sz="2400" dirty="0">
                    <a:ea typeface="STKaiti" panose="02010600040101010101" pitchFamily="2" charset="-122"/>
                    <a:cs typeface="Times New Roman" panose="02020603050405020304" pitchFamily="18" charset="0"/>
                  </a:rPr>
                  <a:t>X</a:t>
                </a:r>
                <a:r>
                  <a:rPr lang="en-US" altLang="en-US" sz="2400" baseline="-25000" dirty="0">
                    <a:ea typeface="STKaiti" panose="02010600040101010101" pitchFamily="2" charset="-122"/>
                    <a:cs typeface="Times New Roman" panose="02020603050405020304" pitchFamily="18" charset="0"/>
                  </a:rPr>
                  <a:t>1</a:t>
                </a:r>
                <a:r>
                  <a:rPr lang="en-US" altLang="en-US" sz="2400" dirty="0">
                    <a:ea typeface="STKaiti" panose="02010600040101010101" pitchFamily="2" charset="-122"/>
                    <a:cs typeface="Times New Roman" panose="02020603050405020304" pitchFamily="18" charset="0"/>
                  </a:rPr>
                  <a:t> 与 X</a:t>
                </a:r>
                <a:r>
                  <a:rPr lang="en-US" altLang="en-US" sz="2400" baseline="-25000" dirty="0">
                    <a:ea typeface="STKaiti" panose="02010600040101010101" pitchFamily="2" charset="-122"/>
                    <a:cs typeface="Times New Roman" panose="02020603050405020304" pitchFamily="18" charset="0"/>
                  </a:rPr>
                  <a:t>2</a:t>
                </a:r>
                <a:r>
                  <a:rPr lang="en-US" altLang="en-US" sz="2400" dirty="0">
                    <a:ea typeface="STKaiti" panose="02010600040101010101" pitchFamily="2" charset="-122"/>
                    <a:cs typeface="Times New Roman" panose="02020603050405020304" pitchFamily="18" charset="0"/>
                  </a:rPr>
                  <a:t> 之间的样本协方差： </a:t>
                </a:r>
                <a14:m>
                  <m:oMath xmlns:m="http://schemas.openxmlformats.org/officeDocument/2006/math">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1</m:t>
                        </m:r>
                        <m:r>
                          <a:rPr lang="en-US" altLang="en-US" sz="2000" b="0" i="1" smtClean="0">
                            <a:latin typeface="Cambria Math" panose="02040503050406030204" pitchFamily="18" charset="0"/>
                          </a:rPr>
                          <m:t>2</m:t>
                        </m:r>
                      </m:sub>
                    </m:sSub>
                    <m:r>
                      <a:rPr lang="en-US" altLang="en-US" sz="2000" b="0" i="1" smtClean="0">
                        <a:latin typeface="Cambria Math" panose="02040503050406030204" pitchFamily="18" charset="0"/>
                      </a:rPr>
                      <m:t>=</m:t>
                    </m:r>
                    <m:f>
                      <m:fPr>
                        <m:ctrlPr>
                          <a:rPr lang="en-US" altLang="en-US" sz="2000" b="0" i="1" smtClean="0">
                            <a:latin typeface="Cambria Math" panose="02040503050406030204" pitchFamily="18" charset="0"/>
                          </a:rPr>
                        </m:ctrlPr>
                      </m:fPr>
                      <m:num>
                        <m:r>
                          <a:rPr lang="en-US" altLang="en-US" sz="2000" b="0" i="1" smtClean="0">
                            <a:latin typeface="Cambria Math" panose="02040503050406030204" pitchFamily="18" charset="0"/>
                          </a:rPr>
                          <m:t>1</m:t>
                        </m:r>
                      </m:num>
                      <m:den>
                        <m:r>
                          <a:rPr lang="en-US" altLang="en-US" sz="2000" b="0" i="1" smtClean="0">
                            <a:latin typeface="Cambria Math" panose="02040503050406030204" pitchFamily="18" charset="0"/>
                          </a:rPr>
                          <m:t>𝑛</m:t>
                        </m:r>
                      </m:den>
                    </m:f>
                    <m:nary>
                      <m:naryPr>
                        <m:chr m:val="∑"/>
                        <m:ctrlPr>
                          <a:rPr lang="en-US" altLang="en-US" sz="2000" b="0" i="1" smtClean="0">
                            <a:latin typeface="Cambria Math" panose="02040503050406030204" pitchFamily="18" charset="0"/>
                          </a:rPr>
                        </m:ctrlPr>
                      </m:naryPr>
                      <m:sub>
                        <m:r>
                          <m:rPr>
                            <m:brk m:alnAt="23"/>
                          </m:rPr>
                          <a:rPr lang="en-US" altLang="en-US" sz="2000" b="0" i="1" smtClean="0">
                            <a:latin typeface="Cambria Math" panose="02040503050406030204" pitchFamily="18" charset="0"/>
                          </a:rPr>
                          <m:t>𝑖</m:t>
                        </m:r>
                        <m:r>
                          <a:rPr lang="en-US" altLang="en-US" sz="2000" b="0" i="1" smtClean="0">
                            <a:latin typeface="Cambria Math" panose="02040503050406030204" pitchFamily="18" charset="0"/>
                          </a:rPr>
                          <m:t>=</m:t>
                        </m:r>
                        <m:r>
                          <a:rPr lang="en-US" altLang="en-US" sz="2000" b="0" i="1" smtClean="0">
                            <a:latin typeface="Cambria Math" panose="02040503050406030204" pitchFamily="18" charset="0"/>
                          </a:rPr>
                          <m:t>1</m:t>
                        </m:r>
                      </m:sub>
                      <m:sup>
                        <m:r>
                          <a:rPr lang="en-US" altLang="en-US" sz="2000" b="0" i="1" smtClean="0">
                            <a:latin typeface="Cambria Math" panose="02040503050406030204" pitchFamily="18" charset="0"/>
                          </a:rPr>
                          <m:t>𝑛</m:t>
                        </m:r>
                      </m:sup>
                      <m:e>
                        <m:d>
                          <m:dPr>
                            <m:ctrlPr>
                              <a:rPr lang="en-US" altLang="en-US" sz="2000" b="0" i="1" smtClean="0">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𝜇</m:t>
                                    </m:r>
                                  </m:e>
                                  <m:sub>
                                    <m:r>
                                      <a:rPr lang="en-US" altLang="en-US" sz="2000" i="1">
                                        <a:latin typeface="Cambria Math" panose="02040503050406030204" pitchFamily="18" charset="0"/>
                                      </a:rPr>
                                      <m:t>1</m:t>
                                    </m:r>
                                  </m:sub>
                                </m:sSub>
                              </m:e>
                            </m:acc>
                          </m:e>
                        </m:d>
                        <m:d>
                          <m:dPr>
                            <m:ctrlPr>
                              <a:rPr lang="en-US" altLang="en-US" sz="2000" b="0" i="1" smtClean="0">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b="0" i="1" smtClean="0">
                                    <a:latin typeface="Cambria Math" panose="02040503050406030204" pitchFamily="18" charset="0"/>
                                  </a:rPr>
                                  <m:t>2</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𝜇</m:t>
                                    </m:r>
                                  </m:e>
                                  <m:sub>
                                    <m:r>
                                      <a:rPr lang="en-US" altLang="en-US" sz="2000" b="0" i="1" smtClean="0">
                                        <a:latin typeface="Cambria Math" panose="02040503050406030204" pitchFamily="18" charset="0"/>
                                      </a:rPr>
                                      <m:t>2</m:t>
                                    </m:r>
                                  </m:sub>
                                </m:sSub>
                              </m:e>
                            </m:acc>
                          </m:e>
                        </m:d>
                      </m:e>
                    </m:nary>
                    <m:r>
                      <a:rPr lang="en-US" altLang="en-US" sz="2000" b="0" i="1" smtClean="0">
                        <a:latin typeface="Cambria Math" panose="02040503050406030204" pitchFamily="18" charset="0"/>
                      </a:rPr>
                      <m:t>  </m:t>
                    </m:r>
                  </m:oMath>
                </a14:m>
                <a:endParaRPr lang="en-US" altLang="en-US" sz="2400" dirty="0">
                  <a:ea typeface="STKaiti" panose="02010600040101010101" pitchFamily="2" charset="-122"/>
                  <a:cs typeface="Times New Roman" panose="02020603050405020304" pitchFamily="18" charset="0"/>
                </a:endParaRPr>
              </a:p>
              <a:p>
                <a:pPr>
                  <a:lnSpc>
                    <a:spcPct val="110000"/>
                  </a:lnSpc>
                </a:pPr>
                <a:r>
                  <a:rPr lang="en-US" altLang="en-US" sz="2400" dirty="0">
                    <a:ea typeface="STKaiti" panose="02010600040101010101" pitchFamily="2" charset="-122"/>
                    <a:cs typeface="Times New Roman" panose="02020603050405020304" pitchFamily="18" charset="0"/>
                  </a:rPr>
                  <a:t>样本协方差是样本方差的推广：</a:t>
                </a:r>
                <a:br>
                  <a:rPr lang="en-US" altLang="en-US" sz="2400" i="1" dirty="0">
                    <a:ea typeface="STKaiti" panose="02010600040101010101" pitchFamily="2" charset="-122"/>
                    <a:cs typeface="Times New Roman" panose="02020603050405020304" pitchFamily="18" charset="0"/>
                  </a:rPr>
                </a:br>
                <a14:m>
                  <m:oMath xmlns:m="http://schemas.openxmlformats.org/officeDocument/2006/math">
                    <m:sSub>
                      <m:sSubPr>
                        <m:ctrlPr>
                          <a:rPr lang="en-US" altLang="en-US" sz="2000" b="0" i="1" smtClean="0">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b="0" i="1" smtClean="0">
                                <a:latin typeface="Cambria Math" panose="02040503050406030204" pitchFamily="18" charset="0"/>
                              </a:rPr>
                              <m:t>𝜎</m:t>
                            </m:r>
                          </m:e>
                        </m:acc>
                      </m:e>
                      <m:sub>
                        <m:r>
                          <a:rPr lang="en-US" altLang="en-US" sz="2000" b="0" i="1" smtClean="0">
                            <a:latin typeface="Cambria Math" panose="02040503050406030204" pitchFamily="18" charset="0"/>
                          </a:rPr>
                          <m:t>11</m:t>
                        </m:r>
                      </m:sub>
                    </m:sSub>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r>
                          <a:rPr lang="en-US" altLang="en-US" sz="2000" i="1">
                            <a:latin typeface="Cambria Math" panose="02040503050406030204" pitchFamily="18" charset="0"/>
                          </a:rPr>
                          <m:t>1</m:t>
                        </m:r>
                      </m:num>
                      <m:den>
                        <m:r>
                          <a:rPr lang="en-US" altLang="en-US" sz="2000" i="1">
                            <a:latin typeface="Cambria Math" panose="02040503050406030204" pitchFamily="18" charset="0"/>
                          </a:rPr>
                          <m:t>𝑛</m:t>
                        </m:r>
                      </m:den>
                    </m:f>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m:t>
                        </m:r>
                        <m:r>
                          <a:rPr lang="en-US" altLang="en-US" sz="2000" i="1">
                            <a:latin typeface="Cambria Math" panose="02040503050406030204" pitchFamily="18" charset="0"/>
                          </a:rPr>
                          <m:t>1</m:t>
                        </m:r>
                      </m:sub>
                      <m:sup>
                        <m:r>
                          <a:rPr lang="en-US" altLang="en-US" sz="2000" i="1">
                            <a:latin typeface="Cambria Math" panose="02040503050406030204" pitchFamily="18" charset="0"/>
                          </a:rPr>
                          <m:t>𝑛</m:t>
                        </m:r>
                      </m:sup>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𝜇</m:t>
                                    </m:r>
                                  </m:e>
                                  <m:sub>
                                    <m:r>
                                      <a:rPr lang="en-US" altLang="en-US" sz="2000" i="1">
                                        <a:latin typeface="Cambria Math" panose="02040503050406030204" pitchFamily="18" charset="0"/>
                                      </a:rPr>
                                      <m:t>1</m:t>
                                    </m:r>
                                  </m:sub>
                                </m:sSub>
                              </m:e>
                            </m:acc>
                          </m:e>
                        </m:d>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𝜇</m:t>
                                    </m:r>
                                  </m:e>
                                  <m:sub>
                                    <m:r>
                                      <a:rPr lang="en-US" altLang="en-US" sz="2000" i="1">
                                        <a:latin typeface="Cambria Math" panose="02040503050406030204" pitchFamily="18" charset="0"/>
                                      </a:rPr>
                                      <m:t>1</m:t>
                                    </m:r>
                                  </m:sub>
                                </m:sSub>
                              </m:e>
                            </m:acc>
                          </m:e>
                        </m:d>
                      </m:e>
                    </m:nary>
                  </m:oMath>
                </a14:m>
                <a:endParaRPr lang="en-US" altLang="en-US" sz="2400" dirty="0">
                  <a:ea typeface="STKaiti" panose="02010600040101010101" pitchFamily="2" charset="-122"/>
                  <a:cs typeface="Times New Roman" panose="02020603050405020304" pitchFamily="18" charset="0"/>
                </a:endParaRPr>
              </a:p>
              <a:p>
                <a:pPr>
                  <a:lnSpc>
                    <a:spcPct val="110000"/>
                  </a:lnSpc>
                </a:pPr>
                <a:r>
                  <a:rPr lang="en-US" altLang="en-US" sz="2400" dirty="0">
                    <a:ea typeface="STKaiti" panose="02010600040101010101" pitchFamily="2" charset="-122"/>
                    <a:cs typeface="Times New Roman" panose="02020603050405020304" pitchFamily="18" charset="0"/>
                  </a:rPr>
                  <a:t>正协方差：</a:t>
                </a:r>
                <a:r>
                  <a:rPr lang="el-GR" altLang="en-US" sz="2400" dirty="0">
                    <a:ea typeface="STKaiti" panose="02010600040101010101" pitchFamily="2" charset="-122"/>
                  </a:rPr>
                  <a:t>σ</a:t>
                </a:r>
                <a:r>
                  <a:rPr lang="en-US" altLang="en-US" sz="2400" baseline="-25000" dirty="0">
                    <a:ea typeface="STKaiti" panose="02010600040101010101" pitchFamily="2" charset="-122"/>
                  </a:rPr>
                  <a:t>12 </a:t>
                </a:r>
                <a:r>
                  <a:rPr lang="en-US" altLang="en-US" sz="2400" dirty="0">
                    <a:ea typeface="STKaiti" panose="02010600040101010101" pitchFamily="2" charset="-122"/>
                  </a:rPr>
                  <a:t>&gt; 0</a:t>
                </a:r>
              </a:p>
              <a:p>
                <a:pPr>
                  <a:lnSpc>
                    <a:spcPct val="110000"/>
                  </a:lnSpc>
                </a:pPr>
                <a:r>
                  <a:rPr lang="en-US" altLang="en-US" sz="2400" dirty="0">
                    <a:ea typeface="STKaiti" panose="02010600040101010101" pitchFamily="2" charset="-122"/>
                    <a:cs typeface="Times New Roman" panose="02020603050405020304" pitchFamily="18" charset="0"/>
                  </a:rPr>
                  <a:t>负协方差：</a:t>
                </a:r>
                <a:r>
                  <a:rPr lang="el-GR" altLang="en-US" sz="2400" dirty="0">
                    <a:ea typeface="STKaiti" panose="02010600040101010101" pitchFamily="2" charset="-122"/>
                  </a:rPr>
                  <a:t>σ</a:t>
                </a:r>
                <a:r>
                  <a:rPr lang="en-US" altLang="en-US" sz="2400" baseline="-25000" dirty="0">
                    <a:ea typeface="STKaiti" panose="02010600040101010101" pitchFamily="2" charset="-122"/>
                  </a:rPr>
                  <a:t>12  </a:t>
                </a:r>
                <a:r>
                  <a:rPr lang="en-US" altLang="en-US" sz="2400" dirty="0">
                    <a:ea typeface="STKaiti" panose="02010600040101010101" pitchFamily="2" charset="-122"/>
                  </a:rPr>
                  <a:t>&lt; 0 </a:t>
                </a:r>
                <a:endParaRPr lang="en-US" altLang="en-US" sz="2400" dirty="0">
                  <a:ea typeface="STKaiti" panose="02010600040101010101" pitchFamily="2" charset="-122"/>
                  <a:cs typeface="Times New Roman" panose="02020603050405020304" pitchFamily="18" charset="0"/>
                </a:endParaRPr>
              </a:p>
            </p:txBody>
          </p:sp>
        </mc:Choice>
        <mc:Fallback xmlns="">
          <p:sp>
            <p:nvSpPr>
              <p:cNvPr id="4100" name="Rectangle 3"/>
              <p:cNvSpPr>
                <a:spLocks noGrp="1" noRot="1" noChangeAspect="1" noMove="1" noResize="1" noEditPoints="1" noAdjustHandles="1" noChangeArrowheads="1" noChangeShapeType="1" noTextEdit="1"/>
              </p:cNvSpPr>
              <p:nvPr>
                <p:ph type="body" idx="1"/>
              </p:nvPr>
            </p:nvSpPr>
            <p:spPr>
              <a:xfrm>
                <a:off x="552262" y="1151932"/>
                <a:ext cx="11184626" cy="5450312"/>
              </a:xfrm>
              <a:blipFill>
                <a:blip r:embed="rId3"/>
                <a:stretch>
                  <a:fillRect l="-454" t="-1163"/>
                </a:stretch>
              </a:blipFill>
            </p:spPr>
            <p:txBody>
              <a:bodyPr/>
              <a:lstStyle/>
              <a:p>
                <a:r>
                  <a:rPr lang="ko-Kore-KR" altLang="en-US">
                    <a:noFill/>
                  </a:rPr>
                  <a:t> </a:t>
                </a:r>
              </a:p>
            </p:txBody>
          </p:sp>
        </mc:Fallback>
      </mc:AlternateContent>
      <p:graphicFrame>
        <p:nvGraphicFramePr>
          <p:cNvPr id="10" name="Object 9"/>
          <p:cNvGraphicFramePr>
            <a:graphicFrameLocks noChangeAspect="1"/>
          </p:cNvGraphicFramePr>
          <p:nvPr/>
        </p:nvGraphicFramePr>
        <p:xfrm>
          <a:off x="1878014" y="1637035"/>
          <a:ext cx="8116887" cy="422275"/>
        </p:xfrm>
        <a:graphic>
          <a:graphicData uri="http://schemas.openxmlformats.org/presentationml/2006/ole">
            <mc:AlternateContent xmlns:mc="http://schemas.openxmlformats.org/markup-compatibility/2006">
              <mc:Choice xmlns:v="urn:schemas-microsoft-com:vml" Requires="v">
                <p:oleObj name="Equation" r:id="rId4" imgW="4381200" imgH="228600" progId="Equation.DSMT4">
                  <p:embed/>
                </p:oleObj>
              </mc:Choice>
              <mc:Fallback>
                <p:oleObj name="Equation" r:id="rId4" imgW="4381200" imgH="228600" progId="Equation.DSMT4">
                  <p:embed/>
                  <p:pic>
                    <p:nvPicPr>
                      <p:cNvPr id="10" name="Object 9"/>
                      <p:cNvPicPr/>
                      <p:nvPr/>
                    </p:nvPicPr>
                    <p:blipFill>
                      <a:blip r:embed="rId5"/>
                      <a:stretch>
                        <a:fillRect/>
                      </a:stretch>
                    </p:blipFill>
                    <p:spPr>
                      <a:xfrm>
                        <a:off x="1878014" y="1637035"/>
                        <a:ext cx="8116887" cy="422275"/>
                      </a:xfrm>
                      <a:prstGeom prst="rect">
                        <a:avLst/>
                      </a:prstGeom>
                    </p:spPr>
                  </p:pic>
                </p:oleObj>
              </mc:Fallback>
            </mc:AlternateContent>
          </a:graphicData>
        </a:graphic>
      </p:graphicFrame>
      <p:sp>
        <p:nvSpPr>
          <p:cNvPr id="3" name="제목 2">
            <a:extLst>
              <a:ext uri="{FF2B5EF4-FFF2-40B4-BE49-F238E27FC236}">
                <a16:creationId xmlns:a16="http://schemas.microsoft.com/office/drawing/2014/main" id="{D1E8C547-8FE9-4E64-9837-5698D757A5FD}"/>
              </a:ext>
            </a:extLst>
          </p:cNvPr>
          <p:cNvSpPr>
            <a:spLocks noGrp="1"/>
          </p:cNvSpPr>
          <p:nvPr>
            <p:ph type="title"/>
          </p:nvPr>
        </p:nvSpPr>
        <p:spPr/>
        <p:txBody>
          <a:bodyPr/>
          <a:lstStyle/>
          <a:p>
            <a:r>
              <a:rPr lang="ko-Kore-KR" altLang="en-US"/>
              <a:t>两个变量的协方差</a:t>
            </a:r>
          </a:p>
        </p:txBody>
      </p:sp>
    </p:spTree>
    <p:extLst>
      <p:ext uri="{BB962C8B-B14F-4D97-AF65-F5344CB8AC3E}">
        <p14:creationId xmlns:p14="http://schemas.microsoft.com/office/powerpoint/2010/main" val="9980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B11A8-F03D-454C-8871-100063EFDB15}"/>
              </a:ext>
            </a:extLst>
          </p:cNvPr>
          <p:cNvSpPr>
            <a:spLocks noGrp="1"/>
          </p:cNvSpPr>
          <p:nvPr>
            <p:ph type="title"/>
          </p:nvPr>
        </p:nvSpPr>
        <p:spPr/>
        <p:txBody>
          <a:bodyPr/>
          <a:lstStyle/>
          <a:p>
            <a:r>
              <a:rPr lang="ko-Kore-KR" altLang="en-US"/>
              <a:t>两个变量的协方差</a:t>
            </a:r>
            <a:endParaRPr 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09D53F7-B691-4BC9-899A-F2CD746435F3}"/>
                  </a:ext>
                </a:extLst>
              </p:cNvPr>
              <p:cNvSpPr>
                <a:spLocks noGrp="1"/>
              </p:cNvSpPr>
              <p:nvPr>
                <p:ph idx="1"/>
              </p:nvPr>
            </p:nvSpPr>
            <p:spPr/>
            <p:txBody>
              <a:bodyPr/>
              <a:lstStyle/>
              <a:p>
                <a:pPr>
                  <a:lnSpc>
                    <a:spcPct val="80000"/>
                  </a:lnSpc>
                </a:pPr>
                <a:r>
                  <a:rPr lang="en-US" altLang="en-US" sz="2400" b="1" dirty="0">
                    <a:ea typeface="STKaiti" panose="02010600040101010101" pitchFamily="2" charset="-122"/>
                  </a:rPr>
                  <a:t>独立性</a:t>
                </a:r>
                <a:r>
                  <a:rPr lang="en-US" altLang="en-US" sz="2400" dirty="0">
                    <a:ea typeface="STKaiti" panose="02010600040101010101" pitchFamily="2" charset="-122"/>
                  </a:rPr>
                  <a:t>：如果X</a:t>
                </a:r>
                <a:r>
                  <a:rPr lang="en-US" altLang="en-US" sz="2400" baseline="-25000" dirty="0">
                    <a:ea typeface="STKaiti" panose="02010600040101010101" pitchFamily="2" charset="-122"/>
                  </a:rPr>
                  <a:t>1</a:t>
                </a:r>
                <a:r>
                  <a:rPr lang="en-US" altLang="en-US" sz="2400" dirty="0">
                    <a:ea typeface="STKaiti" panose="02010600040101010101" pitchFamily="2" charset="-122"/>
                  </a:rPr>
                  <a:t> 和X</a:t>
                </a:r>
                <a:r>
                  <a:rPr lang="en-US" altLang="en-US" sz="2400" baseline="-25000" dirty="0">
                    <a:ea typeface="STKaiti" panose="02010600040101010101" pitchFamily="2" charset="-122"/>
                  </a:rPr>
                  <a:t>2 </a:t>
                </a:r>
                <a:r>
                  <a:rPr lang="en-US" altLang="en-US" sz="2400" dirty="0">
                    <a:ea typeface="STKaiti" panose="02010600040101010101" pitchFamily="2" charset="-122"/>
                  </a:rPr>
                  <a:t> 是</a:t>
                </a:r>
                <a:r>
                  <a:rPr lang="en-US" altLang="en-US" sz="2400" baseline="-25000" dirty="0">
                    <a:ea typeface="STKaiti" panose="02010600040101010101" pitchFamily="2" charset="-122"/>
                  </a:rPr>
                  <a:t> </a:t>
                </a:r>
                <a:r>
                  <a:rPr lang="en-US" altLang="en-US" sz="2400" dirty="0">
                    <a:ea typeface="STKaiti" panose="02010600040101010101" pitchFamily="2" charset="-122"/>
                  </a:rPr>
                  <a:t> 独立的，则σ</a:t>
                </a:r>
                <a:r>
                  <a:rPr lang="en-US" altLang="en-US" sz="2400" baseline="-25000" dirty="0">
                    <a:ea typeface="STKaiti" panose="02010600040101010101" pitchFamily="2" charset="-122"/>
                  </a:rPr>
                  <a:t>12</a:t>
                </a:r>
                <a:r>
                  <a:rPr lang="en-US" altLang="en-US" sz="2400" dirty="0">
                    <a:ea typeface="STKaiti" panose="02010600040101010101" pitchFamily="2" charset="-122"/>
                  </a:rPr>
                  <a:t> = 0，但反之不成立</a:t>
                </a:r>
              </a:p>
              <a:p>
                <a:pPr lvl="1"/>
                <a:r>
                  <a:rPr lang="en-US" altLang="en-US" sz="2400" dirty="0">
                    <a:ea typeface="STKaiti" panose="02010600040101010101" pitchFamily="2" charset="-122"/>
                  </a:rPr>
                  <a:t>某些随机变量对可能具有协方差为0但不独立</a:t>
                </a:r>
              </a:p>
              <a:p>
                <a:pPr lvl="1"/>
                <a:r>
                  <a:rPr lang="en-US" altLang="en-US" sz="2400" dirty="0">
                    <a:ea typeface="STKaiti" panose="02010600040101010101" pitchFamily="2" charset="-122"/>
                  </a:rPr>
                  <a:t>仅在某些额外假设下（例如，数据服从多元正态分布），协方差为0才意味着独立</a:t>
                </a:r>
              </a:p>
              <a:p>
                <a:r>
                  <a:rPr lang="en-US" dirty="0">
                    <a:ea typeface="STKaiti" panose="02010600040101010101" pitchFamily="2" charset="-122"/>
                  </a:rPr>
                  <a:t>示例：</a:t>
                </a:r>
              </a:p>
              <a:p>
                <a:endParaRPr lang="en-US" dirty="0">
                  <a:ea typeface="STKaiti" panose="02010600040101010101" pitchFamily="2" charset="-122"/>
                </a:endParaRPr>
              </a:p>
              <a:p>
                <a:endParaRPr lang="en-US" dirty="0">
                  <a:ea typeface="STKaiti" panose="02010600040101010101" pitchFamily="2" charset="-122"/>
                </a:endParaRPr>
              </a:p>
              <a:p>
                <a:pPr marL="0" indent="0">
                  <a:buNone/>
                </a:pPr>
                <a:endParaRPr lang="en-US" altLang="ko-Kore-KR" dirty="0"/>
              </a:p>
              <a:p>
                <a:pPr marL="0" indent="0">
                  <a:buNone/>
                </a:pPr>
                <a:r>
                  <a:rPr lang="en-US" altLang="ko-Kore-KR" dirty="0"/>
                  <a:t> </a:t>
                </a:r>
                <a14:m>
                  <m:oMath xmlns:m="http://schemas.openxmlformats.org/officeDocument/2006/math">
                    <m:r>
                      <m:rPr>
                        <m:sty m:val="p"/>
                      </m:rPr>
                      <a:rPr lang="en-US" altLang="ko-Kore-KR" sz="2400" b="0" i="0" smtClean="0">
                        <a:solidFill>
                          <a:schemeClr val="tx1"/>
                        </a:solidFill>
                        <a:latin typeface="Cambria Math" panose="02040503050406030204" pitchFamily="18" charset="0"/>
                      </a:rPr>
                      <m:t>E</m:t>
                    </m:r>
                    <m:r>
                      <a:rPr lang="en-US" altLang="ko-Kore-KR" sz="2400" b="0" i="0" smtClean="0">
                        <a:solidFill>
                          <a:schemeClr val="tx1"/>
                        </a:solidFill>
                        <a:latin typeface="Cambria Math" panose="02040503050406030204" pitchFamily="18" charset="0"/>
                      </a:rPr>
                      <m:t>(</m:t>
                    </m:r>
                    <m:sSub>
                      <m:sSubPr>
                        <m:ctrlPr>
                          <a:rPr lang="en-US" altLang="ko-Kore-KR" sz="2400" i="1" smtClean="0">
                            <a:solidFill>
                              <a:schemeClr val="tx1"/>
                            </a:solidFill>
                            <a:latin typeface="Cambria Math" panose="02040503050406030204" pitchFamily="18" charset="0"/>
                          </a:rPr>
                        </m:ctrlPr>
                      </m:sSubPr>
                      <m:e>
                        <m:r>
                          <a:rPr lang="en-US" altLang="ko-Kore-KR" sz="2400" b="0" i="1">
                            <a:solidFill>
                              <a:schemeClr val="tx1"/>
                            </a:solidFill>
                            <a:latin typeface="Cambria Math" panose="02040503050406030204" pitchFamily="18" charset="0"/>
                          </a:rPr>
                          <m:t>𝑋</m:t>
                        </m:r>
                      </m:e>
                      <m:sub>
                        <m:r>
                          <a:rPr lang="en-US" altLang="ko-Kore-KR" sz="2400" b="0" i="1" smtClean="0">
                            <a:solidFill>
                              <a:schemeClr val="tx1"/>
                            </a:solidFill>
                            <a:latin typeface="Cambria Math" panose="02040503050406030204" pitchFamily="18" charset="0"/>
                          </a:rPr>
                          <m:t>1</m:t>
                        </m:r>
                      </m:sub>
                    </m:sSub>
                    <m:r>
                      <a:rPr lang="en-US" altLang="ko-Kore-KR" sz="2400" b="0" i="1" smtClean="0">
                        <a:solidFill>
                          <a:schemeClr val="tx1"/>
                        </a:solidFill>
                        <a:latin typeface="Cambria Math" panose="02040503050406030204" pitchFamily="18" charset="0"/>
                      </a:rPr>
                      <m:t>)</m:t>
                    </m:r>
                  </m:oMath>
                </a14:m>
                <a:r>
                  <a:rPr lang="en-US" altLang="ko-Kore-KR" sz="2400" dirty="0">
                    <a:ea typeface="STKaiti" panose="02010600040101010101" pitchFamily="2" charset="-122"/>
                  </a:rPr>
                  <a:t>=?</a:t>
                </a:r>
              </a:p>
              <a:p>
                <a:pPr marL="0" indent="0">
                  <a:buNone/>
                </a:pPr>
                <a:r>
                  <a:rPr lang="en-US" altLang="ko-Kore-KR" sz="2400" dirty="0">
                    <a:ea typeface="STKaiti" panose="02010600040101010101" pitchFamily="2" charset="-122"/>
                  </a:rPr>
                  <a:t> </a:t>
                </a:r>
                <a14:m>
                  <m:oMath xmlns:m="http://schemas.openxmlformats.org/officeDocument/2006/math">
                    <m:r>
                      <m:rPr>
                        <m:sty m:val="p"/>
                      </m:rPr>
                      <a:rPr lang="en-US" altLang="ko-Kore-KR" sz="2400">
                        <a:latin typeface="Cambria Math" panose="02040503050406030204" pitchFamily="18" charset="0"/>
                      </a:rPr>
                      <m:t>E</m:t>
                    </m:r>
                    <m:r>
                      <a:rPr lang="en-US" altLang="ko-Kore-KR" sz="2400">
                        <a:latin typeface="Cambria Math" panose="02040503050406030204" pitchFamily="18" charset="0"/>
                      </a:rPr>
                      <m:t>(</m:t>
                    </m:r>
                    <m:sSub>
                      <m:sSubPr>
                        <m:ctrlPr>
                          <a:rPr lang="en-US" altLang="ko-Kore-KR" sz="2400" i="1">
                            <a:latin typeface="Cambria Math" panose="02040503050406030204" pitchFamily="18" charset="0"/>
                          </a:rPr>
                        </m:ctrlPr>
                      </m:sSubPr>
                      <m:e>
                        <m:r>
                          <a:rPr lang="en-US" altLang="ko-Kore-KR" sz="2400" i="1">
                            <a:latin typeface="Cambria Math" panose="02040503050406030204" pitchFamily="18" charset="0"/>
                          </a:rPr>
                          <m:t>𝑋</m:t>
                        </m:r>
                      </m:e>
                      <m:sub>
                        <m:r>
                          <a:rPr lang="en-US" altLang="ko-Kore-KR" sz="2400" b="0" i="1" smtClean="0">
                            <a:latin typeface="Cambria Math" panose="02040503050406030204" pitchFamily="18" charset="0"/>
                          </a:rPr>
                          <m:t>2</m:t>
                        </m:r>
                      </m:sub>
                    </m:sSub>
                    <m:r>
                      <a:rPr lang="en-US" altLang="ko-Kore-KR" sz="2400" i="1">
                        <a:latin typeface="Cambria Math" panose="02040503050406030204" pitchFamily="18" charset="0"/>
                      </a:rPr>
                      <m:t>)</m:t>
                    </m:r>
                  </m:oMath>
                </a14:m>
                <a:r>
                  <a:rPr lang="en-US" altLang="ko-Kore-KR" sz="2400" dirty="0">
                    <a:ea typeface="STKaiti" panose="02010600040101010101" pitchFamily="2" charset="-122"/>
                  </a:rPr>
                  <a:t>=?</a:t>
                </a:r>
              </a:p>
              <a:p>
                <a:pPr marL="0" indent="0">
                  <a:buNone/>
                </a:pPr>
                <a:r>
                  <a:rPr lang="en-US" altLang="ko-Kore-KR" sz="2400" dirty="0">
                    <a:ea typeface="STKaiti" panose="02010600040101010101" pitchFamily="2" charset="-122"/>
                  </a:rPr>
                  <a:t> </a:t>
                </a:r>
                <a14:m>
                  <m:oMath xmlns:m="http://schemas.openxmlformats.org/officeDocument/2006/math">
                    <m:r>
                      <m:rPr>
                        <m:sty m:val="p"/>
                      </m:rPr>
                      <a:rPr lang="en-US" altLang="ko-Kore-KR" sz="2400">
                        <a:latin typeface="Cambria Math" panose="02040503050406030204" pitchFamily="18" charset="0"/>
                      </a:rPr>
                      <m:t>E</m:t>
                    </m:r>
                    <m:r>
                      <a:rPr lang="en-US" altLang="ko-Kore-KR" sz="2400">
                        <a:latin typeface="Cambria Math" panose="02040503050406030204" pitchFamily="18" charset="0"/>
                      </a:rPr>
                      <m:t>(</m:t>
                    </m:r>
                    <m:sSub>
                      <m:sSubPr>
                        <m:ctrlPr>
                          <a:rPr lang="en-US" altLang="ko-Kore-KR" sz="2400" i="1">
                            <a:latin typeface="Cambria Math" panose="02040503050406030204" pitchFamily="18" charset="0"/>
                          </a:rPr>
                        </m:ctrlPr>
                      </m:sSubPr>
                      <m:e>
                        <m:r>
                          <a:rPr lang="en-US" altLang="ko-Kore-KR" sz="2400" i="1">
                            <a:latin typeface="Cambria Math" panose="02040503050406030204" pitchFamily="18" charset="0"/>
                          </a:rPr>
                          <m:t>𝑋</m:t>
                        </m:r>
                      </m:e>
                      <m:sub>
                        <m:r>
                          <a:rPr lang="en-US" altLang="ko-Kore-KR" sz="2400" i="1">
                            <a:latin typeface="Cambria Math" panose="02040503050406030204" pitchFamily="18" charset="0"/>
                          </a:rPr>
                          <m:t>1</m:t>
                        </m:r>
                      </m:sub>
                    </m:sSub>
                    <m:sSub>
                      <m:sSubPr>
                        <m:ctrlPr>
                          <a:rPr lang="en-US" altLang="ko-Kore-KR" sz="2400" i="1">
                            <a:latin typeface="Cambria Math" panose="02040503050406030204" pitchFamily="18" charset="0"/>
                          </a:rPr>
                        </m:ctrlPr>
                      </m:sSubPr>
                      <m:e>
                        <m:r>
                          <a:rPr lang="en-US" altLang="ko-Kore-KR" sz="2400" i="1">
                            <a:latin typeface="Cambria Math" panose="02040503050406030204" pitchFamily="18" charset="0"/>
                          </a:rPr>
                          <m:t>𝑋</m:t>
                        </m:r>
                      </m:e>
                      <m:sub>
                        <m:r>
                          <a:rPr lang="en-US" altLang="ko-Kore-KR" sz="2400" i="1">
                            <a:latin typeface="Cambria Math" panose="02040503050406030204" pitchFamily="18" charset="0"/>
                          </a:rPr>
                          <m:t>2</m:t>
                        </m:r>
                      </m:sub>
                    </m:sSub>
                    <m:r>
                      <a:rPr lang="en-US" altLang="ko-Kore-KR" sz="2400" i="1">
                        <a:latin typeface="Cambria Math" panose="02040503050406030204" pitchFamily="18" charset="0"/>
                      </a:rPr>
                      <m:t>)</m:t>
                    </m:r>
                  </m:oMath>
                </a14:m>
                <a:r>
                  <a:rPr lang="en-US" altLang="ko-Kore-KR" sz="2400" dirty="0">
                    <a:ea typeface="STKaiti" panose="02010600040101010101" pitchFamily="2" charset="-122"/>
                  </a:rPr>
                  <a:t>=?</a:t>
                </a:r>
              </a:p>
            </p:txBody>
          </p:sp>
        </mc:Choice>
        <mc:Fallback xmlns="">
          <p:sp>
            <p:nvSpPr>
              <p:cNvPr id="3" name="内容占位符 2">
                <a:extLst>
                  <a:ext uri="{FF2B5EF4-FFF2-40B4-BE49-F238E27FC236}">
                    <a16:creationId xmlns:a16="http://schemas.microsoft.com/office/drawing/2014/main" id="{109D53F7-B691-4BC9-899A-F2CD746435F3}"/>
                  </a:ext>
                </a:extLst>
              </p:cNvPr>
              <p:cNvSpPr>
                <a:spLocks noGrp="1" noRot="1" noChangeAspect="1" noMove="1" noResize="1" noEditPoints="1" noAdjustHandles="1" noChangeArrowheads="1" noChangeShapeType="1" noTextEdit="1"/>
              </p:cNvSpPr>
              <p:nvPr>
                <p:ph idx="1"/>
              </p:nvPr>
            </p:nvSpPr>
            <p:spPr>
              <a:blipFill>
                <a:blip r:embed="rId2"/>
                <a:stretch>
                  <a:fillRect l="-556" t="-2594"/>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CF100699-85CA-42EA-A20B-62E3F5D6B113}"/>
                  </a:ext>
                </a:extLst>
              </p:cNvPr>
              <p:cNvGraphicFramePr>
                <a:graphicFrameLocks noGrp="1"/>
              </p:cNvGraphicFramePr>
              <p:nvPr>
                <p:extLst>
                  <p:ext uri="{D42A27DB-BD31-4B8C-83A1-F6EECF244321}">
                    <p14:modId xmlns:p14="http://schemas.microsoft.com/office/powerpoint/2010/main" val="4115762589"/>
                  </p:ext>
                </p:extLst>
              </p:nvPr>
            </p:nvGraphicFramePr>
            <p:xfrm>
              <a:off x="907085" y="3429000"/>
              <a:ext cx="3386937" cy="892454"/>
            </p:xfrm>
            <a:graphic>
              <a:graphicData uri="http://schemas.openxmlformats.org/drawingml/2006/table">
                <a:tbl>
                  <a:tblPr firstRow="1" bandRow="1">
                    <a:tableStyleId>{5C22544A-7EE6-4342-B048-85BDC9FD1C3A}</a:tableStyleId>
                  </a:tblPr>
                  <a:tblGrid>
                    <a:gridCol w="519379">
                      <a:extLst>
                        <a:ext uri="{9D8B030D-6E8A-4147-A177-3AD203B41FA5}">
                          <a16:colId xmlns:a16="http://schemas.microsoft.com/office/drawing/2014/main" val="1806012423"/>
                        </a:ext>
                      </a:extLst>
                    </a:gridCol>
                    <a:gridCol w="1199884">
                      <a:extLst>
                        <a:ext uri="{9D8B030D-6E8A-4147-A177-3AD203B41FA5}">
                          <a16:colId xmlns:a16="http://schemas.microsoft.com/office/drawing/2014/main" val="3246137271"/>
                        </a:ext>
                      </a:extLst>
                    </a:gridCol>
                    <a:gridCol w="819732">
                      <a:extLst>
                        <a:ext uri="{9D8B030D-6E8A-4147-A177-3AD203B41FA5}">
                          <a16:colId xmlns:a16="http://schemas.microsoft.com/office/drawing/2014/main" val="3327408095"/>
                        </a:ext>
                      </a:extLst>
                    </a:gridCol>
                    <a:gridCol w="847942">
                      <a:extLst>
                        <a:ext uri="{9D8B030D-6E8A-4147-A177-3AD203B41FA5}">
                          <a16:colId xmlns:a16="http://schemas.microsoft.com/office/drawing/2014/main" val="2945363524"/>
                        </a:ext>
                      </a:extLst>
                    </a:gridCol>
                  </a:tblGrid>
                  <a:tr h="446227">
                    <a:tc>
                      <a:txBody>
                        <a:bodyPr/>
                        <a:lstStyle/>
                        <a:p>
                          <a:pPr marL="0" algn="ctr" defTabSz="914354" rtl="0" eaLnBrk="1" latinLnBrk="0" hangingPunct="1"/>
                          <a14:m>
                            <m:oMathPara xmlns:m="http://schemas.openxmlformats.org/officeDocument/2006/math">
                              <m:oMathParaPr>
                                <m:jc m:val="centerGroup"/>
                              </m:oMathParaPr>
                              <m:oMath xmlns:m="http://schemas.openxmlformats.org/officeDocument/2006/math">
                                <m:sSub>
                                  <m:sSubPr>
                                    <m:ctrlPr>
                                      <a:rPr lang="en-US" sz="1900" b="1" i="1" kern="1200" smtClean="0">
                                        <a:solidFill>
                                          <a:srgbClr val="002060"/>
                                        </a:solidFill>
                                        <a:latin typeface="Cambria Math" panose="02040503050406030204" pitchFamily="18" charset="0"/>
                                        <a:ea typeface="+mn-ea"/>
                                        <a:cs typeface="+mn-cs"/>
                                      </a:rPr>
                                    </m:ctrlPr>
                                  </m:sSubPr>
                                  <m:e>
                                    <m:r>
                                      <a:rPr lang="en-US" sz="1900" b="1" i="1" kern="1200" smtClean="0">
                                        <a:solidFill>
                                          <a:srgbClr val="002060"/>
                                        </a:solidFill>
                                        <a:latin typeface="Cambria Math" panose="02040503050406030204" pitchFamily="18" charset="0"/>
                                        <a:ea typeface="+mn-ea"/>
                                        <a:cs typeface="+mn-cs"/>
                                      </a:rPr>
                                      <m:t>𝑿</m:t>
                                    </m:r>
                                  </m:e>
                                  <m:sub>
                                    <m:r>
                                      <a:rPr lang="en-US" sz="1900" b="1" i="1" kern="1200" smtClean="0">
                                        <a:solidFill>
                                          <a:srgbClr val="002060"/>
                                        </a:solidFill>
                                        <a:latin typeface="Cambria Math" panose="02040503050406030204" pitchFamily="18" charset="0"/>
                                        <a:ea typeface="+mn-ea"/>
                                        <a:cs typeface="+mn-cs"/>
                                      </a:rPr>
                                      <m:t>𝟏</m:t>
                                    </m:r>
                                  </m:sub>
                                </m:sSub>
                              </m:oMath>
                            </m:oMathPara>
                          </a14:m>
                          <a:endParaRPr lang="en-US" sz="1900" b="1" kern="1200" dirty="0">
                            <a:solidFill>
                              <a:srgbClr val="002060"/>
                            </a:solidFill>
                            <a:latin typeface="STKaiti" panose="02010600040101010101" pitchFamily="2" charset="-122"/>
                            <a:ea typeface="STKaiti" panose="02010600040101010101" pitchFamily="2" charset="-122"/>
                            <a:cs typeface="+mn-cs"/>
                          </a:endParaRPr>
                        </a:p>
                      </a:txBody>
                      <a:tcPr/>
                    </a:tc>
                    <a:tc>
                      <a:txBody>
                        <a:bodyPr/>
                        <a:lstStyle/>
                        <a:p>
                          <a:pPr algn="ctr"/>
                          <a:r>
                            <a:rPr lang="en-US" b="1" dirty="0">
                              <a:solidFill>
                                <a:srgbClr val="002060"/>
                              </a:solidFill>
                              <a:latin typeface="STKaiti" panose="02010600040101010101" pitchFamily="2" charset="-122"/>
                              <a:ea typeface="STKaiti" panose="02010600040101010101" pitchFamily="2" charset="-122"/>
                            </a:rPr>
                            <a:t>1</a:t>
                          </a:r>
                        </a:p>
                      </a:txBody>
                      <a:tcPr/>
                    </a:tc>
                    <a:tc gridSpan="2">
                      <a:txBody>
                        <a:bodyPr/>
                        <a:lstStyle/>
                        <a:p>
                          <a:pPr algn="ctr"/>
                          <a:r>
                            <a:rPr lang="en-US" b="1" dirty="0">
                              <a:solidFill>
                                <a:srgbClr val="002060"/>
                              </a:solidFill>
                              <a:latin typeface="STKaiti" panose="02010600040101010101" pitchFamily="2" charset="-122"/>
                              <a:ea typeface="STKaiti" panose="02010600040101010101" pitchFamily="2" charset="-122"/>
                            </a:rPr>
                            <a:t>-1</a:t>
                          </a:r>
                        </a:p>
                      </a:txBody>
                      <a:tcPr/>
                    </a:tc>
                    <a:tc hMerge="1">
                      <a:txBody>
                        <a:bodyPr/>
                        <a:lstStyle/>
                        <a:p>
                          <a:endParaRPr lang="en-US"/>
                        </a:p>
                      </a:txBody>
                      <a:tcPr/>
                    </a:tc>
                    <a:extLst>
                      <a:ext uri="{0D108BD9-81ED-4DB2-BD59-A6C34878D82A}">
                        <a16:rowId xmlns:a16="http://schemas.microsoft.com/office/drawing/2014/main" val="3746194750"/>
                      </a:ext>
                    </a:extLst>
                  </a:tr>
                  <a:tr h="446227">
                    <a:tc>
                      <a:txBody>
                        <a:bodyPr/>
                        <a:lstStyle/>
                        <a:p>
                          <a:pPr marL="0" algn="ctr" defTabSz="914354" rtl="0" eaLnBrk="1" latinLnBrk="0" hangingPunct="1"/>
                          <a14:m>
                            <m:oMathPara xmlns:m="http://schemas.openxmlformats.org/officeDocument/2006/math">
                              <m:oMathParaPr>
                                <m:jc m:val="centerGroup"/>
                              </m:oMathParaPr>
                              <m:oMath xmlns:m="http://schemas.openxmlformats.org/officeDocument/2006/math">
                                <m:sSub>
                                  <m:sSubPr>
                                    <m:ctrlPr>
                                      <a:rPr lang="en-US" sz="1900" b="1" i="1" kern="1200" smtClean="0">
                                        <a:solidFill>
                                          <a:srgbClr val="002060"/>
                                        </a:solidFill>
                                        <a:latin typeface="Cambria Math" panose="02040503050406030204" pitchFamily="18" charset="0"/>
                                        <a:ea typeface="+mn-ea"/>
                                        <a:cs typeface="+mn-cs"/>
                                      </a:rPr>
                                    </m:ctrlPr>
                                  </m:sSubPr>
                                  <m:e>
                                    <m:r>
                                      <a:rPr lang="en-US" sz="1900" b="1" i="1" kern="1200" smtClean="0">
                                        <a:solidFill>
                                          <a:srgbClr val="002060"/>
                                        </a:solidFill>
                                        <a:latin typeface="Cambria Math" panose="02040503050406030204" pitchFamily="18" charset="0"/>
                                        <a:ea typeface="+mn-ea"/>
                                        <a:cs typeface="+mn-cs"/>
                                      </a:rPr>
                                      <m:t>𝑿</m:t>
                                    </m:r>
                                  </m:e>
                                  <m:sub>
                                    <m:r>
                                      <a:rPr lang="en-US" sz="1900" b="1" i="1" kern="1200" smtClean="0">
                                        <a:solidFill>
                                          <a:srgbClr val="002060"/>
                                        </a:solidFill>
                                        <a:latin typeface="Cambria Math" panose="02040503050406030204" pitchFamily="18" charset="0"/>
                                        <a:ea typeface="+mn-ea"/>
                                        <a:cs typeface="+mn-cs"/>
                                      </a:rPr>
                                      <m:t>𝟐</m:t>
                                    </m:r>
                                  </m:sub>
                                </m:sSub>
                              </m:oMath>
                            </m:oMathPara>
                          </a14:m>
                          <a:endParaRPr lang="en-US" sz="1900" b="1" kern="1200" dirty="0">
                            <a:solidFill>
                              <a:srgbClr val="002060"/>
                            </a:solidFill>
                            <a:latin typeface="STKaiti" panose="02010600040101010101" pitchFamily="2" charset="-122"/>
                            <a:ea typeface="STKaiti" panose="02010600040101010101" pitchFamily="2" charset="-122"/>
                            <a:cs typeface="+mn-cs"/>
                          </a:endParaRPr>
                        </a:p>
                      </a:txBody>
                      <a:tcPr/>
                    </a:tc>
                    <a:tc>
                      <a:txBody>
                        <a:bodyPr/>
                        <a:lstStyle/>
                        <a:p>
                          <a:pPr algn="ctr"/>
                          <a:r>
                            <a:rPr lang="en-US" b="1" dirty="0">
                              <a:solidFill>
                                <a:srgbClr val="002060"/>
                              </a:solidFill>
                              <a:latin typeface="STKaiti" panose="02010600040101010101" pitchFamily="2" charset="-122"/>
                              <a:ea typeface="STKaiti" panose="02010600040101010101" pitchFamily="2" charset="-122"/>
                            </a:rPr>
                            <a:t>0</a:t>
                          </a:r>
                        </a:p>
                      </a:txBody>
                      <a:tcPr/>
                    </a:tc>
                    <a:tc>
                      <a:txBody>
                        <a:bodyPr/>
                        <a:lstStyle/>
                        <a:p>
                          <a:pPr marL="0" algn="ctr" defTabSz="914354" rtl="0" eaLnBrk="1" latinLnBrk="0" hangingPunct="1"/>
                          <a:r>
                            <a:rPr lang="en-US" sz="1900" b="1" kern="1200" dirty="0">
                              <a:solidFill>
                                <a:srgbClr val="002060"/>
                              </a:solidFill>
                              <a:latin typeface="STKaiti" panose="02010600040101010101" pitchFamily="2" charset="-122"/>
                              <a:ea typeface="STKaiti" panose="02010600040101010101" pitchFamily="2" charset="-122"/>
                              <a:cs typeface="+mn-cs"/>
                            </a:rPr>
                            <a:t>1</a:t>
                          </a:r>
                        </a:p>
                      </a:txBody>
                      <a:tcPr/>
                    </a:tc>
                    <a:tc>
                      <a:txBody>
                        <a:bodyPr/>
                        <a:lstStyle/>
                        <a:p>
                          <a:pPr algn="ctr"/>
                          <a:r>
                            <a:rPr lang="en-US" b="1" dirty="0">
                              <a:solidFill>
                                <a:srgbClr val="002060"/>
                              </a:solidFill>
                              <a:latin typeface="STKaiti" panose="02010600040101010101" pitchFamily="2" charset="-122"/>
                              <a:ea typeface="STKaiti" panose="02010600040101010101" pitchFamily="2" charset="-122"/>
                            </a:rPr>
                            <a:t>-1</a:t>
                          </a:r>
                        </a:p>
                      </a:txBody>
                      <a:tcPr/>
                    </a:tc>
                    <a:extLst>
                      <a:ext uri="{0D108BD9-81ED-4DB2-BD59-A6C34878D82A}">
                        <a16:rowId xmlns:a16="http://schemas.microsoft.com/office/drawing/2014/main" val="1930878683"/>
                      </a:ext>
                    </a:extLst>
                  </a:tr>
                </a:tbl>
              </a:graphicData>
            </a:graphic>
          </p:graphicFrame>
        </mc:Choice>
        <mc:Fallback xmlns="">
          <p:graphicFrame>
            <p:nvGraphicFramePr>
              <p:cNvPr id="4" name="表格 3">
                <a:extLst>
                  <a:ext uri="{FF2B5EF4-FFF2-40B4-BE49-F238E27FC236}">
                    <a16:creationId xmlns:a16="http://schemas.microsoft.com/office/drawing/2014/main" id="{CF100699-85CA-42EA-A20B-62E3F5D6B113}"/>
                  </a:ext>
                </a:extLst>
              </p:cNvPr>
              <p:cNvGraphicFramePr>
                <a:graphicFrameLocks noGrp="1"/>
              </p:cNvGraphicFramePr>
              <p:nvPr>
                <p:extLst>
                  <p:ext uri="{D42A27DB-BD31-4B8C-83A1-F6EECF244321}">
                    <p14:modId xmlns:p14="http://schemas.microsoft.com/office/powerpoint/2010/main" val="4115762589"/>
                  </p:ext>
                </p:extLst>
              </p:nvPr>
            </p:nvGraphicFramePr>
            <p:xfrm>
              <a:off x="907085" y="3429000"/>
              <a:ext cx="3386937" cy="892454"/>
            </p:xfrm>
            <a:graphic>
              <a:graphicData uri="http://schemas.openxmlformats.org/drawingml/2006/table">
                <a:tbl>
                  <a:tblPr firstRow="1" bandRow="1">
                    <a:tableStyleId>{5C22544A-7EE6-4342-B048-85BDC9FD1C3A}</a:tableStyleId>
                  </a:tblPr>
                  <a:tblGrid>
                    <a:gridCol w="519379">
                      <a:extLst>
                        <a:ext uri="{9D8B030D-6E8A-4147-A177-3AD203B41FA5}">
                          <a16:colId xmlns:a16="http://schemas.microsoft.com/office/drawing/2014/main" val="1806012423"/>
                        </a:ext>
                      </a:extLst>
                    </a:gridCol>
                    <a:gridCol w="1199884">
                      <a:extLst>
                        <a:ext uri="{9D8B030D-6E8A-4147-A177-3AD203B41FA5}">
                          <a16:colId xmlns:a16="http://schemas.microsoft.com/office/drawing/2014/main" val="3246137271"/>
                        </a:ext>
                      </a:extLst>
                    </a:gridCol>
                    <a:gridCol w="819732">
                      <a:extLst>
                        <a:ext uri="{9D8B030D-6E8A-4147-A177-3AD203B41FA5}">
                          <a16:colId xmlns:a16="http://schemas.microsoft.com/office/drawing/2014/main" val="3327408095"/>
                        </a:ext>
                      </a:extLst>
                    </a:gridCol>
                    <a:gridCol w="847942">
                      <a:extLst>
                        <a:ext uri="{9D8B030D-6E8A-4147-A177-3AD203B41FA5}">
                          <a16:colId xmlns:a16="http://schemas.microsoft.com/office/drawing/2014/main" val="2945363524"/>
                        </a:ext>
                      </a:extLst>
                    </a:gridCol>
                  </a:tblGrid>
                  <a:tr h="446227">
                    <a:tc>
                      <a:txBody>
                        <a:bodyPr/>
                        <a:lstStyle/>
                        <a:p>
                          <a:endParaRPr lang="ko-Kore-KR"/>
                        </a:p>
                      </a:txBody>
                      <a:tcPr>
                        <a:blipFill>
                          <a:blip r:embed="rId3"/>
                          <a:stretch>
                            <a:fillRect l="-2439" t="-8333" r="-558537" b="-105556"/>
                          </a:stretch>
                        </a:blipFill>
                      </a:tcPr>
                    </a:tc>
                    <a:tc>
                      <a:txBody>
                        <a:bodyPr/>
                        <a:lstStyle/>
                        <a:p>
                          <a:pPr algn="ctr"/>
                          <a:r>
                            <a:rPr lang="en-US" b="1" dirty="0">
                              <a:solidFill>
                                <a:srgbClr val="002060"/>
                              </a:solidFill>
                              <a:latin typeface="STKaiti" panose="02010600040101010101" pitchFamily="2" charset="-122"/>
                              <a:ea typeface="STKaiti" panose="02010600040101010101" pitchFamily="2" charset="-122"/>
                            </a:rPr>
                            <a:t>1</a:t>
                          </a:r>
                        </a:p>
                      </a:txBody>
                      <a:tcPr/>
                    </a:tc>
                    <a:tc gridSpan="2">
                      <a:txBody>
                        <a:bodyPr/>
                        <a:lstStyle/>
                        <a:p>
                          <a:pPr algn="ctr"/>
                          <a:r>
                            <a:rPr lang="en-US" b="1" dirty="0">
                              <a:solidFill>
                                <a:srgbClr val="002060"/>
                              </a:solidFill>
                              <a:latin typeface="STKaiti" panose="02010600040101010101" pitchFamily="2" charset="-122"/>
                              <a:ea typeface="STKaiti" panose="02010600040101010101" pitchFamily="2" charset="-122"/>
                            </a:rPr>
                            <a:t>-1</a:t>
                          </a:r>
                        </a:p>
                      </a:txBody>
                      <a:tcPr/>
                    </a:tc>
                    <a:tc hMerge="1">
                      <a:txBody>
                        <a:bodyPr/>
                        <a:lstStyle/>
                        <a:p>
                          <a:endParaRPr lang="en-US"/>
                        </a:p>
                      </a:txBody>
                      <a:tcPr/>
                    </a:tc>
                    <a:extLst>
                      <a:ext uri="{0D108BD9-81ED-4DB2-BD59-A6C34878D82A}">
                        <a16:rowId xmlns:a16="http://schemas.microsoft.com/office/drawing/2014/main" val="3746194750"/>
                      </a:ext>
                    </a:extLst>
                  </a:tr>
                  <a:tr h="446227">
                    <a:tc>
                      <a:txBody>
                        <a:bodyPr/>
                        <a:lstStyle/>
                        <a:p>
                          <a:endParaRPr lang="ko-Kore-KR"/>
                        </a:p>
                      </a:txBody>
                      <a:tcPr>
                        <a:blipFill>
                          <a:blip r:embed="rId3"/>
                          <a:stretch>
                            <a:fillRect l="-2439" t="-111429" r="-558537" b="-8571"/>
                          </a:stretch>
                        </a:blipFill>
                      </a:tcPr>
                    </a:tc>
                    <a:tc>
                      <a:txBody>
                        <a:bodyPr/>
                        <a:lstStyle/>
                        <a:p>
                          <a:pPr algn="ctr"/>
                          <a:r>
                            <a:rPr lang="en-US" b="1" dirty="0">
                              <a:solidFill>
                                <a:srgbClr val="002060"/>
                              </a:solidFill>
                              <a:latin typeface="STKaiti" panose="02010600040101010101" pitchFamily="2" charset="-122"/>
                              <a:ea typeface="STKaiti" panose="02010600040101010101" pitchFamily="2" charset="-122"/>
                            </a:rPr>
                            <a:t>0</a:t>
                          </a:r>
                        </a:p>
                      </a:txBody>
                      <a:tcPr/>
                    </a:tc>
                    <a:tc>
                      <a:txBody>
                        <a:bodyPr/>
                        <a:lstStyle/>
                        <a:p>
                          <a:pPr marL="0" algn="ctr" defTabSz="914354" rtl="0" eaLnBrk="1" latinLnBrk="0" hangingPunct="1"/>
                          <a:r>
                            <a:rPr lang="en-US" sz="1900" b="1" kern="1200" dirty="0">
                              <a:solidFill>
                                <a:srgbClr val="002060"/>
                              </a:solidFill>
                              <a:latin typeface="STKaiti" panose="02010600040101010101" pitchFamily="2" charset="-122"/>
                              <a:ea typeface="STKaiti" panose="02010600040101010101" pitchFamily="2" charset="-122"/>
                              <a:cs typeface="+mn-cs"/>
                            </a:rPr>
                            <a:t>1</a:t>
                          </a:r>
                        </a:p>
                      </a:txBody>
                      <a:tcPr/>
                    </a:tc>
                    <a:tc>
                      <a:txBody>
                        <a:bodyPr/>
                        <a:lstStyle/>
                        <a:p>
                          <a:pPr algn="ctr"/>
                          <a:r>
                            <a:rPr lang="en-US" b="1" dirty="0">
                              <a:solidFill>
                                <a:srgbClr val="002060"/>
                              </a:solidFill>
                              <a:latin typeface="STKaiti" panose="02010600040101010101" pitchFamily="2" charset="-122"/>
                              <a:ea typeface="STKaiti" panose="02010600040101010101" pitchFamily="2" charset="-122"/>
                            </a:rPr>
                            <a:t>-1</a:t>
                          </a:r>
                        </a:p>
                      </a:txBody>
                      <a:tcPr/>
                    </a:tc>
                    <a:extLst>
                      <a:ext uri="{0D108BD9-81ED-4DB2-BD59-A6C34878D82A}">
                        <a16:rowId xmlns:a16="http://schemas.microsoft.com/office/drawing/2014/main" val="1930878683"/>
                      </a:ext>
                    </a:extLst>
                  </a:tr>
                </a:tbl>
              </a:graphicData>
            </a:graphic>
          </p:graphicFrame>
        </mc:Fallback>
      </mc:AlternateContent>
      <p:graphicFrame>
        <p:nvGraphicFramePr>
          <p:cNvPr id="5" name="Object 9">
            <a:extLst>
              <a:ext uri="{FF2B5EF4-FFF2-40B4-BE49-F238E27FC236}">
                <a16:creationId xmlns:a16="http://schemas.microsoft.com/office/drawing/2014/main" id="{1148342A-9497-4E68-A928-D9BED851CB2F}"/>
              </a:ext>
            </a:extLst>
          </p:cNvPr>
          <p:cNvGraphicFramePr>
            <a:graphicFrameLocks noChangeAspect="1"/>
          </p:cNvGraphicFramePr>
          <p:nvPr/>
        </p:nvGraphicFramePr>
        <p:xfrm>
          <a:off x="641745" y="4368931"/>
          <a:ext cx="8116887" cy="422275"/>
        </p:xfrm>
        <a:graphic>
          <a:graphicData uri="http://schemas.openxmlformats.org/presentationml/2006/ole">
            <mc:AlternateContent xmlns:mc="http://schemas.openxmlformats.org/markup-compatibility/2006">
              <mc:Choice xmlns:v="urn:schemas-microsoft-com:vml" Requires="v">
                <p:oleObj name="Equation" r:id="rId4" imgW="4381200" imgH="228600" progId="Equation.DSMT4">
                  <p:embed/>
                </p:oleObj>
              </mc:Choice>
              <mc:Fallback>
                <p:oleObj name="Equation" r:id="rId4" imgW="4381200" imgH="228600" progId="Equation.DSMT4">
                  <p:embed/>
                  <p:pic>
                    <p:nvPicPr>
                      <p:cNvPr id="5" name="Object 9">
                        <a:extLst>
                          <a:ext uri="{FF2B5EF4-FFF2-40B4-BE49-F238E27FC236}">
                            <a16:creationId xmlns:a16="http://schemas.microsoft.com/office/drawing/2014/main" id="{1148342A-9497-4E68-A928-D9BED851CB2F}"/>
                          </a:ext>
                        </a:extLst>
                      </p:cNvPr>
                      <p:cNvPicPr/>
                      <p:nvPr/>
                    </p:nvPicPr>
                    <p:blipFill>
                      <a:blip r:embed="rId5"/>
                      <a:stretch>
                        <a:fillRect/>
                      </a:stretch>
                    </p:blipFill>
                    <p:spPr>
                      <a:xfrm>
                        <a:off x="641745" y="4368931"/>
                        <a:ext cx="8116887" cy="422275"/>
                      </a:xfrm>
                      <a:prstGeom prst="rect">
                        <a:avLst/>
                      </a:prstGeom>
                    </p:spPr>
                  </p:pic>
                </p:oleObj>
              </mc:Fallback>
            </mc:AlternateContent>
          </a:graphicData>
        </a:graphic>
      </p:graphicFrame>
    </p:spTree>
    <p:extLst>
      <p:ext uri="{BB962C8B-B14F-4D97-AF65-F5344CB8AC3E}">
        <p14:creationId xmlns:p14="http://schemas.microsoft.com/office/powerpoint/2010/main" val="2899822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type="body" idx="1"/>
          </p:nvPr>
        </p:nvSpPr>
        <p:spPr>
          <a:xfrm>
            <a:off x="558089" y="1175180"/>
            <a:ext cx="11369963" cy="5551441"/>
          </a:xfrm>
        </p:spPr>
        <p:txBody>
          <a:bodyPr/>
          <a:lstStyle/>
          <a:p>
            <a:pPr>
              <a:spcAft>
                <a:spcPts val="600"/>
              </a:spcAft>
              <a:defRPr/>
            </a:pPr>
            <a:r>
              <a:rPr lang="en-US" sz="2400" dirty="0">
                <a:ea typeface="STKaiti" panose="02010600040101010101" pitchFamily="2" charset="-122"/>
              </a:rPr>
              <a:t>假设两只股票X</a:t>
            </a:r>
            <a:r>
              <a:rPr lang="en-US" sz="2400" baseline="-25000" dirty="0">
                <a:ea typeface="STKaiti" panose="02010600040101010101" pitchFamily="2" charset="-122"/>
              </a:rPr>
              <a:t>1</a:t>
            </a:r>
            <a:r>
              <a:rPr lang="en-US" sz="2400" dirty="0">
                <a:ea typeface="STKaiti" panose="02010600040101010101" pitchFamily="2" charset="-122"/>
              </a:rPr>
              <a:t> 和X</a:t>
            </a:r>
            <a:r>
              <a:rPr lang="en-US" sz="2400" baseline="-25000" dirty="0">
                <a:ea typeface="STKaiti" panose="02010600040101010101" pitchFamily="2" charset="-122"/>
              </a:rPr>
              <a:t>2</a:t>
            </a:r>
            <a:r>
              <a:rPr lang="en-US" sz="2400" dirty="0">
                <a:ea typeface="STKaiti" panose="02010600040101010101" pitchFamily="2" charset="-122"/>
              </a:rPr>
              <a:t> 在一周内的值如下：  </a:t>
            </a:r>
          </a:p>
          <a:p>
            <a:pPr lvl="2">
              <a:spcAft>
                <a:spcPts val="600"/>
              </a:spcAft>
              <a:defRPr/>
            </a:pPr>
            <a:r>
              <a:rPr lang="en-US" sz="2400" dirty="0">
                <a:ea typeface="STKaiti" panose="02010600040101010101" pitchFamily="2" charset="-122"/>
              </a:rPr>
              <a:t>(2, 5), (3, 8), (5, 10), (4, 11), (6, 14)</a:t>
            </a:r>
          </a:p>
          <a:p>
            <a:pPr>
              <a:spcAft>
                <a:spcPts val="600"/>
              </a:spcAft>
              <a:defRPr/>
            </a:pPr>
            <a:r>
              <a:rPr lang="en-US" sz="2400" dirty="0">
                <a:ea typeface="STKaiti" panose="02010600040101010101" pitchFamily="2" charset="-122"/>
              </a:rPr>
              <a:t>问题：如果这两只股票受同一行业趋势影响，它们的价格会同步上涨还是下跌？</a:t>
            </a:r>
          </a:p>
          <a:p>
            <a:pPr>
              <a:spcAft>
                <a:spcPts val="600"/>
              </a:spcAft>
            </a:pPr>
            <a:r>
              <a:rPr lang="en-US" sz="2400" dirty="0">
                <a:ea typeface="STKaiti" panose="02010600040101010101" pitchFamily="2" charset="-122"/>
              </a:rPr>
              <a:t>协方差公式</a:t>
            </a:r>
          </a:p>
          <a:p>
            <a:pPr>
              <a:spcAft>
                <a:spcPts val="600"/>
              </a:spcAft>
              <a:defRPr/>
            </a:pPr>
            <a:endParaRPr lang="en-US" sz="2400" dirty="0">
              <a:ea typeface="STKaiti" panose="02010600040101010101" pitchFamily="2" charset="-122"/>
            </a:endParaRPr>
          </a:p>
          <a:p>
            <a:pPr>
              <a:spcAft>
                <a:spcPts val="600"/>
              </a:spcAft>
              <a:defRPr/>
            </a:pPr>
            <a:r>
              <a:rPr lang="en-US" sz="2400" dirty="0">
                <a:ea typeface="STKaiti" panose="02010600040101010101" pitchFamily="2" charset="-122"/>
              </a:rPr>
              <a:t>其计算可简化为： </a:t>
            </a:r>
          </a:p>
          <a:p>
            <a:pPr lvl="1">
              <a:spcAft>
                <a:spcPts val="600"/>
              </a:spcAft>
              <a:defRPr/>
            </a:pPr>
            <a:r>
              <a:rPr lang="en-US" sz="2400" dirty="0">
                <a:ea typeface="STKaiti" panose="02010600040101010101" pitchFamily="2" charset="-122"/>
              </a:rPr>
              <a:t>E(X</a:t>
            </a:r>
            <a:r>
              <a:rPr lang="en-US" sz="2400" baseline="-25000" dirty="0">
                <a:ea typeface="STKaiti" panose="02010600040101010101" pitchFamily="2" charset="-122"/>
              </a:rPr>
              <a:t>1</a:t>
            </a:r>
            <a:r>
              <a:rPr lang="en-US" sz="2400" dirty="0">
                <a:ea typeface="STKaiti" panose="02010600040101010101" pitchFamily="2" charset="-122"/>
              </a:rPr>
              <a:t> ) = (2 + 3 + 5 + 4 + 6) / 5 = 20 / 5 = 4</a:t>
            </a:r>
          </a:p>
          <a:p>
            <a:pPr lvl="1">
              <a:spcAft>
                <a:spcPts val="600"/>
              </a:spcAft>
              <a:defRPr/>
            </a:pPr>
            <a:r>
              <a:rPr lang="en-US" sz="2400" dirty="0">
                <a:ea typeface="STKaiti" panose="02010600040101010101" pitchFamily="2" charset="-122"/>
              </a:rPr>
              <a:t>E(X</a:t>
            </a:r>
            <a:r>
              <a:rPr lang="en-US" sz="2400" baseline="-25000" dirty="0">
                <a:ea typeface="STKaiti" panose="02010600040101010101" pitchFamily="2" charset="-122"/>
              </a:rPr>
              <a:t>2</a:t>
            </a:r>
            <a:r>
              <a:rPr lang="en-US" sz="2400" dirty="0">
                <a:ea typeface="STKaiti" panose="02010600040101010101" pitchFamily="2" charset="-122"/>
              </a:rPr>
              <a:t> ) = (5 + 8 + 10 + 11 + 14)/5 = 48/5 = 9.6</a:t>
            </a:r>
          </a:p>
          <a:p>
            <a:pPr lvl="1">
              <a:spcAft>
                <a:spcPts val="600"/>
              </a:spcAft>
              <a:defRPr/>
            </a:pPr>
            <a:r>
              <a:rPr lang="en-US" sz="2400" dirty="0">
                <a:ea typeface="STKaiti" panose="02010600040101010101" pitchFamily="2" charset="-122"/>
              </a:rPr>
              <a:t>σ</a:t>
            </a:r>
            <a:r>
              <a:rPr lang="en-US" altLang="en-US" sz="2400" baseline="-25000" dirty="0">
                <a:ea typeface="STKaiti" panose="02010600040101010101" pitchFamily="2" charset="-122"/>
              </a:rPr>
              <a:t>12</a:t>
            </a:r>
            <a:r>
              <a:rPr lang="en-US" sz="2400" dirty="0">
                <a:ea typeface="STKaiti" panose="02010600040101010101" pitchFamily="2" charset="-122"/>
              </a:rPr>
              <a:t> = (2×5 + 3×8 + 5×10 + 4×11 + 6×14)/5 − 4 × 9.6 = 4</a:t>
            </a:r>
          </a:p>
          <a:p>
            <a:pPr>
              <a:spcAft>
                <a:spcPts val="600"/>
              </a:spcAft>
              <a:defRPr/>
            </a:pPr>
            <a:r>
              <a:rPr lang="en-US" sz="2400" dirty="0">
                <a:ea typeface="STKaiti" panose="02010600040101010101" pitchFamily="2" charset="-122"/>
              </a:rPr>
              <a:t>因此，X</a:t>
            </a:r>
            <a:r>
              <a:rPr lang="en-US" sz="2400" baseline="-25000" dirty="0">
                <a:ea typeface="STKaiti" panose="02010600040101010101" pitchFamily="2" charset="-122"/>
              </a:rPr>
              <a:t>1</a:t>
            </a:r>
            <a:r>
              <a:rPr lang="en-US" sz="2400" dirty="0">
                <a:ea typeface="STKaiti" panose="02010600040101010101" pitchFamily="2" charset="-122"/>
              </a:rPr>
              <a:t> 和X</a:t>
            </a:r>
            <a:r>
              <a:rPr lang="en-US" sz="2400" baseline="-25000" dirty="0">
                <a:ea typeface="STKaiti" panose="02010600040101010101" pitchFamily="2" charset="-122"/>
              </a:rPr>
              <a:t>2</a:t>
            </a:r>
            <a:r>
              <a:rPr lang="en-US" sz="2400" dirty="0">
                <a:ea typeface="STKaiti" panose="02010600040101010101" pitchFamily="2" charset="-122"/>
              </a:rPr>
              <a:t> 同时上升，因为σ</a:t>
            </a:r>
            <a:r>
              <a:rPr lang="en-US" altLang="en-US" sz="2400" baseline="-25000" dirty="0">
                <a:ea typeface="STKaiti" panose="02010600040101010101" pitchFamily="2" charset="-122"/>
              </a:rPr>
              <a:t>12</a:t>
            </a:r>
            <a:r>
              <a:rPr lang="en-US" sz="2400" dirty="0">
                <a:ea typeface="STKaiti" panose="02010600040101010101" pitchFamily="2" charset="-122"/>
              </a:rPr>
              <a:t> &gt; 0</a:t>
            </a:r>
          </a:p>
        </p:txBody>
      </p:sp>
      <p:graphicFrame>
        <p:nvGraphicFramePr>
          <p:cNvPr id="8" name="Object 7"/>
          <p:cNvGraphicFramePr>
            <a:graphicFrameLocks noChangeAspect="1"/>
          </p:cNvGraphicFramePr>
          <p:nvPr>
            <p:extLst>
              <p:ext uri="{D42A27DB-BD31-4B8C-83A1-F6EECF244321}">
                <p14:modId xmlns:p14="http://schemas.microsoft.com/office/powerpoint/2010/main" val="3304398339"/>
              </p:ext>
            </p:extLst>
          </p:nvPr>
        </p:nvGraphicFramePr>
        <p:xfrm>
          <a:off x="1469458" y="3217862"/>
          <a:ext cx="8116887" cy="422275"/>
        </p:xfrm>
        <a:graphic>
          <a:graphicData uri="http://schemas.openxmlformats.org/presentationml/2006/ole">
            <mc:AlternateContent xmlns:mc="http://schemas.openxmlformats.org/markup-compatibility/2006">
              <mc:Choice xmlns:v="urn:schemas-microsoft-com:vml" Requires="v">
                <p:oleObj name="Equation" r:id="rId3" imgW="4381200" imgH="228600" progId="Equation.DSMT4">
                  <p:embed/>
                </p:oleObj>
              </mc:Choice>
              <mc:Fallback>
                <p:oleObj name="Equation" r:id="rId3" imgW="4381200" imgH="228600" progId="Equation.DSMT4">
                  <p:embed/>
                  <p:pic>
                    <p:nvPicPr>
                      <p:cNvPr id="8" name="Object 7"/>
                      <p:cNvPicPr/>
                      <p:nvPr/>
                    </p:nvPicPr>
                    <p:blipFill>
                      <a:blip r:embed="rId4"/>
                      <a:stretch>
                        <a:fillRect/>
                      </a:stretch>
                    </p:blipFill>
                    <p:spPr>
                      <a:xfrm>
                        <a:off x="1469458" y="3217862"/>
                        <a:ext cx="8116887" cy="422275"/>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3422354276"/>
              </p:ext>
            </p:extLst>
          </p:nvPr>
        </p:nvGraphicFramePr>
        <p:xfrm>
          <a:off x="3574387" y="3851142"/>
          <a:ext cx="2971379" cy="375659"/>
        </p:xfrm>
        <a:graphic>
          <a:graphicData uri="http://schemas.openxmlformats.org/presentationml/2006/ole">
            <mc:AlternateContent xmlns:mc="http://schemas.openxmlformats.org/markup-compatibility/2006">
              <mc:Choice xmlns:v="urn:schemas-microsoft-com:vml" Requires="v">
                <p:oleObj name="Equation" r:id="rId5" imgW="1803240" imgH="228600" progId="Equation.DSMT4">
                  <p:embed/>
                </p:oleObj>
              </mc:Choice>
              <mc:Fallback>
                <p:oleObj name="Equation" r:id="rId5" imgW="1803240" imgH="228600" progId="Equation.DSMT4">
                  <p:embed/>
                  <p:pic>
                    <p:nvPicPr>
                      <p:cNvPr id="9" name="Object 8"/>
                      <p:cNvPicPr/>
                      <p:nvPr/>
                    </p:nvPicPr>
                    <p:blipFill>
                      <a:blip r:embed="rId6"/>
                      <a:stretch>
                        <a:fillRect/>
                      </a:stretch>
                    </p:blipFill>
                    <p:spPr>
                      <a:xfrm>
                        <a:off x="3574387" y="3851142"/>
                        <a:ext cx="2971379" cy="375659"/>
                      </a:xfrm>
                      <a:prstGeom prst="rect">
                        <a:avLst/>
                      </a:prstGeom>
                    </p:spPr>
                  </p:pic>
                </p:oleObj>
              </mc:Fallback>
            </mc:AlternateContent>
          </a:graphicData>
        </a:graphic>
      </p:graphicFrame>
      <p:sp>
        <p:nvSpPr>
          <p:cNvPr id="3" name="제목 2">
            <a:extLst>
              <a:ext uri="{FF2B5EF4-FFF2-40B4-BE49-F238E27FC236}">
                <a16:creationId xmlns:a16="http://schemas.microsoft.com/office/drawing/2014/main" id="{77340A8E-445E-FA37-DAA1-89C77B4FD7CB}"/>
              </a:ext>
            </a:extLst>
          </p:cNvPr>
          <p:cNvSpPr>
            <a:spLocks noGrp="1"/>
          </p:cNvSpPr>
          <p:nvPr>
            <p:ph type="title"/>
          </p:nvPr>
        </p:nvSpPr>
        <p:spPr/>
        <p:txBody>
          <a:bodyPr/>
          <a:lstStyle/>
          <a:p>
            <a:r>
              <a:rPr lang="zh-CN" altLang="en-US"/>
              <a:t>示例：计算协方差</a:t>
            </a:r>
            <a:endParaRPr lang="ko-Kore-KR" altLang="en-US"/>
          </a:p>
        </p:txBody>
      </p:sp>
    </p:spTree>
    <p:extLst>
      <p:ext uri="{BB962C8B-B14F-4D97-AF65-F5344CB8AC3E}">
        <p14:creationId xmlns:p14="http://schemas.microsoft.com/office/powerpoint/2010/main" val="136905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0">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0">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00">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0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type="body" idx="1"/>
          </p:nvPr>
        </p:nvSpPr>
        <p:spPr>
          <a:xfrm>
            <a:off x="552262" y="1168754"/>
            <a:ext cx="10919301" cy="5450312"/>
          </a:xfrm>
        </p:spPr>
        <p:txBody>
          <a:bodyPr/>
          <a:lstStyle/>
          <a:p>
            <a:pPr marL="285744" lvl="1" indent="-285744">
              <a:spcAft>
                <a:spcPts val="600"/>
              </a:spcAft>
              <a:buClr>
                <a:srgbClr val="0000CC"/>
              </a:buClr>
            </a:pPr>
            <a:r>
              <a:rPr lang="en-US" altLang="en-US" sz="2400" dirty="0">
                <a:ea typeface="STKaiti" panose="02010600040101010101" pitchFamily="2" charset="-122"/>
              </a:rPr>
              <a:t>两个变量X</a:t>
            </a:r>
            <a:r>
              <a:rPr lang="en-US" altLang="en-US" sz="2400" baseline="-25000" dirty="0">
                <a:ea typeface="STKaiti" panose="02010600040101010101" pitchFamily="2" charset="-122"/>
              </a:rPr>
              <a:t>1 </a:t>
            </a:r>
            <a:r>
              <a:rPr lang="en-US" altLang="en-US" sz="2400" dirty="0">
                <a:ea typeface="STKaiti" panose="02010600040101010101" pitchFamily="2" charset="-122"/>
              </a:rPr>
              <a:t> 和X</a:t>
            </a:r>
            <a:r>
              <a:rPr lang="en-US" altLang="en-US" sz="2400" baseline="-25000" dirty="0">
                <a:ea typeface="STKaiti" panose="02010600040101010101" pitchFamily="2" charset="-122"/>
              </a:rPr>
              <a:t>2 </a:t>
            </a:r>
            <a:r>
              <a:rPr lang="en-US" altLang="en-US" sz="2400" dirty="0">
                <a:ea typeface="STKaiti" panose="02010600040101010101" pitchFamily="2" charset="-122"/>
              </a:rPr>
              <a:t> 之间的</a:t>
            </a:r>
            <a:r>
              <a:rPr lang="en-US" altLang="en-US" sz="2400" b="1" dirty="0">
                <a:ea typeface="STKaiti" panose="02010600040101010101" pitchFamily="2" charset="-122"/>
              </a:rPr>
              <a:t>相关性</a:t>
            </a:r>
            <a:r>
              <a:rPr lang="en-US" altLang="en-US" sz="2400" dirty="0">
                <a:ea typeface="STKaiti" panose="02010600040101010101" pitchFamily="2" charset="-122"/>
              </a:rPr>
              <a:t>是标准协方差，通过将协方差除以每个变量的标准差来获得。</a:t>
            </a:r>
          </a:p>
          <a:p>
            <a:pPr>
              <a:spcAft>
                <a:spcPts val="600"/>
              </a:spcAft>
            </a:pPr>
            <a:endParaRPr lang="en-US" altLang="en-US" sz="2400" dirty="0">
              <a:ea typeface="STKaiti" panose="02010600040101010101" pitchFamily="2" charset="-122"/>
            </a:endParaRPr>
          </a:p>
          <a:p>
            <a:pPr>
              <a:spcAft>
                <a:spcPts val="600"/>
              </a:spcAft>
            </a:pPr>
            <a:r>
              <a:rPr lang="en-US" altLang="en-US" sz="2400" dirty="0">
                <a:ea typeface="STKaiti" panose="02010600040101010101" pitchFamily="2" charset="-122"/>
              </a:rPr>
              <a:t>两个属性X</a:t>
            </a:r>
            <a:r>
              <a:rPr lang="en-US" altLang="en-US" sz="2400" baseline="-25000" dirty="0">
                <a:ea typeface="STKaiti" panose="02010600040101010101" pitchFamily="2" charset="-122"/>
              </a:rPr>
              <a:t>1 </a:t>
            </a:r>
            <a:r>
              <a:rPr lang="en-US" altLang="en-US" sz="2400" dirty="0">
                <a:ea typeface="STKaiti" panose="02010600040101010101" pitchFamily="2" charset="-122"/>
              </a:rPr>
              <a:t> 和X</a:t>
            </a:r>
            <a:r>
              <a:rPr lang="en-US" altLang="en-US" sz="2400" baseline="-25000" dirty="0">
                <a:ea typeface="STKaiti" panose="02010600040101010101" pitchFamily="2" charset="-122"/>
              </a:rPr>
              <a:t>2</a:t>
            </a:r>
            <a:r>
              <a:rPr lang="en-US" altLang="en-US" sz="2400" dirty="0">
                <a:ea typeface="STKaiti" panose="02010600040101010101" pitchFamily="2" charset="-122"/>
              </a:rPr>
              <a:t> 的</a:t>
            </a:r>
            <a:r>
              <a:rPr lang="en-US" altLang="en-US" sz="2400" b="1" dirty="0">
                <a:ea typeface="STKaiti" panose="02010600040101010101" pitchFamily="2" charset="-122"/>
              </a:rPr>
              <a:t>样本相关性</a:t>
            </a:r>
            <a:r>
              <a:rPr lang="en-US" altLang="en-US" sz="2400" dirty="0">
                <a:ea typeface="STKaiti" panose="02010600040101010101" pitchFamily="2" charset="-122"/>
              </a:rPr>
              <a:t>： </a:t>
            </a:r>
          </a:p>
          <a:p>
            <a:pPr lvl="3">
              <a:spcAft>
                <a:spcPts val="600"/>
              </a:spcAft>
              <a:buNone/>
            </a:pPr>
            <a:endParaRPr lang="en-US" altLang="en-US" sz="2400" dirty="0">
              <a:ea typeface="STKaiti" panose="02010600040101010101" pitchFamily="2" charset="-122"/>
            </a:endParaRPr>
          </a:p>
          <a:p>
            <a:pPr marL="622300" lvl="3" indent="0">
              <a:spcAft>
                <a:spcPts val="600"/>
              </a:spcAft>
              <a:buNone/>
            </a:pPr>
            <a:r>
              <a:rPr lang="en-US" altLang="en-US" sz="2400" dirty="0">
                <a:ea typeface="STKaiti" panose="02010600040101010101" pitchFamily="2" charset="-122"/>
              </a:rPr>
              <a:t>其中 n 是元组的个数，µ</a:t>
            </a:r>
            <a:r>
              <a:rPr lang="en-US" altLang="en-US" sz="2400" baseline="-25000" dirty="0">
                <a:ea typeface="STKaiti" panose="02010600040101010101" pitchFamily="2" charset="-122"/>
              </a:rPr>
              <a:t>1</a:t>
            </a:r>
            <a:r>
              <a:rPr lang="en-US" altLang="en-US" sz="2400" dirty="0">
                <a:ea typeface="STKaiti" panose="02010600040101010101" pitchFamily="2" charset="-122"/>
              </a:rPr>
              <a:t> 和 µ</a:t>
            </a:r>
            <a:r>
              <a:rPr lang="en-US" altLang="en-US" sz="2400" baseline="-25000" dirty="0">
                <a:ea typeface="STKaiti" panose="02010600040101010101" pitchFamily="2" charset="-122"/>
              </a:rPr>
              <a:t>2</a:t>
            </a:r>
            <a:r>
              <a:rPr lang="en-US" altLang="en-US" sz="2400" dirty="0">
                <a:ea typeface="STKaiti" panose="02010600040101010101" pitchFamily="2" charset="-122"/>
              </a:rPr>
              <a:t> 分别是 X</a:t>
            </a:r>
            <a:r>
              <a:rPr lang="en-US" altLang="en-US" sz="2400" baseline="-25000" dirty="0">
                <a:ea typeface="STKaiti" panose="02010600040101010101" pitchFamily="2" charset="-122"/>
              </a:rPr>
              <a:t>1</a:t>
            </a:r>
            <a:r>
              <a:rPr lang="en-US" altLang="en-US" sz="2400" dirty="0">
                <a:ea typeface="STKaiti" panose="02010600040101010101" pitchFamily="2" charset="-122"/>
              </a:rPr>
              <a:t> 和 X</a:t>
            </a:r>
            <a:r>
              <a:rPr lang="en-US" altLang="zh-CN" sz="2400" baseline="-25000" dirty="0">
                <a:ea typeface="STKaiti" panose="02010600040101010101" pitchFamily="2" charset="-122"/>
              </a:rPr>
              <a:t>2</a:t>
            </a:r>
            <a:r>
              <a:rPr lang="en-US" altLang="en-US" sz="2400" dirty="0">
                <a:ea typeface="STKaiti" panose="02010600040101010101" pitchFamily="2" charset="-122"/>
              </a:rPr>
              <a:t> 的均值，σ</a:t>
            </a:r>
            <a:r>
              <a:rPr lang="en-US" altLang="en-US" sz="2400" baseline="-25000" dirty="0">
                <a:ea typeface="STKaiti" panose="02010600040101010101" pitchFamily="2" charset="-122"/>
              </a:rPr>
              <a:t>1 </a:t>
            </a:r>
            <a:r>
              <a:rPr lang="en-US" altLang="en-US" sz="2400" dirty="0">
                <a:ea typeface="STKaiti" panose="02010600040101010101" pitchFamily="2" charset="-122"/>
              </a:rPr>
              <a:t> 和 σ</a:t>
            </a:r>
            <a:r>
              <a:rPr lang="en-US" altLang="en-US" sz="2400" baseline="-25000" dirty="0">
                <a:ea typeface="STKaiti" panose="02010600040101010101" pitchFamily="2" charset="-122"/>
              </a:rPr>
              <a:t>2 </a:t>
            </a:r>
            <a:r>
              <a:rPr lang="en-US" altLang="en-US" sz="2400" dirty="0">
                <a:ea typeface="STKaiti" panose="02010600040101010101" pitchFamily="2" charset="-122"/>
              </a:rPr>
              <a:t> 分别是 X</a:t>
            </a:r>
            <a:r>
              <a:rPr lang="en-US" altLang="zh-CN" sz="2400" baseline="-25000" dirty="0">
                <a:ea typeface="STKaiti" panose="02010600040101010101" pitchFamily="2" charset="-122"/>
              </a:rPr>
              <a:t>1</a:t>
            </a:r>
            <a:r>
              <a:rPr lang="en-US" altLang="en-US" sz="2400" dirty="0">
                <a:ea typeface="STKaiti" panose="02010600040101010101" pitchFamily="2" charset="-122"/>
              </a:rPr>
              <a:t>和 X</a:t>
            </a:r>
            <a:r>
              <a:rPr lang="en-US" altLang="zh-CN" sz="2400" baseline="-25000" dirty="0">
                <a:ea typeface="STKaiti" panose="02010600040101010101" pitchFamily="2" charset="-122"/>
              </a:rPr>
              <a:t>2</a:t>
            </a:r>
            <a:r>
              <a:rPr lang="en-US" altLang="en-US" sz="2400" dirty="0">
                <a:ea typeface="STKaiti" panose="02010600040101010101" pitchFamily="2" charset="-122"/>
              </a:rPr>
              <a:t> 的标准差</a:t>
            </a:r>
            <a:endParaRPr lang="en-US" altLang="en-US" sz="2400" baseline="-25000" dirty="0">
              <a:ea typeface="STKaiti" panose="02010600040101010101" pitchFamily="2" charset="-122"/>
            </a:endParaRPr>
          </a:p>
          <a:p>
            <a:pPr>
              <a:spcAft>
                <a:spcPts val="600"/>
              </a:spcAft>
            </a:pPr>
            <a:r>
              <a:rPr lang="en-US" altLang="en-US" sz="2400" dirty="0">
                <a:ea typeface="STKaiti" panose="02010600040101010101" pitchFamily="2" charset="-122"/>
              </a:rPr>
              <a:t>若 ρ</a:t>
            </a:r>
            <a:r>
              <a:rPr lang="en-US" altLang="en-US" sz="2400" baseline="-25000" dirty="0">
                <a:ea typeface="STKaiti" panose="02010600040101010101" pitchFamily="2" charset="-122"/>
              </a:rPr>
              <a:t>12</a:t>
            </a:r>
            <a:r>
              <a:rPr lang="en-US" altLang="en-US" sz="2400" dirty="0">
                <a:ea typeface="STKaiti" panose="02010600040101010101" pitchFamily="2" charset="-122"/>
              </a:rPr>
              <a:t> &gt; 0：A 与 B 正相关（X</a:t>
            </a:r>
            <a:r>
              <a:rPr lang="en-US" altLang="en-US" sz="2400" baseline="-25000" dirty="0">
                <a:ea typeface="STKaiti" panose="02010600040101010101" pitchFamily="2" charset="-122"/>
              </a:rPr>
              <a:t>1</a:t>
            </a:r>
            <a:r>
              <a:rPr lang="en-US" altLang="en-US" sz="2400" dirty="0">
                <a:ea typeface="STKaiti" panose="02010600040101010101" pitchFamily="2" charset="-122"/>
              </a:rPr>
              <a:t> 的值随 X</a:t>
            </a:r>
            <a:r>
              <a:rPr lang="en-US" altLang="en-US" sz="2400" baseline="-25000" dirty="0">
                <a:ea typeface="STKaiti" panose="02010600040101010101" pitchFamily="2" charset="-122"/>
              </a:rPr>
              <a:t>2</a:t>
            </a:r>
            <a:r>
              <a:rPr lang="en-US" altLang="en-US" sz="2400" dirty="0">
                <a:ea typeface="STKaiti" panose="02010600040101010101" pitchFamily="2" charset="-122"/>
              </a:rPr>
              <a:t> 的值增加而增加）</a:t>
            </a:r>
          </a:p>
          <a:p>
            <a:pPr lvl="1">
              <a:spcAft>
                <a:spcPts val="600"/>
              </a:spcAft>
            </a:pPr>
            <a:r>
              <a:rPr lang="en-US" altLang="en-US" sz="2400" dirty="0">
                <a:ea typeface="STKaiti" panose="02010600040101010101" pitchFamily="2" charset="-122"/>
              </a:rPr>
              <a:t> 相关性越强，值越高</a:t>
            </a:r>
          </a:p>
          <a:p>
            <a:pPr>
              <a:spcAft>
                <a:spcPts val="600"/>
              </a:spcAft>
            </a:pPr>
            <a:r>
              <a:rPr lang="en-US" altLang="en-US" sz="2400" dirty="0">
                <a:ea typeface="STKaiti" panose="02010600040101010101" pitchFamily="2" charset="-122"/>
              </a:rPr>
              <a:t>若 ρ</a:t>
            </a:r>
            <a:r>
              <a:rPr lang="en-US" altLang="en-US" sz="2400" baseline="-25000" dirty="0">
                <a:ea typeface="STKaiti" panose="02010600040101010101" pitchFamily="2" charset="-122"/>
              </a:rPr>
              <a:t>12</a:t>
            </a:r>
            <a:r>
              <a:rPr lang="en-US" altLang="en-US" sz="2400" dirty="0">
                <a:ea typeface="STKaiti" panose="02010600040101010101" pitchFamily="2" charset="-122"/>
              </a:rPr>
              <a:t> = 0：两者独立（与协方差讨论中的假设相同）</a:t>
            </a:r>
          </a:p>
          <a:p>
            <a:pPr>
              <a:spcAft>
                <a:spcPts val="600"/>
              </a:spcAft>
            </a:pPr>
            <a:r>
              <a:rPr lang="en-US" altLang="en-US" sz="2400" dirty="0">
                <a:ea typeface="STKaiti" panose="02010600040101010101" pitchFamily="2" charset="-122"/>
              </a:rPr>
              <a:t>若 ρ</a:t>
            </a:r>
            <a:r>
              <a:rPr lang="en-US" altLang="en-US" sz="2400" baseline="-25000" dirty="0">
                <a:ea typeface="STKaiti" panose="02010600040101010101" pitchFamily="2" charset="-122"/>
              </a:rPr>
              <a:t>12</a:t>
            </a:r>
            <a:r>
              <a:rPr lang="en-US" altLang="en-US" sz="2400" dirty="0">
                <a:ea typeface="STKaiti" panose="02010600040101010101" pitchFamily="2" charset="-122"/>
              </a:rPr>
              <a:t> &lt; 0：负相关</a:t>
            </a:r>
          </a:p>
        </p:txBody>
      </p:sp>
      <p:graphicFrame>
        <p:nvGraphicFramePr>
          <p:cNvPr id="7" name="Object 6"/>
          <p:cNvGraphicFramePr>
            <a:graphicFrameLocks noChangeAspect="1"/>
          </p:cNvGraphicFramePr>
          <p:nvPr>
            <p:extLst>
              <p:ext uri="{D42A27DB-BD31-4B8C-83A1-F6EECF244321}">
                <p14:modId xmlns:p14="http://schemas.microsoft.com/office/powerpoint/2010/main" val="911522299"/>
              </p:ext>
            </p:extLst>
          </p:nvPr>
        </p:nvGraphicFramePr>
        <p:xfrm>
          <a:off x="4065120" y="1799666"/>
          <a:ext cx="2284307" cy="773693"/>
        </p:xfrm>
        <a:graphic>
          <a:graphicData uri="http://schemas.openxmlformats.org/presentationml/2006/ole">
            <mc:AlternateContent xmlns:mc="http://schemas.openxmlformats.org/markup-compatibility/2006">
              <mc:Choice xmlns:v="urn:schemas-microsoft-com:vml" Requires="v">
                <p:oleObj name="Equation" r:id="rId3" imgW="1384200" imgH="469800" progId="Equation.DSMT4">
                  <p:embed/>
                </p:oleObj>
              </mc:Choice>
              <mc:Fallback>
                <p:oleObj name="Equation" r:id="rId3" imgW="1384200" imgH="469800" progId="Equation.DSMT4">
                  <p:embed/>
                  <p:pic>
                    <p:nvPicPr>
                      <p:cNvPr id="7" name="Object 6"/>
                      <p:cNvPicPr/>
                      <p:nvPr/>
                    </p:nvPicPr>
                    <p:blipFill>
                      <a:blip r:embed="rId4"/>
                      <a:stretch>
                        <a:fillRect/>
                      </a:stretch>
                    </p:blipFill>
                    <p:spPr>
                      <a:xfrm>
                        <a:off x="4065120" y="1799666"/>
                        <a:ext cx="2284307" cy="77369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526EE45-24F7-4EF6-AA9F-620010421A37}"/>
                  </a:ext>
                </a:extLst>
              </p:cNvPr>
              <p:cNvSpPr/>
              <p:nvPr/>
            </p:nvSpPr>
            <p:spPr>
              <a:xfrm>
                <a:off x="5718234" y="2664892"/>
                <a:ext cx="5435527" cy="10787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en-US" sz="2000" i="1" smtClean="0">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𝜌</m:t>
                              </m:r>
                            </m:e>
                          </m:acc>
                        </m:e>
                        <m:sub>
                          <m:r>
                            <a:rPr lang="en-US" altLang="en-US" sz="2000" i="1">
                              <a:latin typeface="Cambria Math" panose="02040503050406030204" pitchFamily="18" charset="0"/>
                            </a:rPr>
                            <m:t>12</m:t>
                          </m:r>
                        </m:sub>
                      </m:sSub>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12</m:t>
                              </m:r>
                            </m:sub>
                          </m:sSub>
                        </m:num>
                        <m:den>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1</m:t>
                              </m:r>
                            </m:sub>
                          </m:sSub>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2</m:t>
                              </m:r>
                            </m:sub>
                          </m:sSub>
                        </m:den>
                      </m:f>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m:t>
                              </m:r>
                              <m:r>
                                <m:rPr>
                                  <m:brk m:alnAt="23"/>
                                </m:rPr>
                                <a:rPr lang="en-US" altLang="en-US" sz="2000" i="1">
                                  <a:latin typeface="Cambria Math" panose="02040503050406030204" pitchFamily="18" charset="0"/>
                                </a:rPr>
                                <m:t>1</m:t>
                              </m:r>
                            </m:sub>
                            <m:sup>
                              <m:r>
                                <a:rPr lang="en-US" altLang="en-US" sz="2000" i="1">
                                  <a:latin typeface="Cambria Math" panose="02040503050406030204" pitchFamily="18" charset="0"/>
                                </a:rPr>
                                <m:t>𝑛</m:t>
                              </m:r>
                            </m:sup>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1</m:t>
                                      </m:r>
                                    </m:sub>
                                  </m:sSub>
                                </m:e>
                              </m:d>
                            </m:e>
                          </m:nary>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2</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2</m:t>
                                  </m:r>
                                </m:sub>
                              </m:sSub>
                            </m:e>
                          </m:d>
                        </m:num>
                        <m:den>
                          <m:rad>
                            <m:radPr>
                              <m:degHide m:val="on"/>
                              <m:ctrlPr>
                                <a:rPr lang="en-US" altLang="en-US" sz="2000" i="1">
                                  <a:latin typeface="Cambria Math" panose="02040503050406030204" pitchFamily="18" charset="0"/>
                                </a:rPr>
                              </m:ctrlPr>
                            </m:radPr>
                            <m:deg/>
                            <m:e>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=1</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1</m:t>
                                              </m:r>
                                            </m:sub>
                                          </m:sSub>
                                        </m:e>
                                      </m:d>
                                    </m:e>
                                    <m:sup>
                                      <m:r>
                                        <a:rPr lang="en-US" altLang="en-US" sz="2000" i="1">
                                          <a:latin typeface="Cambria Math" panose="02040503050406030204" pitchFamily="18" charset="0"/>
                                        </a:rPr>
                                        <m:t>2</m:t>
                                      </m:r>
                                    </m:sup>
                                  </m:sSup>
                                </m:e>
                              </m:nary>
                              <m:sSup>
                                <m:sSupPr>
                                  <m:ctrlPr>
                                    <a:rPr lang="en-US" altLang="en-US" sz="2000" i="1">
                                      <a:latin typeface="Cambria Math" panose="02040503050406030204" pitchFamily="18" charset="0"/>
                                    </a:rPr>
                                  </m:ctrlPr>
                                </m:sSupPr>
                                <m:e>
                                  <m:nary>
                                    <m:naryPr>
                                      <m:chr m:val="∑"/>
                                      <m:limLoc m:val="subSup"/>
                                      <m:ctrlPr>
                                        <a:rPr lang="en-US" altLang="en-US" sz="2000" i="1" smtClean="0">
                                          <a:latin typeface="Cambria Math" panose="02040503050406030204" pitchFamily="18" charset="0"/>
                                        </a:rPr>
                                      </m:ctrlPr>
                                    </m:naryPr>
                                    <m:sub>
                                      <m:r>
                                        <m:rPr>
                                          <m:brk m:alnAt="25"/>
                                        </m:rPr>
                                        <a:rPr lang="en-US" altLang="en-US" sz="2000" b="0" i="1" smtClean="0">
                                          <a:latin typeface="Cambria Math" panose="02040503050406030204" pitchFamily="18" charset="0"/>
                                        </a:rPr>
                                        <m:t>𝑖</m:t>
                                      </m:r>
                                      <m:r>
                                        <a:rPr lang="en-US" altLang="en-US" sz="2000" b="0" i="1" smtClean="0">
                                          <a:latin typeface="Cambria Math" panose="02040503050406030204" pitchFamily="18" charset="0"/>
                                        </a:rPr>
                                        <m:t>=1</m:t>
                                      </m:r>
                                    </m:sub>
                                    <m:sup>
                                      <m:r>
                                        <a:rPr lang="en-US" altLang="en-US" sz="2000" b="0" i="1" smtClean="0">
                                          <a:latin typeface="Cambria Math" panose="02040503050406030204" pitchFamily="18" charset="0"/>
                                        </a:rPr>
                                        <m:t>𝑛</m:t>
                                      </m:r>
                                    </m:sup>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2</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2</m:t>
                                              </m:r>
                                            </m:sub>
                                          </m:sSub>
                                        </m:e>
                                      </m:d>
                                    </m:e>
                                  </m:nary>
                                </m:e>
                                <m:sup>
                                  <m:r>
                                    <a:rPr lang="en-US" altLang="en-US" sz="2000" i="1">
                                      <a:latin typeface="Cambria Math" panose="02040503050406030204" pitchFamily="18" charset="0"/>
                                    </a:rPr>
                                    <m:t>2</m:t>
                                  </m:r>
                                </m:sup>
                              </m:sSup>
                            </m:e>
                          </m:rad>
                        </m:den>
                      </m:f>
                    </m:oMath>
                  </m:oMathPara>
                </a14:m>
                <a:endParaRPr lang="en-US" dirty="0"/>
              </a:p>
            </p:txBody>
          </p:sp>
        </mc:Choice>
        <mc:Fallback xmlns="">
          <p:sp>
            <p:nvSpPr>
              <p:cNvPr id="2" name="矩形 1">
                <a:extLst>
                  <a:ext uri="{FF2B5EF4-FFF2-40B4-BE49-F238E27FC236}">
                    <a16:creationId xmlns:a16="http://schemas.microsoft.com/office/drawing/2014/main" id="{6526EE45-24F7-4EF6-AA9F-620010421A37}"/>
                  </a:ext>
                </a:extLst>
              </p:cNvPr>
              <p:cNvSpPr>
                <a:spLocks noRot="1" noChangeAspect="1" noMove="1" noResize="1" noEditPoints="1" noAdjustHandles="1" noChangeArrowheads="1" noChangeShapeType="1" noTextEdit="1"/>
              </p:cNvSpPr>
              <p:nvPr/>
            </p:nvSpPr>
            <p:spPr>
              <a:xfrm>
                <a:off x="5718234" y="2664892"/>
                <a:ext cx="5435527" cy="1078757"/>
              </a:xfrm>
              <a:prstGeom prst="rect">
                <a:avLst/>
              </a:prstGeom>
              <a:blipFill>
                <a:blip r:embed="rId5"/>
                <a:stretch>
                  <a:fillRect t="-43023" b="-56977"/>
                </a:stretch>
              </a:blipFill>
            </p:spPr>
            <p:txBody>
              <a:bodyPr/>
              <a:lstStyle/>
              <a:p>
                <a:r>
                  <a:rPr lang="ko-Kore-KR" altLang="en-US">
                    <a:noFill/>
                  </a:rPr>
                  <a:t> </a:t>
                </a:r>
              </a:p>
            </p:txBody>
          </p:sp>
        </mc:Fallback>
      </mc:AlternateContent>
      <p:sp>
        <p:nvSpPr>
          <p:cNvPr id="4" name="제목 3">
            <a:extLst>
              <a:ext uri="{FF2B5EF4-FFF2-40B4-BE49-F238E27FC236}">
                <a16:creationId xmlns:a16="http://schemas.microsoft.com/office/drawing/2014/main" id="{5F89E69E-0E42-39F1-B632-E7DC924D2520}"/>
              </a:ext>
            </a:extLst>
          </p:cNvPr>
          <p:cNvSpPr>
            <a:spLocks noGrp="1"/>
          </p:cNvSpPr>
          <p:nvPr>
            <p:ph type="title"/>
          </p:nvPr>
        </p:nvSpPr>
        <p:spPr/>
        <p:txBody>
          <a:bodyPr/>
          <a:lstStyle/>
          <a:p>
            <a:r>
              <a:rPr lang="ko-Kore-KR" altLang="en-US"/>
              <a:t>两个数值变量之间的相关性</a:t>
            </a:r>
          </a:p>
        </p:txBody>
      </p:sp>
    </p:spTree>
    <p:extLst>
      <p:ext uri="{BB962C8B-B14F-4D97-AF65-F5344CB8AC3E}">
        <p14:creationId xmlns:p14="http://schemas.microsoft.com/office/powerpoint/2010/main" val="38719045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type="body" idx="1"/>
          </p:nvPr>
        </p:nvSpPr>
        <p:spPr>
          <a:xfrm>
            <a:off x="6224668" y="2496963"/>
            <a:ext cx="4997512" cy="2143534"/>
          </a:xfrm>
        </p:spPr>
        <p:txBody>
          <a:bodyPr/>
          <a:lstStyle/>
          <a:p>
            <a:pPr defTabSz="914400" fontAlgn="base">
              <a:spcBef>
                <a:spcPct val="50000"/>
              </a:spcBef>
              <a:spcAft>
                <a:spcPct val="0"/>
              </a:spcAft>
            </a:pPr>
            <a:r>
              <a:rPr lang="en-US" altLang="en-US" sz="2400" dirty="0">
                <a:solidFill>
                  <a:srgbClr val="000000"/>
                </a:solidFill>
              </a:rPr>
              <a:t>相关系数取值范围：[–1, 1]</a:t>
            </a:r>
          </a:p>
          <a:p>
            <a:pPr defTabSz="914400" fontAlgn="base">
              <a:spcBef>
                <a:spcPct val="50000"/>
              </a:spcBef>
              <a:spcAft>
                <a:spcPct val="0"/>
              </a:spcAft>
            </a:pPr>
            <a:r>
              <a:rPr lang="en-US" altLang="en-US" sz="2400" dirty="0">
                <a:solidFill>
                  <a:srgbClr val="000000"/>
                </a:solidFill>
              </a:rPr>
              <a:t>一组散点图展示了点集及其相关系数从–1到</a:t>
            </a:r>
            <a:r>
              <a:rPr lang="en-US" altLang="en-US" sz="2400" dirty="0"/>
              <a:t>1</a:t>
            </a:r>
            <a:r>
              <a:rPr lang="en-US" altLang="en-US" sz="2400" dirty="0">
                <a:solidFill>
                  <a:srgbClr val="000000"/>
                </a:solidFill>
              </a:rPr>
              <a:t>的变化情况</a:t>
            </a:r>
            <a:r>
              <a:rPr lang="en-US" altLang="en-US" sz="2400" dirty="0"/>
              <a:t>。  </a:t>
            </a:r>
          </a:p>
        </p:txBody>
      </p:sp>
      <p:graphicFrame>
        <p:nvGraphicFramePr>
          <p:cNvPr id="4" name="Object 3"/>
          <p:cNvGraphicFramePr>
            <a:graphicFrameLocks noChangeAspect="1"/>
          </p:cNvGraphicFramePr>
          <p:nvPr/>
        </p:nvGraphicFramePr>
        <p:xfrm>
          <a:off x="0" y="1256281"/>
          <a:ext cx="6096000" cy="5381625"/>
        </p:xfrm>
        <a:graphic>
          <a:graphicData uri="http://schemas.openxmlformats.org/presentationml/2006/ole">
            <mc:AlternateContent xmlns:mc="http://schemas.openxmlformats.org/markup-compatibility/2006">
              <mc:Choice xmlns:v="urn:schemas-microsoft-com:vml" Requires="v">
                <p:oleObj name="Bitmap Image" r:id="rId3" imgW="6035563" imgH="5784081" progId="Paint.Picture">
                  <p:embed/>
                </p:oleObj>
              </mc:Choice>
              <mc:Fallback>
                <p:oleObj name="Bitmap Image" r:id="rId3" imgW="6035563" imgH="5784081" progId="Paint.Picture">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b="7918"/>
                      <a:stretch>
                        <a:fillRect/>
                      </a:stretch>
                    </p:blipFill>
                    <p:spPr bwMode="auto">
                      <a:xfrm>
                        <a:off x="0" y="1256281"/>
                        <a:ext cx="6096000" cy="538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제목 2">
            <a:extLst>
              <a:ext uri="{FF2B5EF4-FFF2-40B4-BE49-F238E27FC236}">
                <a16:creationId xmlns:a16="http://schemas.microsoft.com/office/drawing/2014/main" id="{EC72A743-26C1-609F-1750-9DF47ECABB68}"/>
              </a:ext>
            </a:extLst>
          </p:cNvPr>
          <p:cNvSpPr>
            <a:spLocks noGrp="1"/>
          </p:cNvSpPr>
          <p:nvPr>
            <p:ph type="title"/>
          </p:nvPr>
        </p:nvSpPr>
        <p:spPr/>
        <p:txBody>
          <a:bodyPr/>
          <a:lstStyle/>
          <a:p>
            <a:r>
              <a:rPr lang="ko-Kore-KR" altLang="en-US"/>
              <a:t>相关系数变化的可视化</a:t>
            </a:r>
          </a:p>
        </p:txBody>
      </p:sp>
    </p:spTree>
    <p:extLst>
      <p:ext uri="{BB962C8B-B14F-4D97-AF65-F5344CB8AC3E}">
        <p14:creationId xmlns:p14="http://schemas.microsoft.com/office/powerpoint/2010/main" val="3443527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type="body" idx="1"/>
          </p:nvPr>
        </p:nvSpPr>
        <p:spPr>
          <a:xfrm>
            <a:off x="628934" y="1183315"/>
            <a:ext cx="11092014" cy="3312486"/>
          </a:xfrm>
        </p:spPr>
        <p:txBody>
          <a:bodyPr/>
          <a:lstStyle/>
          <a:p>
            <a:pPr>
              <a:spcAft>
                <a:spcPts val="600"/>
              </a:spcAft>
            </a:pPr>
            <a:r>
              <a:rPr lang="en-US" sz="2400" dirty="0">
                <a:ea typeface="STKaiti" panose="02010600040101010101" pitchFamily="2" charset="-122"/>
              </a:rPr>
              <a:t>两个变量X</a:t>
            </a:r>
            <a:r>
              <a:rPr lang="en-US" sz="2400" baseline="-25000" dirty="0">
                <a:ea typeface="STKaiti" panose="02010600040101010101" pitchFamily="2" charset="-122"/>
              </a:rPr>
              <a:t>1</a:t>
            </a:r>
            <a:r>
              <a:rPr lang="en-US" sz="2400" dirty="0">
                <a:ea typeface="STKaiti" panose="02010600040101010101" pitchFamily="2" charset="-122"/>
              </a:rPr>
              <a:t> 和X</a:t>
            </a:r>
            <a:r>
              <a:rPr lang="en-US" sz="2400" baseline="-25000" dirty="0">
                <a:ea typeface="STKaiti" panose="02010600040101010101" pitchFamily="2" charset="-122"/>
              </a:rPr>
              <a:t>2</a:t>
            </a:r>
            <a:r>
              <a:rPr lang="en-US" sz="2400" dirty="0">
                <a:ea typeface="STKaiti" panose="02010600040101010101" pitchFamily="2" charset="-122"/>
              </a:rPr>
              <a:t> 的方差和协方差可以总结为一个2×2协方差矩阵，即 </a:t>
            </a:r>
          </a:p>
          <a:p>
            <a:pPr>
              <a:spcAft>
                <a:spcPts val="600"/>
              </a:spcAft>
            </a:pPr>
            <a:endParaRPr lang="en-US" sz="2400" dirty="0">
              <a:ea typeface="STKaiti" panose="02010600040101010101" pitchFamily="2" charset="-122"/>
            </a:endParaRPr>
          </a:p>
          <a:p>
            <a:pPr marL="0" indent="0">
              <a:spcAft>
                <a:spcPts val="600"/>
              </a:spcAft>
              <a:buNone/>
              <a:defRPr/>
            </a:pPr>
            <a:endParaRPr lang="en-US" sz="2400" dirty="0">
              <a:ea typeface="STKaiti" panose="02010600040101010101" pitchFamily="2" charset="-122"/>
            </a:endParaRPr>
          </a:p>
          <a:p>
            <a:pPr marL="0" indent="0">
              <a:spcAft>
                <a:spcPts val="600"/>
              </a:spcAft>
              <a:buNone/>
              <a:defRPr/>
            </a:pPr>
            <a:endParaRPr lang="en-US" sz="2400" dirty="0">
              <a:ea typeface="STKaiti" panose="02010600040101010101" pitchFamily="2" charset="-122"/>
            </a:endParaRPr>
          </a:p>
          <a:p>
            <a:pPr marL="0" indent="0">
              <a:spcAft>
                <a:spcPts val="600"/>
              </a:spcAft>
              <a:buNone/>
              <a:defRPr/>
            </a:pPr>
            <a:endParaRPr lang="en-US" sz="2400" dirty="0">
              <a:ea typeface="STKaiti" panose="02010600040101010101" pitchFamily="2" charset="-122"/>
            </a:endParaRPr>
          </a:p>
          <a:p>
            <a:pPr marL="0" indent="0">
              <a:spcAft>
                <a:spcPts val="600"/>
              </a:spcAft>
              <a:buNone/>
              <a:defRPr/>
            </a:pPr>
            <a:endParaRPr lang="en-US" sz="2000" dirty="0">
              <a:ea typeface="STKaiti" panose="02010600040101010101" pitchFamily="2" charset="-122"/>
            </a:endParaRPr>
          </a:p>
          <a:p>
            <a:pPr>
              <a:spcAft>
                <a:spcPts val="600"/>
              </a:spcAft>
              <a:defRPr/>
            </a:pPr>
            <a:r>
              <a:rPr lang="en-US" sz="2400" dirty="0">
                <a:ea typeface="STKaiti" panose="02010600040101010101" pitchFamily="2" charset="-122"/>
              </a:rPr>
              <a:t>将其推广到</a:t>
            </a:r>
            <a:r>
              <a:rPr lang="en-US" sz="2400" i="1" dirty="0">
                <a:ea typeface="STKaiti" panose="02010600040101010101" pitchFamily="2" charset="-122"/>
              </a:rPr>
              <a:t>d</a:t>
            </a:r>
            <a:r>
              <a:rPr lang="en-US" sz="2400" dirty="0">
                <a:ea typeface="STKaiti" panose="02010600040101010101" pitchFamily="2" charset="-122"/>
              </a:rPr>
              <a:t>维，我们得到：</a:t>
            </a:r>
          </a:p>
          <a:p>
            <a:pPr marL="0" indent="0">
              <a:spcBef>
                <a:spcPts val="1200"/>
              </a:spcBef>
              <a:buNone/>
            </a:pPr>
            <a:endParaRPr lang="en-US" sz="2000" dirty="0">
              <a:ea typeface="STKaiti" panose="02010600040101010101" pitchFamily="2" charset="-122"/>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890537759"/>
              </p:ext>
            </p:extLst>
          </p:nvPr>
        </p:nvGraphicFramePr>
        <p:xfrm>
          <a:off x="2879275" y="1603796"/>
          <a:ext cx="6125394" cy="787086"/>
        </p:xfrm>
        <a:graphic>
          <a:graphicData uri="http://schemas.openxmlformats.org/presentationml/2006/ole">
            <mc:AlternateContent xmlns:mc="http://schemas.openxmlformats.org/markup-compatibility/2006">
              <mc:Choice xmlns:v="urn:schemas-microsoft-com:vml" Requires="v">
                <p:oleObj name="Equation" r:id="rId3" imgW="3555720" imgH="457200" progId="Equation.DSMT4">
                  <p:embed/>
                </p:oleObj>
              </mc:Choice>
              <mc:Fallback>
                <p:oleObj name="Equation" r:id="rId3" imgW="3555720" imgH="457200" progId="Equation.DSMT4">
                  <p:embed/>
                  <p:pic>
                    <p:nvPicPr>
                      <p:cNvPr id="6" name="Object 5"/>
                      <p:cNvPicPr/>
                      <p:nvPr/>
                    </p:nvPicPr>
                    <p:blipFill>
                      <a:blip r:embed="rId4"/>
                      <a:stretch>
                        <a:fillRect/>
                      </a:stretch>
                    </p:blipFill>
                    <p:spPr>
                      <a:xfrm>
                        <a:off x="2879275" y="1603796"/>
                        <a:ext cx="6125394" cy="787086"/>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961940044"/>
              </p:ext>
            </p:extLst>
          </p:nvPr>
        </p:nvGraphicFramePr>
        <p:xfrm>
          <a:off x="3111625" y="2487517"/>
          <a:ext cx="4747586" cy="1471764"/>
        </p:xfrm>
        <a:graphic>
          <a:graphicData uri="http://schemas.openxmlformats.org/presentationml/2006/ole">
            <mc:AlternateContent xmlns:mc="http://schemas.openxmlformats.org/markup-compatibility/2006">
              <mc:Choice xmlns:v="urn:schemas-microsoft-com:vml" Requires="v">
                <p:oleObj name="Equation" r:id="rId5" imgW="3111480" imgH="965160" progId="Equation.DSMT4">
                  <p:embed/>
                </p:oleObj>
              </mc:Choice>
              <mc:Fallback>
                <p:oleObj name="Equation" r:id="rId5" imgW="3111480" imgH="965160" progId="Equation.DSMT4">
                  <p:embed/>
                  <p:pic>
                    <p:nvPicPr>
                      <p:cNvPr id="7" name="Object 6"/>
                      <p:cNvPicPr/>
                      <p:nvPr/>
                    </p:nvPicPr>
                    <p:blipFill>
                      <a:blip r:embed="rId6"/>
                      <a:stretch>
                        <a:fillRect/>
                      </a:stretch>
                    </p:blipFill>
                    <p:spPr>
                      <a:xfrm>
                        <a:off x="3111625" y="2487517"/>
                        <a:ext cx="4747586" cy="1471764"/>
                      </a:xfrm>
                      <a:prstGeom prst="rect">
                        <a:avLst/>
                      </a:prstGeom>
                    </p:spPr>
                  </p:pic>
                </p:oleObj>
              </mc:Fallback>
            </mc:AlternateContent>
          </a:graphicData>
        </a:graphic>
      </p:graphicFrame>
      <p:pic>
        <p:nvPicPr>
          <p:cNvPr id="2" name="Picture 1"/>
          <p:cNvPicPr>
            <a:picLocks noChangeAspect="1"/>
          </p:cNvPicPr>
          <p:nvPr/>
        </p:nvPicPr>
        <p:blipFill>
          <a:blip r:embed="rId7"/>
          <a:stretch>
            <a:fillRect/>
          </a:stretch>
        </p:blipFill>
        <p:spPr>
          <a:xfrm>
            <a:off x="976174" y="4896943"/>
            <a:ext cx="3753804" cy="1534738"/>
          </a:xfrm>
          <a:prstGeom prst="rect">
            <a:avLst/>
          </a:prstGeom>
        </p:spPr>
      </p:pic>
      <p:pic>
        <p:nvPicPr>
          <p:cNvPr id="3" name="Picture 2"/>
          <p:cNvPicPr>
            <a:picLocks noChangeAspect="1"/>
          </p:cNvPicPr>
          <p:nvPr/>
        </p:nvPicPr>
        <p:blipFill>
          <a:blip r:embed="rId8"/>
          <a:stretch>
            <a:fillRect/>
          </a:stretch>
        </p:blipFill>
        <p:spPr>
          <a:xfrm>
            <a:off x="5642941" y="4967221"/>
            <a:ext cx="5399307" cy="1414928"/>
          </a:xfrm>
          <a:prstGeom prst="rect">
            <a:avLst/>
          </a:prstGeom>
        </p:spPr>
      </p:pic>
      <p:sp>
        <p:nvSpPr>
          <p:cNvPr id="5" name="제목 4">
            <a:extLst>
              <a:ext uri="{FF2B5EF4-FFF2-40B4-BE49-F238E27FC236}">
                <a16:creationId xmlns:a16="http://schemas.microsoft.com/office/drawing/2014/main" id="{B09F7006-FDAF-CF3A-7B32-C4B7F0130579}"/>
              </a:ext>
            </a:extLst>
          </p:cNvPr>
          <p:cNvSpPr>
            <a:spLocks noGrp="1"/>
          </p:cNvSpPr>
          <p:nvPr>
            <p:ph type="title"/>
          </p:nvPr>
        </p:nvSpPr>
        <p:spPr/>
        <p:txBody>
          <a:bodyPr/>
          <a:lstStyle/>
          <a:p>
            <a:r>
              <a:rPr lang="ko-Kore-KR" altLang="en-US"/>
              <a:t>协方差矩阵</a:t>
            </a:r>
          </a:p>
        </p:txBody>
      </p:sp>
    </p:spTree>
    <p:extLst>
      <p:ext uri="{BB962C8B-B14F-4D97-AF65-F5344CB8AC3E}">
        <p14:creationId xmlns:p14="http://schemas.microsoft.com/office/powerpoint/2010/main" val="1437851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p:cNvSpPr>
            <a:spLocks noGrp="1" noChangeArrowheads="1"/>
          </p:cNvSpPr>
          <p:nvPr>
            <p:ph type="body" idx="1"/>
          </p:nvPr>
        </p:nvSpPr>
        <p:spPr>
          <a:xfrm>
            <a:off x="571499" y="1219200"/>
            <a:ext cx="11049001" cy="5384800"/>
          </a:xfrm>
        </p:spPr>
        <p:txBody>
          <a:bodyPr/>
          <a:lstStyle/>
          <a:p>
            <a:pPr eaLnBrk="1" hangingPunct="1">
              <a:spcAft>
                <a:spcPts val="600"/>
              </a:spcAft>
              <a:buSzPct val="80000"/>
            </a:pPr>
            <a:r>
              <a:rPr lang="en-US" altLang="en-US" sz="2400" b="1" dirty="0"/>
              <a:t>箱线图</a:t>
            </a:r>
            <a:r>
              <a:rPr lang="en-US" altLang="en-US" sz="2400" dirty="0"/>
              <a:t>：五数摘要的图形展示</a:t>
            </a:r>
          </a:p>
          <a:p>
            <a:pPr eaLnBrk="1" hangingPunct="1">
              <a:spcAft>
                <a:spcPts val="600"/>
              </a:spcAft>
              <a:buSzPct val="80000"/>
            </a:pPr>
            <a:r>
              <a:rPr lang="en-US" altLang="en-US" sz="2400" b="1" dirty="0"/>
              <a:t>直方图</a:t>
            </a:r>
            <a:r>
              <a:rPr lang="en-US" altLang="en-US" sz="2400" dirty="0"/>
              <a:t>：x轴为值，y轴表示频率 </a:t>
            </a:r>
          </a:p>
          <a:p>
            <a:pPr eaLnBrk="1" hangingPunct="1">
              <a:spcAft>
                <a:spcPts val="600"/>
              </a:spcAft>
              <a:buSzPct val="80000"/>
            </a:pPr>
            <a:r>
              <a:rPr lang="en-US" altLang="en-US" sz="2400" b="1" dirty="0"/>
              <a:t>分位数图</a:t>
            </a:r>
            <a:r>
              <a:rPr lang="en-US" altLang="en-US" sz="2400" dirty="0"/>
              <a:t>：每个值x</a:t>
            </a:r>
            <a:r>
              <a:rPr lang="en-US" altLang="en-US" sz="2400" i="1" baseline="-25000" dirty="0"/>
              <a:t>i</a:t>
            </a:r>
            <a:r>
              <a:rPr lang="en-US" altLang="en-US" sz="2400" baseline="-25000" dirty="0"/>
              <a:t>  </a:t>
            </a:r>
            <a:r>
              <a:rPr lang="en-US" altLang="en-US" sz="2400" dirty="0"/>
              <a:t> 与f</a:t>
            </a:r>
            <a:r>
              <a:rPr lang="en-US" altLang="en-US" sz="2400" i="1" baseline="-25000" dirty="0"/>
              <a:t>i </a:t>
            </a:r>
            <a:r>
              <a:rPr lang="en-US" altLang="en-US" sz="2400" dirty="0"/>
              <a:t> 配对，表示约100f</a:t>
            </a:r>
            <a:r>
              <a:rPr lang="en-US" altLang="en-US" sz="2400" i="1" baseline="-25000" dirty="0"/>
              <a:t>i </a:t>
            </a:r>
            <a:r>
              <a:rPr lang="en-US" altLang="en-US" sz="2400" dirty="0"/>
              <a:t> %的数据</a:t>
            </a:r>
            <a:r>
              <a:rPr lang="en-US" altLang="en-US" sz="2400" dirty="0">
                <a:sym typeface="Symbol" panose="05050102010706020507" pitchFamily="18" charset="2"/>
              </a:rPr>
              <a:t>小于</a:t>
            </a:r>
            <a:r>
              <a:rPr lang="en-US" altLang="en-US" sz="2400" i="1" dirty="0"/>
              <a:t>等于x</a:t>
            </a:r>
            <a:r>
              <a:rPr lang="en-US" altLang="en-US" sz="2400" i="1" baseline="-25000" dirty="0"/>
              <a:t>i</a:t>
            </a:r>
            <a:r>
              <a:rPr lang="en-US" altLang="en-US" sz="2400" baseline="-25000" dirty="0"/>
              <a:t> </a:t>
            </a:r>
            <a:endParaRPr lang="en-US" altLang="en-US" sz="2400" dirty="0"/>
          </a:p>
          <a:p>
            <a:pPr eaLnBrk="1" hangingPunct="1">
              <a:spcAft>
                <a:spcPts val="600"/>
              </a:spcAft>
              <a:buSzPct val="80000"/>
            </a:pPr>
            <a:r>
              <a:rPr lang="en-US" altLang="en-US" sz="2400" b="1" dirty="0"/>
              <a:t>分位数-分位数（Q-Q）图</a:t>
            </a:r>
            <a:r>
              <a:rPr lang="en-US" altLang="en-US" sz="2400" dirty="0"/>
              <a:t>：将一个</a:t>
            </a:r>
            <a:r>
              <a:rPr lang="en-US" altLang="en-US" sz="2400" dirty="0" err="1"/>
              <a:t>单变量</a:t>
            </a:r>
            <a:r>
              <a:rPr lang="en-US" altLang="en-US" sz="2400" dirty="0"/>
              <a:t>分布的分位数与另一个分布的对应分位数绘制在坐标系中</a:t>
            </a:r>
          </a:p>
          <a:p>
            <a:pPr eaLnBrk="1" hangingPunct="1">
              <a:spcAft>
                <a:spcPts val="600"/>
              </a:spcAft>
              <a:buSzPct val="80000"/>
            </a:pPr>
            <a:r>
              <a:rPr lang="en-US" altLang="en-US" sz="2400" b="1" dirty="0"/>
              <a:t>散点图</a:t>
            </a:r>
            <a:r>
              <a:rPr lang="en-US" altLang="en-US" sz="2400" dirty="0"/>
              <a:t>：每个值对构成一对坐标，并在平面上以点形式绘制</a:t>
            </a:r>
          </a:p>
        </p:txBody>
      </p:sp>
      <p:sp>
        <p:nvSpPr>
          <p:cNvPr id="3" name="제목 2">
            <a:extLst>
              <a:ext uri="{FF2B5EF4-FFF2-40B4-BE49-F238E27FC236}">
                <a16:creationId xmlns:a16="http://schemas.microsoft.com/office/drawing/2014/main" id="{D8101DCD-F43B-B663-9D66-3D04600C3072}"/>
              </a:ext>
            </a:extLst>
          </p:cNvPr>
          <p:cNvSpPr>
            <a:spLocks noGrp="1"/>
          </p:cNvSpPr>
          <p:nvPr>
            <p:ph type="title"/>
          </p:nvPr>
        </p:nvSpPr>
        <p:spPr/>
        <p:txBody>
          <a:bodyPr vert="horz" lIns="91436" tIns="45718" rIns="91436" bIns="45718" rtlCol="0" anchor="b">
            <a:normAutofit/>
          </a:bodyPr>
          <a:lstStyle/>
          <a:p>
            <a:r>
              <a:rPr lang="ko-Kore-KR" altLang="en-US"/>
              <a:t>基本统计描述的图形展示</a:t>
            </a:r>
          </a:p>
        </p:txBody>
      </p:sp>
    </p:spTree>
    <p:extLst>
      <p:ext uri="{BB962C8B-B14F-4D97-AF65-F5344CB8AC3E}">
        <p14:creationId xmlns:p14="http://schemas.microsoft.com/office/powerpoint/2010/main" val="21863102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type="body" sz="half" idx="1"/>
          </p:nvPr>
        </p:nvSpPr>
        <p:spPr>
          <a:xfrm>
            <a:off x="571500" y="1164292"/>
            <a:ext cx="7401622" cy="4516072"/>
          </a:xfrm>
        </p:spPr>
        <p:txBody>
          <a:bodyPr/>
          <a:lstStyle/>
          <a:p>
            <a:pPr>
              <a:spcAft>
                <a:spcPts val="600"/>
              </a:spcAft>
            </a:pPr>
            <a:r>
              <a:rPr lang="en-US" altLang="en-US" sz="2200" b="1" dirty="0">
                <a:ea typeface="STKaiti" panose="02010600040101010101" pitchFamily="2" charset="-122"/>
              </a:rPr>
              <a:t>四分位数</a:t>
            </a:r>
            <a:r>
              <a:rPr lang="en-US" altLang="en-US" sz="2200" dirty="0">
                <a:ea typeface="STKaiti" panose="02010600040101010101" pitchFamily="2" charset="-122"/>
              </a:rPr>
              <a:t>：Q</a:t>
            </a:r>
            <a:r>
              <a:rPr lang="en-US" altLang="en-US" sz="2200" baseline="-25000" dirty="0">
                <a:ea typeface="STKaiti" panose="02010600040101010101" pitchFamily="2" charset="-122"/>
              </a:rPr>
              <a:t>1</a:t>
            </a:r>
            <a:r>
              <a:rPr lang="en-US" altLang="en-US" sz="2200" dirty="0">
                <a:ea typeface="STKaiti" panose="02010600040101010101" pitchFamily="2" charset="-122"/>
              </a:rPr>
              <a:t> （25</a:t>
            </a:r>
            <a:r>
              <a:rPr lang="en-US" altLang="en-US" sz="2200" baseline="30000" dirty="0">
                <a:ea typeface="STKaiti" panose="02010600040101010101" pitchFamily="2" charset="-122"/>
              </a:rPr>
              <a:t>th</a:t>
            </a:r>
            <a:r>
              <a:rPr lang="en-US" altLang="en-US" sz="2200" dirty="0">
                <a:ea typeface="STKaiti" panose="02010600040101010101" pitchFamily="2" charset="-122"/>
              </a:rPr>
              <a:t> 百分位数），Q</a:t>
            </a:r>
            <a:r>
              <a:rPr lang="en-US" altLang="en-US" sz="2200" baseline="-25000" dirty="0">
                <a:ea typeface="STKaiti" panose="02010600040101010101" pitchFamily="2" charset="-122"/>
              </a:rPr>
              <a:t>3</a:t>
            </a:r>
            <a:r>
              <a:rPr lang="en-US" altLang="en-US" sz="2200" dirty="0">
                <a:ea typeface="STKaiti" panose="02010600040101010101" pitchFamily="2" charset="-122"/>
              </a:rPr>
              <a:t> （75</a:t>
            </a:r>
            <a:r>
              <a:rPr lang="en-US" altLang="en-US" sz="2200" baseline="30000" dirty="0">
                <a:ea typeface="STKaiti" panose="02010600040101010101" pitchFamily="2" charset="-122"/>
              </a:rPr>
              <a:t>th</a:t>
            </a:r>
            <a:r>
              <a:rPr lang="en-US" altLang="en-US" sz="2200" dirty="0">
                <a:ea typeface="STKaiti" panose="02010600040101010101" pitchFamily="2" charset="-122"/>
              </a:rPr>
              <a:t> 百分位数）</a:t>
            </a:r>
          </a:p>
          <a:p>
            <a:pPr>
              <a:spcAft>
                <a:spcPts val="600"/>
              </a:spcAft>
            </a:pPr>
            <a:r>
              <a:rPr lang="en-US" altLang="en-US" sz="2200" b="1" dirty="0">
                <a:ea typeface="STKaiti" panose="02010600040101010101" pitchFamily="2" charset="-122"/>
              </a:rPr>
              <a:t>四分位距</a:t>
            </a:r>
            <a:r>
              <a:rPr lang="en-US" altLang="en-US" sz="2200" dirty="0">
                <a:ea typeface="STKaiti" panose="02010600040101010101" pitchFamily="2" charset="-122"/>
              </a:rPr>
              <a:t>：IQR = Q</a:t>
            </a:r>
            <a:r>
              <a:rPr lang="en-US" altLang="en-US" sz="2200" baseline="-25000" dirty="0">
                <a:ea typeface="STKaiti" panose="02010600040101010101" pitchFamily="2" charset="-122"/>
              </a:rPr>
              <a:t>3 </a:t>
            </a:r>
            <a:r>
              <a:rPr lang="en-US" altLang="en-US" sz="2200" dirty="0">
                <a:ea typeface="STKaiti" panose="02010600040101010101" pitchFamily="2" charset="-122"/>
              </a:rPr>
              <a:t> –</a:t>
            </a:r>
            <a:r>
              <a:rPr lang="en-US" altLang="en-US" sz="2200" baseline="-25000" dirty="0">
                <a:ea typeface="STKaiti" panose="02010600040101010101" pitchFamily="2" charset="-122"/>
              </a:rPr>
              <a:t> </a:t>
            </a:r>
            <a:r>
              <a:rPr lang="en-US" altLang="en-US" sz="2200" dirty="0">
                <a:ea typeface="STKaiti" panose="02010600040101010101" pitchFamily="2" charset="-122"/>
              </a:rPr>
              <a:t> Q</a:t>
            </a:r>
            <a:r>
              <a:rPr lang="en-US" altLang="en-US" sz="2200" baseline="-25000" dirty="0">
                <a:ea typeface="STKaiti" panose="02010600040101010101" pitchFamily="2" charset="-122"/>
              </a:rPr>
              <a:t>1 </a:t>
            </a:r>
          </a:p>
          <a:p>
            <a:pPr>
              <a:spcAft>
                <a:spcPts val="600"/>
              </a:spcAft>
            </a:pPr>
            <a:r>
              <a:rPr lang="en-US" altLang="en-US" sz="2200" b="1" dirty="0">
                <a:ea typeface="STKaiti" panose="02010600040101010101" pitchFamily="2" charset="-122"/>
              </a:rPr>
              <a:t>五数概括</a:t>
            </a:r>
            <a:r>
              <a:rPr lang="en-US" altLang="en-US" sz="2200" dirty="0">
                <a:ea typeface="STKaiti" panose="02010600040101010101" pitchFamily="2" charset="-122"/>
              </a:rPr>
              <a:t>：最小值，Q</a:t>
            </a:r>
            <a:r>
              <a:rPr lang="en-US" altLang="en-US" sz="2200" baseline="-25000" dirty="0">
                <a:ea typeface="STKaiti" panose="02010600040101010101" pitchFamily="2" charset="-122"/>
              </a:rPr>
              <a:t>1</a:t>
            </a:r>
            <a:r>
              <a:rPr lang="en-US" altLang="en-US" sz="2200" dirty="0">
                <a:ea typeface="STKaiti" panose="02010600040101010101" pitchFamily="2" charset="-122"/>
              </a:rPr>
              <a:t> ，中位数，</a:t>
            </a:r>
            <a:r>
              <a:rPr lang="en-US" altLang="en-US" sz="2200" baseline="-25000" dirty="0">
                <a:ea typeface="STKaiti" panose="02010600040101010101" pitchFamily="2" charset="-122"/>
              </a:rPr>
              <a:t> </a:t>
            </a:r>
            <a:r>
              <a:rPr lang="en-US" altLang="en-US" sz="2200" dirty="0">
                <a:ea typeface="STKaiti" panose="02010600040101010101" pitchFamily="2" charset="-122"/>
              </a:rPr>
              <a:t> Q</a:t>
            </a:r>
            <a:r>
              <a:rPr lang="en-US" altLang="en-US" sz="2200" baseline="-25000" dirty="0">
                <a:ea typeface="STKaiti" panose="02010600040101010101" pitchFamily="2" charset="-122"/>
              </a:rPr>
              <a:t>3</a:t>
            </a:r>
            <a:r>
              <a:rPr lang="en-US" altLang="en-US" sz="2200" dirty="0">
                <a:ea typeface="STKaiti" panose="02010600040101010101" pitchFamily="2" charset="-122"/>
              </a:rPr>
              <a:t> ，最大值</a:t>
            </a:r>
          </a:p>
          <a:p>
            <a:pPr>
              <a:spcAft>
                <a:spcPts val="600"/>
              </a:spcAft>
            </a:pPr>
            <a:r>
              <a:rPr lang="en-US" altLang="en-US" sz="2200" b="1" dirty="0">
                <a:ea typeface="STKaiti" panose="02010600040101010101" pitchFamily="2" charset="-122"/>
              </a:rPr>
              <a:t>箱线图</a:t>
            </a:r>
            <a:r>
              <a:rPr lang="en-US" altLang="en-US" sz="2200" dirty="0">
                <a:ea typeface="STKaiti" panose="02010600040101010101" pitchFamily="2" charset="-122"/>
              </a:rPr>
              <a:t>：数据用一个箱形图表示</a:t>
            </a:r>
          </a:p>
          <a:p>
            <a:pPr lvl="1">
              <a:lnSpc>
                <a:spcPct val="120000"/>
              </a:lnSpc>
            </a:pPr>
            <a:r>
              <a:rPr lang="en-US" altLang="en-US" sz="2200" dirty="0">
                <a:ea typeface="STKaiti" panose="02010600040101010101" pitchFamily="2" charset="-122"/>
              </a:rPr>
              <a:t>Q</a:t>
            </a:r>
            <a:r>
              <a:rPr lang="en-US" altLang="en-US" sz="2200" baseline="-25000" dirty="0">
                <a:ea typeface="STKaiti" panose="02010600040101010101" pitchFamily="2" charset="-122"/>
              </a:rPr>
              <a:t>1</a:t>
            </a:r>
            <a:r>
              <a:rPr lang="en-US" altLang="en-US" sz="2200" dirty="0">
                <a:ea typeface="STKaiti" panose="02010600040101010101" pitchFamily="2" charset="-122"/>
              </a:rPr>
              <a:t> , Q</a:t>
            </a:r>
            <a:r>
              <a:rPr lang="en-US" altLang="en-US" sz="2200" baseline="-25000" dirty="0">
                <a:ea typeface="STKaiti" panose="02010600040101010101" pitchFamily="2" charset="-122"/>
              </a:rPr>
              <a:t>3</a:t>
            </a:r>
            <a:r>
              <a:rPr lang="en-US" altLang="en-US" sz="2200" dirty="0">
                <a:ea typeface="STKaiti" panose="02010600040101010101" pitchFamily="2" charset="-122"/>
              </a:rPr>
              <a:t> , IQR：箱体的两端位于第一和第三四分位数处，即箱体的高度等于 IQR</a:t>
            </a:r>
          </a:p>
          <a:p>
            <a:pPr lvl="1">
              <a:spcAft>
                <a:spcPts val="600"/>
              </a:spcAft>
            </a:pPr>
            <a:r>
              <a:rPr lang="en-US" altLang="en-US" sz="2200" dirty="0">
                <a:ea typeface="STKaiti" panose="02010600040101010101" pitchFamily="2" charset="-122"/>
              </a:rPr>
              <a:t>中位数（Q</a:t>
            </a:r>
            <a:r>
              <a:rPr lang="en-US" altLang="en-US" sz="2200" baseline="-25000" dirty="0">
                <a:ea typeface="STKaiti" panose="02010600040101010101" pitchFamily="2" charset="-122"/>
              </a:rPr>
              <a:t>2</a:t>
            </a:r>
            <a:r>
              <a:rPr lang="en-US" altLang="en-US" sz="2200" dirty="0">
                <a:ea typeface="STKaiti" panose="02010600040101010101" pitchFamily="2" charset="-122"/>
              </a:rPr>
              <a:t> ）由箱体内部的一条线标记 </a:t>
            </a:r>
          </a:p>
          <a:p>
            <a:pPr lvl="1">
              <a:lnSpc>
                <a:spcPct val="120000"/>
              </a:lnSpc>
            </a:pPr>
            <a:r>
              <a:rPr lang="en-US" altLang="en-US" sz="2200" dirty="0">
                <a:ea typeface="STKaiti" panose="02010600040101010101" pitchFamily="2" charset="-122"/>
              </a:rPr>
              <a:t>须线：两条从箱体延伸至最小值和最大值的线</a:t>
            </a:r>
          </a:p>
        </p:txBody>
      </p:sp>
      <p:pic>
        <p:nvPicPr>
          <p:cNvPr id="6" name="Picture 2" descr="http://blog.contextures.com/wp-content/uploads/2013/06/boxplotsimple0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0370" y="1262902"/>
            <a:ext cx="3467100" cy="377190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txBox="1">
            <a:spLocks noChangeArrowheads="1"/>
          </p:cNvSpPr>
          <p:nvPr/>
        </p:nvSpPr>
        <p:spPr>
          <a:xfrm>
            <a:off x="571500" y="5383305"/>
            <a:ext cx="10595264" cy="1033318"/>
          </a:xfrm>
          <a:prstGeom prst="rect">
            <a:avLst/>
          </a:prstGeom>
        </p:spPr>
        <p:txBody>
          <a:bodyPr vert="horz" lIns="91436" tIns="45718" rIns="91436" bIns="4571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lnSpc>
                <a:spcPct val="120000"/>
              </a:lnSpc>
            </a:pPr>
            <a:r>
              <a:rPr lang="en-US" altLang="en-US" sz="2200" dirty="0">
                <a:latin typeface="STKaiti" panose="02010600040101010101" pitchFamily="2" charset="-122"/>
                <a:ea typeface="STKaiti" panose="02010600040101010101" pitchFamily="2" charset="-122"/>
              </a:rPr>
              <a:t>异常值：超出指定异常值阈值的点，单独绘制</a:t>
            </a:r>
          </a:p>
          <a:p>
            <a:pPr lvl="2">
              <a:spcAft>
                <a:spcPts val="600"/>
              </a:spcAft>
            </a:pPr>
            <a:r>
              <a:rPr lang="en-US" altLang="en-US" sz="2200" b="1" dirty="0">
                <a:latin typeface="STKaiti" panose="02010600040101010101" pitchFamily="2" charset="-122"/>
                <a:ea typeface="STKaiti" panose="02010600040101010101" pitchFamily="2" charset="-122"/>
              </a:rPr>
              <a:t>异常值</a:t>
            </a:r>
            <a:r>
              <a:rPr lang="en-US" altLang="en-US" sz="2200" dirty="0">
                <a:latin typeface="STKaiti" panose="02010600040101010101" pitchFamily="2" charset="-122"/>
                <a:ea typeface="STKaiti" panose="02010600040101010101" pitchFamily="2" charset="-122"/>
              </a:rPr>
              <a:t>：通常指高于/低于1.5倍 IQR 的值</a:t>
            </a:r>
          </a:p>
        </p:txBody>
      </p:sp>
      <p:sp>
        <p:nvSpPr>
          <p:cNvPr id="3" name="제목 2">
            <a:extLst>
              <a:ext uri="{FF2B5EF4-FFF2-40B4-BE49-F238E27FC236}">
                <a16:creationId xmlns:a16="http://schemas.microsoft.com/office/drawing/2014/main" id="{1A24008D-8735-2BFE-E6A7-A8073238FF06}"/>
              </a:ext>
            </a:extLst>
          </p:cNvPr>
          <p:cNvSpPr>
            <a:spLocks noGrp="1"/>
          </p:cNvSpPr>
          <p:nvPr>
            <p:ph type="title"/>
          </p:nvPr>
        </p:nvSpPr>
        <p:spPr/>
        <p:txBody>
          <a:bodyPr>
            <a:normAutofit fontScale="90000"/>
          </a:bodyPr>
          <a:lstStyle/>
          <a:p>
            <a:pPr latinLnBrk="1"/>
            <a:r>
              <a:rPr lang="zh-CN" altLang="ko-Kore-KR">
                <a:ea typeface="STKaiti" panose="02010600040101010101" pitchFamily="2" charset="-122"/>
                <a:cs typeface="Times New Roman" panose="02020603050405020304" pitchFamily="18" charset="0"/>
              </a:rPr>
              <a:t>数据离散程度的测量：四分位数与箱线图</a:t>
            </a:r>
            <a:endParaRPr lang="ko-Kore-KR" altLang="en-US">
              <a:cs typeface="Times New Roman" panose="02020603050405020304" pitchFamily="18" charset="0"/>
            </a:endParaRPr>
          </a:p>
        </p:txBody>
      </p:sp>
    </p:spTree>
    <p:extLst>
      <p:ext uri="{BB962C8B-B14F-4D97-AF65-F5344CB8AC3E}">
        <p14:creationId xmlns:p14="http://schemas.microsoft.com/office/powerpoint/2010/main" val="3278097179"/>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5" name="Object 1029"/>
          <p:cNvGraphicFramePr>
            <a:graphicFrameLocks noGrp="1"/>
          </p:cNvGraphicFramePr>
          <p:nvPr>
            <p:ph sz="half" idx="2"/>
          </p:nvPr>
        </p:nvGraphicFramePr>
        <p:xfrm>
          <a:off x="7511303" y="1088090"/>
          <a:ext cx="4833097" cy="3197039"/>
        </p:xfrm>
        <a:graphic>
          <a:graphicData uri="http://schemas.openxmlformats.org/presentationml/2006/ole">
            <mc:AlternateContent xmlns:mc="http://schemas.openxmlformats.org/markup-compatibility/2006">
              <mc:Choice xmlns:v="urn:schemas-microsoft-com:vml" Requires="v">
                <p:oleObj name="Chart" r:id="rId3" imgW="7915243" imgH="3848215" progId="MSGraph.Chart.8">
                  <p:embed followColorScheme="full"/>
                </p:oleObj>
              </mc:Choice>
              <mc:Fallback>
                <p:oleObj name="Chart" r:id="rId3" imgW="7915243" imgH="3848215" progId="MSGraph.Chart.8">
                  <p:embed followColorScheme="full"/>
                  <p:pic>
                    <p:nvPicPr>
                      <p:cNvPr id="25605" name="Object 1029"/>
                      <p:cNvPicPr>
                        <a:picLocks noChangeArrowheads="1"/>
                      </p:cNvPicPr>
                      <p:nvPr/>
                    </p:nvPicPr>
                    <p:blipFill>
                      <a:blip r:embed="rId4"/>
                      <a:srcRect/>
                      <a:stretch>
                        <a:fillRect/>
                      </a:stretch>
                    </p:blipFill>
                    <p:spPr bwMode="auto">
                      <a:xfrm>
                        <a:off x="7511303" y="1088090"/>
                        <a:ext cx="4833097" cy="3197039"/>
                      </a:xfrm>
                      <a:prstGeom prst="rect">
                        <a:avLst/>
                      </a:prstGeom>
                      <a:noFill/>
                      <a:ln>
                        <a:noFill/>
                      </a:ln>
                      <a:effectLst/>
                    </p:spPr>
                  </p:pic>
                </p:oleObj>
              </mc:Fallback>
            </mc:AlternateContent>
          </a:graphicData>
        </a:graphic>
      </p:graphicFrame>
      <p:sp>
        <p:nvSpPr>
          <p:cNvPr id="25604" name="Rectangle 1027"/>
          <p:cNvSpPr>
            <a:spLocks noGrp="1" noChangeArrowheads="1"/>
          </p:cNvSpPr>
          <p:nvPr>
            <p:ph type="body" sz="half" idx="1"/>
          </p:nvPr>
        </p:nvSpPr>
        <p:spPr>
          <a:xfrm>
            <a:off x="445709" y="1088090"/>
            <a:ext cx="6510675" cy="5689227"/>
          </a:xfrm>
        </p:spPr>
        <p:txBody>
          <a:bodyPr/>
          <a:lstStyle/>
          <a:p>
            <a:pPr eaLnBrk="1" hangingPunct="1">
              <a:lnSpc>
                <a:spcPct val="110000"/>
              </a:lnSpc>
            </a:pPr>
            <a:r>
              <a:rPr lang="en-US" altLang="en-US" sz="2200" dirty="0">
                <a:ea typeface="STKaiti" panose="02010600040101010101" pitchFamily="2" charset="-122"/>
              </a:rPr>
              <a:t>直方图：以条形图形式展示分类数据的频率分布</a:t>
            </a:r>
          </a:p>
          <a:p>
            <a:pPr>
              <a:lnSpc>
                <a:spcPct val="110000"/>
              </a:lnSpc>
            </a:pPr>
            <a:r>
              <a:rPr lang="en-US" altLang="en-US" sz="2200" dirty="0">
                <a:ea typeface="STKaiti" panose="02010600040101010101" pitchFamily="2" charset="-122"/>
              </a:rPr>
              <a:t>直方图与条形图的区别</a:t>
            </a:r>
          </a:p>
          <a:p>
            <a:pPr lvl="1"/>
            <a:r>
              <a:rPr lang="en-US" sz="2200" dirty="0">
                <a:ea typeface="STKaiti" panose="02010600040101010101" pitchFamily="2" charset="-122"/>
              </a:rPr>
              <a:t>直方图用于显示变量的分布，而条形图用于比较变量</a:t>
            </a:r>
          </a:p>
          <a:p>
            <a:pPr lvl="1"/>
            <a:r>
              <a:rPr lang="en-US" sz="2200" dirty="0">
                <a:ea typeface="STKaiti" panose="02010600040101010101" pitchFamily="2" charset="-122"/>
              </a:rPr>
              <a:t>直方图绘制分类后的定量数据，而条形图绘制分类数据</a:t>
            </a:r>
          </a:p>
          <a:p>
            <a:pPr lvl="1"/>
            <a:r>
              <a:rPr lang="en-US" sz="2200" dirty="0">
                <a:ea typeface="STKaiti" panose="02010600040101010101" pitchFamily="2" charset="-122"/>
              </a:rPr>
              <a:t>条形图中的条形可以重新排序，而直方图中的条形不能重新排序</a:t>
            </a:r>
          </a:p>
          <a:p>
            <a:pPr lvl="1"/>
            <a:r>
              <a:rPr lang="en-US" sz="2200" dirty="0">
                <a:ea typeface="STKaiti" panose="02010600040101010101" pitchFamily="2" charset="-122"/>
              </a:rPr>
              <a:t>与条形图的区别在于，直方图中表示值的是条形区域，而非条形高度，这一区别在类别宽度不均匀时尤为重要 </a:t>
            </a:r>
          </a:p>
        </p:txBody>
      </p:sp>
      <p:pic>
        <p:nvPicPr>
          <p:cNvPr id="23585" name="Picture 33" descr="http://canvasjs.com/wp-content/uploads/2013/01/html5_multi_series_bar_chart.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1135" y="4204446"/>
            <a:ext cx="5351571" cy="257287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9716495" y="1618009"/>
            <a:ext cx="1343584" cy="338554"/>
          </a:xfrm>
          <a:prstGeom prst="rect">
            <a:avLst/>
          </a:prstGeom>
          <a:solidFill>
            <a:srgbClr val="92D050"/>
          </a:solidFill>
        </p:spPr>
        <p:txBody>
          <a:bodyPr wrap="square" rtlCol="0">
            <a:spAutoFit/>
          </a:bodyPr>
          <a:lstStyle/>
          <a:p>
            <a:pPr algn="ctr"/>
            <a:r>
              <a:rPr lang="en-US" sz="1600" dirty="0">
                <a:latin typeface="STKaiti" panose="02010600040101010101" pitchFamily="2" charset="-122"/>
                <a:ea typeface="STKaiti" panose="02010600040101010101" pitchFamily="2" charset="-122"/>
              </a:rPr>
              <a:t>直方图</a:t>
            </a:r>
          </a:p>
        </p:txBody>
      </p:sp>
      <p:sp>
        <p:nvSpPr>
          <p:cNvPr id="8" name="TextBox 7"/>
          <p:cNvSpPr txBox="1"/>
          <p:nvPr/>
        </p:nvSpPr>
        <p:spPr>
          <a:xfrm>
            <a:off x="10132801" y="5246609"/>
            <a:ext cx="1164090" cy="369332"/>
          </a:xfrm>
          <a:prstGeom prst="rect">
            <a:avLst/>
          </a:prstGeom>
          <a:solidFill>
            <a:srgbClr val="00B0F0"/>
          </a:solidFill>
        </p:spPr>
        <p:txBody>
          <a:bodyPr wrap="square" rtlCol="0">
            <a:spAutoFit/>
          </a:bodyPr>
          <a:lstStyle/>
          <a:p>
            <a:pPr algn="ctr"/>
            <a:r>
              <a:rPr lang="en-US" sz="1800" dirty="0">
                <a:latin typeface="STKaiti" panose="02010600040101010101" pitchFamily="2" charset="-122"/>
                <a:ea typeface="STKaiti" panose="02010600040101010101" pitchFamily="2" charset="-122"/>
              </a:rPr>
              <a:t>条形图</a:t>
            </a:r>
          </a:p>
        </p:txBody>
      </p:sp>
      <p:sp>
        <p:nvSpPr>
          <p:cNvPr id="4" name="제목 3">
            <a:extLst>
              <a:ext uri="{FF2B5EF4-FFF2-40B4-BE49-F238E27FC236}">
                <a16:creationId xmlns:a16="http://schemas.microsoft.com/office/drawing/2014/main" id="{800475D8-630C-8818-902A-52B2C67B6324}"/>
              </a:ext>
            </a:extLst>
          </p:cNvPr>
          <p:cNvSpPr>
            <a:spLocks noGrp="1"/>
          </p:cNvSpPr>
          <p:nvPr>
            <p:ph type="title"/>
          </p:nvPr>
        </p:nvSpPr>
        <p:spPr/>
        <p:txBody>
          <a:bodyPr>
            <a:normAutofit fontScale="90000"/>
          </a:bodyPr>
          <a:lstStyle/>
          <a:p>
            <a:r>
              <a:rPr lang="ko-Kore-KR" altLang="en-US"/>
              <a:t>直方图</a:t>
            </a:r>
          </a:p>
        </p:txBody>
      </p:sp>
    </p:spTree>
    <p:extLst>
      <p:ext uri="{BB962C8B-B14F-4D97-AF65-F5344CB8AC3E}">
        <p14:creationId xmlns:p14="http://schemas.microsoft.com/office/powerpoint/2010/main" val="2988311795"/>
      </p:ext>
    </p:extLst>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457200" y="152400"/>
            <a:ext cx="11201400" cy="762000"/>
          </a:xfrm>
        </p:spPr>
        <p:txBody>
          <a:bodyPr>
            <a:noAutofit/>
          </a:bodyPr>
          <a:lstStyle/>
          <a:p>
            <a:pPr eaLnBrk="1" hangingPunct="1"/>
            <a:r>
              <a:rPr lang="en-US" altLang="en-US" dirty="0"/>
              <a:t>直方图通常比箱线图更能说明问题</a:t>
            </a:r>
          </a:p>
        </p:txBody>
      </p:sp>
      <p:graphicFrame>
        <p:nvGraphicFramePr>
          <p:cNvPr id="26628" name="Object 4"/>
          <p:cNvGraphicFramePr>
            <a:graphicFrameLocks noGrp="1" noChangeAspect="1"/>
          </p:cNvGraphicFramePr>
          <p:nvPr>
            <p:ph sz="half" idx="2"/>
          </p:nvPr>
        </p:nvGraphicFramePr>
        <p:xfrm>
          <a:off x="1314450" y="1277936"/>
          <a:ext cx="3962400" cy="2417763"/>
        </p:xfrm>
        <a:graphic>
          <a:graphicData uri="http://schemas.openxmlformats.org/presentationml/2006/ole">
            <mc:AlternateContent xmlns:mc="http://schemas.openxmlformats.org/markup-compatibility/2006">
              <mc:Choice xmlns:v="urn:schemas-microsoft-com:vml" Requires="v">
                <p:oleObj name="SmartDraw" r:id="rId3" imgW="3063240" imgH="1691640" progId="SmartDraw.2">
                  <p:embed/>
                </p:oleObj>
              </mc:Choice>
              <mc:Fallback>
                <p:oleObj name="SmartDraw" r:id="rId3" imgW="3063240" imgH="1691640" progId="SmartDraw.2">
                  <p:embed/>
                  <p:pic>
                    <p:nvPicPr>
                      <p:cNvPr id="266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4450" y="1277936"/>
                        <a:ext cx="3962400" cy="241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29" name="Object 7"/>
          <p:cNvGraphicFramePr>
            <a:graphicFrameLocks noGrp="1" noChangeAspect="1"/>
          </p:cNvGraphicFramePr>
          <p:nvPr>
            <p:ph sz="half" idx="1"/>
          </p:nvPr>
        </p:nvGraphicFramePr>
        <p:xfrm>
          <a:off x="1390650" y="4059235"/>
          <a:ext cx="3886200" cy="2433637"/>
        </p:xfrm>
        <a:graphic>
          <a:graphicData uri="http://schemas.openxmlformats.org/presentationml/2006/ole">
            <mc:AlternateContent xmlns:mc="http://schemas.openxmlformats.org/markup-compatibility/2006">
              <mc:Choice xmlns:v="urn:schemas-microsoft-com:vml" Requires="v">
                <p:oleObj name="SmartDraw" r:id="rId5" imgW="3063240" imgH="1691640" progId="SmartDraw.2">
                  <p:embed/>
                </p:oleObj>
              </mc:Choice>
              <mc:Fallback>
                <p:oleObj name="SmartDraw" r:id="rId5" imgW="3063240" imgH="1691640" progId="SmartDraw.2">
                  <p:embed/>
                  <p:pic>
                    <p:nvPicPr>
                      <p:cNvPr id="2662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0650" y="4059235"/>
                        <a:ext cx="3886200" cy="243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0" name="Rectangle 9"/>
          <p:cNvSpPr>
            <a:spLocks noChangeArrowheads="1"/>
          </p:cNvSpPr>
          <p:nvPr/>
        </p:nvSpPr>
        <p:spPr bwMode="auto">
          <a:xfrm>
            <a:off x="6400800" y="1522414"/>
            <a:ext cx="3657600"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10000"/>
              </a:lnSpc>
            </a:pPr>
            <a:endParaRPr lang="en-US" altLang="en-US" sz="2400" dirty="0">
              <a:latin typeface="Calibri" panose="020F0502020204030204" pitchFamily="34" charset="0"/>
            </a:endParaRPr>
          </a:p>
        </p:txBody>
      </p:sp>
      <p:sp>
        <p:nvSpPr>
          <p:cNvPr id="7" name="Rectangle 3"/>
          <p:cNvSpPr txBox="1">
            <a:spLocks noChangeArrowheads="1"/>
          </p:cNvSpPr>
          <p:nvPr/>
        </p:nvSpPr>
        <p:spPr>
          <a:xfrm>
            <a:off x="5663880" y="2486817"/>
            <a:ext cx="5867399" cy="3379790"/>
          </a:xfrm>
          <a:prstGeom prst="rect">
            <a:avLst/>
          </a:prstGeom>
        </p:spPr>
        <p:txBody>
          <a:bodyPr vert="horz" lIns="91436" tIns="45718" rIns="91436" bIns="4571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0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18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1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9pPr>
          </a:lstStyle>
          <a:p>
            <a:pPr>
              <a:lnSpc>
                <a:spcPct val="110000"/>
              </a:lnSpc>
            </a:pPr>
            <a:r>
              <a:rPr lang="en-US" altLang="en-US" sz="2200" dirty="0">
                <a:latin typeface="STKaiti" panose="02010600040101010101" pitchFamily="2" charset="-122"/>
                <a:ea typeface="STKaiti" panose="02010600040101010101" pitchFamily="2" charset="-122"/>
              </a:rPr>
              <a:t>左侧显示的两个直方图可能具有相同的箱线图表示</a:t>
            </a:r>
          </a:p>
          <a:p>
            <a:pPr lvl="1">
              <a:lnSpc>
                <a:spcPct val="110000"/>
              </a:lnSpc>
            </a:pPr>
            <a:r>
              <a:rPr lang="en-US" altLang="en-US" sz="2200" dirty="0">
                <a:latin typeface="STKaiti" panose="02010600040101010101" pitchFamily="2" charset="-122"/>
                <a:ea typeface="STKaiti" panose="02010600040101010101" pitchFamily="2" charset="-122"/>
              </a:rPr>
              <a:t>以下参数值相同：最小值（min）、第一四分位数（Q1）、中位数（median）、第三四分位数（Q3）、最大值（max）</a:t>
            </a:r>
          </a:p>
          <a:p>
            <a:pPr>
              <a:lnSpc>
                <a:spcPct val="110000"/>
              </a:lnSpc>
            </a:pPr>
            <a:r>
              <a:rPr lang="en-US" altLang="en-US" sz="2200" dirty="0">
                <a:latin typeface="STKaiti" panose="02010600040101010101" pitchFamily="2" charset="-122"/>
                <a:ea typeface="STKaiti" panose="02010600040101010101" pitchFamily="2" charset="-122"/>
              </a:rPr>
              <a:t>但它们的数据分布差异较大</a:t>
            </a:r>
          </a:p>
        </p:txBody>
      </p:sp>
    </p:spTree>
    <p:extLst>
      <p:ext uri="{BB962C8B-B14F-4D97-AF65-F5344CB8AC3E}">
        <p14:creationId xmlns:p14="http://schemas.microsoft.com/office/powerpoint/2010/main" val="2426591551"/>
      </p:ext>
    </p:ext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3"/>
          <p:cNvSpPr>
            <a:spLocks noGrp="1" noChangeArrowheads="1"/>
          </p:cNvSpPr>
          <p:nvPr>
            <p:ph type="body" idx="1"/>
          </p:nvPr>
        </p:nvSpPr>
        <p:spPr>
          <a:xfrm>
            <a:off x="552449" y="1331914"/>
            <a:ext cx="10810875" cy="2478087"/>
          </a:xfrm>
        </p:spPr>
        <p:txBody>
          <a:bodyPr/>
          <a:lstStyle/>
          <a:p>
            <a:pPr eaLnBrk="1" hangingPunct="1">
              <a:spcAft>
                <a:spcPts val="600"/>
              </a:spcAft>
            </a:pPr>
            <a:r>
              <a:rPr lang="en-US" altLang="en-US" sz="2400" dirty="0"/>
              <a:t>显示所有数据（使用户能够评估整体行为和异常情况）</a:t>
            </a:r>
          </a:p>
          <a:p>
            <a:pPr eaLnBrk="1" hangingPunct="1">
              <a:spcAft>
                <a:spcPts val="600"/>
              </a:spcAft>
            </a:pPr>
            <a:r>
              <a:rPr lang="en-US" altLang="en-US" sz="2400" dirty="0"/>
              <a:t>绘制</a:t>
            </a:r>
            <a:r>
              <a:rPr lang="en-US" altLang="en-US" sz="2400" b="1" dirty="0"/>
              <a:t>分位数</a:t>
            </a:r>
            <a:r>
              <a:rPr lang="en-US" altLang="en-US" sz="2400" dirty="0"/>
              <a:t>信息</a:t>
            </a:r>
          </a:p>
          <a:p>
            <a:pPr lvl="1" eaLnBrk="1" hangingPunct="1">
              <a:spcAft>
                <a:spcPts val="600"/>
              </a:spcAft>
            </a:pPr>
            <a:r>
              <a:rPr lang="en-US" altLang="en-US" sz="2400" dirty="0"/>
              <a:t>对于数据集 </a:t>
            </a:r>
            <a:r>
              <a:rPr lang="en-US" altLang="en-US" sz="2400" i="1" dirty="0"/>
              <a:t>x</a:t>
            </a:r>
            <a:r>
              <a:rPr lang="en-US" altLang="en-US" sz="2400" i="1" baseline="-25000" dirty="0"/>
              <a:t>i</a:t>
            </a:r>
            <a:r>
              <a:rPr lang="en-US" altLang="en-US" sz="2400" dirty="0"/>
              <a:t> ，将数据按升序排列后</a:t>
            </a:r>
            <a:r>
              <a:rPr lang="en-US" altLang="en-US" sz="2400" i="1" dirty="0"/>
              <a:t>，f</a:t>
            </a:r>
            <a:r>
              <a:rPr lang="en-US" altLang="en-US" sz="2400" i="1" baseline="-25000" dirty="0"/>
              <a:t>i</a:t>
            </a:r>
            <a:r>
              <a:rPr lang="en-US" altLang="en-US" sz="2400" i="1" dirty="0"/>
              <a:t> </a:t>
            </a:r>
            <a:r>
              <a:rPr lang="en-US" altLang="en-US" sz="2400" dirty="0"/>
              <a:t>表示大约 100 f</a:t>
            </a:r>
            <a:r>
              <a:rPr lang="en-US" altLang="en-US" sz="2400" i="1" baseline="-25000" dirty="0"/>
              <a:t>i</a:t>
            </a:r>
            <a:r>
              <a:rPr lang="en-US" altLang="en-US" sz="2400" dirty="0"/>
              <a:t> % 的数据小于或等于值 </a:t>
            </a:r>
            <a:r>
              <a:rPr lang="en-US" altLang="en-US" sz="2400" i="1" dirty="0"/>
              <a:t>x</a:t>
            </a:r>
            <a:r>
              <a:rPr lang="en-US" altLang="en-US" sz="2400" i="1" baseline="-25000" dirty="0"/>
              <a:t>i</a:t>
            </a:r>
          </a:p>
        </p:txBody>
      </p:sp>
      <p:sp>
        <p:nvSpPr>
          <p:cNvPr id="3" name="제목 2">
            <a:extLst>
              <a:ext uri="{FF2B5EF4-FFF2-40B4-BE49-F238E27FC236}">
                <a16:creationId xmlns:a16="http://schemas.microsoft.com/office/drawing/2014/main" id="{7405339C-1560-A630-E9C1-50D25AD0F22F}"/>
              </a:ext>
            </a:extLst>
          </p:cNvPr>
          <p:cNvSpPr>
            <a:spLocks noGrp="1"/>
          </p:cNvSpPr>
          <p:nvPr>
            <p:ph type="title"/>
          </p:nvPr>
        </p:nvSpPr>
        <p:spPr/>
        <p:txBody>
          <a:bodyPr/>
          <a:lstStyle/>
          <a:p>
            <a:r>
              <a:rPr lang="ko-Kore-KR" altLang="en-US"/>
              <a:t>分为数图</a:t>
            </a:r>
          </a:p>
        </p:txBody>
      </p:sp>
      <p:pic>
        <p:nvPicPr>
          <p:cNvPr id="2" name="그림 1">
            <a:extLst>
              <a:ext uri="{FF2B5EF4-FFF2-40B4-BE49-F238E27FC236}">
                <a16:creationId xmlns:a16="http://schemas.microsoft.com/office/drawing/2014/main" id="{411CE65C-9D4B-A73B-B317-7CF1CE937853}"/>
              </a:ext>
            </a:extLst>
          </p:cNvPr>
          <p:cNvPicPr>
            <a:picLocks noChangeAspect="1"/>
          </p:cNvPicPr>
          <p:nvPr/>
        </p:nvPicPr>
        <p:blipFill>
          <a:blip r:embed="rId3"/>
          <a:stretch>
            <a:fillRect/>
          </a:stretch>
        </p:blipFill>
        <p:spPr>
          <a:xfrm>
            <a:off x="828676" y="3563627"/>
            <a:ext cx="5687649" cy="2715322"/>
          </a:xfrm>
          <a:prstGeom prst="rect">
            <a:avLst/>
          </a:prstGeom>
        </p:spPr>
      </p:pic>
      <p:pic>
        <p:nvPicPr>
          <p:cNvPr id="4" name="그림 3">
            <a:extLst>
              <a:ext uri="{FF2B5EF4-FFF2-40B4-BE49-F238E27FC236}">
                <a16:creationId xmlns:a16="http://schemas.microsoft.com/office/drawing/2014/main" id="{436772EE-05D9-D3FE-FDF3-920662A63D90}"/>
              </a:ext>
            </a:extLst>
          </p:cNvPr>
          <p:cNvPicPr>
            <a:picLocks noChangeAspect="1"/>
          </p:cNvPicPr>
          <p:nvPr/>
        </p:nvPicPr>
        <p:blipFill>
          <a:blip r:embed="rId4"/>
          <a:stretch>
            <a:fillRect/>
          </a:stretch>
        </p:blipFill>
        <p:spPr>
          <a:xfrm>
            <a:off x="6660423" y="3563627"/>
            <a:ext cx="4431619" cy="2522992"/>
          </a:xfrm>
          <a:prstGeom prst="rect">
            <a:avLst/>
          </a:prstGeom>
        </p:spPr>
      </p:pic>
    </p:spTree>
    <p:extLst>
      <p:ext uri="{BB962C8B-B14F-4D97-AF65-F5344CB8AC3E}">
        <p14:creationId xmlns:p14="http://schemas.microsoft.com/office/powerpoint/2010/main" val="1817622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3"/>
          <p:cNvSpPr>
            <a:spLocks noGrp="1" noChangeArrowheads="1"/>
          </p:cNvSpPr>
          <p:nvPr>
            <p:ph type="body" idx="1"/>
          </p:nvPr>
        </p:nvSpPr>
        <p:spPr>
          <a:xfrm>
            <a:off x="587666" y="1143000"/>
            <a:ext cx="10896600" cy="975732"/>
          </a:xfrm>
        </p:spPr>
        <p:txBody>
          <a:bodyPr/>
          <a:lstStyle/>
          <a:p>
            <a:pPr eaLnBrk="1" hangingPunct="1"/>
            <a:r>
              <a:rPr lang="en-US" altLang="en-US" sz="2400" dirty="0"/>
              <a:t>绘制一个单变量分布的分位数与另一个分布的对应分位数之间的关系图</a:t>
            </a:r>
          </a:p>
          <a:p>
            <a:pPr eaLnBrk="1" hangingPunct="1"/>
            <a:r>
              <a:rPr lang="en-US" altLang="en-US" sz="2400" dirty="0"/>
              <a:t>观察：从一个分布到另一个分布时，是否存在偏移？</a:t>
            </a:r>
          </a:p>
        </p:txBody>
      </p:sp>
      <p:pic>
        <p:nvPicPr>
          <p:cNvPr id="46082" name="Picture 2" descr="Image result for quantile-quantile pl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4867" y="2301147"/>
            <a:ext cx="5822266" cy="4218638"/>
          </a:xfrm>
          <a:prstGeom prst="rect">
            <a:avLst/>
          </a:prstGeom>
          <a:noFill/>
          <a:extLst>
            <a:ext uri="{909E8E84-426E-40DD-AFC4-6F175D3DCCD1}">
              <a14:hiddenFill xmlns:a14="http://schemas.microsoft.com/office/drawing/2010/main">
                <a:solidFill>
                  <a:srgbClr val="FFFFFF"/>
                </a:solidFill>
              </a14:hiddenFill>
            </a:ext>
          </a:extLst>
        </p:spPr>
      </p:pic>
      <p:sp>
        <p:nvSpPr>
          <p:cNvPr id="3" name="제목 2">
            <a:extLst>
              <a:ext uri="{FF2B5EF4-FFF2-40B4-BE49-F238E27FC236}">
                <a16:creationId xmlns:a16="http://schemas.microsoft.com/office/drawing/2014/main" id="{CC94A64F-0560-1AEB-65C4-567483EEDFDF}"/>
              </a:ext>
            </a:extLst>
          </p:cNvPr>
          <p:cNvSpPr>
            <a:spLocks noGrp="1"/>
          </p:cNvSpPr>
          <p:nvPr>
            <p:ph type="title"/>
          </p:nvPr>
        </p:nvSpPr>
        <p:spPr/>
        <p:txBody>
          <a:bodyPr/>
          <a:lstStyle/>
          <a:p>
            <a:r>
              <a:rPr lang="en-US" altLang="ko-Kore-KR"/>
              <a:t>Q-Q</a:t>
            </a:r>
            <a:r>
              <a:rPr lang="ko-Kore-KR" altLang="en-US"/>
              <a:t>图</a:t>
            </a:r>
          </a:p>
        </p:txBody>
      </p:sp>
    </p:spTree>
    <p:extLst>
      <p:ext uri="{BB962C8B-B14F-4D97-AF65-F5344CB8AC3E}">
        <p14:creationId xmlns:p14="http://schemas.microsoft.com/office/powerpoint/2010/main" val="31851459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Image result for scatter pl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5899" y="1929211"/>
            <a:ext cx="6148236" cy="4391597"/>
          </a:xfrm>
          <a:prstGeom prst="rect">
            <a:avLst/>
          </a:prstGeom>
          <a:noFill/>
          <a:extLst>
            <a:ext uri="{909E8E84-426E-40DD-AFC4-6F175D3DCCD1}">
              <a14:hiddenFill xmlns:a14="http://schemas.microsoft.com/office/drawing/2010/main">
                <a:solidFill>
                  <a:srgbClr val="FFFFFF"/>
                </a:solidFill>
              </a14:hiddenFill>
            </a:ext>
          </a:extLst>
        </p:spPr>
      </p:pic>
      <p:sp>
        <p:nvSpPr>
          <p:cNvPr id="29699" name="Rectangle 1026"/>
          <p:cNvSpPr>
            <a:spLocks noGrp="1" noChangeArrowheads="1"/>
          </p:cNvSpPr>
          <p:nvPr>
            <p:ph type="title"/>
          </p:nvPr>
        </p:nvSpPr>
        <p:spPr/>
        <p:txBody>
          <a:bodyPr/>
          <a:lstStyle/>
          <a:p>
            <a:pPr eaLnBrk="1" hangingPunct="1"/>
            <a:r>
              <a:rPr lang="en-US" altLang="en-US"/>
              <a:t>点图</a:t>
            </a:r>
          </a:p>
        </p:txBody>
      </p:sp>
      <p:sp>
        <p:nvSpPr>
          <p:cNvPr id="29700" name="Rectangle 1027"/>
          <p:cNvSpPr>
            <a:spLocks noGrp="1" noChangeArrowheads="1"/>
          </p:cNvSpPr>
          <p:nvPr>
            <p:ph type="body" idx="1"/>
          </p:nvPr>
        </p:nvSpPr>
        <p:spPr>
          <a:xfrm>
            <a:off x="571500" y="1295400"/>
            <a:ext cx="10972800" cy="1779588"/>
          </a:xfrm>
        </p:spPr>
        <p:txBody>
          <a:bodyPr/>
          <a:lstStyle/>
          <a:p>
            <a:pPr eaLnBrk="1" hangingPunct="1"/>
            <a:r>
              <a:rPr lang="en-US" altLang="en-US" sz="2400" dirty="0"/>
              <a:t>提供二元数据的初步视图，用于观察点群、异常值等。</a:t>
            </a:r>
          </a:p>
          <a:p>
            <a:pPr eaLnBrk="1" hangingPunct="1"/>
            <a:r>
              <a:rPr lang="en-US" altLang="en-US" sz="2400" dirty="0"/>
              <a:t>每个值对被视为一组坐标，并在平面上以点形式绘制。</a:t>
            </a:r>
          </a:p>
        </p:txBody>
      </p:sp>
      <p:pic>
        <p:nvPicPr>
          <p:cNvPr id="29701"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865" y="3112915"/>
            <a:ext cx="4738513" cy="262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97976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3"/>
          <p:cNvSpPr>
            <a:spLocks noGrp="1" noChangeArrowheads="1"/>
          </p:cNvSpPr>
          <p:nvPr>
            <p:ph type="body" idx="1"/>
          </p:nvPr>
        </p:nvSpPr>
        <p:spPr>
          <a:xfrm>
            <a:off x="6562724" y="4437062"/>
            <a:ext cx="4676775" cy="2116138"/>
          </a:xfrm>
          <a:noFill/>
        </p:spPr>
        <p:txBody>
          <a:bodyPr vert="horz" lIns="92075" tIns="46038" rIns="92075" bIns="46038" rtlCol="0">
            <a:noAutofit/>
          </a:bodyPr>
          <a:lstStyle/>
          <a:p>
            <a:pPr eaLnBrk="1" hangingPunct="1">
              <a:lnSpc>
                <a:spcPct val="140000"/>
              </a:lnSpc>
            </a:pPr>
            <a:r>
              <a:rPr lang="en-US" altLang="en-US" sz="2400" dirty="0"/>
              <a:t>左半部分数据正相关</a:t>
            </a:r>
          </a:p>
          <a:p>
            <a:pPr eaLnBrk="1" hangingPunct="1">
              <a:lnSpc>
                <a:spcPct val="140000"/>
              </a:lnSpc>
            </a:pPr>
            <a:r>
              <a:rPr lang="en-US" altLang="en-US" sz="2400" dirty="0"/>
              <a:t>右半部分为负相关</a:t>
            </a:r>
            <a:endParaRPr lang="en-US" altLang="en-US" sz="2400" dirty="0">
              <a:solidFill>
                <a:schemeClr val="hlink"/>
              </a:solidFill>
            </a:endParaRPr>
          </a:p>
        </p:txBody>
      </p:sp>
      <p:pic>
        <p:nvPicPr>
          <p:cNvPr id="30725" name="Picture 4" descr="ha02corre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0"/>
            <a:ext cx="3365500"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5" descr="ha02correl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1219200"/>
            <a:ext cx="38100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6" descr="fig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4114800"/>
            <a:ext cx="3505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ight Arrow 1"/>
          <p:cNvSpPr/>
          <p:nvPr/>
        </p:nvSpPr>
        <p:spPr>
          <a:xfrm>
            <a:off x="5715000" y="5076825"/>
            <a:ext cx="609600" cy="5143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제목 3">
            <a:extLst>
              <a:ext uri="{FF2B5EF4-FFF2-40B4-BE49-F238E27FC236}">
                <a16:creationId xmlns:a16="http://schemas.microsoft.com/office/drawing/2014/main" id="{5268251D-58F0-35C9-2D59-017B361B3783}"/>
              </a:ext>
            </a:extLst>
          </p:cNvPr>
          <p:cNvSpPr>
            <a:spLocks noGrp="1"/>
          </p:cNvSpPr>
          <p:nvPr>
            <p:ph type="title"/>
          </p:nvPr>
        </p:nvSpPr>
        <p:spPr/>
        <p:txBody>
          <a:bodyPr/>
          <a:lstStyle/>
          <a:p>
            <a:r>
              <a:rPr lang="ko-Kore-KR" altLang="en-US"/>
              <a:t>正相关和负相关</a:t>
            </a:r>
          </a:p>
        </p:txBody>
      </p:sp>
    </p:spTree>
    <p:extLst>
      <p:ext uri="{BB962C8B-B14F-4D97-AF65-F5344CB8AC3E}">
        <p14:creationId xmlns:p14="http://schemas.microsoft.com/office/powerpoint/2010/main" val="19989051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 descr="fig18-1"/>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a:xfrm>
            <a:off x="3917950" y="1714500"/>
            <a:ext cx="4038600" cy="3733800"/>
          </a:xfrm>
          <a:noFill/>
        </p:spPr>
      </p:pic>
      <p:pic>
        <p:nvPicPr>
          <p:cNvPr id="31748" name="Picture 4" descr="fig18-2"/>
          <p:cNvPicPr>
            <a:picLocks noGrp="1" noChangeAspect="1" noChangeArrowheads="1"/>
          </p:cNvPicPr>
          <p:nvPr>
            <p:ph sz="quarter" idx="1"/>
          </p:nvPr>
        </p:nvPicPr>
        <p:blipFill>
          <a:blip r:embed="rId4">
            <a:extLst>
              <a:ext uri="{28A0092B-C50C-407E-A947-70E740481C1C}">
                <a14:useLocalDpi xmlns:a14="http://schemas.microsoft.com/office/drawing/2010/main" val="0"/>
              </a:ext>
            </a:extLst>
          </a:blip>
          <a:srcRect/>
          <a:stretch>
            <a:fillRect/>
          </a:stretch>
        </p:blipFill>
        <p:spPr>
          <a:xfrm>
            <a:off x="7696200" y="1943100"/>
            <a:ext cx="4191000" cy="3505200"/>
          </a:xfrm>
          <a:noFill/>
        </p:spPr>
      </p:pic>
      <p:pic>
        <p:nvPicPr>
          <p:cNvPr id="31749" name="Picture 5" descr="fig18-3"/>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107950" y="1735138"/>
            <a:ext cx="4267200" cy="3606800"/>
          </a:xfrm>
          <a:noFill/>
        </p:spPr>
      </p:pic>
      <p:sp>
        <p:nvSpPr>
          <p:cNvPr id="3" name="제목 2">
            <a:extLst>
              <a:ext uri="{FF2B5EF4-FFF2-40B4-BE49-F238E27FC236}">
                <a16:creationId xmlns:a16="http://schemas.microsoft.com/office/drawing/2014/main" id="{D1449E54-EC08-D69F-94E1-FC26114FBE51}"/>
              </a:ext>
            </a:extLst>
          </p:cNvPr>
          <p:cNvSpPr>
            <a:spLocks noGrp="1"/>
          </p:cNvSpPr>
          <p:nvPr>
            <p:ph type="title" sz="quarter"/>
          </p:nvPr>
        </p:nvSpPr>
        <p:spPr/>
        <p:txBody>
          <a:bodyPr>
            <a:normAutofit fontScale="90000"/>
          </a:bodyPr>
          <a:lstStyle/>
          <a:p>
            <a:r>
              <a:rPr lang="ko-Kore-KR" altLang="en-US"/>
              <a:t>不相关数据</a:t>
            </a:r>
          </a:p>
        </p:txBody>
      </p:sp>
    </p:spTree>
    <p:extLst>
      <p:ext uri="{BB962C8B-B14F-4D97-AF65-F5344CB8AC3E}">
        <p14:creationId xmlns:p14="http://schemas.microsoft.com/office/powerpoint/2010/main" val="859033763"/>
      </p:ext>
    </p:extLst>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数据矩阵与相异性矩阵 </a:t>
            </a:r>
          </a:p>
          <a:p>
            <a:pPr>
              <a:spcAft>
                <a:spcPts val="600"/>
              </a:spcAft>
            </a:pPr>
            <a:r>
              <a:rPr lang="en-US" altLang="en-US" dirty="0"/>
              <a:t>名义属性的邻近性度量 </a:t>
            </a:r>
          </a:p>
          <a:p>
            <a:pPr>
              <a:spcAft>
                <a:spcPts val="600"/>
              </a:spcAft>
            </a:pPr>
            <a:r>
              <a:rPr lang="en-US" altLang="en-US" dirty="0"/>
              <a:t>二元属性的相似度度量</a:t>
            </a:r>
          </a:p>
          <a:p>
            <a:pPr>
              <a:spcAft>
                <a:spcPts val="600"/>
              </a:spcAft>
            </a:pPr>
            <a:r>
              <a:rPr lang="en-US" altLang="en-US" dirty="0"/>
              <a:t>数值数据的差异度：</a:t>
            </a:r>
            <a:r>
              <a:rPr lang="en-US" altLang="en-US" dirty="0" err="1"/>
              <a:t>Minkowski</a:t>
            </a:r>
            <a:r>
              <a:rPr lang="en-US" altLang="en-US" dirty="0"/>
              <a:t>距离</a:t>
            </a:r>
          </a:p>
          <a:p>
            <a:pPr>
              <a:spcAft>
                <a:spcPts val="600"/>
              </a:spcAft>
            </a:pPr>
            <a:r>
              <a:rPr lang="en-US" altLang="en-US" dirty="0"/>
              <a:t>序数属性的邻近性度量 </a:t>
            </a:r>
          </a:p>
          <a:p>
            <a:pPr>
              <a:spcAft>
                <a:spcPts val="600"/>
              </a:spcAft>
            </a:pPr>
            <a:r>
              <a:rPr lang="en-US" altLang="en-US" dirty="0"/>
              <a:t>混合类型属性的相异性</a:t>
            </a:r>
          </a:p>
          <a:p>
            <a:pPr>
              <a:spcAft>
                <a:spcPts val="600"/>
              </a:spcAft>
            </a:pPr>
            <a:r>
              <a:rPr lang="en-US" altLang="en-US" dirty="0"/>
              <a:t>余弦相似性</a:t>
            </a:r>
          </a:p>
        </p:txBody>
      </p:sp>
      <p:sp>
        <p:nvSpPr>
          <p:cNvPr id="3" name="제목 2">
            <a:extLst>
              <a:ext uri="{FF2B5EF4-FFF2-40B4-BE49-F238E27FC236}">
                <a16:creationId xmlns:a16="http://schemas.microsoft.com/office/drawing/2014/main" id="{83B3F92E-7E45-8414-4EF8-3731874333F1}"/>
              </a:ext>
            </a:extLst>
          </p:cNvPr>
          <p:cNvSpPr>
            <a:spLocks noGrp="1"/>
          </p:cNvSpPr>
          <p:nvPr>
            <p:ph type="title"/>
          </p:nvPr>
        </p:nvSpPr>
        <p:spPr/>
        <p:txBody>
          <a:bodyPr/>
          <a:lstStyle/>
          <a:p>
            <a:r>
              <a:rPr lang="ko-Kore-KR" altLang="en-US"/>
              <a:t>相似度与距离度量</a:t>
            </a:r>
          </a:p>
        </p:txBody>
      </p:sp>
    </p:spTree>
    <p:extLst>
      <p:ext uri="{BB962C8B-B14F-4D97-AF65-F5344CB8AC3E}">
        <p14:creationId xmlns:p14="http://schemas.microsoft.com/office/powerpoint/2010/main" val="42395245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type="body" idx="1"/>
          </p:nvPr>
        </p:nvSpPr>
        <p:spPr>
          <a:xfrm>
            <a:off x="552262" y="1233409"/>
            <a:ext cx="10148934" cy="5450312"/>
          </a:xfrm>
        </p:spPr>
        <p:txBody>
          <a:bodyPr/>
          <a:lstStyle/>
          <a:p>
            <a:pPr>
              <a:spcBef>
                <a:spcPts val="1200"/>
              </a:spcBef>
            </a:pPr>
            <a:r>
              <a:rPr lang="en-US" altLang="en-US" sz="2400" b="1" dirty="0"/>
              <a:t>相似性</a:t>
            </a:r>
            <a:r>
              <a:rPr lang="en-US" sz="2400" b="1" dirty="0"/>
              <a:t>度量</a:t>
            </a:r>
            <a:r>
              <a:rPr lang="en-US" sz="2400" dirty="0"/>
              <a:t>或</a:t>
            </a:r>
            <a:r>
              <a:rPr lang="en-US" sz="2400" b="1" dirty="0"/>
              <a:t>相似性函数</a:t>
            </a:r>
            <a:endParaRPr lang="en-US" altLang="en-US" sz="2400" b="1" dirty="0"/>
          </a:p>
          <a:p>
            <a:pPr lvl="1">
              <a:spcBef>
                <a:spcPts val="1200"/>
              </a:spcBef>
            </a:pPr>
            <a:r>
              <a:rPr lang="en-US" sz="2400" dirty="0"/>
              <a:t>一个实值函数，用于量化两个对象之间的相似性</a:t>
            </a:r>
            <a:endParaRPr lang="en-US" altLang="en-US" sz="2400" b="1" dirty="0"/>
          </a:p>
          <a:p>
            <a:pPr lvl="1">
              <a:spcBef>
                <a:spcPts val="1200"/>
              </a:spcBef>
            </a:pPr>
            <a:r>
              <a:rPr lang="en-US" altLang="en-US" sz="2400" dirty="0"/>
              <a:t>衡量两个数据对象的相似程度：值越高，相似度越高</a:t>
            </a:r>
          </a:p>
          <a:p>
            <a:pPr lvl="1">
              <a:spcBef>
                <a:spcPts val="1200"/>
              </a:spcBef>
            </a:pPr>
            <a:r>
              <a:rPr lang="en-US" altLang="en-US" sz="2400" dirty="0"/>
              <a:t>通常取值范围为[0,1]：0表示完全不相似；1表示完全相似</a:t>
            </a:r>
          </a:p>
          <a:p>
            <a:pPr>
              <a:spcBef>
                <a:spcPts val="1200"/>
              </a:spcBef>
            </a:pPr>
            <a:r>
              <a:rPr lang="en-US" altLang="en-US" sz="2400" b="1" dirty="0"/>
              <a:t>相异性</a:t>
            </a:r>
            <a:r>
              <a:rPr lang="en-US" altLang="en-US" sz="2400" dirty="0"/>
              <a:t>（或</a:t>
            </a:r>
            <a:r>
              <a:rPr lang="en-US" altLang="en-US" sz="2400" b="1" dirty="0"/>
              <a:t>距离</a:t>
            </a:r>
            <a:r>
              <a:rPr lang="en-US" altLang="en-US" sz="2400" dirty="0"/>
              <a:t>）度量</a:t>
            </a:r>
          </a:p>
          <a:p>
            <a:pPr lvl="1">
              <a:spcBef>
                <a:spcPts val="1200"/>
              </a:spcBef>
            </a:pPr>
            <a:r>
              <a:rPr lang="en-US" altLang="en-US" sz="2400" dirty="0"/>
              <a:t>量化两个数据对象之间差异的数值度量</a:t>
            </a:r>
          </a:p>
          <a:p>
            <a:pPr lvl="1">
              <a:spcBef>
                <a:spcPts val="1200"/>
              </a:spcBef>
            </a:pPr>
            <a:r>
              <a:rPr lang="en-US" altLang="en-US" sz="2400" dirty="0"/>
              <a:t>在某种意义上，相似度的倒数：值越低，越相似</a:t>
            </a:r>
          </a:p>
          <a:p>
            <a:pPr lvl="1">
              <a:spcBef>
                <a:spcPts val="1200"/>
              </a:spcBef>
            </a:pPr>
            <a:r>
              <a:rPr lang="en-US" altLang="en-US" sz="2400" dirty="0"/>
              <a:t>最小差异通常为0（即完全相似）</a:t>
            </a:r>
          </a:p>
          <a:p>
            <a:pPr lvl="1">
              <a:spcBef>
                <a:spcPts val="1200"/>
              </a:spcBef>
            </a:pPr>
            <a:r>
              <a:rPr lang="en-US" altLang="en-US" sz="2400" dirty="0"/>
              <a:t>取值范围为[0, 1]或[0, ∞)，具体取决于定义</a:t>
            </a:r>
          </a:p>
          <a:p>
            <a:pPr>
              <a:spcBef>
                <a:spcPts val="1200"/>
              </a:spcBef>
            </a:pPr>
            <a:r>
              <a:rPr lang="en-US" altLang="en-US" sz="2400" b="1" dirty="0"/>
              <a:t>邻近性</a:t>
            </a:r>
            <a:r>
              <a:rPr lang="en-US" altLang="en-US" sz="2400" dirty="0"/>
              <a:t>通常指相似性或差异性</a:t>
            </a:r>
          </a:p>
        </p:txBody>
      </p:sp>
      <p:sp>
        <p:nvSpPr>
          <p:cNvPr id="3" name="제목 2">
            <a:extLst>
              <a:ext uri="{FF2B5EF4-FFF2-40B4-BE49-F238E27FC236}">
                <a16:creationId xmlns:a16="http://schemas.microsoft.com/office/drawing/2014/main" id="{112604ED-F992-5F84-06A3-F98757861819}"/>
              </a:ext>
            </a:extLst>
          </p:cNvPr>
          <p:cNvSpPr>
            <a:spLocks noGrp="1"/>
          </p:cNvSpPr>
          <p:nvPr>
            <p:ph type="title"/>
          </p:nvPr>
        </p:nvSpPr>
        <p:spPr>
          <a:xfrm>
            <a:off x="411018" y="220464"/>
            <a:ext cx="11369963" cy="738909"/>
          </a:xfrm>
        </p:spPr>
        <p:txBody>
          <a:bodyPr/>
          <a:lstStyle/>
          <a:p>
            <a:r>
              <a:rPr lang="en-US" altLang="en-US" b="1" dirty="0"/>
              <a:t>Similarity, Dissimilarity, and Proximity</a:t>
            </a:r>
            <a:endParaRPr lang="ko-Kore-KR" altLang="en-US" b="1"/>
          </a:p>
        </p:txBody>
      </p:sp>
    </p:spTree>
    <p:extLst>
      <p:ext uri="{BB962C8B-B14F-4D97-AF65-F5344CB8AC3E}">
        <p14:creationId xmlns:p14="http://schemas.microsoft.com/office/powerpoint/2010/main" val="25480037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type="body" idx="1"/>
          </p:nvPr>
        </p:nvSpPr>
        <p:spPr>
          <a:xfrm>
            <a:off x="552262" y="1167897"/>
            <a:ext cx="7912728" cy="5316648"/>
          </a:xfrm>
        </p:spPr>
        <p:txBody>
          <a:bodyPr/>
          <a:lstStyle/>
          <a:p>
            <a:pPr>
              <a:spcBef>
                <a:spcPts val="1200"/>
              </a:spcBef>
              <a:spcAft>
                <a:spcPts val="600"/>
              </a:spcAft>
            </a:pPr>
            <a:r>
              <a:rPr lang="en-US" altLang="en-US" sz="2400" dirty="0">
                <a:ea typeface="STKaiti" panose="02010600040101010101" pitchFamily="2" charset="-122"/>
              </a:rPr>
              <a:t>数据矩阵</a:t>
            </a:r>
          </a:p>
          <a:p>
            <a:pPr lvl="1">
              <a:spcBef>
                <a:spcPts val="1200"/>
              </a:spcBef>
              <a:spcAft>
                <a:spcPts val="600"/>
              </a:spcAft>
            </a:pPr>
            <a:r>
              <a:rPr lang="en-US" altLang="en-US" sz="2400" dirty="0">
                <a:ea typeface="STKaiti" panose="02010600040101010101" pitchFamily="2" charset="-122"/>
              </a:rPr>
              <a:t>包含n个数据点</a:t>
            </a:r>
            <a:r>
              <a:rPr lang="en-US" altLang="en-US" sz="2400" i="1" dirty="0">
                <a:ea typeface="STKaiti" panose="02010600040101010101" pitchFamily="2" charset="-122"/>
              </a:rPr>
              <a:t>和l</a:t>
            </a:r>
            <a:r>
              <a:rPr lang="en-US" altLang="en-US" sz="2400" dirty="0">
                <a:ea typeface="STKaiti" panose="02010600040101010101" pitchFamily="2" charset="-122"/>
              </a:rPr>
              <a:t>个维度的数据矩阵</a:t>
            </a:r>
          </a:p>
          <a:p>
            <a:pPr>
              <a:spcBef>
                <a:spcPts val="1200"/>
              </a:spcBef>
              <a:spcAft>
                <a:spcPts val="600"/>
              </a:spcAft>
            </a:pPr>
            <a:r>
              <a:rPr lang="en-US" altLang="en-US" sz="2400" dirty="0">
                <a:ea typeface="STKaiti" panose="02010600040101010101" pitchFamily="2" charset="-122"/>
              </a:rPr>
              <a:t>相异性（距离）矩阵</a:t>
            </a:r>
          </a:p>
          <a:p>
            <a:pPr lvl="1">
              <a:spcBef>
                <a:spcPts val="1200"/>
              </a:spcBef>
              <a:spcAft>
                <a:spcPts val="600"/>
              </a:spcAft>
            </a:pPr>
            <a:r>
              <a:rPr lang="en-US" altLang="en-US" sz="2400" dirty="0">
                <a:ea typeface="STKaiti" panose="02010600040101010101" pitchFamily="2" charset="-122"/>
              </a:rPr>
              <a:t>包含n个数据点，但仅记录点间</a:t>
            </a:r>
            <a:r>
              <a:rPr lang="en-US" altLang="zh-CN" sz="2400" i="1" dirty="0">
                <a:ea typeface="STKaiti" panose="02010600040101010101" pitchFamily="2" charset="-122"/>
              </a:rPr>
              <a:t>距离d</a:t>
            </a:r>
            <a:r>
              <a:rPr lang="en-US" altLang="zh-CN" sz="2400" dirty="0">
                <a:ea typeface="STKaiti" panose="02010600040101010101" pitchFamily="2" charset="-122"/>
              </a:rPr>
              <a:t>(</a:t>
            </a:r>
            <a:r>
              <a:rPr lang="en-US" altLang="zh-CN" sz="2400" i="1" dirty="0" err="1">
                <a:ea typeface="STKaiti" panose="02010600040101010101" pitchFamily="2" charset="-122"/>
              </a:rPr>
              <a:t>i</a:t>
            </a:r>
            <a:r>
              <a:rPr lang="en-US" altLang="zh-CN" sz="2400" i="1" dirty="0">
                <a:ea typeface="STKaiti" panose="02010600040101010101" pitchFamily="2" charset="-122"/>
              </a:rPr>
              <a:t>, j</a:t>
            </a:r>
            <a:r>
              <a:rPr lang="en-US" altLang="zh-CN" sz="2400" dirty="0">
                <a:ea typeface="STKaiti" panose="02010600040101010101" pitchFamily="2" charset="-122"/>
              </a:rPr>
              <a:t>)（通常为度量关系）</a:t>
            </a:r>
            <a:endParaRPr lang="en-US" altLang="en-US" sz="2400" dirty="0">
              <a:ea typeface="STKaiti" panose="02010600040101010101" pitchFamily="2" charset="-122"/>
            </a:endParaRPr>
          </a:p>
          <a:p>
            <a:pPr lvl="1">
              <a:spcBef>
                <a:spcPts val="1200"/>
              </a:spcBef>
              <a:spcAft>
                <a:spcPts val="600"/>
              </a:spcAft>
            </a:pPr>
            <a:r>
              <a:rPr lang="en-US" altLang="en-US" sz="2400" dirty="0">
                <a:ea typeface="STKaiti" panose="02010600040101010101" pitchFamily="2" charset="-122"/>
              </a:rPr>
              <a:t>通常是对称的，因此是一个三角矩阵</a:t>
            </a:r>
          </a:p>
          <a:p>
            <a:pPr lvl="1">
              <a:spcBef>
                <a:spcPts val="1200"/>
              </a:spcBef>
              <a:spcAft>
                <a:spcPts val="600"/>
              </a:spcAft>
            </a:pPr>
            <a:r>
              <a:rPr lang="en-US" altLang="zh-CN" sz="2400" dirty="0">
                <a:solidFill>
                  <a:srgbClr val="FF0000"/>
                </a:solidFill>
                <a:ea typeface="STKaiti" panose="02010600040101010101" pitchFamily="2" charset="-122"/>
              </a:rPr>
              <a:t>距离函数</a:t>
            </a:r>
            <a:r>
              <a:rPr lang="en-US" altLang="zh-CN" sz="2400" dirty="0">
                <a:ea typeface="STKaiti" panose="02010600040101010101" pitchFamily="2" charset="-122"/>
              </a:rPr>
              <a:t>通常针对实数、</a:t>
            </a:r>
            <a:r>
              <a:rPr lang="en-US" altLang="zh-CN" sz="2400" dirty="0" err="1">
                <a:ea typeface="STKaiti" panose="02010600040101010101" pitchFamily="2" charset="-122"/>
              </a:rPr>
              <a:t>布尔</a:t>
            </a:r>
            <a:r>
              <a:rPr lang="en-US" altLang="zh-CN" sz="2400" dirty="0">
                <a:ea typeface="STKaiti" panose="02010600040101010101" pitchFamily="2" charset="-122"/>
              </a:rPr>
              <a:t>、分类、序数、比值和向量变量有所不同</a:t>
            </a:r>
          </a:p>
          <a:p>
            <a:pPr lvl="1">
              <a:spcBef>
                <a:spcPts val="1200"/>
              </a:spcBef>
              <a:spcAft>
                <a:spcPts val="600"/>
              </a:spcAft>
            </a:pPr>
            <a:r>
              <a:rPr lang="en-US" altLang="zh-CN" sz="2400" dirty="0">
                <a:ea typeface="STKaiti" panose="02010600040101010101" pitchFamily="2" charset="-122"/>
              </a:rPr>
              <a:t>权重可根据应用场景和数据语义与不同变量关联</a:t>
            </a:r>
            <a:endParaRPr lang="en-US" altLang="zh-CN" sz="2400" dirty="0">
              <a:ea typeface="STKaiti" panose="02010600040101010101" pitchFamily="2" charset="-122"/>
              <a:sym typeface="Symbol" panose="05050102010706020507" pitchFamily="18" charset="2"/>
            </a:endParaRPr>
          </a:p>
          <a:p>
            <a:pPr lvl="1"/>
            <a:endParaRPr lang="en-US" altLang="en-US" sz="2400" dirty="0">
              <a:ea typeface="STKaiti" panose="02010600040101010101" pitchFamily="2" charset="-122"/>
            </a:endParaRPr>
          </a:p>
        </p:txBody>
      </p:sp>
      <p:sp>
        <p:nvSpPr>
          <p:cNvPr id="2" name="Right Arrow 1"/>
          <p:cNvSpPr/>
          <p:nvPr/>
        </p:nvSpPr>
        <p:spPr>
          <a:xfrm>
            <a:off x="7427666" y="1762408"/>
            <a:ext cx="914400" cy="4979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Arrow 2"/>
          <p:cNvSpPr/>
          <p:nvPr/>
        </p:nvSpPr>
        <p:spPr>
          <a:xfrm rot="777763">
            <a:off x="7523431" y="3563671"/>
            <a:ext cx="769545" cy="525101"/>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aphicFrame>
        <p:nvGraphicFramePr>
          <p:cNvPr id="8" name="Object 7"/>
          <p:cNvGraphicFramePr>
            <a:graphicFrameLocks noChangeAspect="1"/>
          </p:cNvGraphicFramePr>
          <p:nvPr/>
        </p:nvGraphicFramePr>
        <p:xfrm>
          <a:off x="8233763" y="1190896"/>
          <a:ext cx="3529680" cy="2138904"/>
        </p:xfrm>
        <a:graphic>
          <a:graphicData uri="http://schemas.openxmlformats.org/presentationml/2006/ole">
            <mc:AlternateContent xmlns:mc="http://schemas.openxmlformats.org/markup-compatibility/2006">
              <mc:Choice xmlns:v="urn:schemas-microsoft-com:vml" Requires="v">
                <p:oleObj name="Equation" r:id="rId3" imgW="1549080" imgH="939600" progId="Equation.DSMT4">
                  <p:embed/>
                </p:oleObj>
              </mc:Choice>
              <mc:Fallback>
                <p:oleObj name="Equation" r:id="rId3" imgW="1549080" imgH="939600" progId="Equation.DSMT4">
                  <p:embed/>
                  <p:pic>
                    <p:nvPicPr>
                      <p:cNvPr id="8" name="Object 7"/>
                      <p:cNvPicPr/>
                      <p:nvPr/>
                    </p:nvPicPr>
                    <p:blipFill>
                      <a:blip r:embed="rId4"/>
                      <a:stretch>
                        <a:fillRect/>
                      </a:stretch>
                    </p:blipFill>
                    <p:spPr>
                      <a:xfrm>
                        <a:off x="8233763" y="1190896"/>
                        <a:ext cx="3529680" cy="2138904"/>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8516938" y="3687751"/>
          <a:ext cx="3246505" cy="1837115"/>
        </p:xfrm>
        <a:graphic>
          <a:graphicData uri="http://schemas.openxmlformats.org/presentationml/2006/ole">
            <mc:AlternateContent xmlns:mc="http://schemas.openxmlformats.org/markup-compatibility/2006">
              <mc:Choice xmlns:v="urn:schemas-microsoft-com:vml" Requires="v">
                <p:oleObj name="Equation" r:id="rId5" imgW="1612800" imgH="914400" progId="Equation.DSMT4">
                  <p:embed/>
                </p:oleObj>
              </mc:Choice>
              <mc:Fallback>
                <p:oleObj name="Equation" r:id="rId5" imgW="1612800" imgH="914400" progId="Equation.DSMT4">
                  <p:embed/>
                  <p:pic>
                    <p:nvPicPr>
                      <p:cNvPr id="9" name="Object 8"/>
                      <p:cNvPicPr/>
                      <p:nvPr/>
                    </p:nvPicPr>
                    <p:blipFill>
                      <a:blip r:embed="rId6"/>
                      <a:stretch>
                        <a:fillRect/>
                      </a:stretch>
                    </p:blipFill>
                    <p:spPr>
                      <a:xfrm>
                        <a:off x="8516938" y="3687751"/>
                        <a:ext cx="3246505" cy="1837115"/>
                      </a:xfrm>
                      <a:prstGeom prst="rect">
                        <a:avLst/>
                      </a:prstGeom>
                    </p:spPr>
                  </p:pic>
                </p:oleObj>
              </mc:Fallback>
            </mc:AlternateContent>
          </a:graphicData>
        </a:graphic>
      </p:graphicFrame>
      <p:sp>
        <p:nvSpPr>
          <p:cNvPr id="5" name="제목 4">
            <a:extLst>
              <a:ext uri="{FF2B5EF4-FFF2-40B4-BE49-F238E27FC236}">
                <a16:creationId xmlns:a16="http://schemas.microsoft.com/office/drawing/2014/main" id="{0AE0F665-1DE4-6160-787C-C3BD8D35683F}"/>
              </a:ext>
            </a:extLst>
          </p:cNvPr>
          <p:cNvSpPr>
            <a:spLocks noGrp="1"/>
          </p:cNvSpPr>
          <p:nvPr>
            <p:ph type="title"/>
          </p:nvPr>
        </p:nvSpPr>
        <p:spPr/>
        <p:txBody>
          <a:bodyPr/>
          <a:lstStyle/>
          <a:p>
            <a:r>
              <a:rPr lang="ko-Kore-KR" altLang="en-US"/>
              <a:t>数据矩阵与相异性矩阵</a:t>
            </a:r>
          </a:p>
        </p:txBody>
      </p:sp>
    </p:spTree>
    <p:extLst>
      <p:ext uri="{BB962C8B-B14F-4D97-AF65-F5344CB8AC3E}">
        <p14:creationId xmlns:p14="http://schemas.microsoft.com/office/powerpoint/2010/main" val="3641794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a:xfrm>
            <a:off x="497941" y="228600"/>
            <a:ext cx="11117655" cy="685800"/>
          </a:xfrm>
        </p:spPr>
        <p:txBody>
          <a:bodyPr>
            <a:noAutofit/>
          </a:bodyPr>
          <a:lstStyle/>
          <a:p>
            <a:pPr eaLnBrk="1" hangingPunct="1"/>
            <a:r>
              <a:rPr lang="en-US" altLang="en-US" sz="4000" dirty="0">
                <a:ea typeface="STKaiti" panose="02010600040101010101" pitchFamily="2" charset="-122"/>
              </a:rPr>
              <a:t>数值数据的距离</a:t>
            </a:r>
            <a:r>
              <a:rPr lang="zh-CN" altLang="en-US" sz="4000" dirty="0">
                <a:ea typeface="STKaiti" panose="02010600040101010101" pitchFamily="2" charset="-122"/>
              </a:rPr>
              <a:t>：</a:t>
            </a:r>
            <a:r>
              <a:rPr lang="en-US" altLang="en-US" sz="4000" dirty="0">
                <a:ea typeface="STKaiti" panose="02010600040101010101" pitchFamily="2" charset="-122"/>
              </a:rPr>
              <a:t>Minkowski距离</a:t>
            </a:r>
          </a:p>
        </p:txBody>
      </p:sp>
      <p:sp>
        <p:nvSpPr>
          <p:cNvPr id="61444" name="Rectangle 3"/>
          <p:cNvSpPr>
            <a:spLocks noGrp="1" noChangeArrowheads="1"/>
          </p:cNvSpPr>
          <p:nvPr>
            <p:ph type="body" idx="1"/>
          </p:nvPr>
        </p:nvSpPr>
        <p:spPr>
          <a:xfrm>
            <a:off x="669955" y="1119617"/>
            <a:ext cx="10420539" cy="5426044"/>
          </a:xfrm>
        </p:spPr>
        <p:txBody>
          <a:bodyPr/>
          <a:lstStyle/>
          <a:p>
            <a:pPr marL="381000" indent="-381000" eaLnBrk="1" hangingPunct="1">
              <a:spcBef>
                <a:spcPts val="600"/>
              </a:spcBef>
              <a:spcAft>
                <a:spcPts val="600"/>
              </a:spcAft>
            </a:pPr>
            <a:r>
              <a:rPr lang="en-US" altLang="en-US" sz="2400" dirty="0">
                <a:solidFill>
                  <a:srgbClr val="FF0000"/>
                </a:solidFill>
              </a:rPr>
              <a:t>Minkowski距离</a:t>
            </a:r>
            <a:r>
              <a:rPr lang="en-US" altLang="en-US" sz="2400" dirty="0"/>
              <a:t>：一种流行的距离度量方法</a:t>
            </a:r>
          </a:p>
          <a:p>
            <a:pPr marL="838200" lvl="1" indent="-381000" eaLnBrk="1" hangingPunct="1">
              <a:spcBef>
                <a:spcPts val="600"/>
              </a:spcBef>
              <a:spcAft>
                <a:spcPts val="600"/>
              </a:spcAft>
              <a:buNone/>
            </a:pPr>
            <a:endParaRPr lang="en-US" altLang="en-US" sz="2400" dirty="0"/>
          </a:p>
          <a:p>
            <a:pPr marL="838200" lvl="1" indent="-381000" eaLnBrk="1" hangingPunct="1">
              <a:spcBef>
                <a:spcPts val="600"/>
              </a:spcBef>
              <a:spcAft>
                <a:spcPts val="600"/>
              </a:spcAft>
              <a:buNone/>
            </a:pPr>
            <a:r>
              <a:rPr lang="en-US" altLang="en-US" sz="2400" dirty="0"/>
              <a:t>其中 </a:t>
            </a:r>
            <a:r>
              <a:rPr lang="en-US" altLang="en-US" sz="2400" i="1" dirty="0" err="1"/>
              <a:t>i </a:t>
            </a:r>
            <a:r>
              <a:rPr lang="en-US" altLang="en-US" sz="2400" dirty="0"/>
              <a:t>= (x</a:t>
            </a:r>
            <a:r>
              <a:rPr lang="en-US" altLang="en-US" sz="2400" baseline="-25000" dirty="0"/>
              <a:t>i1</a:t>
            </a:r>
            <a:r>
              <a:rPr lang="en-US" altLang="en-US" sz="2400" dirty="0"/>
              <a:t> , x</a:t>
            </a:r>
            <a:r>
              <a:rPr lang="en-US" altLang="en-US" sz="2400" baseline="-25000" dirty="0"/>
              <a:t>i2</a:t>
            </a:r>
            <a:r>
              <a:rPr lang="en-US" altLang="en-US" sz="2400" dirty="0"/>
              <a:t> , …, x</a:t>
            </a:r>
            <a:r>
              <a:rPr lang="en-US" altLang="en-US" sz="2400" baseline="-25000" dirty="0" err="1"/>
              <a:t>il</a:t>
            </a:r>
            <a:r>
              <a:rPr lang="en-US" altLang="en-US" sz="2400" dirty="0"/>
              <a:t> ) 和 </a:t>
            </a:r>
            <a:r>
              <a:rPr lang="en-US" altLang="en-US" sz="2400" i="1" dirty="0"/>
              <a:t>j </a:t>
            </a:r>
            <a:r>
              <a:rPr lang="en-US" altLang="en-US" sz="2400" dirty="0"/>
              <a:t>= (x</a:t>
            </a:r>
            <a:r>
              <a:rPr lang="en-US" altLang="en-US" sz="2400" baseline="-25000" dirty="0"/>
              <a:t>j1</a:t>
            </a:r>
            <a:r>
              <a:rPr lang="en-US" altLang="en-US" sz="2400" dirty="0"/>
              <a:t> , x</a:t>
            </a:r>
            <a:r>
              <a:rPr lang="en-US" altLang="en-US" sz="2400" baseline="-25000" dirty="0"/>
              <a:t>j2</a:t>
            </a:r>
            <a:r>
              <a:rPr lang="en-US" altLang="en-US" sz="2400" dirty="0"/>
              <a:t> , …, x</a:t>
            </a:r>
            <a:r>
              <a:rPr lang="en-US" altLang="en-US" sz="2400" baseline="-25000" dirty="0" err="1"/>
              <a:t>jl</a:t>
            </a:r>
            <a:r>
              <a:rPr lang="en-US" altLang="en-US" sz="2400" dirty="0"/>
              <a:t> ) 是两个 l 维数据对象，</a:t>
            </a:r>
            <a:r>
              <a:rPr lang="en-US" altLang="en-US" sz="2400" i="1" dirty="0"/>
              <a:t>p </a:t>
            </a:r>
            <a:r>
              <a:rPr lang="en-US" altLang="en-US" sz="2400" dirty="0"/>
              <a:t>是维数（如此定义的距离也称为 </a:t>
            </a:r>
            <a:r>
              <a:rPr lang="en-US" altLang="en-US" sz="2400" i="1" dirty="0"/>
              <a:t>L-p</a:t>
            </a:r>
            <a:r>
              <a:rPr lang="en-US" altLang="en-US" sz="2400" dirty="0"/>
              <a:t> 范数）</a:t>
            </a:r>
          </a:p>
          <a:p>
            <a:pPr marL="381000" indent="-381000">
              <a:spcAft>
                <a:spcPts val="600"/>
              </a:spcAft>
            </a:pPr>
            <a:r>
              <a:rPr lang="en-US" altLang="en-US" sz="2400" dirty="0"/>
              <a:t>性质</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&gt; 0 若 </a:t>
            </a:r>
            <a:r>
              <a:rPr lang="en-US" altLang="en-US" sz="2400" dirty="0" err="1">
                <a:sym typeface="Symbol" panose="05050102010706020507" pitchFamily="18" charset="2"/>
              </a:rPr>
              <a:t>i</a:t>
            </a:r>
            <a:r>
              <a:rPr lang="en-US" altLang="en-US" sz="2400" dirty="0">
                <a:cs typeface="Tahoma" panose="020B0604030504040204" pitchFamily="34" charset="0"/>
                <a:sym typeface="Symbol" panose="05050102010706020507" pitchFamily="18" charset="2"/>
              </a:rPr>
              <a:t> ≠ </a:t>
            </a:r>
            <a:r>
              <a:rPr lang="en-US" altLang="en-US" sz="2400" dirty="0">
                <a:cs typeface="Tahoma" panose="020B0604030504040204" pitchFamily="34" charset="0"/>
              </a:rPr>
              <a:t>j，且 </a:t>
            </a:r>
            <a:r>
              <a:rPr lang="en-US" altLang="en-US" sz="2400" dirty="0"/>
              <a:t>d(</a:t>
            </a:r>
            <a:r>
              <a:rPr lang="en-US" altLang="en-US" sz="2400" dirty="0" err="1"/>
              <a:t>i</a:t>
            </a:r>
            <a:r>
              <a:rPr lang="en-US" altLang="en-US" sz="2400" dirty="0"/>
              <a:t>, </a:t>
            </a:r>
            <a:r>
              <a:rPr lang="en-US" altLang="en-US" sz="2400" dirty="0" err="1"/>
              <a:t>i</a:t>
            </a:r>
            <a:r>
              <a:rPr lang="en-US" altLang="en-US" sz="2400" dirty="0"/>
              <a:t>) </a:t>
            </a:r>
            <a:r>
              <a:rPr lang="en-US" altLang="en-US" sz="2400" dirty="0">
                <a:sym typeface="Symbol" panose="05050102010706020507" pitchFamily="18" charset="2"/>
              </a:rPr>
              <a:t>= 0</a:t>
            </a:r>
            <a:r>
              <a:rPr lang="en-US" altLang="en-US" sz="2400" dirty="0"/>
              <a:t>（正性）</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 </a:t>
            </a:r>
            <a:r>
              <a:rPr lang="en-US" altLang="en-US" sz="2400" dirty="0"/>
              <a:t>d(j, </a:t>
            </a:r>
            <a:r>
              <a:rPr lang="en-US" altLang="en-US" sz="2400" dirty="0" err="1"/>
              <a:t>i</a:t>
            </a:r>
            <a:r>
              <a:rPr lang="en-US" altLang="en-US" sz="2400" dirty="0"/>
              <a:t>)  （对称性）</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 </a:t>
            </a:r>
            <a:r>
              <a:rPr lang="en-US" altLang="en-US" sz="2400" dirty="0"/>
              <a:t>d(</a:t>
            </a:r>
            <a:r>
              <a:rPr lang="en-US" altLang="en-US" sz="2400" dirty="0" err="1"/>
              <a:t>i</a:t>
            </a:r>
            <a:r>
              <a:rPr lang="en-US" altLang="en-US" sz="2400" dirty="0"/>
              <a:t>, k) </a:t>
            </a:r>
            <a:r>
              <a:rPr lang="en-US" altLang="en-US" sz="2400" dirty="0">
                <a:sym typeface="Symbol" panose="05050102010706020507" pitchFamily="18" charset="2"/>
              </a:rPr>
              <a:t>+ </a:t>
            </a:r>
            <a:r>
              <a:rPr lang="en-US" altLang="en-US" sz="2400" dirty="0"/>
              <a:t>d(k, j)  （三角不等式）</a:t>
            </a:r>
            <a:endParaRPr lang="en-US" altLang="en-US" sz="2400" i="1" dirty="0"/>
          </a:p>
          <a:p>
            <a:pPr marL="381000" indent="-381000" eaLnBrk="1" hangingPunct="1">
              <a:spcBef>
                <a:spcPts val="600"/>
              </a:spcBef>
              <a:spcAft>
                <a:spcPts val="600"/>
              </a:spcAft>
            </a:pPr>
            <a:r>
              <a:rPr lang="en-US" altLang="en-US" sz="2400" dirty="0"/>
              <a:t>满足这些性质的距离称为</a:t>
            </a:r>
            <a:r>
              <a:rPr lang="en-US" altLang="en-US" sz="2400" dirty="0">
                <a:solidFill>
                  <a:srgbClr val="FF0000"/>
                </a:solidFill>
              </a:rPr>
              <a:t>度量</a:t>
            </a:r>
          </a:p>
          <a:p>
            <a:pPr marL="381000" indent="-381000" eaLnBrk="1" hangingPunct="1">
              <a:spcBef>
                <a:spcPts val="600"/>
              </a:spcBef>
              <a:spcAft>
                <a:spcPts val="600"/>
              </a:spcAft>
            </a:pPr>
            <a:r>
              <a:rPr lang="en-US" altLang="en-US" sz="2400" dirty="0"/>
              <a:t>注：存在非度量差异，例如集合差集</a:t>
            </a:r>
          </a:p>
        </p:txBody>
      </p:sp>
      <p:graphicFrame>
        <p:nvGraphicFramePr>
          <p:cNvPr id="5" name="Object 4"/>
          <p:cNvGraphicFramePr>
            <a:graphicFrameLocks noChangeAspect="1"/>
          </p:cNvGraphicFramePr>
          <p:nvPr>
            <p:extLst>
              <p:ext uri="{D42A27DB-BD31-4B8C-83A1-F6EECF244321}">
                <p14:modId xmlns:p14="http://schemas.microsoft.com/office/powerpoint/2010/main" val="4225197214"/>
              </p:ext>
            </p:extLst>
          </p:nvPr>
        </p:nvGraphicFramePr>
        <p:xfrm>
          <a:off x="2197976" y="1561866"/>
          <a:ext cx="6481586" cy="624927"/>
        </p:xfrm>
        <a:graphic>
          <a:graphicData uri="http://schemas.openxmlformats.org/presentationml/2006/ole">
            <mc:AlternateContent xmlns:mc="http://schemas.openxmlformats.org/markup-compatibility/2006">
              <mc:Choice xmlns:v="urn:schemas-microsoft-com:vml" Requires="v">
                <p:oleObj name="Equation" r:id="rId3" imgW="3162240" imgH="304560" progId="Equation.DSMT4">
                  <p:embed/>
                </p:oleObj>
              </mc:Choice>
              <mc:Fallback>
                <p:oleObj name="Equation" r:id="rId3" imgW="3162240" imgH="304560" progId="Equation.DSMT4">
                  <p:embed/>
                  <p:pic>
                    <p:nvPicPr>
                      <p:cNvPr id="5" name="Object 4"/>
                      <p:cNvPicPr/>
                      <p:nvPr/>
                    </p:nvPicPr>
                    <p:blipFill>
                      <a:blip r:embed="rId4"/>
                      <a:stretch>
                        <a:fillRect/>
                      </a:stretch>
                    </p:blipFill>
                    <p:spPr>
                      <a:xfrm>
                        <a:off x="2197976" y="1561866"/>
                        <a:ext cx="6481586" cy="624927"/>
                      </a:xfrm>
                      <a:prstGeom prst="rect">
                        <a:avLst/>
                      </a:prstGeom>
                    </p:spPr>
                  </p:pic>
                </p:oleObj>
              </mc:Fallback>
            </mc:AlternateContent>
          </a:graphicData>
        </a:graphic>
      </p:graphicFrame>
    </p:spTree>
    <p:extLst>
      <p:ext uri="{BB962C8B-B14F-4D97-AF65-F5344CB8AC3E}">
        <p14:creationId xmlns:p14="http://schemas.microsoft.com/office/powerpoint/2010/main" val="38625036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3"/>
          <p:cNvSpPr>
            <a:spLocks noGrp="1" noChangeArrowheads="1"/>
          </p:cNvSpPr>
          <p:nvPr>
            <p:ph type="body" sz="half" idx="1"/>
          </p:nvPr>
        </p:nvSpPr>
        <p:spPr>
          <a:xfrm>
            <a:off x="642795" y="1295400"/>
            <a:ext cx="10465807" cy="4055122"/>
          </a:xfrm>
        </p:spPr>
        <p:txBody>
          <a:bodyPr/>
          <a:lstStyle/>
          <a:p>
            <a:r>
              <a:rPr lang="en-US" altLang="en-US" i="1" dirty="0">
                <a:ea typeface="STKaiti" panose="02010600040101010101" pitchFamily="2" charset="-122"/>
                <a:cs typeface="Times New Roman" panose="02020603050405020304" pitchFamily="18" charset="0"/>
              </a:rPr>
              <a:t>p </a:t>
            </a:r>
            <a:r>
              <a:rPr lang="en-US" altLang="en-US" dirty="0">
                <a:ea typeface="STKaiti" panose="02010600040101010101" pitchFamily="2" charset="-122"/>
                <a:cs typeface="Times New Roman" panose="02020603050405020304" pitchFamily="18" charset="0"/>
              </a:rPr>
              <a:t>= 1: (L</a:t>
            </a:r>
            <a:r>
              <a:rPr lang="en-US" altLang="en-US" baseline="-30000" dirty="0">
                <a:ea typeface="STKaiti" panose="02010600040101010101" pitchFamily="2" charset="-122"/>
                <a:cs typeface="Times New Roman" panose="02020603050405020304" pitchFamily="18" charset="0"/>
              </a:rPr>
              <a:t>1</a:t>
            </a:r>
            <a:r>
              <a:rPr lang="en-US" altLang="en-US" dirty="0">
                <a:ea typeface="STKaiti" panose="02010600040101010101" pitchFamily="2" charset="-122"/>
                <a:cs typeface="Times New Roman" panose="02020603050405020304" pitchFamily="18" charset="0"/>
              </a:rPr>
              <a:t> norm)</a:t>
            </a:r>
            <a:r>
              <a:rPr lang="en-US" altLang="en-US" dirty="0">
                <a:solidFill>
                  <a:srgbClr val="FF0000"/>
                </a:solidFill>
                <a:ea typeface="STKaiti" panose="02010600040101010101" pitchFamily="2" charset="-122"/>
                <a:cs typeface="Times New Roman" panose="02020603050405020304" pitchFamily="18" charset="0"/>
              </a:rPr>
              <a:t>曼哈顿（或城市块）距离</a:t>
            </a:r>
          </a:p>
          <a:p>
            <a:pPr lvl="1" eaLnBrk="1" hangingPunct="1"/>
            <a:r>
              <a:rPr lang="en-US" altLang="en-US" dirty="0">
                <a:ea typeface="STKaiti" panose="02010600040101010101" pitchFamily="2" charset="-122"/>
                <a:cs typeface="Times New Roman" panose="02020603050405020304" pitchFamily="18" charset="0"/>
              </a:rPr>
              <a:t>例如，汉明距离：两个二进制向量之间不同的位数</a:t>
            </a:r>
          </a:p>
          <a:p>
            <a:pPr marL="0" indent="0" eaLnBrk="1" hangingPunct="1">
              <a:buNone/>
            </a:pPr>
            <a:endParaRPr lang="en-US" altLang="en-US" i="1" dirty="0">
              <a:ea typeface="STKaiti" panose="02010600040101010101" pitchFamily="2" charset="-122"/>
              <a:cs typeface="Times New Roman" panose="02020603050405020304" pitchFamily="18" charset="0"/>
            </a:endParaRPr>
          </a:p>
          <a:p>
            <a:pPr eaLnBrk="1" hangingPunct="1"/>
            <a:r>
              <a:rPr lang="en-US" altLang="en-US" i="1" dirty="0">
                <a:ea typeface="STKaiti" panose="02010600040101010101" pitchFamily="2" charset="-122"/>
                <a:cs typeface="Times New Roman" panose="02020603050405020304" pitchFamily="18" charset="0"/>
              </a:rPr>
              <a:t>p </a:t>
            </a:r>
            <a:r>
              <a:rPr lang="en-US" altLang="en-US" dirty="0">
                <a:ea typeface="STKaiti" panose="02010600040101010101" pitchFamily="2" charset="-122"/>
                <a:cs typeface="Times New Roman" panose="02020603050405020304" pitchFamily="18" charset="0"/>
              </a:rPr>
              <a:t>= 2: (L</a:t>
            </a:r>
            <a:r>
              <a:rPr lang="en-US" altLang="en-US" baseline="-25000" dirty="0">
                <a:ea typeface="STKaiti" panose="02010600040101010101" pitchFamily="2" charset="-122"/>
                <a:cs typeface="Times New Roman" panose="02020603050405020304" pitchFamily="18" charset="0"/>
              </a:rPr>
              <a:t>2</a:t>
            </a:r>
            <a:r>
              <a:rPr lang="en-US" altLang="en-US" dirty="0">
                <a:ea typeface="STKaiti" panose="02010600040101010101" pitchFamily="2" charset="-122"/>
                <a:cs typeface="Times New Roman" panose="02020603050405020304" pitchFamily="18" charset="0"/>
              </a:rPr>
              <a:t> norm)</a:t>
            </a:r>
            <a:r>
              <a:rPr lang="en-US" altLang="en-US" dirty="0">
                <a:solidFill>
                  <a:srgbClr val="FF0000"/>
                </a:solidFill>
                <a:ea typeface="STKaiti" panose="02010600040101010101" pitchFamily="2" charset="-122"/>
                <a:cs typeface="Times New Roman" panose="02020603050405020304" pitchFamily="18" charset="0"/>
              </a:rPr>
              <a:t> 欧几里得距离</a:t>
            </a:r>
          </a:p>
          <a:p>
            <a:pPr lvl="4" eaLnBrk="1" hangingPunct="1"/>
            <a:endParaRPr lang="en-US" altLang="en-US" dirty="0">
              <a:ea typeface="STKaiti" panose="02010600040101010101" pitchFamily="2" charset="-122"/>
              <a:cs typeface="Times New Roman" panose="02020603050405020304" pitchFamily="18" charset="0"/>
            </a:endParaRPr>
          </a:p>
          <a:p>
            <a:pPr eaLnBrk="1" hangingPunct="1"/>
            <a:endParaRPr lang="en-US" altLang="en-US" i="1" dirty="0">
              <a:ea typeface="STKaiti" panose="02010600040101010101" pitchFamily="2" charset="-122"/>
              <a:cs typeface="Times New Roman" panose="02020603050405020304" pitchFamily="18" charset="0"/>
            </a:endParaRPr>
          </a:p>
          <a:p>
            <a:r>
              <a:rPr lang="en-US" altLang="en-US" i="1" dirty="0">
                <a:ea typeface="STKaiti" panose="02010600040101010101" pitchFamily="2" charset="-122"/>
                <a:cs typeface="Times New Roman" panose="02020603050405020304" pitchFamily="18" charset="0"/>
              </a:rPr>
              <a:t>p </a:t>
            </a:r>
            <a:r>
              <a:rPr lang="en-US" altLang="en-US" dirty="0">
                <a:ea typeface="STKaiti" panose="02010600040101010101" pitchFamily="2" charset="-122"/>
                <a:cs typeface="Times New Roman" panose="02020603050405020304" pitchFamily="18" charset="0"/>
                <a:sym typeface="Symbol" panose="05050102010706020507" pitchFamily="18" charset="2"/>
              </a:rPr>
              <a:t>→ ∞</a:t>
            </a:r>
            <a:r>
              <a:rPr lang="en-US" altLang="en-US" dirty="0">
                <a:ea typeface="STKaiti" panose="02010600040101010101" pitchFamily="2" charset="-122"/>
                <a:cs typeface="Times New Roman" panose="02020603050405020304" pitchFamily="18" charset="0"/>
              </a:rPr>
              <a:t>: (L</a:t>
            </a:r>
            <a:r>
              <a:rPr lang="en-US" altLang="en-US" baseline="-30000" dirty="0" err="1">
                <a:ea typeface="STKaiti" panose="02010600040101010101" pitchFamily="2" charset="-122"/>
                <a:cs typeface="Times New Roman" panose="02020603050405020304" pitchFamily="18" charset="0"/>
              </a:rPr>
              <a:t>max</a:t>
            </a:r>
            <a:r>
              <a:rPr lang="en-US" altLang="en-US" baseline="-30000" dirty="0">
                <a:ea typeface="STKaiti" panose="02010600040101010101" pitchFamily="2" charset="-122"/>
                <a:cs typeface="Times New Roman" panose="02020603050405020304" pitchFamily="18" charset="0"/>
              </a:rPr>
              <a:t> </a:t>
            </a:r>
            <a:r>
              <a:rPr lang="en-US" altLang="en-US" dirty="0">
                <a:ea typeface="STKaiti" panose="02010600040101010101" pitchFamily="2" charset="-122"/>
                <a:cs typeface="Times New Roman" panose="02020603050405020304" pitchFamily="18" charset="0"/>
              </a:rPr>
              <a:t> norm, L</a:t>
            </a:r>
            <a:r>
              <a:rPr lang="en-US" altLang="en-US" baseline="-30000" dirty="0">
                <a:ea typeface="STKaiti" panose="02010600040101010101" pitchFamily="2" charset="-122"/>
                <a:cs typeface="Times New Roman" panose="02020603050405020304" pitchFamily="18" charset="0"/>
                <a:sym typeface="Symbol" panose="05050102010706020507" pitchFamily="18" charset="2"/>
              </a:rPr>
              <a:t></a:t>
            </a:r>
            <a:r>
              <a:rPr lang="en-US" altLang="en-US" baseline="-30000" dirty="0">
                <a:ea typeface="STKaiti" panose="02010600040101010101" pitchFamily="2" charset="-122"/>
                <a:cs typeface="Times New Roman" panose="02020603050405020304" pitchFamily="18" charset="0"/>
              </a:rPr>
              <a:t> </a:t>
            </a:r>
            <a:r>
              <a:rPr lang="en-US" altLang="en-US" dirty="0">
                <a:ea typeface="STKaiti" panose="02010600040101010101" pitchFamily="2" charset="-122"/>
                <a:cs typeface="Times New Roman" panose="02020603050405020304" pitchFamily="18" charset="0"/>
              </a:rPr>
              <a:t> norm) </a:t>
            </a:r>
            <a:r>
              <a:rPr lang="en-US" altLang="en-US" dirty="0">
                <a:solidFill>
                  <a:srgbClr val="FF0000"/>
                </a:solidFill>
                <a:ea typeface="STKaiti" panose="02010600040101010101" pitchFamily="2" charset="-122"/>
                <a:cs typeface="Times New Roman" panose="02020603050405020304" pitchFamily="18" charset="0"/>
              </a:rPr>
              <a:t>supremum距离</a:t>
            </a:r>
          </a:p>
          <a:p>
            <a:pPr lvl="1" eaLnBrk="1" hangingPunct="1"/>
            <a:r>
              <a:rPr lang="en-US" altLang="en-US" dirty="0">
                <a:ea typeface="STKaiti" panose="02010600040101010101" pitchFamily="2" charset="-122"/>
                <a:cs typeface="Times New Roman" panose="02020603050405020304" pitchFamily="18" charset="0"/>
              </a:rPr>
              <a:t>向量中任意两个分量（属性）之间的最大差值</a:t>
            </a:r>
          </a:p>
          <a:p>
            <a:pPr lvl="1" eaLnBrk="1" hangingPunct="1"/>
            <a:endParaRPr lang="en-US" altLang="en-US" sz="2000" dirty="0">
              <a:ea typeface="STKaiti" panose="02010600040101010101" pitchFamily="2" charset="-122"/>
              <a:cs typeface="Times New Roman" panose="02020603050405020304" pitchFamily="18" charset="0"/>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089259188"/>
              </p:ext>
            </p:extLst>
          </p:nvPr>
        </p:nvGraphicFramePr>
        <p:xfrm>
          <a:off x="3698720" y="2196918"/>
          <a:ext cx="5700713" cy="493713"/>
        </p:xfrm>
        <a:graphic>
          <a:graphicData uri="http://schemas.openxmlformats.org/presentationml/2006/ole">
            <mc:AlternateContent xmlns:mc="http://schemas.openxmlformats.org/markup-compatibility/2006">
              <mc:Choice xmlns:v="urn:schemas-microsoft-com:vml" Requires="v">
                <p:oleObj name="Equation" r:id="rId3" imgW="2781000" imgH="241200" progId="Equation.DSMT4">
                  <p:embed/>
                </p:oleObj>
              </mc:Choice>
              <mc:Fallback>
                <p:oleObj name="Equation" r:id="rId3" imgW="2781000" imgH="241200" progId="Equation.DSMT4">
                  <p:embed/>
                  <p:pic>
                    <p:nvPicPr>
                      <p:cNvPr id="7" name="Object 6"/>
                      <p:cNvPicPr/>
                      <p:nvPr/>
                    </p:nvPicPr>
                    <p:blipFill>
                      <a:blip r:embed="rId4"/>
                      <a:stretch>
                        <a:fillRect/>
                      </a:stretch>
                    </p:blipFill>
                    <p:spPr>
                      <a:xfrm>
                        <a:off x="3698720" y="2196918"/>
                        <a:ext cx="5700713" cy="493713"/>
                      </a:xfrm>
                      <a:prstGeom prst="rect">
                        <a:avLst/>
                      </a:prstGeom>
                    </p:spPr>
                  </p:pic>
                </p:oleObj>
              </mc:Fallback>
            </mc:AlternateContent>
          </a:graphicData>
        </a:graphic>
      </p:graphicFrame>
      <p:graphicFrame>
        <p:nvGraphicFramePr>
          <p:cNvPr id="9" name="Content Placeholder 8"/>
          <p:cNvGraphicFramePr>
            <a:graphicFrameLocks noGrp="1" noChangeAspect="1"/>
          </p:cNvGraphicFramePr>
          <p:nvPr>
            <p:ph sz="half" idx="2"/>
            <p:extLst>
              <p:ext uri="{D42A27DB-BD31-4B8C-83A1-F6EECF244321}">
                <p14:modId xmlns:p14="http://schemas.microsoft.com/office/powerpoint/2010/main" val="2982002057"/>
              </p:ext>
            </p:extLst>
          </p:nvPr>
        </p:nvGraphicFramePr>
        <p:xfrm>
          <a:off x="3058570" y="3137911"/>
          <a:ext cx="6720004" cy="582177"/>
        </p:xfrm>
        <a:graphic>
          <a:graphicData uri="http://schemas.openxmlformats.org/presentationml/2006/ole">
            <mc:AlternateContent xmlns:mc="http://schemas.openxmlformats.org/markup-compatibility/2006">
              <mc:Choice xmlns:v="urn:schemas-microsoft-com:vml" Requires="v">
                <p:oleObj name="Equation" r:id="rId5" imgW="3124080" imgH="304560" progId="Equation.DSMT4">
                  <p:embed/>
                </p:oleObj>
              </mc:Choice>
              <mc:Fallback>
                <p:oleObj name="Equation" r:id="rId5" imgW="3124080" imgH="304560" progId="Equation.DSMT4">
                  <p:embed/>
                  <p:pic>
                    <p:nvPicPr>
                      <p:cNvPr id="9" name="Content Placeholder 8"/>
                      <p:cNvPicPr/>
                      <p:nvPr/>
                    </p:nvPicPr>
                    <p:blipFill>
                      <a:blip r:embed="rId6"/>
                      <a:stretch>
                        <a:fillRect/>
                      </a:stretch>
                    </p:blipFill>
                    <p:spPr>
                      <a:xfrm>
                        <a:off x="3058570" y="3137911"/>
                        <a:ext cx="6720004" cy="582177"/>
                      </a:xfrm>
                      <a:prstGeom prst="rect">
                        <a:avLst/>
                      </a:prstGeom>
                    </p:spPr>
                  </p:pic>
                </p:oleObj>
              </mc:Fallback>
            </mc:AlternateContent>
          </a:graphicData>
        </a:graphic>
      </p:graphicFrame>
      <p:pic>
        <p:nvPicPr>
          <p:cNvPr id="4" name="Picture 3"/>
          <p:cNvPicPr>
            <a:picLocks noChangeAspect="1"/>
          </p:cNvPicPr>
          <p:nvPr/>
        </p:nvPicPr>
        <p:blipFill>
          <a:blip r:embed="rId7"/>
          <a:stretch>
            <a:fillRect/>
          </a:stretch>
        </p:blipFill>
        <p:spPr>
          <a:xfrm>
            <a:off x="1334085" y="4882473"/>
            <a:ext cx="9774517" cy="691689"/>
          </a:xfrm>
          <a:prstGeom prst="rect">
            <a:avLst/>
          </a:prstGeom>
        </p:spPr>
      </p:pic>
      <p:sp>
        <p:nvSpPr>
          <p:cNvPr id="3" name="제목 2">
            <a:extLst>
              <a:ext uri="{FF2B5EF4-FFF2-40B4-BE49-F238E27FC236}">
                <a16:creationId xmlns:a16="http://schemas.microsoft.com/office/drawing/2014/main" id="{24C4F17A-0A3E-B3DA-8DEB-295145D3B4B4}"/>
              </a:ext>
            </a:extLst>
          </p:cNvPr>
          <p:cNvSpPr>
            <a:spLocks noGrp="1"/>
          </p:cNvSpPr>
          <p:nvPr>
            <p:ph type="title"/>
          </p:nvPr>
        </p:nvSpPr>
        <p:spPr/>
        <p:txBody>
          <a:bodyPr>
            <a:normAutofit fontScale="90000"/>
          </a:bodyPr>
          <a:lstStyle/>
          <a:p>
            <a:r>
              <a:rPr lang="en-US" altLang="en-US" dirty="0" err="1"/>
              <a:t>Minkowski</a:t>
            </a:r>
            <a:r>
              <a:rPr lang="en-US" altLang="en-US" dirty="0"/>
              <a:t> 距离的特殊情况</a:t>
            </a:r>
            <a:endParaRPr lang="ko-Kore-KR" altLang="en-US" dirty="0"/>
          </a:p>
        </p:txBody>
      </p:sp>
    </p:spTree>
    <p:extLst>
      <p:ext uri="{BB962C8B-B14F-4D97-AF65-F5344CB8AC3E}">
        <p14:creationId xmlns:p14="http://schemas.microsoft.com/office/powerpoint/2010/main" val="3064198214"/>
      </p:ext>
    </p:extLst>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altLang="en-US" dirty="0"/>
              <a:t>示例： </a:t>
            </a:r>
            <a:r>
              <a:rPr lang="en-US" altLang="en-US" dirty="0" err="1"/>
              <a:t>Minkowski</a:t>
            </a:r>
            <a:r>
              <a:rPr lang="en-US" altLang="en-US" dirty="0"/>
              <a:t> 距离在特殊情况下的应用</a:t>
            </a:r>
          </a:p>
        </p:txBody>
      </p:sp>
      <p:graphicFrame>
        <p:nvGraphicFramePr>
          <p:cNvPr id="63493" name="Object 4"/>
          <p:cNvGraphicFramePr>
            <a:graphicFrameLocks noChangeAspect="1"/>
          </p:cNvGraphicFramePr>
          <p:nvPr>
            <p:extLst>
              <p:ext uri="{D42A27DB-BD31-4B8C-83A1-F6EECF244321}">
                <p14:modId xmlns:p14="http://schemas.microsoft.com/office/powerpoint/2010/main" val="563228474"/>
              </p:ext>
            </p:extLst>
          </p:nvPr>
        </p:nvGraphicFramePr>
        <p:xfrm>
          <a:off x="1238179" y="1295399"/>
          <a:ext cx="2962275" cy="1363663"/>
        </p:xfrm>
        <a:graphic>
          <a:graphicData uri="http://schemas.openxmlformats.org/presentationml/2006/ole">
            <mc:AlternateContent xmlns:mc="http://schemas.openxmlformats.org/markup-compatibility/2006">
              <mc:Choice xmlns:v="urn:schemas-microsoft-com:vml" Requires="v">
                <p:oleObj name="Worksheet" r:id="rId3" imgW="1838249" imgH="819302" progId="Excel.Sheet.8">
                  <p:embed/>
                </p:oleObj>
              </mc:Choice>
              <mc:Fallback>
                <p:oleObj name="Worksheet" r:id="rId3" imgW="1838249" imgH="819302" progId="Excel.Sheet.8">
                  <p:embed/>
                  <p:pic>
                    <p:nvPicPr>
                      <p:cNvPr id="6349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8179" y="1295399"/>
                        <a:ext cx="2962275"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4" name="Object 5"/>
          <p:cNvGraphicFramePr>
            <a:graphicFrameLocks noChangeAspect="1"/>
          </p:cNvGraphicFramePr>
          <p:nvPr>
            <p:extLst>
              <p:ext uri="{D42A27DB-BD31-4B8C-83A1-F6EECF244321}">
                <p14:modId xmlns:p14="http://schemas.microsoft.com/office/powerpoint/2010/main" val="2646066376"/>
              </p:ext>
            </p:extLst>
          </p:nvPr>
        </p:nvGraphicFramePr>
        <p:xfrm>
          <a:off x="5334000" y="1600200"/>
          <a:ext cx="4948238" cy="1320800"/>
        </p:xfrm>
        <a:graphic>
          <a:graphicData uri="http://schemas.openxmlformats.org/presentationml/2006/ole">
            <mc:AlternateContent xmlns:mc="http://schemas.openxmlformats.org/markup-compatibility/2006">
              <mc:Choice xmlns:v="urn:schemas-microsoft-com:vml" Requires="v">
                <p:oleObj name="Worksheet" r:id="rId5" imgW="3057449" imgH="819302" progId="Excel.Sheet.8">
                  <p:embed/>
                </p:oleObj>
              </mc:Choice>
              <mc:Fallback>
                <p:oleObj name="Worksheet" r:id="rId5" imgW="3057449" imgH="819302" progId="Excel.Sheet.8">
                  <p:embed/>
                  <p:pic>
                    <p:nvPicPr>
                      <p:cNvPr id="63494"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16002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5" name="Object 6"/>
          <p:cNvGraphicFramePr>
            <a:graphicFrameLocks noChangeAspect="1"/>
          </p:cNvGraphicFramePr>
          <p:nvPr>
            <p:extLst>
              <p:ext uri="{D42A27DB-BD31-4B8C-83A1-F6EECF244321}">
                <p14:modId xmlns:p14="http://schemas.microsoft.com/office/powerpoint/2010/main" val="3282301617"/>
              </p:ext>
            </p:extLst>
          </p:nvPr>
        </p:nvGraphicFramePr>
        <p:xfrm>
          <a:off x="5334000" y="3429000"/>
          <a:ext cx="4948238" cy="1320800"/>
        </p:xfrm>
        <a:graphic>
          <a:graphicData uri="http://schemas.openxmlformats.org/presentationml/2006/ole">
            <mc:AlternateContent xmlns:mc="http://schemas.openxmlformats.org/markup-compatibility/2006">
              <mc:Choice xmlns:v="urn:schemas-microsoft-com:vml" Requires="v">
                <p:oleObj name="Worksheet" r:id="rId7" imgW="3057449" imgH="819302" progId="Excel.Sheet.8">
                  <p:embed/>
                </p:oleObj>
              </mc:Choice>
              <mc:Fallback>
                <p:oleObj name="Worksheet" r:id="rId7" imgW="3057449" imgH="819302" progId="Excel.Sheet.8">
                  <p:embed/>
                  <p:pic>
                    <p:nvPicPr>
                      <p:cNvPr id="63495"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34290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6" name="Object 7"/>
          <p:cNvGraphicFramePr>
            <a:graphicFrameLocks noChangeAspect="1"/>
          </p:cNvGraphicFramePr>
          <p:nvPr>
            <p:extLst>
              <p:ext uri="{D42A27DB-BD31-4B8C-83A1-F6EECF244321}">
                <p14:modId xmlns:p14="http://schemas.microsoft.com/office/powerpoint/2010/main" val="3311393337"/>
              </p:ext>
            </p:extLst>
          </p:nvPr>
        </p:nvGraphicFramePr>
        <p:xfrm>
          <a:off x="5334000" y="5254626"/>
          <a:ext cx="4872038" cy="1374775"/>
        </p:xfrm>
        <a:graphic>
          <a:graphicData uri="http://schemas.openxmlformats.org/presentationml/2006/ole">
            <mc:AlternateContent xmlns:mc="http://schemas.openxmlformats.org/markup-compatibility/2006">
              <mc:Choice xmlns:v="urn:schemas-microsoft-com:vml" Requires="v">
                <p:oleObj name="Worksheet" r:id="rId9" imgW="3057449" imgH="838200" progId="Excel.Sheet.8">
                  <p:embed/>
                </p:oleObj>
              </mc:Choice>
              <mc:Fallback>
                <p:oleObj name="Worksheet" r:id="rId9" imgW="3057449" imgH="838200" progId="Excel.Sheet.8">
                  <p:embed/>
                  <p:pic>
                    <p:nvPicPr>
                      <p:cNvPr id="63496"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5254626"/>
                        <a:ext cx="4872038"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7" name="Rectangle 16"/>
          <p:cNvSpPr>
            <a:spLocks noChangeArrowheads="1"/>
          </p:cNvSpPr>
          <p:nvPr/>
        </p:nvSpPr>
        <p:spPr bwMode="auto">
          <a:xfrm>
            <a:off x="5249339" y="1175542"/>
            <a:ext cx="32478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STKaiti" panose="02010600040101010101" pitchFamily="2" charset="-122"/>
                <a:ea typeface="STKaiti" panose="02010600040101010101" pitchFamily="2" charset="-122"/>
              </a:rPr>
              <a:t>曼哈顿距离（L</a:t>
            </a:r>
            <a:r>
              <a:rPr lang="en-US" altLang="en-US" sz="2400" b="1" baseline="-25000" dirty="0">
                <a:solidFill>
                  <a:srgbClr val="000000"/>
                </a:solidFill>
                <a:latin typeface="STKaiti" panose="02010600040101010101" pitchFamily="2" charset="-122"/>
                <a:ea typeface="STKaiti" panose="02010600040101010101" pitchFamily="2" charset="-122"/>
              </a:rPr>
              <a:t>1</a:t>
            </a:r>
            <a:r>
              <a:rPr lang="en-US" altLang="en-US" sz="2400" b="1" dirty="0">
                <a:solidFill>
                  <a:srgbClr val="000000"/>
                </a:solidFill>
                <a:latin typeface="STKaiti" panose="02010600040101010101" pitchFamily="2" charset="-122"/>
                <a:ea typeface="STKaiti" panose="02010600040101010101" pitchFamily="2" charset="-122"/>
              </a:rPr>
              <a:t> ）</a:t>
            </a:r>
          </a:p>
        </p:txBody>
      </p:sp>
      <p:sp>
        <p:nvSpPr>
          <p:cNvPr id="63498" name="Rectangle 17"/>
          <p:cNvSpPr>
            <a:spLocks noChangeArrowheads="1"/>
          </p:cNvSpPr>
          <p:nvPr/>
        </p:nvSpPr>
        <p:spPr bwMode="auto">
          <a:xfrm>
            <a:off x="5285551" y="3018135"/>
            <a:ext cx="30011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STKaiti" panose="02010600040101010101" pitchFamily="2" charset="-122"/>
                <a:ea typeface="STKaiti" panose="02010600040101010101" pitchFamily="2" charset="-122"/>
              </a:rPr>
              <a:t>欧几里得距离（L</a:t>
            </a:r>
            <a:r>
              <a:rPr lang="en-US" altLang="en-US" sz="2400" b="1" baseline="-25000" dirty="0">
                <a:solidFill>
                  <a:srgbClr val="000000"/>
                </a:solidFill>
                <a:latin typeface="STKaiti" panose="02010600040101010101" pitchFamily="2" charset="-122"/>
                <a:ea typeface="STKaiti" panose="02010600040101010101" pitchFamily="2" charset="-122"/>
              </a:rPr>
              <a:t>2</a:t>
            </a:r>
            <a:r>
              <a:rPr lang="en-US" altLang="en-US" sz="2400" b="1" dirty="0">
                <a:solidFill>
                  <a:srgbClr val="000000"/>
                </a:solidFill>
                <a:latin typeface="STKaiti" panose="02010600040101010101" pitchFamily="2" charset="-122"/>
                <a:ea typeface="STKaiti" panose="02010600040101010101" pitchFamily="2" charset="-122"/>
              </a:rPr>
              <a:t> ）</a:t>
            </a:r>
          </a:p>
        </p:txBody>
      </p:sp>
      <p:sp>
        <p:nvSpPr>
          <p:cNvPr id="63499" name="Rectangle 18"/>
          <p:cNvSpPr>
            <a:spLocks noChangeArrowheads="1"/>
          </p:cNvSpPr>
          <p:nvPr/>
        </p:nvSpPr>
        <p:spPr bwMode="auto">
          <a:xfrm>
            <a:off x="5285551" y="4802014"/>
            <a:ext cx="18966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STKaiti" panose="02010600040101010101" pitchFamily="2" charset="-122"/>
                <a:ea typeface="STKaiti" panose="02010600040101010101" pitchFamily="2" charset="-122"/>
              </a:rPr>
              <a:t>极值（</a:t>
            </a:r>
            <a:r>
              <a:rPr lang="en-US" altLang="en-US" sz="2400" b="1" dirty="0">
                <a:latin typeface="STKaiti" panose="02010600040101010101" pitchFamily="2" charset="-122"/>
                <a:ea typeface="STKaiti" panose="02010600040101010101" pitchFamily="2" charset="-122"/>
                <a:cs typeface="Times New Roman" panose="02020603050405020304" pitchFamily="18" charset="0"/>
              </a:rPr>
              <a:t>L</a:t>
            </a:r>
            <a:r>
              <a:rPr lang="en-US" altLang="en-US" sz="2400" b="1" baseline="-30000" dirty="0">
                <a:latin typeface="STKaiti" panose="02010600040101010101" pitchFamily="2" charset="-122"/>
                <a:ea typeface="STKaiti" panose="02010600040101010101" pitchFamily="2" charset="-122"/>
                <a:cs typeface="Times New Roman" panose="02020603050405020304" pitchFamily="18" charset="0"/>
                <a:sym typeface="Symbol" panose="05050102010706020507" pitchFamily="18" charset="2"/>
              </a:rPr>
              <a:t></a:t>
            </a:r>
            <a:r>
              <a:rPr lang="en-US" altLang="en-US" sz="2400" b="1" dirty="0">
                <a:latin typeface="STKaiti" panose="02010600040101010101" pitchFamily="2" charset="-122"/>
                <a:ea typeface="STKaiti" panose="02010600040101010101" pitchFamily="2" charset="-122"/>
                <a:cs typeface="Times New Roman" panose="02020603050405020304" pitchFamily="18" charset="0"/>
              </a:rPr>
              <a:t> ） </a:t>
            </a:r>
            <a:endParaRPr lang="en-US" altLang="en-US" sz="2400" b="1" dirty="0">
              <a:solidFill>
                <a:srgbClr val="000000"/>
              </a:solidFill>
              <a:latin typeface="STKaiti" panose="02010600040101010101" pitchFamily="2" charset="-122"/>
              <a:ea typeface="STKaiti" panose="02010600040101010101" pitchFamily="2" charset="-122"/>
            </a:endParaRPr>
          </a:p>
        </p:txBody>
      </p:sp>
      <p:graphicFrame>
        <p:nvGraphicFramePr>
          <p:cNvPr id="63500" name="Object 19"/>
          <p:cNvGraphicFramePr>
            <a:graphicFrameLocks noChangeAspect="1"/>
          </p:cNvGraphicFramePr>
          <p:nvPr/>
        </p:nvGraphicFramePr>
        <p:xfrm>
          <a:off x="642796" y="2819400"/>
          <a:ext cx="4153043" cy="3810000"/>
        </p:xfrm>
        <a:graphic>
          <a:graphicData uri="http://schemas.openxmlformats.org/presentationml/2006/ole">
            <mc:AlternateContent xmlns:mc="http://schemas.openxmlformats.org/markup-compatibility/2006">
              <mc:Choice xmlns:v="urn:schemas-microsoft-com:vml" Requires="v">
                <p:oleObj name="SmartDraw" r:id="rId11" imgW="4379976" imgH="5551932" progId="SmartDraw.2">
                  <p:embed/>
                </p:oleObj>
              </mc:Choice>
              <mc:Fallback>
                <p:oleObj name="SmartDraw" r:id="rId11" imgW="4379976" imgH="5551932" progId="SmartDraw.2">
                  <p:embed/>
                  <p:pic>
                    <p:nvPicPr>
                      <p:cNvPr id="6350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2796" y="2819400"/>
                        <a:ext cx="4153043" cy="3810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8094179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type="body" idx="1"/>
          </p:nvPr>
        </p:nvSpPr>
        <p:spPr>
          <a:xfrm>
            <a:off x="552261" y="988978"/>
            <a:ext cx="7161291" cy="4986322"/>
          </a:xfrm>
        </p:spPr>
        <p:txBody>
          <a:bodyPr/>
          <a:lstStyle/>
          <a:p>
            <a:pPr>
              <a:lnSpc>
                <a:spcPct val="150000"/>
              </a:lnSpc>
            </a:pPr>
            <a:r>
              <a:rPr lang="en-US" altLang="en-US" sz="2400" dirty="0">
                <a:ea typeface="STKaiti" panose="02010600040101010101" pitchFamily="2" charset="-122"/>
              </a:rPr>
              <a:t>二元数据的列联表</a:t>
            </a:r>
          </a:p>
          <a:p>
            <a:pPr marL="0" indent="0">
              <a:lnSpc>
                <a:spcPct val="150000"/>
              </a:lnSpc>
              <a:buNone/>
            </a:pPr>
            <a:endParaRPr lang="en-US" altLang="en-US" sz="2400" dirty="0">
              <a:ea typeface="STKaiti" panose="02010600040101010101" pitchFamily="2" charset="-122"/>
            </a:endParaRPr>
          </a:p>
          <a:p>
            <a:pPr>
              <a:lnSpc>
                <a:spcPct val="150000"/>
              </a:lnSpc>
            </a:pPr>
            <a:endParaRPr lang="en-US" altLang="en-US" sz="2400" dirty="0">
              <a:ea typeface="STKaiti" panose="02010600040101010101" pitchFamily="2" charset="-122"/>
            </a:endParaRPr>
          </a:p>
          <a:p>
            <a:pPr>
              <a:lnSpc>
                <a:spcPct val="150000"/>
              </a:lnSpc>
            </a:pPr>
            <a:r>
              <a:rPr lang="en-US" altLang="en-US" sz="2400" dirty="0">
                <a:ea typeface="STKaiti" panose="02010600040101010101" pitchFamily="2" charset="-122"/>
              </a:rPr>
              <a:t>对称二元变量的距离度量： </a:t>
            </a:r>
          </a:p>
          <a:p>
            <a:pPr>
              <a:lnSpc>
                <a:spcPct val="150000"/>
              </a:lnSpc>
            </a:pPr>
            <a:r>
              <a:rPr lang="en-US" altLang="en-US" sz="2400" dirty="0">
                <a:ea typeface="STKaiti" panose="02010600040101010101" pitchFamily="2" charset="-122"/>
              </a:rPr>
              <a:t>不对称二元变量的距离度量： </a:t>
            </a:r>
          </a:p>
          <a:p>
            <a:pPr>
              <a:lnSpc>
                <a:spcPct val="150000"/>
              </a:lnSpc>
            </a:pPr>
            <a:r>
              <a:rPr lang="en-US" altLang="en-US" sz="2400" dirty="0">
                <a:ea typeface="STKaiti" panose="02010600040101010101" pitchFamily="2" charset="-122"/>
              </a:rPr>
              <a:t>Jacard系数（</a:t>
            </a:r>
            <a:r>
              <a:rPr lang="en-US" altLang="en-US" sz="2400" i="1" dirty="0">
                <a:ea typeface="STKaiti" panose="02010600040101010101" pitchFamily="2" charset="-122"/>
              </a:rPr>
              <a:t>不对称</a:t>
            </a:r>
            <a:r>
              <a:rPr lang="en-US" altLang="en-US" sz="2400" dirty="0">
                <a:ea typeface="STKaiti" panose="02010600040101010101" pitchFamily="2" charset="-122"/>
              </a:rPr>
              <a:t>二元变量的相似度度量）： </a:t>
            </a:r>
          </a:p>
        </p:txBody>
      </p:sp>
      <p:pic>
        <p:nvPicPr>
          <p:cNvPr id="5" name="Picture 36" descr="eqcontingency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582" y="1738070"/>
            <a:ext cx="396240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37"/>
          <p:cNvSpPr txBox="1">
            <a:spLocks noChangeArrowheads="1"/>
          </p:cNvSpPr>
          <p:nvPr/>
        </p:nvSpPr>
        <p:spPr bwMode="auto">
          <a:xfrm>
            <a:off x="972507" y="2187918"/>
            <a:ext cx="7040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600" dirty="0">
                <a:solidFill>
                  <a:srgbClr val="000000"/>
                </a:solidFill>
                <a:latin typeface="STKaiti" panose="02010600040101010101" pitchFamily="2" charset="-122"/>
                <a:ea typeface="STKaiti" panose="02010600040101010101" pitchFamily="2" charset="-122"/>
              </a:rPr>
              <a:t>对象 </a:t>
            </a:r>
            <a:r>
              <a:rPr lang="en-US" altLang="en-US" sz="1600" i="1" dirty="0" err="1">
                <a:solidFill>
                  <a:srgbClr val="000000"/>
                </a:solidFill>
                <a:latin typeface="STKaiti" panose="02010600040101010101" pitchFamily="2" charset="-122"/>
                <a:ea typeface="STKaiti" panose="02010600040101010101" pitchFamily="2" charset="-122"/>
              </a:rPr>
              <a:t>i</a:t>
            </a:r>
            <a:endParaRPr lang="en-US" altLang="en-US" sz="1600" dirty="0">
              <a:solidFill>
                <a:srgbClr val="000000"/>
              </a:solidFill>
              <a:latin typeface="STKaiti" panose="02010600040101010101" pitchFamily="2" charset="-122"/>
              <a:ea typeface="STKaiti" panose="02010600040101010101" pitchFamily="2" charset="-122"/>
            </a:endParaRPr>
          </a:p>
        </p:txBody>
      </p:sp>
      <p:sp>
        <p:nvSpPr>
          <p:cNvPr id="7" name="Text Box 38"/>
          <p:cNvSpPr txBox="1">
            <a:spLocks noChangeArrowheads="1"/>
          </p:cNvSpPr>
          <p:nvPr/>
        </p:nvSpPr>
        <p:spPr bwMode="auto">
          <a:xfrm>
            <a:off x="3307484" y="1461455"/>
            <a:ext cx="6944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600" dirty="0">
                <a:solidFill>
                  <a:srgbClr val="000000"/>
                </a:solidFill>
                <a:latin typeface="STKaiti" panose="02010600040101010101" pitchFamily="2" charset="-122"/>
                <a:ea typeface="STKaiti" panose="02010600040101010101" pitchFamily="2" charset="-122"/>
              </a:rPr>
              <a:t>对象 </a:t>
            </a:r>
            <a:r>
              <a:rPr lang="en-US" altLang="en-US" sz="1600" i="1" dirty="0">
                <a:solidFill>
                  <a:srgbClr val="000000"/>
                </a:solidFill>
                <a:latin typeface="STKaiti" panose="02010600040101010101" pitchFamily="2" charset="-122"/>
                <a:ea typeface="STKaiti" panose="02010600040101010101" pitchFamily="2" charset="-122"/>
              </a:rPr>
              <a:t>j</a:t>
            </a:r>
            <a:endParaRPr lang="en-US" altLang="en-US" sz="1600" dirty="0">
              <a:solidFill>
                <a:srgbClr val="000000"/>
              </a:solidFill>
              <a:latin typeface="STKaiti" panose="02010600040101010101" pitchFamily="2" charset="-122"/>
              <a:ea typeface="STKaiti" panose="02010600040101010101" pitchFamily="2" charset="-122"/>
            </a:endParaRPr>
          </a:p>
        </p:txBody>
      </p:sp>
      <p:pic>
        <p:nvPicPr>
          <p:cNvPr id="8" name="Picture 30" descr="eqbinarysy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3121" y="2945553"/>
            <a:ext cx="2534182" cy="552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1" descr="eqbinaryasy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1594" y="3625944"/>
            <a:ext cx="2486019" cy="501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제목 3">
            <a:extLst>
              <a:ext uri="{FF2B5EF4-FFF2-40B4-BE49-F238E27FC236}">
                <a16:creationId xmlns:a16="http://schemas.microsoft.com/office/drawing/2014/main" id="{5DA1C3FD-9948-438C-0CE8-460F3D805B65}"/>
              </a:ext>
            </a:extLst>
          </p:cNvPr>
          <p:cNvSpPr>
            <a:spLocks noGrp="1"/>
          </p:cNvSpPr>
          <p:nvPr>
            <p:ph type="title"/>
          </p:nvPr>
        </p:nvSpPr>
        <p:spPr/>
        <p:txBody>
          <a:bodyPr/>
          <a:lstStyle/>
          <a:p>
            <a:r>
              <a:rPr lang="ko-Kore-KR" altLang="en-US"/>
              <a:t>二元属性间的距离度量</a:t>
            </a:r>
          </a:p>
        </p:txBody>
      </p:sp>
      <p:pic>
        <p:nvPicPr>
          <p:cNvPr id="3" name="그림 2">
            <a:extLst>
              <a:ext uri="{FF2B5EF4-FFF2-40B4-BE49-F238E27FC236}">
                <a16:creationId xmlns:a16="http://schemas.microsoft.com/office/drawing/2014/main" id="{5632372F-0A2B-E3E9-EF6F-A73D3C7BF69B}"/>
              </a:ext>
            </a:extLst>
          </p:cNvPr>
          <p:cNvPicPr>
            <a:picLocks noChangeAspect="1"/>
          </p:cNvPicPr>
          <p:nvPr/>
        </p:nvPicPr>
        <p:blipFill>
          <a:blip r:embed="rId6"/>
          <a:stretch>
            <a:fillRect/>
          </a:stretch>
        </p:blipFill>
        <p:spPr>
          <a:xfrm>
            <a:off x="7391090" y="4255727"/>
            <a:ext cx="3632200" cy="647700"/>
          </a:xfrm>
          <a:prstGeom prst="rect">
            <a:avLst/>
          </a:prstGeom>
        </p:spPr>
      </p:pic>
    </p:spTree>
    <p:extLst>
      <p:ext uri="{BB962C8B-B14F-4D97-AF65-F5344CB8AC3E}">
        <p14:creationId xmlns:p14="http://schemas.microsoft.com/office/powerpoint/2010/main" val="7412130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5119" y="175475"/>
            <a:ext cx="12282535" cy="762000"/>
          </a:xfrm>
        </p:spPr>
        <p:txBody>
          <a:bodyPr>
            <a:noAutofit/>
          </a:bodyPr>
          <a:lstStyle/>
          <a:p>
            <a:r>
              <a:rPr lang="en-US" altLang="en-US" sz="3600" dirty="0"/>
              <a:t>示例：不对称二元变量之间的差异性</a:t>
            </a:r>
          </a:p>
        </p:txBody>
      </p:sp>
      <p:sp>
        <p:nvSpPr>
          <p:cNvPr id="4100" name="Rectangle 3"/>
          <p:cNvSpPr>
            <a:spLocks noGrp="1" noChangeArrowheads="1"/>
          </p:cNvSpPr>
          <p:nvPr>
            <p:ph type="body" idx="1"/>
          </p:nvPr>
        </p:nvSpPr>
        <p:spPr>
          <a:xfrm>
            <a:off x="598446" y="2519143"/>
            <a:ext cx="10221362" cy="5450312"/>
          </a:xfrm>
        </p:spPr>
        <p:txBody>
          <a:bodyPr/>
          <a:lstStyle/>
          <a:p>
            <a:pPr>
              <a:spcAft>
                <a:spcPts val="600"/>
              </a:spcAft>
            </a:pPr>
            <a:r>
              <a:rPr lang="en-US" altLang="en-US" sz="2400" dirty="0">
                <a:ea typeface="STKaiti" panose="02010600040101010101" pitchFamily="2" charset="-122"/>
              </a:rPr>
              <a:t>性别是一个对称属性（不计入其中）</a:t>
            </a:r>
          </a:p>
          <a:p>
            <a:pPr>
              <a:spcAft>
                <a:spcPts val="600"/>
              </a:spcAft>
            </a:pPr>
            <a:r>
              <a:rPr lang="en-US" altLang="en-US" sz="2400" dirty="0">
                <a:ea typeface="STKaiti" panose="02010600040101010101" pitchFamily="2" charset="-122"/>
              </a:rPr>
              <a:t>其余属性为非对称二元属性</a:t>
            </a:r>
          </a:p>
          <a:p>
            <a:pPr>
              <a:spcAft>
                <a:spcPts val="600"/>
              </a:spcAft>
            </a:pPr>
            <a:r>
              <a:rPr lang="en-US" altLang="en-US" sz="2400" dirty="0">
                <a:ea typeface="STKaiti" panose="02010600040101010101" pitchFamily="2" charset="-122"/>
              </a:rPr>
              <a:t>设变量Y的取值为1，变量P的取值为1，变量N的取值为0</a:t>
            </a:r>
          </a:p>
          <a:p>
            <a:pPr>
              <a:spcAft>
                <a:spcPts val="600"/>
              </a:spcAft>
            </a:pPr>
            <a:r>
              <a:rPr lang="en-US" altLang="en-US" sz="2400" dirty="0">
                <a:ea typeface="STKaiti" panose="02010600040101010101" pitchFamily="2" charset="-122"/>
              </a:rPr>
              <a:t>距离： </a:t>
            </a:r>
          </a:p>
        </p:txBody>
      </p:sp>
      <p:graphicFrame>
        <p:nvGraphicFramePr>
          <p:cNvPr id="4" name="Object 4"/>
          <p:cNvGraphicFramePr>
            <a:graphicFrameLocks noChangeAspect="1"/>
          </p:cNvGraphicFramePr>
          <p:nvPr/>
        </p:nvGraphicFramePr>
        <p:xfrm>
          <a:off x="593348" y="1230530"/>
          <a:ext cx="7368398" cy="1410718"/>
        </p:xfrm>
        <a:graphic>
          <a:graphicData uri="http://schemas.openxmlformats.org/presentationml/2006/ole">
            <mc:AlternateContent xmlns:mc="http://schemas.openxmlformats.org/markup-compatibility/2006">
              <mc:Choice xmlns:v="urn:schemas-microsoft-com:vml" Requires="v">
                <p:oleObj name="Document" r:id="rId3" imgW="6819900" imgH="1475232" progId="Word.Document.8">
                  <p:embed/>
                </p:oleObj>
              </mc:Choice>
              <mc:Fallback>
                <p:oleObj name="Document" r:id="rId3" imgW="6819900" imgH="1475232" progId="Word.Document.8">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348" y="1230530"/>
                        <a:ext cx="7368398" cy="1410718"/>
                      </a:xfrm>
                      <a:prstGeom prst="rect">
                        <a:avLst/>
                      </a:prstGeom>
                      <a:noFill/>
                      <a:ln>
                        <a:noFill/>
                      </a:ln>
                      <a:effectLst/>
                    </p:spPr>
                  </p:pic>
                </p:oleObj>
              </mc:Fallback>
            </mc:AlternateContent>
          </a:graphicData>
        </a:graphic>
      </p:graphicFrame>
      <p:graphicFrame>
        <p:nvGraphicFramePr>
          <p:cNvPr id="5" name="Object 5"/>
          <p:cNvGraphicFramePr>
            <a:graphicFrameLocks noChangeAspect="1"/>
          </p:cNvGraphicFramePr>
          <p:nvPr/>
        </p:nvGraphicFramePr>
        <p:xfrm>
          <a:off x="1465979" y="4780228"/>
          <a:ext cx="4448769" cy="1796359"/>
        </p:xfrm>
        <a:graphic>
          <a:graphicData uri="http://schemas.openxmlformats.org/presentationml/2006/ole">
            <mc:AlternateContent xmlns:mc="http://schemas.openxmlformats.org/markup-compatibility/2006">
              <mc:Choice xmlns:v="urn:schemas-microsoft-com:vml" Requires="v">
                <p:oleObj name="Equation" r:id="rId5" imgW="2019300" imgH="1219200" progId="Equation.3">
                  <p:embed/>
                </p:oleObj>
              </mc:Choice>
              <mc:Fallback>
                <p:oleObj name="Equation" r:id="rId5" imgW="2019300" imgH="1219200" progId="Equation.3">
                  <p:embed/>
                  <p:pic>
                    <p:nvPicPr>
                      <p:cNvPr id="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5979" y="4780228"/>
                        <a:ext cx="4448769" cy="1796359"/>
                      </a:xfrm>
                      <a:prstGeom prst="rect">
                        <a:avLst/>
                      </a:prstGeom>
                      <a:noFill/>
                      <a:ln>
                        <a:noFill/>
                      </a:ln>
                      <a:effectLst/>
                    </p:spPr>
                  </p:pic>
                </p:oleObj>
              </mc:Fallback>
            </mc:AlternateContent>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237393346"/>
              </p:ext>
            </p:extLst>
          </p:nvPr>
        </p:nvGraphicFramePr>
        <p:xfrm>
          <a:off x="8875816" y="1409724"/>
          <a:ext cx="2717739" cy="1495000"/>
        </p:xfrm>
        <a:graphic>
          <a:graphicData uri="http://schemas.openxmlformats.org/drawingml/2006/table">
            <a:tbl>
              <a:tblPr firstRow="1" bandRow="1">
                <a:tableStyleId>{5C22544A-7EE6-4342-B048-85BDC9FD1C3A}</a:tableStyleId>
              </a:tblPr>
              <a:tblGrid>
                <a:gridCol w="650336">
                  <a:extLst>
                    <a:ext uri="{9D8B030D-6E8A-4147-A177-3AD203B41FA5}">
                      <a16:colId xmlns:a16="http://schemas.microsoft.com/office/drawing/2014/main" val="20000"/>
                    </a:ext>
                  </a:extLst>
                </a:gridCol>
                <a:gridCol w="650336">
                  <a:extLst>
                    <a:ext uri="{9D8B030D-6E8A-4147-A177-3AD203B41FA5}">
                      <a16:colId xmlns:a16="http://schemas.microsoft.com/office/drawing/2014/main" val="20001"/>
                    </a:ext>
                  </a:extLst>
                </a:gridCol>
                <a:gridCol w="650336">
                  <a:extLst>
                    <a:ext uri="{9D8B030D-6E8A-4147-A177-3AD203B41FA5}">
                      <a16:colId xmlns:a16="http://schemas.microsoft.com/office/drawing/2014/main" val="20002"/>
                    </a:ext>
                  </a:extLst>
                </a:gridCol>
                <a:gridCol w="766731">
                  <a:extLst>
                    <a:ext uri="{9D8B030D-6E8A-4147-A177-3AD203B41FA5}">
                      <a16:colId xmlns:a16="http://schemas.microsoft.com/office/drawing/2014/main" val="20003"/>
                    </a:ext>
                  </a:extLst>
                </a:gridCol>
              </a:tblGrid>
              <a:tr h="382480">
                <a:tc>
                  <a:txBody>
                    <a:bodyPr/>
                    <a:lstStyle/>
                    <a:p>
                      <a:pPr algn="ctr"/>
                      <a:endParaRPr lang="en-US" sz="1800" dirty="0">
                        <a:latin typeface="STKaiti" panose="02010600040101010101" pitchFamily="2" charset="-122"/>
                        <a:ea typeface="STKaiti" panose="02010600040101010101" pitchFamily="2" charset="-122"/>
                      </a:endParaRPr>
                    </a:p>
                  </a:txBody>
                  <a:tcPr/>
                </a:tc>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0</a:t>
                      </a:r>
                    </a:p>
                  </a:txBody>
                  <a:tcPr/>
                </a:tc>
                <a:tc>
                  <a:txBody>
                    <a:bodyPr/>
                    <a:lstStyle/>
                    <a:p>
                      <a:pPr algn="ctr"/>
                      <a:r>
                        <a:rPr lang="en-US" sz="1800" dirty="0">
                          <a:latin typeface="STKaiti" panose="02010600040101010101" pitchFamily="2" charset="-122"/>
                          <a:ea typeface="STKaiti" panose="02010600040101010101" pitchFamily="2" charset="-122"/>
                        </a:rPr>
                        <a:t>∑</a:t>
                      </a:r>
                      <a:r>
                        <a:rPr lang="en-US" sz="1800" baseline="-25000" dirty="0">
                          <a:latin typeface="STKaiti" panose="02010600040101010101" pitchFamily="2" charset="-122"/>
                          <a:ea typeface="STKaiti" panose="02010600040101010101" pitchFamily="2" charset="-122"/>
                        </a:rPr>
                        <a:t>row</a:t>
                      </a:r>
                    </a:p>
                  </a:txBody>
                  <a:tcPr/>
                </a:tc>
                <a:extLst>
                  <a:ext uri="{0D108BD9-81ED-4DB2-BD59-A6C34878D82A}">
                    <a16:rowId xmlns:a16="http://schemas.microsoft.com/office/drawing/2014/main" val="10000"/>
                  </a:ext>
                </a:extLst>
              </a:tr>
              <a:tr h="370840">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2</a:t>
                      </a:r>
                    </a:p>
                  </a:txBody>
                  <a:tcPr/>
                </a:tc>
                <a:tc>
                  <a:txBody>
                    <a:bodyPr/>
                    <a:lstStyle/>
                    <a:p>
                      <a:pPr algn="ctr"/>
                      <a:r>
                        <a:rPr lang="en-US" sz="1800" dirty="0">
                          <a:latin typeface="STKaiti" panose="02010600040101010101" pitchFamily="2" charset="-122"/>
                          <a:ea typeface="STKaiti" panose="02010600040101010101" pitchFamily="2" charset="-122"/>
                        </a:rPr>
                        <a:t>0</a:t>
                      </a:r>
                    </a:p>
                  </a:txBody>
                  <a:tcPr/>
                </a:tc>
                <a:tc>
                  <a:txBody>
                    <a:bodyPr/>
                    <a:lstStyle/>
                    <a:p>
                      <a:pPr algn="ctr"/>
                      <a:r>
                        <a:rPr lang="en-US" sz="1800" dirty="0">
                          <a:latin typeface="STKaiti" panose="02010600040101010101" pitchFamily="2" charset="-122"/>
                          <a:ea typeface="STKaiti" panose="02010600040101010101" pitchFamily="2" charset="-122"/>
                        </a:rPr>
                        <a:t>2</a:t>
                      </a:r>
                    </a:p>
                  </a:txBody>
                  <a:tcPr/>
                </a:tc>
                <a:extLst>
                  <a:ext uri="{0D108BD9-81ED-4DB2-BD59-A6C34878D82A}">
                    <a16:rowId xmlns:a16="http://schemas.microsoft.com/office/drawing/2014/main" val="10001"/>
                  </a:ext>
                </a:extLst>
              </a:tr>
              <a:tr h="370840">
                <a:tc>
                  <a:txBody>
                    <a:bodyPr/>
                    <a:lstStyle/>
                    <a:p>
                      <a:pPr algn="ctr"/>
                      <a:r>
                        <a:rPr lang="en-US" sz="1800" dirty="0">
                          <a:latin typeface="STKaiti" panose="02010600040101010101" pitchFamily="2" charset="-122"/>
                          <a:ea typeface="STKaiti" panose="02010600040101010101" pitchFamily="2" charset="-122"/>
                        </a:rPr>
                        <a:t>0</a:t>
                      </a:r>
                    </a:p>
                  </a:txBody>
                  <a:tcPr/>
                </a:tc>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3</a:t>
                      </a:r>
                    </a:p>
                  </a:txBody>
                  <a:tcPr/>
                </a:tc>
                <a:tc>
                  <a:txBody>
                    <a:bodyPr/>
                    <a:lstStyle/>
                    <a:p>
                      <a:pPr algn="ctr"/>
                      <a:r>
                        <a:rPr lang="en-US" sz="1800" dirty="0">
                          <a:latin typeface="STKaiti" panose="02010600040101010101" pitchFamily="2" charset="-122"/>
                          <a:ea typeface="STKaiti" panose="02010600040101010101" pitchFamily="2" charset="-122"/>
                        </a:rPr>
                        <a:t>4</a:t>
                      </a:r>
                    </a:p>
                  </a:txBody>
                  <a:tcPr/>
                </a:tc>
                <a:extLst>
                  <a:ext uri="{0D108BD9-81ED-4DB2-BD59-A6C34878D82A}">
                    <a16:rowId xmlns:a16="http://schemas.microsoft.com/office/drawing/2014/main" val="10002"/>
                  </a:ext>
                </a:extLst>
              </a:tr>
              <a:tr h="370840">
                <a:tc>
                  <a:txBody>
                    <a:bodyPr/>
                    <a:lstStyle/>
                    <a:p>
                      <a:pPr algn="ctr"/>
                      <a:r>
                        <a:rPr lang="en-US" sz="1800" dirty="0">
                          <a:latin typeface="STKaiti" panose="02010600040101010101" pitchFamily="2" charset="-122"/>
                          <a:ea typeface="STKaiti" panose="02010600040101010101" pitchFamily="2" charset="-122"/>
                        </a:rPr>
                        <a:t>∑</a:t>
                      </a:r>
                      <a:r>
                        <a:rPr lang="en-US" sz="1800" baseline="-25000" dirty="0">
                          <a:latin typeface="STKaiti" panose="02010600040101010101" pitchFamily="2" charset="-122"/>
                          <a:ea typeface="STKaiti" panose="02010600040101010101" pitchFamily="2" charset="-122"/>
                        </a:rPr>
                        <a:t>col</a:t>
                      </a:r>
                    </a:p>
                  </a:txBody>
                  <a:tcPr/>
                </a:tc>
                <a:tc>
                  <a:txBody>
                    <a:bodyPr/>
                    <a:lstStyle/>
                    <a:p>
                      <a:pPr algn="ctr"/>
                      <a:r>
                        <a:rPr lang="en-US" sz="1800" dirty="0">
                          <a:latin typeface="STKaiti" panose="02010600040101010101" pitchFamily="2" charset="-122"/>
                          <a:ea typeface="STKaiti" panose="02010600040101010101" pitchFamily="2" charset="-122"/>
                        </a:rPr>
                        <a:t>3</a:t>
                      </a:r>
                    </a:p>
                  </a:txBody>
                  <a:tcPr/>
                </a:tc>
                <a:tc>
                  <a:txBody>
                    <a:bodyPr/>
                    <a:lstStyle/>
                    <a:p>
                      <a:pPr algn="ctr"/>
                      <a:r>
                        <a:rPr lang="en-US" sz="1800" dirty="0">
                          <a:latin typeface="STKaiti" panose="02010600040101010101" pitchFamily="2" charset="-122"/>
                          <a:ea typeface="STKaiti" panose="02010600040101010101" pitchFamily="2" charset="-122"/>
                        </a:rPr>
                        <a:t>3</a:t>
                      </a:r>
                    </a:p>
                  </a:txBody>
                  <a:tcPr/>
                </a:tc>
                <a:tc>
                  <a:txBody>
                    <a:bodyPr/>
                    <a:lstStyle/>
                    <a:p>
                      <a:pPr algn="ctr"/>
                      <a:r>
                        <a:rPr lang="en-US" sz="1800" dirty="0">
                          <a:latin typeface="STKaiti" panose="02010600040101010101" pitchFamily="2" charset="-122"/>
                          <a:ea typeface="STKaiti" panose="02010600040101010101" pitchFamily="2" charset="-122"/>
                        </a:rPr>
                        <a:t>6</a:t>
                      </a:r>
                    </a:p>
                  </a:txBody>
                  <a:tcPr/>
                </a:tc>
                <a:extLst>
                  <a:ext uri="{0D108BD9-81ED-4DB2-BD59-A6C34878D82A}">
                    <a16:rowId xmlns:a16="http://schemas.microsoft.com/office/drawing/2014/main" val="10003"/>
                  </a:ext>
                </a:extLst>
              </a:tr>
            </a:tbl>
          </a:graphicData>
        </a:graphic>
      </p:graphicFrame>
      <p:sp>
        <p:nvSpPr>
          <p:cNvPr id="3" name="TextBox 2"/>
          <p:cNvSpPr txBox="1"/>
          <p:nvPr/>
        </p:nvSpPr>
        <p:spPr>
          <a:xfrm>
            <a:off x="8292408" y="1935889"/>
            <a:ext cx="615636" cy="338554"/>
          </a:xfrm>
          <a:prstGeom prst="rect">
            <a:avLst/>
          </a:prstGeom>
          <a:solidFill>
            <a:srgbClr val="00B0F0"/>
          </a:solidFill>
        </p:spPr>
        <p:txBody>
          <a:bodyPr wrap="square" rtlCol="0">
            <a:spAutoFit/>
          </a:bodyPr>
          <a:lstStyle/>
          <a:p>
            <a:pPr algn="ctr"/>
            <a:r>
              <a:rPr lang="en-US" sz="1600" dirty="0">
                <a:latin typeface="STKaiti" panose="02010600040101010101" pitchFamily="2" charset="-122"/>
                <a:ea typeface="STKaiti" panose="02010600040101010101" pitchFamily="2" charset="-122"/>
              </a:rPr>
              <a:t>杰克</a:t>
            </a:r>
          </a:p>
        </p:txBody>
      </p:sp>
      <p:sp>
        <p:nvSpPr>
          <p:cNvPr id="8" name="TextBox 7"/>
          <p:cNvSpPr txBox="1"/>
          <p:nvPr/>
        </p:nvSpPr>
        <p:spPr>
          <a:xfrm>
            <a:off x="9655521" y="1038169"/>
            <a:ext cx="783048" cy="338554"/>
          </a:xfrm>
          <a:prstGeom prst="rect">
            <a:avLst/>
          </a:prstGeom>
          <a:solidFill>
            <a:srgbClr val="FFC000"/>
          </a:solidFill>
        </p:spPr>
        <p:txBody>
          <a:bodyPr wrap="square" rtlCol="0">
            <a:spAutoFit/>
          </a:bodyPr>
          <a:lstStyle/>
          <a:p>
            <a:pPr algn="ctr"/>
            <a:r>
              <a:rPr lang="en-US" sz="1600" dirty="0">
                <a:latin typeface="STKaiti" panose="02010600040101010101" pitchFamily="2" charset="-122"/>
                <a:ea typeface="STKaiti" panose="02010600040101010101" pitchFamily="2" charset="-122"/>
              </a:rPr>
              <a:t>玛丽</a:t>
            </a:r>
          </a:p>
        </p:txBody>
      </p:sp>
      <p:graphicFrame>
        <p:nvGraphicFramePr>
          <p:cNvPr id="9" name="Table 8"/>
          <p:cNvGraphicFramePr>
            <a:graphicFrameLocks noGrp="1"/>
          </p:cNvGraphicFramePr>
          <p:nvPr>
            <p:extLst>
              <p:ext uri="{D42A27DB-BD31-4B8C-83A1-F6EECF244321}">
                <p14:modId xmlns:p14="http://schemas.microsoft.com/office/powerpoint/2010/main" val="2306105958"/>
              </p:ext>
            </p:extLst>
          </p:nvPr>
        </p:nvGraphicFramePr>
        <p:xfrm>
          <a:off x="8760421" y="3347346"/>
          <a:ext cx="2664942" cy="1561281"/>
        </p:xfrm>
        <a:graphic>
          <a:graphicData uri="http://schemas.openxmlformats.org/drawingml/2006/table">
            <a:tbl>
              <a:tblPr firstRow="1" bandRow="1">
                <a:tableStyleId>{5C22544A-7EE6-4342-B048-85BDC9FD1C3A}</a:tableStyleId>
              </a:tblPr>
              <a:tblGrid>
                <a:gridCol w="637702">
                  <a:extLst>
                    <a:ext uri="{9D8B030D-6E8A-4147-A177-3AD203B41FA5}">
                      <a16:colId xmlns:a16="http://schemas.microsoft.com/office/drawing/2014/main" val="20000"/>
                    </a:ext>
                  </a:extLst>
                </a:gridCol>
                <a:gridCol w="637702">
                  <a:extLst>
                    <a:ext uri="{9D8B030D-6E8A-4147-A177-3AD203B41FA5}">
                      <a16:colId xmlns:a16="http://schemas.microsoft.com/office/drawing/2014/main" val="20001"/>
                    </a:ext>
                  </a:extLst>
                </a:gridCol>
                <a:gridCol w="637702">
                  <a:extLst>
                    <a:ext uri="{9D8B030D-6E8A-4147-A177-3AD203B41FA5}">
                      <a16:colId xmlns:a16="http://schemas.microsoft.com/office/drawing/2014/main" val="20002"/>
                    </a:ext>
                  </a:extLst>
                </a:gridCol>
                <a:gridCol w="751836">
                  <a:extLst>
                    <a:ext uri="{9D8B030D-6E8A-4147-A177-3AD203B41FA5}">
                      <a16:colId xmlns:a16="http://schemas.microsoft.com/office/drawing/2014/main" val="20003"/>
                    </a:ext>
                  </a:extLst>
                </a:gridCol>
              </a:tblGrid>
              <a:tr h="359019">
                <a:tc>
                  <a:txBody>
                    <a:bodyPr/>
                    <a:lstStyle/>
                    <a:p>
                      <a:pPr algn="ctr"/>
                      <a:endParaRPr lang="en-US" sz="1800" dirty="0">
                        <a:latin typeface="STKaiti" panose="02010600040101010101" pitchFamily="2" charset="-122"/>
                        <a:ea typeface="STKaiti" panose="02010600040101010101" pitchFamily="2" charset="-122"/>
                      </a:endParaRPr>
                    </a:p>
                  </a:txBody>
                  <a:tcPr/>
                </a:tc>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0</a:t>
                      </a:r>
                    </a:p>
                  </a:txBody>
                  <a:tcPr/>
                </a:tc>
                <a:tc>
                  <a:txBody>
                    <a:bodyPr/>
                    <a:lstStyle/>
                    <a:p>
                      <a:pPr algn="ctr"/>
                      <a:r>
                        <a:rPr lang="en-US" sz="1800" dirty="0">
                          <a:latin typeface="STKaiti" panose="02010600040101010101" pitchFamily="2" charset="-122"/>
                          <a:ea typeface="STKaiti" panose="02010600040101010101" pitchFamily="2" charset="-122"/>
                        </a:rPr>
                        <a:t>∑</a:t>
                      </a:r>
                      <a:r>
                        <a:rPr lang="en-US" sz="1800" baseline="-25000" dirty="0">
                          <a:latin typeface="STKaiti" panose="02010600040101010101" pitchFamily="2" charset="-122"/>
                          <a:ea typeface="STKaiti" panose="02010600040101010101" pitchFamily="2" charset="-122"/>
                        </a:rPr>
                        <a:t>row</a:t>
                      </a:r>
                    </a:p>
                  </a:txBody>
                  <a:tcPr/>
                </a:tc>
                <a:extLst>
                  <a:ext uri="{0D108BD9-81ED-4DB2-BD59-A6C34878D82A}">
                    <a16:rowId xmlns:a16="http://schemas.microsoft.com/office/drawing/2014/main" val="10000"/>
                  </a:ext>
                </a:extLst>
              </a:tr>
              <a:tr h="453841">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2</a:t>
                      </a:r>
                    </a:p>
                  </a:txBody>
                  <a:tcPr/>
                </a:tc>
                <a:extLst>
                  <a:ext uri="{0D108BD9-81ED-4DB2-BD59-A6C34878D82A}">
                    <a16:rowId xmlns:a16="http://schemas.microsoft.com/office/drawing/2014/main" val="10001"/>
                  </a:ext>
                </a:extLst>
              </a:tr>
              <a:tr h="370840">
                <a:tc>
                  <a:txBody>
                    <a:bodyPr/>
                    <a:lstStyle/>
                    <a:p>
                      <a:pPr algn="ctr"/>
                      <a:r>
                        <a:rPr lang="en-US" sz="1800" dirty="0">
                          <a:latin typeface="STKaiti" panose="02010600040101010101" pitchFamily="2" charset="-122"/>
                          <a:ea typeface="STKaiti" panose="02010600040101010101" pitchFamily="2" charset="-122"/>
                        </a:rPr>
                        <a:t>0</a:t>
                      </a:r>
                    </a:p>
                  </a:txBody>
                  <a:tcPr/>
                </a:tc>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3</a:t>
                      </a:r>
                    </a:p>
                  </a:txBody>
                  <a:tcPr/>
                </a:tc>
                <a:tc>
                  <a:txBody>
                    <a:bodyPr/>
                    <a:lstStyle/>
                    <a:p>
                      <a:pPr algn="ctr"/>
                      <a:r>
                        <a:rPr lang="en-US" sz="1800" dirty="0">
                          <a:latin typeface="STKaiti" panose="02010600040101010101" pitchFamily="2" charset="-122"/>
                          <a:ea typeface="STKaiti" panose="02010600040101010101" pitchFamily="2" charset="-122"/>
                        </a:rPr>
                        <a:t>4</a:t>
                      </a:r>
                    </a:p>
                  </a:txBody>
                  <a:tcPr/>
                </a:tc>
                <a:extLst>
                  <a:ext uri="{0D108BD9-81ED-4DB2-BD59-A6C34878D82A}">
                    <a16:rowId xmlns:a16="http://schemas.microsoft.com/office/drawing/2014/main" val="10002"/>
                  </a:ext>
                </a:extLst>
              </a:tr>
              <a:tr h="370840">
                <a:tc>
                  <a:txBody>
                    <a:bodyPr/>
                    <a:lstStyle/>
                    <a:p>
                      <a:pPr algn="ctr"/>
                      <a:r>
                        <a:rPr lang="en-US" sz="1800" dirty="0">
                          <a:latin typeface="STKaiti" panose="02010600040101010101" pitchFamily="2" charset="-122"/>
                          <a:ea typeface="STKaiti" panose="02010600040101010101" pitchFamily="2" charset="-122"/>
                        </a:rPr>
                        <a:t>∑</a:t>
                      </a:r>
                      <a:r>
                        <a:rPr lang="en-US" sz="1800" baseline="-25000" dirty="0">
                          <a:latin typeface="STKaiti" panose="02010600040101010101" pitchFamily="2" charset="-122"/>
                          <a:ea typeface="STKaiti" panose="02010600040101010101" pitchFamily="2" charset="-122"/>
                        </a:rPr>
                        <a:t>col</a:t>
                      </a:r>
                    </a:p>
                  </a:txBody>
                  <a:tcPr/>
                </a:tc>
                <a:tc>
                  <a:txBody>
                    <a:bodyPr/>
                    <a:lstStyle/>
                    <a:p>
                      <a:pPr algn="ctr"/>
                      <a:r>
                        <a:rPr lang="en-US" sz="1800" dirty="0">
                          <a:latin typeface="STKaiti" panose="02010600040101010101" pitchFamily="2" charset="-122"/>
                          <a:ea typeface="STKaiti" panose="02010600040101010101" pitchFamily="2" charset="-122"/>
                        </a:rPr>
                        <a:t>2</a:t>
                      </a:r>
                    </a:p>
                  </a:txBody>
                  <a:tcPr/>
                </a:tc>
                <a:tc>
                  <a:txBody>
                    <a:bodyPr/>
                    <a:lstStyle/>
                    <a:p>
                      <a:pPr algn="ctr"/>
                      <a:r>
                        <a:rPr lang="en-US" sz="1800" dirty="0">
                          <a:latin typeface="STKaiti" panose="02010600040101010101" pitchFamily="2" charset="-122"/>
                          <a:ea typeface="STKaiti" panose="02010600040101010101" pitchFamily="2" charset="-122"/>
                        </a:rPr>
                        <a:t>4</a:t>
                      </a:r>
                    </a:p>
                  </a:txBody>
                  <a:tcPr/>
                </a:tc>
                <a:tc>
                  <a:txBody>
                    <a:bodyPr/>
                    <a:lstStyle/>
                    <a:p>
                      <a:pPr algn="ctr"/>
                      <a:r>
                        <a:rPr lang="en-US" sz="1800" dirty="0">
                          <a:latin typeface="STKaiti" panose="02010600040101010101" pitchFamily="2" charset="-122"/>
                          <a:ea typeface="STKaiti" panose="02010600040101010101" pitchFamily="2" charset="-122"/>
                        </a:rPr>
                        <a:t>6</a:t>
                      </a:r>
                    </a:p>
                  </a:txBody>
                  <a:tcPr/>
                </a:tc>
                <a:extLst>
                  <a:ext uri="{0D108BD9-81ED-4DB2-BD59-A6C34878D82A}">
                    <a16:rowId xmlns:a16="http://schemas.microsoft.com/office/drawing/2014/main" val="10003"/>
                  </a:ext>
                </a:extLst>
              </a:tr>
            </a:tbl>
          </a:graphicData>
        </a:graphic>
      </p:graphicFrame>
      <p:sp>
        <p:nvSpPr>
          <p:cNvPr id="10" name="TextBox 9"/>
          <p:cNvSpPr txBox="1"/>
          <p:nvPr/>
        </p:nvSpPr>
        <p:spPr>
          <a:xfrm>
            <a:off x="9299568" y="3031055"/>
            <a:ext cx="783048" cy="338554"/>
          </a:xfrm>
          <a:prstGeom prst="rect">
            <a:avLst/>
          </a:prstGeom>
          <a:solidFill>
            <a:srgbClr val="FFC000"/>
          </a:solidFill>
        </p:spPr>
        <p:txBody>
          <a:bodyPr wrap="square" rtlCol="0">
            <a:spAutoFit/>
          </a:bodyPr>
          <a:lstStyle/>
          <a:p>
            <a:pPr algn="ctr"/>
            <a:r>
              <a:rPr lang="en-US" sz="1600" dirty="0">
                <a:latin typeface="STKaiti" panose="02010600040101010101" pitchFamily="2" charset="-122"/>
                <a:ea typeface="STKaiti" panose="02010600040101010101" pitchFamily="2" charset="-122"/>
              </a:rPr>
              <a:t>吉姆</a:t>
            </a:r>
          </a:p>
        </p:txBody>
      </p:sp>
      <p:graphicFrame>
        <p:nvGraphicFramePr>
          <p:cNvPr id="11" name="Table 10"/>
          <p:cNvGraphicFramePr>
            <a:graphicFrameLocks noGrp="1"/>
          </p:cNvGraphicFramePr>
          <p:nvPr>
            <p:extLst>
              <p:ext uri="{D42A27DB-BD31-4B8C-83A1-F6EECF244321}">
                <p14:modId xmlns:p14="http://schemas.microsoft.com/office/powerpoint/2010/main" val="2103250743"/>
              </p:ext>
            </p:extLst>
          </p:nvPr>
        </p:nvGraphicFramePr>
        <p:xfrm>
          <a:off x="7254116" y="5103410"/>
          <a:ext cx="2558959" cy="1478280"/>
        </p:xfrm>
        <a:graphic>
          <a:graphicData uri="http://schemas.openxmlformats.org/drawingml/2006/table">
            <a:tbl>
              <a:tblPr firstRow="1" bandRow="1">
                <a:tableStyleId>{5C22544A-7EE6-4342-B048-85BDC9FD1C3A}</a:tableStyleId>
              </a:tblPr>
              <a:tblGrid>
                <a:gridCol w="612341">
                  <a:extLst>
                    <a:ext uri="{9D8B030D-6E8A-4147-A177-3AD203B41FA5}">
                      <a16:colId xmlns:a16="http://schemas.microsoft.com/office/drawing/2014/main" val="20000"/>
                    </a:ext>
                  </a:extLst>
                </a:gridCol>
                <a:gridCol w="612341">
                  <a:extLst>
                    <a:ext uri="{9D8B030D-6E8A-4147-A177-3AD203B41FA5}">
                      <a16:colId xmlns:a16="http://schemas.microsoft.com/office/drawing/2014/main" val="20001"/>
                    </a:ext>
                  </a:extLst>
                </a:gridCol>
                <a:gridCol w="612341">
                  <a:extLst>
                    <a:ext uri="{9D8B030D-6E8A-4147-A177-3AD203B41FA5}">
                      <a16:colId xmlns:a16="http://schemas.microsoft.com/office/drawing/2014/main" val="20002"/>
                    </a:ext>
                  </a:extLst>
                </a:gridCol>
                <a:gridCol w="721936">
                  <a:extLst>
                    <a:ext uri="{9D8B030D-6E8A-4147-A177-3AD203B41FA5}">
                      <a16:colId xmlns:a16="http://schemas.microsoft.com/office/drawing/2014/main" val="20003"/>
                    </a:ext>
                  </a:extLst>
                </a:gridCol>
              </a:tblGrid>
              <a:tr h="162309">
                <a:tc>
                  <a:txBody>
                    <a:bodyPr/>
                    <a:lstStyle/>
                    <a:p>
                      <a:pPr algn="ctr"/>
                      <a:endParaRPr lang="en-US" sz="1800" dirty="0">
                        <a:latin typeface="STKaiti" panose="02010600040101010101" pitchFamily="2" charset="-122"/>
                        <a:ea typeface="STKaiti" panose="02010600040101010101" pitchFamily="2" charset="-122"/>
                      </a:endParaRPr>
                    </a:p>
                  </a:txBody>
                  <a:tcPr/>
                </a:tc>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0</a:t>
                      </a:r>
                    </a:p>
                  </a:txBody>
                  <a:tcPr/>
                </a:tc>
                <a:tc>
                  <a:txBody>
                    <a:bodyPr/>
                    <a:lstStyle/>
                    <a:p>
                      <a:pPr algn="ctr"/>
                      <a:r>
                        <a:rPr lang="en-US" sz="1800" dirty="0">
                          <a:latin typeface="STKaiti" panose="02010600040101010101" pitchFamily="2" charset="-122"/>
                          <a:ea typeface="STKaiti" panose="02010600040101010101" pitchFamily="2" charset="-122"/>
                        </a:rPr>
                        <a:t>∑</a:t>
                      </a:r>
                      <a:r>
                        <a:rPr lang="en-US" sz="1800" baseline="-25000" dirty="0">
                          <a:latin typeface="STKaiti" panose="02010600040101010101" pitchFamily="2" charset="-122"/>
                          <a:ea typeface="STKaiti" panose="02010600040101010101" pitchFamily="2" charset="-122"/>
                        </a:rPr>
                        <a:t>row</a:t>
                      </a:r>
                    </a:p>
                  </a:txBody>
                  <a:tcPr/>
                </a:tc>
                <a:extLst>
                  <a:ext uri="{0D108BD9-81ED-4DB2-BD59-A6C34878D82A}">
                    <a16:rowId xmlns:a16="http://schemas.microsoft.com/office/drawing/2014/main" val="10000"/>
                  </a:ext>
                </a:extLst>
              </a:tr>
              <a:tr h="370840">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1</a:t>
                      </a:r>
                    </a:p>
                  </a:txBody>
                  <a:tcPr/>
                </a:tc>
                <a:tc>
                  <a:txBody>
                    <a:bodyPr/>
                    <a:lstStyle/>
                    <a:p>
                      <a:pPr algn="ctr"/>
                      <a:r>
                        <a:rPr lang="en-US" sz="1800" dirty="0">
                          <a:latin typeface="STKaiti" panose="02010600040101010101" pitchFamily="2" charset="-122"/>
                          <a:ea typeface="STKaiti" panose="02010600040101010101" pitchFamily="2" charset="-122"/>
                        </a:rPr>
                        <a:t>2</a:t>
                      </a:r>
                    </a:p>
                  </a:txBody>
                  <a:tcPr/>
                </a:tc>
                <a:extLst>
                  <a:ext uri="{0D108BD9-81ED-4DB2-BD59-A6C34878D82A}">
                    <a16:rowId xmlns:a16="http://schemas.microsoft.com/office/drawing/2014/main" val="10001"/>
                  </a:ext>
                </a:extLst>
              </a:tr>
              <a:tr h="370840">
                <a:tc>
                  <a:txBody>
                    <a:bodyPr/>
                    <a:lstStyle/>
                    <a:p>
                      <a:pPr algn="ctr"/>
                      <a:r>
                        <a:rPr lang="en-US" sz="1800" dirty="0">
                          <a:latin typeface="STKaiti" panose="02010600040101010101" pitchFamily="2" charset="-122"/>
                          <a:ea typeface="STKaiti" panose="02010600040101010101" pitchFamily="2" charset="-122"/>
                        </a:rPr>
                        <a:t>0</a:t>
                      </a:r>
                    </a:p>
                  </a:txBody>
                  <a:tcPr/>
                </a:tc>
                <a:tc>
                  <a:txBody>
                    <a:bodyPr/>
                    <a:lstStyle/>
                    <a:p>
                      <a:pPr algn="ctr"/>
                      <a:r>
                        <a:rPr lang="en-US" sz="1800" dirty="0">
                          <a:latin typeface="STKaiti" panose="02010600040101010101" pitchFamily="2" charset="-122"/>
                          <a:ea typeface="STKaiti" panose="02010600040101010101" pitchFamily="2" charset="-122"/>
                        </a:rPr>
                        <a:t>2</a:t>
                      </a:r>
                    </a:p>
                  </a:txBody>
                  <a:tcPr/>
                </a:tc>
                <a:tc>
                  <a:txBody>
                    <a:bodyPr/>
                    <a:lstStyle/>
                    <a:p>
                      <a:pPr algn="ctr"/>
                      <a:r>
                        <a:rPr lang="en-US" sz="1800" dirty="0">
                          <a:latin typeface="STKaiti" panose="02010600040101010101" pitchFamily="2" charset="-122"/>
                          <a:ea typeface="STKaiti" panose="02010600040101010101" pitchFamily="2" charset="-122"/>
                        </a:rPr>
                        <a:t>2</a:t>
                      </a:r>
                    </a:p>
                  </a:txBody>
                  <a:tcPr/>
                </a:tc>
                <a:tc>
                  <a:txBody>
                    <a:bodyPr/>
                    <a:lstStyle/>
                    <a:p>
                      <a:pPr algn="ctr"/>
                      <a:r>
                        <a:rPr lang="en-US" sz="1800" dirty="0">
                          <a:latin typeface="STKaiti" panose="02010600040101010101" pitchFamily="2" charset="-122"/>
                          <a:ea typeface="STKaiti" panose="02010600040101010101" pitchFamily="2" charset="-122"/>
                        </a:rPr>
                        <a:t>4</a:t>
                      </a:r>
                    </a:p>
                  </a:txBody>
                  <a:tcPr/>
                </a:tc>
                <a:extLst>
                  <a:ext uri="{0D108BD9-81ED-4DB2-BD59-A6C34878D82A}">
                    <a16:rowId xmlns:a16="http://schemas.microsoft.com/office/drawing/2014/main" val="10002"/>
                  </a:ext>
                </a:extLst>
              </a:tr>
              <a:tr h="370840">
                <a:tc>
                  <a:txBody>
                    <a:bodyPr/>
                    <a:lstStyle/>
                    <a:p>
                      <a:pPr algn="ctr"/>
                      <a:r>
                        <a:rPr lang="en-US" sz="1800" dirty="0">
                          <a:latin typeface="STKaiti" panose="02010600040101010101" pitchFamily="2" charset="-122"/>
                          <a:ea typeface="STKaiti" panose="02010600040101010101" pitchFamily="2" charset="-122"/>
                        </a:rPr>
                        <a:t>∑</a:t>
                      </a:r>
                      <a:r>
                        <a:rPr lang="en-US" sz="1800" baseline="-25000" dirty="0">
                          <a:latin typeface="STKaiti" panose="02010600040101010101" pitchFamily="2" charset="-122"/>
                          <a:ea typeface="STKaiti" panose="02010600040101010101" pitchFamily="2" charset="-122"/>
                        </a:rPr>
                        <a:t>col</a:t>
                      </a:r>
                    </a:p>
                  </a:txBody>
                  <a:tcPr/>
                </a:tc>
                <a:tc>
                  <a:txBody>
                    <a:bodyPr/>
                    <a:lstStyle/>
                    <a:p>
                      <a:pPr algn="ctr"/>
                      <a:r>
                        <a:rPr lang="en-US" sz="1800" dirty="0">
                          <a:latin typeface="STKaiti" panose="02010600040101010101" pitchFamily="2" charset="-122"/>
                          <a:ea typeface="STKaiti" panose="02010600040101010101" pitchFamily="2" charset="-122"/>
                        </a:rPr>
                        <a:t>3</a:t>
                      </a:r>
                    </a:p>
                  </a:txBody>
                  <a:tcPr/>
                </a:tc>
                <a:tc>
                  <a:txBody>
                    <a:bodyPr/>
                    <a:lstStyle/>
                    <a:p>
                      <a:pPr algn="ctr"/>
                      <a:r>
                        <a:rPr lang="en-US" sz="1800" dirty="0">
                          <a:latin typeface="STKaiti" panose="02010600040101010101" pitchFamily="2" charset="-122"/>
                          <a:ea typeface="STKaiti" panose="02010600040101010101" pitchFamily="2" charset="-122"/>
                        </a:rPr>
                        <a:t>3</a:t>
                      </a:r>
                    </a:p>
                  </a:txBody>
                  <a:tcPr/>
                </a:tc>
                <a:tc>
                  <a:txBody>
                    <a:bodyPr/>
                    <a:lstStyle/>
                    <a:p>
                      <a:pPr algn="ctr"/>
                      <a:r>
                        <a:rPr lang="en-US" sz="1800" dirty="0">
                          <a:latin typeface="STKaiti" panose="02010600040101010101" pitchFamily="2" charset="-122"/>
                          <a:ea typeface="STKaiti" panose="02010600040101010101" pitchFamily="2" charset="-122"/>
                        </a:rPr>
                        <a:t>6</a:t>
                      </a:r>
                    </a:p>
                  </a:txBody>
                  <a:tcPr/>
                </a:tc>
                <a:extLst>
                  <a:ext uri="{0D108BD9-81ED-4DB2-BD59-A6C34878D82A}">
                    <a16:rowId xmlns:a16="http://schemas.microsoft.com/office/drawing/2014/main" val="10003"/>
                  </a:ext>
                </a:extLst>
              </a:tr>
            </a:tbl>
          </a:graphicData>
        </a:graphic>
      </p:graphicFrame>
      <p:sp>
        <p:nvSpPr>
          <p:cNvPr id="12" name="TextBox 11"/>
          <p:cNvSpPr txBox="1"/>
          <p:nvPr/>
        </p:nvSpPr>
        <p:spPr>
          <a:xfrm>
            <a:off x="6638480" y="5819545"/>
            <a:ext cx="615636" cy="338554"/>
          </a:xfrm>
          <a:prstGeom prst="rect">
            <a:avLst/>
          </a:prstGeom>
          <a:solidFill>
            <a:srgbClr val="00B0F0"/>
          </a:solidFill>
        </p:spPr>
        <p:txBody>
          <a:bodyPr wrap="square" rtlCol="0">
            <a:spAutoFit/>
          </a:bodyPr>
          <a:lstStyle/>
          <a:p>
            <a:pPr algn="ctr"/>
            <a:r>
              <a:rPr lang="en-US" sz="1600" dirty="0">
                <a:latin typeface="STKaiti" panose="02010600040101010101" pitchFamily="2" charset="-122"/>
                <a:ea typeface="STKaiti" panose="02010600040101010101" pitchFamily="2" charset="-122"/>
              </a:rPr>
              <a:t>吉姆</a:t>
            </a:r>
          </a:p>
        </p:txBody>
      </p:sp>
      <p:sp>
        <p:nvSpPr>
          <p:cNvPr id="13" name="TextBox 12"/>
          <p:cNvSpPr txBox="1"/>
          <p:nvPr/>
        </p:nvSpPr>
        <p:spPr>
          <a:xfrm>
            <a:off x="7925721" y="4766399"/>
            <a:ext cx="783048" cy="338554"/>
          </a:xfrm>
          <a:prstGeom prst="rect">
            <a:avLst/>
          </a:prstGeom>
          <a:solidFill>
            <a:srgbClr val="FFC000"/>
          </a:solidFill>
        </p:spPr>
        <p:txBody>
          <a:bodyPr wrap="square" rtlCol="0">
            <a:spAutoFit/>
          </a:bodyPr>
          <a:lstStyle/>
          <a:p>
            <a:pPr algn="ctr"/>
            <a:r>
              <a:rPr lang="en-US" sz="1600" dirty="0">
                <a:latin typeface="STKaiti" panose="02010600040101010101" pitchFamily="2" charset="-122"/>
                <a:ea typeface="STKaiti" panose="02010600040101010101" pitchFamily="2" charset="-122"/>
              </a:rPr>
              <a:t>玛丽</a:t>
            </a:r>
          </a:p>
        </p:txBody>
      </p:sp>
      <p:pic>
        <p:nvPicPr>
          <p:cNvPr id="14" name="Picture 31" descr="eqbinaryasy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8103" y="4093911"/>
            <a:ext cx="29718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p:nvPr/>
        </p:nvSpPr>
        <p:spPr>
          <a:xfrm>
            <a:off x="8173510" y="3998303"/>
            <a:ext cx="615636" cy="338554"/>
          </a:xfrm>
          <a:prstGeom prst="rect">
            <a:avLst/>
          </a:prstGeom>
          <a:solidFill>
            <a:srgbClr val="00B0F0"/>
          </a:solidFill>
        </p:spPr>
        <p:txBody>
          <a:bodyPr wrap="square" rtlCol="0">
            <a:spAutoFit/>
          </a:bodyPr>
          <a:lstStyle/>
          <a:p>
            <a:pPr algn="ctr"/>
            <a:r>
              <a:rPr lang="en-US" sz="1600" dirty="0">
                <a:latin typeface="STKaiti" panose="02010600040101010101" pitchFamily="2" charset="-122"/>
                <a:ea typeface="STKaiti" panose="02010600040101010101" pitchFamily="2" charset="-122"/>
              </a:rPr>
              <a:t>杰克</a:t>
            </a:r>
          </a:p>
        </p:txBody>
      </p:sp>
    </p:spTree>
    <p:extLst>
      <p:ext uri="{BB962C8B-B14F-4D97-AF65-F5344CB8AC3E}">
        <p14:creationId xmlns:p14="http://schemas.microsoft.com/office/powerpoint/2010/main" val="27456924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5119" y="175475"/>
            <a:ext cx="12282535" cy="762000"/>
          </a:xfrm>
        </p:spPr>
        <p:txBody>
          <a:bodyPr>
            <a:noAutofit/>
          </a:bodyPr>
          <a:lstStyle/>
          <a:p>
            <a:r>
              <a:rPr lang="en-US" altLang="en-US" sz="3600" dirty="0"/>
              <a:t>计算练习</a:t>
            </a:r>
          </a:p>
        </p:txBody>
      </p:sp>
      <p:pic>
        <p:nvPicPr>
          <p:cNvPr id="16" name="图片 7">
            <a:extLst>
              <a:ext uri="{FF2B5EF4-FFF2-40B4-BE49-F238E27FC236}">
                <a16:creationId xmlns:a16="http://schemas.microsoft.com/office/drawing/2014/main" id="{03C7369C-C762-AB0C-0116-685B039BD944}"/>
              </a:ext>
            </a:extLst>
          </p:cNvPr>
          <p:cNvPicPr>
            <a:picLocks noChangeAspect="1"/>
          </p:cNvPicPr>
          <p:nvPr/>
        </p:nvPicPr>
        <p:blipFill>
          <a:blip r:embed="rId3"/>
          <a:stretch>
            <a:fillRect/>
          </a:stretch>
        </p:blipFill>
        <p:spPr>
          <a:xfrm>
            <a:off x="989004" y="1394351"/>
            <a:ext cx="9840084" cy="3311463"/>
          </a:xfrm>
          <a:prstGeom prst="rect">
            <a:avLst/>
          </a:prstGeom>
        </p:spPr>
      </p:pic>
      <p:sp>
        <p:nvSpPr>
          <p:cNvPr id="18" name="TextBox 17">
            <a:extLst>
              <a:ext uri="{FF2B5EF4-FFF2-40B4-BE49-F238E27FC236}">
                <a16:creationId xmlns:a16="http://schemas.microsoft.com/office/drawing/2014/main" id="{CC14E24B-FC77-6925-BF36-1FD2AB463B7A}"/>
              </a:ext>
            </a:extLst>
          </p:cNvPr>
          <p:cNvSpPr txBox="1"/>
          <p:nvPr/>
        </p:nvSpPr>
        <p:spPr>
          <a:xfrm>
            <a:off x="1307480" y="5078928"/>
            <a:ext cx="6138746" cy="584775"/>
          </a:xfrm>
          <a:prstGeom prst="rect">
            <a:avLst/>
          </a:prstGeom>
          <a:noFill/>
        </p:spPr>
        <p:txBody>
          <a:bodyPr wrap="square">
            <a:spAutoFit/>
          </a:bodyPr>
          <a:lstStyle/>
          <a:p>
            <a:pPr algn="l">
              <a:spcBef>
                <a:spcPts val="600"/>
              </a:spcBef>
            </a:pPr>
            <a:r>
              <a:rPr lang="en-US" altLang="zh-CN" sz="3200" b="1" dirty="0">
                <a:solidFill>
                  <a:srgbClr val="FF0000"/>
                </a:solidFill>
                <a:latin typeface="Times New Roman" panose="02020603050405020304" pitchFamily="18" charset="0"/>
                <a:cs typeface="Times New Roman" panose="02020603050405020304" pitchFamily="18" charset="0"/>
              </a:rPr>
              <a:t>d</a:t>
            </a:r>
            <a:r>
              <a:rPr lang="zh-CN" altLang="en-US" sz="3200" b="1" dirty="0">
                <a:solidFill>
                  <a:srgbClr val="FF0000"/>
                </a:solidFill>
                <a:latin typeface="Times New Roman" panose="02020603050405020304" pitchFamily="18" charset="0"/>
                <a:cs typeface="Times New Roman" panose="02020603050405020304" pitchFamily="18" charset="0"/>
              </a:rPr>
              <a:t>（</a:t>
            </a:r>
            <a:r>
              <a:rPr lang="en-US" altLang="zh-CN" sz="3200" b="1" dirty="0">
                <a:solidFill>
                  <a:srgbClr val="FF0000"/>
                </a:solidFill>
                <a:latin typeface="Times New Roman" panose="02020603050405020304" pitchFamily="18" charset="0"/>
                <a:cs typeface="Times New Roman" panose="02020603050405020304" pitchFamily="18" charset="0"/>
              </a:rPr>
              <a:t>Zhang</a:t>
            </a:r>
            <a:r>
              <a:rPr lang="zh-CN" altLang="en-US" sz="3200" b="1" dirty="0">
                <a:solidFill>
                  <a:srgbClr val="FF0000"/>
                </a:solidFill>
                <a:latin typeface="Times New Roman" panose="02020603050405020304" pitchFamily="18" charset="0"/>
                <a:cs typeface="Times New Roman" panose="02020603050405020304" pitchFamily="18" charset="0"/>
              </a:rPr>
              <a:t>，</a:t>
            </a:r>
            <a:r>
              <a:rPr lang="en-US" altLang="zh-CN" sz="3200" b="1" dirty="0">
                <a:solidFill>
                  <a:srgbClr val="FF0000"/>
                </a:solidFill>
                <a:latin typeface="Times New Roman" panose="02020603050405020304" pitchFamily="18" charset="0"/>
                <a:cs typeface="Times New Roman" panose="02020603050405020304" pitchFamily="18" charset="0"/>
              </a:rPr>
              <a:t>Wang</a:t>
            </a:r>
            <a:r>
              <a:rPr lang="zh-CN" altLang="en-US" sz="3200" b="1" dirty="0">
                <a:solidFill>
                  <a:srgbClr val="FF0000"/>
                </a:solidFill>
                <a:latin typeface="Times New Roman" panose="02020603050405020304" pitchFamily="18" charset="0"/>
                <a:cs typeface="Times New Roman" panose="02020603050405020304" pitchFamily="18" charset="0"/>
              </a:rPr>
              <a:t>）</a:t>
            </a:r>
            <a:r>
              <a:rPr lang="en-US" altLang="zh-CN" sz="3200" b="1" dirty="0">
                <a:solidFill>
                  <a:srgbClr val="FF0000"/>
                </a:solidFill>
                <a:latin typeface="Times New Roman" panose="02020603050405020304" pitchFamily="18" charset="0"/>
                <a:cs typeface="Times New Roman" panose="02020603050405020304" pitchFamily="18" charset="0"/>
              </a:rPr>
              <a:t>=</a:t>
            </a:r>
            <a:r>
              <a:rPr lang="zh-CN" altLang="en-US" sz="3200" b="1"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715475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00" name="Rectangle 3"/>
              <p:cNvSpPr>
                <a:spLocks noGrp="1" noChangeArrowheads="1"/>
              </p:cNvSpPr>
              <p:nvPr>
                <p:ph type="body" idx="1"/>
              </p:nvPr>
            </p:nvSpPr>
            <p:spPr>
              <a:xfrm>
                <a:off x="624690" y="1233409"/>
                <a:ext cx="9415237" cy="5450312"/>
              </a:xfrm>
            </p:spPr>
            <p:txBody>
              <a:bodyPr/>
              <a:lstStyle/>
              <a:p>
                <a:pPr>
                  <a:lnSpc>
                    <a:spcPct val="150000"/>
                  </a:lnSpc>
                </a:pPr>
                <a:r>
                  <a:rPr lang="en-US" altLang="en-US" sz="2200" dirty="0"/>
                  <a:t>类别数据，也称为名义属性</a:t>
                </a:r>
              </a:p>
              <a:p>
                <a:pPr lvl="1">
                  <a:lnSpc>
                    <a:spcPct val="150000"/>
                  </a:lnSpc>
                </a:pPr>
                <a:r>
                  <a:rPr lang="en-US" altLang="en-US" sz="2200" dirty="0"/>
                  <a:t> 示例：颜色（红色、黄色、蓝色、绿色）、职业等。  </a:t>
                </a:r>
              </a:p>
              <a:p>
                <a:pPr>
                  <a:lnSpc>
                    <a:spcPct val="150000"/>
                  </a:lnSpc>
                </a:pPr>
                <a:r>
                  <a:rPr lang="en-US" altLang="en-US" sz="2200" u="sng" dirty="0"/>
                  <a:t>方法1</a:t>
                </a:r>
                <a:r>
                  <a:rPr lang="en-US" altLang="en-US" sz="2200" dirty="0"/>
                  <a:t>：简单匹配</a:t>
                </a:r>
                <a:endParaRPr lang="en-US" altLang="en-US" sz="2200" i="1" dirty="0"/>
              </a:p>
              <a:p>
                <a:pPr lvl="1">
                  <a:lnSpc>
                    <a:spcPct val="150000"/>
                  </a:lnSpc>
                </a:pPr>
                <a:r>
                  <a:rPr lang="en-US" altLang="en-US" sz="2200" i="1" dirty="0">
                    <a:ea typeface="STKaiti" panose="02010600040101010101" pitchFamily="2" charset="-122"/>
                  </a:rPr>
                  <a:t>m</a:t>
                </a:r>
                <a:r>
                  <a:rPr lang="en-US" altLang="en-US" sz="2200" dirty="0">
                    <a:ea typeface="STKaiti" panose="02010600040101010101" pitchFamily="2" charset="-122"/>
                  </a:rPr>
                  <a:t>：匹配数</a:t>
                </a:r>
                <a:r>
                  <a:rPr lang="zh-CN" altLang="en-US" sz="2200" dirty="0">
                    <a:ea typeface="STKaiti" panose="02010600040101010101" pitchFamily="2" charset="-122"/>
                  </a:rPr>
                  <a:t>（</a:t>
                </a:r>
                <a14:m>
                  <m:oMath xmlns:m="http://schemas.openxmlformats.org/officeDocument/2006/math">
                    <m:r>
                      <a:rPr lang="en-US" altLang="en-US" sz="2200" dirty="0">
                        <a:latin typeface="Cambria Math" panose="02040503050406030204" pitchFamily="18" charset="0"/>
                      </a:rPr>
                      <m:t>𝑖</m:t>
                    </m:r>
                    <m:r>
                      <a:rPr lang="en-US" altLang="en-US" sz="2200" dirty="0">
                        <a:latin typeface="Cambria Math" panose="02040503050406030204" pitchFamily="18" charset="0"/>
                      </a:rPr>
                      <m:t>和</m:t>
                    </m:r>
                    <m:r>
                      <a:rPr lang="en-US" altLang="en-US" sz="2200" dirty="0">
                        <a:latin typeface="Cambria Math" panose="02040503050406030204" pitchFamily="18" charset="0"/>
                      </a:rPr>
                      <m:t>𝑗</m:t>
                    </m:r>
                  </m:oMath>
                </a14:m>
                <a:r>
                  <a:rPr lang="zh-CN" altLang="en-US" sz="2200" dirty="0"/>
                  <a:t> </a:t>
                </a:r>
                <a14:m>
                  <m:oMath xmlns:m="http://schemas.openxmlformats.org/officeDocument/2006/math">
                    <m:r>
                      <a:rPr lang="en-US" altLang="en-US" sz="2200" dirty="0">
                        <a:latin typeface="Cambria Math" panose="02040503050406030204" pitchFamily="18" charset="0"/>
                      </a:rPr>
                      <m:t>取值相同状态的属性数</m:t>
                    </m:r>
                  </m:oMath>
                </a14:m>
                <a:r>
                  <a:rPr lang="zh-CN" altLang="en-US" sz="2200" dirty="0"/>
                  <a:t>）</a:t>
                </a:r>
                <a:r>
                  <a:rPr lang="en-US" altLang="en-US" sz="2200" dirty="0"/>
                  <a:t>，</a:t>
                </a:r>
                <a:r>
                  <a:rPr lang="en-US" altLang="en-US" sz="2200" i="1" dirty="0"/>
                  <a:t>p</a:t>
                </a:r>
                <a:r>
                  <a:rPr lang="en-US" altLang="en-US" sz="2200" dirty="0"/>
                  <a:t>：变量总数</a:t>
                </a:r>
              </a:p>
              <a:p>
                <a:pPr>
                  <a:lnSpc>
                    <a:spcPct val="150000"/>
                  </a:lnSpc>
                </a:pPr>
                <a:endParaRPr lang="en-US" altLang="en-US" sz="2200" dirty="0"/>
              </a:p>
              <a:p>
                <a:pPr>
                  <a:lnSpc>
                    <a:spcPct val="150000"/>
                  </a:lnSpc>
                </a:pPr>
                <a:endParaRPr lang="en-US" altLang="en-US" sz="2200" u="sng" dirty="0"/>
              </a:p>
              <a:p>
                <a:pPr>
                  <a:lnSpc>
                    <a:spcPct val="150000"/>
                  </a:lnSpc>
                </a:pPr>
                <a:r>
                  <a:rPr lang="en-US" altLang="en-US" sz="2200" u="sng" dirty="0"/>
                  <a:t>方法2</a:t>
                </a:r>
                <a:r>
                  <a:rPr lang="en-US" altLang="en-US" sz="2200" dirty="0"/>
                  <a:t>：使用大量二元属性</a:t>
                </a:r>
              </a:p>
              <a:p>
                <a:pPr lvl="1">
                  <a:lnSpc>
                    <a:spcPct val="150000"/>
                  </a:lnSpc>
                </a:pPr>
                <a:r>
                  <a:rPr lang="en-US" altLang="en-US" sz="2200" dirty="0"/>
                  <a:t>为每个名义状态</a:t>
                </a:r>
                <a:r>
                  <a:rPr lang="en-US" altLang="en-US" sz="2200" i="1" dirty="0"/>
                  <a:t>创建</a:t>
                </a:r>
                <a:r>
                  <a:rPr lang="en-US" altLang="en-US" sz="2200" dirty="0"/>
                  <a:t>一个新的二进制属性</a:t>
                </a:r>
              </a:p>
            </p:txBody>
          </p:sp>
        </mc:Choice>
        <mc:Fallback xmlns="">
          <p:sp>
            <p:nvSpPr>
              <p:cNvPr id="4100" name="Rectangle 3"/>
              <p:cNvSpPr>
                <a:spLocks noGrp="1" noRot="1" noChangeAspect="1" noMove="1" noResize="1" noEditPoints="1" noAdjustHandles="1" noChangeArrowheads="1" noChangeShapeType="1" noTextEdit="1"/>
              </p:cNvSpPr>
              <p:nvPr>
                <p:ph type="body" idx="1"/>
              </p:nvPr>
            </p:nvSpPr>
            <p:spPr>
              <a:xfrm>
                <a:off x="624690" y="1233409"/>
                <a:ext cx="9415237" cy="5450312"/>
              </a:xfrm>
              <a:blipFill>
                <a:blip r:embed="rId3"/>
                <a:stretch>
                  <a:fillRect l="-269"/>
                </a:stretch>
              </a:blipFill>
            </p:spPr>
            <p:txBody>
              <a:bodyPr/>
              <a:lstStyle/>
              <a:p>
                <a:r>
                  <a:rPr lang="ko-Kore-KR" altLang="en-US">
                    <a:noFill/>
                  </a:rPr>
                  <a:t> </a:t>
                </a:r>
              </a:p>
            </p:txBody>
          </p:sp>
        </mc:Fallback>
      </mc:AlternateContent>
      <p:graphicFrame>
        <p:nvGraphicFramePr>
          <p:cNvPr id="4" name="Object 4"/>
          <p:cNvGraphicFramePr>
            <a:graphicFrameLocks noChangeAspect="1"/>
          </p:cNvGraphicFramePr>
          <p:nvPr/>
        </p:nvGraphicFramePr>
        <p:xfrm>
          <a:off x="2665308" y="4042373"/>
          <a:ext cx="2667000" cy="666750"/>
        </p:xfrm>
        <a:graphic>
          <a:graphicData uri="http://schemas.openxmlformats.org/presentationml/2006/ole">
            <mc:AlternateContent xmlns:mc="http://schemas.openxmlformats.org/markup-compatibility/2006">
              <mc:Choice xmlns:v="urn:schemas-microsoft-com:vml" Requires="v">
                <p:oleObj name="Equation" r:id="rId4" imgW="1384300" imgH="469900" progId="Equation.3">
                  <p:embed/>
                </p:oleObj>
              </mc:Choice>
              <mc:Fallback>
                <p:oleObj name="Equation" r:id="rId4" imgW="1384300" imgH="469900" progId="Equation.3">
                  <p:embed/>
                  <p:pic>
                    <p:nvPicPr>
                      <p:cNvPr id="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5308" y="4042373"/>
                        <a:ext cx="2667000"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제목 2">
            <a:extLst>
              <a:ext uri="{FF2B5EF4-FFF2-40B4-BE49-F238E27FC236}">
                <a16:creationId xmlns:a16="http://schemas.microsoft.com/office/drawing/2014/main" id="{A0207A48-400E-C302-5129-66C800F5394B}"/>
              </a:ext>
            </a:extLst>
          </p:cNvPr>
          <p:cNvSpPr>
            <a:spLocks noGrp="1"/>
          </p:cNvSpPr>
          <p:nvPr>
            <p:ph type="title"/>
          </p:nvPr>
        </p:nvSpPr>
        <p:spPr/>
        <p:txBody>
          <a:bodyPr/>
          <a:lstStyle/>
          <a:p>
            <a:r>
              <a:rPr lang="ko-Kore-KR" altLang="en-US"/>
              <a:t>类别属性之间的距离度量</a:t>
            </a:r>
          </a:p>
        </p:txBody>
      </p:sp>
    </p:spTree>
    <p:extLst>
      <p:ext uri="{BB962C8B-B14F-4D97-AF65-F5344CB8AC3E}">
        <p14:creationId xmlns:p14="http://schemas.microsoft.com/office/powerpoint/2010/main" val="17137935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type="body" idx="1"/>
          </p:nvPr>
        </p:nvSpPr>
        <p:spPr>
          <a:xfrm>
            <a:off x="624689" y="1233409"/>
            <a:ext cx="11017183" cy="5450312"/>
          </a:xfrm>
        </p:spPr>
        <p:txBody>
          <a:bodyPr/>
          <a:lstStyle/>
          <a:p>
            <a:pPr>
              <a:spcAft>
                <a:spcPts val="600"/>
              </a:spcAft>
            </a:pPr>
            <a:r>
              <a:rPr lang="en-US" altLang="en-US" sz="2400" dirty="0"/>
              <a:t>序数变量可以是离散的或连续的</a:t>
            </a:r>
          </a:p>
          <a:p>
            <a:pPr>
              <a:spcAft>
                <a:spcPts val="600"/>
              </a:spcAft>
            </a:pPr>
            <a:r>
              <a:rPr lang="en-US" altLang="en-US" sz="2400" dirty="0"/>
              <a:t>顺序很重要，例如等级（例如大一学生、大二学生、大三学生、大四学生）</a:t>
            </a:r>
          </a:p>
          <a:p>
            <a:pPr>
              <a:spcAft>
                <a:spcPts val="600"/>
              </a:spcAft>
            </a:pPr>
            <a:r>
              <a:rPr lang="en-US" altLang="en-US" sz="2400" dirty="0"/>
              <a:t>可视为间隔尺度变量 </a:t>
            </a:r>
          </a:p>
          <a:p>
            <a:pPr lvl="1">
              <a:spcAft>
                <a:spcPts val="600"/>
              </a:spcAft>
            </a:pPr>
            <a:r>
              <a:rPr lang="en-US" altLang="en-US" sz="2400" dirty="0"/>
              <a:t>用其排名替换</a:t>
            </a:r>
            <a:r>
              <a:rPr lang="en-US" altLang="en-US" sz="2400" i="1" dirty="0"/>
              <a:t>序数变量的值</a:t>
            </a:r>
            <a:r>
              <a:rPr lang="en-US" altLang="en-US" sz="2400" dirty="0"/>
              <a:t>：</a:t>
            </a:r>
          </a:p>
          <a:p>
            <a:pPr lvl="1">
              <a:spcAft>
                <a:spcPts val="600"/>
              </a:spcAft>
            </a:pPr>
            <a:r>
              <a:rPr lang="en-US" altLang="en-US" sz="2400" dirty="0"/>
              <a:t>将每个变量的取值范围映射到[0, 1]，方法是</a:t>
            </a:r>
            <a:r>
              <a:rPr lang="en-US" altLang="en-US" sz="2400" dirty="0" err="1"/>
              <a:t>将第i个</a:t>
            </a:r>
            <a:r>
              <a:rPr lang="en-US" altLang="en-US" sz="2400" dirty="0"/>
              <a:t>对象在</a:t>
            </a:r>
            <a:r>
              <a:rPr lang="en-US" altLang="en-US" sz="2400" dirty="0" err="1"/>
              <a:t>第f个</a:t>
            </a:r>
            <a:r>
              <a:rPr lang="en-US" altLang="en-US" sz="2400" dirty="0"/>
              <a:t>变量中的值替换为 </a:t>
            </a:r>
          </a:p>
          <a:p>
            <a:pPr lvl="1">
              <a:spcAft>
                <a:spcPts val="600"/>
              </a:spcAft>
            </a:pPr>
            <a:endParaRPr lang="en-US" altLang="en-US" sz="2400" dirty="0"/>
          </a:p>
          <a:p>
            <a:pPr lvl="2">
              <a:spcAft>
                <a:spcPts val="600"/>
              </a:spcAft>
            </a:pPr>
            <a:r>
              <a:rPr lang="en-US" altLang="en-US" sz="2400" dirty="0"/>
              <a:t>示例：大一新生：0；大二学生：1/3；大三学生：2/3；大四学生：1</a:t>
            </a:r>
          </a:p>
          <a:p>
            <a:pPr lvl="3">
              <a:spcAft>
                <a:spcPts val="600"/>
              </a:spcAft>
            </a:pPr>
            <a:r>
              <a:rPr lang="en-US" altLang="en-US" sz="2400" dirty="0"/>
              <a:t>然后计算距离：d(大一新生, 大四学生) = 1, d(大三学生, 大四学生) = 1/3</a:t>
            </a:r>
          </a:p>
          <a:p>
            <a:pPr lvl="1">
              <a:spcAft>
                <a:spcPts val="600"/>
              </a:spcAft>
            </a:pPr>
            <a:r>
              <a:rPr lang="en-US" altLang="en-US" sz="2400" dirty="0"/>
              <a:t>使用间隔尺度变量的方法计算差异性</a:t>
            </a:r>
          </a:p>
        </p:txBody>
      </p:sp>
      <p:graphicFrame>
        <p:nvGraphicFramePr>
          <p:cNvPr id="7" name="Object 6"/>
          <p:cNvGraphicFramePr>
            <a:graphicFrameLocks noChangeAspect="1"/>
          </p:cNvGraphicFramePr>
          <p:nvPr>
            <p:extLst>
              <p:ext uri="{D42A27DB-BD31-4B8C-83A1-F6EECF244321}">
                <p14:modId xmlns:p14="http://schemas.microsoft.com/office/powerpoint/2010/main" val="3144153368"/>
              </p:ext>
            </p:extLst>
          </p:nvPr>
        </p:nvGraphicFramePr>
        <p:xfrm>
          <a:off x="2678974" y="3844718"/>
          <a:ext cx="1389895" cy="827644"/>
        </p:xfrm>
        <a:graphic>
          <a:graphicData uri="http://schemas.openxmlformats.org/presentationml/2006/ole">
            <mc:AlternateContent xmlns:mc="http://schemas.openxmlformats.org/markup-compatibility/2006">
              <mc:Choice xmlns:v="urn:schemas-microsoft-com:vml" Requires="v">
                <p:oleObj name="Equation" r:id="rId3" imgW="787320" imgH="469800" progId="Equation.DSMT4">
                  <p:embed/>
                </p:oleObj>
              </mc:Choice>
              <mc:Fallback>
                <p:oleObj name="Equation" r:id="rId3" imgW="787320" imgH="469800" progId="Equation.DSMT4">
                  <p:embed/>
                  <p:pic>
                    <p:nvPicPr>
                      <p:cNvPr id="7" name="Object 6"/>
                      <p:cNvPicPr/>
                      <p:nvPr/>
                    </p:nvPicPr>
                    <p:blipFill>
                      <a:blip r:embed="rId4"/>
                      <a:stretch>
                        <a:fillRect/>
                      </a:stretch>
                    </p:blipFill>
                    <p:spPr>
                      <a:xfrm>
                        <a:off x="2678974" y="3844718"/>
                        <a:ext cx="1389895" cy="827644"/>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777577951"/>
              </p:ext>
            </p:extLst>
          </p:nvPr>
        </p:nvGraphicFramePr>
        <p:xfrm>
          <a:off x="5524414" y="2831028"/>
          <a:ext cx="1612900" cy="482741"/>
        </p:xfrm>
        <a:graphic>
          <a:graphicData uri="http://schemas.openxmlformats.org/presentationml/2006/ole">
            <mc:AlternateContent xmlns:mc="http://schemas.openxmlformats.org/markup-compatibility/2006">
              <mc:Choice xmlns:v="urn:schemas-microsoft-com:vml" Requires="v">
                <p:oleObj name="Equation" r:id="rId5" imgW="914400" imgH="241200" progId="Equation.DSMT4">
                  <p:embed/>
                </p:oleObj>
              </mc:Choice>
              <mc:Fallback>
                <p:oleObj name="Equation" r:id="rId5" imgW="914400" imgH="241200" progId="Equation.DSMT4">
                  <p:embed/>
                  <p:pic>
                    <p:nvPicPr>
                      <p:cNvPr id="8" name="Object 7"/>
                      <p:cNvPicPr/>
                      <p:nvPr/>
                    </p:nvPicPr>
                    <p:blipFill>
                      <a:blip r:embed="rId6"/>
                      <a:stretch>
                        <a:fillRect/>
                      </a:stretch>
                    </p:blipFill>
                    <p:spPr>
                      <a:xfrm>
                        <a:off x="5524414" y="2831028"/>
                        <a:ext cx="1612900" cy="482741"/>
                      </a:xfrm>
                      <a:prstGeom prst="rect">
                        <a:avLst/>
                      </a:prstGeom>
                    </p:spPr>
                  </p:pic>
                </p:oleObj>
              </mc:Fallback>
            </mc:AlternateContent>
          </a:graphicData>
        </a:graphic>
      </p:graphicFrame>
      <p:sp>
        <p:nvSpPr>
          <p:cNvPr id="3" name="제목 2">
            <a:extLst>
              <a:ext uri="{FF2B5EF4-FFF2-40B4-BE49-F238E27FC236}">
                <a16:creationId xmlns:a16="http://schemas.microsoft.com/office/drawing/2014/main" id="{8E50A6AD-EAC6-A8BE-C75C-14CEDC2519F7}"/>
              </a:ext>
            </a:extLst>
          </p:cNvPr>
          <p:cNvSpPr>
            <a:spLocks noGrp="1"/>
          </p:cNvSpPr>
          <p:nvPr>
            <p:ph type="title"/>
          </p:nvPr>
        </p:nvSpPr>
        <p:spPr/>
        <p:txBody>
          <a:bodyPr/>
          <a:lstStyle/>
          <a:p>
            <a:r>
              <a:rPr lang="ko-Kore-KR" altLang="en-US"/>
              <a:t>序数变量</a:t>
            </a:r>
          </a:p>
        </p:txBody>
      </p:sp>
    </p:spTree>
    <p:extLst>
      <p:ext uri="{BB962C8B-B14F-4D97-AF65-F5344CB8AC3E}">
        <p14:creationId xmlns:p14="http://schemas.microsoft.com/office/powerpoint/2010/main" val="20391353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en-US" dirty="0"/>
              <a:t>混合类型属性</a:t>
            </a:r>
          </a:p>
        </p:txBody>
      </p:sp>
      <p:sp>
        <p:nvSpPr>
          <p:cNvPr id="4100" name="Rectangle 3"/>
          <p:cNvSpPr>
            <a:spLocks noGrp="1" noChangeArrowheads="1"/>
          </p:cNvSpPr>
          <p:nvPr>
            <p:ph type="body" idx="1"/>
          </p:nvPr>
        </p:nvSpPr>
        <p:spPr>
          <a:xfrm>
            <a:off x="552262" y="1151931"/>
            <a:ext cx="9904490" cy="5583847"/>
          </a:xfrm>
        </p:spPr>
        <p:txBody>
          <a:bodyPr/>
          <a:lstStyle/>
          <a:p>
            <a:pPr>
              <a:spcAft>
                <a:spcPts val="600"/>
              </a:spcAft>
            </a:pPr>
            <a:r>
              <a:rPr lang="en-US" altLang="en-US" sz="2400" dirty="0">
                <a:ea typeface="STKaiti" panose="02010600040101010101" pitchFamily="2" charset="-122"/>
              </a:rPr>
              <a:t>一个数据集可能包含所有属性类型</a:t>
            </a:r>
          </a:p>
          <a:p>
            <a:pPr lvl="1">
              <a:spcAft>
                <a:spcPts val="600"/>
              </a:spcAft>
            </a:pPr>
            <a:r>
              <a:rPr lang="en-US" altLang="en-US" sz="2400" dirty="0">
                <a:ea typeface="STKaiti" panose="02010600040101010101" pitchFamily="2" charset="-122"/>
              </a:rPr>
              <a:t>名义型、对称二元型、非对称二元型、数值型和顺序型</a:t>
            </a:r>
          </a:p>
          <a:p>
            <a:pPr>
              <a:spcAft>
                <a:spcPts val="600"/>
              </a:spcAft>
            </a:pPr>
            <a:r>
              <a:rPr lang="en-US" altLang="en-US" sz="2400" dirty="0">
                <a:ea typeface="STKaiti" panose="02010600040101010101" pitchFamily="2" charset="-122"/>
              </a:rPr>
              <a:t>可以使用加权公式来结合它们的影响：</a:t>
            </a:r>
          </a:p>
          <a:p>
            <a:pPr>
              <a:spcAft>
                <a:spcPts val="600"/>
              </a:spcAft>
            </a:pPr>
            <a:endParaRPr lang="en-US" altLang="en-US" sz="2400" dirty="0">
              <a:ea typeface="STKaiti" panose="02010600040101010101" pitchFamily="2" charset="-122"/>
            </a:endParaRPr>
          </a:p>
          <a:p>
            <a:pPr marL="200021" lvl="1" indent="0">
              <a:spcAft>
                <a:spcPts val="600"/>
              </a:spcAft>
              <a:buNone/>
            </a:pPr>
            <a:endParaRPr lang="en-US" altLang="en-US" sz="2400" dirty="0">
              <a:ea typeface="STKaiti" panose="02010600040101010101" pitchFamily="2" charset="-122"/>
            </a:endParaRPr>
          </a:p>
          <a:p>
            <a:pPr lvl="1">
              <a:spcAft>
                <a:spcPts val="600"/>
              </a:spcAft>
            </a:pPr>
            <a:r>
              <a:rPr lang="en-US" altLang="en-US" sz="2400" dirty="0">
                <a:ea typeface="STKaiti" panose="02010600040101010101" pitchFamily="2" charset="-122"/>
              </a:rPr>
              <a:t>若 </a:t>
            </a:r>
            <a:r>
              <a:rPr lang="en-US" altLang="en-US" sz="2400" i="1" dirty="0">
                <a:ea typeface="STKaiti" panose="02010600040101010101" pitchFamily="2" charset="-122"/>
              </a:rPr>
              <a:t>f</a:t>
            </a:r>
            <a:r>
              <a:rPr lang="en-US" altLang="en-US" sz="2400" dirty="0">
                <a:ea typeface="STKaiti" panose="02010600040101010101" pitchFamily="2" charset="-122"/>
              </a:rPr>
              <a:t> 为数值型：使用标准化距离</a:t>
            </a:r>
          </a:p>
          <a:p>
            <a:pPr lvl="1">
              <a:spcAft>
                <a:spcPts val="600"/>
              </a:spcAft>
            </a:pPr>
            <a:r>
              <a:rPr lang="en-US" altLang="en-US" sz="2400" dirty="0">
                <a:ea typeface="STKaiti" panose="02010600040101010101" pitchFamily="2" charset="-122"/>
              </a:rPr>
              <a:t>如果 </a:t>
            </a:r>
            <a:r>
              <a:rPr lang="en-US" altLang="en-US" sz="2400" i="1" dirty="0">
                <a:ea typeface="STKaiti" panose="02010600040101010101" pitchFamily="2" charset="-122"/>
              </a:rPr>
              <a:t>f </a:t>
            </a:r>
            <a:r>
              <a:rPr lang="en-US" altLang="en-US" sz="2400" dirty="0">
                <a:ea typeface="STKaiti" panose="02010600040101010101" pitchFamily="2" charset="-122"/>
              </a:rPr>
              <a:t>是二元或名义型：  d</a:t>
            </a:r>
            <a:r>
              <a:rPr lang="en-US" altLang="en-US" sz="2400" baseline="-25000" dirty="0" err="1">
                <a:ea typeface="STKaiti" panose="02010600040101010101" pitchFamily="2" charset="-122"/>
              </a:rPr>
              <a:t>ij</a:t>
            </a:r>
            <a:r>
              <a:rPr lang="en-US" altLang="en-US" sz="2400" baseline="30000" dirty="0">
                <a:ea typeface="STKaiti" panose="02010600040101010101" pitchFamily="2" charset="-122"/>
              </a:rPr>
              <a:t>(f)</a:t>
            </a:r>
            <a:r>
              <a:rPr lang="en-US" altLang="en-US" sz="2400" dirty="0">
                <a:ea typeface="STKaiti" panose="02010600040101010101" pitchFamily="2" charset="-122"/>
              </a:rPr>
              <a:t> = 0  如果 x</a:t>
            </a:r>
            <a:r>
              <a:rPr lang="en-US" altLang="en-US" sz="2400" baseline="-25000" dirty="0" err="1">
                <a:ea typeface="STKaiti" panose="02010600040101010101" pitchFamily="2" charset="-122"/>
              </a:rPr>
              <a:t>if</a:t>
            </a:r>
            <a:r>
              <a:rPr lang="en-US" altLang="en-US" sz="2400" baseline="-25000" dirty="0">
                <a:ea typeface="STKaiti" panose="02010600040101010101" pitchFamily="2" charset="-122"/>
              </a:rPr>
              <a:t> </a:t>
            </a:r>
            <a:r>
              <a:rPr lang="en-US" altLang="en-US" sz="2400" dirty="0">
                <a:ea typeface="STKaiti" panose="02010600040101010101" pitchFamily="2" charset="-122"/>
              </a:rPr>
              <a:t> = x</a:t>
            </a:r>
            <a:r>
              <a:rPr lang="en-US" altLang="en-US" sz="2400" baseline="-25000" dirty="0" err="1">
                <a:ea typeface="STKaiti" panose="02010600040101010101" pitchFamily="2" charset="-122"/>
              </a:rPr>
              <a:t>jf</a:t>
            </a:r>
            <a:r>
              <a:rPr lang="en-US" altLang="en-US" sz="2400" dirty="0">
                <a:ea typeface="STKaiti" panose="02010600040101010101" pitchFamily="2" charset="-122"/>
              </a:rPr>
              <a:t> ；否则 d</a:t>
            </a:r>
            <a:r>
              <a:rPr lang="en-US" altLang="en-US" sz="2400" baseline="-25000" dirty="0" err="1">
                <a:ea typeface="STKaiti" panose="02010600040101010101" pitchFamily="2" charset="-122"/>
              </a:rPr>
              <a:t>ij</a:t>
            </a:r>
            <a:r>
              <a:rPr lang="en-US" altLang="en-US" sz="2400" baseline="30000" dirty="0">
                <a:ea typeface="STKaiti" panose="02010600040101010101" pitchFamily="2" charset="-122"/>
              </a:rPr>
              <a:t>(f)</a:t>
            </a:r>
            <a:r>
              <a:rPr lang="en-US" altLang="en-US" sz="2400" dirty="0">
                <a:ea typeface="STKaiti" panose="02010600040101010101" pitchFamily="2" charset="-122"/>
              </a:rPr>
              <a:t> = 1</a:t>
            </a:r>
          </a:p>
          <a:p>
            <a:pPr lvl="1">
              <a:spcAft>
                <a:spcPts val="600"/>
              </a:spcAft>
            </a:pPr>
            <a:r>
              <a:rPr lang="en-US" altLang="en-US" sz="2400" dirty="0">
                <a:ea typeface="STKaiti" panose="02010600040101010101" pitchFamily="2" charset="-122"/>
              </a:rPr>
              <a:t>如果 </a:t>
            </a:r>
            <a:r>
              <a:rPr lang="en-US" altLang="en-US" sz="2400" i="1" dirty="0">
                <a:ea typeface="STKaiti" panose="02010600040101010101" pitchFamily="2" charset="-122"/>
              </a:rPr>
              <a:t>f </a:t>
            </a:r>
            <a:r>
              <a:rPr lang="en-US" altLang="en-US" sz="2400" dirty="0">
                <a:ea typeface="STKaiti" panose="02010600040101010101" pitchFamily="2" charset="-122"/>
              </a:rPr>
              <a:t>是序数型</a:t>
            </a:r>
          </a:p>
          <a:p>
            <a:pPr lvl="2">
              <a:spcAft>
                <a:spcPts val="600"/>
              </a:spcAft>
            </a:pPr>
            <a:r>
              <a:rPr lang="en-US" altLang="en-US" sz="2400" dirty="0">
                <a:ea typeface="STKaiti" panose="02010600040101010101" pitchFamily="2" charset="-122"/>
              </a:rPr>
              <a:t>计算排名 </a:t>
            </a:r>
            <a:r>
              <a:rPr lang="en-US" altLang="en-US" sz="2400" dirty="0" err="1">
                <a:ea typeface="STKaiti" panose="02010600040101010101" pitchFamily="2" charset="-122"/>
              </a:rPr>
              <a:t>z</a:t>
            </a:r>
            <a:r>
              <a:rPr lang="en-US" altLang="en-US" sz="2400" baseline="-25000" dirty="0" err="1">
                <a:ea typeface="STKaiti" panose="02010600040101010101" pitchFamily="2" charset="-122"/>
              </a:rPr>
              <a:t>if</a:t>
            </a:r>
            <a:r>
              <a:rPr lang="en-US" altLang="en-US" sz="2400" baseline="-25000" dirty="0">
                <a:ea typeface="STKaiti" panose="02010600040101010101" pitchFamily="2" charset="-122"/>
              </a:rPr>
              <a:t> </a:t>
            </a:r>
            <a:r>
              <a:rPr lang="en-US" altLang="en-US" sz="2400" dirty="0">
                <a:ea typeface="STKaiti" panose="02010600040101010101" pitchFamily="2" charset="-122"/>
              </a:rPr>
              <a:t> (其中                  )</a:t>
            </a:r>
          </a:p>
          <a:p>
            <a:pPr lvl="2">
              <a:spcAft>
                <a:spcPts val="600"/>
              </a:spcAft>
            </a:pPr>
            <a:r>
              <a:rPr lang="en-US" altLang="en-US" sz="2400" dirty="0">
                <a:ea typeface="STKaiti" panose="02010600040101010101" pitchFamily="2" charset="-122"/>
              </a:rPr>
              <a:t>将 </a:t>
            </a:r>
            <a:r>
              <a:rPr lang="en-US" altLang="en-US" sz="2400" dirty="0" err="1">
                <a:ea typeface="STKaiti" panose="02010600040101010101" pitchFamily="2" charset="-122"/>
              </a:rPr>
              <a:t>z</a:t>
            </a:r>
            <a:r>
              <a:rPr lang="en-US" altLang="en-US" sz="2400" baseline="-25000" dirty="0" err="1">
                <a:ea typeface="STKaiti" panose="02010600040101010101" pitchFamily="2" charset="-122"/>
              </a:rPr>
              <a:t>if</a:t>
            </a:r>
            <a:r>
              <a:rPr lang="en-US" altLang="en-US" sz="2400" dirty="0">
                <a:ea typeface="STKaiti" panose="02010600040101010101" pitchFamily="2" charset="-122"/>
              </a:rPr>
              <a:t> 视为区间尺度</a:t>
            </a:r>
          </a:p>
        </p:txBody>
      </p:sp>
      <p:graphicFrame>
        <p:nvGraphicFramePr>
          <p:cNvPr id="6" name="Object 5"/>
          <p:cNvGraphicFramePr>
            <a:graphicFrameLocks noChangeAspect="1"/>
          </p:cNvGraphicFramePr>
          <p:nvPr>
            <p:extLst>
              <p:ext uri="{D42A27DB-BD31-4B8C-83A1-F6EECF244321}">
                <p14:modId xmlns:p14="http://schemas.microsoft.com/office/powerpoint/2010/main" val="1546345499"/>
              </p:ext>
            </p:extLst>
          </p:nvPr>
        </p:nvGraphicFramePr>
        <p:xfrm>
          <a:off x="3974029" y="5159074"/>
          <a:ext cx="1255891" cy="747848"/>
        </p:xfrm>
        <a:graphic>
          <a:graphicData uri="http://schemas.openxmlformats.org/presentationml/2006/ole">
            <mc:AlternateContent xmlns:mc="http://schemas.openxmlformats.org/markup-compatibility/2006">
              <mc:Choice xmlns:v="urn:schemas-microsoft-com:vml" Requires="v">
                <p:oleObj name="Equation" r:id="rId3" imgW="787320" imgH="469800" progId="Equation.DSMT4">
                  <p:embed/>
                </p:oleObj>
              </mc:Choice>
              <mc:Fallback>
                <p:oleObj name="Equation" r:id="rId3" imgW="787320" imgH="469800" progId="Equation.DSMT4">
                  <p:embed/>
                  <p:pic>
                    <p:nvPicPr>
                      <p:cNvPr id="6" name="Object 5"/>
                      <p:cNvPicPr/>
                      <p:nvPr/>
                    </p:nvPicPr>
                    <p:blipFill>
                      <a:blip r:embed="rId4"/>
                      <a:stretch>
                        <a:fillRect/>
                      </a:stretch>
                    </p:blipFill>
                    <p:spPr>
                      <a:xfrm>
                        <a:off x="3974029" y="5159074"/>
                        <a:ext cx="1255891" cy="747848"/>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845872255"/>
              </p:ext>
            </p:extLst>
          </p:nvPr>
        </p:nvGraphicFramePr>
        <p:xfrm>
          <a:off x="6302652" y="2273235"/>
          <a:ext cx="2283788" cy="1596422"/>
        </p:xfrm>
        <a:graphic>
          <a:graphicData uri="http://schemas.openxmlformats.org/presentationml/2006/ole">
            <mc:AlternateContent xmlns:mc="http://schemas.openxmlformats.org/markup-compatibility/2006">
              <mc:Choice xmlns:v="urn:schemas-microsoft-com:vml" Requires="v">
                <p:oleObj name="Equation" r:id="rId5" imgW="1269720" imgH="888840" progId="Equation.DSMT4">
                  <p:embed/>
                </p:oleObj>
              </mc:Choice>
              <mc:Fallback>
                <p:oleObj name="Equation" r:id="rId5" imgW="1269720" imgH="888840" progId="Equation.DSMT4">
                  <p:embed/>
                  <p:pic>
                    <p:nvPicPr>
                      <p:cNvPr id="7" name="Object 6"/>
                      <p:cNvPicPr/>
                      <p:nvPr/>
                    </p:nvPicPr>
                    <p:blipFill>
                      <a:blip r:embed="rId6"/>
                      <a:stretch>
                        <a:fillRect/>
                      </a:stretch>
                    </p:blipFill>
                    <p:spPr>
                      <a:xfrm>
                        <a:off x="6302652" y="2273235"/>
                        <a:ext cx="2283788" cy="1596422"/>
                      </a:xfrm>
                      <a:prstGeom prst="rect">
                        <a:avLst/>
                      </a:prstGeom>
                    </p:spPr>
                  </p:pic>
                </p:oleObj>
              </mc:Fallback>
            </mc:AlternateContent>
          </a:graphicData>
        </a:graphic>
      </p:graphicFrame>
      <p:pic>
        <p:nvPicPr>
          <p:cNvPr id="2" name="그림 1">
            <a:extLst>
              <a:ext uri="{FF2B5EF4-FFF2-40B4-BE49-F238E27FC236}">
                <a16:creationId xmlns:a16="http://schemas.microsoft.com/office/drawing/2014/main" id="{1D775C57-5052-0086-5FD2-A7A2B5AE62CA}"/>
              </a:ext>
            </a:extLst>
          </p:cNvPr>
          <p:cNvPicPr>
            <a:picLocks noChangeAspect="1"/>
          </p:cNvPicPr>
          <p:nvPr/>
        </p:nvPicPr>
        <p:blipFill>
          <a:blip r:embed="rId7"/>
          <a:stretch>
            <a:fillRect/>
          </a:stretch>
        </p:blipFill>
        <p:spPr>
          <a:xfrm>
            <a:off x="5749207" y="3683504"/>
            <a:ext cx="1752600" cy="520700"/>
          </a:xfrm>
          <a:prstGeom prst="rect">
            <a:avLst/>
          </a:prstGeom>
        </p:spPr>
      </p:pic>
    </p:spTree>
    <p:extLst>
      <p:ext uri="{BB962C8B-B14F-4D97-AF65-F5344CB8AC3E}">
        <p14:creationId xmlns:p14="http://schemas.microsoft.com/office/powerpoint/2010/main" val="36349212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两个向量的余弦相似性</a:t>
            </a:r>
          </a:p>
        </p:txBody>
      </p:sp>
      <p:sp>
        <p:nvSpPr>
          <p:cNvPr id="4100" name="Rectangle 3"/>
          <p:cNvSpPr>
            <a:spLocks noGrp="1" noChangeArrowheads="1"/>
          </p:cNvSpPr>
          <p:nvPr>
            <p:ph type="body" idx="1"/>
          </p:nvPr>
        </p:nvSpPr>
        <p:spPr>
          <a:xfrm>
            <a:off x="558801" y="1149328"/>
            <a:ext cx="11283575" cy="5450312"/>
          </a:xfrm>
        </p:spPr>
        <p:txBody>
          <a:bodyPr/>
          <a:lstStyle/>
          <a:p>
            <a:r>
              <a:rPr lang="en-US" altLang="en-US" sz="2200" dirty="0">
                <a:ea typeface="STKaiti" panose="02010600040101010101" pitchFamily="2" charset="-122"/>
              </a:rPr>
              <a:t>一个文档可以表示为一个术语集合或一个长向量，其中每个属性记录特定术语（如单词、关键词或短语）在文档中的出现频率</a:t>
            </a:r>
          </a:p>
          <a:p>
            <a:endParaRPr lang="en-US" altLang="en-US" sz="2200" dirty="0">
              <a:ea typeface="STKaiti" panose="02010600040101010101" pitchFamily="2" charset="-122"/>
            </a:endParaRPr>
          </a:p>
          <a:p>
            <a:endParaRPr lang="en-US" altLang="en-US" sz="2200" dirty="0">
              <a:ea typeface="STKaiti" panose="02010600040101010101" pitchFamily="2" charset="-122"/>
            </a:endParaRPr>
          </a:p>
          <a:p>
            <a:pPr marL="0" indent="0">
              <a:buNone/>
            </a:pPr>
            <a:endParaRPr lang="en-US" altLang="en-US" sz="2200" dirty="0">
              <a:ea typeface="STKaiti" panose="02010600040101010101" pitchFamily="2" charset="-122"/>
            </a:endParaRPr>
          </a:p>
          <a:p>
            <a:r>
              <a:rPr lang="en-US" altLang="en-US" sz="2200" dirty="0">
                <a:ea typeface="STKaiti" panose="02010600040101010101" pitchFamily="2" charset="-122"/>
              </a:rPr>
              <a:t>其他向量对象：微阵列中的基因特征 </a:t>
            </a:r>
          </a:p>
          <a:p>
            <a:r>
              <a:rPr lang="en-US" altLang="en-US" sz="2200" dirty="0">
                <a:ea typeface="STKaiti" panose="02010600040101010101" pitchFamily="2" charset="-122"/>
              </a:rPr>
              <a:t>应用：信息检索、生物分类、基因特征映射等</a:t>
            </a:r>
          </a:p>
          <a:p>
            <a:r>
              <a:rPr lang="en-US" altLang="en-US" sz="2200" dirty="0">
                <a:ea typeface="STKaiti" panose="02010600040101010101" pitchFamily="2" charset="-122"/>
              </a:rPr>
              <a:t>余弦相似度度量：</a:t>
            </a:r>
            <a:r>
              <a:rPr lang="en-US" altLang="en-US" sz="2200" dirty="0">
                <a:ea typeface="STKaiti" panose="02010600040101010101" pitchFamily="2" charset="-122"/>
                <a:cs typeface="Times New Roman" panose="02020603050405020304" pitchFamily="18" charset="0"/>
              </a:rPr>
              <a:t>若d</a:t>
            </a:r>
            <a:r>
              <a:rPr lang="en-US" altLang="en-US" sz="2200" i="1" baseline="-30000" dirty="0">
                <a:ea typeface="STKaiti" panose="02010600040101010101" pitchFamily="2" charset="-122"/>
                <a:cs typeface="Times New Roman" panose="02020603050405020304" pitchFamily="18" charset="0"/>
              </a:rPr>
              <a:t>1</a:t>
            </a:r>
            <a:r>
              <a:rPr lang="en-US" altLang="en-US" sz="2200" dirty="0">
                <a:ea typeface="STKaiti" panose="02010600040101010101" pitchFamily="2" charset="-122"/>
                <a:cs typeface="Times New Roman" panose="02020603050405020304" pitchFamily="18" charset="0"/>
              </a:rPr>
              <a:t> </a:t>
            </a:r>
            <a:r>
              <a:rPr lang="en-US" altLang="en-US" sz="2200" i="1" dirty="0">
                <a:ea typeface="STKaiti" panose="02010600040101010101" pitchFamily="2" charset="-122"/>
                <a:cs typeface="Times New Roman" panose="02020603050405020304" pitchFamily="18" charset="0"/>
              </a:rPr>
              <a:t>和</a:t>
            </a:r>
            <a:r>
              <a:rPr lang="en-US" altLang="en-US" sz="2200" dirty="0">
                <a:ea typeface="STKaiti" panose="02010600040101010101" pitchFamily="2" charset="-122"/>
                <a:cs typeface="Times New Roman" panose="02020603050405020304" pitchFamily="18" charset="0"/>
              </a:rPr>
              <a:t>d</a:t>
            </a:r>
            <a:r>
              <a:rPr lang="en-US" altLang="en-US" sz="2200" i="1" baseline="-30000" dirty="0">
                <a:ea typeface="STKaiti" panose="02010600040101010101" pitchFamily="2" charset="-122"/>
                <a:cs typeface="Times New Roman" panose="02020603050405020304" pitchFamily="18" charset="0"/>
              </a:rPr>
              <a:t>2</a:t>
            </a:r>
            <a:r>
              <a:rPr lang="en-US" altLang="en-US" sz="2200" dirty="0">
                <a:ea typeface="STKaiti" panose="02010600040101010101" pitchFamily="2" charset="-122"/>
                <a:cs typeface="Times New Roman" panose="02020603050405020304" pitchFamily="18" charset="0"/>
              </a:rPr>
              <a:t> 是两个向量（例如词频向量），则</a:t>
            </a:r>
          </a:p>
          <a:p>
            <a:pPr algn="just">
              <a:buNone/>
            </a:pPr>
            <a:endParaRPr lang="en-US" altLang="en-US" sz="2200" dirty="0">
              <a:ea typeface="STKaiti" panose="02010600040101010101" pitchFamily="2" charset="-122"/>
              <a:cs typeface="Times New Roman" panose="02020603050405020304" pitchFamily="18" charset="0"/>
            </a:endParaRPr>
          </a:p>
          <a:p>
            <a:pPr lvl="2" algn="just">
              <a:buNone/>
            </a:pPr>
            <a:endParaRPr lang="en-US" altLang="en-US" sz="2200" dirty="0">
              <a:ea typeface="STKaiti" panose="02010600040101010101" pitchFamily="2" charset="-122"/>
              <a:cs typeface="Times New Roman" panose="02020603050405020304" pitchFamily="18" charset="0"/>
            </a:endParaRPr>
          </a:p>
          <a:p>
            <a:pPr lvl="2" algn="just">
              <a:buNone/>
            </a:pPr>
            <a:r>
              <a:rPr lang="en-US" altLang="en-US" sz="2200" dirty="0">
                <a:ea typeface="STKaiti" panose="02010600040101010101" pitchFamily="2" charset="-122"/>
                <a:cs typeface="Times New Roman" panose="02020603050405020304" pitchFamily="18" charset="0"/>
              </a:rPr>
              <a:t>其中，</a:t>
            </a:r>
            <a:r>
              <a:rPr lang="en-US" altLang="en-US" sz="2200" dirty="0">
                <a:ea typeface="STKaiti" panose="02010600040101010101" pitchFamily="2" charset="-122"/>
                <a:cs typeface="Times New Roman" panose="02020603050405020304" pitchFamily="18" charset="0"/>
                <a:sym typeface="Symbol" panose="05050102010706020507" pitchFamily="18" charset="2"/>
              </a:rPr>
              <a:t></a:t>
            </a:r>
            <a:r>
              <a:rPr lang="en-US" altLang="en-US" sz="2200" dirty="0">
                <a:ea typeface="STKaiti" panose="02010600040101010101" pitchFamily="2" charset="-122"/>
                <a:cs typeface="Times New Roman" panose="02020603050405020304" pitchFamily="18" charset="0"/>
              </a:rPr>
              <a:t>表示向量点积，||d||表示</a:t>
            </a:r>
            <a:r>
              <a:rPr lang="en-US" altLang="en-US" sz="2200" i="1" dirty="0">
                <a:ea typeface="STKaiti" panose="02010600040101010101" pitchFamily="2" charset="-122"/>
                <a:cs typeface="Times New Roman" panose="02020603050405020304" pitchFamily="18" charset="0"/>
              </a:rPr>
              <a:t>向量d</a:t>
            </a:r>
            <a:r>
              <a:rPr lang="en-US" altLang="en-US" sz="2200" dirty="0">
                <a:ea typeface="STKaiti" panose="02010600040101010101" pitchFamily="2" charset="-122"/>
                <a:cs typeface="Times New Roman" panose="02020603050405020304" pitchFamily="18" charset="0"/>
              </a:rPr>
              <a:t>的长度</a:t>
            </a:r>
          </a:p>
        </p:txBody>
      </p:sp>
      <p:pic>
        <p:nvPicPr>
          <p:cNvPr id="4" name="Picture 4" descr="eq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3375" y="1993978"/>
            <a:ext cx="6745249" cy="118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4"/>
          <p:cNvGraphicFramePr>
            <a:graphicFrameLocks noChangeAspect="1"/>
          </p:cNvGraphicFramePr>
          <p:nvPr>
            <p:extLst>
              <p:ext uri="{D42A27DB-BD31-4B8C-83A1-F6EECF244321}">
                <p14:modId xmlns:p14="http://schemas.microsoft.com/office/powerpoint/2010/main" val="690226685"/>
              </p:ext>
            </p:extLst>
          </p:nvPr>
        </p:nvGraphicFramePr>
        <p:xfrm>
          <a:off x="3619913" y="4454333"/>
          <a:ext cx="2602467" cy="703902"/>
        </p:xfrm>
        <a:graphic>
          <a:graphicData uri="http://schemas.openxmlformats.org/presentationml/2006/ole">
            <mc:AlternateContent xmlns:mc="http://schemas.openxmlformats.org/markup-compatibility/2006">
              <mc:Choice xmlns:v="urn:schemas-microsoft-com:vml" Requires="v">
                <p:oleObj name="Equation" r:id="rId4" imgW="1600200" imgH="431640" progId="Equation.DSMT4">
                  <p:embed/>
                </p:oleObj>
              </mc:Choice>
              <mc:Fallback>
                <p:oleObj name="Equation" r:id="rId4" imgW="1600200" imgH="431640" progId="Equation.DSMT4">
                  <p:embed/>
                  <p:pic>
                    <p:nvPicPr>
                      <p:cNvPr id="5" name="Object 4"/>
                      <p:cNvPicPr/>
                      <p:nvPr/>
                    </p:nvPicPr>
                    <p:blipFill>
                      <a:blip r:embed="rId5"/>
                      <a:stretch>
                        <a:fillRect/>
                      </a:stretch>
                    </p:blipFill>
                    <p:spPr>
                      <a:xfrm>
                        <a:off x="3619913" y="4454333"/>
                        <a:ext cx="2602467" cy="703902"/>
                      </a:xfrm>
                      <a:prstGeom prst="rect">
                        <a:avLst/>
                      </a:prstGeom>
                    </p:spPr>
                  </p:pic>
                </p:oleObj>
              </mc:Fallback>
            </mc:AlternateContent>
          </a:graphicData>
        </a:graphic>
      </p:graphicFrame>
    </p:spTree>
    <p:extLst>
      <p:ext uri="{BB962C8B-B14F-4D97-AF65-F5344CB8AC3E}">
        <p14:creationId xmlns:p14="http://schemas.microsoft.com/office/powerpoint/2010/main" val="25684503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示例：计算余弦相似度</a:t>
            </a:r>
          </a:p>
        </p:txBody>
      </p:sp>
      <p:sp>
        <p:nvSpPr>
          <p:cNvPr id="4100" name="Rectangle 3"/>
          <p:cNvSpPr>
            <a:spLocks noGrp="1" noChangeArrowheads="1"/>
          </p:cNvSpPr>
          <p:nvPr>
            <p:ph type="body" idx="1"/>
          </p:nvPr>
        </p:nvSpPr>
        <p:spPr>
          <a:xfrm>
            <a:off x="552261" y="1170038"/>
            <a:ext cx="11397691" cy="5450312"/>
          </a:xfrm>
        </p:spPr>
        <p:txBody>
          <a:bodyPr/>
          <a:lstStyle/>
          <a:p>
            <a:pPr>
              <a:spcBef>
                <a:spcPts val="1200"/>
              </a:spcBef>
            </a:pPr>
            <a:r>
              <a:rPr lang="en-US" altLang="en-US" sz="2000" dirty="0">
                <a:ea typeface="STKaiti" panose="02010600040101010101" pitchFamily="2" charset="-122"/>
              </a:rPr>
              <a:t>计算余弦相似度：</a:t>
            </a:r>
          </a:p>
          <a:p>
            <a:pPr lvl="1">
              <a:spcBef>
                <a:spcPts val="1200"/>
              </a:spcBef>
            </a:pPr>
            <a:endParaRPr lang="en-US" altLang="en-US" sz="2000" dirty="0">
              <a:ea typeface="STKaiti" panose="02010600040101010101" pitchFamily="2" charset="-122"/>
              <a:cs typeface="Times New Roman" panose="02020603050405020304" pitchFamily="18" charset="0"/>
            </a:endParaRPr>
          </a:p>
          <a:p>
            <a:pPr marL="384165" lvl="2" indent="0" algn="just">
              <a:buNone/>
            </a:pPr>
            <a:r>
              <a:rPr lang="en-US" altLang="en-US" sz="2000" dirty="0">
                <a:ea typeface="STKaiti" panose="02010600040101010101" pitchFamily="2" charset="-122"/>
                <a:cs typeface="Times New Roman" panose="02020603050405020304" pitchFamily="18" charset="0"/>
              </a:rPr>
              <a:t>   其中，</a:t>
            </a:r>
            <a:r>
              <a:rPr lang="en-US" altLang="en-US" sz="2000" dirty="0">
                <a:cs typeface="Times New Roman" panose="02020603050405020304" pitchFamily="18" charset="0"/>
                <a:sym typeface="Symbol" panose="05050102010706020507" pitchFamily="18" charset="2"/>
              </a:rPr>
              <a:t>  </a:t>
            </a:r>
            <a:r>
              <a:rPr lang="en-US" altLang="en-US" sz="2000" dirty="0">
                <a:ea typeface="STKaiti" panose="02010600040101010101" pitchFamily="2" charset="-122"/>
                <a:cs typeface="Times New Roman" panose="02020603050405020304" pitchFamily="18" charset="0"/>
              </a:rPr>
              <a:t>表示向量点积，||d||</a:t>
            </a:r>
            <a:r>
              <a:rPr lang="en-US" altLang="en-US" sz="2000" i="1" dirty="0">
                <a:ea typeface="STKaiti" panose="02010600040101010101" pitchFamily="2" charset="-122"/>
                <a:cs typeface="Times New Roman" panose="02020603050405020304" pitchFamily="18" charset="0"/>
              </a:rPr>
              <a:t>表示</a:t>
            </a:r>
            <a:r>
              <a:rPr lang="en-US" altLang="en-US" sz="2000" dirty="0">
                <a:ea typeface="STKaiti" panose="02010600040101010101" pitchFamily="2" charset="-122"/>
                <a:cs typeface="Times New Roman" panose="02020603050405020304" pitchFamily="18" charset="0"/>
              </a:rPr>
              <a:t>向量d的长度</a:t>
            </a:r>
          </a:p>
          <a:p>
            <a:pPr algn="just"/>
            <a:r>
              <a:rPr lang="en-US" altLang="en-US" sz="2000" dirty="0">
                <a:ea typeface="STKaiti" panose="02010600040101010101" pitchFamily="2" charset="-122"/>
                <a:cs typeface="Times New Roman" panose="02020603050405020304" pitchFamily="18" charset="0"/>
              </a:rPr>
              <a:t>例：计算文档 1 和 2 之间的</a:t>
            </a:r>
            <a:r>
              <a:rPr lang="en-US" altLang="en-US" sz="2000" b="1" dirty="0">
                <a:ea typeface="STKaiti" panose="02010600040101010101" pitchFamily="2" charset="-122"/>
                <a:cs typeface="Times New Roman" panose="02020603050405020304" pitchFamily="18" charset="0"/>
              </a:rPr>
              <a:t>相似度</a:t>
            </a:r>
            <a:r>
              <a:rPr lang="en-US" altLang="en-US" sz="2000" dirty="0">
                <a:ea typeface="STKaiti" panose="02010600040101010101" pitchFamily="2" charset="-122"/>
                <a:cs typeface="Times New Roman" panose="02020603050405020304" pitchFamily="18" charset="0"/>
              </a:rPr>
              <a:t>。</a:t>
            </a:r>
          </a:p>
          <a:p>
            <a:pPr lvl="4" algn="just">
              <a:buNone/>
            </a:pPr>
            <a:r>
              <a:rPr lang="en-US" altLang="en-US" sz="2000" i="1" dirty="0">
                <a:ea typeface="STKaiti" panose="02010600040101010101" pitchFamily="2" charset="-122"/>
                <a:cs typeface="Times New Roman" panose="02020603050405020304" pitchFamily="18" charset="0"/>
              </a:rPr>
              <a:t>d</a:t>
            </a:r>
            <a:r>
              <a:rPr lang="en-US" altLang="en-US" sz="2000" i="1" baseline="-30000" dirty="0">
                <a:ea typeface="STKaiti" panose="02010600040101010101" pitchFamily="2" charset="-122"/>
                <a:cs typeface="Times New Roman" panose="02020603050405020304" pitchFamily="18" charset="0"/>
              </a:rPr>
              <a:t>1</a:t>
            </a:r>
            <a:r>
              <a:rPr lang="en-US" altLang="en-US" sz="2000" b="1" dirty="0">
                <a:ea typeface="STKaiti" panose="02010600040101010101" pitchFamily="2" charset="-122"/>
                <a:cs typeface="Times New Roman" panose="02020603050405020304" pitchFamily="18" charset="0"/>
              </a:rPr>
              <a:t> = </a:t>
            </a:r>
            <a:r>
              <a:rPr lang="en-US" altLang="en-US" sz="2000" dirty="0">
                <a:ea typeface="STKaiti" panose="02010600040101010101" pitchFamily="2" charset="-122"/>
                <a:cs typeface="Times New Roman" panose="02020603050405020304" pitchFamily="18" charset="0"/>
              </a:rPr>
              <a:t>(5, 0, 3, 0, 2, 0, 0, 2, 0, 0) </a:t>
            </a:r>
            <a:r>
              <a:rPr lang="en-US" altLang="en-US" sz="2000" b="1" dirty="0">
                <a:ea typeface="STKaiti" panose="02010600040101010101" pitchFamily="2" charset="-122"/>
                <a:cs typeface="Times New Roman" panose="02020603050405020304" pitchFamily="18" charset="0"/>
              </a:rPr>
              <a:t>         d</a:t>
            </a:r>
            <a:r>
              <a:rPr lang="en-US" altLang="en-US" sz="2000" i="1" baseline="-30000" dirty="0">
                <a:ea typeface="STKaiti" panose="02010600040101010101" pitchFamily="2" charset="-122"/>
                <a:cs typeface="Times New Roman" panose="02020603050405020304" pitchFamily="18" charset="0"/>
              </a:rPr>
              <a:t>2</a:t>
            </a:r>
            <a:r>
              <a:rPr lang="en-US" altLang="en-US" sz="2000" b="1" dirty="0">
                <a:ea typeface="STKaiti" panose="02010600040101010101" pitchFamily="2" charset="-122"/>
                <a:cs typeface="Times New Roman" panose="02020603050405020304" pitchFamily="18" charset="0"/>
              </a:rPr>
              <a:t> = </a:t>
            </a:r>
            <a:r>
              <a:rPr lang="en-US" altLang="en-US" sz="2000" dirty="0">
                <a:ea typeface="STKaiti" panose="02010600040101010101" pitchFamily="2" charset="-122"/>
                <a:cs typeface="Times New Roman" panose="02020603050405020304" pitchFamily="18" charset="0"/>
              </a:rPr>
              <a:t>(3, 0, 2, 0, 1, 1, 0, 1, 0, 1)</a:t>
            </a:r>
          </a:p>
          <a:p>
            <a:pPr lvl="1" algn="just"/>
            <a:r>
              <a:rPr lang="en-US" altLang="en-US" sz="2000" dirty="0">
                <a:ea typeface="STKaiti" panose="02010600040101010101" pitchFamily="2" charset="-122"/>
                <a:cs typeface="Times New Roman" panose="02020603050405020304" pitchFamily="18" charset="0"/>
              </a:rPr>
              <a:t>首先，计算向量点积</a:t>
            </a:r>
          </a:p>
          <a:p>
            <a:pPr lvl="4" algn="just">
              <a:buNone/>
            </a:pPr>
            <a:r>
              <a:rPr lang="en-US" altLang="en-US" sz="2000" dirty="0">
                <a:ea typeface="STKaiti" panose="02010600040101010101" pitchFamily="2" charset="-122"/>
                <a:cs typeface="Times New Roman" panose="02020603050405020304" pitchFamily="18" charset="0"/>
                <a:sym typeface="Symbol" panose="05050102010706020507" pitchFamily="18" charset="2"/>
              </a:rPr>
              <a:t>d</a:t>
            </a:r>
            <a:r>
              <a:rPr lang="en-US" altLang="en-US" sz="2000" i="1" baseline="-30000" dirty="0">
                <a:ea typeface="STKaiti" panose="02010600040101010101" pitchFamily="2" charset="-122"/>
                <a:cs typeface="Times New Roman" panose="02020603050405020304" pitchFamily="18" charset="0"/>
              </a:rPr>
              <a:t>1</a:t>
            </a:r>
            <a:r>
              <a:rPr lang="en-US" altLang="en-US" sz="2000" dirty="0">
                <a:ea typeface="STKaiti" panose="02010600040101010101" pitchFamily="2" charset="-122"/>
                <a:cs typeface="Times New Roman" panose="02020603050405020304" pitchFamily="18" charset="0"/>
              </a:rPr>
              <a:t> </a:t>
            </a:r>
            <a:r>
              <a:rPr lang="en-US" altLang="en-US" sz="2000" dirty="0">
                <a:cs typeface="Times New Roman" panose="02020603050405020304" pitchFamily="18" charset="0"/>
                <a:sym typeface="Symbol" panose="05050102010706020507" pitchFamily="18" charset="2"/>
              </a:rPr>
              <a:t> </a:t>
            </a:r>
            <a:r>
              <a:rPr lang="en-US" altLang="en-US" sz="2000" dirty="0">
                <a:ea typeface="STKaiti" panose="02010600040101010101" pitchFamily="2" charset="-122"/>
                <a:cs typeface="Times New Roman" panose="02020603050405020304" pitchFamily="18" charset="0"/>
              </a:rPr>
              <a:t>d</a:t>
            </a:r>
            <a:r>
              <a:rPr lang="en-US" altLang="en-US" sz="2000" i="1" baseline="-30000" dirty="0">
                <a:ea typeface="STKaiti" panose="02010600040101010101" pitchFamily="2" charset="-122"/>
                <a:cs typeface="Times New Roman" panose="02020603050405020304" pitchFamily="18" charset="0"/>
              </a:rPr>
              <a:t>2 </a:t>
            </a:r>
            <a:r>
              <a:rPr lang="en-US" altLang="en-US" sz="2000" dirty="0">
                <a:ea typeface="STKaiti" panose="02010600040101010101" pitchFamily="2" charset="-122"/>
                <a:cs typeface="Times New Roman" panose="02020603050405020304" pitchFamily="18" charset="0"/>
              </a:rPr>
              <a:t> = 5 × 3 + 0 × 0 + 3 × 2 + 0 × 0 + 2 × 1 + 0 × 1 + 0 × 1 + 2 × 1 + 0 × 0 + 0 × 1 = 25</a:t>
            </a:r>
          </a:p>
          <a:p>
            <a:pPr lvl="1" algn="just"/>
            <a:r>
              <a:rPr lang="en-US" altLang="en-US" sz="2000" dirty="0">
                <a:ea typeface="STKaiti" panose="02010600040101010101" pitchFamily="2" charset="-122"/>
                <a:cs typeface="Times New Roman" panose="02020603050405020304" pitchFamily="18" charset="0"/>
              </a:rPr>
              <a:t>然后，计算 </a:t>
            </a:r>
            <a:r>
              <a:rPr lang="en-US" altLang="en-US" sz="2000" dirty="0">
                <a:cs typeface="Times New Roman" panose="02020603050405020304" pitchFamily="18" charset="0"/>
              </a:rPr>
              <a:t>||</a:t>
            </a:r>
            <a:r>
              <a:rPr lang="en-US" altLang="en-US" sz="2000" i="1" dirty="0">
                <a:cs typeface="Times New Roman" panose="02020603050405020304" pitchFamily="18" charset="0"/>
              </a:rPr>
              <a:t>d</a:t>
            </a:r>
            <a:r>
              <a:rPr lang="en-US" altLang="en-US" sz="2000" i="1" baseline="-30000" dirty="0">
                <a:cs typeface="Times New Roman" panose="02020603050405020304" pitchFamily="18" charset="0"/>
              </a:rPr>
              <a:t>1</a:t>
            </a:r>
            <a:r>
              <a:rPr lang="en-US" altLang="en-US" sz="2000" dirty="0">
                <a:cs typeface="Times New Roman" panose="02020603050405020304" pitchFamily="18" charset="0"/>
              </a:rPr>
              <a:t>|| and ||</a:t>
            </a:r>
            <a:r>
              <a:rPr lang="en-US" altLang="en-US" sz="2000" i="1" dirty="0">
                <a:cs typeface="Times New Roman" panose="02020603050405020304" pitchFamily="18" charset="0"/>
              </a:rPr>
              <a:t>d</a:t>
            </a:r>
            <a:r>
              <a:rPr lang="en-US" altLang="en-US" sz="2000" i="1" baseline="-30000" dirty="0">
                <a:cs typeface="Times New Roman" panose="02020603050405020304" pitchFamily="18" charset="0"/>
              </a:rPr>
              <a:t>2</a:t>
            </a:r>
            <a:r>
              <a:rPr lang="en-US" altLang="en-US" sz="2000" dirty="0">
                <a:cs typeface="Times New Roman" panose="02020603050405020304" pitchFamily="18" charset="0"/>
              </a:rPr>
              <a:t>|| </a:t>
            </a:r>
          </a:p>
          <a:p>
            <a:pPr lvl="1" algn="just"/>
            <a:endParaRPr lang="en-US" altLang="en-US" sz="2000" dirty="0">
              <a:ea typeface="STKaiti" panose="02010600040101010101" pitchFamily="2" charset="-122"/>
              <a:cs typeface="Times New Roman" panose="02020603050405020304" pitchFamily="18" charset="0"/>
            </a:endParaRPr>
          </a:p>
          <a:p>
            <a:pPr lvl="1" algn="just"/>
            <a:endParaRPr lang="en-US" altLang="en-US" sz="2000" dirty="0">
              <a:ea typeface="STKaiti" panose="02010600040101010101" pitchFamily="2" charset="-122"/>
              <a:cs typeface="Times New Roman" panose="02020603050405020304" pitchFamily="18" charset="0"/>
            </a:endParaRPr>
          </a:p>
          <a:p>
            <a:pPr marL="200021" lvl="1" indent="0" algn="just">
              <a:buNone/>
            </a:pPr>
            <a:endParaRPr lang="en-US" altLang="en-US" sz="2000" dirty="0">
              <a:ea typeface="STKaiti" panose="02010600040101010101" pitchFamily="2" charset="-122"/>
              <a:cs typeface="Times New Roman" panose="02020603050405020304" pitchFamily="18" charset="0"/>
            </a:endParaRPr>
          </a:p>
          <a:p>
            <a:pPr marL="200021" lvl="1" indent="0" algn="just">
              <a:buNone/>
            </a:pPr>
            <a:endParaRPr lang="en-US" altLang="en-US" sz="2000" dirty="0">
              <a:ea typeface="STKaiti" panose="02010600040101010101" pitchFamily="2" charset="-122"/>
              <a:cs typeface="Times New Roman" panose="02020603050405020304" pitchFamily="18" charset="0"/>
            </a:endParaRPr>
          </a:p>
          <a:p>
            <a:pPr lvl="1" algn="just"/>
            <a:r>
              <a:rPr lang="en-US" altLang="en-US" sz="2000" dirty="0">
                <a:ea typeface="STKaiti" panose="02010600040101010101" pitchFamily="2" charset="-122"/>
                <a:cs typeface="Times New Roman" panose="02020603050405020304" pitchFamily="18" charset="0"/>
              </a:rPr>
              <a:t>计算余弦相似度： cos(</a:t>
            </a:r>
            <a:r>
              <a:rPr lang="en-US" altLang="en-US" sz="2000" i="1" dirty="0">
                <a:ea typeface="STKaiti" panose="02010600040101010101" pitchFamily="2" charset="-122"/>
                <a:cs typeface="Times New Roman" panose="02020603050405020304" pitchFamily="18" charset="0"/>
              </a:rPr>
              <a:t>d</a:t>
            </a:r>
            <a:r>
              <a:rPr lang="en-US" altLang="en-US" sz="2000" i="1" baseline="-30000" dirty="0">
                <a:ea typeface="STKaiti" panose="02010600040101010101" pitchFamily="2" charset="-122"/>
                <a:cs typeface="Times New Roman" panose="02020603050405020304" pitchFamily="18" charset="0"/>
              </a:rPr>
              <a:t>1</a:t>
            </a:r>
            <a:r>
              <a:rPr lang="en-US" altLang="en-US" sz="2000" i="1" dirty="0">
                <a:ea typeface="STKaiti" panose="02010600040101010101" pitchFamily="2" charset="-122"/>
                <a:cs typeface="Times New Roman" panose="02020603050405020304" pitchFamily="18" charset="0"/>
              </a:rPr>
              <a:t> , </a:t>
            </a:r>
            <a:r>
              <a:rPr lang="en-US" altLang="en-US" sz="2000" dirty="0">
                <a:ea typeface="STKaiti" panose="02010600040101010101" pitchFamily="2" charset="-122"/>
                <a:cs typeface="Times New Roman" panose="02020603050405020304" pitchFamily="18" charset="0"/>
              </a:rPr>
              <a:t>d</a:t>
            </a:r>
            <a:r>
              <a:rPr lang="en-US" altLang="en-US" sz="2000" i="1" baseline="-30000" dirty="0">
                <a:ea typeface="STKaiti" panose="02010600040101010101" pitchFamily="2" charset="-122"/>
                <a:cs typeface="Times New Roman" panose="02020603050405020304" pitchFamily="18" charset="0"/>
              </a:rPr>
              <a:t>2</a:t>
            </a:r>
            <a:r>
              <a:rPr lang="en-US" altLang="en-US" sz="2000" dirty="0">
                <a:ea typeface="STKaiti" panose="02010600040101010101" pitchFamily="2" charset="-122"/>
                <a:cs typeface="Times New Roman" panose="02020603050405020304" pitchFamily="18" charset="0"/>
              </a:rPr>
              <a:t> ) = 25 / (6.481 × 4.12) = 0.94</a:t>
            </a:r>
          </a:p>
        </p:txBody>
      </p:sp>
      <p:graphicFrame>
        <p:nvGraphicFramePr>
          <p:cNvPr id="4" name="Object 3"/>
          <p:cNvGraphicFramePr>
            <a:graphicFrameLocks noChangeAspect="1"/>
          </p:cNvGraphicFramePr>
          <p:nvPr>
            <p:extLst>
              <p:ext uri="{D42A27DB-BD31-4B8C-83A1-F6EECF244321}">
                <p14:modId xmlns:p14="http://schemas.microsoft.com/office/powerpoint/2010/main" val="3395676281"/>
              </p:ext>
            </p:extLst>
          </p:nvPr>
        </p:nvGraphicFramePr>
        <p:xfrm>
          <a:off x="1913053" y="4478639"/>
          <a:ext cx="8075160" cy="416560"/>
        </p:xfrm>
        <a:graphic>
          <a:graphicData uri="http://schemas.openxmlformats.org/presentationml/2006/ole">
            <mc:AlternateContent xmlns:mc="http://schemas.openxmlformats.org/markup-compatibility/2006">
              <mc:Choice xmlns:v="urn:schemas-microsoft-com:vml" Requires="v">
                <p:oleObj name="Equation" r:id="rId3" imgW="4927320" imgH="253800" progId="Equation.DSMT4">
                  <p:embed/>
                </p:oleObj>
              </mc:Choice>
              <mc:Fallback>
                <p:oleObj name="Equation" r:id="rId3" imgW="4927320" imgH="253800" progId="Equation.DSMT4">
                  <p:embed/>
                  <p:pic>
                    <p:nvPicPr>
                      <p:cNvPr id="4" name="Object 3"/>
                      <p:cNvPicPr/>
                      <p:nvPr/>
                    </p:nvPicPr>
                    <p:blipFill>
                      <a:blip r:embed="rId4"/>
                      <a:stretch>
                        <a:fillRect/>
                      </a:stretch>
                    </p:blipFill>
                    <p:spPr>
                      <a:xfrm>
                        <a:off x="1913053" y="4478639"/>
                        <a:ext cx="8075160" cy="41656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4166227095"/>
              </p:ext>
            </p:extLst>
          </p:nvPr>
        </p:nvGraphicFramePr>
        <p:xfrm>
          <a:off x="1913053" y="5195987"/>
          <a:ext cx="7944625" cy="416560"/>
        </p:xfrm>
        <a:graphic>
          <a:graphicData uri="http://schemas.openxmlformats.org/presentationml/2006/ole">
            <mc:AlternateContent xmlns:mc="http://schemas.openxmlformats.org/markup-compatibility/2006">
              <mc:Choice xmlns:v="urn:schemas-microsoft-com:vml" Requires="v">
                <p:oleObj name="Equation" r:id="rId5" imgW="4673520" imgH="253800" progId="Equation.DSMT4">
                  <p:embed/>
                </p:oleObj>
              </mc:Choice>
              <mc:Fallback>
                <p:oleObj name="Equation" r:id="rId5" imgW="4673520" imgH="253800" progId="Equation.DSMT4">
                  <p:embed/>
                  <p:pic>
                    <p:nvPicPr>
                      <p:cNvPr id="5" name="Object 4"/>
                      <p:cNvPicPr/>
                      <p:nvPr/>
                    </p:nvPicPr>
                    <p:blipFill>
                      <a:blip r:embed="rId6"/>
                      <a:stretch>
                        <a:fillRect/>
                      </a:stretch>
                    </p:blipFill>
                    <p:spPr>
                      <a:xfrm>
                        <a:off x="1913053" y="5195987"/>
                        <a:ext cx="7944625" cy="416560"/>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085380171"/>
              </p:ext>
            </p:extLst>
          </p:nvPr>
        </p:nvGraphicFramePr>
        <p:xfrm>
          <a:off x="3403814" y="1245453"/>
          <a:ext cx="2863171" cy="774416"/>
        </p:xfrm>
        <a:graphic>
          <a:graphicData uri="http://schemas.openxmlformats.org/presentationml/2006/ole">
            <mc:AlternateContent xmlns:mc="http://schemas.openxmlformats.org/markup-compatibility/2006">
              <mc:Choice xmlns:v="urn:schemas-microsoft-com:vml" Requires="v">
                <p:oleObj name="Equation" r:id="rId7" imgW="1600200" imgH="431640" progId="Equation.DSMT4">
                  <p:embed/>
                </p:oleObj>
              </mc:Choice>
              <mc:Fallback>
                <p:oleObj name="Equation" r:id="rId7" imgW="1600200" imgH="431640" progId="Equation.DSMT4">
                  <p:embed/>
                  <p:pic>
                    <p:nvPicPr>
                      <p:cNvPr id="7" name="Object 6"/>
                      <p:cNvPicPr/>
                      <p:nvPr/>
                    </p:nvPicPr>
                    <p:blipFill>
                      <a:blip r:embed="rId8"/>
                      <a:stretch>
                        <a:fillRect/>
                      </a:stretch>
                    </p:blipFill>
                    <p:spPr>
                      <a:xfrm>
                        <a:off x="3403814" y="1245453"/>
                        <a:ext cx="2863171" cy="774416"/>
                      </a:xfrm>
                      <a:prstGeom prst="rect">
                        <a:avLst/>
                      </a:prstGeom>
                    </p:spPr>
                  </p:pic>
                </p:oleObj>
              </mc:Fallback>
            </mc:AlternateContent>
          </a:graphicData>
        </a:graphic>
      </p:graphicFrame>
      <p:pic>
        <p:nvPicPr>
          <p:cNvPr id="8" name="Picture 2" descr="http://cs.carleton.edu/cs_comps/0910/netflixprize/final_results/knn/img/knn/cos.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43103" y="997122"/>
            <a:ext cx="4350870" cy="1132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0114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练习</a:t>
            </a:r>
          </a:p>
        </p:txBody>
      </p:sp>
      <p:sp>
        <p:nvSpPr>
          <p:cNvPr id="9" name="TextBox 8">
            <a:extLst>
              <a:ext uri="{FF2B5EF4-FFF2-40B4-BE49-F238E27FC236}">
                <a16:creationId xmlns:a16="http://schemas.microsoft.com/office/drawing/2014/main" id="{12051527-15FB-A399-C5FC-4AD78CFACECA}"/>
              </a:ext>
            </a:extLst>
          </p:cNvPr>
          <p:cNvSpPr txBox="1"/>
          <p:nvPr/>
        </p:nvSpPr>
        <p:spPr>
          <a:xfrm>
            <a:off x="477023" y="1275351"/>
            <a:ext cx="8098263" cy="1846659"/>
          </a:xfrm>
          <a:prstGeom prst="rect">
            <a:avLst/>
          </a:prstGeom>
          <a:noFill/>
        </p:spPr>
        <p:txBody>
          <a:bodyPr wrap="square">
            <a:spAutoFit/>
          </a:bodyPr>
          <a:lstStyle/>
          <a:p>
            <a:r>
              <a:rPr lang="en-US" altLang="zh-CN">
                <a:latin typeface="STKaiti" panose="02010600040101010101" pitchFamily="2" charset="-122"/>
              </a:rPr>
              <a:t>1.</a:t>
            </a:r>
            <a:r>
              <a:rPr lang="zh-CN" altLang="en-US">
                <a:latin typeface="STKaiti" panose="02010600040101010101" pitchFamily="2" charset="-122"/>
              </a:rPr>
              <a:t> </a:t>
            </a:r>
            <a:r>
              <a:rPr lang="ko-Kore-KR" altLang="en-US">
                <a:latin typeface="STKaiti" panose="02010600040101010101" pitchFamily="2" charset="-122"/>
              </a:rPr>
              <a:t>给定两个被元组(22,1,42,10)和(20,0,36,8)表示的对象。</a:t>
            </a:r>
          </a:p>
          <a:p>
            <a:endParaRPr lang="ko-Kore-KR" altLang="en-US">
              <a:latin typeface="STKaiti" panose="02010600040101010101" pitchFamily="2" charset="-122"/>
            </a:endParaRPr>
          </a:p>
          <a:p>
            <a:r>
              <a:rPr lang="ko-Kore-KR" altLang="en-US">
                <a:latin typeface="STKaiti" panose="02010600040101010101" pitchFamily="2" charset="-122"/>
              </a:rPr>
              <a:t>(a)计算这两个对象之间的欧几里得距离。</a:t>
            </a:r>
          </a:p>
          <a:p>
            <a:r>
              <a:rPr lang="ko-Kore-KR" altLang="en-US">
                <a:latin typeface="STKaiti" panose="02010600040101010101" pitchFamily="2" charset="-122"/>
              </a:rPr>
              <a:t>(b)计算这两个对象之间的曼哈顿距离。</a:t>
            </a:r>
          </a:p>
          <a:p>
            <a:r>
              <a:rPr lang="ko-Kore-KR" altLang="en-US">
                <a:latin typeface="STKaiti" panose="02010600040101010101" pitchFamily="2" charset="-122"/>
              </a:rPr>
              <a:t>(c)使用q=3,计算这两个对象之间的闵可夫斯基距离。</a:t>
            </a:r>
          </a:p>
          <a:p>
            <a:r>
              <a:rPr lang="ko-Kore-KR" altLang="en-US">
                <a:latin typeface="STKaiti" panose="02010600040101010101" pitchFamily="2" charset="-122"/>
              </a:rPr>
              <a:t>(d)计算这两个对象之间的上确界距离。</a:t>
            </a:r>
          </a:p>
        </p:txBody>
      </p:sp>
      <p:sp>
        <p:nvSpPr>
          <p:cNvPr id="13" name="TextBox 12">
            <a:extLst>
              <a:ext uri="{FF2B5EF4-FFF2-40B4-BE49-F238E27FC236}">
                <a16:creationId xmlns:a16="http://schemas.microsoft.com/office/drawing/2014/main" id="{6DE55F71-B610-EB2F-3E94-5D3015FB550B}"/>
              </a:ext>
            </a:extLst>
          </p:cNvPr>
          <p:cNvSpPr txBox="1"/>
          <p:nvPr/>
        </p:nvSpPr>
        <p:spPr>
          <a:xfrm>
            <a:off x="711199" y="4992627"/>
            <a:ext cx="11318488" cy="1261884"/>
          </a:xfrm>
          <a:prstGeom prst="rect">
            <a:avLst/>
          </a:prstGeom>
          <a:noFill/>
        </p:spPr>
        <p:txBody>
          <a:bodyPr wrap="square">
            <a:spAutoFit/>
          </a:bodyPr>
          <a:lstStyle/>
          <a:p>
            <a:r>
              <a:rPr lang="ko-Kore-KR" altLang="en-US">
                <a:latin typeface="STKaiti" panose="02010600040101010101" pitchFamily="2" charset="-122"/>
              </a:rPr>
              <a:t>(a)把该数据看做二维数据点。给定一个新数据点x=(1.4,1.6)作为查询点,使用欧几里得距离、 曼哈顿距离、上确界距离和余弦相似性,基于与查询点的相似性对数据库的点排位。</a:t>
            </a:r>
          </a:p>
          <a:p>
            <a:endParaRPr lang="ko-Kore-KR" altLang="en-US">
              <a:latin typeface="STKaiti" panose="02010600040101010101" pitchFamily="2" charset="-122"/>
            </a:endParaRPr>
          </a:p>
          <a:p>
            <a:r>
              <a:rPr lang="ko-Kore-KR" altLang="en-US">
                <a:latin typeface="STKaiti" panose="02010600040101010101" pitchFamily="2" charset="-122"/>
              </a:rPr>
              <a:t>(b)规格化该数据集,使得每个数据点的范数等于1。在变换后的数据上使用欧几里得距离对诸数据点排位。</a:t>
            </a:r>
          </a:p>
        </p:txBody>
      </p:sp>
      <p:pic>
        <p:nvPicPr>
          <p:cNvPr id="14" name="그림 13">
            <a:extLst>
              <a:ext uri="{FF2B5EF4-FFF2-40B4-BE49-F238E27FC236}">
                <a16:creationId xmlns:a16="http://schemas.microsoft.com/office/drawing/2014/main" id="{32FAB5FC-4D77-FEC2-F241-678A0A04D253}"/>
              </a:ext>
            </a:extLst>
          </p:cNvPr>
          <p:cNvPicPr>
            <a:picLocks noChangeAspect="1"/>
          </p:cNvPicPr>
          <p:nvPr/>
        </p:nvPicPr>
        <p:blipFill>
          <a:blip r:embed="rId3"/>
          <a:stretch>
            <a:fillRect/>
          </a:stretch>
        </p:blipFill>
        <p:spPr>
          <a:xfrm>
            <a:off x="7080404" y="2632555"/>
            <a:ext cx="2386981" cy="2438131"/>
          </a:xfrm>
          <a:prstGeom prst="rect">
            <a:avLst/>
          </a:prstGeom>
        </p:spPr>
      </p:pic>
    </p:spTree>
    <p:extLst>
      <p:ext uri="{BB962C8B-B14F-4D97-AF65-F5344CB8AC3E}">
        <p14:creationId xmlns:p14="http://schemas.microsoft.com/office/powerpoint/2010/main" val="6971282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6" name="Picture 4" descr="Image result for K-L diverg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6429" y="1659681"/>
            <a:ext cx="5970063" cy="4340978"/>
          </a:xfrm>
          <a:prstGeom prst="rect">
            <a:avLst/>
          </a:prstGeom>
          <a:noFill/>
          <a:extLst>
            <a:ext uri="{909E8E84-426E-40DD-AFC4-6F175D3DCCD1}">
              <a14:hiddenFill xmlns:a14="http://schemas.microsoft.com/office/drawing/2010/main">
                <a:solidFill>
                  <a:srgbClr val="FFFFFF"/>
                </a:solidFill>
              </a14:hiddenFill>
            </a:ext>
          </a:extLst>
        </p:spPr>
      </p:pic>
      <p:sp>
        <p:nvSpPr>
          <p:cNvPr id="66563" name="Rectangle 2"/>
          <p:cNvSpPr>
            <a:spLocks noGrp="1" noChangeArrowheads="1"/>
          </p:cNvSpPr>
          <p:nvPr>
            <p:ph type="title"/>
          </p:nvPr>
        </p:nvSpPr>
        <p:spPr>
          <a:xfrm>
            <a:off x="0" y="0"/>
            <a:ext cx="12192000" cy="1143000"/>
          </a:xfrm>
        </p:spPr>
        <p:txBody>
          <a:bodyPr vert="horz" lIns="92075" tIns="46038" rIns="92075" bIns="46038" rtlCol="0" anchor="ctr">
            <a:normAutofit/>
          </a:bodyPr>
          <a:lstStyle/>
          <a:p>
            <a:pPr eaLnBrk="1" hangingPunct="1">
              <a:defRPr/>
            </a:pPr>
            <a:r>
              <a:rPr lang="en-US" sz="4200" dirty="0"/>
              <a:t>KL 散度：比较两个概率分布 </a:t>
            </a:r>
          </a:p>
        </p:txBody>
      </p:sp>
      <p:sp>
        <p:nvSpPr>
          <p:cNvPr id="66564" name="Rectangle 3"/>
          <p:cNvSpPr>
            <a:spLocks noGrp="1" noChangeArrowheads="1"/>
          </p:cNvSpPr>
          <p:nvPr>
            <p:ph type="body" idx="1"/>
          </p:nvPr>
        </p:nvSpPr>
        <p:spPr>
          <a:xfrm>
            <a:off x="436468" y="1107140"/>
            <a:ext cx="5735732" cy="5410200"/>
          </a:xfrm>
        </p:spPr>
        <p:txBody>
          <a:bodyPr vert="horz" lIns="92075" tIns="46038" rIns="92075" bIns="46038" rtlCol="0">
            <a:noAutofit/>
          </a:bodyPr>
          <a:lstStyle/>
          <a:p>
            <a:pPr>
              <a:spcBef>
                <a:spcPts val="200"/>
              </a:spcBef>
              <a:defRPr/>
            </a:pPr>
            <a:r>
              <a:rPr lang="en-US" sz="2200" dirty="0" err="1">
                <a:ea typeface="STKaiti" panose="02010600040101010101" pitchFamily="2" charset="-122"/>
              </a:rPr>
              <a:t>库尔巴克-莱布勒</a:t>
            </a:r>
            <a:r>
              <a:rPr lang="en-US" sz="2200" dirty="0">
                <a:ea typeface="STKaiti" panose="02010600040101010101" pitchFamily="2" charset="-122"/>
              </a:rPr>
              <a:t>（KL）散度：衡量两个关于同一变量x的概率分布之间的差异</a:t>
            </a:r>
          </a:p>
          <a:p>
            <a:pPr lvl="1" indent="-342900">
              <a:spcBef>
                <a:spcPts val="200"/>
              </a:spcBef>
              <a:defRPr/>
            </a:pPr>
            <a:r>
              <a:rPr lang="en-US" sz="2200" dirty="0">
                <a:ea typeface="STKaiti" panose="02010600040101010101" pitchFamily="2" charset="-122"/>
              </a:rPr>
              <a:t>来自信息论，与相对熵、信息散度和信息区分度密切相关</a:t>
            </a:r>
          </a:p>
          <a:p>
            <a:pPr>
              <a:spcBef>
                <a:spcPts val="200"/>
              </a:spcBef>
              <a:defRPr/>
            </a:pPr>
            <a:r>
              <a:rPr lang="en-US" sz="2200" dirty="0">
                <a:ea typeface="STKaiti" panose="02010600040101010101" pitchFamily="2" charset="-122"/>
              </a:rPr>
              <a:t>D</a:t>
            </a:r>
            <a:r>
              <a:rPr lang="en-US" sz="2200" baseline="-25000" dirty="0">
                <a:ea typeface="STKaiti" panose="02010600040101010101" pitchFamily="2" charset="-122"/>
              </a:rPr>
              <a:t>KL</a:t>
            </a:r>
            <a:r>
              <a:rPr lang="en-US" sz="2200" dirty="0">
                <a:ea typeface="STKaiti" panose="02010600040101010101" pitchFamily="2" charset="-122"/>
              </a:rPr>
              <a:t> (p(x) || q(x))：q(x) 与 p(x) 之间的散度，衡量使用 q(x) 逼近 p(x) 时丢失的信息量</a:t>
            </a:r>
          </a:p>
        </p:txBody>
      </p:sp>
      <p:pic>
        <p:nvPicPr>
          <p:cNvPr id="6861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2447" y="3676545"/>
            <a:ext cx="3962400" cy="703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3905" y="4866665"/>
            <a:ext cx="4840857" cy="701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569409" y="4202980"/>
            <a:ext cx="1606076" cy="369332"/>
          </a:xfrm>
          <a:prstGeom prst="rect">
            <a:avLst/>
          </a:prstGeom>
          <a:solidFill>
            <a:srgbClr val="92D050"/>
          </a:solidFill>
        </p:spPr>
        <p:txBody>
          <a:bodyPr wrap="square" rtlCol="0">
            <a:spAutoFit/>
          </a:bodyPr>
          <a:lstStyle/>
          <a:p>
            <a:pPr>
              <a:spcBef>
                <a:spcPts val="200"/>
              </a:spcBef>
              <a:defRPr/>
            </a:pPr>
            <a:r>
              <a:rPr lang="en-US" sz="1800" dirty="0">
                <a:latin typeface="STKaiti" panose="02010600040101010101" pitchFamily="2" charset="-122"/>
                <a:ea typeface="STKaiti" panose="02010600040101010101" pitchFamily="2" charset="-122"/>
              </a:rPr>
              <a:t>离散形式</a:t>
            </a:r>
          </a:p>
        </p:txBody>
      </p:sp>
      <p:sp>
        <p:nvSpPr>
          <p:cNvPr id="10" name="TextBox 9"/>
          <p:cNvSpPr txBox="1"/>
          <p:nvPr/>
        </p:nvSpPr>
        <p:spPr>
          <a:xfrm>
            <a:off x="1191103" y="5655190"/>
            <a:ext cx="1931122" cy="400110"/>
          </a:xfrm>
          <a:prstGeom prst="rect">
            <a:avLst/>
          </a:prstGeom>
          <a:solidFill>
            <a:srgbClr val="92D050"/>
          </a:solidFill>
        </p:spPr>
        <p:txBody>
          <a:bodyPr wrap="square" rtlCol="0">
            <a:spAutoFit/>
          </a:bodyPr>
          <a:lstStyle/>
          <a:p>
            <a:pPr>
              <a:spcBef>
                <a:spcPts val="200"/>
              </a:spcBef>
              <a:defRPr/>
            </a:pPr>
            <a:r>
              <a:rPr lang="en-US" sz="2000" dirty="0">
                <a:latin typeface="STKaiti" panose="02010600040101010101" pitchFamily="2" charset="-122"/>
                <a:ea typeface="STKaiti" panose="02010600040101010101" pitchFamily="2" charset="-122"/>
              </a:rPr>
              <a:t>连续形式</a:t>
            </a:r>
          </a:p>
        </p:txBody>
      </p:sp>
      <p:sp>
        <p:nvSpPr>
          <p:cNvPr id="4" name="Down Arrow 3"/>
          <p:cNvSpPr/>
          <p:nvPr/>
        </p:nvSpPr>
        <p:spPr>
          <a:xfrm rot="14375524">
            <a:off x="2116964" y="4186929"/>
            <a:ext cx="380144" cy="317414"/>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rot="8432549">
            <a:off x="872805" y="5421802"/>
            <a:ext cx="380144" cy="317414"/>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37839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0" y="0"/>
            <a:ext cx="8178229" cy="1143000"/>
          </a:xfrm>
        </p:spPr>
        <p:txBody>
          <a:bodyPr vert="horz" lIns="92075" tIns="46038" rIns="92075" bIns="46038" rtlCol="0" anchor="ctr">
            <a:normAutofit/>
          </a:bodyPr>
          <a:lstStyle/>
          <a:p>
            <a:pPr eaLnBrk="1" hangingPunct="1">
              <a:defRPr/>
            </a:pPr>
            <a:r>
              <a:rPr lang="en-US" sz="4200" dirty="0"/>
              <a:t>关于KL散度</a:t>
            </a:r>
          </a:p>
        </p:txBody>
      </p:sp>
      <p:sp>
        <p:nvSpPr>
          <p:cNvPr id="66564" name="Rectangle 3"/>
          <p:cNvSpPr>
            <a:spLocks noGrp="1" noChangeArrowheads="1"/>
          </p:cNvSpPr>
          <p:nvPr>
            <p:ph type="body" idx="1"/>
          </p:nvPr>
        </p:nvSpPr>
        <p:spPr>
          <a:xfrm>
            <a:off x="573742" y="1143000"/>
            <a:ext cx="10994959" cy="5410200"/>
          </a:xfrm>
        </p:spPr>
        <p:txBody>
          <a:bodyPr vert="horz" lIns="92075" tIns="46038" rIns="92075" bIns="46038" rtlCol="0">
            <a:noAutofit/>
          </a:bodyPr>
          <a:lstStyle/>
          <a:p>
            <a:pPr algn="just">
              <a:spcBef>
                <a:spcPts val="200"/>
              </a:spcBef>
              <a:defRPr/>
            </a:pPr>
            <a:r>
              <a:rPr lang="en-US" sz="2400" dirty="0"/>
              <a:t>KL散度衡量使用基于q(x)的编码（q(x)代表对p(x)的理论、模型、描述或近似）来编码来自p(x)（“真实”分布）的样本时，所需额外比特数的期望值。</a:t>
            </a:r>
          </a:p>
          <a:p>
            <a:pPr algn="just">
              <a:spcBef>
                <a:spcPts val="200"/>
              </a:spcBef>
              <a:defRPr/>
            </a:pPr>
            <a:r>
              <a:rPr lang="en-US" sz="2400" dirty="0"/>
              <a:t>KL散度不是距离度量，也不是度量：不对称，不满足三角不等式（D</a:t>
            </a:r>
            <a:r>
              <a:rPr lang="en-US" sz="2400" baseline="-25000" dirty="0"/>
              <a:t>KL</a:t>
            </a:r>
            <a:r>
              <a:rPr lang="en-US" sz="2400" dirty="0"/>
              <a:t> (P‖Q) ≠ D_</a:t>
            </a:r>
            <a:r>
              <a:rPr lang="en-US" sz="2400" baseline="-25000" dirty="0"/>
              <a:t>KL</a:t>
            </a:r>
            <a:r>
              <a:rPr lang="en-US" sz="2400" dirty="0"/>
              <a:t> (Q‖P)）</a:t>
            </a:r>
          </a:p>
          <a:p>
            <a:pPr algn="just"/>
            <a:r>
              <a:rPr lang="en-US" sz="2400" dirty="0"/>
              <a:t>在实际应用中，P通常表示数据、观测值或精确计算的理论分布的“真实”分布，而Q通常表示P的理论、模型、描述或近似。</a:t>
            </a:r>
          </a:p>
          <a:p>
            <a:pPr algn="just"/>
            <a:r>
              <a:rPr lang="en-US" sz="2400" dirty="0"/>
              <a:t>从 Q 到 P 的 </a:t>
            </a:r>
            <a:r>
              <a:rPr lang="en-US" sz="2400" dirty="0" err="1"/>
              <a:t>Kullback–Leibler</a:t>
            </a:r>
            <a:r>
              <a:rPr lang="en-US" sz="2400" dirty="0"/>
              <a:t> 散度，记为 D</a:t>
            </a:r>
            <a:r>
              <a:rPr lang="en-US" sz="2400" baseline="-25000" dirty="0"/>
              <a:t>KL</a:t>
            </a:r>
            <a:r>
              <a:rPr lang="en-US" sz="2400" dirty="0"/>
              <a:t> (P‖Q)，是当一个人从先验概率分布 Q 修改为后验概率分布 P 时所获得的信息量。换句话说，它是当 Q 用于近似 P 时所丢失的信息量。</a:t>
            </a:r>
          </a:p>
          <a:p>
            <a:pPr algn="just"/>
            <a:r>
              <a:rPr lang="en-US" sz="2400" dirty="0"/>
              <a:t>KL散度有时也被称为使用P代替Q时获得的信息增益。它还被称为P相对于Q的相对熵。</a:t>
            </a:r>
          </a:p>
          <a:p>
            <a:pPr algn="just" eaLnBrk="1" hangingPunct="1">
              <a:spcBef>
                <a:spcPts val="200"/>
              </a:spcBef>
              <a:defRPr/>
            </a:pPr>
            <a:endParaRPr lang="en-US" sz="2400" dirty="0"/>
          </a:p>
        </p:txBody>
      </p:sp>
      <p:pic>
        <p:nvPicPr>
          <p:cNvPr id="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6806" y="304680"/>
            <a:ext cx="3962400" cy="703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47629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251012" y="0"/>
            <a:ext cx="11279866" cy="1143000"/>
          </a:xfrm>
        </p:spPr>
        <p:txBody>
          <a:bodyPr vert="horz" lIns="92075" tIns="46038" rIns="92075" bIns="46038" rtlCol="0" anchor="ctr">
            <a:normAutofit/>
          </a:bodyPr>
          <a:lstStyle/>
          <a:p>
            <a:pPr eaLnBrk="1" hangingPunct="1">
              <a:defRPr/>
            </a:pPr>
            <a:r>
              <a:rPr lang="en-US" dirty="0"/>
              <a:t>KL散度计算中的微妙之处</a:t>
            </a:r>
          </a:p>
        </p:txBody>
      </p:sp>
      <p:sp>
        <p:nvSpPr>
          <p:cNvPr id="69636" name="Rectangle 3"/>
          <p:cNvSpPr>
            <a:spLocks noGrp="1" noChangeArrowheads="1"/>
          </p:cNvSpPr>
          <p:nvPr>
            <p:ph type="body" idx="1"/>
          </p:nvPr>
        </p:nvSpPr>
        <p:spPr>
          <a:xfrm>
            <a:off x="528918" y="1065088"/>
            <a:ext cx="11080880" cy="5034629"/>
          </a:xfrm>
          <a:noFill/>
        </p:spPr>
        <p:txBody>
          <a:bodyPr vert="horz" lIns="92075" tIns="46038" rIns="92075" bIns="46038" rtlCol="0">
            <a:noAutofit/>
          </a:bodyPr>
          <a:lstStyle/>
          <a:p>
            <a:pPr>
              <a:spcBef>
                <a:spcPts val="200"/>
              </a:spcBef>
            </a:pPr>
            <a:r>
              <a:rPr lang="en-US" altLang="en-US" sz="2200" dirty="0"/>
              <a:t>根据公式，D</a:t>
            </a:r>
            <a:r>
              <a:rPr lang="en-US" altLang="en-US" sz="2200" baseline="-25000" dirty="0"/>
              <a:t>KL</a:t>
            </a:r>
            <a:r>
              <a:rPr lang="en-US" altLang="en-US" sz="2200" dirty="0"/>
              <a:t> (P, Q) ≥ 0 且 D</a:t>
            </a:r>
            <a:r>
              <a:rPr lang="en-US" altLang="en-US" sz="2200" baseline="-25000" dirty="0"/>
              <a:t>KL</a:t>
            </a:r>
            <a:r>
              <a:rPr lang="en-US" altLang="en-US" sz="2200" dirty="0"/>
              <a:t> (P || Q) = 0 当且仅当 P = Q</a:t>
            </a:r>
          </a:p>
          <a:p>
            <a:pPr>
              <a:spcBef>
                <a:spcPts val="200"/>
              </a:spcBef>
            </a:pPr>
            <a:r>
              <a:rPr lang="en-US" altLang="en-US" sz="2200" dirty="0"/>
              <a:t>当 p = 0 或 q = 0 时，情况如何？</a:t>
            </a:r>
          </a:p>
          <a:p>
            <a:pPr lvl="1">
              <a:spcBef>
                <a:spcPts val="200"/>
              </a:spcBef>
            </a:pPr>
            <a:r>
              <a:rPr lang="en-US" altLang="en-US" sz="2200" dirty="0"/>
              <a:t>lim</a:t>
            </a:r>
            <a:r>
              <a:rPr lang="en-US" altLang="en-US" sz="2200" baseline="-25000" dirty="0"/>
              <a:t>p→0</a:t>
            </a:r>
            <a:r>
              <a:rPr lang="en-US" altLang="en-US" sz="2200" dirty="0"/>
              <a:t> p log p = 0</a:t>
            </a:r>
          </a:p>
          <a:p>
            <a:pPr lvl="1">
              <a:spcBef>
                <a:spcPts val="200"/>
              </a:spcBef>
            </a:pPr>
            <a:r>
              <a:rPr lang="en-US" altLang="en-US" sz="2200" dirty="0"/>
              <a:t>当 p ≠ 0 但 q = 0 时，D</a:t>
            </a:r>
            <a:r>
              <a:rPr lang="en-US" altLang="en-US" sz="2200" baseline="-25000" dirty="0"/>
              <a:t>KL</a:t>
            </a:r>
            <a:r>
              <a:rPr lang="en-US" altLang="en-US" sz="2200" dirty="0"/>
              <a:t> (p || q) 定义为 ∞，即如果一个事件 e 可能发生（即 p(e) &gt; 0），而另一个事件预测其绝对不可能发生（即 q(e) = 0），则两个分布完全不同</a:t>
            </a:r>
          </a:p>
          <a:p>
            <a:pPr>
              <a:spcBef>
                <a:spcPts val="200"/>
              </a:spcBef>
            </a:pPr>
            <a:r>
              <a:rPr lang="en-US" altLang="en-US" sz="2200" dirty="0"/>
              <a:t>然而，在实际中，P 和 Q 来自频率分布，不考虑未观察到的事件的可能性。因此需要进行平滑处理</a:t>
            </a:r>
          </a:p>
          <a:p>
            <a:pPr>
              <a:spcBef>
                <a:spcPts val="200"/>
              </a:spcBef>
            </a:pPr>
            <a:r>
              <a:rPr lang="en-US" altLang="en-US" sz="2200" dirty="0"/>
              <a:t>示例：P : (a : 3/5, b : 1/5, c : 1/5).  Q : (a : 5/9, b : 3/9, d : 1/9)</a:t>
            </a:r>
          </a:p>
          <a:p>
            <a:pPr lvl="1">
              <a:spcBef>
                <a:spcPts val="200"/>
              </a:spcBef>
            </a:pPr>
            <a:r>
              <a:rPr lang="en-US" altLang="en-US" sz="2200" dirty="0"/>
              <a:t>需要引入一个小常数 ϵ，例如 ϵ = 10</a:t>
            </a:r>
            <a:r>
              <a:rPr lang="en-US" altLang="en-US" sz="2200" baseline="30000" dirty="0"/>
              <a:t>−3</a:t>
            </a:r>
          </a:p>
          <a:p>
            <a:pPr lvl="1">
              <a:spcBef>
                <a:spcPts val="200"/>
              </a:spcBef>
            </a:pPr>
            <a:r>
              <a:rPr lang="en-US" altLang="en-US" sz="2200" dirty="0"/>
              <a:t>在 P 中观察到的样本集，SP = {a, b, c}， SQ = {a, b, d}， SU = {a, b, c, d}</a:t>
            </a:r>
          </a:p>
          <a:p>
            <a:pPr lvl="1">
              <a:spcBef>
                <a:spcPts val="200"/>
              </a:spcBef>
            </a:pPr>
            <a:r>
              <a:rPr lang="en-US" altLang="en-US" sz="2200" dirty="0"/>
              <a:t>平滑处理：为每个分布添加缺失符号，概率为 ϵ </a:t>
            </a:r>
          </a:p>
          <a:p>
            <a:pPr lvl="1">
              <a:spcBef>
                <a:spcPts val="200"/>
              </a:spcBef>
            </a:pPr>
            <a:r>
              <a:rPr lang="en-US" altLang="en-US" sz="2200" dirty="0"/>
              <a:t>P′ : (a : 3/5 −</a:t>
            </a:r>
            <a:r>
              <a:rPr lang="el-GR" altLang="en-US" sz="2200" dirty="0"/>
              <a:t> ϵ/3, </a:t>
            </a:r>
            <a:r>
              <a:rPr lang="en-US" altLang="en-US" sz="2200" dirty="0"/>
              <a:t>b : 1/5 −</a:t>
            </a:r>
            <a:r>
              <a:rPr lang="el-GR" altLang="en-US" sz="2200" dirty="0"/>
              <a:t> ϵ/3, </a:t>
            </a:r>
            <a:r>
              <a:rPr lang="en-US" altLang="en-US" sz="2200" dirty="0"/>
              <a:t>c : 1/5 −</a:t>
            </a:r>
            <a:r>
              <a:rPr lang="el-GR" altLang="en-US" sz="2200" dirty="0"/>
              <a:t> ϵ/3, </a:t>
            </a:r>
            <a:r>
              <a:rPr lang="en-US" altLang="en-US" sz="2200" dirty="0"/>
              <a:t>d :</a:t>
            </a:r>
            <a:r>
              <a:rPr lang="el-GR" altLang="en-US" sz="2200" dirty="0"/>
              <a:t> ϵ) </a:t>
            </a:r>
            <a:endParaRPr lang="en-US" altLang="en-US" sz="2200" dirty="0"/>
          </a:p>
          <a:p>
            <a:pPr lvl="1">
              <a:spcBef>
                <a:spcPts val="200"/>
              </a:spcBef>
            </a:pPr>
            <a:r>
              <a:rPr lang="en-US" altLang="en-US" sz="2200" dirty="0"/>
              <a:t>Q′ : (a : 5/9 −</a:t>
            </a:r>
            <a:r>
              <a:rPr lang="el-GR" altLang="en-US" sz="2200" dirty="0"/>
              <a:t> ϵ/3, </a:t>
            </a:r>
            <a:r>
              <a:rPr lang="en-US" altLang="en-US" sz="2200" dirty="0"/>
              <a:t>b : 3/9 − ϵ/3, c : ϵ, d : 1/9 − ϵ/3)</a:t>
            </a:r>
          </a:p>
          <a:p>
            <a:pPr lvl="1">
              <a:spcBef>
                <a:spcPts val="200"/>
              </a:spcBef>
            </a:pPr>
            <a:r>
              <a:rPr lang="en-US" altLang="en-US" sz="2200" dirty="0"/>
              <a:t>D</a:t>
            </a:r>
            <a:r>
              <a:rPr lang="en-US" altLang="en-US" sz="2200" baseline="-25000" dirty="0"/>
              <a:t>KL</a:t>
            </a:r>
            <a:r>
              <a:rPr lang="en-US" altLang="en-US" sz="2200" dirty="0"/>
              <a:t> (P’ || Q’) 然后可以轻松计算出来</a:t>
            </a:r>
          </a:p>
        </p:txBody>
      </p:sp>
      <p:pic>
        <p:nvPicPr>
          <p:cNvPr id="6963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9296" y="1506969"/>
            <a:ext cx="3955446" cy="7011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9891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5" y="390965"/>
            <a:ext cx="11106150" cy="606067"/>
          </a:xfrm>
        </p:spPr>
        <p:txBody>
          <a:bodyPr>
            <a:normAutofit fontScale="90000"/>
          </a:bodyPr>
          <a:lstStyle/>
          <a:p>
            <a:pPr>
              <a:spcAft>
                <a:spcPts val="600"/>
              </a:spcAft>
            </a:pPr>
            <a:r>
              <a:rPr lang="en-US" altLang="en-US" dirty="0"/>
              <a:t>相似性度量中隐含语义的提取</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上述相似性度量无法捕捉隐含语义 </a:t>
            </a:r>
          </a:p>
          <a:p>
            <a:pPr lvl="1">
              <a:spcAft>
                <a:spcPts val="600"/>
              </a:spcAft>
            </a:pPr>
            <a:r>
              <a:rPr lang="en-US" altLang="en-US" dirty="0"/>
              <a:t>以下哪两组词更相似：几何、代数、音乐、政治？</a:t>
            </a:r>
          </a:p>
          <a:p>
            <a:pPr>
              <a:spcAft>
                <a:spcPts val="600"/>
              </a:spcAft>
            </a:pPr>
            <a:r>
              <a:rPr lang="en-US" altLang="en-US" dirty="0"/>
              <a:t>相同的词袋可能表达截然不同的含义 </a:t>
            </a:r>
          </a:p>
          <a:p>
            <a:pPr lvl="1">
              <a:spcAft>
                <a:spcPts val="600"/>
              </a:spcAft>
            </a:pPr>
            <a:r>
              <a:rPr lang="en-US" altLang="en-US" dirty="0"/>
              <a:t>“猫咬老鼠”与“老鼠咬猫”</a:t>
            </a:r>
          </a:p>
          <a:p>
            <a:pPr lvl="1">
              <a:spcAft>
                <a:spcPts val="600"/>
              </a:spcAft>
            </a:pPr>
            <a:r>
              <a:rPr lang="en-US" altLang="en-US" dirty="0"/>
              <a:t>这超出了向量空间模型的处理范围</a:t>
            </a:r>
          </a:p>
          <a:p>
            <a:pPr>
              <a:spcAft>
                <a:spcPts val="600"/>
              </a:spcAft>
            </a:pPr>
            <a:r>
              <a:rPr lang="en-US" altLang="en-US" dirty="0"/>
              <a:t>此外，对象可能由较为复杂的结构和连接组成（例如图和网络）  </a:t>
            </a:r>
          </a:p>
          <a:p>
            <a:pPr>
              <a:spcAft>
                <a:spcPts val="600"/>
              </a:spcAft>
            </a:pPr>
            <a:r>
              <a:rPr lang="en-US" altLang="en-US" dirty="0"/>
              <a:t>需要新的相似性度量方法来处理复杂语义</a:t>
            </a:r>
          </a:p>
          <a:p>
            <a:pPr lvl="1">
              <a:spcAft>
                <a:spcPts val="600"/>
              </a:spcAft>
            </a:pPr>
            <a:r>
              <a:rPr lang="en-US" altLang="en-US" dirty="0"/>
              <a:t>例如：分布式表示与表示学习 </a:t>
            </a:r>
          </a:p>
        </p:txBody>
      </p:sp>
    </p:spTree>
    <p:extLst>
      <p:ext uri="{BB962C8B-B14F-4D97-AF65-F5344CB8AC3E}">
        <p14:creationId xmlns:p14="http://schemas.microsoft.com/office/powerpoint/2010/main" val="34678126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0"/>
            <a:ext cx="11106150" cy="1066800"/>
          </a:xfrm>
        </p:spPr>
        <p:txBody>
          <a:bodyPr>
            <a:normAutofit/>
          </a:bodyPr>
          <a:lstStyle/>
          <a:p>
            <a:r>
              <a:rPr lang="en-US" altLang="en-US" dirty="0"/>
              <a:t>数据质量、数据清洗与数据集成</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数据质量指标 </a:t>
            </a:r>
          </a:p>
          <a:p>
            <a:pPr>
              <a:spcAft>
                <a:spcPts val="600"/>
              </a:spcAft>
            </a:pPr>
            <a:r>
              <a:rPr lang="en-US" altLang="en-US" dirty="0"/>
              <a:t>数据清洗 </a:t>
            </a:r>
          </a:p>
          <a:p>
            <a:pPr>
              <a:spcAft>
                <a:spcPts val="600"/>
              </a:spcAft>
            </a:pPr>
            <a:r>
              <a:rPr lang="en-US" altLang="en-US" dirty="0"/>
              <a:t>数据集成</a:t>
            </a:r>
          </a:p>
        </p:txBody>
      </p:sp>
    </p:spTree>
    <p:extLst>
      <p:ext uri="{BB962C8B-B14F-4D97-AF65-F5344CB8AC3E}">
        <p14:creationId xmlns:p14="http://schemas.microsoft.com/office/powerpoint/2010/main" val="37046006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600891" y="304800"/>
            <a:ext cx="10972800" cy="685800"/>
          </a:xfrm>
        </p:spPr>
        <p:txBody>
          <a:bodyPr>
            <a:normAutofit fontScale="90000"/>
          </a:bodyPr>
          <a:lstStyle/>
          <a:p>
            <a:br>
              <a:rPr lang="en-US" altLang="en-US" dirty="0"/>
            </a:br>
            <a:r>
              <a:rPr lang="en-US" altLang="en-US" sz="4900" dirty="0"/>
              <a:t>什么是数据预处理？ — 主要任务 </a:t>
            </a:r>
            <a:endParaRPr lang="en-US" altLang="en-US" dirty="0"/>
          </a:p>
        </p:txBody>
      </p:sp>
      <p:sp>
        <p:nvSpPr>
          <p:cNvPr id="9220" name="Rectangle 3"/>
          <p:cNvSpPr>
            <a:spLocks noGrp="1" noChangeArrowheads="1"/>
          </p:cNvSpPr>
          <p:nvPr>
            <p:ph type="body" idx="1"/>
          </p:nvPr>
        </p:nvSpPr>
        <p:spPr>
          <a:xfrm>
            <a:off x="600891" y="1243149"/>
            <a:ext cx="10824755" cy="5253446"/>
          </a:xfrm>
        </p:spPr>
        <p:txBody>
          <a:bodyPr/>
          <a:lstStyle/>
          <a:p>
            <a:pPr eaLnBrk="1" hangingPunct="1"/>
            <a:r>
              <a:rPr lang="en-US" altLang="en-US" sz="2400" b="1" dirty="0"/>
              <a:t>数据清洗</a:t>
            </a:r>
          </a:p>
          <a:p>
            <a:pPr lvl="1" eaLnBrk="1" hangingPunct="1"/>
            <a:r>
              <a:rPr lang="en-US" altLang="en-US" sz="2400" dirty="0"/>
              <a:t>处理缺失数据、平滑噪声数据、识别或移除异常值，并解决不一致性</a:t>
            </a:r>
          </a:p>
          <a:p>
            <a:pPr eaLnBrk="1" hangingPunct="1"/>
            <a:r>
              <a:rPr lang="en-US" altLang="en-US" sz="2400" b="1" dirty="0"/>
              <a:t>数据集成</a:t>
            </a:r>
          </a:p>
          <a:p>
            <a:pPr lvl="1" eaLnBrk="1" hangingPunct="1"/>
            <a:r>
              <a:rPr lang="en-US" altLang="en-US" sz="2400" dirty="0"/>
              <a:t>整合多个数据库、数据立方体或文件</a:t>
            </a:r>
          </a:p>
          <a:p>
            <a:pPr eaLnBrk="1" hangingPunct="1"/>
            <a:r>
              <a:rPr lang="en-US" altLang="en-US" sz="2400" b="1" dirty="0"/>
              <a:t>数据压缩</a:t>
            </a:r>
          </a:p>
          <a:p>
            <a:pPr lvl="1" eaLnBrk="1" hangingPunct="1"/>
            <a:r>
              <a:rPr lang="en-US" altLang="en-US" sz="2400" dirty="0"/>
              <a:t>维度缩减</a:t>
            </a:r>
          </a:p>
          <a:p>
            <a:pPr lvl="1" eaLnBrk="1" hangingPunct="1"/>
            <a:r>
              <a:rPr lang="en-US" altLang="en-US" sz="2400" dirty="0" err="1"/>
              <a:t>数值</a:t>
            </a:r>
            <a:r>
              <a:rPr lang="en-US" altLang="en-US" sz="2400" dirty="0"/>
              <a:t>减少</a:t>
            </a:r>
          </a:p>
          <a:p>
            <a:pPr lvl="1" eaLnBrk="1" hangingPunct="1"/>
            <a:r>
              <a:rPr lang="en-US" altLang="en-US" sz="2400" dirty="0"/>
              <a:t>数据压缩</a:t>
            </a:r>
          </a:p>
          <a:p>
            <a:pPr eaLnBrk="1" hangingPunct="1"/>
            <a:r>
              <a:rPr lang="en-US" altLang="en-US" sz="2400" b="1" dirty="0"/>
              <a:t>数据转换与离散化</a:t>
            </a:r>
          </a:p>
          <a:p>
            <a:pPr lvl="1" eaLnBrk="1" hangingPunct="1"/>
            <a:r>
              <a:rPr lang="en-US" altLang="en-US" sz="2400" dirty="0"/>
              <a:t>标准化 </a:t>
            </a:r>
          </a:p>
          <a:p>
            <a:pPr lvl="1" eaLnBrk="1" hangingPunct="1"/>
            <a:r>
              <a:rPr lang="en-US" altLang="en-US" sz="2400" dirty="0"/>
              <a:t>概念层次结构生成</a:t>
            </a:r>
          </a:p>
        </p:txBody>
      </p:sp>
    </p:spTree>
    <p:extLst>
      <p:ext uri="{BB962C8B-B14F-4D97-AF65-F5344CB8AC3E}">
        <p14:creationId xmlns:p14="http://schemas.microsoft.com/office/powerpoint/2010/main" val="2408760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12192000" cy="685800"/>
          </a:xfrm>
        </p:spPr>
        <p:txBody>
          <a:bodyPr>
            <a:noAutofit/>
          </a:bodyPr>
          <a:lstStyle/>
          <a:p>
            <a:r>
              <a:rPr lang="en-US" altLang="en-US" dirty="0"/>
              <a:t>为什么需要预处理数据？——数据质量问题 </a:t>
            </a:r>
          </a:p>
        </p:txBody>
      </p:sp>
      <p:sp>
        <p:nvSpPr>
          <p:cNvPr id="8196" name="Rectangle 3"/>
          <p:cNvSpPr>
            <a:spLocks noGrp="1" noChangeArrowheads="1"/>
          </p:cNvSpPr>
          <p:nvPr>
            <p:ph type="body" idx="1"/>
          </p:nvPr>
        </p:nvSpPr>
        <p:spPr>
          <a:xfrm>
            <a:off x="644434" y="1295399"/>
            <a:ext cx="10850880" cy="5218611"/>
          </a:xfrm>
        </p:spPr>
        <p:txBody>
          <a:bodyPr/>
          <a:lstStyle/>
          <a:p>
            <a:pPr eaLnBrk="1" hangingPunct="1">
              <a:lnSpc>
                <a:spcPct val="140000"/>
              </a:lnSpc>
            </a:pPr>
            <a:r>
              <a:rPr lang="en-US" altLang="en-US" sz="2600" dirty="0"/>
              <a:t>数据质量的措施：多维视角</a:t>
            </a:r>
          </a:p>
          <a:p>
            <a:pPr lvl="1" eaLnBrk="1" hangingPunct="1">
              <a:lnSpc>
                <a:spcPct val="140000"/>
              </a:lnSpc>
            </a:pPr>
            <a:r>
              <a:rPr lang="en-US" altLang="en-US" sz="2600" dirty="0"/>
              <a:t>准确性：正确与错误，准确与不准确</a:t>
            </a:r>
          </a:p>
          <a:p>
            <a:pPr lvl="1" eaLnBrk="1" hangingPunct="1">
              <a:lnSpc>
                <a:spcPct val="140000"/>
              </a:lnSpc>
            </a:pPr>
            <a:r>
              <a:rPr lang="en-US" altLang="en-US" sz="2600" dirty="0"/>
              <a:t>完整性：未记录、不可用等</a:t>
            </a:r>
          </a:p>
          <a:p>
            <a:pPr lvl="1" eaLnBrk="1" hangingPunct="1">
              <a:lnSpc>
                <a:spcPct val="140000"/>
              </a:lnSpc>
            </a:pPr>
            <a:r>
              <a:rPr lang="en-US" altLang="en-US" sz="2600" dirty="0"/>
              <a:t>一致性：部分修改而部分未修改、悬空等</a:t>
            </a:r>
          </a:p>
          <a:p>
            <a:pPr lvl="1" eaLnBrk="1" hangingPunct="1">
              <a:lnSpc>
                <a:spcPct val="140000"/>
              </a:lnSpc>
            </a:pPr>
            <a:r>
              <a:rPr lang="en-US" altLang="en-US" sz="2600" dirty="0"/>
              <a:t>及时性：是否及时更新？ </a:t>
            </a:r>
          </a:p>
          <a:p>
            <a:pPr lvl="1" eaLnBrk="1" hangingPunct="1">
              <a:lnSpc>
                <a:spcPct val="140000"/>
              </a:lnSpc>
            </a:pPr>
            <a:r>
              <a:rPr lang="en-US" altLang="en-US" sz="2600" dirty="0"/>
              <a:t>可信度：数据的正确性有多可靠？</a:t>
            </a:r>
          </a:p>
          <a:p>
            <a:pPr lvl="1" eaLnBrk="1" hangingPunct="1">
              <a:lnSpc>
                <a:spcPct val="140000"/>
              </a:lnSpc>
            </a:pPr>
            <a:r>
              <a:rPr lang="en-US" altLang="en-US" sz="2600" dirty="0"/>
              <a:t>可解释性：数据是否易于理解？</a:t>
            </a:r>
          </a:p>
        </p:txBody>
      </p:sp>
    </p:spTree>
    <p:extLst>
      <p:ext uri="{BB962C8B-B14F-4D97-AF65-F5344CB8AC3E}">
        <p14:creationId xmlns:p14="http://schemas.microsoft.com/office/powerpoint/2010/main" val="31238391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ltLang="en-US" dirty="0"/>
              <a:t>数据清洗</a:t>
            </a:r>
          </a:p>
        </p:txBody>
      </p:sp>
      <p:sp>
        <p:nvSpPr>
          <p:cNvPr id="11268" name="Rectangle 3"/>
          <p:cNvSpPr>
            <a:spLocks noGrp="1" noChangeArrowheads="1"/>
          </p:cNvSpPr>
          <p:nvPr>
            <p:ph type="body" idx="1"/>
          </p:nvPr>
        </p:nvSpPr>
        <p:spPr>
          <a:xfrm>
            <a:off x="618309" y="1219200"/>
            <a:ext cx="10850880" cy="5384800"/>
          </a:xfrm>
        </p:spPr>
        <p:txBody>
          <a:bodyPr/>
          <a:lstStyle/>
          <a:p>
            <a:pPr eaLnBrk="1" hangingPunct="1"/>
            <a:r>
              <a:rPr lang="en-US" altLang="en-US" sz="2200" dirty="0"/>
              <a:t>现实世界中的数据是脏的：存在大量潜在错误的数据，例如仪器故障、人为或计算机错误以及传输错误</a:t>
            </a:r>
          </a:p>
          <a:p>
            <a:pPr lvl="1" eaLnBrk="1" hangingPunct="1"/>
            <a:r>
              <a:rPr lang="en-US" altLang="en-US" sz="2200" u="sng" dirty="0"/>
              <a:t>不完整</a:t>
            </a:r>
            <a:r>
              <a:rPr lang="en-US" altLang="en-US" sz="2200" dirty="0"/>
              <a:t>：缺少属性值、缺少某些感兴趣的属性，或仅包含汇总数据</a:t>
            </a:r>
          </a:p>
          <a:p>
            <a:pPr lvl="2" eaLnBrk="1" hangingPunct="1"/>
            <a:r>
              <a:rPr lang="en-US" altLang="en-US" sz="2200" dirty="0"/>
              <a:t>例如，</a:t>
            </a:r>
            <a:r>
              <a:rPr lang="en-US" altLang="en-US" sz="2200" i="1" dirty="0"/>
              <a:t>职业 </a:t>
            </a:r>
            <a:r>
              <a:rPr lang="en-US" altLang="en-US" sz="2200" dirty="0"/>
              <a:t>= “ ”（缺失数据）</a:t>
            </a:r>
          </a:p>
          <a:p>
            <a:pPr lvl="1" eaLnBrk="1" hangingPunct="1"/>
            <a:r>
              <a:rPr lang="en-US" altLang="en-US" sz="2200" u="sng" dirty="0"/>
              <a:t>噪声</a:t>
            </a:r>
            <a:r>
              <a:rPr lang="en-US" altLang="en-US" sz="2200" dirty="0"/>
              <a:t>：包含噪声、错误或异常值</a:t>
            </a:r>
          </a:p>
          <a:p>
            <a:pPr lvl="2" eaLnBrk="1" hangingPunct="1"/>
            <a:r>
              <a:rPr lang="en-US" altLang="en-US" sz="2200" dirty="0"/>
              <a:t>例如，</a:t>
            </a:r>
            <a:r>
              <a:rPr lang="en-US" altLang="en-US" sz="2200" i="1" dirty="0"/>
              <a:t>薪资 </a:t>
            </a:r>
            <a:r>
              <a:rPr lang="en-US" altLang="en-US" sz="2200" dirty="0"/>
              <a:t>= “−10”（错误）</a:t>
            </a:r>
          </a:p>
          <a:p>
            <a:pPr lvl="1" eaLnBrk="1" hangingPunct="1"/>
            <a:r>
              <a:rPr lang="en-US" altLang="en-US" sz="2200" u="sng" dirty="0"/>
              <a:t>不一致</a:t>
            </a:r>
            <a:r>
              <a:rPr lang="en-US" altLang="en-US" sz="2200" dirty="0"/>
              <a:t>：包含代码或名称不一致的情况，例如</a:t>
            </a:r>
          </a:p>
          <a:p>
            <a:pPr lvl="2" eaLnBrk="1" hangingPunct="1"/>
            <a:r>
              <a:rPr lang="en-US" altLang="en-US" sz="2200" i="1" dirty="0"/>
              <a:t>年龄 </a:t>
            </a:r>
            <a:r>
              <a:rPr lang="en-US" altLang="en-US" sz="2200" dirty="0"/>
              <a:t>= “42”，</a:t>
            </a:r>
            <a:r>
              <a:rPr lang="en-US" altLang="en-US" sz="2200" i="1" dirty="0"/>
              <a:t>生日 </a:t>
            </a:r>
            <a:r>
              <a:rPr lang="en-US" altLang="en-US" sz="2200" dirty="0"/>
              <a:t>= “03/07/2010”</a:t>
            </a:r>
          </a:p>
          <a:p>
            <a:pPr lvl="2" eaLnBrk="1" hangingPunct="1"/>
            <a:r>
              <a:rPr lang="en-US" altLang="en-US" sz="2200" dirty="0"/>
              <a:t>原评分“1, 2, 3”，现评分“A, B, C”</a:t>
            </a:r>
          </a:p>
          <a:p>
            <a:pPr lvl="2" eaLnBrk="1" hangingPunct="1"/>
            <a:r>
              <a:rPr lang="en-US" altLang="en-US" sz="2200" dirty="0"/>
              <a:t>重复记录之间的差异</a:t>
            </a:r>
          </a:p>
          <a:p>
            <a:pPr lvl="1" eaLnBrk="1" hangingPunct="1"/>
            <a:r>
              <a:rPr lang="en-US" altLang="en-US" sz="2200" u="sng" dirty="0"/>
              <a:t>故意</a:t>
            </a:r>
            <a:r>
              <a:rPr lang="en-US" altLang="en-US" sz="2200" dirty="0"/>
              <a:t>（例如，</a:t>
            </a:r>
            <a:r>
              <a:rPr lang="en-US" altLang="en-US" sz="2200" i="1" dirty="0"/>
              <a:t>伪装缺失</a:t>
            </a:r>
            <a:r>
              <a:rPr lang="en-US" altLang="en-US" sz="2200" dirty="0"/>
              <a:t>数据）</a:t>
            </a:r>
          </a:p>
          <a:p>
            <a:pPr lvl="2" eaLnBrk="1" hangingPunct="1"/>
            <a:r>
              <a:rPr lang="en-US" altLang="en-US" sz="2200" dirty="0"/>
              <a:t>1月1日作为所有人的生日？</a:t>
            </a:r>
          </a:p>
        </p:txBody>
      </p:sp>
    </p:spTree>
    <p:extLst>
      <p:ext uri="{BB962C8B-B14F-4D97-AF65-F5344CB8AC3E}">
        <p14:creationId xmlns:p14="http://schemas.microsoft.com/office/powerpoint/2010/main" val="3885615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2393950" y="304800"/>
            <a:ext cx="7169150" cy="609600"/>
          </a:xfrm>
        </p:spPr>
        <p:txBody>
          <a:bodyPr>
            <a:noAutofit/>
          </a:bodyPr>
          <a:lstStyle/>
          <a:p>
            <a:pPr eaLnBrk="1" hangingPunct="1"/>
            <a:r>
              <a:rPr lang="en-US" altLang="en-US" dirty="0"/>
              <a:t>不完整（缺失）数据</a:t>
            </a:r>
          </a:p>
        </p:txBody>
      </p:sp>
      <p:sp>
        <p:nvSpPr>
          <p:cNvPr id="12292" name="Rectangle 3"/>
          <p:cNvSpPr>
            <a:spLocks noGrp="1" noChangeArrowheads="1"/>
          </p:cNvSpPr>
          <p:nvPr>
            <p:ph type="body" idx="1"/>
          </p:nvPr>
        </p:nvSpPr>
        <p:spPr>
          <a:xfrm>
            <a:off x="574766" y="1371600"/>
            <a:ext cx="10824754" cy="5105400"/>
          </a:xfrm>
        </p:spPr>
        <p:txBody>
          <a:bodyPr/>
          <a:lstStyle/>
          <a:p>
            <a:pPr eaLnBrk="1" hangingPunct="1">
              <a:lnSpc>
                <a:spcPct val="110000"/>
              </a:lnSpc>
            </a:pPr>
            <a:r>
              <a:rPr lang="en-US" altLang="en-US" sz="2400" dirty="0"/>
              <a:t>数据并非总是可用</a:t>
            </a:r>
          </a:p>
          <a:p>
            <a:pPr lvl="1" eaLnBrk="1" hangingPunct="1">
              <a:lnSpc>
                <a:spcPct val="110000"/>
              </a:lnSpc>
            </a:pPr>
            <a:r>
              <a:rPr lang="en-US" altLang="en-US" sz="2400" dirty="0"/>
              <a:t>例如，许多元组缺少多个属性的记录值，如销售数据中的客户收入</a:t>
            </a:r>
          </a:p>
          <a:p>
            <a:pPr eaLnBrk="1" hangingPunct="1">
              <a:lnSpc>
                <a:spcPct val="110000"/>
              </a:lnSpc>
            </a:pPr>
            <a:r>
              <a:rPr lang="en-US" altLang="en-US" sz="2400" dirty="0"/>
              <a:t>缺失数据可能由以下原因导致 </a:t>
            </a:r>
          </a:p>
          <a:p>
            <a:pPr lvl="1" eaLnBrk="1" hangingPunct="1">
              <a:lnSpc>
                <a:spcPct val="110000"/>
              </a:lnSpc>
            </a:pPr>
            <a:r>
              <a:rPr lang="en-US" altLang="en-US" sz="2400" dirty="0"/>
              <a:t>设备故障</a:t>
            </a:r>
          </a:p>
          <a:p>
            <a:pPr lvl="1" eaLnBrk="1" hangingPunct="1">
              <a:lnSpc>
                <a:spcPct val="110000"/>
              </a:lnSpc>
            </a:pPr>
            <a:r>
              <a:rPr lang="en-US" altLang="en-US" sz="2400" dirty="0"/>
              <a:t>与其他记录数据不一致，因此被删除</a:t>
            </a:r>
          </a:p>
          <a:p>
            <a:pPr lvl="1" eaLnBrk="1" hangingPunct="1">
              <a:lnSpc>
                <a:spcPct val="110000"/>
              </a:lnSpc>
            </a:pPr>
            <a:r>
              <a:rPr lang="en-US" altLang="en-US" sz="2400" dirty="0"/>
              <a:t>因误解而未录入数据</a:t>
            </a:r>
          </a:p>
          <a:p>
            <a:pPr lvl="1" eaLnBrk="1" hangingPunct="1">
              <a:lnSpc>
                <a:spcPct val="110000"/>
              </a:lnSpc>
            </a:pPr>
            <a:r>
              <a:rPr lang="en-US" altLang="en-US" sz="2400" dirty="0"/>
              <a:t>某些数据在录入时可能未被视为重要</a:t>
            </a:r>
          </a:p>
          <a:p>
            <a:pPr lvl="1" eaLnBrk="1" hangingPunct="1">
              <a:lnSpc>
                <a:spcPct val="110000"/>
              </a:lnSpc>
            </a:pPr>
            <a:r>
              <a:rPr lang="en-US" altLang="en-US" sz="2400" dirty="0"/>
              <a:t>未记录数据的历史记录或变更</a:t>
            </a:r>
          </a:p>
          <a:p>
            <a:pPr eaLnBrk="1" hangingPunct="1">
              <a:lnSpc>
                <a:spcPct val="110000"/>
              </a:lnSpc>
            </a:pPr>
            <a:r>
              <a:rPr lang="en-US" altLang="en-US" sz="2400" dirty="0"/>
              <a:t>缺失数据可能需要推断</a:t>
            </a:r>
          </a:p>
        </p:txBody>
      </p:sp>
    </p:spTree>
    <p:extLst>
      <p:ext uri="{BB962C8B-B14F-4D97-AF65-F5344CB8AC3E}">
        <p14:creationId xmlns:p14="http://schemas.microsoft.com/office/powerpoint/2010/main" val="29295465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2286000" y="228600"/>
            <a:ext cx="7543800" cy="762000"/>
          </a:xfrm>
        </p:spPr>
        <p:txBody>
          <a:bodyPr/>
          <a:lstStyle/>
          <a:p>
            <a:pPr eaLnBrk="1" hangingPunct="1"/>
            <a:r>
              <a:rPr lang="en-US" altLang="en-US" dirty="0"/>
              <a:t>如何处理缺失数据？</a:t>
            </a:r>
          </a:p>
        </p:txBody>
      </p:sp>
      <p:sp>
        <p:nvSpPr>
          <p:cNvPr id="13316" name="Rectangle 3"/>
          <p:cNvSpPr>
            <a:spLocks noGrp="1" noChangeArrowheads="1"/>
          </p:cNvSpPr>
          <p:nvPr>
            <p:ph type="body" idx="1"/>
          </p:nvPr>
        </p:nvSpPr>
        <p:spPr>
          <a:xfrm>
            <a:off x="583473" y="1295400"/>
            <a:ext cx="10929257" cy="5257800"/>
          </a:xfrm>
        </p:spPr>
        <p:txBody>
          <a:bodyPr/>
          <a:lstStyle/>
          <a:p>
            <a:pPr eaLnBrk="1" hangingPunct="1">
              <a:lnSpc>
                <a:spcPct val="120000"/>
              </a:lnSpc>
            </a:pPr>
            <a:r>
              <a:rPr lang="en-US" altLang="en-US" sz="2400" dirty="0"/>
              <a:t>忽略缺失的元组：通常在分类任务中使用（当类别标签缺失时）——当属性中缺失值的百分比差异较大时效果不佳</a:t>
            </a:r>
          </a:p>
          <a:p>
            <a:pPr eaLnBrk="1" hangingPunct="1">
              <a:lnSpc>
                <a:spcPct val="120000"/>
              </a:lnSpc>
            </a:pPr>
            <a:r>
              <a:rPr lang="en-US" altLang="en-US" sz="2400" dirty="0"/>
              <a:t>手动填充缺失值：繁琐且不切实际？</a:t>
            </a:r>
          </a:p>
          <a:p>
            <a:pPr eaLnBrk="1" hangingPunct="1">
              <a:lnSpc>
                <a:spcPct val="120000"/>
              </a:lnSpc>
            </a:pPr>
            <a:r>
              <a:rPr lang="en-US" altLang="en-US" sz="2400" dirty="0"/>
              <a:t>自动填充缺失值：</a:t>
            </a:r>
          </a:p>
          <a:p>
            <a:pPr lvl="1" eaLnBrk="1" hangingPunct="1">
              <a:lnSpc>
                <a:spcPct val="120000"/>
              </a:lnSpc>
            </a:pPr>
            <a:r>
              <a:rPr lang="en-US" altLang="en-US" sz="2400" dirty="0"/>
              <a:t>全局常量：例如“未知”，或创建新类别？！ </a:t>
            </a:r>
          </a:p>
          <a:p>
            <a:pPr lvl="1" eaLnBrk="1" hangingPunct="1">
              <a:lnSpc>
                <a:spcPct val="120000"/>
              </a:lnSpc>
            </a:pPr>
            <a:r>
              <a:rPr lang="en-US" altLang="en-US" sz="2400" dirty="0"/>
              <a:t>属性均值</a:t>
            </a:r>
          </a:p>
          <a:p>
            <a:pPr lvl="1" eaLnBrk="1" hangingPunct="1">
              <a:lnSpc>
                <a:spcPct val="120000"/>
              </a:lnSpc>
            </a:pPr>
            <a:r>
              <a:rPr lang="en-US" altLang="en-US" sz="2400" dirty="0"/>
              <a:t>同一类所有样本的属性均值：更智能</a:t>
            </a:r>
          </a:p>
          <a:p>
            <a:pPr lvl="1" eaLnBrk="1" hangingPunct="1">
              <a:lnSpc>
                <a:spcPct val="120000"/>
              </a:lnSpc>
            </a:pPr>
            <a:r>
              <a:rPr lang="en-US" altLang="en-US" sz="2400" b="1" dirty="0"/>
              <a:t>最可能的值：基于推理的方法，如贝叶斯公式或决策树</a:t>
            </a:r>
          </a:p>
        </p:txBody>
      </p:sp>
    </p:spTree>
    <p:extLst>
      <p:ext uri="{BB962C8B-B14F-4D97-AF65-F5344CB8AC3E}">
        <p14:creationId xmlns:p14="http://schemas.microsoft.com/office/powerpoint/2010/main" val="11292484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idx="4294967295"/>
          </p:nvPr>
        </p:nvSpPr>
        <p:spPr>
          <a:xfrm>
            <a:off x="3200400" y="228600"/>
            <a:ext cx="5638800" cy="762000"/>
          </a:xfrm>
        </p:spPr>
        <p:txBody>
          <a:bodyPr/>
          <a:lstStyle/>
          <a:p>
            <a:pPr eaLnBrk="1" hangingPunct="1"/>
            <a:r>
              <a:rPr lang="en-US" altLang="en-US" dirty="0"/>
              <a:t>噪声数据</a:t>
            </a:r>
          </a:p>
        </p:txBody>
      </p:sp>
      <p:sp>
        <p:nvSpPr>
          <p:cNvPr id="14340" name="Rectangle 3"/>
          <p:cNvSpPr>
            <a:spLocks noGrp="1" noChangeArrowheads="1"/>
          </p:cNvSpPr>
          <p:nvPr>
            <p:ph type="body" idx="4294967295"/>
          </p:nvPr>
        </p:nvSpPr>
        <p:spPr>
          <a:xfrm>
            <a:off x="609599" y="1371600"/>
            <a:ext cx="10842171" cy="4953000"/>
          </a:xfrm>
        </p:spPr>
        <p:txBody>
          <a:bodyPr/>
          <a:lstStyle/>
          <a:p>
            <a:pPr eaLnBrk="1" hangingPunct="1"/>
            <a:r>
              <a:rPr lang="en-US" altLang="en-US" b="1" dirty="0">
                <a:ea typeface="STKaiti" panose="02010600040101010101" pitchFamily="2" charset="-122"/>
              </a:rPr>
              <a:t>噪声：</a:t>
            </a:r>
            <a:r>
              <a:rPr lang="en-US" altLang="en-US" dirty="0">
                <a:ea typeface="STKaiti" panose="02010600040101010101" pitchFamily="2" charset="-122"/>
              </a:rPr>
              <a:t>测量变量中的随机误差或方差</a:t>
            </a:r>
          </a:p>
          <a:p>
            <a:pPr eaLnBrk="1" hangingPunct="1"/>
            <a:r>
              <a:rPr lang="en-US" altLang="en-US" b="1" dirty="0">
                <a:ea typeface="STKaiti" panose="02010600040101010101" pitchFamily="2" charset="-122"/>
              </a:rPr>
              <a:t>属性值不正确</a:t>
            </a:r>
            <a:r>
              <a:rPr lang="en-US" altLang="en-US" dirty="0">
                <a:ea typeface="STKaiti" panose="02010600040101010101" pitchFamily="2" charset="-122"/>
              </a:rPr>
              <a:t>可能由以下原因导致</a:t>
            </a:r>
          </a:p>
          <a:p>
            <a:pPr lvl="1" eaLnBrk="1" hangingPunct="1"/>
            <a:r>
              <a:rPr lang="en-US" altLang="en-US" dirty="0">
                <a:ea typeface="STKaiti" panose="02010600040101010101" pitchFamily="2" charset="-122"/>
              </a:rPr>
              <a:t>数据采集仪器故障</a:t>
            </a:r>
          </a:p>
          <a:p>
            <a:pPr lvl="1" eaLnBrk="1" hangingPunct="1"/>
            <a:r>
              <a:rPr lang="en-US" altLang="en-US" dirty="0">
                <a:ea typeface="STKaiti" panose="02010600040101010101" pitchFamily="2" charset="-122"/>
              </a:rPr>
              <a:t>数据录入问题</a:t>
            </a:r>
          </a:p>
          <a:p>
            <a:pPr lvl="1" eaLnBrk="1" hangingPunct="1"/>
            <a:r>
              <a:rPr lang="en-US" altLang="en-US" dirty="0">
                <a:ea typeface="STKaiti" panose="02010600040101010101" pitchFamily="2" charset="-122"/>
              </a:rPr>
              <a:t>数据传输问题</a:t>
            </a:r>
          </a:p>
          <a:p>
            <a:pPr lvl="1" eaLnBrk="1" hangingPunct="1"/>
            <a:r>
              <a:rPr lang="en-US" altLang="en-US" dirty="0">
                <a:ea typeface="STKaiti" panose="02010600040101010101" pitchFamily="2" charset="-122"/>
              </a:rPr>
              <a:t>技术限制</a:t>
            </a:r>
          </a:p>
          <a:p>
            <a:pPr lvl="1" eaLnBrk="1" hangingPunct="1"/>
            <a:r>
              <a:rPr lang="en-US" altLang="en-US" dirty="0">
                <a:ea typeface="STKaiti" panose="02010600040101010101" pitchFamily="2" charset="-122"/>
              </a:rPr>
              <a:t>命名规范不一致 </a:t>
            </a:r>
          </a:p>
          <a:p>
            <a:pPr eaLnBrk="1" hangingPunct="1"/>
            <a:r>
              <a:rPr lang="en-US" altLang="en-US" b="1" dirty="0">
                <a:ea typeface="STKaiti" panose="02010600040101010101" pitchFamily="2" charset="-122"/>
              </a:rPr>
              <a:t>其他数据问题</a:t>
            </a:r>
          </a:p>
          <a:p>
            <a:pPr lvl="1" eaLnBrk="1" hangingPunct="1"/>
            <a:r>
              <a:rPr lang="en-US" altLang="en-US" dirty="0">
                <a:ea typeface="STKaiti" panose="02010600040101010101" pitchFamily="2" charset="-122"/>
              </a:rPr>
              <a:t>重复记录</a:t>
            </a:r>
          </a:p>
          <a:p>
            <a:pPr lvl="1" eaLnBrk="1" hangingPunct="1"/>
            <a:r>
              <a:rPr lang="en-US" altLang="en-US" dirty="0">
                <a:ea typeface="STKaiti" panose="02010600040101010101" pitchFamily="2" charset="-122"/>
              </a:rPr>
              <a:t>数据不完整</a:t>
            </a:r>
          </a:p>
          <a:p>
            <a:pPr lvl="1" eaLnBrk="1" hangingPunct="1"/>
            <a:r>
              <a:rPr lang="en-US" altLang="en-US" dirty="0">
                <a:ea typeface="STKaiti" panose="02010600040101010101" pitchFamily="2" charset="-122"/>
              </a:rPr>
              <a:t>数据不一致</a:t>
            </a:r>
          </a:p>
        </p:txBody>
      </p:sp>
    </p:spTree>
    <p:extLst>
      <p:ext uri="{BB962C8B-B14F-4D97-AF65-F5344CB8AC3E}">
        <p14:creationId xmlns:p14="http://schemas.microsoft.com/office/powerpoint/2010/main" val="31972153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如何处理噪声数据？</a:t>
            </a:r>
          </a:p>
        </p:txBody>
      </p:sp>
      <p:sp>
        <p:nvSpPr>
          <p:cNvPr id="15364" name="Rectangle 3"/>
          <p:cNvSpPr>
            <a:spLocks noGrp="1" noChangeArrowheads="1"/>
          </p:cNvSpPr>
          <p:nvPr>
            <p:ph type="body" idx="1"/>
          </p:nvPr>
        </p:nvSpPr>
        <p:spPr>
          <a:xfrm>
            <a:off x="618308" y="1371600"/>
            <a:ext cx="11413857" cy="5029200"/>
          </a:xfrm>
        </p:spPr>
        <p:txBody>
          <a:bodyPr/>
          <a:lstStyle/>
          <a:p>
            <a:pPr eaLnBrk="1" hangingPunct="1"/>
            <a:r>
              <a:rPr lang="ko-KR" altLang="en-US" sz="2400" dirty="0">
                <a:ea typeface="STKaiti" panose="02010600040101010101" pitchFamily="2" charset="-122"/>
              </a:rPr>
              <a:t>分箱</a:t>
            </a:r>
            <a:r>
              <a:rPr lang="zh-CN" altLang="en-US" sz="2400" dirty="0"/>
              <a:t>（</a:t>
            </a:r>
            <a:r>
              <a:rPr lang="en" altLang="zh-CN" sz="2400" dirty="0"/>
              <a:t>Binning</a:t>
            </a:r>
            <a:r>
              <a:rPr lang="zh-CN" altLang="en-US" sz="2400" dirty="0"/>
              <a:t>）</a:t>
            </a:r>
            <a:endParaRPr lang="en-US" altLang="en-US" sz="2400" dirty="0"/>
          </a:p>
          <a:p>
            <a:pPr lvl="1" eaLnBrk="1" hangingPunct="1"/>
            <a:r>
              <a:rPr lang="en-US" altLang="en-US" sz="2400" dirty="0"/>
              <a:t>首先对数据进行排序并划分为（等频）分箱</a:t>
            </a:r>
          </a:p>
          <a:p>
            <a:pPr lvl="1" eaLnBrk="1" hangingPunct="1"/>
            <a:r>
              <a:rPr lang="en-US" altLang="en-US" sz="2400" dirty="0"/>
              <a:t>然后可以</a:t>
            </a:r>
            <a:r>
              <a:rPr lang="en-US" altLang="en-US" sz="2400" b="1" dirty="0"/>
              <a:t>采用箱均值平滑、箱中位数平滑、箱边界平滑</a:t>
            </a:r>
            <a:r>
              <a:rPr lang="en-US" altLang="en-US" sz="2400" dirty="0"/>
              <a:t>等方法</a:t>
            </a:r>
            <a:r>
              <a:rPr lang="en-US" altLang="en-US" sz="2400" b="1" dirty="0"/>
              <a:t>进行平滑处理</a:t>
            </a:r>
            <a:r>
              <a:rPr lang="en-US" altLang="en-US" sz="2400" dirty="0"/>
              <a:t>。</a:t>
            </a:r>
          </a:p>
          <a:p>
            <a:pPr eaLnBrk="1" hangingPunct="1"/>
            <a:r>
              <a:rPr lang="en-US" altLang="en-US" sz="2400" dirty="0"/>
              <a:t>回归</a:t>
            </a:r>
          </a:p>
          <a:p>
            <a:pPr lvl="1" eaLnBrk="1" hangingPunct="1"/>
            <a:r>
              <a:rPr lang="en-US" altLang="en-US" sz="2400" dirty="0"/>
              <a:t>通过将数据拟合到回归函数中进行平滑</a:t>
            </a:r>
          </a:p>
          <a:p>
            <a:pPr eaLnBrk="1" hangingPunct="1"/>
            <a:r>
              <a:rPr lang="en-US" altLang="en-US" sz="2400" dirty="0"/>
              <a:t>聚类</a:t>
            </a:r>
          </a:p>
          <a:p>
            <a:pPr lvl="1" eaLnBrk="1" hangingPunct="1"/>
            <a:r>
              <a:rPr lang="en-US" altLang="en-US" sz="2400" dirty="0"/>
              <a:t>检测并移除异常值</a:t>
            </a:r>
          </a:p>
          <a:p>
            <a:pPr eaLnBrk="1" hangingPunct="1"/>
            <a:r>
              <a:rPr lang="en-US" altLang="en-US" sz="2400" dirty="0"/>
              <a:t>半监督：结合计算机和人工检查</a:t>
            </a:r>
          </a:p>
          <a:p>
            <a:pPr lvl="1" eaLnBrk="1" hangingPunct="1"/>
            <a:r>
              <a:rPr lang="en-US" altLang="en-US" sz="2400" dirty="0"/>
              <a:t>检测可疑值并由人工核查（例如处理可能的异常值）</a:t>
            </a:r>
          </a:p>
        </p:txBody>
      </p:sp>
    </p:spTree>
    <p:extLst>
      <p:ext uri="{BB962C8B-B14F-4D97-AF65-F5344CB8AC3E}">
        <p14:creationId xmlns:p14="http://schemas.microsoft.com/office/powerpoint/2010/main" val="18536040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数据清理作为一个过程</a:t>
            </a:r>
          </a:p>
        </p:txBody>
      </p:sp>
      <p:sp>
        <p:nvSpPr>
          <p:cNvPr id="16388" name="Rectangle 3"/>
          <p:cNvSpPr>
            <a:spLocks noGrp="1" noChangeArrowheads="1"/>
          </p:cNvSpPr>
          <p:nvPr>
            <p:ph type="body" idx="1"/>
          </p:nvPr>
        </p:nvSpPr>
        <p:spPr>
          <a:xfrm>
            <a:off x="653143" y="1132114"/>
            <a:ext cx="11066789" cy="5573486"/>
          </a:xfrm>
        </p:spPr>
        <p:txBody>
          <a:bodyPr/>
          <a:lstStyle/>
          <a:p>
            <a:pPr algn="just" eaLnBrk="1" hangingPunct="1">
              <a:spcBef>
                <a:spcPts val="300"/>
              </a:spcBef>
            </a:pPr>
            <a:r>
              <a:rPr lang="en-US" altLang="en-US" sz="2200" b="1"/>
              <a:t>数据不一致检测</a:t>
            </a:r>
          </a:p>
          <a:p>
            <a:pPr lvl="1" algn="just" eaLnBrk="1" hangingPunct="1">
              <a:spcBef>
                <a:spcPts val="300"/>
              </a:spcBef>
            </a:pPr>
            <a:r>
              <a:rPr lang="en-US" altLang="en-US" sz="2200"/>
              <a:t>使用元数据（例如域、范围、依赖关系、分布）</a:t>
            </a:r>
          </a:p>
          <a:p>
            <a:pPr lvl="1" algn="just" eaLnBrk="1" hangingPunct="1">
              <a:spcBef>
                <a:spcPts val="300"/>
              </a:spcBef>
            </a:pPr>
            <a:r>
              <a:rPr lang="en-US" altLang="en-US" sz="2200"/>
              <a:t>检查字段重载 </a:t>
            </a:r>
          </a:p>
          <a:p>
            <a:pPr lvl="1" algn="just" eaLnBrk="1" hangingPunct="1">
              <a:spcBef>
                <a:spcPts val="300"/>
              </a:spcBef>
            </a:pPr>
            <a:r>
              <a:rPr lang="en-US" altLang="en-US" sz="2200"/>
              <a:t>检查唯一性规则、连续性规则和空值规则</a:t>
            </a:r>
          </a:p>
          <a:p>
            <a:pPr lvl="1" algn="just" eaLnBrk="1" hangingPunct="1">
              <a:spcBef>
                <a:spcPts val="300"/>
              </a:spcBef>
            </a:pPr>
            <a:r>
              <a:rPr lang="en-US" altLang="en-US" sz="2200"/>
              <a:t>使用商业工具</a:t>
            </a:r>
          </a:p>
          <a:p>
            <a:pPr lvl="2" algn="just" eaLnBrk="1" hangingPunct="1">
              <a:spcBef>
                <a:spcPts val="300"/>
              </a:spcBef>
            </a:pPr>
            <a:r>
              <a:rPr lang="en-US" altLang="en-US" sz="2200"/>
              <a:t>数据清洗：使用简单的领域知识（例如邮政编码、拼写检查）来检测错误并进行更正</a:t>
            </a:r>
          </a:p>
          <a:p>
            <a:pPr lvl="2" algn="just" eaLnBrk="1" hangingPunct="1">
              <a:spcBef>
                <a:spcPts val="300"/>
              </a:spcBef>
            </a:pPr>
            <a:r>
              <a:rPr lang="en-US" altLang="en-US" sz="2200"/>
              <a:t>数据审计：通过分析数据发现规则和关系以检测违规项（例如，使用相关性和聚类分析发现异常值）</a:t>
            </a:r>
          </a:p>
          <a:p>
            <a:pPr algn="just" eaLnBrk="1" hangingPunct="1">
              <a:spcBef>
                <a:spcPts val="300"/>
              </a:spcBef>
            </a:pPr>
            <a:r>
              <a:rPr lang="en-US" altLang="en-US" sz="2200" b="1" dirty="0"/>
              <a:t>数据迁移与集成</a:t>
            </a:r>
          </a:p>
          <a:p>
            <a:pPr lvl="1" algn="just" eaLnBrk="1" hangingPunct="1">
              <a:spcBef>
                <a:spcPts val="300"/>
              </a:spcBef>
            </a:pPr>
            <a:r>
              <a:rPr lang="en-US" altLang="en-US" sz="2200" dirty="0"/>
              <a:t>数据迁移工具：允许用户通过图形化界面指定数据转换规则</a:t>
            </a:r>
          </a:p>
          <a:p>
            <a:pPr lvl="1" algn="just" eaLnBrk="1" hangingPunct="1">
              <a:spcBef>
                <a:spcPts val="300"/>
              </a:spcBef>
            </a:pPr>
            <a:r>
              <a:rPr lang="en-US" altLang="en-US" sz="2200" dirty="0"/>
              <a:t>ETL（提取/转换/加载）工具：允许用户通过图形用户界面指定转换操作</a:t>
            </a:r>
          </a:p>
          <a:p>
            <a:pPr algn="just" eaLnBrk="1" hangingPunct="1">
              <a:spcBef>
                <a:spcPts val="300"/>
              </a:spcBef>
            </a:pPr>
            <a:r>
              <a:rPr lang="en-US" altLang="en-US" sz="2200" dirty="0"/>
              <a:t>两个过程的集成</a:t>
            </a:r>
          </a:p>
          <a:p>
            <a:pPr lvl="1" algn="just" eaLnBrk="1" hangingPunct="1">
              <a:spcBef>
                <a:spcPts val="300"/>
              </a:spcBef>
            </a:pPr>
            <a:r>
              <a:rPr lang="en-US" altLang="en-US" sz="2200" dirty="0"/>
              <a:t>迭代和交互式（例如：Potter’s Wheels）</a:t>
            </a:r>
          </a:p>
        </p:txBody>
      </p:sp>
    </p:spTree>
    <p:extLst>
      <p:ext uri="{BB962C8B-B14F-4D97-AF65-F5344CB8AC3E}">
        <p14:creationId xmlns:p14="http://schemas.microsoft.com/office/powerpoint/2010/main" val="26025813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2619376" y="304800"/>
            <a:ext cx="6683375" cy="609600"/>
          </a:xfrm>
        </p:spPr>
        <p:txBody>
          <a:bodyPr>
            <a:noAutofit/>
          </a:bodyPr>
          <a:lstStyle/>
          <a:p>
            <a:pPr eaLnBrk="1" hangingPunct="1"/>
            <a:r>
              <a:rPr lang="en-US" altLang="en-US" dirty="0"/>
              <a:t>数据集成</a:t>
            </a:r>
          </a:p>
        </p:txBody>
      </p:sp>
      <p:sp>
        <p:nvSpPr>
          <p:cNvPr id="18437" name="Rectangle 3"/>
          <p:cNvSpPr>
            <a:spLocks noGrp="1" noChangeArrowheads="1"/>
          </p:cNvSpPr>
          <p:nvPr>
            <p:ph type="body" idx="1"/>
          </p:nvPr>
        </p:nvSpPr>
        <p:spPr>
          <a:xfrm>
            <a:off x="574766" y="1129937"/>
            <a:ext cx="10824754" cy="5181600"/>
          </a:xfrm>
        </p:spPr>
        <p:txBody>
          <a:bodyPr/>
          <a:lstStyle/>
          <a:p>
            <a:pPr eaLnBrk="1" hangingPunct="1"/>
            <a:r>
              <a:rPr lang="en-US" altLang="en-US" sz="2400" dirty="0"/>
              <a:t>数据集成</a:t>
            </a:r>
          </a:p>
          <a:p>
            <a:pPr lvl="1" eaLnBrk="1" hangingPunct="1"/>
            <a:r>
              <a:rPr lang="en-US" altLang="en-US" sz="2400" dirty="0"/>
              <a:t>将来自多个数据源的数据整合到一个一致的数据存储中</a:t>
            </a:r>
          </a:p>
          <a:p>
            <a:r>
              <a:rPr lang="en-US" altLang="en-US" sz="2400" dirty="0"/>
              <a:t>为什么需要数据集成？</a:t>
            </a:r>
          </a:p>
          <a:p>
            <a:pPr lvl="1"/>
            <a:r>
              <a:rPr lang="en-US" altLang="en-US" sz="2400" dirty="0"/>
              <a:t>帮助减少/避免数据噪声</a:t>
            </a:r>
          </a:p>
          <a:p>
            <a:pPr lvl="1"/>
            <a:r>
              <a:rPr lang="en-US" altLang="en-US" sz="2400" dirty="0"/>
              <a:t>获得更全面的视图</a:t>
            </a:r>
          </a:p>
          <a:p>
            <a:pPr lvl="1"/>
            <a:r>
              <a:rPr lang="en-US" altLang="en-US" sz="2400" dirty="0"/>
              <a:t>提升数据挖掘速度与质量</a:t>
            </a:r>
          </a:p>
          <a:p>
            <a:pPr eaLnBrk="1" hangingPunct="1"/>
            <a:r>
              <a:rPr lang="en-US" altLang="en-US" sz="2400" b="1" dirty="0"/>
              <a:t>模式整合</a:t>
            </a:r>
            <a:r>
              <a:rPr lang="en-US" altLang="en-US" sz="2400" dirty="0"/>
              <a:t>： </a:t>
            </a:r>
          </a:p>
          <a:p>
            <a:pPr lvl="1"/>
            <a:r>
              <a:rPr lang="en-US" altLang="en-US" sz="2400" dirty="0"/>
              <a:t>例如，</a:t>
            </a:r>
            <a:r>
              <a:rPr lang="en-US" altLang="en-US" sz="2400" dirty="0" err="1"/>
              <a:t>A.</a:t>
            </a:r>
            <a:r>
              <a:rPr lang="en-US" altLang="en-US" sz="2400" dirty="0"/>
              <a:t>cust-id</a:t>
            </a:r>
            <a:r>
              <a:rPr lang="en-US" altLang="en-US" sz="2400" dirty="0">
                <a:sym typeface="Symbol" panose="05050102010706020507" pitchFamily="18" charset="2"/>
              </a:rPr>
              <a:t>  </a:t>
            </a:r>
            <a:r>
              <a:rPr lang="en-US" altLang="en-US" sz="2400" dirty="0" err="1">
                <a:sym typeface="Symbol" panose="05050102010706020507" pitchFamily="18" charset="2"/>
              </a:rPr>
              <a:t>B.</a:t>
            </a:r>
            <a:r>
              <a:rPr lang="en-US" altLang="en-US" sz="2400" dirty="0"/>
              <a:t>cust-#</a:t>
            </a:r>
          </a:p>
          <a:p>
            <a:pPr lvl="1" eaLnBrk="1" hangingPunct="1"/>
            <a:r>
              <a:rPr lang="en-US" altLang="en-US" sz="2400" dirty="0"/>
              <a:t>整合来自不同来源的元数据</a:t>
            </a:r>
          </a:p>
          <a:p>
            <a:r>
              <a:rPr lang="en-US" altLang="en-US" sz="2400" b="1" dirty="0"/>
              <a:t>实体识别： </a:t>
            </a:r>
          </a:p>
          <a:p>
            <a:pPr lvl="1"/>
            <a:r>
              <a:rPr lang="en-US" altLang="en-US" sz="2400" dirty="0"/>
              <a:t>从多个数据源识别真实世界实体，例如，Bill Clinton = William Clinton</a:t>
            </a:r>
          </a:p>
          <a:p>
            <a:pPr lvl="1"/>
            <a:endParaRPr lang="en-US" altLang="en-US" sz="2400" dirty="0"/>
          </a:p>
        </p:txBody>
      </p:sp>
    </p:spTree>
    <p:extLst>
      <p:ext uri="{BB962C8B-B14F-4D97-AF65-F5344CB8AC3E}">
        <p14:creationId xmlns:p14="http://schemas.microsoft.com/office/powerpoint/2010/main" val="24339784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505097" y="228600"/>
            <a:ext cx="10981509" cy="685800"/>
          </a:xfrm>
        </p:spPr>
        <p:txBody>
          <a:bodyPr>
            <a:normAutofit/>
          </a:bodyPr>
          <a:lstStyle/>
          <a:p>
            <a:pPr eaLnBrk="1" hangingPunct="1"/>
            <a:r>
              <a:rPr lang="en-US" altLang="en-US" dirty="0"/>
              <a:t>数据集成中的噪声处理</a:t>
            </a:r>
          </a:p>
        </p:txBody>
      </p:sp>
      <p:sp>
        <p:nvSpPr>
          <p:cNvPr id="19461" name="Rectangle 3"/>
          <p:cNvSpPr>
            <a:spLocks noGrp="1" noChangeArrowheads="1"/>
          </p:cNvSpPr>
          <p:nvPr>
            <p:ph type="body" idx="1"/>
          </p:nvPr>
        </p:nvSpPr>
        <p:spPr>
          <a:xfrm>
            <a:off x="635726" y="1295400"/>
            <a:ext cx="10850880" cy="5181600"/>
          </a:xfrm>
        </p:spPr>
        <p:txBody>
          <a:bodyPr/>
          <a:lstStyle/>
          <a:p>
            <a:r>
              <a:rPr lang="en-US" altLang="en-US" sz="2400" dirty="0"/>
              <a:t>检测数据值冲突</a:t>
            </a:r>
          </a:p>
          <a:p>
            <a:pPr lvl="1"/>
            <a:r>
              <a:rPr lang="en-US" altLang="en-US" sz="2400" dirty="0"/>
              <a:t>对于同一个真实世界实体，来自不同数据源的属性值可能不同</a:t>
            </a:r>
          </a:p>
          <a:p>
            <a:pPr lvl="1"/>
            <a:r>
              <a:rPr lang="en-US" altLang="en-US" sz="2400" dirty="0"/>
              <a:t>可能原因：无原因、不同表示方式、不同量纲（如公制与英制单位）</a:t>
            </a:r>
          </a:p>
          <a:p>
            <a:pPr eaLnBrk="1" hangingPunct="1">
              <a:lnSpc>
                <a:spcPct val="120000"/>
              </a:lnSpc>
            </a:pPr>
            <a:r>
              <a:rPr lang="en-US" altLang="en-US" sz="2400" dirty="0"/>
              <a:t>冲突信息解决</a:t>
            </a:r>
          </a:p>
          <a:p>
            <a:pPr lvl="1">
              <a:lnSpc>
                <a:spcPct val="120000"/>
              </a:lnSpc>
            </a:pPr>
            <a:r>
              <a:rPr lang="en-US" altLang="en-US" sz="2400" dirty="0"/>
              <a:t>取平均值/中位数/众数/最大值/最小值</a:t>
            </a:r>
          </a:p>
          <a:p>
            <a:pPr lvl="1">
              <a:lnSpc>
                <a:spcPct val="120000"/>
              </a:lnSpc>
            </a:pPr>
            <a:r>
              <a:rPr lang="en-US" altLang="en-US" sz="2400" dirty="0"/>
              <a:t>采用最新值</a:t>
            </a:r>
          </a:p>
          <a:p>
            <a:pPr lvl="1">
              <a:lnSpc>
                <a:spcPct val="120000"/>
              </a:lnSpc>
            </a:pPr>
            <a:r>
              <a:rPr lang="en-US" altLang="en-US" sz="2400" dirty="0"/>
              <a:t>真相确定：考虑数据源质量</a:t>
            </a:r>
          </a:p>
          <a:p>
            <a:pPr>
              <a:lnSpc>
                <a:spcPct val="120000"/>
              </a:lnSpc>
            </a:pPr>
            <a:r>
              <a:rPr lang="en-US" altLang="en-US" sz="2400" dirty="0"/>
              <a:t>数据清理 + 数据整合</a:t>
            </a:r>
          </a:p>
          <a:p>
            <a:pPr eaLnBrk="1" hangingPunct="1">
              <a:lnSpc>
                <a:spcPct val="120000"/>
              </a:lnSpc>
            </a:pPr>
            <a:endParaRPr lang="en-US" altLang="en-US" sz="2400" dirty="0"/>
          </a:p>
        </p:txBody>
      </p:sp>
    </p:spTree>
    <p:extLst>
      <p:ext uri="{BB962C8B-B14F-4D97-AF65-F5344CB8AC3E}">
        <p14:creationId xmlns:p14="http://schemas.microsoft.com/office/powerpoint/2010/main" val="11871059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505097" y="228600"/>
            <a:ext cx="10981509" cy="685800"/>
          </a:xfrm>
        </p:spPr>
        <p:txBody>
          <a:bodyPr>
            <a:normAutofit/>
          </a:bodyPr>
          <a:lstStyle/>
          <a:p>
            <a:pPr eaLnBrk="1" hangingPunct="1"/>
            <a:r>
              <a:rPr lang="en-US" altLang="en-US" dirty="0"/>
              <a:t>数据集成中的冗余处理</a:t>
            </a:r>
          </a:p>
        </p:txBody>
      </p:sp>
      <mc:AlternateContent xmlns:mc="http://schemas.openxmlformats.org/markup-compatibility/2006" xmlns:a14="http://schemas.microsoft.com/office/drawing/2010/main">
        <mc:Choice Requires="a14">
          <p:sp>
            <p:nvSpPr>
              <p:cNvPr id="19461" name="Rectangle 3"/>
              <p:cNvSpPr>
                <a:spLocks noGrp="1" noChangeArrowheads="1"/>
              </p:cNvSpPr>
              <p:nvPr>
                <p:ph type="body" idx="1"/>
              </p:nvPr>
            </p:nvSpPr>
            <p:spPr>
              <a:xfrm>
                <a:off x="635726" y="1295400"/>
                <a:ext cx="10850880" cy="5181600"/>
              </a:xfrm>
            </p:spPr>
            <p:txBody>
              <a:bodyPr/>
              <a:lstStyle/>
              <a:p>
                <a:pPr eaLnBrk="1" hangingPunct="1">
                  <a:lnSpc>
                    <a:spcPct val="120000"/>
                  </a:lnSpc>
                </a:pPr>
                <a:r>
                  <a:rPr lang="en-US" altLang="en-US" sz="2400" dirty="0"/>
                  <a:t>在整合多个数据库时，冗余数据经常出现</a:t>
                </a:r>
              </a:p>
              <a:p>
                <a:pPr lvl="1" eaLnBrk="1" hangingPunct="1">
                  <a:lnSpc>
                    <a:spcPct val="120000"/>
                  </a:lnSpc>
                </a:pPr>
                <a:r>
                  <a:rPr lang="en-US" altLang="en-US" sz="2400" dirty="0"/>
                  <a:t>对象标识：同一属性或对象在不同数据库中可能具有不同的名称</a:t>
                </a:r>
              </a:p>
              <a:p>
                <a:pPr lvl="1" eaLnBrk="1" hangingPunct="1">
                  <a:lnSpc>
                    <a:spcPct val="120000"/>
                  </a:lnSpc>
                </a:pPr>
                <a:r>
                  <a:rPr lang="en-US" altLang="en-US" sz="2400" dirty="0"/>
                  <a:t>可推导数据：一个属性可能是另一个表中的“派生”属性，例如年度收入</a:t>
                </a:r>
              </a:p>
              <a:p>
                <a:pPr>
                  <a:lnSpc>
                    <a:spcPct val="120000"/>
                  </a:lnSpc>
                </a:pPr>
                <a:r>
                  <a:rPr lang="en-US" altLang="en-US" sz="2400" dirty="0"/>
                  <a:t>问题何在？</a:t>
                </a:r>
              </a:p>
              <a:p>
                <a:pPr lvl="1">
                  <a:lnSpc>
                    <a:spcPct val="120000"/>
                  </a:lnSpc>
                </a:pPr>
                <a14:m>
                  <m:oMath xmlns:m="http://schemas.openxmlformats.org/officeDocument/2006/math">
                    <m:r>
                      <m:rPr>
                        <m:sty m:val="p"/>
                      </m:rPr>
                      <a:rPr lang="en-US" altLang="en-US" sz="2400" b="0" i="0" smtClean="0">
                        <a:latin typeface="Cambria Math" panose="02040503050406030204" pitchFamily="18" charset="0"/>
                      </a:rPr>
                      <m:t>Y</m:t>
                    </m:r>
                    <m:r>
                      <a:rPr lang="en-US" altLang="en-US" sz="2400" b="0" i="0" smtClean="0">
                        <a:latin typeface="Cambria Math" panose="02040503050406030204" pitchFamily="18" charset="0"/>
                      </a:rPr>
                      <m:t>=2</m:t>
                    </m:r>
                    <m:r>
                      <m:rPr>
                        <m:sty m:val="p"/>
                      </m:rPr>
                      <a:rPr lang="en-US" altLang="en-US" sz="2400" b="0" i="0" smtClean="0">
                        <a:latin typeface="Cambria Math" panose="02040503050406030204" pitchFamily="18" charset="0"/>
                      </a:rPr>
                      <m:t>X</m:t>
                    </m:r>
                    <m:r>
                      <a:rPr lang="en-US" altLang="en-US" sz="2400" b="0" i="0" smtClean="0">
                        <a:latin typeface="Cambria Math" panose="02040503050406030204" pitchFamily="18" charset="0"/>
                      </a:rPr>
                      <m:t> →</m:t>
                    </m:r>
                    <m:r>
                      <m:rPr>
                        <m:sty m:val="p"/>
                      </m:rPr>
                      <a:rPr lang="en-US" altLang="en-US" sz="2400" b="0" i="0" smtClean="0">
                        <a:latin typeface="Cambria Math" panose="02040503050406030204" pitchFamily="18" charset="0"/>
                        <a:ea typeface="Cambria Math" panose="02040503050406030204" pitchFamily="18" charset="0"/>
                      </a:rPr>
                      <m:t>Y</m:t>
                    </m:r>
                    <m:r>
                      <a:rPr lang="en-US" altLang="en-US" sz="2400" b="0" i="0"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m:rPr>
                            <m:sty m:val="p"/>
                          </m:rPr>
                          <a:rPr lang="en-US" altLang="en-US" sz="2400" b="0" i="0" smtClean="0">
                            <a:latin typeface="Cambria Math" panose="02040503050406030204" pitchFamily="18" charset="0"/>
                            <a:ea typeface="Cambria Math" panose="02040503050406030204" pitchFamily="18" charset="0"/>
                          </a:rPr>
                          <m:t>X</m:t>
                        </m:r>
                      </m:e>
                      <m:sub>
                        <m:r>
                          <a:rPr lang="en-US" altLang="en-US" sz="2400" b="0" i="0" smtClean="0">
                            <a:latin typeface="Cambria Math" panose="02040503050406030204" pitchFamily="18" charset="0"/>
                            <a:ea typeface="Cambria Math" panose="02040503050406030204" pitchFamily="18" charset="0"/>
                          </a:rPr>
                          <m:t>1</m:t>
                        </m:r>
                      </m:sub>
                    </m:sSub>
                    <m:r>
                      <a:rPr lang="en-US" altLang="en-US" sz="2400" b="0" i="0"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m:rPr>
                            <m:sty m:val="p"/>
                          </m:rPr>
                          <a:rPr lang="en-US" altLang="en-US" sz="2400" b="0" i="0" smtClean="0">
                            <a:latin typeface="Cambria Math" panose="02040503050406030204" pitchFamily="18" charset="0"/>
                            <a:ea typeface="Cambria Math" panose="02040503050406030204" pitchFamily="18" charset="0"/>
                          </a:rPr>
                          <m:t>X</m:t>
                        </m:r>
                      </m:e>
                      <m:sub>
                        <m:r>
                          <a:rPr lang="en-US" altLang="en-US" sz="2400" b="0" i="0" smtClean="0">
                            <a:latin typeface="Cambria Math" panose="02040503050406030204" pitchFamily="18" charset="0"/>
                            <a:ea typeface="Cambria Math" panose="02040503050406030204" pitchFamily="18" charset="0"/>
                          </a:rPr>
                          <m:t>2</m:t>
                        </m:r>
                      </m:sub>
                    </m:sSub>
                    <m:r>
                      <a:rPr lang="en-US" altLang="en-US" sz="2400" b="0" i="0" smtClean="0">
                        <a:latin typeface="Cambria Math" panose="02040503050406030204" pitchFamily="18" charset="0"/>
                        <a:ea typeface="Cambria Math" panose="02040503050406030204" pitchFamily="18" charset="0"/>
                      </a:rPr>
                      <m:t>     </m:t>
                    </m:r>
                    <m:r>
                      <m:rPr>
                        <m:sty m:val="p"/>
                      </m:rPr>
                      <a:rPr lang="en-US" altLang="en-US" sz="2400" b="0" i="0" smtClean="0">
                        <a:latin typeface="Cambria Math" panose="02040503050406030204" pitchFamily="18" charset="0"/>
                        <a:ea typeface="Cambria Math" panose="02040503050406030204" pitchFamily="18" charset="0"/>
                      </a:rPr>
                      <m:t>Y</m:t>
                    </m:r>
                    <m:r>
                      <a:rPr lang="en-US" altLang="en-US" sz="2400" b="0" i="0" smtClean="0">
                        <a:latin typeface="Cambria Math" panose="02040503050406030204" pitchFamily="18" charset="0"/>
                        <a:ea typeface="Cambria Math" panose="02040503050406030204" pitchFamily="18" charset="0"/>
                      </a:rPr>
                      <m:t>=3</m:t>
                    </m:r>
                    <m:sSub>
                      <m:sSubPr>
                        <m:ctrlPr>
                          <a:rPr lang="en-US" altLang="en-US" sz="2400" b="0" i="1" smtClean="0">
                            <a:latin typeface="Cambria Math" panose="02040503050406030204" pitchFamily="18" charset="0"/>
                            <a:ea typeface="Cambria Math" panose="02040503050406030204" pitchFamily="18" charset="0"/>
                          </a:rPr>
                        </m:ctrlPr>
                      </m:sSubPr>
                      <m:e>
                        <m:r>
                          <m:rPr>
                            <m:sty m:val="p"/>
                          </m:rPr>
                          <a:rPr lang="en-US" altLang="en-US" sz="2400" b="0" i="0" smtClean="0">
                            <a:latin typeface="Cambria Math" panose="02040503050406030204" pitchFamily="18" charset="0"/>
                            <a:ea typeface="Cambria Math" panose="02040503050406030204" pitchFamily="18" charset="0"/>
                          </a:rPr>
                          <m:t>X</m:t>
                        </m:r>
                      </m:e>
                      <m:sub>
                        <m:r>
                          <a:rPr lang="en-US" altLang="en-US" sz="2400" b="0" i="0" smtClean="0">
                            <a:latin typeface="Cambria Math" panose="02040503050406030204" pitchFamily="18" charset="0"/>
                            <a:ea typeface="Cambria Math" panose="02040503050406030204" pitchFamily="18" charset="0"/>
                          </a:rPr>
                          <m:t>1</m:t>
                        </m:r>
                      </m:sub>
                    </m:sSub>
                    <m:r>
                      <a:rPr lang="en-US" altLang="en-US" sz="2400" b="0" i="0"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m:rPr>
                            <m:sty m:val="p"/>
                          </m:rPr>
                          <a:rPr lang="en-US" altLang="en-US" sz="2400" b="0" i="0" smtClean="0">
                            <a:latin typeface="Cambria Math" panose="02040503050406030204" pitchFamily="18" charset="0"/>
                            <a:ea typeface="Cambria Math" panose="02040503050406030204" pitchFamily="18" charset="0"/>
                          </a:rPr>
                          <m:t>X</m:t>
                        </m:r>
                      </m:e>
                      <m:sub>
                        <m:r>
                          <a:rPr lang="en-US" altLang="en-US" sz="2400" b="0" i="0" smtClean="0">
                            <a:latin typeface="Cambria Math" panose="02040503050406030204" pitchFamily="18" charset="0"/>
                            <a:ea typeface="Cambria Math" panose="02040503050406030204" pitchFamily="18" charset="0"/>
                          </a:rPr>
                          <m:t>2</m:t>
                        </m:r>
                      </m:sub>
                    </m:sSub>
                    <m:r>
                      <a:rPr lang="en-US" altLang="en-US" sz="2400" b="0" i="0" smtClean="0">
                        <a:latin typeface="Cambria Math" panose="02040503050406030204" pitchFamily="18" charset="0"/>
                        <a:ea typeface="Cambria Math" panose="02040503050406030204" pitchFamily="18" charset="0"/>
                      </a:rPr>
                      <m:t>     </m:t>
                    </m:r>
                    <m:r>
                      <m:rPr>
                        <m:sty m:val="p"/>
                      </m:rPr>
                      <a:rPr lang="en-US" altLang="en-US" sz="2400" b="0" i="0" smtClean="0">
                        <a:latin typeface="Cambria Math" panose="02040503050406030204" pitchFamily="18" charset="0"/>
                        <a:ea typeface="Cambria Math" panose="02040503050406030204" pitchFamily="18" charset="0"/>
                      </a:rPr>
                      <m:t>Y</m:t>
                    </m:r>
                    <m:r>
                      <a:rPr lang="en-US" altLang="en-US" sz="2400" b="0" i="0" smtClean="0">
                        <a:latin typeface="Cambria Math" panose="02040503050406030204" pitchFamily="18" charset="0"/>
                        <a:ea typeface="Cambria Math" panose="02040503050406030204" pitchFamily="18" charset="0"/>
                      </a:rPr>
                      <m:t>=−1291</m:t>
                    </m:r>
                    <m:sSub>
                      <m:sSubPr>
                        <m:ctrlPr>
                          <a:rPr lang="en-US" altLang="en-US" sz="2400" b="0" i="1" smtClean="0">
                            <a:latin typeface="Cambria Math" panose="02040503050406030204" pitchFamily="18" charset="0"/>
                            <a:ea typeface="Cambria Math" panose="02040503050406030204" pitchFamily="18" charset="0"/>
                          </a:rPr>
                        </m:ctrlPr>
                      </m:sSubPr>
                      <m:e>
                        <m:r>
                          <m:rPr>
                            <m:sty m:val="p"/>
                          </m:rPr>
                          <a:rPr lang="en-US" altLang="en-US" sz="2400" b="0" i="0" smtClean="0">
                            <a:latin typeface="Cambria Math" panose="02040503050406030204" pitchFamily="18" charset="0"/>
                            <a:ea typeface="Cambria Math" panose="02040503050406030204" pitchFamily="18" charset="0"/>
                          </a:rPr>
                          <m:t>X</m:t>
                        </m:r>
                      </m:e>
                      <m:sub>
                        <m:r>
                          <a:rPr lang="en-US" altLang="en-US" sz="2400" b="0" i="0" smtClean="0">
                            <a:latin typeface="Cambria Math" panose="02040503050406030204" pitchFamily="18" charset="0"/>
                            <a:ea typeface="Cambria Math" panose="02040503050406030204" pitchFamily="18" charset="0"/>
                          </a:rPr>
                          <m:t>1</m:t>
                        </m:r>
                      </m:sub>
                    </m:sSub>
                    <m:r>
                      <a:rPr lang="en-US" altLang="en-US" sz="2400" b="0" i="0" smtClean="0">
                        <a:latin typeface="Cambria Math" panose="02040503050406030204" pitchFamily="18" charset="0"/>
                        <a:ea typeface="Cambria Math" panose="02040503050406030204" pitchFamily="18" charset="0"/>
                      </a:rPr>
                      <m:t>+1293</m:t>
                    </m:r>
                    <m:sSub>
                      <m:sSubPr>
                        <m:ctrlPr>
                          <a:rPr lang="en-US" altLang="en-US" sz="2400" b="0" i="1" smtClean="0">
                            <a:latin typeface="Cambria Math" panose="02040503050406030204" pitchFamily="18" charset="0"/>
                            <a:ea typeface="Cambria Math" panose="02040503050406030204" pitchFamily="18" charset="0"/>
                          </a:rPr>
                        </m:ctrlPr>
                      </m:sSubPr>
                      <m:e>
                        <m:r>
                          <m:rPr>
                            <m:sty m:val="p"/>
                          </m:rPr>
                          <a:rPr lang="en-US" altLang="en-US" sz="2400" b="0" i="0" smtClean="0">
                            <a:latin typeface="Cambria Math" panose="02040503050406030204" pitchFamily="18" charset="0"/>
                            <a:ea typeface="Cambria Math" panose="02040503050406030204" pitchFamily="18" charset="0"/>
                          </a:rPr>
                          <m:t>X</m:t>
                        </m:r>
                      </m:e>
                      <m:sub>
                        <m:r>
                          <a:rPr lang="en-US" altLang="en-US" sz="2400" b="0" i="0" smtClean="0">
                            <a:latin typeface="Cambria Math" panose="02040503050406030204" pitchFamily="18" charset="0"/>
                            <a:ea typeface="Cambria Math" panose="02040503050406030204" pitchFamily="18" charset="0"/>
                          </a:rPr>
                          <m:t>2</m:t>
                        </m:r>
                      </m:sub>
                    </m:sSub>
                  </m:oMath>
                </a14:m>
                <a:endParaRPr lang="en-US" altLang="en-US" sz="2400" dirty="0"/>
              </a:p>
              <a:p>
                <a:pPr>
                  <a:lnSpc>
                    <a:spcPct val="120000"/>
                  </a:lnSpc>
                </a:pPr>
                <a:r>
                  <a:rPr lang="en-US" altLang="en-US" sz="2400" dirty="0" err="1"/>
                  <a:t>冗余属性可通过相关性分析和协方差分析检测出来</a:t>
                </a:r>
                <a:endParaRPr lang="en-US" altLang="en-US" sz="2400" dirty="0"/>
              </a:p>
              <a:p>
                <a:pPr>
                  <a:lnSpc>
                    <a:spcPct val="120000"/>
                  </a:lnSpc>
                </a:pPr>
                <a:endParaRPr lang="en-US" altLang="en-US" sz="2400" dirty="0"/>
              </a:p>
            </p:txBody>
          </p:sp>
        </mc:Choice>
        <mc:Fallback xmlns="">
          <p:sp>
            <p:nvSpPr>
              <p:cNvPr id="19461" name="Rectangle 3"/>
              <p:cNvSpPr>
                <a:spLocks noGrp="1" noRot="1" noChangeAspect="1" noMove="1" noResize="1" noEditPoints="1" noAdjustHandles="1" noChangeArrowheads="1" noChangeShapeType="1" noTextEdit="1"/>
              </p:cNvSpPr>
              <p:nvPr>
                <p:ph type="body" idx="1"/>
              </p:nvPr>
            </p:nvSpPr>
            <p:spPr>
              <a:xfrm>
                <a:off x="635726" y="1295400"/>
                <a:ext cx="10850880" cy="5181600"/>
              </a:xfrm>
              <a:blipFill>
                <a:blip r:embed="rId3"/>
                <a:stretch>
                  <a:fillRect l="-350" t="-978"/>
                </a:stretch>
              </a:blipFill>
            </p:spPr>
            <p:txBody>
              <a:bodyPr/>
              <a:lstStyle/>
              <a:p>
                <a:r>
                  <a:rPr lang="ko-Kore-KR" altLang="en-US">
                    <a:noFill/>
                  </a:rPr>
                  <a:t> </a:t>
                </a:r>
              </a:p>
            </p:txBody>
          </p:sp>
        </mc:Fallback>
      </mc:AlternateContent>
    </p:spTree>
    <p:extLst>
      <p:ext uri="{BB962C8B-B14F-4D97-AF65-F5344CB8AC3E}">
        <p14:creationId xmlns:p14="http://schemas.microsoft.com/office/powerpoint/2010/main" val="34197128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5" y="81481"/>
            <a:ext cx="11106150" cy="887240"/>
          </a:xfrm>
        </p:spPr>
        <p:txBody>
          <a:bodyPr>
            <a:normAutofit/>
          </a:bodyPr>
          <a:lstStyle/>
          <a:p>
            <a:r>
              <a:rPr lang="en-US" altLang="en-US" dirty="0"/>
              <a:t>数据转换</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规范化</a:t>
            </a:r>
          </a:p>
          <a:p>
            <a:pPr>
              <a:spcAft>
                <a:spcPts val="600"/>
              </a:spcAft>
            </a:pPr>
            <a:r>
              <a:rPr lang="en-US" altLang="en-US" dirty="0"/>
              <a:t>离散化 </a:t>
            </a:r>
          </a:p>
          <a:p>
            <a:pPr>
              <a:spcAft>
                <a:spcPts val="600"/>
              </a:spcAft>
            </a:pPr>
            <a:r>
              <a:rPr lang="en-US" altLang="en-US" dirty="0"/>
              <a:t>数据压缩</a:t>
            </a:r>
          </a:p>
          <a:p>
            <a:pPr>
              <a:spcAft>
                <a:spcPts val="600"/>
              </a:spcAft>
            </a:pPr>
            <a:r>
              <a:rPr lang="en-US" altLang="en-US" dirty="0"/>
              <a:t>采样</a:t>
            </a:r>
          </a:p>
        </p:txBody>
      </p:sp>
    </p:spTree>
    <p:extLst>
      <p:ext uri="{BB962C8B-B14F-4D97-AF65-F5344CB8AC3E}">
        <p14:creationId xmlns:p14="http://schemas.microsoft.com/office/powerpoint/2010/main" val="28026888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idx="4294967295"/>
          </p:nvPr>
        </p:nvSpPr>
        <p:spPr>
          <a:xfrm>
            <a:off x="2019301" y="304800"/>
            <a:ext cx="8054975" cy="609600"/>
          </a:xfrm>
        </p:spPr>
        <p:txBody>
          <a:bodyPr>
            <a:noAutofit/>
          </a:bodyPr>
          <a:lstStyle/>
          <a:p>
            <a:pPr eaLnBrk="1" hangingPunct="1"/>
            <a:r>
              <a:rPr lang="en-US" altLang="en-US" dirty="0"/>
              <a:t>数据转换</a:t>
            </a:r>
          </a:p>
        </p:txBody>
      </p:sp>
      <p:sp>
        <p:nvSpPr>
          <p:cNvPr id="55300" name="Rectangle 3"/>
          <p:cNvSpPr>
            <a:spLocks noGrp="1" noChangeArrowheads="1"/>
          </p:cNvSpPr>
          <p:nvPr>
            <p:ph type="body" idx="4294967295"/>
          </p:nvPr>
        </p:nvSpPr>
        <p:spPr>
          <a:xfrm>
            <a:off x="634410" y="1132114"/>
            <a:ext cx="10962858" cy="5660572"/>
          </a:xfrm>
        </p:spPr>
        <p:txBody>
          <a:bodyPr/>
          <a:lstStyle/>
          <a:p>
            <a:pPr algn="just">
              <a:spcAft>
                <a:spcPts val="300"/>
              </a:spcAft>
            </a:pPr>
            <a:r>
              <a:rPr lang="en-US" altLang="en-US" sz="2200" dirty="0">
                <a:ea typeface="STKaiti" panose="02010600040101010101" pitchFamily="2" charset="-122"/>
              </a:rPr>
              <a:t>一种将给定属性值的整个集合映射到新替换值集合的函数</a:t>
            </a:r>
            <a:r>
              <a:rPr lang="en-US" altLang="en-US" sz="2200" dirty="0" err="1">
                <a:ea typeface="STKaiti" panose="02010600040101010101" pitchFamily="2" charset="-122"/>
              </a:rPr>
              <a:t>，使得</a:t>
            </a:r>
            <a:r>
              <a:rPr lang="en-US" altLang="en-US" sz="2200" dirty="0">
                <a:ea typeface="STKaiti" panose="02010600040101010101" pitchFamily="2" charset="-122"/>
              </a:rPr>
              <a:t>每个旧值都能与新值中的一个唯一对应</a:t>
            </a:r>
            <a:r>
              <a:rPr lang="en-US" altLang="en-US" sz="2200" dirty="0" err="1">
                <a:ea typeface="STKaiti" panose="02010600040101010101" pitchFamily="2" charset="-122"/>
              </a:rPr>
              <a:t>。</a:t>
            </a:r>
          </a:p>
          <a:p>
            <a:pPr algn="just">
              <a:spcAft>
                <a:spcPts val="300"/>
              </a:spcAft>
            </a:pPr>
            <a:r>
              <a:rPr lang="en-US" altLang="en-US" sz="2200" dirty="0">
                <a:ea typeface="STKaiti" panose="02010600040101010101" pitchFamily="2" charset="-122"/>
              </a:rPr>
              <a:t>方法</a:t>
            </a:r>
          </a:p>
          <a:p>
            <a:pPr lvl="1" algn="just">
              <a:spcAft>
                <a:spcPts val="300"/>
              </a:spcAft>
            </a:pPr>
            <a:r>
              <a:rPr lang="en-US" altLang="en-US" sz="2200" dirty="0">
                <a:ea typeface="STKaiti" panose="02010600040101010101" pitchFamily="2" charset="-122"/>
              </a:rPr>
              <a:t>平滑：去除数据中的噪声</a:t>
            </a:r>
          </a:p>
          <a:p>
            <a:pPr lvl="1" algn="just">
              <a:spcAft>
                <a:spcPts val="300"/>
              </a:spcAft>
            </a:pPr>
            <a:r>
              <a:rPr lang="en-US" altLang="en-US" sz="2200" dirty="0">
                <a:ea typeface="STKaiti" panose="02010600040101010101" pitchFamily="2" charset="-122"/>
              </a:rPr>
              <a:t>属性/特征构建</a:t>
            </a:r>
          </a:p>
          <a:p>
            <a:pPr lvl="2" algn="just">
              <a:spcAft>
                <a:spcPts val="300"/>
              </a:spcAft>
            </a:pPr>
            <a:r>
              <a:rPr lang="en-US" altLang="en-US" sz="2200" dirty="0">
                <a:ea typeface="STKaiti" panose="02010600040101010101" pitchFamily="2" charset="-122"/>
              </a:rPr>
              <a:t>从给定属性构建新属性</a:t>
            </a:r>
          </a:p>
          <a:p>
            <a:pPr lvl="1" algn="just">
              <a:spcAft>
                <a:spcPts val="300"/>
              </a:spcAft>
            </a:pPr>
            <a:r>
              <a:rPr lang="en-US" altLang="en-US" sz="2200" dirty="0">
                <a:ea typeface="STKaiti" panose="02010600040101010101" pitchFamily="2" charset="-122"/>
              </a:rPr>
              <a:t>聚合：摘要、数据立方体构建</a:t>
            </a:r>
          </a:p>
          <a:p>
            <a:pPr lvl="1" algn="just">
              <a:spcAft>
                <a:spcPts val="300"/>
              </a:spcAft>
            </a:pPr>
            <a:r>
              <a:rPr lang="en-US" altLang="en-US" sz="2200" dirty="0">
                <a:ea typeface="STKaiti" panose="02010600040101010101" pitchFamily="2" charset="-122"/>
              </a:rPr>
              <a:t>归一化：将数据缩放至指定的较小范围</a:t>
            </a:r>
          </a:p>
          <a:p>
            <a:pPr lvl="2" algn="just">
              <a:spcAft>
                <a:spcPts val="300"/>
              </a:spcAft>
            </a:pPr>
            <a:r>
              <a:rPr lang="en-US" altLang="en-US" sz="2200" dirty="0">
                <a:ea typeface="STKaiti" panose="02010600040101010101" pitchFamily="2" charset="-122"/>
              </a:rPr>
              <a:t>最小-最大标准化</a:t>
            </a:r>
          </a:p>
          <a:p>
            <a:pPr lvl="2" algn="just">
              <a:spcAft>
                <a:spcPts val="300"/>
              </a:spcAft>
            </a:pPr>
            <a:r>
              <a:rPr lang="en-US" altLang="en-US" sz="2200" dirty="0">
                <a:ea typeface="STKaiti" panose="02010600040101010101" pitchFamily="2" charset="-122"/>
              </a:rPr>
              <a:t>Z 分数标准化</a:t>
            </a:r>
          </a:p>
          <a:p>
            <a:pPr lvl="2" algn="just">
              <a:spcAft>
                <a:spcPts val="300"/>
              </a:spcAft>
            </a:pPr>
            <a:r>
              <a:rPr lang="en-US" altLang="en-US" sz="2200" dirty="0">
                <a:ea typeface="STKaiti" panose="02010600040101010101" pitchFamily="2" charset="-122"/>
              </a:rPr>
              <a:t>十进制缩放归一化</a:t>
            </a:r>
          </a:p>
          <a:p>
            <a:pPr lvl="1" algn="just">
              <a:spcAft>
                <a:spcPts val="300"/>
              </a:spcAft>
            </a:pPr>
            <a:r>
              <a:rPr lang="en-US" altLang="en-US" sz="2200" dirty="0">
                <a:ea typeface="STKaiti" panose="02010600040101010101" pitchFamily="2" charset="-122"/>
              </a:rPr>
              <a:t>离散化：概念层次攀升</a:t>
            </a:r>
          </a:p>
        </p:txBody>
      </p:sp>
    </p:spTree>
    <p:extLst>
      <p:ext uri="{BB962C8B-B14F-4D97-AF65-F5344CB8AC3E}">
        <p14:creationId xmlns:p14="http://schemas.microsoft.com/office/powerpoint/2010/main" val="3017492730"/>
      </p:ext>
    </p:extLst>
  </p:cSld>
  <p:clrMapOvr>
    <a:masterClrMapping/>
  </p:clrMapOvr>
  <p:transition>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归一化</a:t>
            </a:r>
          </a:p>
        </p:txBody>
      </p:sp>
      <p:sp>
        <p:nvSpPr>
          <p:cNvPr id="56324" name="Rectangle 3"/>
          <p:cNvSpPr>
            <a:spLocks noGrp="1" noChangeArrowheads="1"/>
          </p:cNvSpPr>
          <p:nvPr>
            <p:ph type="body" sz="half" idx="1"/>
          </p:nvPr>
        </p:nvSpPr>
        <p:spPr>
          <a:xfrm>
            <a:off x="707027" y="1138237"/>
            <a:ext cx="8817973" cy="5029200"/>
          </a:xfrm>
        </p:spPr>
        <p:txBody>
          <a:bodyPr/>
          <a:lstStyle/>
          <a:p>
            <a:pPr eaLnBrk="1" hangingPunct="1">
              <a:spcAft>
                <a:spcPts val="300"/>
              </a:spcAft>
            </a:pPr>
            <a:r>
              <a:rPr lang="en-US" altLang="en-US" b="1" dirty="0">
                <a:ea typeface="STKaiti" panose="02010600040101010101" pitchFamily="2" charset="-122"/>
              </a:rPr>
              <a:t>最小-最大归一化</a:t>
            </a:r>
            <a:r>
              <a:rPr lang="en-US" altLang="en-US" dirty="0">
                <a:ea typeface="STKaiti" panose="02010600040101010101" pitchFamily="2" charset="-122"/>
              </a:rPr>
              <a:t>：将数据归一化到[</a:t>
            </a:r>
            <a:r>
              <a:rPr lang="en-US" altLang="en-US" dirty="0" err="1">
                <a:ea typeface="STKaiti" panose="02010600040101010101" pitchFamily="2" charset="-122"/>
              </a:rPr>
              <a:t>new_min</a:t>
            </a:r>
            <a:r>
              <a:rPr lang="en-US" altLang="en-US" dirty="0">
                <a:ea typeface="STKaiti" panose="02010600040101010101" pitchFamily="2" charset="-122"/>
              </a:rPr>
              <a:t>,</a:t>
            </a:r>
            <a:r>
              <a:rPr lang="en-US" altLang="en-US" baseline="-25000" dirty="0" err="1">
                <a:ea typeface="STKaiti" panose="02010600040101010101" pitchFamily="2" charset="-122"/>
              </a:rPr>
              <a:t>A</a:t>
            </a:r>
            <a:r>
              <a:rPr lang="en-US" altLang="en-US" dirty="0">
                <a:ea typeface="STKaiti" panose="02010600040101010101" pitchFamily="2" charset="-122"/>
              </a:rPr>
              <a:t> , </a:t>
            </a:r>
            <a:r>
              <a:rPr lang="en-US" altLang="en-US" dirty="0" err="1">
                <a:ea typeface="STKaiti" panose="02010600040101010101" pitchFamily="2" charset="-122"/>
              </a:rPr>
              <a:t>new_max</a:t>
            </a:r>
            <a:r>
              <a:rPr lang="en-US" altLang="en-US" dirty="0">
                <a:ea typeface="STKaiti" panose="02010600040101010101" pitchFamily="2" charset="-122"/>
              </a:rPr>
              <a:t>,</a:t>
            </a:r>
            <a:r>
              <a:rPr lang="en-US" altLang="en-US" baseline="-25000" dirty="0" err="1">
                <a:ea typeface="STKaiti" panose="02010600040101010101" pitchFamily="2" charset="-122"/>
              </a:rPr>
              <a:t>A</a:t>
            </a:r>
            <a:r>
              <a:rPr lang="en-US" altLang="en-US" dirty="0">
                <a:ea typeface="STKaiti" panose="02010600040101010101" pitchFamily="2" charset="-122"/>
              </a:rPr>
              <a:t> ]</a:t>
            </a:r>
          </a:p>
          <a:p>
            <a:pPr lvl="1" eaLnBrk="1" hangingPunct="1">
              <a:spcAft>
                <a:spcPts val="300"/>
              </a:spcAft>
            </a:pPr>
            <a:endParaRPr lang="en-US" altLang="en-US" dirty="0">
              <a:ea typeface="STKaiti" panose="02010600040101010101" pitchFamily="2" charset="-122"/>
            </a:endParaRPr>
          </a:p>
          <a:p>
            <a:pPr lvl="1" eaLnBrk="1" hangingPunct="1">
              <a:spcAft>
                <a:spcPts val="300"/>
              </a:spcAft>
            </a:pPr>
            <a:endParaRPr lang="en-US" altLang="en-US" dirty="0">
              <a:ea typeface="STKaiti" panose="02010600040101010101" pitchFamily="2" charset="-122"/>
            </a:endParaRPr>
          </a:p>
          <a:p>
            <a:pPr lvl="1" eaLnBrk="1" hangingPunct="1">
              <a:spcAft>
                <a:spcPts val="300"/>
              </a:spcAft>
            </a:pPr>
            <a:r>
              <a:rPr lang="en-US" altLang="en-US" dirty="0">
                <a:ea typeface="STKaiti" panose="02010600040101010101" pitchFamily="2" charset="-122"/>
              </a:rPr>
              <a:t>例：将收入范围 $12,000 到 $98,000 归一化到 [0.0, 1.0]</a:t>
            </a:r>
          </a:p>
          <a:p>
            <a:pPr lvl="3">
              <a:spcAft>
                <a:spcPts val="300"/>
              </a:spcAft>
            </a:pPr>
            <a:r>
              <a:rPr lang="en-US" altLang="en-US" dirty="0">
                <a:ea typeface="STKaiti" panose="02010600040101010101" pitchFamily="2" charset="-122"/>
              </a:rPr>
              <a:t>则 </a:t>
            </a:r>
            <a:r>
              <a:rPr lang="en-US" altLang="en-US">
                <a:ea typeface="STKaiti" panose="02010600040101010101" pitchFamily="2" charset="-122"/>
              </a:rPr>
              <a:t>$73,600 </a:t>
            </a:r>
            <a:r>
              <a:rPr lang="en-US" altLang="en-US" dirty="0">
                <a:ea typeface="STKaiti" panose="02010600040101010101" pitchFamily="2" charset="-122"/>
              </a:rPr>
              <a:t>被映射为  </a:t>
            </a:r>
          </a:p>
          <a:p>
            <a:pPr eaLnBrk="1" hangingPunct="1">
              <a:spcAft>
                <a:spcPts val="300"/>
              </a:spcAft>
            </a:pPr>
            <a:r>
              <a:rPr lang="en-US" altLang="en-US" b="1" dirty="0">
                <a:ea typeface="STKaiti" panose="02010600040101010101" pitchFamily="2" charset="-122"/>
              </a:rPr>
              <a:t>Z 分数标准化</a:t>
            </a:r>
            <a:r>
              <a:rPr lang="en-US" altLang="en-US" dirty="0">
                <a:ea typeface="STKaiti" panose="02010600040101010101" pitchFamily="2" charset="-122"/>
              </a:rPr>
              <a:t>（</a:t>
            </a:r>
            <a:r>
              <a:rPr lang="el-GR" altLang="en-US" dirty="0">
                <a:ea typeface="STKaiti" panose="02010600040101010101" pitchFamily="2" charset="-122"/>
              </a:rPr>
              <a:t>μ</a:t>
            </a:r>
            <a:r>
              <a:rPr lang="en-US" altLang="en-US" dirty="0">
                <a:ea typeface="STKaiti" panose="02010600040101010101" pitchFamily="2" charset="-122"/>
              </a:rPr>
              <a:t>：均值，</a:t>
            </a:r>
            <a:r>
              <a:rPr lang="el-GR" altLang="en-US" dirty="0">
                <a:ea typeface="STKaiti" panose="02010600040101010101" pitchFamily="2" charset="-122"/>
              </a:rPr>
              <a:t>σ</a:t>
            </a:r>
            <a:r>
              <a:rPr lang="en-US" altLang="en-US" dirty="0">
                <a:ea typeface="STKaiti" panose="02010600040101010101" pitchFamily="2" charset="-122"/>
              </a:rPr>
              <a:t>：标准差）：</a:t>
            </a:r>
          </a:p>
          <a:p>
            <a:pPr eaLnBrk="1" hangingPunct="1">
              <a:spcAft>
                <a:spcPts val="300"/>
              </a:spcAft>
            </a:pPr>
            <a:endParaRPr lang="en-US" altLang="en-US" dirty="0">
              <a:ea typeface="STKaiti" panose="02010600040101010101" pitchFamily="2" charset="-122"/>
            </a:endParaRPr>
          </a:p>
          <a:p>
            <a:pPr lvl="1" eaLnBrk="1" hangingPunct="1">
              <a:spcAft>
                <a:spcPts val="300"/>
              </a:spcAft>
            </a:pPr>
            <a:endParaRPr lang="en-US" altLang="en-US" dirty="0">
              <a:ea typeface="STKaiti" panose="02010600040101010101" pitchFamily="2" charset="-122"/>
            </a:endParaRPr>
          </a:p>
          <a:p>
            <a:pPr lvl="1" eaLnBrk="1" hangingPunct="1">
              <a:spcAft>
                <a:spcPts val="300"/>
              </a:spcAft>
            </a:pPr>
            <a:r>
              <a:rPr lang="en-US" altLang="en-US" dirty="0">
                <a:ea typeface="STKaiti" panose="02010600040101010101" pitchFamily="2" charset="-122"/>
              </a:rPr>
              <a:t>例：设 </a:t>
            </a:r>
            <a:r>
              <a:rPr lang="el-GR" altLang="en-US" dirty="0">
                <a:ea typeface="STKaiti" panose="02010600040101010101" pitchFamily="2" charset="-122"/>
              </a:rPr>
              <a:t>μ </a:t>
            </a:r>
            <a:r>
              <a:rPr lang="en-US" altLang="en-US" dirty="0">
                <a:ea typeface="STKaiti" panose="02010600040101010101" pitchFamily="2" charset="-122"/>
              </a:rPr>
              <a:t>= 54,</a:t>
            </a:r>
            <a:r>
              <a:rPr lang="el-GR" altLang="en-US" dirty="0">
                <a:ea typeface="STKaiti" panose="02010600040101010101" pitchFamily="2" charset="-122"/>
              </a:rPr>
              <a:t>000，σ </a:t>
            </a:r>
            <a:r>
              <a:rPr lang="en-US" altLang="en-US" dirty="0">
                <a:ea typeface="STKaiti" panose="02010600040101010101" pitchFamily="2" charset="-122"/>
              </a:rPr>
              <a:t>= 16,000。 则</a:t>
            </a:r>
            <a:endParaRPr lang="el-GR" altLang="en-US" dirty="0">
              <a:ea typeface="STKaiti" panose="02010600040101010101" pitchFamily="2" charset="-122"/>
            </a:endParaRPr>
          </a:p>
          <a:p>
            <a:pPr eaLnBrk="1" hangingPunct="1">
              <a:spcAft>
                <a:spcPts val="300"/>
              </a:spcAft>
            </a:pPr>
            <a:r>
              <a:rPr lang="en-US" altLang="en-US" b="1" dirty="0">
                <a:ea typeface="STKaiti" panose="02010600040101010101" pitchFamily="2" charset="-122"/>
              </a:rPr>
              <a:t>十进制缩放归一化</a:t>
            </a:r>
          </a:p>
        </p:txBody>
      </p:sp>
      <p:graphicFrame>
        <p:nvGraphicFramePr>
          <p:cNvPr id="56325" name="Object 4"/>
          <p:cNvGraphicFramePr>
            <a:graphicFrameLocks noGrp="1" noChangeAspect="1"/>
          </p:cNvGraphicFramePr>
          <p:nvPr>
            <p:ph sz="quarter" idx="2"/>
          </p:nvPr>
        </p:nvGraphicFramePr>
        <p:xfrm>
          <a:off x="5476876" y="3066256"/>
          <a:ext cx="2514600" cy="488950"/>
        </p:xfrm>
        <a:graphic>
          <a:graphicData uri="http://schemas.openxmlformats.org/presentationml/2006/ole">
            <mc:AlternateContent xmlns:mc="http://schemas.openxmlformats.org/markup-compatibility/2006">
              <mc:Choice xmlns:v="urn:schemas-microsoft-com:vml" Requires="v">
                <p:oleObj name="Equation" r:id="rId3" imgW="2222500" imgH="419100" progId="Equation.3">
                  <p:embed/>
                </p:oleObj>
              </mc:Choice>
              <mc:Fallback>
                <p:oleObj name="Equation" r:id="rId3" imgW="2222500" imgH="419100" progId="Equation.3">
                  <p:embed/>
                  <p:pic>
                    <p:nvPicPr>
                      <p:cNvPr id="5632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6876" y="3066256"/>
                        <a:ext cx="25146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5"/>
          <p:cNvGraphicFramePr>
            <a:graphicFrameLocks noChangeAspect="1"/>
          </p:cNvGraphicFramePr>
          <p:nvPr/>
        </p:nvGraphicFramePr>
        <p:xfrm>
          <a:off x="3437709" y="1772443"/>
          <a:ext cx="5943600" cy="709613"/>
        </p:xfrm>
        <a:graphic>
          <a:graphicData uri="http://schemas.openxmlformats.org/presentationml/2006/ole">
            <mc:AlternateContent xmlns:mc="http://schemas.openxmlformats.org/markup-compatibility/2006">
              <mc:Choice xmlns:v="urn:schemas-microsoft-com:vml" Requires="v">
                <p:oleObj name="Equation" r:id="rId5" imgW="3340100" imgH="393700" progId="Equation.3">
                  <p:embed/>
                </p:oleObj>
              </mc:Choice>
              <mc:Fallback>
                <p:oleObj name="Equation" r:id="rId5" imgW="3340100" imgH="393700" progId="Equation.3">
                  <p:embed/>
                  <p:pic>
                    <p:nvPicPr>
                      <p:cNvPr id="5632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7709" y="1772443"/>
                        <a:ext cx="594360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7" name="Object 6"/>
          <p:cNvGraphicFramePr>
            <a:graphicFrameLocks noChangeAspect="1"/>
          </p:cNvGraphicFramePr>
          <p:nvPr/>
        </p:nvGraphicFramePr>
        <p:xfrm>
          <a:off x="3600994" y="4060123"/>
          <a:ext cx="1447800" cy="679450"/>
        </p:xfrm>
        <a:graphic>
          <a:graphicData uri="http://schemas.openxmlformats.org/presentationml/2006/ole">
            <mc:AlternateContent xmlns:mc="http://schemas.openxmlformats.org/markup-compatibility/2006">
              <mc:Choice xmlns:v="urn:schemas-microsoft-com:vml" Requires="v">
                <p:oleObj name="Equation" r:id="rId7" imgW="634725" imgH="393529" progId="Equation.3">
                  <p:embed/>
                </p:oleObj>
              </mc:Choice>
              <mc:Fallback>
                <p:oleObj name="Equation" r:id="rId7" imgW="634725" imgH="393529" progId="Equation.3">
                  <p:embed/>
                  <p:pic>
                    <p:nvPicPr>
                      <p:cNvPr id="5632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0994" y="4060123"/>
                        <a:ext cx="14478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8" name="Object 7"/>
          <p:cNvGraphicFramePr>
            <a:graphicFrameLocks noChangeAspect="1"/>
          </p:cNvGraphicFramePr>
          <p:nvPr/>
        </p:nvGraphicFramePr>
        <p:xfrm>
          <a:off x="2904309" y="5743575"/>
          <a:ext cx="1066800" cy="847725"/>
        </p:xfrm>
        <a:graphic>
          <a:graphicData uri="http://schemas.openxmlformats.org/presentationml/2006/ole">
            <mc:AlternateContent xmlns:mc="http://schemas.openxmlformats.org/markup-compatibility/2006">
              <mc:Choice xmlns:v="urn:schemas-microsoft-com:vml" Requires="v">
                <p:oleObj name="Equation" r:id="rId9" imgW="495085" imgH="393529" progId="Equation.3">
                  <p:embed/>
                </p:oleObj>
              </mc:Choice>
              <mc:Fallback>
                <p:oleObj name="Equation" r:id="rId9" imgW="495085" imgH="393529" progId="Equation.3">
                  <p:embed/>
                  <p:pic>
                    <p:nvPicPr>
                      <p:cNvPr id="56328"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04309" y="5743575"/>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9" name="Object 8"/>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Equation" r:id="rId11" imgW="114151" imgH="215619" progId="Equation.3">
                  <p:embed/>
                </p:oleObj>
              </mc:Choice>
              <mc:Fallback>
                <p:oleObj name="Equation" r:id="rId11" imgW="114151" imgH="215619" progId="Equation.3">
                  <p:embed/>
                  <p:pic>
                    <p:nvPicPr>
                      <p:cNvPr id="56329"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0" name="Text Box 9"/>
          <p:cNvSpPr txBox="1">
            <a:spLocks noChangeArrowheads="1"/>
          </p:cNvSpPr>
          <p:nvPr/>
        </p:nvSpPr>
        <p:spPr bwMode="auto">
          <a:xfrm>
            <a:off x="4107134" y="6003921"/>
            <a:ext cx="6126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STKaiti" panose="02010600040101010101" pitchFamily="2" charset="-122"/>
                <a:ea typeface="STKaiti" panose="02010600040101010101" pitchFamily="2" charset="-122"/>
              </a:rPr>
              <a:t>其中 </a:t>
            </a:r>
            <a:r>
              <a:rPr lang="en-US" altLang="en-US" sz="1800" i="1" dirty="0">
                <a:latin typeface="STKaiti" panose="02010600040101010101" pitchFamily="2" charset="-122"/>
                <a:ea typeface="STKaiti" panose="02010600040101010101" pitchFamily="2" charset="-122"/>
              </a:rPr>
              <a:t>j </a:t>
            </a:r>
            <a:r>
              <a:rPr lang="en-US" altLang="en-US" sz="1800" dirty="0">
                <a:latin typeface="STKaiti" panose="02010600040101010101" pitchFamily="2" charset="-122"/>
                <a:ea typeface="STKaiti" panose="02010600040101010101" pitchFamily="2" charset="-122"/>
              </a:rPr>
              <a:t>是满足 Max(|ν’|) &lt; 1 的最小的整数</a:t>
            </a:r>
          </a:p>
        </p:txBody>
      </p:sp>
      <p:graphicFrame>
        <p:nvGraphicFramePr>
          <p:cNvPr id="56331" name="Object 10"/>
          <p:cNvGraphicFramePr>
            <a:graphicFrameLocks noGrp="1" noChangeAspect="1"/>
          </p:cNvGraphicFramePr>
          <p:nvPr>
            <p:ph sz="quarter" idx="3"/>
          </p:nvPr>
        </p:nvGraphicFramePr>
        <p:xfrm>
          <a:off x="5972176" y="5000791"/>
          <a:ext cx="1952625" cy="563562"/>
        </p:xfrm>
        <a:graphic>
          <a:graphicData uri="http://schemas.openxmlformats.org/presentationml/2006/ole">
            <mc:AlternateContent xmlns:mc="http://schemas.openxmlformats.org/markup-compatibility/2006">
              <mc:Choice xmlns:v="urn:schemas-microsoft-com:vml" Requires="v">
                <p:oleObj name="Equation" r:id="rId13" imgW="1498600" imgH="419100" progId="Equation.3">
                  <p:embed/>
                </p:oleObj>
              </mc:Choice>
              <mc:Fallback>
                <p:oleObj name="Equation" r:id="rId13" imgW="1498600" imgH="419100" progId="Equation.3">
                  <p:embed/>
                  <p:pic>
                    <p:nvPicPr>
                      <p:cNvPr id="56331"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72176" y="5000791"/>
                        <a:ext cx="1952625"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Box 2"/>
          <p:cNvSpPr txBox="1"/>
          <p:nvPr/>
        </p:nvSpPr>
        <p:spPr>
          <a:xfrm>
            <a:off x="5550897" y="4229508"/>
            <a:ext cx="5934076" cy="359650"/>
          </a:xfrm>
          <a:prstGeom prst="rect">
            <a:avLst/>
          </a:prstGeom>
          <a:solidFill>
            <a:srgbClr val="FFFF00"/>
          </a:solidFill>
        </p:spPr>
        <p:txBody>
          <a:bodyPr wrap="square" rtlCol="0">
            <a:spAutoFit/>
          </a:bodyPr>
          <a:lstStyle/>
          <a:p>
            <a:pPr>
              <a:lnSpc>
                <a:spcPct val="110000"/>
              </a:lnSpc>
            </a:pPr>
            <a:r>
              <a:rPr lang="en-US" altLang="en-US" sz="1800" dirty="0">
                <a:latin typeface="STKaiti" panose="02010600040101010101" pitchFamily="2" charset="-122"/>
                <a:ea typeface="STKaiti" panose="02010600040101010101" pitchFamily="2" charset="-122"/>
              </a:rPr>
              <a:t>Z 分数：原始分数与总体均值之间的距离，单位为标准差</a:t>
            </a:r>
          </a:p>
        </p:txBody>
      </p:sp>
    </p:spTree>
    <p:extLst>
      <p:ext uri="{BB962C8B-B14F-4D97-AF65-F5344CB8AC3E}">
        <p14:creationId xmlns:p14="http://schemas.microsoft.com/office/powerpoint/2010/main" val="2025996718"/>
      </p:ext>
    </p:extLst>
  </p:cSld>
  <p:clrMapOvr>
    <a:masterClrMapping/>
  </p:clrMapOvr>
  <p:transition>
    <p:zo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ltLang="en-US" dirty="0"/>
              <a:t>离散化 </a:t>
            </a:r>
          </a:p>
        </p:txBody>
      </p:sp>
      <p:sp>
        <p:nvSpPr>
          <p:cNvPr id="57348" name="Rectangle 3"/>
          <p:cNvSpPr>
            <a:spLocks noGrp="1" noChangeArrowheads="1"/>
          </p:cNvSpPr>
          <p:nvPr>
            <p:ph type="body" idx="1"/>
          </p:nvPr>
        </p:nvSpPr>
        <p:spPr>
          <a:xfrm>
            <a:off x="609599" y="1219200"/>
            <a:ext cx="10685417" cy="5334000"/>
          </a:xfrm>
        </p:spPr>
        <p:txBody>
          <a:bodyPr/>
          <a:lstStyle/>
          <a:p>
            <a:pPr eaLnBrk="1" hangingPunct="1"/>
            <a:r>
              <a:rPr lang="en-US" altLang="en-US" sz="2400" dirty="0"/>
              <a:t>三种属性类型</a:t>
            </a:r>
          </a:p>
          <a:p>
            <a:pPr lvl="1" eaLnBrk="1" hangingPunct="1"/>
            <a:r>
              <a:rPr lang="en-US" altLang="en-US" sz="2400" dirty="0"/>
              <a:t>名义型——取值来自无序集合，例如颜色、职业</a:t>
            </a:r>
          </a:p>
          <a:p>
            <a:pPr lvl="1" eaLnBrk="1" hangingPunct="1"/>
            <a:r>
              <a:rPr lang="en-US" altLang="en-US" sz="2400" dirty="0"/>
              <a:t>序数型——取值来自有序集合，例如军衔或学术等级 </a:t>
            </a:r>
          </a:p>
          <a:p>
            <a:pPr lvl="1" eaLnBrk="1" hangingPunct="1"/>
            <a:r>
              <a:rPr lang="en-US" altLang="en-US" sz="2400" dirty="0"/>
              <a:t>数值型——实数，例如整数或实数</a:t>
            </a:r>
          </a:p>
          <a:p>
            <a:pPr eaLnBrk="1" hangingPunct="1"/>
            <a:r>
              <a:rPr lang="en-US" altLang="en-US" sz="2400" dirty="0"/>
              <a:t>离散化：将连续属性的取值范围划分为区间</a:t>
            </a:r>
          </a:p>
          <a:p>
            <a:pPr lvl="1" eaLnBrk="1" hangingPunct="1"/>
            <a:r>
              <a:rPr lang="en-US" altLang="en-US" sz="2400" dirty="0"/>
              <a:t>然后可以使用区间标签替换实际数据值 </a:t>
            </a:r>
          </a:p>
          <a:p>
            <a:pPr lvl="1" eaLnBrk="1" hangingPunct="1"/>
            <a:r>
              <a:rPr lang="en-US" altLang="en-US" sz="2400" dirty="0"/>
              <a:t>通过离散化减少数据量</a:t>
            </a:r>
          </a:p>
          <a:p>
            <a:pPr lvl="1" eaLnBrk="1" hangingPunct="1"/>
            <a:r>
              <a:rPr lang="en-US" altLang="en-US" sz="2400" dirty="0"/>
              <a:t>监督学习与无监督学习</a:t>
            </a:r>
          </a:p>
          <a:p>
            <a:pPr lvl="1" eaLnBrk="1" hangingPunct="1"/>
            <a:r>
              <a:rPr lang="en-US" altLang="en-US" sz="2400" dirty="0"/>
              <a:t>拆分（自上而下）与合并（自下而上）</a:t>
            </a:r>
          </a:p>
          <a:p>
            <a:pPr lvl="1" eaLnBrk="1" hangingPunct="1"/>
            <a:r>
              <a:rPr lang="en-US" altLang="en-US" sz="2400" dirty="0"/>
              <a:t>离散化可以递归地应用于一个属性</a:t>
            </a:r>
          </a:p>
          <a:p>
            <a:pPr lvl="1" eaLnBrk="1" hangingPunct="1"/>
            <a:r>
              <a:rPr lang="en-US" altLang="en-US" sz="2400" dirty="0"/>
              <a:t>为进一步分析做准备，例如分类</a:t>
            </a:r>
          </a:p>
        </p:txBody>
      </p:sp>
    </p:spTree>
    <p:extLst>
      <p:ext uri="{BB962C8B-B14F-4D97-AF65-F5344CB8AC3E}">
        <p14:creationId xmlns:p14="http://schemas.microsoft.com/office/powerpoint/2010/main" val="28013630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idx="4294967295"/>
          </p:nvPr>
        </p:nvSpPr>
        <p:spPr>
          <a:xfrm>
            <a:off x="1524000" y="228600"/>
            <a:ext cx="8991600" cy="762000"/>
          </a:xfrm>
        </p:spPr>
        <p:txBody>
          <a:bodyPr/>
          <a:lstStyle/>
          <a:p>
            <a:pPr eaLnBrk="1" hangingPunct="1"/>
            <a:r>
              <a:rPr lang="en-US" altLang="en-US"/>
              <a:t>数据离散化方法</a:t>
            </a:r>
          </a:p>
        </p:txBody>
      </p:sp>
      <p:sp>
        <p:nvSpPr>
          <p:cNvPr id="58372" name="Rectangle 3"/>
          <p:cNvSpPr>
            <a:spLocks noGrp="1" noChangeArrowheads="1"/>
          </p:cNvSpPr>
          <p:nvPr>
            <p:ph type="body" idx="4294967295"/>
          </p:nvPr>
        </p:nvSpPr>
        <p:spPr>
          <a:xfrm>
            <a:off x="592727" y="1123950"/>
            <a:ext cx="10551523" cy="4931162"/>
          </a:xfrm>
        </p:spPr>
        <p:txBody>
          <a:bodyPr/>
          <a:lstStyle/>
          <a:p>
            <a:pPr>
              <a:spcAft>
                <a:spcPts val="600"/>
              </a:spcAft>
            </a:pPr>
            <a:r>
              <a:rPr lang="en-US" altLang="en-US" sz="2000" dirty="0">
                <a:ea typeface="STKaiti" panose="02010600040101010101" pitchFamily="2" charset="-122"/>
              </a:rPr>
              <a:t>分箱 </a:t>
            </a:r>
          </a:p>
          <a:p>
            <a:pPr lvl="1">
              <a:spcAft>
                <a:spcPts val="600"/>
              </a:spcAft>
            </a:pPr>
            <a:r>
              <a:rPr lang="en-US" altLang="en-US" sz="2000" dirty="0">
                <a:ea typeface="STKaiti" panose="02010600040101010101" pitchFamily="2" charset="-122"/>
              </a:rPr>
              <a:t>自上而下分割，无监督</a:t>
            </a:r>
          </a:p>
          <a:p>
            <a:pPr>
              <a:spcAft>
                <a:spcPts val="600"/>
              </a:spcAft>
            </a:pPr>
            <a:r>
              <a:rPr lang="en-US" altLang="en-US" sz="2000" dirty="0">
                <a:ea typeface="STKaiti" panose="02010600040101010101" pitchFamily="2" charset="-122"/>
              </a:rPr>
              <a:t>直方图分析</a:t>
            </a:r>
          </a:p>
          <a:p>
            <a:pPr lvl="1">
              <a:spcAft>
                <a:spcPts val="600"/>
              </a:spcAft>
            </a:pPr>
            <a:r>
              <a:rPr lang="en-US" altLang="en-US" sz="2000" dirty="0">
                <a:ea typeface="STKaiti" panose="02010600040101010101" pitchFamily="2" charset="-122"/>
              </a:rPr>
              <a:t>自上而下分割，无监督</a:t>
            </a:r>
          </a:p>
          <a:p>
            <a:pPr>
              <a:spcAft>
                <a:spcPts val="600"/>
              </a:spcAft>
            </a:pPr>
            <a:r>
              <a:rPr lang="en-US" altLang="en-US" sz="2000" dirty="0">
                <a:ea typeface="STKaiti" panose="02010600040101010101" pitchFamily="2" charset="-122"/>
              </a:rPr>
              <a:t>聚类分析 </a:t>
            </a:r>
          </a:p>
          <a:p>
            <a:pPr lvl="1">
              <a:spcAft>
                <a:spcPts val="600"/>
              </a:spcAft>
            </a:pPr>
            <a:r>
              <a:rPr lang="en-US" altLang="en-US" sz="2000" dirty="0">
                <a:ea typeface="STKaiti" panose="02010600040101010101" pitchFamily="2" charset="-122"/>
              </a:rPr>
              <a:t>无监督，自顶向下分割或自底向上合并</a:t>
            </a:r>
          </a:p>
          <a:p>
            <a:pPr>
              <a:spcAft>
                <a:spcPts val="600"/>
              </a:spcAft>
            </a:pPr>
            <a:r>
              <a:rPr lang="en-US" altLang="en-US" sz="2000" dirty="0">
                <a:ea typeface="STKaiti" panose="02010600040101010101" pitchFamily="2" charset="-122"/>
              </a:rPr>
              <a:t>决策树分析</a:t>
            </a:r>
          </a:p>
          <a:p>
            <a:pPr lvl="1">
              <a:spcAft>
                <a:spcPts val="600"/>
              </a:spcAft>
            </a:pPr>
            <a:r>
              <a:rPr lang="en-US" altLang="en-US" sz="2000" dirty="0">
                <a:ea typeface="STKaiti" panose="02010600040101010101" pitchFamily="2" charset="-122"/>
              </a:rPr>
              <a:t>监督学习，自顶向下拆分</a:t>
            </a:r>
          </a:p>
          <a:p>
            <a:pPr>
              <a:spcAft>
                <a:spcPts val="600"/>
              </a:spcAft>
            </a:pPr>
            <a:r>
              <a:rPr lang="en-US" altLang="en-US" sz="2000" dirty="0">
                <a:ea typeface="STKaiti" panose="02010600040101010101" pitchFamily="2" charset="-122"/>
                <a:sym typeface="Symbol" panose="05050102010706020507" pitchFamily="18" charset="2"/>
              </a:rPr>
              <a:t>相关</a:t>
            </a:r>
            <a:r>
              <a:rPr lang="en-US" altLang="en-US" sz="2000" dirty="0">
                <a:ea typeface="STKaiti" panose="02010600040101010101" pitchFamily="2" charset="-122"/>
              </a:rPr>
              <a:t>性分析</a:t>
            </a:r>
            <a:r>
              <a:rPr lang="en-US" altLang="en-US" sz="2000" dirty="0">
                <a:ea typeface="STKaiti" panose="02010600040101010101" pitchFamily="2" charset="-122"/>
                <a:sym typeface="Symbol" panose="05050102010706020507" pitchFamily="18" charset="2"/>
              </a:rPr>
              <a:t>（例如，</a:t>
            </a:r>
            <a:r>
              <a:rPr lang="en-US" altLang="en-US" sz="2000" baseline="30000" dirty="0">
                <a:ea typeface="STKaiti" panose="02010600040101010101" pitchFamily="2" charset="-122"/>
              </a:rPr>
              <a:t>2</a:t>
            </a:r>
            <a:r>
              <a:rPr lang="en-US" altLang="en-US" sz="2000" dirty="0">
                <a:ea typeface="STKaiti" panose="02010600040101010101" pitchFamily="2" charset="-122"/>
              </a:rPr>
              <a:t> ） </a:t>
            </a:r>
          </a:p>
          <a:p>
            <a:pPr lvl="1">
              <a:spcAft>
                <a:spcPts val="600"/>
              </a:spcAft>
            </a:pPr>
            <a:r>
              <a:rPr lang="en-US" altLang="en-US" sz="2000" dirty="0">
                <a:ea typeface="STKaiti" panose="02010600040101010101" pitchFamily="2" charset="-122"/>
              </a:rPr>
              <a:t>无监督，自下而上合并</a:t>
            </a:r>
          </a:p>
          <a:p>
            <a:pPr>
              <a:spcAft>
                <a:spcPts val="600"/>
              </a:spcAft>
            </a:pPr>
            <a:r>
              <a:rPr lang="en-US" altLang="en-US" sz="2000" dirty="0">
                <a:ea typeface="STKaiti" panose="02010600040101010101" pitchFamily="2" charset="-122"/>
              </a:rPr>
              <a:t>注：所有方法均可递归应用</a:t>
            </a:r>
          </a:p>
        </p:txBody>
      </p:sp>
    </p:spTree>
    <p:extLst>
      <p:ext uri="{BB962C8B-B14F-4D97-AF65-F5344CB8AC3E}">
        <p14:creationId xmlns:p14="http://schemas.microsoft.com/office/powerpoint/2010/main" val="27212004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1371600" y="304800"/>
            <a:ext cx="9372600" cy="609600"/>
          </a:xfrm>
        </p:spPr>
        <p:txBody>
          <a:bodyPr>
            <a:noAutofit/>
          </a:bodyPr>
          <a:lstStyle/>
          <a:p>
            <a:pPr eaLnBrk="1" hangingPunct="1"/>
            <a:r>
              <a:rPr lang="en-US" altLang="en-US" dirty="0"/>
              <a:t>简单离散化：分箱</a:t>
            </a:r>
          </a:p>
        </p:txBody>
      </p:sp>
      <p:sp>
        <p:nvSpPr>
          <p:cNvPr id="59396" name="Rectangle 3"/>
          <p:cNvSpPr>
            <a:spLocks noGrp="1" noChangeArrowheads="1"/>
          </p:cNvSpPr>
          <p:nvPr>
            <p:ph type="body" idx="1"/>
          </p:nvPr>
        </p:nvSpPr>
        <p:spPr>
          <a:xfrm>
            <a:off x="627017" y="1295400"/>
            <a:ext cx="11148671" cy="5181600"/>
          </a:xfrm>
        </p:spPr>
        <p:txBody>
          <a:bodyPr/>
          <a:lstStyle/>
          <a:p>
            <a:pPr eaLnBrk="1" hangingPunct="1">
              <a:spcAft>
                <a:spcPts val="600"/>
              </a:spcAft>
            </a:pPr>
            <a:r>
              <a:rPr lang="en-US" altLang="en-US" sz="2400" dirty="0">
                <a:solidFill>
                  <a:srgbClr val="FF0000"/>
                </a:solidFill>
              </a:rPr>
              <a:t>等间隔</a:t>
            </a:r>
            <a:r>
              <a:rPr lang="en-US" altLang="en-US" sz="2400" dirty="0"/>
              <a:t>（距离）划分</a:t>
            </a:r>
          </a:p>
          <a:p>
            <a:pPr lvl="1" eaLnBrk="1" hangingPunct="1">
              <a:spcAft>
                <a:spcPts val="600"/>
              </a:spcAft>
            </a:pPr>
            <a:r>
              <a:rPr lang="en-US" altLang="en-US" sz="2400" dirty="0"/>
              <a:t>将范围划分为</a:t>
            </a:r>
            <a:r>
              <a:rPr lang="en-US" altLang="en-US" sz="2400" i="1" dirty="0"/>
              <a:t>N个</a:t>
            </a:r>
            <a:r>
              <a:rPr lang="en-US" altLang="en-US" sz="2400" dirty="0"/>
              <a:t>等大小的区间：</a:t>
            </a:r>
            <a:r>
              <a:rPr lang="en-US" altLang="en-US" sz="2400" dirty="0">
                <a:solidFill>
                  <a:srgbClr val="39513E"/>
                </a:solidFill>
              </a:rPr>
              <a:t>均匀网格</a:t>
            </a:r>
            <a:endParaRPr lang="en-US" altLang="en-US" sz="2400" dirty="0">
              <a:solidFill>
                <a:schemeClr val="hlink"/>
              </a:solidFill>
            </a:endParaRPr>
          </a:p>
          <a:p>
            <a:pPr lvl="1" eaLnBrk="1" hangingPunct="1">
              <a:spcAft>
                <a:spcPts val="600"/>
              </a:spcAft>
            </a:pPr>
            <a:r>
              <a:rPr lang="en-US" altLang="en-US" sz="2400" dirty="0"/>
              <a:t>若</a:t>
            </a:r>
            <a:r>
              <a:rPr lang="en-US" altLang="en-US" sz="2400" i="1" dirty="0"/>
              <a:t>A</a:t>
            </a:r>
            <a:r>
              <a:rPr lang="en-US" altLang="en-US" sz="2400" dirty="0"/>
              <a:t>和B分别为属性值的最小值和最大值，则区间宽度为：</a:t>
            </a:r>
            <a:r>
              <a:rPr lang="en-US" altLang="en-US" sz="2400" i="1" dirty="0"/>
              <a:t>W </a:t>
            </a:r>
            <a:r>
              <a:rPr lang="en-US" altLang="en-US" sz="2400" dirty="0"/>
              <a:t>= (</a:t>
            </a:r>
            <a:r>
              <a:rPr lang="en-US" altLang="en-US" sz="2400" i="1" dirty="0"/>
              <a:t>B – A</a:t>
            </a:r>
            <a:r>
              <a:rPr lang="en-US" altLang="en-US" sz="2400" dirty="0"/>
              <a:t>)</a:t>
            </a:r>
            <a:r>
              <a:rPr lang="en-US" altLang="en-US" sz="2400" i="1" dirty="0"/>
              <a:t>/N。</a:t>
            </a:r>
            <a:endParaRPr lang="en-US" altLang="en-US" sz="2400" dirty="0"/>
          </a:p>
          <a:p>
            <a:pPr lvl="1" eaLnBrk="1" hangingPunct="1">
              <a:spcAft>
                <a:spcPts val="600"/>
              </a:spcAft>
            </a:pPr>
            <a:r>
              <a:rPr lang="en-US" altLang="en-US" sz="2400" dirty="0"/>
              <a:t>最简单的方法，但可能导致异常值主导展示</a:t>
            </a:r>
          </a:p>
          <a:p>
            <a:pPr lvl="1" eaLnBrk="1" hangingPunct="1">
              <a:spcAft>
                <a:spcPts val="600"/>
              </a:spcAft>
            </a:pPr>
            <a:r>
              <a:rPr lang="en-US" altLang="en-US" sz="2400" dirty="0"/>
              <a:t>不适合处理偏态数据</a:t>
            </a:r>
            <a:endParaRPr lang="en-US" altLang="en-US" sz="2400" i="1" dirty="0"/>
          </a:p>
          <a:p>
            <a:pPr eaLnBrk="1" hangingPunct="1">
              <a:spcAft>
                <a:spcPts val="600"/>
              </a:spcAft>
            </a:pPr>
            <a:r>
              <a:rPr lang="en-US" altLang="en-US" sz="2400" dirty="0">
                <a:solidFill>
                  <a:srgbClr val="FF0000"/>
                </a:solidFill>
              </a:rPr>
              <a:t>等深度</a:t>
            </a:r>
            <a:r>
              <a:rPr lang="en-US" altLang="en-US" sz="2400" dirty="0"/>
              <a:t>（频率）划分</a:t>
            </a:r>
          </a:p>
          <a:p>
            <a:pPr lvl="1" eaLnBrk="1" hangingPunct="1">
              <a:spcAft>
                <a:spcPts val="600"/>
              </a:spcAft>
            </a:pPr>
            <a:r>
              <a:rPr lang="en-US" altLang="en-US" sz="2400" dirty="0"/>
              <a:t>将范围划分为</a:t>
            </a:r>
            <a:r>
              <a:rPr lang="en-US" altLang="en-US" sz="2400" i="1" dirty="0"/>
              <a:t>N</a:t>
            </a:r>
            <a:r>
              <a:rPr lang="en-US" altLang="en-US" sz="2400" dirty="0"/>
              <a:t>个区间，每个区间包含大致相同数量的样本</a:t>
            </a:r>
          </a:p>
          <a:p>
            <a:pPr lvl="1" eaLnBrk="1" hangingPunct="1">
              <a:spcAft>
                <a:spcPts val="600"/>
              </a:spcAft>
            </a:pPr>
            <a:r>
              <a:rPr lang="en-US" altLang="en-US" sz="2400" dirty="0"/>
              <a:t>良好的数据缩放</a:t>
            </a:r>
          </a:p>
          <a:p>
            <a:pPr lvl="1" eaLnBrk="1" hangingPunct="1">
              <a:spcAft>
                <a:spcPts val="600"/>
              </a:spcAft>
            </a:pPr>
            <a:r>
              <a:rPr lang="en-US" altLang="en-US" sz="2400" dirty="0"/>
              <a:t>处理类别属性可能较为复杂</a:t>
            </a:r>
          </a:p>
        </p:txBody>
      </p:sp>
    </p:spTree>
    <p:extLst>
      <p:ext uri="{BB962C8B-B14F-4D97-AF65-F5344CB8AC3E}">
        <p14:creationId xmlns:p14="http://schemas.microsoft.com/office/powerpoint/2010/main" val="40077506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0" y="304800"/>
            <a:ext cx="12061371" cy="609600"/>
          </a:xfrm>
        </p:spPr>
        <p:txBody>
          <a:bodyPr>
            <a:noAutofit/>
          </a:bodyPr>
          <a:lstStyle/>
          <a:p>
            <a:pPr eaLnBrk="1" hangingPunct="1"/>
            <a:r>
              <a:rPr lang="en-US" altLang="en-US" dirty="0"/>
              <a:t>示例：数据平滑的分箱方法</a:t>
            </a:r>
          </a:p>
        </p:txBody>
      </p:sp>
      <p:sp>
        <p:nvSpPr>
          <p:cNvPr id="60420" name="Rectangle 3"/>
          <p:cNvSpPr>
            <a:spLocks noGrp="1" noChangeArrowheads="1"/>
          </p:cNvSpPr>
          <p:nvPr>
            <p:ph type="body" idx="1"/>
          </p:nvPr>
        </p:nvSpPr>
        <p:spPr>
          <a:xfrm>
            <a:off x="592183" y="1223553"/>
            <a:ext cx="10720251" cy="5342709"/>
          </a:xfrm>
        </p:spPr>
        <p:txBody>
          <a:bodyPr/>
          <a:lstStyle/>
          <a:p>
            <a:pPr eaLnBrk="1" hangingPunct="1">
              <a:spcBef>
                <a:spcPts val="300"/>
              </a:spcBef>
              <a:buFont typeface="Wingdings" panose="05000000000000000000" pitchFamily="2" charset="2"/>
              <a:buChar char="q"/>
            </a:pPr>
            <a:r>
              <a:rPr lang="en-US" altLang="en-US" sz="2400" dirty="0"/>
              <a:t>按价格（美元）排序的数据：4, 8, 9, 15, 21, 21, 24, 25, 26, 28, 29, 34</a:t>
            </a:r>
          </a:p>
          <a:p>
            <a:pPr eaLnBrk="1" hangingPunct="1">
              <a:spcBef>
                <a:spcPts val="300"/>
              </a:spcBef>
              <a:buFontTx/>
              <a:buNone/>
            </a:pPr>
            <a:r>
              <a:rPr lang="en-US" altLang="en-US" sz="2400" dirty="0"/>
              <a:t>* 将数据划分为等频（</a:t>
            </a:r>
            <a:r>
              <a:rPr lang="en-US" altLang="en-US" sz="2400" b="1" dirty="0"/>
              <a:t>等深度</a:t>
            </a:r>
            <a:r>
              <a:rPr lang="en-US" altLang="en-US" sz="2400" dirty="0"/>
              <a:t>）分箱：</a:t>
            </a:r>
          </a:p>
          <a:p>
            <a:pPr eaLnBrk="1" hangingPunct="1">
              <a:spcBef>
                <a:spcPts val="300"/>
              </a:spcBef>
              <a:buFontTx/>
              <a:buNone/>
            </a:pPr>
            <a:r>
              <a:rPr lang="en-US" altLang="en-US" sz="2400" dirty="0"/>
              <a:t>      - Bin 1：4, 8, 9, 15</a:t>
            </a:r>
          </a:p>
          <a:p>
            <a:pPr eaLnBrk="1" hangingPunct="1">
              <a:spcBef>
                <a:spcPts val="300"/>
              </a:spcBef>
              <a:buFontTx/>
              <a:buNone/>
            </a:pPr>
            <a:r>
              <a:rPr lang="en-US" altLang="en-US" sz="2400" dirty="0"/>
              <a:t>      - Bin 2：21, 21, 24, 25</a:t>
            </a:r>
          </a:p>
          <a:p>
            <a:pPr eaLnBrk="1" hangingPunct="1">
              <a:spcBef>
                <a:spcPts val="300"/>
              </a:spcBef>
              <a:buFontTx/>
              <a:buNone/>
            </a:pPr>
            <a:r>
              <a:rPr lang="en-US" altLang="en-US" sz="2400" dirty="0"/>
              <a:t>      - Bin 3：26, 28, 29, 34</a:t>
            </a:r>
          </a:p>
          <a:p>
            <a:pPr eaLnBrk="1" hangingPunct="1">
              <a:spcBef>
                <a:spcPts val="300"/>
              </a:spcBef>
              <a:buFontTx/>
              <a:buNone/>
            </a:pPr>
            <a:r>
              <a:rPr lang="en-US" altLang="en-US" sz="2400" dirty="0"/>
              <a:t>* 通过</a:t>
            </a:r>
            <a:r>
              <a:rPr lang="en-US" altLang="en-US" sz="2400" b="1" dirty="0"/>
              <a:t>Bin平均值</a:t>
            </a:r>
            <a:r>
              <a:rPr lang="en-US" altLang="en-US" sz="2400" dirty="0"/>
              <a:t>进行平滑：</a:t>
            </a:r>
          </a:p>
          <a:p>
            <a:pPr eaLnBrk="1" hangingPunct="1">
              <a:spcBef>
                <a:spcPts val="300"/>
              </a:spcBef>
              <a:buFontTx/>
              <a:buNone/>
            </a:pPr>
            <a:r>
              <a:rPr lang="en-US" altLang="en-US" sz="2400" dirty="0"/>
              <a:t>      - Bin 1：9, 9, 9, 9</a:t>
            </a:r>
          </a:p>
          <a:p>
            <a:pPr eaLnBrk="1" hangingPunct="1">
              <a:spcBef>
                <a:spcPts val="300"/>
              </a:spcBef>
              <a:buFontTx/>
              <a:buNone/>
            </a:pPr>
            <a:r>
              <a:rPr lang="en-US" altLang="en-US" sz="2400" dirty="0"/>
              <a:t>      - Bin 2：23, 23, 23, 23</a:t>
            </a:r>
          </a:p>
          <a:p>
            <a:pPr eaLnBrk="1" hangingPunct="1">
              <a:spcBef>
                <a:spcPts val="300"/>
              </a:spcBef>
              <a:buFontTx/>
              <a:buNone/>
            </a:pPr>
            <a:r>
              <a:rPr lang="en-US" altLang="en-US" sz="2400" dirty="0"/>
              <a:t>      - Bin 3：29, 29, 29, 29</a:t>
            </a:r>
          </a:p>
          <a:p>
            <a:pPr eaLnBrk="1" hangingPunct="1">
              <a:spcBef>
                <a:spcPts val="300"/>
              </a:spcBef>
              <a:buFontTx/>
              <a:buNone/>
            </a:pPr>
            <a:r>
              <a:rPr lang="en-US" altLang="en-US" sz="2400" dirty="0"/>
              <a:t>* 通过</a:t>
            </a:r>
            <a:r>
              <a:rPr lang="en-US" altLang="en-US" sz="2400" b="1" dirty="0"/>
              <a:t>箱界</a:t>
            </a:r>
            <a:r>
              <a:rPr lang="en-US" altLang="en-US" sz="2400" dirty="0"/>
              <a:t>平滑：</a:t>
            </a:r>
          </a:p>
          <a:p>
            <a:pPr eaLnBrk="1" hangingPunct="1">
              <a:spcBef>
                <a:spcPts val="300"/>
              </a:spcBef>
              <a:buFontTx/>
              <a:buNone/>
            </a:pPr>
            <a:r>
              <a:rPr lang="en-US" altLang="en-US" sz="2400" dirty="0"/>
              <a:t>      - Bin 1：4, 4, 4, 15</a:t>
            </a:r>
          </a:p>
          <a:p>
            <a:pPr eaLnBrk="1" hangingPunct="1">
              <a:spcBef>
                <a:spcPts val="300"/>
              </a:spcBef>
              <a:buFontTx/>
              <a:buNone/>
            </a:pPr>
            <a:r>
              <a:rPr lang="en-US" altLang="en-US" sz="2400" dirty="0"/>
              <a:t>      - Bin 2: 21, 21, 25, 25</a:t>
            </a:r>
          </a:p>
          <a:p>
            <a:pPr eaLnBrk="1" hangingPunct="1">
              <a:spcBef>
                <a:spcPts val="300"/>
              </a:spcBef>
              <a:buFontTx/>
              <a:buNone/>
            </a:pPr>
            <a:r>
              <a:rPr lang="en-US" altLang="en-US" sz="2400" dirty="0"/>
              <a:t>      - Bin 3：26, 26, 26, 34</a:t>
            </a:r>
          </a:p>
        </p:txBody>
      </p:sp>
    </p:spTree>
    <p:extLst>
      <p:ext uri="{BB962C8B-B14F-4D97-AF65-F5344CB8AC3E}">
        <p14:creationId xmlns:p14="http://schemas.microsoft.com/office/powerpoint/2010/main" val="32857213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idx="4294967295"/>
          </p:nvPr>
        </p:nvSpPr>
        <p:spPr>
          <a:xfrm>
            <a:off x="0" y="161924"/>
            <a:ext cx="12192000" cy="742539"/>
          </a:xfrm>
        </p:spPr>
        <p:txBody>
          <a:bodyPr>
            <a:normAutofit/>
          </a:bodyPr>
          <a:lstStyle/>
          <a:p>
            <a:pPr eaLnBrk="1" hangingPunct="1"/>
            <a:r>
              <a:rPr lang="en-US" altLang="en-US" sz="3600" dirty="0"/>
              <a:t>无监督离散化：分箱与聚类</a:t>
            </a:r>
          </a:p>
        </p:txBody>
      </p:sp>
      <p:pic>
        <p:nvPicPr>
          <p:cNvPr id="6144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303" y="1199674"/>
            <a:ext cx="4114800"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1148874"/>
            <a:ext cx="44958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3987841"/>
            <a:ext cx="419100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1447" name="Text Box 6"/>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1448" name="Text Box 7"/>
          <p:cNvSpPr txBox="1">
            <a:spLocks noChangeArrowheads="1"/>
          </p:cNvSpPr>
          <p:nvPr/>
        </p:nvSpPr>
        <p:spPr bwMode="auto">
          <a:xfrm>
            <a:off x="2466974" y="3159165"/>
            <a:ext cx="71437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STKaiti" panose="02010600040101010101" pitchFamily="2" charset="-122"/>
                <a:ea typeface="STKaiti" panose="02010600040101010101" pitchFamily="2" charset="-122"/>
              </a:rPr>
              <a:t>数据</a:t>
            </a:r>
          </a:p>
        </p:txBody>
      </p:sp>
      <p:sp>
        <p:nvSpPr>
          <p:cNvPr id="61450" name="Text Box 9"/>
          <p:cNvSpPr txBox="1">
            <a:spLocks noChangeArrowheads="1"/>
          </p:cNvSpPr>
          <p:nvPr/>
        </p:nvSpPr>
        <p:spPr bwMode="auto">
          <a:xfrm>
            <a:off x="1247775" y="6196015"/>
            <a:ext cx="355282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STKaiti" panose="02010600040101010101" pitchFamily="2" charset="-122"/>
                <a:ea typeface="STKaiti" panose="02010600040101010101" pitchFamily="2" charset="-122"/>
              </a:rPr>
              <a:t>等深度（频率）（分箱）</a:t>
            </a:r>
          </a:p>
        </p:txBody>
      </p:sp>
      <p:sp>
        <p:nvSpPr>
          <p:cNvPr id="61451" name="Text Box 10"/>
          <p:cNvSpPr txBox="1">
            <a:spLocks noChangeArrowheads="1"/>
          </p:cNvSpPr>
          <p:nvPr/>
        </p:nvSpPr>
        <p:spPr bwMode="auto">
          <a:xfrm>
            <a:off x="6134100" y="6224517"/>
            <a:ext cx="42672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STKaiti" panose="02010600040101010101" pitchFamily="2" charset="-122"/>
                <a:ea typeface="STKaiti" panose="02010600040101010101" pitchFamily="2" charset="-122"/>
              </a:rPr>
              <a:t>K-均值聚类能获得更好的结果</a:t>
            </a:r>
          </a:p>
        </p:txBody>
      </p:sp>
      <p:pic>
        <p:nvPicPr>
          <p:cNvPr id="61452"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3100" y="3962400"/>
            <a:ext cx="4876800"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2" name="Text Box 9"/>
          <p:cNvSpPr txBox="1">
            <a:spLocks noChangeArrowheads="1"/>
          </p:cNvSpPr>
          <p:nvPr/>
        </p:nvSpPr>
        <p:spPr bwMode="auto">
          <a:xfrm>
            <a:off x="6758259" y="3227599"/>
            <a:ext cx="32004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STKaiti" panose="02010600040101010101" pitchFamily="2" charset="-122"/>
                <a:ea typeface="STKaiti" panose="02010600040101010101" pitchFamily="2" charset="-122"/>
              </a:rPr>
              <a:t>等宽（距离）分箱</a:t>
            </a:r>
          </a:p>
        </p:txBody>
      </p:sp>
    </p:spTree>
    <p:extLst>
      <p:ext uri="{BB962C8B-B14F-4D97-AF65-F5344CB8AC3E}">
        <p14:creationId xmlns:p14="http://schemas.microsoft.com/office/powerpoint/2010/main" val="17911007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idx="4294967295"/>
          </p:nvPr>
        </p:nvSpPr>
        <p:spPr>
          <a:xfrm>
            <a:off x="1" y="17417"/>
            <a:ext cx="12192000" cy="914400"/>
          </a:xfrm>
        </p:spPr>
        <p:txBody>
          <a:bodyPr/>
          <a:lstStyle/>
          <a:p>
            <a:pPr eaLnBrk="1" hangingPunct="1"/>
            <a:r>
              <a:rPr lang="en-US" altLang="en-US" sz="4000" dirty="0">
                <a:ea typeface="STKaiti" panose="02010600040101010101" pitchFamily="2" charset="-122"/>
              </a:rPr>
              <a:t>分类与相关性分析的</a:t>
            </a:r>
            <a:r>
              <a:rPr lang="en-US" altLang="en-US" sz="4000" dirty="0">
                <a:ea typeface="STKaiti" panose="02010600040101010101" pitchFamily="2" charset="-122"/>
                <a:cs typeface="Times New Roman" panose="02020603050405020304" pitchFamily="18" charset="0"/>
              </a:rPr>
              <a:t>离散化</a:t>
            </a:r>
          </a:p>
        </p:txBody>
      </p:sp>
      <p:sp>
        <p:nvSpPr>
          <p:cNvPr id="62468" name="Rectangle 3"/>
          <p:cNvSpPr>
            <a:spLocks noGrp="1" noChangeArrowheads="1"/>
          </p:cNvSpPr>
          <p:nvPr>
            <p:ph type="body" idx="4294967295"/>
          </p:nvPr>
        </p:nvSpPr>
        <p:spPr>
          <a:xfrm>
            <a:off x="644433" y="1295400"/>
            <a:ext cx="10737669" cy="5181600"/>
          </a:xfrm>
          <a:noFill/>
        </p:spPr>
        <p:txBody>
          <a:bodyPr vert="horz" lIns="90488" tIns="44450" rIns="90488" bIns="44450" rtlCol="0">
            <a:noAutofit/>
          </a:bodyPr>
          <a:lstStyle/>
          <a:p>
            <a:pPr marL="285750" indent="-285750" algn="just">
              <a:spcAft>
                <a:spcPts val="600"/>
              </a:spcAft>
              <a:tabLst>
                <a:tab pos="1198563" algn="l"/>
              </a:tabLst>
            </a:pPr>
            <a:r>
              <a:rPr lang="en-US" altLang="en-US" dirty="0">
                <a:ea typeface="STKaiti" panose="02010600040101010101" pitchFamily="2" charset="-122"/>
                <a:cs typeface="Times New Roman" panose="02020603050405020304" pitchFamily="18" charset="0"/>
              </a:rPr>
              <a:t>分类（例如决策树分析）</a:t>
            </a:r>
          </a:p>
          <a:p>
            <a:pPr lvl="1" algn="just">
              <a:spcAft>
                <a:spcPts val="600"/>
              </a:spcAft>
              <a:tabLst>
                <a:tab pos="1198563" algn="l"/>
              </a:tabLst>
            </a:pPr>
            <a:r>
              <a:rPr lang="en-US" altLang="en-US" dirty="0">
                <a:ea typeface="STKaiti" panose="02010600040101010101" pitchFamily="2" charset="-122"/>
              </a:rPr>
              <a:t>监督学习：已知类别标签，例如恶性与良性</a:t>
            </a:r>
          </a:p>
          <a:p>
            <a:pPr lvl="1" algn="just">
              <a:spcAft>
                <a:spcPts val="600"/>
              </a:spcAft>
              <a:tabLst>
                <a:tab pos="1198563" algn="l"/>
              </a:tabLst>
            </a:pPr>
            <a:r>
              <a:rPr lang="en-US" altLang="en-US" i="1" dirty="0">
                <a:ea typeface="STKaiti" panose="02010600040101010101" pitchFamily="2" charset="-122"/>
                <a:cs typeface="Times New Roman" panose="02020603050405020304" pitchFamily="18" charset="0"/>
              </a:rPr>
              <a:t>使用熵</a:t>
            </a:r>
            <a:r>
              <a:rPr lang="en-US" altLang="en-US" dirty="0">
                <a:ea typeface="STKaiti" panose="02010600040101010101" pitchFamily="2" charset="-122"/>
                <a:cs typeface="Times New Roman" panose="02020603050405020304" pitchFamily="18" charset="0"/>
              </a:rPr>
              <a:t>来确定分割点（离散化点）</a:t>
            </a:r>
            <a:endParaRPr lang="en-US" altLang="en-US" dirty="0">
              <a:ea typeface="STKaiti" panose="02010600040101010101" pitchFamily="2" charset="-122"/>
            </a:endParaRPr>
          </a:p>
          <a:p>
            <a:pPr lvl="1" algn="just">
              <a:spcAft>
                <a:spcPts val="600"/>
              </a:spcAft>
              <a:tabLst>
                <a:tab pos="1198563" algn="l"/>
              </a:tabLst>
            </a:pPr>
            <a:r>
              <a:rPr lang="en-US" altLang="en-US" dirty="0">
                <a:ea typeface="STKaiti" panose="02010600040101010101" pitchFamily="2" charset="-122"/>
              </a:rPr>
              <a:t>自顶向下、递归分割</a:t>
            </a:r>
          </a:p>
          <a:p>
            <a:pPr lvl="1" algn="just">
              <a:spcAft>
                <a:spcPts val="600"/>
              </a:spcAft>
              <a:tabLst>
                <a:tab pos="1198563" algn="l"/>
              </a:tabLst>
            </a:pPr>
            <a:r>
              <a:rPr lang="en-US" altLang="en-US" dirty="0">
                <a:ea typeface="STKaiti" panose="02010600040101010101" pitchFamily="2" charset="-122"/>
              </a:rPr>
              <a:t>详细内容将在“分类”章节中阐述</a:t>
            </a:r>
            <a:endParaRPr lang="en-US" altLang="en-US" dirty="0">
              <a:ea typeface="STKaiti" panose="02010600040101010101" pitchFamily="2" charset="-122"/>
              <a:cs typeface="Times New Roman" panose="02020603050405020304" pitchFamily="18" charset="0"/>
            </a:endParaRPr>
          </a:p>
          <a:p>
            <a:pPr marL="285750" indent="-285750" algn="just">
              <a:spcAft>
                <a:spcPts val="600"/>
              </a:spcAft>
              <a:tabLst>
                <a:tab pos="1198563" algn="l"/>
              </a:tabLst>
            </a:pPr>
            <a:r>
              <a:rPr lang="en-US" altLang="en-US" dirty="0">
                <a:ea typeface="STKaiti" panose="02010600040101010101" pitchFamily="2" charset="-122"/>
                <a:cs typeface="Times New Roman" panose="02020603050405020304" pitchFamily="18" charset="0"/>
              </a:rPr>
              <a:t>相关性分析（例如，Chi-merge：</a:t>
            </a:r>
            <a:r>
              <a:rPr lang="en-US" altLang="en-US" dirty="0">
                <a:ea typeface="STKaiti" panose="02010600040101010101" pitchFamily="2" charset="-122"/>
                <a:cs typeface="Tahoma" panose="020B0604030504040204" pitchFamily="34" charset="0"/>
              </a:rPr>
              <a:t>基于χ</a:t>
            </a:r>
            <a:r>
              <a:rPr lang="en-US" altLang="en-US" baseline="30000" dirty="0">
                <a:ea typeface="STKaiti" panose="02010600040101010101" pitchFamily="2" charset="-122"/>
                <a:cs typeface="Tahoma" panose="020B0604030504040204" pitchFamily="34" charset="0"/>
              </a:rPr>
              <a:t>2</a:t>
            </a:r>
            <a:r>
              <a:rPr lang="en-US" altLang="en-US" dirty="0">
                <a:ea typeface="STKaiti" panose="02010600040101010101" pitchFamily="2" charset="-122"/>
                <a:cs typeface="Tahoma" panose="020B0604030504040204" pitchFamily="34" charset="0"/>
              </a:rPr>
              <a:t> 的离散化</a:t>
            </a:r>
            <a:r>
              <a:rPr lang="en-US" altLang="en-US" dirty="0">
                <a:ea typeface="STKaiti" panose="02010600040101010101" pitchFamily="2" charset="-122"/>
                <a:cs typeface="Times New Roman" panose="02020603050405020304" pitchFamily="18" charset="0"/>
              </a:rPr>
              <a:t>）</a:t>
            </a:r>
            <a:endParaRPr lang="en-US" altLang="en-US" dirty="0">
              <a:ea typeface="STKaiti" panose="02010600040101010101" pitchFamily="2" charset="-122"/>
              <a:cs typeface="Tahoma" panose="020B0604030504040204" pitchFamily="34" charset="0"/>
            </a:endParaRPr>
          </a:p>
          <a:p>
            <a:pPr lvl="1" algn="just">
              <a:spcAft>
                <a:spcPts val="600"/>
              </a:spcAft>
              <a:tabLst>
                <a:tab pos="1198563" algn="l"/>
              </a:tabLst>
            </a:pPr>
            <a:r>
              <a:rPr lang="en-US" altLang="en-US" dirty="0">
                <a:ea typeface="STKaiti" panose="02010600040101010101" pitchFamily="2" charset="-122"/>
                <a:cs typeface="Tahoma" panose="020B0604030504040204" pitchFamily="34" charset="0"/>
              </a:rPr>
              <a:t>监督学习：使用类信息</a:t>
            </a:r>
          </a:p>
          <a:p>
            <a:pPr lvl="1" algn="just">
              <a:spcAft>
                <a:spcPts val="600"/>
              </a:spcAft>
              <a:tabLst>
                <a:tab pos="1198563" algn="l"/>
              </a:tabLst>
            </a:pPr>
            <a:r>
              <a:rPr lang="en-US" altLang="en-US" dirty="0">
                <a:ea typeface="STKaiti" panose="02010600040101010101" pitchFamily="2" charset="-122"/>
                <a:cs typeface="Tahoma" panose="020B0604030504040204" pitchFamily="34" charset="0"/>
              </a:rPr>
              <a:t>自下而上合并：找到最佳邻近区间（即类分布相似、χ</a:t>
            </a:r>
            <a:r>
              <a:rPr lang="en-US" altLang="en-US" baseline="30000" dirty="0">
                <a:ea typeface="STKaiti" panose="02010600040101010101" pitchFamily="2" charset="-122"/>
                <a:cs typeface="Tahoma" panose="020B0604030504040204" pitchFamily="34" charset="0"/>
              </a:rPr>
              <a:t>2</a:t>
            </a:r>
            <a:r>
              <a:rPr lang="en-US" altLang="en-US" dirty="0">
                <a:ea typeface="STKaiti" panose="02010600040101010101" pitchFamily="2" charset="-122"/>
                <a:cs typeface="Tahoma" panose="020B0604030504040204" pitchFamily="34" charset="0"/>
              </a:rPr>
              <a:t> 值较低的区间）进行合并</a:t>
            </a:r>
          </a:p>
          <a:p>
            <a:pPr lvl="1" algn="just">
              <a:spcAft>
                <a:spcPts val="600"/>
              </a:spcAft>
              <a:tabLst>
                <a:tab pos="1198563" algn="l"/>
              </a:tabLst>
            </a:pPr>
            <a:r>
              <a:rPr lang="en-US" altLang="en-US" dirty="0">
                <a:ea typeface="STKaiti" panose="02010600040101010101" pitchFamily="2" charset="-122"/>
                <a:cs typeface="Tahoma" panose="020B0604030504040204" pitchFamily="34" charset="0"/>
              </a:rPr>
              <a:t>递归执行合并操作，直至满足预定义的停止条件</a:t>
            </a:r>
          </a:p>
        </p:txBody>
      </p:sp>
      <p:sp>
        <p:nvSpPr>
          <p:cNvPr id="62469"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2470" name="Rectangle 7"/>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Tree>
    <p:extLst>
      <p:ext uri="{BB962C8B-B14F-4D97-AF65-F5344CB8AC3E}">
        <p14:creationId xmlns:p14="http://schemas.microsoft.com/office/powerpoint/2010/main" val="37870817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altLang="en-US" dirty="0"/>
              <a:t>概念层次结构生成</a:t>
            </a:r>
          </a:p>
        </p:txBody>
      </p:sp>
      <p:sp>
        <p:nvSpPr>
          <p:cNvPr id="63492" name="Rectangle 3"/>
          <p:cNvSpPr>
            <a:spLocks noGrp="1" noChangeArrowheads="1"/>
          </p:cNvSpPr>
          <p:nvPr>
            <p:ph type="body" idx="1"/>
          </p:nvPr>
        </p:nvSpPr>
        <p:spPr>
          <a:xfrm>
            <a:off x="618308" y="1214846"/>
            <a:ext cx="10746377" cy="5105400"/>
          </a:xfrm>
        </p:spPr>
        <p:txBody>
          <a:bodyPr/>
          <a:lstStyle/>
          <a:p>
            <a:pPr eaLnBrk="1" hangingPunct="1">
              <a:lnSpc>
                <a:spcPct val="120000"/>
              </a:lnSpc>
            </a:pPr>
            <a:r>
              <a:rPr lang="en-US" altLang="en-US" sz="2400" b="1" dirty="0"/>
              <a:t>概念层次结构</a:t>
            </a:r>
            <a:r>
              <a:rPr lang="en-US" altLang="en-US" sz="2400" dirty="0"/>
              <a:t>以层次结构组织概念（即属性值），通常与数据仓库中的每个维度相关联</a:t>
            </a:r>
          </a:p>
          <a:p>
            <a:pPr eaLnBrk="1" hangingPunct="1">
              <a:lnSpc>
                <a:spcPct val="120000"/>
              </a:lnSpc>
            </a:pPr>
            <a:r>
              <a:rPr lang="en-US" altLang="en-US" sz="2400" dirty="0"/>
              <a:t>概念层次结构便于在数据仓库中进行</a:t>
            </a:r>
            <a:r>
              <a:rPr lang="en-US" altLang="en-US" sz="2400" u="sng" dirty="0"/>
              <a:t>钻取和滚动操作</a:t>
            </a:r>
            <a:r>
              <a:rPr lang="en-US" altLang="en-US" sz="2400" dirty="0"/>
              <a:t>，以查看不同粒度的数据</a:t>
            </a:r>
          </a:p>
          <a:p>
            <a:pPr eaLnBrk="1" hangingPunct="1">
              <a:lnSpc>
                <a:spcPct val="120000"/>
              </a:lnSpc>
            </a:pPr>
            <a:r>
              <a:rPr lang="en-US" altLang="en-US" sz="2400" dirty="0"/>
              <a:t>概念层次结构的形成：通过递归地收集并替换低级概念（如年龄的数值）为高级概念（如青年、成年或老年）来简化数据</a:t>
            </a:r>
          </a:p>
          <a:p>
            <a:pPr eaLnBrk="1" hangingPunct="1">
              <a:lnSpc>
                <a:spcPct val="120000"/>
              </a:lnSpc>
            </a:pPr>
            <a:r>
              <a:rPr lang="en-US" altLang="en-US" sz="2400" dirty="0"/>
              <a:t>概念层次结构可由领域专家和/或数据仓库设计师显式指定</a:t>
            </a:r>
          </a:p>
          <a:p>
            <a:pPr eaLnBrk="1" hangingPunct="1">
              <a:lnSpc>
                <a:spcPct val="120000"/>
              </a:lnSpc>
            </a:pPr>
            <a:r>
              <a:rPr lang="en-US" altLang="en-US" sz="2400" dirty="0"/>
              <a:t>概念层次结构可自动生成适用于数值型和名词型数据——对于数值型数据，采用图示的离散化方法</a:t>
            </a:r>
          </a:p>
        </p:txBody>
      </p:sp>
    </p:spTree>
    <p:extLst>
      <p:ext uri="{BB962C8B-B14F-4D97-AF65-F5344CB8AC3E}">
        <p14:creationId xmlns:p14="http://schemas.microsoft.com/office/powerpoint/2010/main" val="42850067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a:xfrm>
            <a:off x="-1" y="228600"/>
            <a:ext cx="12061371" cy="762000"/>
          </a:xfrm>
        </p:spPr>
        <p:txBody>
          <a:bodyPr>
            <a:normAutofit/>
          </a:bodyPr>
          <a:lstStyle/>
          <a:p>
            <a:pPr eaLnBrk="1" hangingPunct="1"/>
            <a:r>
              <a:rPr lang="en-US" altLang="en-US" dirty="0"/>
              <a:t>名义数据的概念层次结构生成</a:t>
            </a:r>
          </a:p>
        </p:txBody>
      </p:sp>
      <p:sp>
        <p:nvSpPr>
          <p:cNvPr id="64516" name="Rectangle 3"/>
          <p:cNvSpPr>
            <a:spLocks noGrp="1" noChangeArrowheads="1"/>
          </p:cNvSpPr>
          <p:nvPr>
            <p:ph type="body" idx="1"/>
          </p:nvPr>
        </p:nvSpPr>
        <p:spPr>
          <a:xfrm>
            <a:off x="705394" y="1371600"/>
            <a:ext cx="10694126" cy="5105400"/>
          </a:xfrm>
        </p:spPr>
        <p:txBody>
          <a:bodyPr/>
          <a:lstStyle/>
          <a:p>
            <a:pPr eaLnBrk="1" hangingPunct="1">
              <a:lnSpc>
                <a:spcPct val="110000"/>
              </a:lnSpc>
            </a:pPr>
            <a:r>
              <a:rPr lang="en-US" altLang="en-US" sz="2400" dirty="0"/>
              <a:t>用户或专家在模式级别显式指定属性部分/全序关系</a:t>
            </a:r>
          </a:p>
          <a:p>
            <a:pPr lvl="1" eaLnBrk="1" hangingPunct="1">
              <a:lnSpc>
                <a:spcPct val="110000"/>
              </a:lnSpc>
            </a:pPr>
            <a:r>
              <a:rPr lang="en-US" altLang="en-US" sz="2400" dirty="0"/>
              <a:t>street &lt; city &lt; state &lt; country</a:t>
            </a:r>
          </a:p>
          <a:p>
            <a:pPr eaLnBrk="1" hangingPunct="1">
              <a:lnSpc>
                <a:spcPct val="110000"/>
              </a:lnSpc>
            </a:pPr>
            <a:r>
              <a:rPr lang="en-US" altLang="en-US" sz="2400" dirty="0"/>
              <a:t>通过显式数据分组为一组值指定层次结构</a:t>
            </a:r>
          </a:p>
          <a:p>
            <a:pPr lvl="1" eaLnBrk="1" hangingPunct="1">
              <a:lnSpc>
                <a:spcPct val="110000"/>
              </a:lnSpc>
            </a:pPr>
            <a:r>
              <a:rPr lang="en-US" altLang="en-US" sz="2400" dirty="0"/>
              <a:t>{Urbana, Champaign, Chicago} &lt; Illinois</a:t>
            </a:r>
          </a:p>
          <a:p>
            <a:pPr eaLnBrk="1" hangingPunct="1">
              <a:lnSpc>
                <a:spcPct val="110000"/>
              </a:lnSpc>
            </a:pPr>
            <a:r>
              <a:rPr lang="en-US" altLang="en-US" sz="2400" dirty="0"/>
              <a:t>仅指定属性集的子集</a:t>
            </a:r>
          </a:p>
          <a:p>
            <a:pPr lvl="1" eaLnBrk="1" hangingPunct="1">
              <a:lnSpc>
                <a:spcPct val="110000"/>
              </a:lnSpc>
            </a:pPr>
            <a:r>
              <a:rPr lang="en-US" altLang="en-US" sz="2400" dirty="0"/>
              <a:t>例如，only street &lt; city, not others</a:t>
            </a:r>
          </a:p>
          <a:p>
            <a:pPr lvl="1" eaLnBrk="1" hangingPunct="1">
              <a:lnSpc>
                <a:spcPct val="110000"/>
              </a:lnSpc>
            </a:pPr>
            <a:r>
              <a:rPr lang="en-US" altLang="en-US" sz="2400" dirty="0"/>
              <a:t>通过分析不同值的数量自动生成层次结构（或属性级别）</a:t>
            </a:r>
          </a:p>
          <a:p>
            <a:pPr lvl="1" eaLnBrk="1" hangingPunct="1">
              <a:lnSpc>
                <a:spcPct val="110000"/>
              </a:lnSpc>
            </a:pPr>
            <a:r>
              <a:rPr lang="en-US" altLang="en-US" sz="2400" dirty="0"/>
              <a:t>例如，对于属性集: {street, city, state, country}</a:t>
            </a:r>
          </a:p>
        </p:txBody>
      </p:sp>
    </p:spTree>
    <p:extLst>
      <p:ext uri="{BB962C8B-B14F-4D97-AF65-F5344CB8AC3E}">
        <p14:creationId xmlns:p14="http://schemas.microsoft.com/office/powerpoint/2010/main" val="41135149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524000" y="152400"/>
            <a:ext cx="9144000" cy="838200"/>
          </a:xfrm>
        </p:spPr>
        <p:txBody>
          <a:bodyPr/>
          <a:lstStyle/>
          <a:p>
            <a:pPr eaLnBrk="1" hangingPunct="1"/>
            <a:r>
              <a:rPr lang="en-US" altLang="en-US" dirty="0"/>
              <a:t>数据压缩</a:t>
            </a:r>
          </a:p>
        </p:txBody>
      </p:sp>
      <p:sp>
        <p:nvSpPr>
          <p:cNvPr id="52228" name="Rectangle 3"/>
          <p:cNvSpPr>
            <a:spLocks noGrp="1" noChangeArrowheads="1"/>
          </p:cNvSpPr>
          <p:nvPr>
            <p:ph type="body" idx="4294967295"/>
          </p:nvPr>
        </p:nvSpPr>
        <p:spPr>
          <a:xfrm>
            <a:off x="629194" y="1079862"/>
            <a:ext cx="6945911" cy="5778137"/>
          </a:xfrm>
        </p:spPr>
        <p:txBody>
          <a:bodyPr/>
          <a:lstStyle/>
          <a:p>
            <a:pPr eaLnBrk="1" hangingPunct="1"/>
            <a:r>
              <a:rPr lang="en-US" altLang="en-US" dirty="0">
                <a:ea typeface="STKaiti" panose="02010600040101010101" pitchFamily="2" charset="-122"/>
              </a:rPr>
              <a:t>字符串压缩</a:t>
            </a:r>
          </a:p>
          <a:p>
            <a:pPr lvl="1" eaLnBrk="1" hangingPunct="1"/>
            <a:r>
              <a:rPr lang="en-US" altLang="en-US" dirty="0">
                <a:ea typeface="STKaiti" panose="02010600040101010101" pitchFamily="2" charset="-122"/>
              </a:rPr>
              <a:t>存在大量理论和经过优化的算法</a:t>
            </a:r>
          </a:p>
          <a:p>
            <a:pPr lvl="1" eaLnBrk="1" hangingPunct="1"/>
            <a:r>
              <a:rPr lang="en-US" altLang="en-US" dirty="0">
                <a:ea typeface="STKaiti" panose="02010600040101010101" pitchFamily="2" charset="-122"/>
              </a:rPr>
              <a:t>通常无损，但不解压时只能进行有限的操作</a:t>
            </a:r>
            <a:endParaRPr lang="en-US" altLang="en-US" dirty="0">
              <a:ea typeface="STKaiti" panose="02010600040101010101" pitchFamily="2" charset="-122"/>
              <a:sym typeface="Symbol" panose="05050102010706020507" pitchFamily="18" charset="2"/>
            </a:endParaRPr>
          </a:p>
          <a:p>
            <a:pPr eaLnBrk="1" hangingPunct="1"/>
            <a:r>
              <a:rPr lang="en-US" altLang="en-US" dirty="0">
                <a:ea typeface="STKaiti" panose="02010600040101010101" pitchFamily="2" charset="-122"/>
                <a:sym typeface="Symbol" panose="05050102010706020507" pitchFamily="18" charset="2"/>
              </a:rPr>
              <a:t>音频/视频压缩</a:t>
            </a:r>
          </a:p>
          <a:p>
            <a:pPr lvl="1" eaLnBrk="1" hangingPunct="1"/>
            <a:r>
              <a:rPr lang="en-US" altLang="en-US" dirty="0">
                <a:ea typeface="STKaiti" panose="02010600040101010101" pitchFamily="2" charset="-122"/>
                <a:sym typeface="Symbol" panose="05050102010706020507" pitchFamily="18" charset="2"/>
              </a:rPr>
              <a:t>通常采用</a:t>
            </a:r>
            <a:r>
              <a:rPr lang="en-US" altLang="en-US" dirty="0" err="1">
                <a:ea typeface="STKaiti" panose="02010600040101010101" pitchFamily="2" charset="-122"/>
                <a:sym typeface="Symbol" panose="05050102010706020507" pitchFamily="18" charset="2"/>
              </a:rPr>
              <a:t>有损</a:t>
            </a:r>
            <a:r>
              <a:rPr lang="en-US" altLang="en-US" dirty="0">
                <a:ea typeface="STKaiti" panose="02010600040101010101" pitchFamily="2" charset="-122"/>
                <a:sym typeface="Symbol" panose="05050102010706020507" pitchFamily="18" charset="2"/>
              </a:rPr>
              <a:t>压缩，并通过逐步优化提升质量</a:t>
            </a:r>
          </a:p>
          <a:p>
            <a:pPr lvl="1" eaLnBrk="1" hangingPunct="1"/>
            <a:r>
              <a:rPr lang="en-US" altLang="en-US" dirty="0">
                <a:ea typeface="STKaiti" panose="02010600040101010101" pitchFamily="2" charset="-122"/>
                <a:sym typeface="Symbol" panose="05050102010706020507" pitchFamily="18" charset="2"/>
              </a:rPr>
              <a:t>有时可通过重建信号的局部片段实现部分内容的恢复</a:t>
            </a:r>
          </a:p>
          <a:p>
            <a:pPr eaLnBrk="1" hangingPunct="1"/>
            <a:r>
              <a:rPr lang="en-US" altLang="en-US" dirty="0">
                <a:ea typeface="STKaiti" panose="02010600040101010101" pitchFamily="2" charset="-122"/>
                <a:sym typeface="Symbol" panose="05050102010706020507" pitchFamily="18" charset="2"/>
              </a:rPr>
              <a:t>时间序列并非音频</a:t>
            </a:r>
          </a:p>
          <a:p>
            <a:pPr lvl="1" eaLnBrk="1" hangingPunct="1"/>
            <a:r>
              <a:rPr lang="en-US" altLang="en-US" dirty="0">
                <a:ea typeface="STKaiti" panose="02010600040101010101" pitchFamily="2" charset="-122"/>
                <a:sym typeface="Symbol" panose="05050102010706020507" pitchFamily="18" charset="2"/>
              </a:rPr>
              <a:t>通常较短且随时间变化缓慢</a:t>
            </a:r>
          </a:p>
          <a:p>
            <a:pPr eaLnBrk="1" hangingPunct="1"/>
            <a:r>
              <a:rPr lang="en-US" altLang="en-US" dirty="0">
                <a:ea typeface="STKaiti" panose="02010600040101010101" pitchFamily="2" charset="-122"/>
                <a:sym typeface="Symbol" panose="05050102010706020507" pitchFamily="18" charset="2"/>
              </a:rPr>
              <a:t>数据减少和维度减少也可视为数据压缩的形式</a:t>
            </a:r>
          </a:p>
        </p:txBody>
      </p:sp>
      <p:grpSp>
        <p:nvGrpSpPr>
          <p:cNvPr id="4" name="Group 3"/>
          <p:cNvGrpSpPr/>
          <p:nvPr/>
        </p:nvGrpSpPr>
        <p:grpSpPr>
          <a:xfrm>
            <a:off x="7575105" y="1567444"/>
            <a:ext cx="4124325" cy="3200400"/>
            <a:chOff x="2362201" y="1625601"/>
            <a:chExt cx="7335788" cy="4926012"/>
          </a:xfrm>
        </p:grpSpPr>
        <p:sp>
          <p:nvSpPr>
            <p:cNvPr id="5" name="AutoShape 3"/>
            <p:cNvSpPr>
              <a:spLocks noChangeArrowheads="1"/>
            </p:cNvSpPr>
            <p:nvPr/>
          </p:nvSpPr>
          <p:spPr bwMode="auto">
            <a:xfrm>
              <a:off x="2362201" y="1625601"/>
              <a:ext cx="3446463" cy="2595563"/>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dirty="0">
                  <a:latin typeface="STKaiti" panose="02010600040101010101" pitchFamily="2" charset="-122"/>
                  <a:ea typeface="STKaiti" panose="02010600040101010101" pitchFamily="2" charset="-122"/>
                </a:rPr>
                <a:t>原始数据</a:t>
              </a:r>
            </a:p>
          </p:txBody>
        </p:sp>
        <p:sp>
          <p:nvSpPr>
            <p:cNvPr id="6" name="AutoShape 4"/>
            <p:cNvSpPr>
              <a:spLocks noChangeArrowheads="1"/>
            </p:cNvSpPr>
            <p:nvPr/>
          </p:nvSpPr>
          <p:spPr bwMode="auto">
            <a:xfrm>
              <a:off x="7699376" y="2249489"/>
              <a:ext cx="1998613" cy="1608137"/>
            </a:xfrm>
            <a:prstGeom prst="cube">
              <a:avLst>
                <a:gd name="adj" fmla="val 25000"/>
              </a:avLst>
            </a:prstGeom>
            <a:solidFill>
              <a:srgbClr val="F6E6EA"/>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dirty="0">
                  <a:latin typeface="STKaiti" panose="02010600040101010101" pitchFamily="2" charset="-122"/>
                  <a:ea typeface="STKaiti" panose="02010600040101010101" pitchFamily="2" charset="-122"/>
                </a:rPr>
                <a:t>压缩 </a:t>
              </a:r>
            </a:p>
            <a:p>
              <a:pPr algn="ctr"/>
              <a:r>
                <a:rPr lang="en-US" altLang="en-US" sz="1800" dirty="0">
                  <a:latin typeface="STKaiti" panose="02010600040101010101" pitchFamily="2" charset="-122"/>
                  <a:ea typeface="STKaiti" panose="02010600040101010101" pitchFamily="2" charset="-122"/>
                </a:rPr>
                <a:t>数据</a:t>
              </a:r>
            </a:p>
          </p:txBody>
        </p:sp>
        <p:sp>
          <p:nvSpPr>
            <p:cNvPr id="7" name="Line 5"/>
            <p:cNvSpPr>
              <a:spLocks noChangeShapeType="1"/>
            </p:cNvSpPr>
            <p:nvPr/>
          </p:nvSpPr>
          <p:spPr bwMode="auto">
            <a:xfrm>
              <a:off x="5843589" y="3005138"/>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800">
                <a:latin typeface="STKaiti" panose="02010600040101010101" pitchFamily="2" charset="-122"/>
                <a:ea typeface="STKaiti" panose="02010600040101010101" pitchFamily="2" charset="-122"/>
              </a:endParaRPr>
            </a:p>
          </p:txBody>
        </p:sp>
        <p:sp>
          <p:nvSpPr>
            <p:cNvPr id="8" name="Line 6"/>
            <p:cNvSpPr>
              <a:spLocks noChangeShapeType="1"/>
            </p:cNvSpPr>
            <p:nvPr/>
          </p:nvSpPr>
          <p:spPr bwMode="auto">
            <a:xfrm flipH="1">
              <a:off x="5843589" y="3579813"/>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800">
                <a:latin typeface="STKaiti" panose="02010600040101010101" pitchFamily="2" charset="-122"/>
                <a:ea typeface="STKaiti" panose="02010600040101010101" pitchFamily="2" charset="-122"/>
              </a:endParaRPr>
            </a:p>
          </p:txBody>
        </p:sp>
        <p:sp>
          <p:nvSpPr>
            <p:cNvPr id="9" name="Text Box 7"/>
            <p:cNvSpPr txBox="1">
              <a:spLocks noChangeArrowheads="1"/>
            </p:cNvSpPr>
            <p:nvPr/>
          </p:nvSpPr>
          <p:spPr bwMode="auto">
            <a:xfrm>
              <a:off x="6161087" y="3665539"/>
              <a:ext cx="1149606" cy="568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STKaiti" panose="02010600040101010101" pitchFamily="2" charset="-122"/>
                  <a:ea typeface="STKaiti" panose="02010600040101010101" pitchFamily="2" charset="-122"/>
                </a:rPr>
                <a:t>无损</a:t>
              </a:r>
            </a:p>
          </p:txBody>
        </p:sp>
        <p:sp>
          <p:nvSpPr>
            <p:cNvPr id="10" name="AutoShape 8"/>
            <p:cNvSpPr>
              <a:spLocks noChangeArrowheads="1"/>
            </p:cNvSpPr>
            <p:nvPr/>
          </p:nvSpPr>
          <p:spPr bwMode="auto">
            <a:xfrm>
              <a:off x="2474914" y="4367213"/>
              <a:ext cx="3286125" cy="2184400"/>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dirty="0">
                  <a:latin typeface="STKaiti" panose="02010600040101010101" pitchFamily="2" charset="-122"/>
                  <a:ea typeface="STKaiti" panose="02010600040101010101" pitchFamily="2" charset="-122"/>
                </a:rPr>
                <a:t>原始数据</a:t>
              </a:r>
            </a:p>
            <a:p>
              <a:pPr algn="ctr"/>
              <a:r>
                <a:rPr lang="en-US" altLang="en-US" sz="1800" dirty="0">
                  <a:latin typeface="STKaiti" panose="02010600040101010101" pitchFamily="2" charset="-122"/>
                  <a:ea typeface="STKaiti" panose="02010600040101010101" pitchFamily="2" charset="-122"/>
                </a:rPr>
                <a:t>近似 </a:t>
              </a:r>
            </a:p>
          </p:txBody>
        </p:sp>
        <p:sp>
          <p:nvSpPr>
            <p:cNvPr id="11" name="Line 9"/>
            <p:cNvSpPr>
              <a:spLocks noChangeShapeType="1"/>
            </p:cNvSpPr>
            <p:nvPr/>
          </p:nvSpPr>
          <p:spPr bwMode="auto">
            <a:xfrm flipH="1">
              <a:off x="5776913" y="3875089"/>
              <a:ext cx="2743200" cy="18065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1800">
                <a:latin typeface="STKaiti" panose="02010600040101010101" pitchFamily="2" charset="-122"/>
                <a:ea typeface="STKaiti" panose="02010600040101010101" pitchFamily="2" charset="-122"/>
              </a:endParaRPr>
            </a:p>
          </p:txBody>
        </p:sp>
        <p:sp>
          <p:nvSpPr>
            <p:cNvPr id="12" name="Text Box 10"/>
            <p:cNvSpPr txBox="1">
              <a:spLocks noChangeArrowheads="1"/>
            </p:cNvSpPr>
            <p:nvPr/>
          </p:nvSpPr>
          <p:spPr bwMode="auto">
            <a:xfrm rot="18915147">
              <a:off x="6582442" y="4727503"/>
              <a:ext cx="1149606" cy="568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err="1">
                  <a:latin typeface="STKaiti" panose="02010600040101010101" pitchFamily="2" charset="-122"/>
                  <a:ea typeface="STKaiti" panose="02010600040101010101" pitchFamily="2" charset="-122"/>
                </a:rPr>
                <a:t>有损</a:t>
              </a:r>
              <a:endParaRPr lang="en-US" altLang="en-US" sz="1800" dirty="0">
                <a:latin typeface="STKaiti" panose="02010600040101010101" pitchFamily="2" charset="-122"/>
                <a:ea typeface="STKaiti" panose="02010600040101010101" pitchFamily="2" charset="-122"/>
              </a:endParaRPr>
            </a:p>
          </p:txBody>
        </p:sp>
      </p:grpSp>
      <p:sp>
        <p:nvSpPr>
          <p:cNvPr id="2" name="TextBox 1"/>
          <p:cNvSpPr txBox="1"/>
          <p:nvPr/>
        </p:nvSpPr>
        <p:spPr>
          <a:xfrm>
            <a:off x="7758811" y="4869690"/>
            <a:ext cx="3940619" cy="369332"/>
          </a:xfrm>
          <a:prstGeom prst="rect">
            <a:avLst/>
          </a:prstGeom>
          <a:solidFill>
            <a:srgbClr val="FFFF00"/>
          </a:solidFill>
        </p:spPr>
        <p:txBody>
          <a:bodyPr wrap="square" rtlCol="0">
            <a:spAutoFit/>
          </a:bodyPr>
          <a:lstStyle/>
          <a:p>
            <a:r>
              <a:rPr lang="en-US" sz="1800" dirty="0" err="1">
                <a:latin typeface="STKaiti" panose="02010600040101010101" pitchFamily="2" charset="-122"/>
                <a:ea typeface="STKaiti" panose="02010600040101010101" pitchFamily="2" charset="-122"/>
              </a:rPr>
              <a:t>有损</a:t>
            </a:r>
            <a:r>
              <a:rPr lang="en-US" sz="1800" dirty="0">
                <a:latin typeface="STKaiti" panose="02010600040101010101" pitchFamily="2" charset="-122"/>
                <a:ea typeface="STKaiti" panose="02010600040101010101" pitchFamily="2" charset="-122"/>
              </a:rPr>
              <a:t>与无损压缩</a:t>
            </a:r>
          </a:p>
        </p:txBody>
      </p:sp>
    </p:spTree>
    <p:extLst>
      <p:ext uri="{BB962C8B-B14F-4D97-AF65-F5344CB8AC3E}">
        <p14:creationId xmlns:p14="http://schemas.microsoft.com/office/powerpoint/2010/main" val="1015062594"/>
      </p:ext>
    </p:extLst>
  </p:cSld>
  <p:clrMapOvr>
    <a:masterClrMapping/>
  </p:clrMapOvr>
  <p:transition>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idx="4294967295"/>
          </p:nvPr>
        </p:nvSpPr>
        <p:spPr>
          <a:xfrm>
            <a:off x="2362200" y="228600"/>
            <a:ext cx="7162800" cy="685800"/>
          </a:xfrm>
        </p:spPr>
        <p:txBody>
          <a:bodyPr/>
          <a:lstStyle/>
          <a:p>
            <a:pPr eaLnBrk="1" hangingPunct="1"/>
            <a:r>
              <a:rPr lang="en-US" altLang="en-US" dirty="0"/>
              <a:t>数据立方体聚合</a:t>
            </a:r>
          </a:p>
        </p:txBody>
      </p:sp>
      <p:sp>
        <p:nvSpPr>
          <p:cNvPr id="51204" name="Rectangle 3"/>
          <p:cNvSpPr>
            <a:spLocks noGrp="1" noChangeArrowheads="1"/>
          </p:cNvSpPr>
          <p:nvPr>
            <p:ph type="body" idx="4294967295"/>
          </p:nvPr>
        </p:nvSpPr>
        <p:spPr>
          <a:xfrm>
            <a:off x="644433" y="1326777"/>
            <a:ext cx="7975459" cy="5217459"/>
          </a:xfrm>
        </p:spPr>
        <p:txBody>
          <a:bodyPr/>
          <a:lstStyle/>
          <a:p>
            <a:pPr eaLnBrk="1" hangingPunct="1">
              <a:lnSpc>
                <a:spcPct val="120000"/>
              </a:lnSpc>
            </a:pPr>
            <a:r>
              <a:rPr lang="en-US" altLang="en-US" dirty="0">
                <a:ea typeface="STKaiti" panose="02010600040101010101" pitchFamily="2" charset="-122"/>
              </a:rPr>
              <a:t>数据立方体的最低级别（基底立方体）</a:t>
            </a:r>
          </a:p>
          <a:p>
            <a:pPr lvl="1" eaLnBrk="1" hangingPunct="1">
              <a:lnSpc>
                <a:spcPct val="120000"/>
              </a:lnSpc>
            </a:pPr>
            <a:r>
              <a:rPr lang="en-US" altLang="en-US" dirty="0">
                <a:ea typeface="STKaiti" panose="02010600040101010101" pitchFamily="2" charset="-122"/>
              </a:rPr>
              <a:t>某个感兴趣实体的聚合数据</a:t>
            </a:r>
          </a:p>
          <a:p>
            <a:pPr lvl="1" eaLnBrk="1" hangingPunct="1">
              <a:lnSpc>
                <a:spcPct val="120000"/>
              </a:lnSpc>
            </a:pPr>
            <a:r>
              <a:rPr lang="en-US" altLang="en-US" dirty="0">
                <a:ea typeface="STKaiti" panose="02010600040101010101" pitchFamily="2" charset="-122"/>
              </a:rPr>
              <a:t>例如，电话呼叫数据仓库中的一个客户</a:t>
            </a:r>
          </a:p>
          <a:p>
            <a:pPr eaLnBrk="1" hangingPunct="1">
              <a:lnSpc>
                <a:spcPct val="120000"/>
              </a:lnSpc>
            </a:pPr>
            <a:r>
              <a:rPr lang="en-US" altLang="en-US" dirty="0">
                <a:ea typeface="STKaiti" panose="02010600040101010101" pitchFamily="2" charset="-122"/>
              </a:rPr>
              <a:t>数据立方体中的多级聚合</a:t>
            </a:r>
          </a:p>
          <a:p>
            <a:pPr lvl="1" eaLnBrk="1" hangingPunct="1">
              <a:lnSpc>
                <a:spcPct val="120000"/>
              </a:lnSpc>
            </a:pPr>
            <a:r>
              <a:rPr lang="en-US" altLang="en-US" dirty="0">
                <a:ea typeface="STKaiti" panose="02010600040101010101" pitchFamily="2" charset="-122"/>
              </a:rPr>
              <a:t>进一步减少数据量以方便处理</a:t>
            </a:r>
          </a:p>
          <a:p>
            <a:pPr eaLnBrk="1" hangingPunct="1">
              <a:lnSpc>
                <a:spcPct val="120000"/>
              </a:lnSpc>
            </a:pPr>
            <a:r>
              <a:rPr lang="en-US" altLang="en-US" dirty="0">
                <a:ea typeface="STKaiti" panose="02010600040101010101" pitchFamily="2" charset="-122"/>
              </a:rPr>
              <a:t>选择适当的聚合级别</a:t>
            </a:r>
          </a:p>
          <a:p>
            <a:pPr lvl="1" eaLnBrk="1" hangingPunct="1">
              <a:lnSpc>
                <a:spcPct val="120000"/>
              </a:lnSpc>
            </a:pPr>
            <a:r>
              <a:rPr lang="en-US" altLang="en-US" dirty="0">
                <a:ea typeface="STKaiti" panose="02010600040101010101" pitchFamily="2" charset="-122"/>
              </a:rPr>
              <a:t>使用足以解决任务的最小表示形式</a:t>
            </a:r>
          </a:p>
          <a:p>
            <a:pPr eaLnBrk="1" hangingPunct="1">
              <a:lnSpc>
                <a:spcPct val="120000"/>
              </a:lnSpc>
            </a:pPr>
            <a:r>
              <a:rPr lang="en-US" altLang="en-US" dirty="0">
                <a:ea typeface="STKaiti" panose="02010600040101010101" pitchFamily="2" charset="-122"/>
              </a:rPr>
              <a:t>涉及聚合信息的查询应尽可能使用数据立方体进行回答</a:t>
            </a:r>
          </a:p>
        </p:txBody>
      </p:sp>
      <p:pic>
        <p:nvPicPr>
          <p:cNvPr id="4" name="Picture 6" descr="http://www.aussurveys.com.au/wp-content/uploads/2013/09/img-cube-graphi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598" y="1171574"/>
            <a:ext cx="5238750" cy="298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3577705"/>
      </p:ext>
    </p:extLst>
  </p:cSld>
  <p:clrMapOvr>
    <a:masterClrMapping/>
  </p:clrMapOvr>
  <p:transition>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a:xfrm>
            <a:off x="487680" y="304800"/>
            <a:ext cx="11129554" cy="685800"/>
          </a:xfrm>
        </p:spPr>
        <p:txBody>
          <a:bodyPr>
            <a:normAutofit/>
          </a:bodyPr>
          <a:lstStyle/>
          <a:p>
            <a:pPr eaLnBrk="1" hangingPunct="1"/>
            <a:r>
              <a:rPr lang="en-US" altLang="en-US" dirty="0"/>
              <a:t>自动概念层次结构生成</a:t>
            </a:r>
          </a:p>
        </p:txBody>
      </p:sp>
      <p:sp>
        <p:nvSpPr>
          <p:cNvPr id="65540" name="Rectangle 3"/>
          <p:cNvSpPr>
            <a:spLocks noGrp="1" noChangeArrowheads="1"/>
          </p:cNvSpPr>
          <p:nvPr>
            <p:ph type="body" idx="1"/>
          </p:nvPr>
        </p:nvSpPr>
        <p:spPr>
          <a:xfrm>
            <a:off x="696686" y="1295400"/>
            <a:ext cx="10668000" cy="2286000"/>
          </a:xfrm>
        </p:spPr>
        <p:txBody>
          <a:bodyPr/>
          <a:lstStyle/>
          <a:p>
            <a:pPr eaLnBrk="1" hangingPunct="1">
              <a:lnSpc>
                <a:spcPct val="90000"/>
              </a:lnSpc>
            </a:pPr>
            <a:r>
              <a:rPr lang="en-US" altLang="en-US" sz="2400" dirty="0">
                <a:ea typeface="STKaiti" panose="02010600040101010101" pitchFamily="2" charset="-122"/>
                <a:cs typeface="Calibri" panose="020F0502020204030204" pitchFamily="34" charset="0"/>
              </a:rPr>
              <a:t>某些层次结构可通过分析数据集中每个属性唯一值的数量自动生成 </a:t>
            </a:r>
          </a:p>
          <a:p>
            <a:pPr lvl="1" eaLnBrk="1" hangingPunct="1">
              <a:lnSpc>
                <a:spcPct val="90000"/>
              </a:lnSpc>
            </a:pPr>
            <a:r>
              <a:rPr lang="en-US" altLang="en-US" sz="2400" dirty="0">
                <a:ea typeface="STKaiti" panose="02010600040101010101" pitchFamily="2" charset="-122"/>
                <a:cs typeface="Calibri" panose="020F0502020204030204" pitchFamily="34" charset="0"/>
              </a:rPr>
              <a:t>具有最多唯一值的属性被放置在层次结构的最低层</a:t>
            </a:r>
          </a:p>
          <a:p>
            <a:pPr lvl="1" eaLnBrk="1" hangingPunct="1">
              <a:lnSpc>
                <a:spcPct val="90000"/>
              </a:lnSpc>
            </a:pPr>
            <a:r>
              <a:rPr lang="en-US" altLang="en-US" sz="2400" dirty="0">
                <a:ea typeface="STKaiti" panose="02010600040101010101" pitchFamily="2" charset="-122"/>
                <a:cs typeface="Calibri" panose="020F0502020204030204" pitchFamily="34" charset="0"/>
              </a:rPr>
              <a:t>例外情况，例如：星期几、月份、季度、年份</a:t>
            </a:r>
          </a:p>
        </p:txBody>
      </p:sp>
      <p:grpSp>
        <p:nvGrpSpPr>
          <p:cNvPr id="65541" name="Group 4"/>
          <p:cNvGrpSpPr>
            <a:grpSpLocks/>
          </p:cNvGrpSpPr>
          <p:nvPr/>
        </p:nvGrpSpPr>
        <p:grpSpPr bwMode="auto">
          <a:xfrm>
            <a:off x="2416097" y="2973495"/>
            <a:ext cx="7064375" cy="2728913"/>
            <a:chOff x="672" y="2438"/>
            <a:chExt cx="4450" cy="1719"/>
          </a:xfrm>
        </p:grpSpPr>
        <p:sp>
          <p:nvSpPr>
            <p:cNvPr id="65542" name="Oval 5"/>
            <p:cNvSpPr>
              <a:spLocks noChangeArrowheads="1"/>
            </p:cNvSpPr>
            <p:nvPr/>
          </p:nvSpPr>
          <p:spPr bwMode="auto">
            <a:xfrm>
              <a:off x="672" y="249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STKaiti" panose="02010600040101010101" pitchFamily="2" charset="-122"/>
                  <a:ea typeface="STKaiti" panose="02010600040101010101" pitchFamily="2" charset="-122"/>
                </a:rPr>
                <a:t>国家</a:t>
              </a:r>
            </a:p>
          </p:txBody>
        </p:sp>
        <p:sp>
          <p:nvSpPr>
            <p:cNvPr id="65543" name="Oval 6"/>
            <p:cNvSpPr>
              <a:spLocks noChangeArrowheads="1"/>
            </p:cNvSpPr>
            <p:nvPr/>
          </p:nvSpPr>
          <p:spPr bwMode="auto">
            <a:xfrm>
              <a:off x="708" y="2952"/>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STKaiti" panose="02010600040101010101" pitchFamily="2" charset="-122"/>
                  <a:ea typeface="STKaiti" panose="02010600040101010101" pitchFamily="2" charset="-122"/>
                </a:rPr>
                <a:t>省或州</a:t>
              </a:r>
            </a:p>
          </p:txBody>
        </p:sp>
        <p:sp>
          <p:nvSpPr>
            <p:cNvPr id="65544" name="Oval 7"/>
            <p:cNvSpPr>
              <a:spLocks noChangeArrowheads="1"/>
            </p:cNvSpPr>
            <p:nvPr/>
          </p:nvSpPr>
          <p:spPr bwMode="auto">
            <a:xfrm>
              <a:off x="756" y="345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STKaiti" panose="02010600040101010101" pitchFamily="2" charset="-122"/>
                  <a:ea typeface="STKaiti" panose="02010600040101010101" pitchFamily="2" charset="-122"/>
                </a:rPr>
                <a:t>城市</a:t>
              </a:r>
            </a:p>
          </p:txBody>
        </p:sp>
        <p:sp>
          <p:nvSpPr>
            <p:cNvPr id="65545" name="Oval 8"/>
            <p:cNvSpPr>
              <a:spLocks noChangeArrowheads="1"/>
            </p:cNvSpPr>
            <p:nvPr/>
          </p:nvSpPr>
          <p:spPr bwMode="auto">
            <a:xfrm>
              <a:off x="744" y="393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STKaiti" panose="02010600040101010101" pitchFamily="2" charset="-122"/>
                  <a:ea typeface="STKaiti" panose="02010600040101010101" pitchFamily="2" charset="-122"/>
                </a:rPr>
                <a:t>街道</a:t>
              </a:r>
            </a:p>
          </p:txBody>
        </p:sp>
        <p:sp>
          <p:nvSpPr>
            <p:cNvPr id="65546" name="Line 9"/>
            <p:cNvSpPr>
              <a:spLocks noChangeShapeType="1"/>
            </p:cNvSpPr>
            <p:nvPr/>
          </p:nvSpPr>
          <p:spPr bwMode="auto">
            <a:xfrm flipH="1">
              <a:off x="1836" y="2736"/>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latin typeface="STKaiti" panose="02010600040101010101" pitchFamily="2" charset="-122"/>
                <a:ea typeface="STKaiti" panose="02010600040101010101" pitchFamily="2" charset="-122"/>
              </a:endParaRPr>
            </a:p>
          </p:txBody>
        </p:sp>
        <p:sp>
          <p:nvSpPr>
            <p:cNvPr id="65547" name="Line 10"/>
            <p:cNvSpPr>
              <a:spLocks noChangeShapeType="1"/>
            </p:cNvSpPr>
            <p:nvPr/>
          </p:nvSpPr>
          <p:spPr bwMode="auto">
            <a:xfrm>
              <a:off x="1836" y="3096"/>
              <a:ext cx="0" cy="336"/>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latin typeface="STKaiti" panose="02010600040101010101" pitchFamily="2" charset="-122"/>
                <a:ea typeface="STKaiti" panose="02010600040101010101" pitchFamily="2" charset="-122"/>
              </a:endParaRPr>
            </a:p>
          </p:txBody>
        </p:sp>
        <p:sp>
          <p:nvSpPr>
            <p:cNvPr id="65548" name="Line 11"/>
            <p:cNvSpPr>
              <a:spLocks noChangeShapeType="1"/>
            </p:cNvSpPr>
            <p:nvPr/>
          </p:nvSpPr>
          <p:spPr bwMode="auto">
            <a:xfrm>
              <a:off x="1836" y="3612"/>
              <a:ext cx="0" cy="34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latin typeface="STKaiti" panose="02010600040101010101" pitchFamily="2" charset="-122"/>
                <a:ea typeface="STKaiti" panose="02010600040101010101" pitchFamily="2" charset="-122"/>
              </a:endParaRPr>
            </a:p>
          </p:txBody>
        </p:sp>
        <p:sp>
          <p:nvSpPr>
            <p:cNvPr id="65549" name="Text Box 12"/>
            <p:cNvSpPr txBox="1">
              <a:spLocks noChangeArrowheads="1"/>
            </p:cNvSpPr>
            <p:nvPr/>
          </p:nvSpPr>
          <p:spPr bwMode="auto">
            <a:xfrm>
              <a:off x="3709" y="2438"/>
              <a:ext cx="112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STKaiti" panose="02010600040101010101" pitchFamily="2" charset="-122"/>
                  <a:ea typeface="STKaiti" panose="02010600040101010101" pitchFamily="2" charset="-122"/>
                </a:rPr>
                <a:t>15 个不同值</a:t>
              </a:r>
            </a:p>
          </p:txBody>
        </p:sp>
        <p:sp>
          <p:nvSpPr>
            <p:cNvPr id="65550" name="Text Box 13"/>
            <p:cNvSpPr txBox="1">
              <a:spLocks noChangeArrowheads="1"/>
            </p:cNvSpPr>
            <p:nvPr/>
          </p:nvSpPr>
          <p:spPr bwMode="auto">
            <a:xfrm>
              <a:off x="3552" y="2942"/>
              <a:ext cx="15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STKaiti" panose="02010600040101010101" pitchFamily="2" charset="-122"/>
                  <a:ea typeface="STKaiti" panose="02010600040101010101" pitchFamily="2" charset="-122"/>
                </a:rPr>
                <a:t>365 个唯一值</a:t>
              </a:r>
            </a:p>
          </p:txBody>
        </p:sp>
        <p:sp>
          <p:nvSpPr>
            <p:cNvPr id="65551" name="Text Box 14"/>
            <p:cNvSpPr txBox="1">
              <a:spLocks noChangeArrowheads="1"/>
            </p:cNvSpPr>
            <p:nvPr/>
          </p:nvSpPr>
          <p:spPr bwMode="auto">
            <a:xfrm>
              <a:off x="3643" y="3410"/>
              <a:ext cx="13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STKaiti" panose="02010600040101010101" pitchFamily="2" charset="-122"/>
                  <a:ea typeface="STKaiti" panose="02010600040101010101" pitchFamily="2" charset="-122"/>
                </a:rPr>
                <a:t>3567 个唯一值</a:t>
              </a:r>
            </a:p>
          </p:txBody>
        </p:sp>
        <p:sp>
          <p:nvSpPr>
            <p:cNvPr id="65552" name="Text Box 15"/>
            <p:cNvSpPr txBox="1">
              <a:spLocks noChangeArrowheads="1"/>
            </p:cNvSpPr>
            <p:nvPr/>
          </p:nvSpPr>
          <p:spPr bwMode="auto">
            <a:xfrm>
              <a:off x="3471" y="3866"/>
              <a:ext cx="152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STKaiti" panose="02010600040101010101" pitchFamily="2" charset="-122"/>
                  <a:ea typeface="STKaiti" panose="02010600040101010101" pitchFamily="2" charset="-122"/>
                </a:rPr>
                <a:t>674,339 个唯一值</a:t>
              </a:r>
            </a:p>
          </p:txBody>
        </p:sp>
      </p:grpSp>
    </p:spTree>
    <p:extLst>
      <p:ext uri="{BB962C8B-B14F-4D97-AF65-F5344CB8AC3E}">
        <p14:creationId xmlns:p14="http://schemas.microsoft.com/office/powerpoint/2010/main" val="33377503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1371600" y="152400"/>
            <a:ext cx="9525000" cy="762000"/>
          </a:xfrm>
        </p:spPr>
        <p:txBody>
          <a:bodyPr/>
          <a:lstStyle/>
          <a:p>
            <a:pPr eaLnBrk="1" hangingPunct="1"/>
            <a:r>
              <a:rPr lang="en-US" altLang="en-US" dirty="0"/>
              <a:t>采样</a:t>
            </a:r>
          </a:p>
        </p:txBody>
      </p:sp>
      <p:sp>
        <p:nvSpPr>
          <p:cNvPr id="47108" name="Rectangle 3"/>
          <p:cNvSpPr>
            <a:spLocks noGrp="1" noChangeArrowheads="1"/>
          </p:cNvSpPr>
          <p:nvPr>
            <p:ph type="body" idx="1"/>
          </p:nvPr>
        </p:nvSpPr>
        <p:spPr>
          <a:xfrm>
            <a:off x="627017" y="1371600"/>
            <a:ext cx="10711543" cy="5181600"/>
          </a:xfrm>
        </p:spPr>
        <p:txBody>
          <a:bodyPr/>
          <a:lstStyle/>
          <a:p>
            <a:pPr eaLnBrk="1" hangingPunct="1">
              <a:lnSpc>
                <a:spcPct val="120000"/>
              </a:lnSpc>
            </a:pPr>
            <a:r>
              <a:rPr lang="en-US" altLang="en-US" sz="2400" dirty="0"/>
              <a:t>采样：从整个数据集</a:t>
            </a:r>
            <a:r>
              <a:rPr lang="en-US" altLang="en-US" sz="2400" i="1" dirty="0"/>
              <a:t>N</a:t>
            </a:r>
            <a:r>
              <a:rPr lang="en-US" altLang="en-US" sz="2400" dirty="0"/>
              <a:t>中获取一个小</a:t>
            </a:r>
            <a:r>
              <a:rPr lang="en-US" altLang="en-US" sz="2400" i="1" dirty="0"/>
              <a:t>样本s</a:t>
            </a:r>
            <a:r>
              <a:rPr lang="en-US" altLang="en-US" sz="2400" dirty="0"/>
              <a:t>以代表整个数据集</a:t>
            </a:r>
          </a:p>
          <a:p>
            <a:pPr eaLnBrk="1" hangingPunct="1">
              <a:lnSpc>
                <a:spcPct val="120000"/>
              </a:lnSpc>
            </a:pPr>
            <a:r>
              <a:rPr lang="en-US" altLang="en-US" sz="2400" dirty="0"/>
              <a:t>使挖掘算法的复杂度在理论上可能小于数据集大小的线性时间</a:t>
            </a:r>
          </a:p>
          <a:p>
            <a:pPr eaLnBrk="1" hangingPunct="1">
              <a:lnSpc>
                <a:spcPct val="120000"/>
              </a:lnSpc>
            </a:pPr>
            <a:r>
              <a:rPr lang="en-US" altLang="en-US" sz="2400" dirty="0"/>
              <a:t>关键原则：选择数据的</a:t>
            </a:r>
            <a:r>
              <a:rPr lang="en-US" altLang="en-US" sz="2400" b="1" dirty="0"/>
              <a:t>代表性</a:t>
            </a:r>
            <a:r>
              <a:rPr lang="en-US" altLang="en-US" sz="2400" dirty="0"/>
              <a:t>子集</a:t>
            </a:r>
          </a:p>
          <a:p>
            <a:pPr lvl="1" eaLnBrk="1" hangingPunct="1">
              <a:lnSpc>
                <a:spcPct val="120000"/>
              </a:lnSpc>
            </a:pPr>
            <a:r>
              <a:rPr lang="en-US" altLang="en-US" sz="2400" dirty="0"/>
              <a:t>在数据存在偏斜的情况下，简单随机采样可能表现非常差</a:t>
            </a:r>
          </a:p>
          <a:p>
            <a:pPr lvl="1" eaLnBrk="1" hangingPunct="1">
              <a:lnSpc>
                <a:spcPct val="120000"/>
              </a:lnSpc>
            </a:pPr>
            <a:r>
              <a:rPr lang="en-US" altLang="en-US" sz="2400" dirty="0"/>
              <a:t>开发自适应采样方法，例如分层采样： </a:t>
            </a:r>
          </a:p>
          <a:p>
            <a:pPr eaLnBrk="1" hangingPunct="1">
              <a:lnSpc>
                <a:spcPct val="120000"/>
              </a:lnSpc>
            </a:pPr>
            <a:r>
              <a:rPr lang="en-US" altLang="en-US" sz="2400" dirty="0"/>
              <a:t>注意：采样可能不会减少</a:t>
            </a:r>
            <a:r>
              <a:rPr lang="en-US" altLang="en-US" sz="2400" dirty="0" err="1"/>
              <a:t>数据库I/O</a:t>
            </a:r>
            <a:r>
              <a:rPr lang="en-US" altLang="en-US" sz="2400" dirty="0"/>
              <a:t>（每次读取一页）</a:t>
            </a:r>
          </a:p>
        </p:txBody>
      </p:sp>
    </p:spTree>
    <p:extLst>
      <p:ext uri="{BB962C8B-B14F-4D97-AF65-F5344CB8AC3E}">
        <p14:creationId xmlns:p14="http://schemas.microsoft.com/office/powerpoint/2010/main" val="38137824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7140428" y="1324889"/>
            <a:ext cx="4579843" cy="2415511"/>
            <a:chOff x="2400300" y="1771650"/>
            <a:chExt cx="7334250" cy="4362450"/>
          </a:xfrm>
        </p:grpSpPr>
        <p:sp>
          <p:nvSpPr>
            <p:cNvPr id="58" name="Text Box 3"/>
            <p:cNvSpPr txBox="1">
              <a:spLocks noChangeArrowheads="1"/>
            </p:cNvSpPr>
            <p:nvPr/>
          </p:nvSpPr>
          <p:spPr bwMode="auto">
            <a:xfrm rot="20586437">
              <a:off x="5273231" y="2632036"/>
              <a:ext cx="2065750" cy="1500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600" dirty="0">
                  <a:latin typeface="STKaiti" panose="02010600040101010101" pitchFamily="2" charset="-122"/>
                  <a:ea typeface="STKaiti" panose="02010600040101010101" pitchFamily="2" charset="-122"/>
                </a:rPr>
                <a:t>SRSWOR</a:t>
              </a:r>
            </a:p>
            <a:p>
              <a:r>
                <a:rPr lang="en-US" altLang="en-US" sz="1600" dirty="0">
                  <a:latin typeface="STKaiti" panose="02010600040101010101" pitchFamily="2" charset="-122"/>
                  <a:ea typeface="STKaiti" panose="02010600040101010101" pitchFamily="2" charset="-122"/>
                </a:rPr>
                <a:t>(简单随机抽样，不替换)</a:t>
              </a:r>
            </a:p>
          </p:txBody>
        </p:sp>
        <p:grpSp>
          <p:nvGrpSpPr>
            <p:cNvPr id="59" name="Group 4"/>
            <p:cNvGrpSpPr>
              <a:grpSpLocks/>
            </p:cNvGrpSpPr>
            <p:nvPr/>
          </p:nvGrpSpPr>
          <p:grpSpPr bwMode="auto">
            <a:xfrm>
              <a:off x="7219950" y="1771650"/>
              <a:ext cx="2438400" cy="1676400"/>
              <a:chOff x="3588" y="1116"/>
              <a:chExt cx="1536" cy="1056"/>
            </a:xfrm>
          </p:grpSpPr>
          <p:sp>
            <p:nvSpPr>
              <p:cNvPr id="80" name="AutoShape 5"/>
              <p:cNvSpPr>
                <a:spLocks noChangeArrowheads="1"/>
              </p:cNvSpPr>
              <p:nvPr/>
            </p:nvSpPr>
            <p:spPr bwMode="auto">
              <a:xfrm>
                <a:off x="3588" y="1116"/>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81" name="Oval 6"/>
              <p:cNvSpPr>
                <a:spLocks noChangeArrowheads="1"/>
              </p:cNvSpPr>
              <p:nvPr/>
            </p:nvSpPr>
            <p:spPr bwMode="auto">
              <a:xfrm>
                <a:off x="4092" y="1788"/>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82" name="Oval 7"/>
              <p:cNvSpPr>
                <a:spLocks noChangeArrowheads="1"/>
              </p:cNvSpPr>
              <p:nvPr/>
            </p:nvSpPr>
            <p:spPr bwMode="auto">
              <a:xfrm>
                <a:off x="4632" y="1632"/>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83" name="Oval 8"/>
              <p:cNvSpPr>
                <a:spLocks noChangeArrowheads="1"/>
              </p:cNvSpPr>
              <p:nvPr/>
            </p:nvSpPr>
            <p:spPr bwMode="auto">
              <a:xfrm>
                <a:off x="3588" y="1668"/>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grpSp>
        <p:sp>
          <p:nvSpPr>
            <p:cNvPr id="60" name="Text Box 9"/>
            <p:cNvSpPr txBox="1">
              <a:spLocks noChangeArrowheads="1"/>
            </p:cNvSpPr>
            <p:nvPr/>
          </p:nvSpPr>
          <p:spPr bwMode="auto">
            <a:xfrm rot="848056">
              <a:off x="5281186" y="4972697"/>
              <a:ext cx="1628043" cy="722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STKaiti" panose="02010600040101010101" pitchFamily="2" charset="-122"/>
                  <a:ea typeface="STKaiti" panose="02010600040101010101" pitchFamily="2" charset="-122"/>
                </a:rPr>
                <a:t>SRSWR</a:t>
              </a:r>
            </a:p>
          </p:txBody>
        </p:sp>
        <p:grpSp>
          <p:nvGrpSpPr>
            <p:cNvPr id="61" name="Group 10"/>
            <p:cNvGrpSpPr>
              <a:grpSpLocks/>
            </p:cNvGrpSpPr>
            <p:nvPr/>
          </p:nvGrpSpPr>
          <p:grpSpPr bwMode="auto">
            <a:xfrm>
              <a:off x="7296150" y="4457700"/>
              <a:ext cx="2438400" cy="1676400"/>
              <a:chOff x="3636" y="2808"/>
              <a:chExt cx="1536" cy="1056"/>
            </a:xfrm>
          </p:grpSpPr>
          <p:sp>
            <p:nvSpPr>
              <p:cNvPr id="76" name="AutoShape 11"/>
              <p:cNvSpPr>
                <a:spLocks noChangeArrowheads="1"/>
              </p:cNvSpPr>
              <p:nvPr/>
            </p:nvSpPr>
            <p:spPr bwMode="auto">
              <a:xfrm>
                <a:off x="3636" y="2808"/>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77" name="Oval 12"/>
              <p:cNvSpPr>
                <a:spLocks noChangeArrowheads="1"/>
              </p:cNvSpPr>
              <p:nvPr/>
            </p:nvSpPr>
            <p:spPr bwMode="auto">
              <a:xfrm>
                <a:off x="3648" y="3372"/>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78" name="Oval 13"/>
              <p:cNvSpPr>
                <a:spLocks noChangeArrowheads="1"/>
              </p:cNvSpPr>
              <p:nvPr/>
            </p:nvSpPr>
            <p:spPr bwMode="auto">
              <a:xfrm>
                <a:off x="4188" y="3480"/>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79" name="Oval 14"/>
              <p:cNvSpPr>
                <a:spLocks noChangeArrowheads="1"/>
              </p:cNvSpPr>
              <p:nvPr/>
            </p:nvSpPr>
            <p:spPr bwMode="auto">
              <a:xfrm>
                <a:off x="4656" y="3288"/>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grpSp>
        <p:grpSp>
          <p:nvGrpSpPr>
            <p:cNvPr id="62" name="Group 15"/>
            <p:cNvGrpSpPr>
              <a:grpSpLocks/>
            </p:cNvGrpSpPr>
            <p:nvPr/>
          </p:nvGrpSpPr>
          <p:grpSpPr bwMode="auto">
            <a:xfrm>
              <a:off x="2400300" y="1905001"/>
              <a:ext cx="2724150" cy="4152900"/>
              <a:chOff x="564" y="1284"/>
              <a:chExt cx="1716" cy="2616"/>
            </a:xfrm>
          </p:grpSpPr>
          <p:sp>
            <p:nvSpPr>
              <p:cNvPr id="65" name="AutoShape 16"/>
              <p:cNvSpPr>
                <a:spLocks noChangeArrowheads="1"/>
              </p:cNvSpPr>
              <p:nvPr/>
            </p:nvSpPr>
            <p:spPr bwMode="auto">
              <a:xfrm>
                <a:off x="564" y="1284"/>
                <a:ext cx="1716" cy="2616"/>
              </a:xfrm>
              <a:prstGeom prst="can">
                <a:avLst>
                  <a:gd name="adj" fmla="val 3811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66" name="Oval 17"/>
              <p:cNvSpPr>
                <a:spLocks noChangeArrowheads="1"/>
              </p:cNvSpPr>
              <p:nvPr/>
            </p:nvSpPr>
            <p:spPr bwMode="auto">
              <a:xfrm>
                <a:off x="672" y="3336"/>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67" name="Oval 18"/>
              <p:cNvSpPr>
                <a:spLocks noChangeArrowheads="1"/>
              </p:cNvSpPr>
              <p:nvPr/>
            </p:nvSpPr>
            <p:spPr bwMode="auto">
              <a:xfrm>
                <a:off x="660" y="2916"/>
                <a:ext cx="540" cy="360"/>
              </a:xfrm>
              <a:prstGeom prst="ellipse">
                <a:avLst/>
              </a:prstGeom>
              <a:solidFill>
                <a:srgbClr val="006666"/>
              </a:solidFill>
              <a:ln w="9525">
                <a:solidFill>
                  <a:schemeClr val="accent2"/>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68" name="Oval 19"/>
              <p:cNvSpPr>
                <a:spLocks noChangeArrowheads="1"/>
              </p:cNvSpPr>
              <p:nvPr/>
            </p:nvSpPr>
            <p:spPr bwMode="auto">
              <a:xfrm>
                <a:off x="1236" y="3468"/>
                <a:ext cx="564" cy="396"/>
              </a:xfrm>
              <a:prstGeom prst="ellipse">
                <a:avLst/>
              </a:prstGeom>
              <a:solidFill>
                <a:srgbClr val="12132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69" name="Oval 20"/>
              <p:cNvSpPr>
                <a:spLocks noChangeArrowheads="1"/>
              </p:cNvSpPr>
              <p:nvPr/>
            </p:nvSpPr>
            <p:spPr bwMode="auto">
              <a:xfrm>
                <a:off x="1764" y="3240"/>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70" name="Oval 21"/>
              <p:cNvSpPr>
                <a:spLocks noChangeArrowheads="1"/>
              </p:cNvSpPr>
              <p:nvPr/>
            </p:nvSpPr>
            <p:spPr bwMode="auto">
              <a:xfrm>
                <a:off x="1236" y="3084"/>
                <a:ext cx="468" cy="372"/>
              </a:xfrm>
              <a:prstGeom prst="ellipse">
                <a:avLst/>
              </a:prstGeom>
              <a:solidFill>
                <a:srgbClr val="CCFF99"/>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71" name="Oval 22"/>
              <p:cNvSpPr>
                <a:spLocks noChangeArrowheads="1"/>
              </p:cNvSpPr>
              <p:nvPr/>
            </p:nvSpPr>
            <p:spPr bwMode="auto">
              <a:xfrm>
                <a:off x="1680" y="2808"/>
                <a:ext cx="540" cy="360"/>
              </a:xfrm>
              <a:prstGeom prst="ellipse">
                <a:avLst/>
              </a:prstGeom>
              <a:solidFill>
                <a:schemeClr val="hlink"/>
              </a:solidFill>
              <a:ln w="9525">
                <a:solidFill>
                  <a:schemeClr val="hlink"/>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72" name="Oval 23"/>
              <p:cNvSpPr>
                <a:spLocks noChangeArrowheads="1"/>
              </p:cNvSpPr>
              <p:nvPr/>
            </p:nvSpPr>
            <p:spPr bwMode="auto">
              <a:xfrm>
                <a:off x="1092" y="2664"/>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73" name="Oval 24"/>
              <p:cNvSpPr>
                <a:spLocks noChangeArrowheads="1"/>
              </p:cNvSpPr>
              <p:nvPr/>
            </p:nvSpPr>
            <p:spPr bwMode="auto">
              <a:xfrm>
                <a:off x="564" y="2556"/>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74" name="Oval 25"/>
              <p:cNvSpPr>
                <a:spLocks noChangeArrowheads="1"/>
              </p:cNvSpPr>
              <p:nvPr/>
            </p:nvSpPr>
            <p:spPr bwMode="auto">
              <a:xfrm>
                <a:off x="1620" y="2424"/>
                <a:ext cx="540" cy="360"/>
              </a:xfrm>
              <a:prstGeom prst="ellipse">
                <a:avLst/>
              </a:prstGeom>
              <a:solidFill>
                <a:srgbClr val="423E7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STKaiti" panose="02010600040101010101" pitchFamily="2" charset="-122"/>
                  <a:ea typeface="STKaiti" panose="02010600040101010101" pitchFamily="2" charset="-122"/>
                </a:endParaRPr>
              </a:p>
            </p:txBody>
          </p:sp>
          <p:sp>
            <p:nvSpPr>
              <p:cNvPr id="75" name="Text Box 26"/>
              <p:cNvSpPr txBox="1">
                <a:spLocks noChangeArrowheads="1"/>
              </p:cNvSpPr>
              <p:nvPr/>
            </p:nvSpPr>
            <p:spPr bwMode="auto">
              <a:xfrm>
                <a:off x="829" y="1447"/>
                <a:ext cx="1221" cy="45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STKaiti" panose="02010600040101010101" pitchFamily="2" charset="-122"/>
                    <a:ea typeface="STKaiti" panose="02010600040101010101" pitchFamily="2" charset="-122"/>
                  </a:rPr>
                  <a:t>原始数据</a:t>
                </a:r>
              </a:p>
            </p:txBody>
          </p:sp>
        </p:grpSp>
        <p:sp>
          <p:nvSpPr>
            <p:cNvPr id="63" name="Line 27"/>
            <p:cNvSpPr>
              <a:spLocks noChangeShapeType="1"/>
            </p:cNvSpPr>
            <p:nvPr/>
          </p:nvSpPr>
          <p:spPr bwMode="auto">
            <a:xfrm flipV="1">
              <a:off x="5286734" y="2838449"/>
              <a:ext cx="1857014" cy="70644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STKaiti" panose="02010600040101010101" pitchFamily="2" charset="-122"/>
                <a:ea typeface="STKaiti" panose="02010600040101010101" pitchFamily="2" charset="-122"/>
              </a:endParaRPr>
            </a:p>
          </p:txBody>
        </p:sp>
        <p:sp>
          <p:nvSpPr>
            <p:cNvPr id="64" name="Line 28"/>
            <p:cNvSpPr>
              <a:spLocks noChangeShapeType="1"/>
            </p:cNvSpPr>
            <p:nvPr/>
          </p:nvSpPr>
          <p:spPr bwMode="auto">
            <a:xfrm>
              <a:off x="5353050" y="4895850"/>
              <a:ext cx="1790700" cy="495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STKaiti" panose="02010600040101010101" pitchFamily="2" charset="-122"/>
                <a:ea typeface="STKaiti" panose="02010600040101010101" pitchFamily="2" charset="-122"/>
              </a:endParaRPr>
            </a:p>
          </p:txBody>
        </p:sp>
      </p:grpSp>
      <p:sp>
        <p:nvSpPr>
          <p:cNvPr id="48131" name="Rectangle 2"/>
          <p:cNvSpPr>
            <a:spLocks noGrp="1" noChangeArrowheads="1"/>
          </p:cNvSpPr>
          <p:nvPr>
            <p:ph type="title"/>
          </p:nvPr>
        </p:nvSpPr>
        <p:spPr>
          <a:xfrm>
            <a:off x="1371600" y="152400"/>
            <a:ext cx="9525000" cy="762000"/>
          </a:xfrm>
        </p:spPr>
        <p:txBody>
          <a:bodyPr/>
          <a:lstStyle/>
          <a:p>
            <a:pPr eaLnBrk="1" hangingPunct="1"/>
            <a:r>
              <a:rPr lang="en-US" altLang="en-US"/>
              <a:t>抽样类型</a:t>
            </a:r>
          </a:p>
        </p:txBody>
      </p:sp>
      <p:sp>
        <p:nvSpPr>
          <p:cNvPr id="48132" name="Rectangle 3"/>
          <p:cNvSpPr>
            <a:spLocks noGrp="1" noChangeArrowheads="1"/>
          </p:cNvSpPr>
          <p:nvPr>
            <p:ph type="body" idx="1"/>
          </p:nvPr>
        </p:nvSpPr>
        <p:spPr>
          <a:xfrm>
            <a:off x="571351" y="1139926"/>
            <a:ext cx="6395124" cy="5592568"/>
          </a:xfrm>
        </p:spPr>
        <p:txBody>
          <a:bodyPr/>
          <a:lstStyle/>
          <a:p>
            <a:pPr eaLnBrk="1" hangingPunct="1">
              <a:spcAft>
                <a:spcPts val="300"/>
              </a:spcAft>
            </a:pPr>
            <a:r>
              <a:rPr lang="en-US" altLang="en-US" sz="2200" b="1" dirty="0">
                <a:ea typeface="STKaiti" panose="02010600040101010101" pitchFamily="2" charset="-122"/>
              </a:rPr>
              <a:t>简单随机抽样：</a:t>
            </a:r>
            <a:r>
              <a:rPr lang="en-US" altLang="en-US" sz="2200" dirty="0">
                <a:ea typeface="STKaiti" panose="02010600040101010101" pitchFamily="2" charset="-122"/>
              </a:rPr>
              <a:t>选取任何特定项目的概率相等</a:t>
            </a:r>
          </a:p>
          <a:p>
            <a:pPr eaLnBrk="1" hangingPunct="1">
              <a:spcAft>
                <a:spcPts val="300"/>
              </a:spcAft>
            </a:pPr>
            <a:r>
              <a:rPr lang="en-US" altLang="en-US" sz="2200" b="1" dirty="0">
                <a:ea typeface="STKaiti" panose="02010600040101010101" pitchFamily="2" charset="-122"/>
              </a:rPr>
              <a:t>不放回抽样</a:t>
            </a:r>
          </a:p>
          <a:p>
            <a:pPr lvl="1" eaLnBrk="1" hangingPunct="1">
              <a:spcAft>
                <a:spcPts val="300"/>
              </a:spcAft>
            </a:pPr>
            <a:r>
              <a:rPr lang="en-US" altLang="en-US" sz="2200" dirty="0">
                <a:ea typeface="STKaiti" panose="02010600040101010101" pitchFamily="2" charset="-122"/>
              </a:rPr>
              <a:t>一旦选中某一对象，该对象即从总体中移除</a:t>
            </a:r>
          </a:p>
          <a:p>
            <a:pPr eaLnBrk="1" hangingPunct="1">
              <a:spcAft>
                <a:spcPts val="300"/>
              </a:spcAft>
            </a:pPr>
            <a:r>
              <a:rPr lang="en-US" altLang="en-US" sz="2200" b="1" dirty="0">
                <a:ea typeface="STKaiti" panose="02010600040101010101" pitchFamily="2" charset="-122"/>
              </a:rPr>
              <a:t>有放回抽样</a:t>
            </a:r>
          </a:p>
          <a:p>
            <a:pPr lvl="1" eaLnBrk="1" hangingPunct="1">
              <a:spcAft>
                <a:spcPts val="300"/>
              </a:spcAft>
            </a:pPr>
            <a:r>
              <a:rPr lang="en-US" altLang="en-US" sz="2200" dirty="0">
                <a:ea typeface="STKaiti" panose="02010600040101010101" pitchFamily="2" charset="-122"/>
              </a:rPr>
              <a:t>选中的对象不从总体中移除</a:t>
            </a:r>
          </a:p>
          <a:p>
            <a:pPr>
              <a:spcAft>
                <a:spcPts val="300"/>
              </a:spcAft>
            </a:pPr>
            <a:r>
              <a:rPr lang="en-US" altLang="en-US" sz="2200" b="1" dirty="0">
                <a:ea typeface="STKaiti" panose="02010600040101010101" pitchFamily="2" charset="-122"/>
              </a:rPr>
              <a:t>分层抽样</a:t>
            </a:r>
          </a:p>
          <a:p>
            <a:pPr lvl="1">
              <a:spcAft>
                <a:spcPts val="300"/>
              </a:spcAft>
            </a:pPr>
            <a:r>
              <a:rPr lang="en-US" altLang="en-US" sz="2200" dirty="0">
                <a:ea typeface="STKaiti" panose="02010600040101010101" pitchFamily="2" charset="-122"/>
              </a:rPr>
              <a:t>将数据集划分为若干部分（或聚类），然后从每个部分中抽取样本（按比例，即大约占数据的相同百分比）</a:t>
            </a:r>
            <a:endParaRPr lang="en-US" altLang="en-US" sz="2200" b="1" dirty="0">
              <a:ea typeface="STKaiti" panose="02010600040101010101" pitchFamily="2" charset="-122"/>
            </a:endParaRPr>
          </a:p>
        </p:txBody>
      </p:sp>
      <p:pic>
        <p:nvPicPr>
          <p:cNvPr id="86" name="Picture 2" descr="Image result for stratified sampl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6089" y="3903741"/>
            <a:ext cx="3718432" cy="2862390"/>
          </a:xfrm>
          <a:prstGeom prst="rect">
            <a:avLst/>
          </a:prstGeom>
          <a:noFill/>
          <a:extLst>
            <a:ext uri="{909E8E84-426E-40DD-AFC4-6F175D3DCCD1}">
              <a14:hiddenFill xmlns:a14="http://schemas.microsoft.com/office/drawing/2010/main">
                <a:solidFill>
                  <a:srgbClr val="FFFFFF"/>
                </a:solidFill>
              </a14:hiddenFill>
            </a:ext>
          </a:extLst>
        </p:spPr>
      </p:pic>
      <p:sp>
        <p:nvSpPr>
          <p:cNvPr id="140" name="Text Box 26"/>
          <p:cNvSpPr txBox="1">
            <a:spLocks noChangeArrowheads="1"/>
          </p:cNvSpPr>
          <p:nvPr/>
        </p:nvSpPr>
        <p:spPr bwMode="auto">
          <a:xfrm>
            <a:off x="6743230" y="5216302"/>
            <a:ext cx="1210588" cy="400110"/>
          </a:xfrm>
          <a:prstGeom prst="rect">
            <a:avLst/>
          </a:prstGeom>
          <a:solidFill>
            <a:srgbClr val="92D050"/>
          </a:solidFill>
          <a:ln>
            <a:noFill/>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STKaiti" panose="02010600040101010101" pitchFamily="2" charset="-122"/>
                <a:ea typeface="STKaiti" panose="02010600040101010101" pitchFamily="2" charset="-122"/>
              </a:rPr>
              <a:t>分层抽样</a:t>
            </a:r>
          </a:p>
        </p:txBody>
      </p:sp>
    </p:spTree>
    <p:extLst>
      <p:ext uri="{BB962C8B-B14F-4D97-AF65-F5344CB8AC3E}">
        <p14:creationId xmlns:p14="http://schemas.microsoft.com/office/powerpoint/2010/main" val="27696443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1515290" y="306977"/>
            <a:ext cx="8908869" cy="685800"/>
          </a:xfrm>
        </p:spPr>
        <p:txBody>
          <a:bodyPr>
            <a:normAutofit/>
          </a:bodyPr>
          <a:lstStyle/>
          <a:p>
            <a:pPr eaLnBrk="1" hangingPunct="1"/>
            <a:r>
              <a:rPr lang="en-US" altLang="en-US" dirty="0"/>
              <a:t>数据简化</a:t>
            </a:r>
          </a:p>
        </p:txBody>
      </p:sp>
      <p:sp>
        <p:nvSpPr>
          <p:cNvPr id="28676" name="Rectangle 3"/>
          <p:cNvSpPr>
            <a:spLocks noGrp="1" noChangeArrowheads="1"/>
          </p:cNvSpPr>
          <p:nvPr>
            <p:ph type="body" idx="1"/>
          </p:nvPr>
        </p:nvSpPr>
        <p:spPr>
          <a:xfrm>
            <a:off x="596536" y="1162594"/>
            <a:ext cx="10959737" cy="5543006"/>
          </a:xfrm>
        </p:spPr>
        <p:txBody>
          <a:bodyPr/>
          <a:lstStyle/>
          <a:p>
            <a:pPr eaLnBrk="1" hangingPunct="1">
              <a:spcAft>
                <a:spcPts val="600"/>
              </a:spcAft>
            </a:pPr>
            <a:r>
              <a:rPr lang="en-US" altLang="en-US" sz="2400" b="1" dirty="0"/>
              <a:t>数据简化</a:t>
            </a:r>
            <a:r>
              <a:rPr lang="en-US" altLang="en-US" sz="2400" dirty="0"/>
              <a:t>： </a:t>
            </a:r>
          </a:p>
          <a:p>
            <a:pPr lvl="1">
              <a:spcAft>
                <a:spcPts val="600"/>
              </a:spcAft>
            </a:pPr>
            <a:r>
              <a:rPr lang="en-US" altLang="en-US" sz="2400" dirty="0"/>
              <a:t>获得数据集的简化表示 </a:t>
            </a:r>
          </a:p>
          <a:p>
            <a:pPr lvl="2">
              <a:spcAft>
                <a:spcPts val="600"/>
              </a:spcAft>
            </a:pPr>
            <a:r>
              <a:rPr lang="en-US" altLang="en-US" sz="2400" dirty="0"/>
              <a:t>体积大幅缩小但仍能产生</a:t>
            </a:r>
            <a:r>
              <a:rPr lang="en-US" altLang="en-US" sz="2400" i="1" dirty="0"/>
              <a:t>几乎</a:t>
            </a:r>
            <a:r>
              <a:rPr lang="en-US" altLang="en-US" sz="2400" dirty="0"/>
              <a:t>相同的分析结果</a:t>
            </a:r>
          </a:p>
          <a:p>
            <a:pPr eaLnBrk="1" hangingPunct="1">
              <a:spcAft>
                <a:spcPts val="600"/>
              </a:spcAft>
            </a:pPr>
            <a:r>
              <a:rPr lang="en-US" altLang="en-US" sz="2400" dirty="0"/>
              <a:t>为什么进行数据压缩？—数据库/数据仓库可能存储数千兆字节的数据</a:t>
            </a:r>
          </a:p>
          <a:p>
            <a:pPr lvl="1">
              <a:spcAft>
                <a:spcPts val="600"/>
              </a:spcAft>
            </a:pPr>
            <a:r>
              <a:rPr lang="en-US" altLang="en-US" sz="2400" dirty="0"/>
              <a:t>在完整数据集上进行复杂分析可能需要非常长的时间</a:t>
            </a:r>
          </a:p>
          <a:p>
            <a:pPr>
              <a:spcAft>
                <a:spcPts val="600"/>
              </a:spcAft>
            </a:pPr>
            <a:r>
              <a:rPr lang="en-US" altLang="en-US" sz="2400" b="1" dirty="0"/>
              <a:t>数据压缩的方法</a:t>
            </a:r>
            <a:r>
              <a:rPr lang="en-US" altLang="en-US" sz="2400" dirty="0"/>
              <a:t>（也称为</a:t>
            </a:r>
            <a:r>
              <a:rPr lang="en-US" altLang="en-US" sz="2400" i="1" dirty="0"/>
              <a:t>数据规模</a:t>
            </a:r>
            <a:r>
              <a:rPr lang="en-US" altLang="en-US" sz="2400" dirty="0"/>
              <a:t>压缩或</a:t>
            </a:r>
            <a:r>
              <a:rPr lang="en-US" altLang="en-US" sz="2400" i="1" dirty="0" err="1"/>
              <a:t>数据量</a:t>
            </a:r>
            <a:r>
              <a:rPr lang="en-US" altLang="en-US" sz="2400" i="1" dirty="0"/>
              <a:t>压缩</a:t>
            </a:r>
            <a:r>
              <a:rPr lang="en-US" altLang="en-US" sz="2400" dirty="0"/>
              <a:t>） </a:t>
            </a:r>
          </a:p>
          <a:p>
            <a:pPr lvl="1">
              <a:spcAft>
                <a:spcPts val="600"/>
              </a:spcAft>
            </a:pPr>
            <a:r>
              <a:rPr lang="en-US" altLang="en-US" sz="2400" dirty="0"/>
              <a:t>回归分析与对数线性模型</a:t>
            </a:r>
          </a:p>
          <a:p>
            <a:pPr lvl="1">
              <a:spcAft>
                <a:spcPts val="600"/>
              </a:spcAft>
            </a:pPr>
            <a:r>
              <a:rPr lang="en-US" altLang="en-US" sz="2400" dirty="0"/>
              <a:t>直方图、聚类、采样</a:t>
            </a:r>
          </a:p>
          <a:p>
            <a:pPr lvl="1">
              <a:spcAft>
                <a:spcPts val="600"/>
              </a:spcAft>
            </a:pPr>
            <a:r>
              <a:rPr lang="en-US" altLang="en-US" sz="2400" dirty="0"/>
              <a:t>数据立方体聚合</a:t>
            </a:r>
          </a:p>
          <a:p>
            <a:pPr lvl="1">
              <a:spcAft>
                <a:spcPts val="600"/>
              </a:spcAft>
            </a:pPr>
            <a:r>
              <a:rPr lang="en-US" altLang="en-US" sz="2400" dirty="0"/>
              <a:t>数据压缩</a:t>
            </a:r>
          </a:p>
        </p:txBody>
      </p:sp>
    </p:spTree>
    <p:extLst>
      <p:ext uri="{BB962C8B-B14F-4D97-AF65-F5344CB8AC3E}">
        <p14:creationId xmlns:p14="http://schemas.microsoft.com/office/powerpoint/2010/main" val="6956411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1" descr="histogram, seaborn.pdf"/>
          <p:cNvPicPr>
            <a:picLocks noChangeAspect="1"/>
          </p:cNvPicPr>
          <p:nvPr/>
        </p:nvPicPr>
        <p:blipFill>
          <a:blip r:embed="rId3">
            <a:extLst>
              <a:ext uri="{28A0092B-C50C-407E-A947-70E740481C1C}">
                <a14:useLocalDpi xmlns:a14="http://schemas.microsoft.com/office/drawing/2010/main" val="0"/>
              </a:ext>
            </a:extLst>
          </a:blip>
          <a:srcRect l="6662" t="6662" r="6662" b="6662"/>
          <a:stretch>
            <a:fillRect/>
          </a:stretch>
        </p:blipFill>
        <p:spPr bwMode="auto">
          <a:xfrm>
            <a:off x="6109611" y="4409387"/>
            <a:ext cx="2080960" cy="1455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63" name="Rectangle 2"/>
          <p:cNvSpPr>
            <a:spLocks noGrp="1" noChangeArrowheads="1"/>
          </p:cNvSpPr>
          <p:nvPr>
            <p:ph type="title"/>
          </p:nvPr>
        </p:nvSpPr>
        <p:spPr>
          <a:xfrm>
            <a:off x="-71718" y="139336"/>
            <a:ext cx="12263717" cy="846781"/>
          </a:xfrm>
        </p:spPr>
        <p:txBody>
          <a:bodyPr>
            <a:normAutofit/>
          </a:bodyPr>
          <a:lstStyle/>
          <a:p>
            <a:r>
              <a:rPr lang="en-US" altLang="en-US" sz="3800" dirty="0"/>
              <a:t>数据压缩：</a:t>
            </a:r>
            <a:r>
              <a:rPr lang="en-US" altLang="en-US" sz="3800" b="1" dirty="0"/>
              <a:t>参数化与非参数化</a:t>
            </a:r>
            <a:r>
              <a:rPr lang="en-US" altLang="en-US" sz="3800" dirty="0"/>
              <a:t>方法 </a:t>
            </a:r>
          </a:p>
        </p:txBody>
      </p:sp>
      <p:sp>
        <p:nvSpPr>
          <p:cNvPr id="40964" name="Rectangle 3"/>
          <p:cNvSpPr>
            <a:spLocks noGrp="1" noChangeArrowheads="1"/>
          </p:cNvSpPr>
          <p:nvPr>
            <p:ph type="body" idx="1"/>
          </p:nvPr>
        </p:nvSpPr>
        <p:spPr>
          <a:xfrm>
            <a:off x="600891" y="1245325"/>
            <a:ext cx="8127140" cy="5469799"/>
          </a:xfrm>
        </p:spPr>
        <p:txBody>
          <a:bodyPr/>
          <a:lstStyle/>
          <a:p>
            <a:pPr algn="just" eaLnBrk="1" hangingPunct="1">
              <a:spcAft>
                <a:spcPts val="600"/>
              </a:spcAft>
            </a:pPr>
            <a:r>
              <a:rPr lang="en-US" altLang="en-US" sz="2200" dirty="0"/>
              <a:t>通过选择替代的、</a:t>
            </a:r>
            <a:r>
              <a:rPr lang="en-US" altLang="en-US" sz="2200" i="1" dirty="0"/>
              <a:t>更简洁</a:t>
            </a:r>
            <a:r>
              <a:rPr lang="en-US" altLang="en-US" sz="2200" dirty="0"/>
              <a:t>的数据表示形式来减少数据量</a:t>
            </a:r>
          </a:p>
          <a:p>
            <a:pPr algn="just" eaLnBrk="1" hangingPunct="1">
              <a:spcAft>
                <a:spcPts val="600"/>
              </a:spcAft>
            </a:pPr>
            <a:r>
              <a:rPr lang="en-US" altLang="en-US" sz="2200" b="1" dirty="0"/>
              <a:t>参数化方法</a:t>
            </a:r>
            <a:r>
              <a:rPr lang="en-US" altLang="en-US" sz="2200" dirty="0"/>
              <a:t>（例如回归分析）</a:t>
            </a:r>
          </a:p>
          <a:p>
            <a:pPr lvl="1" algn="just" eaLnBrk="1" hangingPunct="1">
              <a:spcAft>
                <a:spcPts val="600"/>
              </a:spcAft>
            </a:pPr>
            <a:r>
              <a:rPr lang="en-US" altLang="en-US" sz="2200" dirty="0"/>
              <a:t>假设数据符合某种模型，估计模型参数，仅存储参数，并丢弃数据（除可能的异常值外）</a:t>
            </a:r>
            <a:endParaRPr lang="en-US" altLang="en-US" sz="2200" dirty="0">
              <a:sym typeface="Symbol" panose="05050102010706020507" pitchFamily="18" charset="2"/>
            </a:endParaRPr>
          </a:p>
          <a:p>
            <a:pPr lvl="1" algn="just" eaLnBrk="1" hangingPunct="1">
              <a:spcAft>
                <a:spcPts val="600"/>
              </a:spcAft>
            </a:pPr>
            <a:r>
              <a:rPr lang="en-US" altLang="en-US" sz="2200" dirty="0"/>
              <a:t>例：对数线性模型——通过适当的边缘子空间的乘积，</a:t>
            </a:r>
            <a:r>
              <a:rPr lang="en-US" altLang="en-US" sz="2200" i="1" dirty="0"/>
              <a:t>在</a:t>
            </a:r>
            <a:r>
              <a:rPr lang="en-US" altLang="en-US" sz="2200" dirty="0"/>
              <a:t>m维空间中的某一点获得值 </a:t>
            </a:r>
          </a:p>
          <a:p>
            <a:pPr algn="just" eaLnBrk="1" hangingPunct="1">
              <a:spcAft>
                <a:spcPts val="600"/>
              </a:spcAft>
            </a:pPr>
            <a:r>
              <a:rPr lang="en-US" altLang="en-US" sz="2200" dirty="0">
                <a:sym typeface="Symbol" panose="05050102010706020507" pitchFamily="18" charset="2"/>
              </a:rPr>
              <a:t>非</a:t>
            </a:r>
            <a:r>
              <a:rPr lang="en-US" altLang="en-US" sz="2200" b="1" dirty="0"/>
              <a:t>参数方法 </a:t>
            </a:r>
          </a:p>
          <a:p>
            <a:pPr lvl="1" algn="just" eaLnBrk="1" hangingPunct="1">
              <a:spcAft>
                <a:spcPts val="600"/>
              </a:spcAft>
            </a:pPr>
            <a:r>
              <a:rPr lang="en-US" altLang="en-US" sz="2200" dirty="0">
                <a:sym typeface="Symbol" panose="05050102010706020507" pitchFamily="18" charset="2"/>
              </a:rPr>
              <a:t>不假设模型</a:t>
            </a:r>
          </a:p>
          <a:p>
            <a:pPr lvl="1" algn="just" eaLnBrk="1" hangingPunct="1">
              <a:spcAft>
                <a:spcPts val="600"/>
              </a:spcAft>
            </a:pPr>
            <a:r>
              <a:rPr lang="en-US" altLang="en-US" sz="2200" dirty="0">
                <a:sym typeface="Symbol" panose="05050102010706020507" pitchFamily="18" charset="2"/>
              </a:rPr>
              <a:t>主要类别：直方图、聚类、采样等 </a:t>
            </a:r>
          </a:p>
        </p:txBody>
      </p:sp>
      <p:grpSp>
        <p:nvGrpSpPr>
          <p:cNvPr id="4" name="Group 5"/>
          <p:cNvGrpSpPr>
            <a:grpSpLocks/>
          </p:cNvGrpSpPr>
          <p:nvPr/>
        </p:nvGrpSpPr>
        <p:grpSpPr bwMode="auto">
          <a:xfrm>
            <a:off x="8815575" y="1692833"/>
            <a:ext cx="2663824" cy="2226687"/>
            <a:chOff x="32758" y="-198621"/>
            <a:chExt cx="3053736" cy="2655651"/>
          </a:xfrm>
        </p:grpSpPr>
        <p:pic>
          <p:nvPicPr>
            <p:cNvPr id="5" name="Picture 6" descr="pasted-image.tif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758" y="-198621"/>
              <a:ext cx="3053736" cy="26556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7"/>
            <p:cNvSpPr>
              <a:spLocks/>
            </p:cNvSpPr>
            <p:nvPr/>
          </p:nvSpPr>
          <p:spPr bwMode="auto">
            <a:xfrm>
              <a:off x="798644" y="-99891"/>
              <a:ext cx="1754946" cy="489425"/>
            </a:xfrm>
            <a:prstGeom prst="rect">
              <a:avLst/>
            </a:prstGeom>
            <a:solidFill>
              <a:srgbClr val="FFFF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50800" tIns="50800" rIns="50800" bIns="50800" anchor="ctr">
              <a:spAutoFit/>
            </a:bodyPr>
            <a:lstStyle/>
            <a:p>
              <a:r>
                <a:rPr lang="en-US" altLang="en-US" sz="2000" dirty="0">
                  <a:latin typeface="STKaiti" panose="02010600040101010101" pitchFamily="2" charset="-122"/>
                  <a:ea typeface="STKaiti" panose="02010600040101010101" pitchFamily="2" charset="-122"/>
                </a:rPr>
                <a:t>尖端 vs. 尾部</a:t>
              </a:r>
            </a:p>
          </p:txBody>
        </p:sp>
      </p:grpSp>
      <p:sp>
        <p:nvSpPr>
          <p:cNvPr id="8" name="Text Box 54"/>
          <p:cNvSpPr txBox="1">
            <a:spLocks noChangeArrowheads="1"/>
          </p:cNvSpPr>
          <p:nvPr/>
        </p:nvSpPr>
        <p:spPr bwMode="auto">
          <a:xfrm>
            <a:off x="8335762" y="5846473"/>
            <a:ext cx="1517988" cy="646331"/>
          </a:xfrm>
          <a:prstGeom prst="rect">
            <a:avLst/>
          </a:prstGeom>
          <a:solidFill>
            <a:srgbClr val="F0CDBC"/>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STKaiti" panose="02010600040101010101" pitchFamily="2" charset="-122"/>
                <a:ea typeface="STKaiti" panose="02010600040101010101" pitchFamily="2" charset="-122"/>
              </a:rPr>
              <a:t>在原始数据上进行聚类 </a:t>
            </a:r>
          </a:p>
        </p:txBody>
      </p:sp>
      <p:grpSp>
        <p:nvGrpSpPr>
          <p:cNvPr id="9" name="Group 8"/>
          <p:cNvGrpSpPr/>
          <p:nvPr/>
        </p:nvGrpSpPr>
        <p:grpSpPr>
          <a:xfrm>
            <a:off x="9860758" y="4314628"/>
            <a:ext cx="1598480" cy="1511140"/>
            <a:chOff x="5670901" y="3594846"/>
            <a:chExt cx="3122800" cy="2353760"/>
          </a:xfrm>
        </p:grpSpPr>
        <p:sp>
          <p:nvSpPr>
            <p:cNvPr id="10" name="Rectangle 36"/>
            <p:cNvSpPr>
              <a:spLocks noChangeArrowheads="1"/>
            </p:cNvSpPr>
            <p:nvPr/>
          </p:nvSpPr>
          <p:spPr bwMode="auto">
            <a:xfrm>
              <a:off x="5670901" y="3594846"/>
              <a:ext cx="3122800" cy="23537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nvGrpSpPr>
            <p:cNvPr id="11" name="Group 37"/>
            <p:cNvGrpSpPr>
              <a:grpSpLocks/>
            </p:cNvGrpSpPr>
            <p:nvPr/>
          </p:nvGrpSpPr>
          <p:grpSpPr bwMode="auto">
            <a:xfrm>
              <a:off x="6001108" y="3979885"/>
              <a:ext cx="1996848" cy="1556897"/>
              <a:chOff x="3302" y="2032"/>
              <a:chExt cx="1511" cy="1395"/>
            </a:xfrm>
          </p:grpSpPr>
          <p:sp>
            <p:nvSpPr>
              <p:cNvPr id="12" name="AutoShape 38"/>
              <p:cNvSpPr>
                <a:spLocks noChangeArrowheads="1"/>
              </p:cNvSpPr>
              <p:nvPr/>
            </p:nvSpPr>
            <p:spPr bwMode="auto">
              <a:xfrm>
                <a:off x="3366" y="277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3" name="AutoShape 39"/>
              <p:cNvSpPr>
                <a:spLocks noChangeArrowheads="1"/>
              </p:cNvSpPr>
              <p:nvPr/>
            </p:nvSpPr>
            <p:spPr bwMode="auto">
              <a:xfrm>
                <a:off x="3420" y="253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4" name="AutoShape 40"/>
              <p:cNvSpPr>
                <a:spLocks noChangeArrowheads="1"/>
              </p:cNvSpPr>
              <p:nvPr/>
            </p:nvSpPr>
            <p:spPr bwMode="auto">
              <a:xfrm>
                <a:off x="4360" y="2262"/>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5" name="AutoShape 41"/>
              <p:cNvSpPr>
                <a:spLocks noChangeArrowheads="1"/>
              </p:cNvSpPr>
              <p:nvPr/>
            </p:nvSpPr>
            <p:spPr bwMode="auto">
              <a:xfrm>
                <a:off x="4317" y="2585"/>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6" name="AutoShape 42"/>
              <p:cNvSpPr>
                <a:spLocks noChangeArrowheads="1"/>
              </p:cNvSpPr>
              <p:nvPr/>
            </p:nvSpPr>
            <p:spPr bwMode="auto">
              <a:xfrm>
                <a:off x="4695" y="246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7" name="AutoShape 43"/>
              <p:cNvSpPr>
                <a:spLocks noChangeArrowheads="1"/>
              </p:cNvSpPr>
              <p:nvPr/>
            </p:nvSpPr>
            <p:spPr bwMode="auto">
              <a:xfrm>
                <a:off x="3608" y="283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 name="AutoShape 44"/>
              <p:cNvSpPr>
                <a:spLocks noChangeArrowheads="1"/>
              </p:cNvSpPr>
              <p:nvPr/>
            </p:nvSpPr>
            <p:spPr bwMode="auto">
              <a:xfrm>
                <a:off x="4037" y="317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9" name="AutoShape 45"/>
              <p:cNvSpPr>
                <a:spLocks noChangeArrowheads="1"/>
              </p:cNvSpPr>
              <p:nvPr/>
            </p:nvSpPr>
            <p:spPr bwMode="auto">
              <a:xfrm>
                <a:off x="4096" y="306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0" name="AutoShape 46"/>
              <p:cNvSpPr>
                <a:spLocks noChangeArrowheads="1"/>
              </p:cNvSpPr>
              <p:nvPr/>
            </p:nvSpPr>
            <p:spPr bwMode="auto">
              <a:xfrm>
                <a:off x="3675" y="2529"/>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1" name="AutoShape 47"/>
              <p:cNvSpPr>
                <a:spLocks noChangeArrowheads="1"/>
              </p:cNvSpPr>
              <p:nvPr/>
            </p:nvSpPr>
            <p:spPr bwMode="auto">
              <a:xfrm>
                <a:off x="3922" y="3021"/>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2" name="AutoShape 48"/>
              <p:cNvSpPr>
                <a:spLocks noChangeArrowheads="1"/>
              </p:cNvSpPr>
              <p:nvPr/>
            </p:nvSpPr>
            <p:spPr bwMode="auto">
              <a:xfrm>
                <a:off x="3682" y="2361"/>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3" name="AutoShape 49"/>
              <p:cNvSpPr>
                <a:spLocks noChangeArrowheads="1"/>
              </p:cNvSpPr>
              <p:nvPr/>
            </p:nvSpPr>
            <p:spPr bwMode="auto">
              <a:xfrm>
                <a:off x="4184" y="211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4" name="AutoShape 50"/>
              <p:cNvSpPr>
                <a:spLocks noChangeArrowheads="1"/>
              </p:cNvSpPr>
              <p:nvPr/>
            </p:nvSpPr>
            <p:spPr bwMode="auto">
              <a:xfrm>
                <a:off x="3975" y="277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5" name="Freeform 51"/>
              <p:cNvSpPr>
                <a:spLocks/>
              </p:cNvSpPr>
              <p:nvPr/>
            </p:nvSpPr>
            <p:spPr bwMode="auto">
              <a:xfrm>
                <a:off x="4127" y="2032"/>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Freeform 52"/>
              <p:cNvSpPr>
                <a:spLocks/>
              </p:cNvSpPr>
              <p:nvPr/>
            </p:nvSpPr>
            <p:spPr bwMode="auto">
              <a:xfrm>
                <a:off x="3812" y="2642"/>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Freeform 53"/>
              <p:cNvSpPr>
                <a:spLocks/>
              </p:cNvSpPr>
              <p:nvPr/>
            </p:nvSpPr>
            <p:spPr bwMode="auto">
              <a:xfrm>
                <a:off x="3302" y="2065"/>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28" name="Group 3"/>
          <p:cNvGrpSpPr>
            <a:grpSpLocks/>
          </p:cNvGrpSpPr>
          <p:nvPr/>
        </p:nvGrpSpPr>
        <p:grpSpPr bwMode="auto">
          <a:xfrm>
            <a:off x="8212218" y="4323867"/>
            <a:ext cx="1598481" cy="1511141"/>
            <a:chOff x="274" y="1418"/>
            <a:chExt cx="2363" cy="2109"/>
          </a:xfrm>
        </p:grpSpPr>
        <p:sp>
          <p:nvSpPr>
            <p:cNvPr id="29" name="Rectangle 4"/>
            <p:cNvSpPr>
              <a:spLocks noChangeArrowheads="1"/>
            </p:cNvSpPr>
            <p:nvPr/>
          </p:nvSpPr>
          <p:spPr bwMode="auto">
            <a:xfrm>
              <a:off x="274" y="1418"/>
              <a:ext cx="2363" cy="21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0" name="AutoShape 5"/>
            <p:cNvSpPr>
              <a:spLocks noChangeArrowheads="1"/>
            </p:cNvSpPr>
            <p:nvPr/>
          </p:nvSpPr>
          <p:spPr bwMode="auto">
            <a:xfrm>
              <a:off x="1609" y="1993"/>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1" name="AutoShape 6"/>
            <p:cNvSpPr>
              <a:spLocks noChangeArrowheads="1"/>
            </p:cNvSpPr>
            <p:nvPr/>
          </p:nvSpPr>
          <p:spPr bwMode="auto">
            <a:xfrm>
              <a:off x="1566" y="2316"/>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2" name="AutoShape 7"/>
            <p:cNvSpPr>
              <a:spLocks noChangeArrowheads="1"/>
            </p:cNvSpPr>
            <p:nvPr/>
          </p:nvSpPr>
          <p:spPr bwMode="auto">
            <a:xfrm>
              <a:off x="1711" y="213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3" name="AutoShape 8"/>
            <p:cNvSpPr>
              <a:spLocks noChangeArrowheads="1"/>
            </p:cNvSpPr>
            <p:nvPr/>
          </p:nvSpPr>
          <p:spPr bwMode="auto">
            <a:xfrm>
              <a:off x="1510" y="2168"/>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4" name="AutoShape 9"/>
            <p:cNvSpPr>
              <a:spLocks noChangeArrowheads="1"/>
            </p:cNvSpPr>
            <p:nvPr/>
          </p:nvSpPr>
          <p:spPr bwMode="auto">
            <a:xfrm>
              <a:off x="1944" y="219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5" name="AutoShape 10"/>
            <p:cNvSpPr>
              <a:spLocks noChangeArrowheads="1"/>
            </p:cNvSpPr>
            <p:nvPr/>
          </p:nvSpPr>
          <p:spPr bwMode="auto">
            <a:xfrm>
              <a:off x="1874" y="235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6" name="AutoShape 11"/>
            <p:cNvSpPr>
              <a:spLocks noChangeArrowheads="1"/>
            </p:cNvSpPr>
            <p:nvPr/>
          </p:nvSpPr>
          <p:spPr bwMode="auto">
            <a:xfrm>
              <a:off x="1740" y="2393"/>
              <a:ext cx="57"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7" name="AutoShape 12"/>
            <p:cNvSpPr>
              <a:spLocks noChangeArrowheads="1"/>
            </p:cNvSpPr>
            <p:nvPr/>
          </p:nvSpPr>
          <p:spPr bwMode="auto">
            <a:xfrm>
              <a:off x="1433" y="184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8" name="Freeform 13"/>
            <p:cNvSpPr>
              <a:spLocks/>
            </p:cNvSpPr>
            <p:nvPr/>
          </p:nvSpPr>
          <p:spPr bwMode="auto">
            <a:xfrm>
              <a:off x="1376" y="1763"/>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 name="AutoShape 14"/>
            <p:cNvSpPr>
              <a:spLocks noChangeArrowheads="1"/>
            </p:cNvSpPr>
            <p:nvPr/>
          </p:nvSpPr>
          <p:spPr bwMode="auto">
            <a:xfrm>
              <a:off x="1104" y="258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0" name="AutoShape 15"/>
            <p:cNvSpPr>
              <a:spLocks noChangeArrowheads="1"/>
            </p:cNvSpPr>
            <p:nvPr/>
          </p:nvSpPr>
          <p:spPr bwMode="auto">
            <a:xfrm>
              <a:off x="1391" y="2647"/>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1" name="AutoShape 16"/>
            <p:cNvSpPr>
              <a:spLocks noChangeArrowheads="1"/>
            </p:cNvSpPr>
            <p:nvPr/>
          </p:nvSpPr>
          <p:spPr bwMode="auto">
            <a:xfrm>
              <a:off x="1286" y="290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2" name="AutoShape 17"/>
            <p:cNvSpPr>
              <a:spLocks noChangeArrowheads="1"/>
            </p:cNvSpPr>
            <p:nvPr/>
          </p:nvSpPr>
          <p:spPr bwMode="auto">
            <a:xfrm>
              <a:off x="1345" y="279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 name="AutoShape 18"/>
            <p:cNvSpPr>
              <a:spLocks noChangeArrowheads="1"/>
            </p:cNvSpPr>
            <p:nvPr/>
          </p:nvSpPr>
          <p:spPr bwMode="auto">
            <a:xfrm>
              <a:off x="1171" y="275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4" name="AutoShape 19"/>
            <p:cNvSpPr>
              <a:spLocks noChangeArrowheads="1"/>
            </p:cNvSpPr>
            <p:nvPr/>
          </p:nvSpPr>
          <p:spPr bwMode="auto">
            <a:xfrm>
              <a:off x="1168" y="287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5" name="AutoShape 20"/>
            <p:cNvSpPr>
              <a:spLocks noChangeArrowheads="1"/>
            </p:cNvSpPr>
            <p:nvPr/>
          </p:nvSpPr>
          <p:spPr bwMode="auto">
            <a:xfrm>
              <a:off x="1224" y="250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6" name="AutoShape 21"/>
            <p:cNvSpPr>
              <a:spLocks noChangeArrowheads="1"/>
            </p:cNvSpPr>
            <p:nvPr/>
          </p:nvSpPr>
          <p:spPr bwMode="auto">
            <a:xfrm>
              <a:off x="1289" y="2628"/>
              <a:ext cx="56" cy="74"/>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7" name="AutoShape 22"/>
            <p:cNvSpPr>
              <a:spLocks noChangeArrowheads="1"/>
            </p:cNvSpPr>
            <p:nvPr/>
          </p:nvSpPr>
          <p:spPr bwMode="auto">
            <a:xfrm>
              <a:off x="1429" y="288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8" name="Freeform 23"/>
            <p:cNvSpPr>
              <a:spLocks/>
            </p:cNvSpPr>
            <p:nvPr/>
          </p:nvSpPr>
          <p:spPr bwMode="auto">
            <a:xfrm>
              <a:off x="1061" y="2373"/>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49" name="Group 24"/>
            <p:cNvGrpSpPr>
              <a:grpSpLocks/>
            </p:cNvGrpSpPr>
            <p:nvPr/>
          </p:nvGrpSpPr>
          <p:grpSpPr bwMode="auto">
            <a:xfrm>
              <a:off x="551" y="1796"/>
              <a:ext cx="542" cy="954"/>
              <a:chOff x="551" y="1796"/>
              <a:chExt cx="542" cy="954"/>
            </a:xfrm>
          </p:grpSpPr>
          <p:sp>
            <p:nvSpPr>
              <p:cNvPr id="50" name="AutoShape 25"/>
              <p:cNvSpPr>
                <a:spLocks noChangeArrowheads="1"/>
              </p:cNvSpPr>
              <p:nvPr/>
            </p:nvSpPr>
            <p:spPr bwMode="auto">
              <a:xfrm>
                <a:off x="727" y="24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1" name="AutoShape 26"/>
              <p:cNvSpPr>
                <a:spLocks noChangeArrowheads="1"/>
              </p:cNvSpPr>
              <p:nvPr/>
            </p:nvSpPr>
            <p:spPr bwMode="auto">
              <a:xfrm>
                <a:off x="651" y="23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2" name="AutoShape 27"/>
              <p:cNvSpPr>
                <a:spLocks noChangeArrowheads="1"/>
              </p:cNvSpPr>
              <p:nvPr/>
            </p:nvSpPr>
            <p:spPr bwMode="auto">
              <a:xfrm>
                <a:off x="848" y="2405"/>
                <a:ext cx="56" cy="74"/>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3" name="AutoShape 28"/>
              <p:cNvSpPr>
                <a:spLocks noChangeArrowheads="1"/>
              </p:cNvSpPr>
              <p:nvPr/>
            </p:nvSpPr>
            <p:spPr bwMode="auto">
              <a:xfrm>
                <a:off x="753" y="2230"/>
                <a:ext cx="57"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4" name="AutoShape 29"/>
              <p:cNvSpPr>
                <a:spLocks noChangeArrowheads="1"/>
              </p:cNvSpPr>
              <p:nvPr/>
            </p:nvSpPr>
            <p:spPr bwMode="auto">
              <a:xfrm>
                <a:off x="615" y="250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5" name="AutoShape 30"/>
              <p:cNvSpPr>
                <a:spLocks noChangeArrowheads="1"/>
              </p:cNvSpPr>
              <p:nvPr/>
            </p:nvSpPr>
            <p:spPr bwMode="auto">
              <a:xfrm>
                <a:off x="669" y="226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6" name="AutoShape 31"/>
              <p:cNvSpPr>
                <a:spLocks noChangeArrowheads="1"/>
              </p:cNvSpPr>
              <p:nvPr/>
            </p:nvSpPr>
            <p:spPr bwMode="auto">
              <a:xfrm>
                <a:off x="857" y="2566"/>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7" name="AutoShape 32"/>
              <p:cNvSpPr>
                <a:spLocks noChangeArrowheads="1"/>
              </p:cNvSpPr>
              <p:nvPr/>
            </p:nvSpPr>
            <p:spPr bwMode="auto">
              <a:xfrm>
                <a:off x="924" y="2260"/>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8" name="AutoShape 33"/>
              <p:cNvSpPr>
                <a:spLocks noChangeArrowheads="1"/>
              </p:cNvSpPr>
              <p:nvPr/>
            </p:nvSpPr>
            <p:spPr bwMode="auto">
              <a:xfrm>
                <a:off x="931" y="20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9" name="AutoShape 34"/>
              <p:cNvSpPr>
                <a:spLocks noChangeArrowheads="1"/>
              </p:cNvSpPr>
              <p:nvPr/>
            </p:nvSpPr>
            <p:spPr bwMode="auto">
              <a:xfrm>
                <a:off x="881" y="194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0" name="Freeform 35"/>
              <p:cNvSpPr>
                <a:spLocks/>
              </p:cNvSpPr>
              <p:nvPr/>
            </p:nvSpPr>
            <p:spPr bwMode="auto">
              <a:xfrm>
                <a:off x="551" y="1796"/>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61" name="Text Box 55"/>
          <p:cNvSpPr txBox="1">
            <a:spLocks noChangeArrowheads="1"/>
          </p:cNvSpPr>
          <p:nvPr/>
        </p:nvSpPr>
        <p:spPr bwMode="auto">
          <a:xfrm>
            <a:off x="10048599" y="5921930"/>
            <a:ext cx="1326881" cy="400110"/>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2000" dirty="0">
                <a:latin typeface="STKaiti" panose="02010600040101010101" pitchFamily="2" charset="-122"/>
                <a:ea typeface="STKaiti" panose="02010600040101010101" pitchFamily="2" charset="-122"/>
              </a:rPr>
              <a:t>分层采样</a:t>
            </a:r>
          </a:p>
        </p:txBody>
      </p:sp>
      <p:sp>
        <p:nvSpPr>
          <p:cNvPr id="62" name="Text Box 54"/>
          <p:cNvSpPr txBox="1">
            <a:spLocks noChangeArrowheads="1"/>
          </p:cNvSpPr>
          <p:nvPr/>
        </p:nvSpPr>
        <p:spPr bwMode="auto">
          <a:xfrm>
            <a:off x="6631082" y="6009297"/>
            <a:ext cx="1182506" cy="369332"/>
          </a:xfrm>
          <a:prstGeom prst="rect">
            <a:avLst/>
          </a:prstGeom>
          <a:solidFill>
            <a:srgbClr val="92D05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dirty="0">
                <a:latin typeface="STKaiti" panose="02010600040101010101" pitchFamily="2" charset="-122"/>
                <a:ea typeface="STKaiti" panose="02010600040101010101" pitchFamily="2" charset="-122"/>
              </a:rPr>
              <a:t>直方图</a:t>
            </a:r>
          </a:p>
        </p:txBody>
      </p:sp>
    </p:spTree>
    <p:extLst>
      <p:ext uri="{BB962C8B-B14F-4D97-AF65-F5344CB8AC3E}">
        <p14:creationId xmlns:p14="http://schemas.microsoft.com/office/powerpoint/2010/main" val="222133428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0" y="254000"/>
            <a:ext cx="12191999" cy="609600"/>
          </a:xfrm>
        </p:spPr>
        <p:txBody>
          <a:bodyPr>
            <a:noAutofit/>
          </a:bodyPr>
          <a:lstStyle/>
          <a:p>
            <a:r>
              <a:rPr lang="en-US" altLang="en-US" dirty="0"/>
              <a:t>参数数据简化：回归分析</a:t>
            </a:r>
          </a:p>
        </p:txBody>
      </p:sp>
      <p:sp>
        <p:nvSpPr>
          <p:cNvPr id="43012" name="Rectangle 28"/>
          <p:cNvSpPr>
            <a:spLocks noGrp="1" noChangeArrowheads="1"/>
          </p:cNvSpPr>
          <p:nvPr>
            <p:ph type="body" sz="half" idx="1"/>
          </p:nvPr>
        </p:nvSpPr>
        <p:spPr>
          <a:xfrm>
            <a:off x="553246" y="1152707"/>
            <a:ext cx="6667499" cy="5548718"/>
          </a:xfrm>
        </p:spPr>
        <p:txBody>
          <a:bodyPr/>
          <a:lstStyle/>
          <a:p>
            <a:pPr eaLnBrk="1" hangingPunct="1">
              <a:spcBef>
                <a:spcPts val="1200"/>
              </a:spcBef>
              <a:spcAft>
                <a:spcPts val="600"/>
              </a:spcAft>
            </a:pPr>
            <a:r>
              <a:rPr lang="en-US" altLang="en-US" sz="2400" dirty="0">
                <a:ea typeface="STKaiti" panose="02010600040101010101" pitchFamily="2" charset="-122"/>
              </a:rPr>
              <a:t>回归分析：用于建模和分析</a:t>
            </a:r>
            <a:r>
              <a:rPr lang="en-US" altLang="en-US" sz="2400" b="1" dirty="0">
                <a:ea typeface="STKaiti" panose="02010600040101010101" pitchFamily="2" charset="-122"/>
              </a:rPr>
              <a:t>由因变量</a:t>
            </a:r>
            <a:r>
              <a:rPr lang="en-US" altLang="en-US" sz="2400" dirty="0">
                <a:ea typeface="STKaiti" panose="02010600040101010101" pitchFamily="2" charset="-122"/>
              </a:rPr>
              <a:t>（也称为</a:t>
            </a:r>
            <a:r>
              <a:rPr lang="en-US" altLang="en-US" sz="2400" b="1" dirty="0">
                <a:ea typeface="STKaiti" panose="02010600040101010101" pitchFamily="2" charset="-122"/>
              </a:rPr>
              <a:t>响应</a:t>
            </a:r>
            <a:r>
              <a:rPr lang="en-US" altLang="en-US" sz="2400" dirty="0">
                <a:ea typeface="STKaiti" panose="02010600040101010101" pitchFamily="2" charset="-122"/>
              </a:rPr>
              <a:t>变量或测量变量）的数值和一个或多个自变量（也称为</a:t>
            </a:r>
            <a:r>
              <a:rPr lang="en-US" altLang="en-US" sz="2400" b="1" dirty="0">
                <a:ea typeface="STKaiti" panose="02010600040101010101" pitchFamily="2" charset="-122"/>
              </a:rPr>
              <a:t>解释变量</a:t>
            </a:r>
            <a:r>
              <a:rPr lang="en-US" altLang="en-US" sz="2400" dirty="0">
                <a:ea typeface="STKaiti" panose="02010600040101010101" pitchFamily="2" charset="-122"/>
              </a:rPr>
              <a:t>或</a:t>
            </a:r>
            <a:r>
              <a:rPr lang="en-US" altLang="en-US" sz="2400" b="1" dirty="0">
                <a:ea typeface="STKaiti" panose="02010600040101010101" pitchFamily="2" charset="-122"/>
              </a:rPr>
              <a:t>预测变量</a:t>
            </a:r>
            <a:r>
              <a:rPr lang="en-US" altLang="en-US" sz="2400" dirty="0">
                <a:ea typeface="STKaiti" panose="02010600040101010101" pitchFamily="2" charset="-122"/>
              </a:rPr>
              <a:t>）组成的数值数据的一组技术。</a:t>
            </a:r>
          </a:p>
          <a:p>
            <a:pPr eaLnBrk="1" hangingPunct="1">
              <a:spcBef>
                <a:spcPts val="1200"/>
              </a:spcBef>
              <a:spcAft>
                <a:spcPts val="600"/>
              </a:spcAft>
            </a:pPr>
            <a:r>
              <a:rPr lang="en-US" altLang="en-US" sz="2400" dirty="0">
                <a:ea typeface="STKaiti" panose="02010600040101010101" pitchFamily="2" charset="-122"/>
              </a:rPr>
              <a:t>通过估计参数以使数据获得</a:t>
            </a:r>
            <a:r>
              <a:rPr lang="en-US" altLang="en-US" sz="2400" b="1" dirty="0">
                <a:ea typeface="STKaiti" panose="02010600040101010101" pitchFamily="2" charset="-122"/>
              </a:rPr>
              <a:t>“最佳拟合</a:t>
            </a:r>
            <a:r>
              <a:rPr lang="en-US" altLang="en-US" sz="2400" dirty="0">
                <a:ea typeface="STKaiti" panose="02010600040101010101" pitchFamily="2" charset="-122"/>
              </a:rPr>
              <a:t>”</a:t>
            </a:r>
          </a:p>
          <a:p>
            <a:pPr eaLnBrk="1" hangingPunct="1">
              <a:spcBef>
                <a:spcPts val="1200"/>
              </a:spcBef>
              <a:spcAft>
                <a:spcPts val="600"/>
              </a:spcAft>
            </a:pPr>
            <a:r>
              <a:rPr lang="en-US" altLang="en-US" sz="2400" dirty="0">
                <a:ea typeface="STKaiti" panose="02010600040101010101" pitchFamily="2" charset="-122"/>
              </a:rPr>
              <a:t>最常用的最佳拟合评估方法是</a:t>
            </a:r>
            <a:r>
              <a:rPr lang="en-US" altLang="en-US" sz="2400" b="1" dirty="0">
                <a:ea typeface="STKaiti" panose="02010600040101010101" pitchFamily="2" charset="-122"/>
              </a:rPr>
              <a:t>最小二乘法</a:t>
            </a:r>
            <a:r>
              <a:rPr lang="en-US" altLang="en-US" sz="2400" dirty="0">
                <a:ea typeface="STKaiti" panose="02010600040101010101" pitchFamily="2" charset="-122"/>
              </a:rPr>
              <a:t>，但也有其他准则被采用</a:t>
            </a:r>
          </a:p>
        </p:txBody>
      </p:sp>
      <p:sp>
        <p:nvSpPr>
          <p:cNvPr id="43013" name="Rectangle 31"/>
          <p:cNvSpPr>
            <a:spLocks noGrp="1" noChangeArrowheads="1"/>
          </p:cNvSpPr>
          <p:nvPr>
            <p:ph type="body" sz="half" idx="2"/>
          </p:nvPr>
        </p:nvSpPr>
        <p:spPr>
          <a:xfrm>
            <a:off x="7620002" y="3982857"/>
            <a:ext cx="3810000" cy="2286000"/>
          </a:xfrm>
        </p:spPr>
        <p:txBody>
          <a:bodyPr/>
          <a:lstStyle/>
          <a:p>
            <a:pPr eaLnBrk="1" hangingPunct="1"/>
            <a:r>
              <a:rPr lang="en-US" altLang="en-US" sz="2000" dirty="0">
                <a:ea typeface="STKaiti" panose="02010600040101010101" pitchFamily="2" charset="-122"/>
              </a:rPr>
              <a:t>用于预测（包括时间序列数据的预测）、推断、假设检验以及因果关系的建模</a:t>
            </a:r>
            <a:endParaRPr lang="en-US" altLang="en-US" sz="2400" dirty="0">
              <a:ea typeface="STKaiti" panose="02010600040101010101" pitchFamily="2" charset="-122"/>
            </a:endParaRPr>
          </a:p>
        </p:txBody>
      </p:sp>
      <p:sp>
        <p:nvSpPr>
          <p:cNvPr id="43014" name="Text Box 20"/>
          <p:cNvSpPr txBox="1">
            <a:spLocks noChangeArrowheads="1"/>
          </p:cNvSpPr>
          <p:nvPr/>
        </p:nvSpPr>
        <p:spPr bwMode="auto">
          <a:xfrm>
            <a:off x="7544308" y="1253649"/>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dirty="0">
                <a:latin typeface="Times New Roman" panose="02020603050405020304" pitchFamily="18" charset="0"/>
              </a:rPr>
              <a:t>y</a:t>
            </a:r>
          </a:p>
        </p:txBody>
      </p:sp>
      <p:grpSp>
        <p:nvGrpSpPr>
          <p:cNvPr id="43015" name="Group 30"/>
          <p:cNvGrpSpPr>
            <a:grpSpLocks/>
          </p:cNvGrpSpPr>
          <p:nvPr/>
        </p:nvGrpSpPr>
        <p:grpSpPr bwMode="auto">
          <a:xfrm>
            <a:off x="7620003" y="1533525"/>
            <a:ext cx="2978350" cy="2377722"/>
            <a:chOff x="3456" y="64"/>
            <a:chExt cx="2078" cy="2015"/>
          </a:xfrm>
        </p:grpSpPr>
        <p:sp>
          <p:nvSpPr>
            <p:cNvPr id="43016" name="Line 3"/>
            <p:cNvSpPr>
              <a:spLocks noChangeShapeType="1"/>
            </p:cNvSpPr>
            <p:nvPr/>
          </p:nvSpPr>
          <p:spPr bwMode="auto">
            <a:xfrm flipV="1">
              <a:off x="3456" y="1776"/>
              <a:ext cx="20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7" name="Line 4"/>
            <p:cNvSpPr>
              <a:spLocks noChangeShapeType="1"/>
            </p:cNvSpPr>
            <p:nvPr/>
          </p:nvSpPr>
          <p:spPr bwMode="auto">
            <a:xfrm flipV="1">
              <a:off x="3648" y="64"/>
              <a:ext cx="1" cy="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8" name="Oval 5"/>
            <p:cNvSpPr>
              <a:spLocks noChangeArrowheads="1"/>
            </p:cNvSpPr>
            <p:nvPr/>
          </p:nvSpPr>
          <p:spPr bwMode="auto">
            <a:xfrm flipV="1">
              <a:off x="4522" y="111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19" name="Oval 6"/>
            <p:cNvSpPr>
              <a:spLocks noChangeArrowheads="1"/>
            </p:cNvSpPr>
            <p:nvPr/>
          </p:nvSpPr>
          <p:spPr bwMode="auto">
            <a:xfrm flipV="1">
              <a:off x="4259" y="118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0" name="Oval 7"/>
            <p:cNvSpPr>
              <a:spLocks noChangeArrowheads="1"/>
            </p:cNvSpPr>
            <p:nvPr/>
          </p:nvSpPr>
          <p:spPr bwMode="auto">
            <a:xfrm flipV="1">
              <a:off x="4149" y="600"/>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1" name="Oval 8"/>
            <p:cNvSpPr>
              <a:spLocks noChangeArrowheads="1"/>
            </p:cNvSpPr>
            <p:nvPr/>
          </p:nvSpPr>
          <p:spPr bwMode="auto">
            <a:xfrm flipV="1">
              <a:off x="4039" y="1477"/>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2" name="Oval 9"/>
            <p:cNvSpPr>
              <a:spLocks noChangeArrowheads="1"/>
            </p:cNvSpPr>
            <p:nvPr/>
          </p:nvSpPr>
          <p:spPr bwMode="auto">
            <a:xfrm flipV="1">
              <a:off x="4588" y="89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3" name="Oval 10"/>
            <p:cNvSpPr>
              <a:spLocks noChangeArrowheads="1"/>
            </p:cNvSpPr>
            <p:nvPr/>
          </p:nvSpPr>
          <p:spPr bwMode="auto">
            <a:xfrm flipV="1">
              <a:off x="4715" y="72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4" name="Oval 11"/>
            <p:cNvSpPr>
              <a:spLocks noChangeArrowheads="1"/>
            </p:cNvSpPr>
            <p:nvPr/>
          </p:nvSpPr>
          <p:spPr bwMode="auto">
            <a:xfrm flipV="1">
              <a:off x="3813" y="153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5" name="Oval 12"/>
            <p:cNvSpPr>
              <a:spLocks noChangeArrowheads="1"/>
            </p:cNvSpPr>
            <p:nvPr/>
          </p:nvSpPr>
          <p:spPr bwMode="auto">
            <a:xfrm flipV="1">
              <a:off x="4917" y="719"/>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6" name="Oval 13"/>
            <p:cNvSpPr>
              <a:spLocks noChangeArrowheads="1"/>
            </p:cNvSpPr>
            <p:nvPr/>
          </p:nvSpPr>
          <p:spPr bwMode="auto">
            <a:xfrm flipV="1">
              <a:off x="4930" y="56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7" name="Oval 14"/>
            <p:cNvSpPr>
              <a:spLocks noChangeArrowheads="1"/>
            </p:cNvSpPr>
            <p:nvPr/>
          </p:nvSpPr>
          <p:spPr bwMode="auto">
            <a:xfrm flipV="1">
              <a:off x="5191" y="551"/>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8" name="Oval 15"/>
            <p:cNvSpPr>
              <a:spLocks noChangeArrowheads="1"/>
            </p:cNvSpPr>
            <p:nvPr/>
          </p:nvSpPr>
          <p:spPr bwMode="auto">
            <a:xfrm flipV="1">
              <a:off x="3785" y="170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9" name="Oval 16"/>
            <p:cNvSpPr>
              <a:spLocks noChangeArrowheads="1"/>
            </p:cNvSpPr>
            <p:nvPr/>
          </p:nvSpPr>
          <p:spPr bwMode="auto">
            <a:xfrm flipV="1">
              <a:off x="5178" y="393"/>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0" name="Oval 17"/>
            <p:cNvSpPr>
              <a:spLocks noChangeArrowheads="1"/>
            </p:cNvSpPr>
            <p:nvPr/>
          </p:nvSpPr>
          <p:spPr bwMode="auto">
            <a:xfrm flipV="1">
              <a:off x="5386" y="31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1" name="Line 18"/>
            <p:cNvSpPr>
              <a:spLocks noChangeShapeType="1"/>
            </p:cNvSpPr>
            <p:nvPr/>
          </p:nvSpPr>
          <p:spPr bwMode="auto">
            <a:xfrm flipV="1">
              <a:off x="3638" y="259"/>
              <a:ext cx="1831" cy="143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2" name="Text Box 19"/>
            <p:cNvSpPr txBox="1">
              <a:spLocks noChangeArrowheads="1"/>
            </p:cNvSpPr>
            <p:nvPr/>
          </p:nvSpPr>
          <p:spPr bwMode="auto">
            <a:xfrm>
              <a:off x="5328" y="1728"/>
              <a:ext cx="20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p>
          </p:txBody>
        </p:sp>
        <p:sp>
          <p:nvSpPr>
            <p:cNvPr id="43033" name="Text Box 21"/>
            <p:cNvSpPr txBox="1">
              <a:spLocks noChangeArrowheads="1"/>
            </p:cNvSpPr>
            <p:nvPr/>
          </p:nvSpPr>
          <p:spPr bwMode="auto">
            <a:xfrm>
              <a:off x="4763" y="1063"/>
              <a:ext cx="717"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 = x + 1</a:t>
              </a:r>
            </a:p>
          </p:txBody>
        </p:sp>
        <p:sp>
          <p:nvSpPr>
            <p:cNvPr id="43034" name="Line 22"/>
            <p:cNvSpPr>
              <a:spLocks noChangeShapeType="1"/>
            </p:cNvSpPr>
            <p:nvPr/>
          </p:nvSpPr>
          <p:spPr bwMode="auto">
            <a:xfrm>
              <a:off x="4163" y="609"/>
              <a:ext cx="0" cy="1203"/>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5" name="Line 23"/>
            <p:cNvSpPr>
              <a:spLocks noChangeShapeType="1"/>
            </p:cNvSpPr>
            <p:nvPr/>
          </p:nvSpPr>
          <p:spPr bwMode="auto">
            <a:xfrm flipH="1">
              <a:off x="3649" y="619"/>
              <a:ext cx="50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6" name="Line 24"/>
            <p:cNvSpPr>
              <a:spLocks noChangeShapeType="1"/>
            </p:cNvSpPr>
            <p:nvPr/>
          </p:nvSpPr>
          <p:spPr bwMode="auto">
            <a:xfrm flipH="1">
              <a:off x="3639" y="1256"/>
              <a:ext cx="51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7" name="Text Box 25"/>
            <p:cNvSpPr txBox="1">
              <a:spLocks noChangeArrowheads="1"/>
            </p:cNvSpPr>
            <p:nvPr/>
          </p:nvSpPr>
          <p:spPr bwMode="auto">
            <a:xfrm>
              <a:off x="4168" y="1740"/>
              <a:ext cx="313"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r>
                <a:rPr lang="en-US" altLang="en-US" sz="2000" baseline="-25000" dirty="0">
                  <a:latin typeface="+mn-lt"/>
                </a:rPr>
                <a:t>1</a:t>
              </a:r>
            </a:p>
          </p:txBody>
        </p:sp>
        <p:sp>
          <p:nvSpPr>
            <p:cNvPr id="43038" name="Text Box 26"/>
            <p:cNvSpPr txBox="1">
              <a:spLocks noChangeArrowheads="1"/>
            </p:cNvSpPr>
            <p:nvPr/>
          </p:nvSpPr>
          <p:spPr bwMode="auto">
            <a:xfrm>
              <a:off x="3600" y="432"/>
              <a:ext cx="27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p>
          </p:txBody>
        </p:sp>
        <p:sp>
          <p:nvSpPr>
            <p:cNvPr id="43039" name="Text Box 27"/>
            <p:cNvSpPr txBox="1">
              <a:spLocks noChangeArrowheads="1"/>
            </p:cNvSpPr>
            <p:nvPr/>
          </p:nvSpPr>
          <p:spPr bwMode="auto">
            <a:xfrm>
              <a:off x="3619" y="1008"/>
              <a:ext cx="32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r>
                <a:rPr lang="en-US" altLang="en-US" sz="2000" dirty="0">
                  <a:latin typeface="+mn-lt"/>
                </a:rPr>
                <a:t> ’</a:t>
              </a:r>
            </a:p>
          </p:txBody>
        </p:sp>
      </p:grpSp>
    </p:spTree>
    <p:extLst>
      <p:ext uri="{BB962C8B-B14F-4D97-AF65-F5344CB8AC3E}">
        <p14:creationId xmlns:p14="http://schemas.microsoft.com/office/powerpoint/2010/main" val="649725547"/>
      </p:ext>
    </p:extLst>
  </p:cSld>
  <p:clrMapOvr>
    <a:masterClrMapping/>
  </p:clrMapOvr>
  <p:transition>
    <p:zo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body" idx="1"/>
          </p:nvPr>
        </p:nvSpPr>
        <p:spPr>
          <a:xfrm>
            <a:off x="614226" y="1190624"/>
            <a:ext cx="7529649" cy="5419725"/>
          </a:xfrm>
          <a:noFill/>
        </p:spPr>
        <p:txBody>
          <a:bodyPr vert="horz" lIns="92075" tIns="46038" rIns="92075" bIns="46038" rtlCol="0">
            <a:noAutofit/>
          </a:bodyPr>
          <a:lstStyle/>
          <a:p>
            <a:pPr eaLnBrk="1" hangingPunct="1"/>
            <a:r>
              <a:rPr lang="en-US" altLang="en-US" sz="2400" u="sng" dirty="0"/>
              <a:t>线性回归</a:t>
            </a:r>
            <a:r>
              <a:rPr lang="en-US" altLang="en-US" sz="2400" dirty="0"/>
              <a:t>：</a:t>
            </a:r>
            <a:r>
              <a:rPr lang="en-US" altLang="en-US" sz="2400" i="1" dirty="0"/>
              <a:t>Y = </a:t>
            </a:r>
            <a:r>
              <a:rPr lang="en-US" altLang="en-US" sz="2400" i="1" dirty="0">
                <a:sym typeface="Symbol" panose="05050102010706020507" pitchFamily="18" charset="2"/>
              </a:rPr>
              <a:t>w X + b</a:t>
            </a:r>
            <a:endParaRPr lang="en-US" altLang="en-US" sz="2400" i="1" dirty="0"/>
          </a:p>
          <a:p>
            <a:pPr lvl="1"/>
            <a:r>
              <a:rPr lang="en-US" altLang="en-US" sz="2400" dirty="0"/>
              <a:t>数据被建模以拟合一条直线</a:t>
            </a:r>
          </a:p>
          <a:p>
            <a:pPr lvl="1"/>
            <a:r>
              <a:rPr lang="en-US" altLang="en-US" sz="2400" dirty="0"/>
              <a:t>通常使用最小二乘法拟合直线</a:t>
            </a:r>
          </a:p>
          <a:p>
            <a:pPr lvl="1" eaLnBrk="1" hangingPunct="1"/>
            <a:r>
              <a:rPr lang="en-US" altLang="en-US" sz="2400" dirty="0"/>
              <a:t>两个回归系数 </a:t>
            </a:r>
            <a:r>
              <a:rPr lang="en-US" altLang="en-US" sz="2400" i="1" dirty="0">
                <a:sym typeface="Symbol" panose="05050102010706020507" pitchFamily="18" charset="2"/>
              </a:rPr>
              <a:t>w </a:t>
            </a:r>
            <a:r>
              <a:rPr lang="en-US" altLang="en-US" sz="2400" dirty="0">
                <a:sym typeface="Symbol" panose="05050102010706020507" pitchFamily="18" charset="2"/>
              </a:rPr>
              <a:t>和 </a:t>
            </a:r>
            <a:r>
              <a:rPr lang="en-US" altLang="en-US" sz="2400" i="1" dirty="0">
                <a:sym typeface="Symbol" panose="05050102010706020507" pitchFamily="18" charset="2"/>
              </a:rPr>
              <a:t>b</a:t>
            </a:r>
            <a:r>
              <a:rPr lang="en-US" altLang="en-US" sz="2400" dirty="0"/>
              <a:t> 指定直线，并通过使用现有数据进行估计</a:t>
            </a:r>
          </a:p>
          <a:p>
            <a:pPr lvl="1" eaLnBrk="1" hangingPunct="1"/>
            <a:r>
              <a:rPr lang="en-US" altLang="en-US" sz="2400" dirty="0"/>
              <a:t>使用最小二乘准则对已知 </a:t>
            </a:r>
            <a:r>
              <a:rPr lang="en-US" altLang="en-US" sz="2400" i="1" dirty="0"/>
              <a:t>Y </a:t>
            </a:r>
            <a:r>
              <a:rPr lang="en-US" altLang="en-US" sz="2400" dirty="0"/>
              <a:t>值进行</a:t>
            </a:r>
            <a:r>
              <a:rPr lang="en-US" altLang="en-US" sz="2400" i="1" dirty="0"/>
              <a:t>拟合</a:t>
            </a:r>
            <a:r>
              <a:rPr lang="en-US" altLang="en-US" sz="2400" i="1" baseline="-25000" dirty="0"/>
              <a:t>1</a:t>
            </a:r>
            <a:r>
              <a:rPr lang="en-US" altLang="en-US" sz="2400" i="1" dirty="0"/>
              <a:t> , Y</a:t>
            </a:r>
            <a:r>
              <a:rPr lang="en-US" altLang="en-US" sz="2400" i="1" baseline="-25000" dirty="0"/>
              <a:t>2</a:t>
            </a:r>
            <a:r>
              <a:rPr lang="en-US" altLang="en-US" sz="2400" i="1" dirty="0"/>
              <a:t> , …, X</a:t>
            </a:r>
            <a:r>
              <a:rPr lang="en-US" altLang="en-US" sz="2400" i="1" baseline="-25000" dirty="0"/>
              <a:t>1</a:t>
            </a:r>
            <a:r>
              <a:rPr lang="en-US" altLang="en-US" sz="2400" i="1" dirty="0"/>
              <a:t> , X</a:t>
            </a:r>
            <a:r>
              <a:rPr lang="en-US" altLang="en-US" sz="2400" i="1" baseline="-25000" dirty="0"/>
              <a:t>2</a:t>
            </a:r>
            <a:r>
              <a:rPr lang="en-US" altLang="en-US" sz="2400" i="1" dirty="0"/>
              <a:t> , ….</a:t>
            </a:r>
          </a:p>
          <a:p>
            <a:pPr eaLnBrk="1" hangingPunct="1"/>
            <a:r>
              <a:rPr lang="en-US" altLang="en-US" sz="2400" u="sng" dirty="0"/>
              <a:t>非线性回归</a:t>
            </a:r>
            <a:r>
              <a:rPr lang="en-US" altLang="en-US" sz="2400" dirty="0"/>
              <a:t>：</a:t>
            </a:r>
          </a:p>
          <a:p>
            <a:pPr lvl="1"/>
            <a:r>
              <a:rPr lang="en-US" sz="2400" dirty="0"/>
              <a:t>数据由一个函数建模，该函数是非线性组合的模型参数，并依赖于一个或多个独立变量</a:t>
            </a:r>
          </a:p>
          <a:p>
            <a:pPr lvl="1"/>
            <a:r>
              <a:rPr lang="en-US" sz="2400" dirty="0"/>
              <a:t>数据通过逐步逼近的方法拟合</a:t>
            </a:r>
            <a:endParaRPr lang="en-US" altLang="en-US" sz="2400" i="1"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线性回归与多元回归</a:t>
            </a:r>
            <a:endParaRPr lang="en-US" altLang="en-US" sz="2400" dirty="0"/>
          </a:p>
        </p:txBody>
      </p:sp>
      <p:pic>
        <p:nvPicPr>
          <p:cNvPr id="4" name="Picture 2" descr="Image result for nonlinear regress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9034" y="3819525"/>
            <a:ext cx="2928937" cy="2928938"/>
          </a:xfrm>
          <a:prstGeom prst="rect">
            <a:avLst/>
          </a:prstGeom>
          <a:noFill/>
          <a:extLst>
            <a:ext uri="{909E8E84-426E-40DD-AFC4-6F175D3DCCD1}">
              <a14:hiddenFill xmlns:a14="http://schemas.microsoft.com/office/drawing/2010/main">
                <a:solidFill>
                  <a:srgbClr val="FFFFFF"/>
                </a:solidFill>
              </a14:hiddenFill>
            </a:ext>
          </a:extLst>
        </p:spPr>
      </p:pic>
      <p:pic>
        <p:nvPicPr>
          <p:cNvPr id="48130" name="Picture 2" descr="Image result for linear regress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2023" y="1390650"/>
            <a:ext cx="3122958" cy="2300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5754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Image result for loglinear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8209" y="3643177"/>
            <a:ext cx="3214823" cy="32148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mage result for multiple regress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1362" y="876299"/>
            <a:ext cx="3411670" cy="3224087"/>
          </a:xfrm>
          <a:prstGeom prst="rect">
            <a:avLst/>
          </a:prstGeom>
          <a:noFill/>
          <a:extLst>
            <a:ext uri="{909E8E84-426E-40DD-AFC4-6F175D3DCCD1}">
              <a14:hiddenFill xmlns:a14="http://schemas.microsoft.com/office/drawing/2010/main">
                <a:solidFill>
                  <a:srgbClr val="FFFFFF"/>
                </a:solidFill>
              </a14:hiddenFill>
            </a:ext>
          </a:extLst>
        </p:spPr>
      </p:pic>
      <p:sp>
        <p:nvSpPr>
          <p:cNvPr id="44035" name="Rectangle 2"/>
          <p:cNvSpPr>
            <a:spLocks noGrp="1" noChangeArrowheads="1"/>
          </p:cNvSpPr>
          <p:nvPr>
            <p:ph type="body" idx="1"/>
          </p:nvPr>
        </p:nvSpPr>
        <p:spPr>
          <a:xfrm>
            <a:off x="628378" y="1162050"/>
            <a:ext cx="8490570" cy="5313906"/>
          </a:xfrm>
          <a:noFill/>
        </p:spPr>
        <p:txBody>
          <a:bodyPr vert="horz" lIns="92075" tIns="46038" rIns="92075" bIns="46038" rtlCol="0">
            <a:noAutofit/>
          </a:bodyPr>
          <a:lstStyle/>
          <a:p>
            <a:pPr eaLnBrk="1" hangingPunct="1"/>
            <a:r>
              <a:rPr lang="en-US" altLang="en-US" sz="2400" u="sng" dirty="0"/>
              <a:t>多元回归</a:t>
            </a:r>
            <a:r>
              <a:rPr lang="en-US" altLang="en-US" sz="2400" dirty="0"/>
              <a:t>：</a:t>
            </a:r>
            <a:r>
              <a:rPr lang="en-US" altLang="en-US" sz="2400" i="1" dirty="0"/>
              <a:t>Y = b</a:t>
            </a:r>
            <a:r>
              <a:rPr lang="en-US" altLang="en-US" sz="2400" i="1" baseline="-25000" dirty="0"/>
              <a:t>0</a:t>
            </a:r>
            <a:r>
              <a:rPr lang="en-US" altLang="en-US" sz="2400" i="1" dirty="0"/>
              <a:t> + b</a:t>
            </a:r>
            <a:r>
              <a:rPr lang="en-US" altLang="en-US" sz="2400" i="1" baseline="-25000" dirty="0"/>
              <a:t>1</a:t>
            </a:r>
            <a:r>
              <a:rPr lang="en-US" altLang="en-US" sz="2400" i="1" dirty="0"/>
              <a:t> X</a:t>
            </a:r>
            <a:r>
              <a:rPr lang="en-US" altLang="en-US" sz="2400" i="1" baseline="-25000" dirty="0"/>
              <a:t>1</a:t>
            </a:r>
            <a:r>
              <a:rPr lang="en-US" altLang="en-US" sz="2400" i="1" dirty="0"/>
              <a:t> + b</a:t>
            </a:r>
            <a:r>
              <a:rPr lang="en-US" altLang="en-US" sz="2400" i="1" baseline="-25000" dirty="0"/>
              <a:t>2</a:t>
            </a:r>
            <a:r>
              <a:rPr lang="en-US" altLang="en-US" sz="2400" i="1" dirty="0"/>
              <a:t> X</a:t>
            </a:r>
            <a:r>
              <a:rPr lang="en-US" altLang="en-US" sz="2400" i="1" baseline="-25000" dirty="0"/>
              <a:t>2</a:t>
            </a:r>
            <a:endParaRPr lang="en-US" altLang="en-US" sz="2400" i="1" dirty="0"/>
          </a:p>
          <a:p>
            <a:pPr lvl="1"/>
            <a:r>
              <a:rPr lang="en-US" altLang="en-US" sz="2400" dirty="0">
                <a:sym typeface="Symbol" panose="05050102010706020507" pitchFamily="18" charset="2"/>
              </a:rPr>
              <a:t>允许将响应变量 Y 表示为多维特征向量的一元线性函数</a:t>
            </a:r>
          </a:p>
          <a:p>
            <a:pPr lvl="1"/>
            <a:r>
              <a:rPr lang="en-US" altLang="en-US" sz="2400" dirty="0"/>
              <a:t>许多非线性函数可以转换为上述形式</a:t>
            </a:r>
          </a:p>
          <a:p>
            <a:pPr eaLnBrk="1" hangingPunct="1"/>
            <a:r>
              <a:rPr lang="en-US" altLang="en-US" sz="2400" u="sng" dirty="0"/>
              <a:t>对数线性模型</a:t>
            </a:r>
            <a:r>
              <a:rPr lang="en-US" altLang="en-US" sz="2400" dirty="0"/>
              <a:t>：</a:t>
            </a:r>
          </a:p>
          <a:p>
            <a:pPr lvl="1"/>
            <a:r>
              <a:rPr lang="en-US" sz="2400" dirty="0"/>
              <a:t>一种数学模型，其形式为函数的对数与模型参数的线性组合，从而能够应用（可能为多元的）线性回归</a:t>
            </a:r>
          </a:p>
          <a:p>
            <a:pPr lvl="1"/>
            <a:r>
              <a:rPr lang="en-US" altLang="en-US" sz="2400" dirty="0"/>
              <a:t>根据一组离散化属性，基于较小的维度组合子集，估计多维空间中每个点（元组）的概率</a:t>
            </a:r>
          </a:p>
          <a:p>
            <a:pPr lvl="1" eaLnBrk="1" hangingPunct="1"/>
            <a:r>
              <a:rPr lang="en-US" altLang="en-US" sz="2400" dirty="0"/>
              <a:t>适用于维度缩减和数据平滑</a:t>
            </a:r>
            <a:endParaRPr lang="en-US" altLang="en-US" sz="2400" i="1" baseline="-25000"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多元回归与对数线性模型</a:t>
            </a:r>
            <a:endParaRPr lang="en-US" altLang="en-US" sz="2400" dirty="0"/>
          </a:p>
        </p:txBody>
      </p:sp>
    </p:spTree>
    <p:extLst>
      <p:ext uri="{BB962C8B-B14F-4D97-AF65-F5344CB8AC3E}">
        <p14:creationId xmlns:p14="http://schemas.microsoft.com/office/powerpoint/2010/main" val="16983440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057400" y="152400"/>
            <a:ext cx="7924800" cy="838200"/>
          </a:xfrm>
        </p:spPr>
        <p:txBody>
          <a:bodyPr/>
          <a:lstStyle/>
          <a:p>
            <a:pPr eaLnBrk="1" hangingPunct="1"/>
            <a:r>
              <a:rPr lang="en-US" altLang="en-US" dirty="0"/>
              <a:t>直方图分析</a:t>
            </a:r>
          </a:p>
        </p:txBody>
      </p:sp>
      <p:sp>
        <p:nvSpPr>
          <p:cNvPr id="45060" name="Rectangle 3"/>
          <p:cNvSpPr>
            <a:spLocks noGrp="1" noChangeArrowheads="1"/>
          </p:cNvSpPr>
          <p:nvPr>
            <p:ph type="body" idx="1"/>
          </p:nvPr>
        </p:nvSpPr>
        <p:spPr>
          <a:xfrm>
            <a:off x="583474" y="1371600"/>
            <a:ext cx="5588726" cy="2847975"/>
          </a:xfrm>
        </p:spPr>
        <p:txBody>
          <a:bodyPr/>
          <a:lstStyle/>
          <a:p>
            <a:pPr eaLnBrk="1" hangingPunct="1">
              <a:lnSpc>
                <a:spcPct val="120000"/>
              </a:lnSpc>
            </a:pPr>
            <a:r>
              <a:rPr lang="en-US" altLang="en-US" sz="2400" dirty="0"/>
              <a:t>将数据划分为桶，并为每个桶存储平均值（求和）</a:t>
            </a:r>
          </a:p>
          <a:p>
            <a:pPr eaLnBrk="1" hangingPunct="1">
              <a:lnSpc>
                <a:spcPct val="120000"/>
              </a:lnSpc>
            </a:pPr>
            <a:r>
              <a:rPr lang="en-US" altLang="en-US" sz="2400" dirty="0"/>
              <a:t>分箱规则：</a:t>
            </a:r>
          </a:p>
          <a:p>
            <a:pPr lvl="1" eaLnBrk="1" hangingPunct="1">
              <a:lnSpc>
                <a:spcPct val="120000"/>
              </a:lnSpc>
            </a:pPr>
            <a:r>
              <a:rPr lang="en-US" altLang="en-US" sz="2400" dirty="0"/>
              <a:t>等宽：桶范围相等</a:t>
            </a:r>
          </a:p>
          <a:p>
            <a:pPr lvl="1" eaLnBrk="1" hangingPunct="1">
              <a:lnSpc>
                <a:spcPct val="120000"/>
              </a:lnSpc>
            </a:pPr>
            <a:r>
              <a:rPr lang="en-US" altLang="en-US" sz="2400" dirty="0"/>
              <a:t>等频率（或等深度）</a:t>
            </a:r>
          </a:p>
          <a:p>
            <a:pPr lvl="1" eaLnBrk="1" hangingPunct="1">
              <a:lnSpc>
                <a:spcPct val="120000"/>
              </a:lnSpc>
            </a:pPr>
            <a:endParaRPr lang="en-US" altLang="en-US" sz="2400" dirty="0"/>
          </a:p>
        </p:txBody>
      </p:sp>
      <p:graphicFrame>
        <p:nvGraphicFramePr>
          <p:cNvPr id="45061" name="Object 4"/>
          <p:cNvGraphicFramePr>
            <a:graphicFrameLocks/>
          </p:cNvGraphicFramePr>
          <p:nvPr/>
        </p:nvGraphicFramePr>
        <p:xfrm>
          <a:off x="6019800" y="1072243"/>
          <a:ext cx="6477000" cy="5410200"/>
        </p:xfrm>
        <a:graphic>
          <a:graphicData uri="http://schemas.openxmlformats.org/presentationml/2006/ole">
            <mc:AlternateContent xmlns:mc="http://schemas.openxmlformats.org/markup-compatibility/2006">
              <mc:Choice xmlns:v="urn:schemas-microsoft-com:vml" Requires="v">
                <p:oleObj name="Chart" r:id="rId3" imgW="7915243" imgH="3848215" progId="MSGraph.Chart.8">
                  <p:embed followColorScheme="full"/>
                </p:oleObj>
              </mc:Choice>
              <mc:Fallback>
                <p:oleObj name="Chart" r:id="rId3" imgW="7915243" imgH="3848215" progId="MSGraph.Chart.8">
                  <p:embed followColorScheme="full"/>
                  <p:pic>
                    <p:nvPicPr>
                      <p:cNvPr id="45061" name="Object 4"/>
                      <p:cNvPicPr>
                        <a:picLocks noChangeArrowheads="1"/>
                      </p:cNvPicPr>
                      <p:nvPr/>
                    </p:nvPicPr>
                    <p:blipFill>
                      <a:blip r:embed="rId4"/>
                      <a:srcRect/>
                      <a:stretch>
                        <a:fillRect/>
                      </a:stretch>
                    </p:blipFill>
                    <p:spPr bwMode="auto">
                      <a:xfrm>
                        <a:off x="6019800" y="1072243"/>
                        <a:ext cx="6477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8767830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asted-image.tiff"/>
          <p:cNvPicPr>
            <a:picLocks noChangeAspect="1"/>
          </p:cNvPicPr>
          <p:nvPr/>
        </p:nvPicPr>
        <p:blipFill>
          <a:blip r:embed="rId3"/>
          <a:srcRect l="5639" t="5639" r="5639" b="5639"/>
          <a:stretch>
            <a:fillRect/>
          </a:stretch>
        </p:blipFill>
        <p:spPr>
          <a:xfrm>
            <a:off x="7738062" y="1162049"/>
            <a:ext cx="4076700" cy="3057525"/>
          </a:xfrm>
          <a:prstGeom prst="rect">
            <a:avLst/>
          </a:prstGeom>
          <a:ln w="12700">
            <a:miter lim="400000"/>
          </a:ln>
        </p:spPr>
      </p:pic>
      <p:sp>
        <p:nvSpPr>
          <p:cNvPr id="4608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聚类</a:t>
            </a:r>
          </a:p>
        </p:txBody>
      </p:sp>
      <p:sp>
        <p:nvSpPr>
          <p:cNvPr id="46084" name="Rectangle 3"/>
          <p:cNvSpPr>
            <a:spLocks noGrp="1" noChangeArrowheads="1"/>
          </p:cNvSpPr>
          <p:nvPr>
            <p:ph type="body" idx="1"/>
          </p:nvPr>
        </p:nvSpPr>
        <p:spPr>
          <a:xfrm>
            <a:off x="499927" y="1304925"/>
            <a:ext cx="7596323" cy="5105400"/>
          </a:xfrm>
        </p:spPr>
        <p:txBody>
          <a:bodyPr/>
          <a:lstStyle/>
          <a:p>
            <a:pPr eaLnBrk="1" hangingPunct="1">
              <a:lnSpc>
                <a:spcPct val="120000"/>
              </a:lnSpc>
            </a:pPr>
            <a:r>
              <a:rPr lang="en-US" altLang="en-US" sz="2400" dirty="0"/>
              <a:t>根据相似性将数据集划分为聚类，并仅存储聚类表示（例如聚类中心和聚类半径）</a:t>
            </a:r>
          </a:p>
          <a:p>
            <a:pPr eaLnBrk="1" hangingPunct="1">
              <a:lnSpc>
                <a:spcPct val="120000"/>
              </a:lnSpc>
            </a:pPr>
            <a:r>
              <a:rPr lang="en-US" altLang="en-US" sz="2400" dirty="0"/>
              <a:t>如果数据已聚类，则非常有效，但如果数据“分散”则无效</a:t>
            </a:r>
          </a:p>
          <a:p>
            <a:pPr eaLnBrk="1" hangingPunct="1">
              <a:lnSpc>
                <a:spcPct val="120000"/>
              </a:lnSpc>
            </a:pPr>
            <a:r>
              <a:rPr lang="en-US" altLang="en-US" sz="2400" dirty="0"/>
              <a:t>可实现层次聚类，并存储于多维索引树结构中</a:t>
            </a:r>
          </a:p>
          <a:p>
            <a:pPr eaLnBrk="1" hangingPunct="1">
              <a:lnSpc>
                <a:spcPct val="120000"/>
              </a:lnSpc>
            </a:pPr>
            <a:r>
              <a:rPr lang="en-US" altLang="en-US" sz="2400" dirty="0"/>
              <a:t>聚类定义和聚类算法有多种选择</a:t>
            </a:r>
          </a:p>
          <a:p>
            <a:pPr eaLnBrk="1" hangingPunct="1">
              <a:lnSpc>
                <a:spcPct val="120000"/>
              </a:lnSpc>
            </a:pPr>
            <a:r>
              <a:rPr lang="en-US" altLang="en-US" sz="2400" dirty="0"/>
              <a:t>聚类分析将在第10章中进行深入研究</a:t>
            </a:r>
            <a:endParaRPr lang="en-US" altLang="en-US" sz="2400" dirty="0">
              <a:sym typeface="Symbol" panose="05050102010706020507" pitchFamily="18" charset="2"/>
            </a:endParaRPr>
          </a:p>
        </p:txBody>
      </p:sp>
    </p:spTree>
    <p:extLst>
      <p:ext uri="{BB962C8B-B14F-4D97-AF65-F5344CB8AC3E}">
        <p14:creationId xmlns:p14="http://schemas.microsoft.com/office/powerpoint/2010/main" val="35283503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5" y="81481"/>
            <a:ext cx="11106150" cy="887240"/>
          </a:xfrm>
        </p:spPr>
        <p:txBody>
          <a:bodyPr>
            <a:normAutofit/>
          </a:bodyPr>
          <a:lstStyle/>
          <a:p>
            <a:r>
              <a:rPr lang="en-US" altLang="en-US" dirty="0"/>
              <a:t>维度缩减</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什么是维度缩减？</a:t>
            </a:r>
          </a:p>
          <a:p>
            <a:pPr>
              <a:spcAft>
                <a:spcPts val="600"/>
              </a:spcAft>
            </a:pPr>
            <a:r>
              <a:rPr lang="en-US" altLang="en-US" dirty="0"/>
              <a:t>维度缩减方法</a:t>
            </a:r>
          </a:p>
          <a:p>
            <a:pPr lvl="1">
              <a:spcAft>
                <a:spcPts val="600"/>
              </a:spcAft>
            </a:pPr>
            <a:r>
              <a:rPr lang="en-US" altLang="en-US" dirty="0"/>
              <a:t>主成分分析 </a:t>
            </a:r>
          </a:p>
          <a:p>
            <a:pPr lvl="1">
              <a:spcAft>
                <a:spcPts val="600"/>
              </a:spcAft>
            </a:pPr>
            <a:r>
              <a:rPr lang="en-US" altLang="en-US" dirty="0"/>
              <a:t>属性子集选择 </a:t>
            </a:r>
          </a:p>
          <a:p>
            <a:pPr lvl="1">
              <a:spcAft>
                <a:spcPts val="600"/>
              </a:spcAft>
            </a:pPr>
            <a:r>
              <a:rPr lang="en-US" altLang="en-US" dirty="0"/>
              <a:t>非线性维度缩减方法</a:t>
            </a:r>
          </a:p>
        </p:txBody>
      </p:sp>
    </p:spTree>
    <p:extLst>
      <p:ext uri="{BB962C8B-B14F-4D97-AF65-F5344CB8AC3E}">
        <p14:creationId xmlns:p14="http://schemas.microsoft.com/office/powerpoint/2010/main" val="6835076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161109" y="304800"/>
            <a:ext cx="11869781" cy="609600"/>
          </a:xfrm>
        </p:spPr>
        <p:txBody>
          <a:bodyPr>
            <a:noAutofit/>
          </a:bodyPr>
          <a:lstStyle/>
          <a:p>
            <a:pPr eaLnBrk="1" hangingPunct="1"/>
            <a:r>
              <a:rPr lang="en-US" altLang="en-US" dirty="0"/>
              <a:t>什么是维度缩减？</a:t>
            </a:r>
          </a:p>
        </p:txBody>
      </p:sp>
      <p:sp>
        <p:nvSpPr>
          <p:cNvPr id="29700" name="Rectangle 3"/>
          <p:cNvSpPr>
            <a:spLocks noGrp="1" noChangeArrowheads="1"/>
          </p:cNvSpPr>
          <p:nvPr>
            <p:ph type="body" idx="4294967295"/>
          </p:nvPr>
        </p:nvSpPr>
        <p:spPr>
          <a:xfrm>
            <a:off x="548640" y="1144089"/>
            <a:ext cx="10976610" cy="5514702"/>
          </a:xfrm>
        </p:spPr>
        <p:txBody>
          <a:bodyPr/>
          <a:lstStyle/>
          <a:p>
            <a:pPr eaLnBrk="1" hangingPunct="1"/>
            <a:r>
              <a:rPr lang="en-US" altLang="en-US" b="1" dirty="0">
                <a:ea typeface="STKaiti" panose="02010600040101010101" pitchFamily="2" charset="-122"/>
              </a:rPr>
              <a:t>维度诅咒</a:t>
            </a:r>
          </a:p>
          <a:p>
            <a:pPr lvl="1" eaLnBrk="1" hangingPunct="1"/>
            <a:r>
              <a:rPr lang="en-US" altLang="en-US" dirty="0">
                <a:ea typeface="STKaiti" panose="02010600040101010101" pitchFamily="2" charset="-122"/>
              </a:rPr>
              <a:t>当维度增加时，数据变得越来越稀疏</a:t>
            </a:r>
          </a:p>
          <a:p>
            <a:pPr lvl="1" eaLnBrk="1" hangingPunct="1"/>
            <a:r>
              <a:rPr lang="en-US" altLang="en-US" dirty="0">
                <a:ea typeface="STKaiti" panose="02010600040101010101" pitchFamily="2" charset="-122"/>
              </a:rPr>
              <a:t>密度和点与点之间的距离，这对聚类分析和异常值分析至关重要，变得不再有意义</a:t>
            </a:r>
          </a:p>
          <a:p>
            <a:pPr lvl="1" eaLnBrk="1" hangingPunct="1"/>
            <a:r>
              <a:rPr lang="en-US" altLang="en-US" dirty="0">
                <a:ea typeface="STKaiti" panose="02010600040101010101" pitchFamily="2" charset="-122"/>
              </a:rPr>
              <a:t>子空间的可能组合将呈指数级增长</a:t>
            </a:r>
          </a:p>
          <a:p>
            <a:pPr eaLnBrk="1" hangingPunct="1"/>
            <a:r>
              <a:rPr lang="en-US" altLang="en-US" b="1" dirty="0">
                <a:ea typeface="STKaiti" panose="02010600040101010101" pitchFamily="2" charset="-122"/>
              </a:rPr>
              <a:t>维度缩减</a:t>
            </a:r>
          </a:p>
          <a:p>
            <a:pPr lvl="1"/>
            <a:r>
              <a:rPr lang="en-US" dirty="0">
                <a:ea typeface="STKaiti" panose="02010600040101010101" pitchFamily="2" charset="-122"/>
              </a:rPr>
              <a:t>通过获取一组主变量来减少待考虑的随机变量数量</a:t>
            </a:r>
          </a:p>
          <a:p>
            <a:r>
              <a:rPr lang="en-US" altLang="en-US" b="1" dirty="0">
                <a:ea typeface="STKaiti" panose="02010600040101010101" pitchFamily="2" charset="-122"/>
              </a:rPr>
              <a:t>维度缩减的优势</a:t>
            </a:r>
            <a:endParaRPr lang="en-US" dirty="0">
              <a:ea typeface="STKaiti" panose="02010600040101010101" pitchFamily="2" charset="-122"/>
            </a:endParaRPr>
          </a:p>
          <a:p>
            <a:pPr lvl="1"/>
            <a:r>
              <a:rPr lang="en-US" altLang="en-US" dirty="0">
                <a:ea typeface="STKaiti" panose="02010600040101010101" pitchFamily="2" charset="-122"/>
              </a:rPr>
              <a:t>避免维度诅咒</a:t>
            </a:r>
          </a:p>
          <a:p>
            <a:pPr lvl="1"/>
            <a:r>
              <a:rPr lang="en-US" altLang="en-US" dirty="0">
                <a:ea typeface="STKaiti" panose="02010600040101010101" pitchFamily="2" charset="-122"/>
              </a:rPr>
              <a:t>帮助消除无关特征并减少噪声</a:t>
            </a:r>
          </a:p>
          <a:p>
            <a:pPr lvl="1"/>
            <a:r>
              <a:rPr lang="en-US" altLang="en-US" dirty="0">
                <a:ea typeface="STKaiti" panose="02010600040101010101" pitchFamily="2" charset="-122"/>
              </a:rPr>
              <a:t>减少数据挖掘所需的时间和空间</a:t>
            </a:r>
          </a:p>
          <a:p>
            <a:pPr lvl="1"/>
            <a:r>
              <a:rPr lang="en-US" altLang="en-US" dirty="0">
                <a:ea typeface="STKaiti" panose="02010600040101010101" pitchFamily="2" charset="-122"/>
              </a:rPr>
              <a:t>便于可视化</a:t>
            </a:r>
          </a:p>
        </p:txBody>
      </p:sp>
    </p:spTree>
    <p:extLst>
      <p:ext uri="{BB962C8B-B14F-4D97-AF65-F5344CB8AC3E}">
        <p14:creationId xmlns:p14="http://schemas.microsoft.com/office/powerpoint/2010/main" val="988105544"/>
      </p:ext>
    </p:extLst>
  </p:cSld>
  <p:clrMapOvr>
    <a:masterClrMapping/>
  </p:clrMapOvr>
  <p:transition>
    <p:zo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200025" y="285749"/>
            <a:ext cx="12525375" cy="714375"/>
          </a:xfrm>
        </p:spPr>
        <p:txBody>
          <a:bodyPr>
            <a:noAutofit/>
          </a:bodyPr>
          <a:lstStyle/>
          <a:p>
            <a:r>
              <a:rPr lang="en-US" altLang="en-US" dirty="0"/>
              <a:t>维度缩减方法</a:t>
            </a:r>
          </a:p>
        </p:txBody>
      </p:sp>
      <p:sp>
        <p:nvSpPr>
          <p:cNvPr id="29700" name="Rectangle 3"/>
          <p:cNvSpPr>
            <a:spLocks noGrp="1" noChangeArrowheads="1"/>
          </p:cNvSpPr>
          <p:nvPr>
            <p:ph type="body" idx="4294967295"/>
          </p:nvPr>
        </p:nvSpPr>
        <p:spPr>
          <a:xfrm>
            <a:off x="615450" y="1182189"/>
            <a:ext cx="10894423" cy="5514702"/>
          </a:xfrm>
        </p:spPr>
        <p:txBody>
          <a:bodyPr/>
          <a:lstStyle/>
          <a:p>
            <a:pPr>
              <a:spcAft>
                <a:spcPts val="600"/>
              </a:spcAft>
            </a:pPr>
            <a:r>
              <a:rPr lang="en-US" altLang="en-US" dirty="0"/>
              <a:t>维度缩减方法论</a:t>
            </a:r>
          </a:p>
          <a:p>
            <a:pPr lvl="1">
              <a:spcAft>
                <a:spcPts val="600"/>
              </a:spcAft>
            </a:pPr>
            <a:r>
              <a:rPr lang="en-US" b="1" dirty="0"/>
              <a:t>特征选择</a:t>
            </a:r>
            <a:r>
              <a:rPr lang="en-US" dirty="0"/>
              <a:t>：从原始变量（或特征、属性）中选取子集</a:t>
            </a:r>
          </a:p>
          <a:p>
            <a:pPr lvl="1">
              <a:spcAft>
                <a:spcPts val="600"/>
              </a:spcAft>
            </a:pPr>
            <a:r>
              <a:rPr lang="en-US" b="1" dirty="0"/>
              <a:t>特征提取</a:t>
            </a:r>
            <a:r>
              <a:rPr lang="en-US" dirty="0"/>
              <a:t>：将高维空间中的数据转换为低维空间</a:t>
            </a:r>
          </a:p>
          <a:p>
            <a:pPr>
              <a:spcAft>
                <a:spcPts val="600"/>
              </a:spcAft>
            </a:pPr>
            <a:r>
              <a:rPr lang="en-US" altLang="en-US" dirty="0"/>
              <a:t>一些典型的维度缩减方法</a:t>
            </a:r>
          </a:p>
          <a:p>
            <a:pPr lvl="1">
              <a:spcAft>
                <a:spcPts val="600"/>
              </a:spcAft>
            </a:pPr>
            <a:r>
              <a:rPr lang="en-US" altLang="en-US" dirty="0"/>
              <a:t>主成分分析</a:t>
            </a:r>
            <a:endParaRPr lang="en-US" dirty="0"/>
          </a:p>
          <a:p>
            <a:pPr lvl="1">
              <a:spcAft>
                <a:spcPts val="600"/>
              </a:spcAft>
            </a:pPr>
            <a:r>
              <a:rPr lang="en-US" altLang="en-US" dirty="0"/>
              <a:t>属性子集选择 </a:t>
            </a:r>
          </a:p>
          <a:p>
            <a:pPr lvl="1">
              <a:spcAft>
                <a:spcPts val="600"/>
              </a:spcAft>
            </a:pPr>
            <a:r>
              <a:rPr lang="en-US" altLang="en-US" dirty="0"/>
              <a:t>非线性维度缩减</a:t>
            </a:r>
          </a:p>
          <a:p>
            <a:pPr lvl="2">
              <a:spcAft>
                <a:spcPts val="600"/>
              </a:spcAft>
            </a:pPr>
            <a:endParaRPr lang="en-US" dirty="0"/>
          </a:p>
          <a:p>
            <a:pPr lvl="2">
              <a:spcAft>
                <a:spcPts val="600"/>
              </a:spcAft>
            </a:pPr>
            <a:endParaRPr lang="en-US" altLang="en-US" dirty="0"/>
          </a:p>
          <a:p>
            <a:pPr marL="0" indent="0">
              <a:spcAft>
                <a:spcPts val="600"/>
              </a:spcAft>
              <a:buNone/>
            </a:pPr>
            <a:endParaRPr lang="en-US" altLang="en-US" dirty="0">
              <a:latin typeface="Calibri" panose="020F0502020204030204" pitchFamily="34" charset="0"/>
            </a:endParaRPr>
          </a:p>
        </p:txBody>
      </p:sp>
    </p:spTree>
    <p:extLst>
      <p:ext uri="{BB962C8B-B14F-4D97-AF65-F5344CB8AC3E}">
        <p14:creationId xmlns:p14="http://schemas.microsoft.com/office/powerpoint/2010/main" val="4130421584"/>
      </p:ext>
    </p:extLst>
  </p:cSld>
  <p:clrMapOvr>
    <a:masterClrMapping/>
  </p:clrMapOvr>
  <p:transition>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96736" y="1231936"/>
            <a:ext cx="4433412" cy="4213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44" name="Rectangle 40"/>
          <p:cNvSpPr>
            <a:spLocks noGrp="1" noChangeArrowheads="1"/>
          </p:cNvSpPr>
          <p:nvPr>
            <p:ph type="title"/>
          </p:nvPr>
        </p:nvSpPr>
        <p:spPr>
          <a:xfrm>
            <a:off x="609599" y="152400"/>
            <a:ext cx="10920549" cy="838200"/>
          </a:xfrm>
        </p:spPr>
        <p:txBody>
          <a:bodyPr>
            <a:normAutofit/>
          </a:bodyPr>
          <a:lstStyle/>
          <a:p>
            <a:pPr eaLnBrk="1" hangingPunct="1"/>
            <a:r>
              <a:rPr lang="en-US" altLang="en-US" dirty="0"/>
              <a:t>主成分分析（PCA）</a:t>
            </a:r>
          </a:p>
        </p:txBody>
      </p:sp>
      <p:sp>
        <p:nvSpPr>
          <p:cNvPr id="35845" name="Rectangle 41"/>
          <p:cNvSpPr>
            <a:spLocks noGrp="1" noChangeArrowheads="1"/>
          </p:cNvSpPr>
          <p:nvPr>
            <p:ph type="body" idx="1"/>
          </p:nvPr>
        </p:nvSpPr>
        <p:spPr>
          <a:xfrm>
            <a:off x="609599" y="1260611"/>
            <a:ext cx="6838951" cy="4810124"/>
          </a:xfrm>
        </p:spPr>
        <p:txBody>
          <a:bodyPr/>
          <a:lstStyle/>
          <a:p>
            <a:pPr>
              <a:lnSpc>
                <a:spcPct val="110000"/>
              </a:lnSpc>
            </a:pPr>
            <a:r>
              <a:rPr lang="en-US" sz="2400" dirty="0"/>
              <a:t>PCA：一种统计方法，通过正交变换将一组可能相关的变量的观测值转换为一组线性不相关的变量的值，</a:t>
            </a:r>
            <a:r>
              <a:rPr lang="en-US" sz="2400" b="1" i="1" dirty="0"/>
              <a:t>称为主成分</a:t>
            </a:r>
            <a:endParaRPr lang="en-US" sz="2400" dirty="0"/>
          </a:p>
          <a:p>
            <a:pPr eaLnBrk="1" hangingPunct="1">
              <a:lnSpc>
                <a:spcPct val="110000"/>
              </a:lnSpc>
            </a:pPr>
            <a:r>
              <a:rPr lang="en-US" altLang="en-US" sz="2400" dirty="0"/>
              <a:t>原始数据被投影到一个维数大大降低的空间中，从而实现维数缩减</a:t>
            </a:r>
          </a:p>
          <a:p>
            <a:pPr eaLnBrk="1" hangingPunct="1">
              <a:lnSpc>
                <a:spcPct val="110000"/>
              </a:lnSpc>
            </a:pPr>
            <a:r>
              <a:rPr lang="en-US" altLang="en-US" sz="2400" dirty="0"/>
              <a:t>方法：求协方差矩阵的特征向量，这些特征向量定义了新的空间</a:t>
            </a:r>
          </a:p>
        </p:txBody>
      </p:sp>
      <p:sp>
        <p:nvSpPr>
          <p:cNvPr id="7" name="TextBox 6"/>
          <p:cNvSpPr txBox="1"/>
          <p:nvPr/>
        </p:nvSpPr>
        <p:spPr>
          <a:xfrm>
            <a:off x="7448550" y="5613452"/>
            <a:ext cx="4019550" cy="646331"/>
          </a:xfrm>
          <a:prstGeom prst="rect">
            <a:avLst/>
          </a:prstGeom>
          <a:solidFill>
            <a:srgbClr val="92D050"/>
          </a:solidFill>
        </p:spPr>
        <p:txBody>
          <a:bodyPr wrap="square" rtlCol="0">
            <a:spAutoFit/>
          </a:bodyPr>
          <a:lstStyle/>
          <a:p>
            <a:pPr algn="ctr"/>
            <a:r>
              <a:rPr lang="en-US" sz="1800" dirty="0">
                <a:latin typeface="STKaiti" panose="02010600040101010101" pitchFamily="2" charset="-122"/>
                <a:ea typeface="STKaiti" panose="02010600040101010101" pitchFamily="2" charset="-122"/>
              </a:rPr>
              <a:t>球沿直线运动。来自</a:t>
            </a:r>
            <a:r>
              <a:rPr lang="en-US" altLang="en-US" sz="1800" dirty="0">
                <a:latin typeface="STKaiti" panose="02010600040101010101" pitchFamily="2" charset="-122"/>
                <a:ea typeface="STKaiti" panose="02010600040101010101" pitchFamily="2" charset="-122"/>
              </a:rPr>
              <a:t>三个摄像头</a:t>
            </a:r>
            <a:r>
              <a:rPr lang="en-US" sz="1800" dirty="0">
                <a:latin typeface="STKaiti" panose="02010600040101010101" pitchFamily="2" charset="-122"/>
                <a:ea typeface="STKaiti" panose="02010600040101010101" pitchFamily="2" charset="-122"/>
              </a:rPr>
              <a:t>的数据</a:t>
            </a:r>
            <a:r>
              <a:rPr lang="en-US" altLang="en-US" sz="1800" dirty="0">
                <a:latin typeface="STKaiti" panose="02010600040101010101" pitchFamily="2" charset="-122"/>
                <a:ea typeface="STKaiti" panose="02010600040101010101" pitchFamily="2" charset="-122"/>
              </a:rPr>
              <a:t>包含大量冗余信息</a:t>
            </a:r>
          </a:p>
        </p:txBody>
      </p:sp>
    </p:spTree>
    <p:extLst>
      <p:ext uri="{BB962C8B-B14F-4D97-AF65-F5344CB8AC3E}">
        <p14:creationId xmlns:p14="http://schemas.microsoft.com/office/powerpoint/2010/main" val="184970269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upload.wikimedia.org/wikipedia/commons/thumb/f/f5/GaussianScatterPCA.svg/720px-GaussianScatterPCA.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327" y="1685119"/>
            <a:ext cx="3063673" cy="3063674"/>
          </a:xfrm>
          <a:prstGeom prst="rect">
            <a:avLst/>
          </a:prstGeom>
          <a:noFill/>
          <a:extLst>
            <a:ext uri="{909E8E84-426E-40DD-AFC4-6F175D3DCCD1}">
              <a14:hiddenFill xmlns:a14="http://schemas.microsoft.com/office/drawing/2010/main">
                <a:solidFill>
                  <a:srgbClr val="FFFFFF"/>
                </a:solidFill>
              </a14:hiddenFill>
            </a:ext>
          </a:extLst>
        </p:spPr>
      </p:pic>
      <p:sp>
        <p:nvSpPr>
          <p:cNvPr id="36867" name="Rectangle 2"/>
          <p:cNvSpPr>
            <a:spLocks noGrp="1" noChangeArrowheads="1"/>
          </p:cNvSpPr>
          <p:nvPr>
            <p:ph type="body" idx="1"/>
          </p:nvPr>
        </p:nvSpPr>
        <p:spPr>
          <a:xfrm>
            <a:off x="451758" y="1143000"/>
            <a:ext cx="8987518" cy="5623288"/>
          </a:xfrm>
        </p:spPr>
        <p:txBody>
          <a:bodyPr/>
          <a:lstStyle/>
          <a:p>
            <a:pPr eaLnBrk="1" hangingPunct="1">
              <a:spcAft>
                <a:spcPts val="200"/>
              </a:spcAft>
            </a:pPr>
            <a:r>
              <a:rPr lang="en-US" altLang="en-US" sz="2400" dirty="0"/>
              <a:t>给定N个n维数据向量，找出k个（k ≤ n）最能代表数据的正交向量（主成分） </a:t>
            </a:r>
          </a:p>
          <a:p>
            <a:pPr lvl="1" eaLnBrk="1" hangingPunct="1">
              <a:spcAft>
                <a:spcPts val="200"/>
              </a:spcAft>
            </a:pPr>
            <a:r>
              <a:rPr lang="en-US" altLang="en-US" sz="2400" dirty="0"/>
              <a:t>对输入数据进行归一化处理：确保每个属性值落在同一数值范围内</a:t>
            </a:r>
          </a:p>
          <a:p>
            <a:pPr lvl="1" eaLnBrk="1" hangingPunct="1">
              <a:spcAft>
                <a:spcPts val="200"/>
              </a:spcAft>
            </a:pPr>
            <a:r>
              <a:rPr lang="en-US" altLang="en-US" sz="2400" dirty="0"/>
              <a:t>计算k个正交（单位）向量，即主成分</a:t>
            </a:r>
          </a:p>
          <a:p>
            <a:pPr lvl="1" eaLnBrk="1" hangingPunct="1">
              <a:spcAft>
                <a:spcPts val="200"/>
              </a:spcAft>
            </a:pPr>
            <a:r>
              <a:rPr lang="en-US" altLang="en-US" sz="2400" dirty="0"/>
              <a:t>每个输入数据（向量）都是k个主成分向量的线性组合</a:t>
            </a:r>
          </a:p>
          <a:p>
            <a:pPr lvl="1" eaLnBrk="1" hangingPunct="1">
              <a:spcAft>
                <a:spcPts val="200"/>
              </a:spcAft>
            </a:pPr>
            <a:r>
              <a:rPr lang="en-US" altLang="en-US" sz="2400" dirty="0">
                <a:sym typeface="Symbol" panose="05050102010706020507" pitchFamily="18" charset="2"/>
              </a:rPr>
              <a:t>主成分按“重要性”或强度从高到低排序</a:t>
            </a:r>
          </a:p>
          <a:p>
            <a:pPr lvl="1" eaLnBrk="1" hangingPunct="1">
              <a:spcAft>
                <a:spcPts val="200"/>
              </a:spcAft>
            </a:pPr>
            <a:r>
              <a:rPr lang="en-US" altLang="en-US" sz="2400" dirty="0">
                <a:sym typeface="Symbol" panose="05050102010706020507" pitchFamily="18" charset="2"/>
              </a:rPr>
              <a:t>由于成分已排序，可通过去除弱成分（即方差较小的成分）来减少数据量，即使用最强的主成分来重建原始数据的良好近似</a:t>
            </a:r>
          </a:p>
          <a:p>
            <a:pPr eaLnBrk="1" hangingPunct="1">
              <a:spcAft>
                <a:spcPts val="200"/>
              </a:spcAft>
            </a:pPr>
            <a:r>
              <a:rPr lang="en-US" altLang="en-US" sz="2400" dirty="0"/>
              <a:t>仅适用于数值数据</a:t>
            </a:r>
          </a:p>
        </p:txBody>
      </p:sp>
      <p:sp>
        <p:nvSpPr>
          <p:cNvPr id="36868" name="Text Box 3"/>
          <p:cNvSpPr>
            <a:spLocks noGrp="1" noChangeArrowheads="1"/>
          </p:cNvSpPr>
          <p:nvPr>
            <p:ph type="title"/>
          </p:nvPr>
        </p:nvSpPr>
        <p:spPr>
          <a:xfrm>
            <a:off x="627017" y="152400"/>
            <a:ext cx="11042469" cy="990600"/>
          </a:xfrm>
          <a:noFill/>
        </p:spPr>
        <p:txBody>
          <a:bodyPr anchor="ctr">
            <a:noAutofit/>
          </a:bodyPr>
          <a:lstStyle/>
          <a:p>
            <a:r>
              <a:rPr lang="en-US" altLang="en-US" dirty="0"/>
              <a:t>主成分分析</a:t>
            </a:r>
          </a:p>
        </p:txBody>
      </p:sp>
    </p:spTree>
    <p:extLst>
      <p:ext uri="{BB962C8B-B14F-4D97-AF65-F5344CB8AC3E}">
        <p14:creationId xmlns:p14="http://schemas.microsoft.com/office/powerpoint/2010/main" val="25163164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altLang="en-US"/>
              <a:t>属性子集选择</a:t>
            </a:r>
          </a:p>
        </p:txBody>
      </p:sp>
      <p:sp>
        <p:nvSpPr>
          <p:cNvPr id="37892" name="Rectangle 3"/>
          <p:cNvSpPr>
            <a:spLocks noGrp="1" noChangeArrowheads="1"/>
          </p:cNvSpPr>
          <p:nvPr>
            <p:ph type="body" idx="1"/>
          </p:nvPr>
        </p:nvSpPr>
        <p:spPr>
          <a:xfrm>
            <a:off x="579583" y="1219200"/>
            <a:ext cx="6925188" cy="5372100"/>
          </a:xfrm>
        </p:spPr>
        <p:txBody>
          <a:bodyPr/>
          <a:lstStyle/>
          <a:p>
            <a:pPr eaLnBrk="1" hangingPunct="1">
              <a:lnSpc>
                <a:spcPct val="110000"/>
              </a:lnSpc>
            </a:pPr>
            <a:r>
              <a:rPr lang="en-US" altLang="en-US" sz="2400" dirty="0"/>
              <a:t>另一种减少数据维度的方法</a:t>
            </a:r>
          </a:p>
          <a:p>
            <a:pPr eaLnBrk="1" hangingPunct="1">
              <a:lnSpc>
                <a:spcPct val="110000"/>
              </a:lnSpc>
            </a:pPr>
            <a:r>
              <a:rPr lang="en-US" altLang="en-US" sz="2400" dirty="0"/>
              <a:t>冗余属性 </a:t>
            </a:r>
          </a:p>
          <a:p>
            <a:pPr lvl="1" eaLnBrk="1" hangingPunct="1">
              <a:lnSpc>
                <a:spcPct val="110000"/>
              </a:lnSpc>
            </a:pPr>
            <a:r>
              <a:rPr lang="en-US" altLang="en-US" sz="2400" dirty="0"/>
              <a:t>在一个或多个其他属性中重复包含大量或全部信息</a:t>
            </a:r>
          </a:p>
          <a:p>
            <a:pPr lvl="2">
              <a:lnSpc>
                <a:spcPct val="110000"/>
              </a:lnSpc>
            </a:pPr>
            <a:r>
              <a:rPr lang="en-US" altLang="en-US" sz="2400" dirty="0"/>
              <a:t>例如，产品的购买价格和支付的销售税金额</a:t>
            </a:r>
          </a:p>
          <a:p>
            <a:pPr eaLnBrk="1" hangingPunct="1">
              <a:lnSpc>
                <a:spcPct val="110000"/>
              </a:lnSpc>
            </a:pPr>
            <a:r>
              <a:rPr lang="en-US" altLang="en-US" sz="2400" dirty="0"/>
              <a:t>无关属性</a:t>
            </a:r>
          </a:p>
          <a:p>
            <a:pPr lvl="1" eaLnBrk="1" hangingPunct="1">
              <a:lnSpc>
                <a:spcPct val="110000"/>
              </a:lnSpc>
            </a:pPr>
            <a:r>
              <a:rPr lang="en-US" altLang="en-US" sz="2400" dirty="0"/>
              <a:t>不包含对当前数据挖掘任务有用的信息</a:t>
            </a:r>
          </a:p>
          <a:p>
            <a:pPr lvl="2">
              <a:lnSpc>
                <a:spcPct val="110000"/>
              </a:lnSpc>
            </a:pPr>
            <a:r>
              <a:rPr lang="en-US" altLang="en-US" sz="2400" dirty="0"/>
              <a:t>例如，学生的学号通常与预测其GPA的任务无关</a:t>
            </a:r>
          </a:p>
        </p:txBody>
      </p:sp>
      <p:sp>
        <p:nvSpPr>
          <p:cNvPr id="37893"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37894" name="Rectangle 5"/>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pic>
        <p:nvPicPr>
          <p:cNvPr id="49156" name="Picture 4" descr="Image result for feature sele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155" y="2115944"/>
            <a:ext cx="4091262" cy="2366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2434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normAutofit/>
          </a:bodyPr>
          <a:lstStyle/>
          <a:p>
            <a:pPr eaLnBrk="1" hangingPunct="1"/>
            <a:r>
              <a:rPr lang="en-US" altLang="en-US" dirty="0"/>
              <a:t>属性选择中的启发式搜索</a:t>
            </a:r>
          </a:p>
        </p:txBody>
      </p:sp>
      <p:sp>
        <p:nvSpPr>
          <p:cNvPr id="38916" name="Rectangle 3"/>
          <p:cNvSpPr>
            <a:spLocks noGrp="1" noChangeArrowheads="1"/>
          </p:cNvSpPr>
          <p:nvPr>
            <p:ph type="body" idx="1"/>
          </p:nvPr>
        </p:nvSpPr>
        <p:spPr>
          <a:xfrm>
            <a:off x="583473" y="1295400"/>
            <a:ext cx="10807337" cy="5181600"/>
          </a:xfrm>
        </p:spPr>
        <p:txBody>
          <a:bodyPr/>
          <a:lstStyle/>
          <a:p>
            <a:pPr eaLnBrk="1" hangingPunct="1"/>
            <a:r>
              <a:rPr lang="en-US" altLang="en-US" sz="2400" dirty="0"/>
              <a:t>对于</a:t>
            </a:r>
            <a:r>
              <a:rPr lang="en-US" altLang="en-US" sz="2400" i="1" dirty="0"/>
              <a:t>d</a:t>
            </a:r>
            <a:r>
              <a:rPr lang="en-US" altLang="en-US" sz="2400" dirty="0"/>
              <a:t>个属性，存在</a:t>
            </a:r>
            <a:r>
              <a:rPr lang="en-US" altLang="en-US" sz="2400" i="1" dirty="0"/>
              <a:t> 2</a:t>
            </a:r>
            <a:r>
              <a:rPr lang="en-US" altLang="en-US" sz="2400" i="1" baseline="30000" dirty="0"/>
              <a:t>d</a:t>
            </a:r>
            <a:r>
              <a:rPr lang="en-US" altLang="en-US" sz="2400" dirty="0"/>
              <a:t> 种可能的属性组合</a:t>
            </a:r>
          </a:p>
          <a:p>
            <a:pPr eaLnBrk="1" hangingPunct="1"/>
            <a:r>
              <a:rPr lang="en-US" altLang="en-US" sz="2400" dirty="0"/>
              <a:t>典型的启发式属性选择方法：</a:t>
            </a:r>
          </a:p>
          <a:p>
            <a:pPr lvl="1" eaLnBrk="1" hangingPunct="1"/>
            <a:r>
              <a:rPr lang="en-US" altLang="en-US" sz="2400" dirty="0"/>
              <a:t>在属性独立性假设下选择最佳单一属性：通过显著性检验选择</a:t>
            </a:r>
          </a:p>
          <a:p>
            <a:pPr lvl="1" eaLnBrk="1" hangingPunct="1"/>
            <a:r>
              <a:rPr lang="en-US" altLang="en-US" sz="2400" dirty="0"/>
              <a:t>最佳逐步特征选择：</a:t>
            </a:r>
          </a:p>
          <a:p>
            <a:pPr lvl="2" eaLnBrk="1" hangingPunct="1"/>
            <a:r>
              <a:rPr lang="en-US" altLang="en-US" sz="2400" dirty="0"/>
              <a:t>首先选择最佳单一属性</a:t>
            </a:r>
          </a:p>
          <a:p>
            <a:pPr lvl="2" eaLnBrk="1" hangingPunct="1"/>
            <a:r>
              <a:rPr lang="en-US" altLang="en-US" sz="2400" dirty="0"/>
              <a:t>然后选择与第一个属性条件最接近的属性，依此类推</a:t>
            </a:r>
          </a:p>
          <a:p>
            <a:pPr lvl="1" eaLnBrk="1" hangingPunct="1"/>
            <a:r>
              <a:rPr lang="en-US" altLang="en-US" sz="2400" dirty="0"/>
              <a:t>逐步属性消除法：</a:t>
            </a:r>
          </a:p>
          <a:p>
            <a:pPr lvl="2" eaLnBrk="1" hangingPunct="1"/>
            <a:r>
              <a:rPr lang="en-US" altLang="en-US" sz="2400" dirty="0"/>
              <a:t>反复消除最差属性</a:t>
            </a:r>
          </a:p>
          <a:p>
            <a:pPr lvl="1" eaLnBrk="1" hangingPunct="1"/>
            <a:r>
              <a:rPr lang="en-US" altLang="en-US" sz="2400" dirty="0"/>
              <a:t>最佳组合属性选择与消除</a:t>
            </a:r>
          </a:p>
          <a:p>
            <a:pPr lvl="1" eaLnBrk="1" hangingPunct="1"/>
            <a:r>
              <a:rPr lang="en-US" altLang="en-US" sz="2400" dirty="0"/>
              <a:t>最优分支与界限法：</a:t>
            </a:r>
          </a:p>
          <a:p>
            <a:pPr lvl="2" eaLnBrk="1" hangingPunct="1"/>
            <a:r>
              <a:rPr lang="en-US" altLang="en-US" sz="2400" dirty="0">
                <a:sym typeface="Symbol" panose="05050102010706020507" pitchFamily="18" charset="2"/>
              </a:rPr>
              <a:t>使用属性消除和回溯</a:t>
            </a:r>
            <a:endParaRPr lang="en-US" altLang="en-US" sz="2400" dirty="0"/>
          </a:p>
        </p:txBody>
      </p:sp>
    </p:spTree>
    <p:extLst>
      <p:ext uri="{BB962C8B-B14F-4D97-AF65-F5344CB8AC3E}">
        <p14:creationId xmlns:p14="http://schemas.microsoft.com/office/powerpoint/2010/main" val="13735202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idx="4294967295"/>
          </p:nvPr>
        </p:nvSpPr>
        <p:spPr/>
        <p:txBody>
          <a:bodyPr>
            <a:normAutofit fontScale="90000"/>
          </a:bodyPr>
          <a:lstStyle/>
          <a:p>
            <a:pPr eaLnBrk="1" hangingPunct="1"/>
            <a:r>
              <a:rPr lang="en-US" altLang="en-US"/>
              <a:t>属性创建（特征生成）</a:t>
            </a:r>
          </a:p>
        </p:txBody>
      </p:sp>
      <p:sp>
        <p:nvSpPr>
          <p:cNvPr id="39940" name="Rectangle 3"/>
          <p:cNvSpPr>
            <a:spLocks noGrp="1" noChangeArrowheads="1"/>
          </p:cNvSpPr>
          <p:nvPr>
            <p:ph type="body" idx="4294967295"/>
          </p:nvPr>
        </p:nvSpPr>
        <p:spPr>
          <a:xfrm>
            <a:off x="600891" y="1219203"/>
            <a:ext cx="10824755" cy="5209309"/>
          </a:xfrm>
        </p:spPr>
        <p:txBody>
          <a:bodyPr/>
          <a:lstStyle/>
          <a:p>
            <a:pPr eaLnBrk="1" hangingPunct="1"/>
            <a:r>
              <a:rPr lang="en-US" altLang="en-US" dirty="0">
                <a:ea typeface="STKaiti" panose="02010600040101010101" pitchFamily="2" charset="-122"/>
              </a:rPr>
              <a:t>创建新的属性（特征），以更有效地捕获数据集中比原始属性更重要的信息</a:t>
            </a:r>
          </a:p>
          <a:p>
            <a:pPr eaLnBrk="1" hangingPunct="1"/>
            <a:r>
              <a:rPr lang="en-US" altLang="en-US" dirty="0">
                <a:ea typeface="STKaiti" panose="02010600040101010101" pitchFamily="2" charset="-122"/>
              </a:rPr>
              <a:t>三种通用方法</a:t>
            </a:r>
          </a:p>
          <a:p>
            <a:pPr lvl="1" eaLnBrk="1" hangingPunct="1"/>
            <a:r>
              <a:rPr lang="en-US" altLang="en-US" dirty="0">
                <a:ea typeface="STKaiti" panose="02010600040101010101" pitchFamily="2" charset="-122"/>
              </a:rPr>
              <a:t>属性提取</a:t>
            </a:r>
          </a:p>
          <a:p>
            <a:pPr lvl="2" eaLnBrk="1" hangingPunct="1"/>
            <a:r>
              <a:rPr lang="en-US" altLang="en-US" dirty="0">
                <a:ea typeface="STKaiti" panose="02010600040101010101" pitchFamily="2" charset="-122"/>
              </a:rPr>
              <a:t> 领域特定</a:t>
            </a:r>
          </a:p>
          <a:p>
            <a:pPr lvl="1" eaLnBrk="1" hangingPunct="1"/>
            <a:r>
              <a:rPr lang="en-US" altLang="en-US" dirty="0">
                <a:ea typeface="STKaiti" panose="02010600040101010101" pitchFamily="2" charset="-122"/>
              </a:rPr>
              <a:t>将数据映射到新空间（参见数据降维）</a:t>
            </a:r>
          </a:p>
          <a:p>
            <a:pPr lvl="2" eaLnBrk="1" hangingPunct="1"/>
            <a:r>
              <a:rPr lang="en-US" altLang="en-US" dirty="0">
                <a:ea typeface="STKaiti" panose="02010600040101010101" pitchFamily="2" charset="-122"/>
              </a:rPr>
              <a:t>例如，傅里叶变换、小波变换、流形方法（未涵盖）</a:t>
            </a:r>
          </a:p>
          <a:p>
            <a:pPr lvl="1" eaLnBrk="1" hangingPunct="1"/>
            <a:r>
              <a:rPr lang="en-US" altLang="en-US" dirty="0">
                <a:ea typeface="STKaiti" panose="02010600040101010101" pitchFamily="2" charset="-122"/>
              </a:rPr>
              <a:t>属性构建 </a:t>
            </a:r>
          </a:p>
          <a:p>
            <a:pPr lvl="2" eaLnBrk="1" hangingPunct="1"/>
            <a:r>
              <a:rPr lang="en-US" altLang="en-US" dirty="0">
                <a:ea typeface="STKaiti" panose="02010600040101010101" pitchFamily="2" charset="-122"/>
              </a:rPr>
              <a:t>特征组合（参见“高级分类”章节中的“判别性高频模式”）</a:t>
            </a:r>
          </a:p>
          <a:p>
            <a:pPr lvl="2" eaLnBrk="1" hangingPunct="1"/>
            <a:r>
              <a:rPr lang="en-US" altLang="en-US" dirty="0">
                <a:ea typeface="STKaiti" panose="02010600040101010101" pitchFamily="2" charset="-122"/>
              </a:rPr>
              <a:t>数据离散化</a:t>
            </a:r>
          </a:p>
        </p:txBody>
      </p:sp>
    </p:spTree>
    <p:extLst>
      <p:ext uri="{BB962C8B-B14F-4D97-AF65-F5344CB8AC3E}">
        <p14:creationId xmlns:p14="http://schemas.microsoft.com/office/powerpoint/2010/main" val="397125122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p:txBody>
          <a:bodyPr>
            <a:normAutofit/>
          </a:bodyPr>
          <a:lstStyle/>
          <a:p>
            <a:r>
              <a:rPr lang="en-US" altLang="en-US" dirty="0"/>
              <a:t>非线性维度约减方法</a:t>
            </a:r>
            <a:endParaRPr lang="en-US"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p:txBody>
          <a:bodyPr/>
          <a:lstStyle/>
          <a:p>
            <a:pPr algn="l"/>
            <a:r>
              <a:rPr lang="en-US" sz="2400" b="0" i="0" u="none" strike="noStrike" baseline="0" dirty="0"/>
              <a:t>PCA 是一种线性维度缩减方法</a:t>
            </a:r>
          </a:p>
          <a:p>
            <a:pPr lvl="1"/>
            <a:r>
              <a:rPr lang="en-US" sz="2400" b="0" i="0" u="none" strike="noStrike" baseline="0" dirty="0"/>
              <a:t>每个主成分是原始输入属性的线性组合</a:t>
            </a:r>
          </a:p>
          <a:p>
            <a:pPr lvl="1"/>
            <a:r>
              <a:rPr lang="en-US" sz="2400" b="0" i="0" u="none" strike="noStrike" baseline="0" dirty="0"/>
              <a:t>当输入数据大致服从高斯分布或形成少数几个线性可分簇时，该方法效果良好</a:t>
            </a:r>
          </a:p>
          <a:p>
            <a:r>
              <a:rPr lang="en-US" sz="2400" b="0" i="0" u="none" strike="noStrike" baseline="0" dirty="0"/>
              <a:t>当输入数据不可线性分离时，我们需要构建一个邻近矩阵（P）并学习一个具有</a:t>
            </a:r>
            <a:r>
              <a:rPr lang="en-US" sz="2400" b="0" i="1" u="none" strike="noStrike" baseline="0" dirty="0"/>
              <a:t>k</a:t>
            </a:r>
            <a:r>
              <a:rPr lang="en-US" sz="2400" b="0" i="0" u="none" strike="noStrike" baseline="0" dirty="0"/>
              <a:t>个特征（</a:t>
            </a:r>
            <a:r>
              <a:rPr lang="en-US" sz="2400" b="0" i="1" u="none" strike="noStrike" baseline="0" dirty="0"/>
              <a:t>k &lt;&lt; d</a:t>
            </a:r>
            <a:r>
              <a:rPr lang="en-US" sz="2400" b="0" i="0" u="none" strike="noStrike" baseline="0" dirty="0"/>
              <a:t>）的新矩阵，以保留邻近关系</a:t>
            </a:r>
          </a:p>
        </p:txBody>
      </p:sp>
      <p:pic>
        <p:nvPicPr>
          <p:cNvPr id="9" name="Picture 8">
            <a:extLst>
              <a:ext uri="{FF2B5EF4-FFF2-40B4-BE49-F238E27FC236}">
                <a16:creationId xmlns:a16="http://schemas.microsoft.com/office/drawing/2014/main" id="{28C83F05-97C8-45BE-A344-1C95409A3A53}"/>
              </a:ext>
            </a:extLst>
          </p:cNvPr>
          <p:cNvPicPr>
            <a:picLocks noChangeAspect="1"/>
          </p:cNvPicPr>
          <p:nvPr/>
        </p:nvPicPr>
        <p:blipFill>
          <a:blip r:embed="rId3"/>
          <a:stretch>
            <a:fillRect/>
          </a:stretch>
        </p:blipFill>
        <p:spPr>
          <a:xfrm>
            <a:off x="1441875" y="3911600"/>
            <a:ext cx="9837827" cy="2674360"/>
          </a:xfrm>
          <a:prstGeom prst="rect">
            <a:avLst/>
          </a:prstGeom>
        </p:spPr>
      </p:pic>
    </p:spTree>
    <p:extLst>
      <p:ext uri="{BB962C8B-B14F-4D97-AF65-F5344CB8AC3E}">
        <p14:creationId xmlns:p14="http://schemas.microsoft.com/office/powerpoint/2010/main" val="19580349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221676"/>
            <a:ext cx="12191999" cy="738909"/>
          </a:xfrm>
        </p:spPr>
        <p:txBody>
          <a:bodyPr>
            <a:noAutofit/>
          </a:bodyPr>
          <a:lstStyle/>
          <a:p>
            <a:r>
              <a:rPr lang="en-US" altLang="en-US" sz="3600" dirty="0"/>
              <a:t>非线性维度约减（I）：</a:t>
            </a:r>
            <a:r>
              <a:rPr lang="en-US" sz="3600" b="0" i="0" u="none" strike="noStrike" baseline="0" dirty="0"/>
              <a:t>核主成分分析（</a:t>
            </a:r>
            <a:r>
              <a:rPr lang="en-US" altLang="en-US" sz="3600" dirty="0"/>
              <a:t>KPCA）</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427410" y="1173467"/>
            <a:ext cx="11303673" cy="5384800"/>
          </a:xfrm>
        </p:spPr>
        <p:txBody>
          <a:bodyPr/>
          <a:lstStyle/>
          <a:p>
            <a:r>
              <a:rPr lang="en-US" sz="2000" b="0" i="0" u="none" strike="noStrike" baseline="0" dirty="0"/>
              <a:t>使用核函数 </a:t>
            </a:r>
            <a:r>
              <a:rPr lang="en-US" sz="2000" b="0" i="1" u="none" strike="noStrike" baseline="0" dirty="0"/>
              <a:t>κ</a:t>
            </a:r>
            <a:r>
              <a:rPr lang="en-US" sz="2000" b="0" i="0" u="none" strike="noStrike" baseline="0" dirty="0"/>
              <a:t>(·) 构造核矩阵：P(i, j) = κ(x</a:t>
            </a:r>
            <a:r>
              <a:rPr lang="en-US" sz="2000" b="0" i="0" u="none" strike="noStrike" baseline="-25000" dirty="0"/>
              <a:t>i</a:t>
            </a:r>
            <a:r>
              <a:rPr lang="en-US" sz="2000" b="0" i="0" u="none" strike="noStrike" baseline="0" dirty="0"/>
              <a:t> , x</a:t>
            </a:r>
            <a:r>
              <a:rPr lang="en-US" sz="2000" b="0" i="0" u="none" strike="noStrike" baseline="-25000" dirty="0" err="1"/>
              <a:t>j</a:t>
            </a:r>
            <a:r>
              <a:rPr lang="en-US" sz="2000" b="0" i="0" u="none" strike="noStrike" baseline="0" dirty="0"/>
              <a:t> )，并学习最佳低维表示，使得估计的邻近矩阵 Pˆ 尽可能接近核矩阵 P</a:t>
            </a:r>
          </a:p>
          <a:p>
            <a:r>
              <a:rPr lang="en-US" sz="2000" b="0" i="0" u="none" strike="noStrike" baseline="0" dirty="0"/>
              <a:t>这可以通过使用核矩阵 P 的</a:t>
            </a:r>
            <a:r>
              <a:rPr lang="en-US" sz="2000" b="0" i="1" u="none" strike="noStrike" baseline="0" dirty="0"/>
              <a:t>前 k </a:t>
            </a:r>
            <a:r>
              <a:rPr lang="en-US" sz="2000" b="0" i="0" u="none" strike="noStrike" baseline="0" dirty="0"/>
              <a:t>个特征向量和特征值来实现</a:t>
            </a:r>
          </a:p>
          <a:p>
            <a:r>
              <a:rPr lang="en-US" sz="2000" b="0" i="0" u="none" strike="noStrike" baseline="0" dirty="0"/>
              <a:t>典型的核函数： </a:t>
            </a:r>
          </a:p>
          <a:p>
            <a:pPr lvl="1"/>
            <a:r>
              <a:rPr lang="en-US" sz="2000" b="0" i="0" u="none" strike="noStrike" baseline="0" dirty="0"/>
              <a:t>(1) 多项式核函数：   </a:t>
            </a:r>
          </a:p>
          <a:p>
            <a:pPr lvl="1"/>
            <a:r>
              <a:rPr lang="en-US" sz="2000" b="0" i="0" u="none" strike="noStrike" baseline="0" dirty="0"/>
              <a:t>(2) 径向基函数 (RBF)：</a:t>
            </a:r>
            <a:r>
              <a:rPr lang="el-GR" altLang="ko-Kore-KR" sz="2000" b="0" i="0" u="none" strike="noStrike" baseline="0" dirty="0"/>
              <a:t> </a:t>
            </a:r>
            <a:endParaRPr lang="en-US" altLang="ko-Kore-KR" sz="2000" b="0" i="0" u="none" strike="noStrike" baseline="0" dirty="0"/>
          </a:p>
          <a:p>
            <a:pPr marL="200021" lvl="1" indent="0">
              <a:buNone/>
            </a:pPr>
            <a:endParaRPr lang="en-US" sz="2000" b="0" i="0" u="none" strike="noStrike" baseline="0" dirty="0"/>
          </a:p>
          <a:p>
            <a:pPr lvl="1"/>
            <a:r>
              <a:rPr lang="en-US" sz="2000" b="0" i="0" u="none" strike="noStrike" baseline="0" dirty="0"/>
              <a:t>若选择线性核函数</a:t>
            </a:r>
            <a:r>
              <a:rPr lang="zh-CN" altLang="en-US" sz="2000" b="0" i="0" u="none" strike="noStrike" baseline="0" dirty="0"/>
              <a:t>：</a:t>
            </a:r>
            <a:r>
              <a:rPr lang="el-GR" altLang="ko-Kore-KR" sz="2000" b="0" i="0" u="none" strike="noStrike" baseline="0" dirty="0"/>
              <a:t> κ(</a:t>
            </a:r>
            <a:r>
              <a:rPr lang="en-US" altLang="ko-Kore-KR" sz="2000" b="0" i="0" u="none" strike="noStrike" baseline="0" dirty="0"/>
              <a:t>x</a:t>
            </a:r>
            <a:r>
              <a:rPr lang="en-US" altLang="ko-Kore-KR" sz="2000" b="0" i="0" u="none" strike="noStrike" baseline="-25000" dirty="0"/>
              <a:t>i </a:t>
            </a:r>
            <a:r>
              <a:rPr lang="en-US" altLang="ko-Kore-KR" sz="2000" b="0" i="0" u="none" strike="noStrike" baseline="0" dirty="0"/>
              <a:t>, </a:t>
            </a:r>
            <a:r>
              <a:rPr lang="en-US" altLang="ko-Kore-KR" sz="2000" b="0" i="0" u="none" strike="noStrike" baseline="0" dirty="0" err="1"/>
              <a:t>x</a:t>
            </a:r>
            <a:r>
              <a:rPr lang="en-US" altLang="ko-Kore-KR" sz="2000" b="0" i="0" u="none" strike="noStrike" baseline="-25000" dirty="0" err="1"/>
              <a:t>j</a:t>
            </a:r>
            <a:r>
              <a:rPr lang="en-US" altLang="ko-Kore-KR" sz="2000" b="0" i="0" u="none" strike="noStrike" baseline="0" dirty="0"/>
              <a:t>) = </a:t>
            </a:r>
            <a:r>
              <a:rPr lang="en-US" altLang="ko-Kore-KR" sz="2000" b="0" i="0" u="none" strike="noStrike" baseline="0" dirty="0" err="1"/>
              <a:t>x</a:t>
            </a:r>
            <a:r>
              <a:rPr lang="en-US" altLang="ko-Kore-KR" sz="2000" b="0" i="0" u="none" strike="noStrike" baseline="-25000" dirty="0" err="1"/>
              <a:t>i</a:t>
            </a:r>
            <a:r>
              <a:rPr lang="en-US" altLang="ko-Kore-KR" sz="2000" b="0" i="0" u="none" strike="noStrike" baseline="0" dirty="0" err="1"/>
              <a:t>・x</a:t>
            </a:r>
            <a:r>
              <a:rPr lang="en-US" altLang="ko-Kore-KR" sz="2000" b="0" i="0" u="none" strike="noStrike" baseline="-25000" dirty="0" err="1"/>
              <a:t>j </a:t>
            </a:r>
            <a:r>
              <a:rPr lang="en-US" sz="2000" b="0" i="0" u="none" strike="noStrike" baseline="0" dirty="0"/>
              <a:t>，则KPCA退化为标准PCA</a:t>
            </a:r>
          </a:p>
          <a:p>
            <a:r>
              <a:rPr lang="en-US" sz="2000" b="0" i="0" u="none" strike="noStrike" baseline="0" dirty="0"/>
              <a:t>核PCA</a:t>
            </a:r>
            <a:r>
              <a:rPr lang="en-US" sz="2000" dirty="0"/>
              <a:t>与</a:t>
            </a:r>
            <a:r>
              <a:rPr lang="en-US" sz="2000" b="0" i="0" u="none" strike="noStrike" baseline="0" dirty="0"/>
              <a:t>SNE（随机邻域嵌入）的主要公式</a:t>
            </a:r>
          </a:p>
        </p:txBody>
      </p:sp>
      <p:pic>
        <p:nvPicPr>
          <p:cNvPr id="5" name="Picture 4">
            <a:extLst>
              <a:ext uri="{FF2B5EF4-FFF2-40B4-BE49-F238E27FC236}">
                <a16:creationId xmlns:a16="http://schemas.microsoft.com/office/drawing/2014/main" id="{1C7143C0-4BDB-A018-0981-C66D374C229E}"/>
              </a:ext>
            </a:extLst>
          </p:cNvPr>
          <p:cNvPicPr>
            <a:picLocks noChangeAspect="1"/>
          </p:cNvPicPr>
          <p:nvPr/>
        </p:nvPicPr>
        <p:blipFill>
          <a:blip r:embed="rId3"/>
          <a:stretch>
            <a:fillRect/>
          </a:stretch>
        </p:blipFill>
        <p:spPr>
          <a:xfrm>
            <a:off x="1602131" y="4707483"/>
            <a:ext cx="8233244" cy="1413995"/>
          </a:xfrm>
          <a:prstGeom prst="rect">
            <a:avLst/>
          </a:prstGeom>
        </p:spPr>
      </p:pic>
      <p:pic>
        <p:nvPicPr>
          <p:cNvPr id="4" name="Picture 7">
            <a:extLst>
              <a:ext uri="{FF2B5EF4-FFF2-40B4-BE49-F238E27FC236}">
                <a16:creationId xmlns:a16="http://schemas.microsoft.com/office/drawing/2014/main" id="{0B06D8FD-32F4-F769-326D-AE8661FEC854}"/>
              </a:ext>
            </a:extLst>
          </p:cNvPr>
          <p:cNvPicPr>
            <a:picLocks noChangeAspect="1"/>
          </p:cNvPicPr>
          <p:nvPr/>
        </p:nvPicPr>
        <p:blipFill>
          <a:blip r:embed="rId4"/>
          <a:stretch>
            <a:fillRect/>
          </a:stretch>
        </p:blipFill>
        <p:spPr>
          <a:xfrm>
            <a:off x="3811805" y="3068562"/>
            <a:ext cx="2613574" cy="642504"/>
          </a:xfrm>
          <a:prstGeom prst="rect">
            <a:avLst/>
          </a:prstGeom>
        </p:spPr>
      </p:pic>
      <p:pic>
        <p:nvPicPr>
          <p:cNvPr id="6" name="Picture 5">
            <a:extLst>
              <a:ext uri="{FF2B5EF4-FFF2-40B4-BE49-F238E27FC236}">
                <a16:creationId xmlns:a16="http://schemas.microsoft.com/office/drawing/2014/main" id="{A5800D81-5971-A9AA-E936-A2B2032111C9}"/>
              </a:ext>
            </a:extLst>
          </p:cNvPr>
          <p:cNvPicPr>
            <a:picLocks noChangeAspect="1"/>
          </p:cNvPicPr>
          <p:nvPr/>
        </p:nvPicPr>
        <p:blipFill>
          <a:blip r:embed="rId5"/>
          <a:stretch>
            <a:fillRect/>
          </a:stretch>
        </p:blipFill>
        <p:spPr>
          <a:xfrm>
            <a:off x="3310001" y="2662177"/>
            <a:ext cx="2785999" cy="377418"/>
          </a:xfrm>
          <a:prstGeom prst="rect">
            <a:avLst/>
          </a:prstGeom>
        </p:spPr>
      </p:pic>
    </p:spTree>
    <p:extLst>
      <p:ext uri="{BB962C8B-B14F-4D97-AF65-F5344CB8AC3E}">
        <p14:creationId xmlns:p14="http://schemas.microsoft.com/office/powerpoint/2010/main" val="416036928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221676"/>
            <a:ext cx="12191999" cy="738909"/>
          </a:xfrm>
        </p:spPr>
        <p:txBody>
          <a:bodyPr>
            <a:noAutofit/>
          </a:bodyPr>
          <a:lstStyle/>
          <a:p>
            <a:r>
              <a:rPr lang="en-US" altLang="en-US" sz="4000" dirty="0"/>
              <a:t>非线性维度约减（II）：</a:t>
            </a:r>
            <a:r>
              <a:rPr lang="en-US" sz="4000" b="0" i="0" u="none" strike="noStrike" baseline="0" dirty="0"/>
              <a:t>SNE</a:t>
            </a:r>
            <a:endParaRPr lang="en-US" sz="40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14040" y="1219200"/>
            <a:ext cx="11500732" cy="5384800"/>
          </a:xfrm>
        </p:spPr>
        <p:txBody>
          <a:bodyPr/>
          <a:lstStyle/>
          <a:p>
            <a:r>
              <a:rPr lang="en-US" sz="2400" b="0" i="0" u="none" strike="noStrike" baseline="0" dirty="0"/>
              <a:t>SNE（随机邻域嵌入） </a:t>
            </a:r>
          </a:p>
          <a:p>
            <a:pPr lvl="1"/>
            <a:r>
              <a:rPr lang="en-US" sz="2400" b="0" i="0" u="none" strike="noStrike" baseline="0" dirty="0"/>
              <a:t>使用以下公式构建邻近矩阵 </a:t>
            </a:r>
            <a:r>
              <a:rPr lang="en-US" sz="2400" dirty="0"/>
              <a:t>P</a:t>
            </a:r>
            <a:r>
              <a:rPr lang="en-US" sz="2400" b="0" i="0" u="none" strike="noStrike" baseline="0" dirty="0"/>
              <a:t>：</a:t>
            </a:r>
          </a:p>
          <a:p>
            <a:pPr lvl="2"/>
            <a:r>
              <a:rPr lang="en-US" sz="2400" b="0" i="0" u="none" strike="noStrike" baseline="0" dirty="0"/>
              <a:t> 表示点 x</a:t>
            </a:r>
            <a:r>
              <a:rPr lang="en-US" sz="2400" b="0" i="1" u="none" strike="noStrike" baseline="-25000" dirty="0" err="1"/>
              <a:t>j</a:t>
            </a:r>
            <a:r>
              <a:rPr lang="en-US" sz="2400" b="0" i="0" u="none" strike="noStrike" baseline="0" dirty="0"/>
              <a:t> 是点 x</a:t>
            </a:r>
            <a:r>
              <a:rPr lang="en-US" sz="2400" b="0" i="1" u="none" strike="noStrike" baseline="-25000" dirty="0"/>
              <a:t>i</a:t>
            </a:r>
            <a:r>
              <a:rPr lang="en-US" sz="2400" b="0" i="0" u="none" strike="noStrike" baseline="0" dirty="0"/>
              <a:t> 的邻居的概率。 </a:t>
            </a:r>
          </a:p>
          <a:p>
            <a:pPr lvl="1"/>
            <a:r>
              <a:rPr lang="en-US" sz="2400" b="0" i="0" u="none" strike="noStrike" baseline="0" dirty="0"/>
              <a:t>假设我们已经学习到了低维表示 x</a:t>
            </a:r>
            <a:r>
              <a:rPr lang="en-US" sz="2400" b="0" i="0" u="none" strike="noStrike" baseline="-25000" dirty="0"/>
              <a:t>i</a:t>
            </a:r>
            <a:r>
              <a:rPr lang="en-US" sz="2400" b="0" i="0" u="none" strike="noStrike" baseline="0" dirty="0"/>
              <a:t> ˆ，我们可以以类似的方式计算另一个估计的邻近矩阵：</a:t>
            </a:r>
            <a:r>
              <a:rPr lang="en-US" sz="2400" b="0" i="1" u="none" strike="noStrike" baseline="0" dirty="0"/>
              <a:t>Pˆ (</a:t>
            </a:r>
            <a:r>
              <a:rPr lang="en-US" sz="2400" b="0" i="1" u="none" strike="noStrike" baseline="0" dirty="0" err="1"/>
              <a:t>i</a:t>
            </a:r>
            <a:r>
              <a:rPr lang="en-US" sz="2400" b="0" i="1" u="none" strike="noStrike" baseline="0" dirty="0"/>
              <a:t>, j) </a:t>
            </a:r>
          </a:p>
          <a:p>
            <a:pPr lvl="1"/>
            <a:r>
              <a:rPr lang="en-US" sz="2400" b="0" u="none" strike="noStrike" baseline="0" dirty="0"/>
              <a:t>我们希望估计的</a:t>
            </a:r>
            <a:r>
              <a:rPr lang="en-US" sz="2400" b="0" i="0" u="none" strike="noStrike" baseline="0" dirty="0"/>
              <a:t>邻近矩阵 P^ 尽可能接近 P</a:t>
            </a:r>
          </a:p>
          <a:p>
            <a:pPr lvl="1"/>
            <a:r>
              <a:rPr lang="en-US" sz="2400" b="0" u="none" strike="noStrike" baseline="0" dirty="0"/>
              <a:t>即，我们希望最小化整体 K-L 散度，即： </a:t>
            </a:r>
          </a:p>
          <a:p>
            <a:pPr lvl="1"/>
            <a:endParaRPr lang="en-US" sz="2400" b="0" u="none" strike="noStrike" baseline="0" dirty="0"/>
          </a:p>
        </p:txBody>
      </p:sp>
      <p:pic>
        <p:nvPicPr>
          <p:cNvPr id="5" name="Picture 4">
            <a:extLst>
              <a:ext uri="{FF2B5EF4-FFF2-40B4-BE49-F238E27FC236}">
                <a16:creationId xmlns:a16="http://schemas.microsoft.com/office/drawing/2014/main" id="{1C7143C0-4BDB-A018-0981-C66D374C229E}"/>
              </a:ext>
            </a:extLst>
          </p:cNvPr>
          <p:cNvPicPr>
            <a:picLocks noChangeAspect="1"/>
          </p:cNvPicPr>
          <p:nvPr/>
        </p:nvPicPr>
        <p:blipFill>
          <a:blip r:embed="rId3"/>
          <a:stretch>
            <a:fillRect/>
          </a:stretch>
        </p:blipFill>
        <p:spPr>
          <a:xfrm>
            <a:off x="1124175" y="4935633"/>
            <a:ext cx="9714368" cy="1668367"/>
          </a:xfrm>
          <a:prstGeom prst="rect">
            <a:avLst/>
          </a:prstGeom>
        </p:spPr>
      </p:pic>
      <p:pic>
        <p:nvPicPr>
          <p:cNvPr id="6" name="Picture 5">
            <a:extLst>
              <a:ext uri="{FF2B5EF4-FFF2-40B4-BE49-F238E27FC236}">
                <a16:creationId xmlns:a16="http://schemas.microsoft.com/office/drawing/2014/main" id="{2AE7DB66-CD02-1F8A-1A67-921FAEA240EE}"/>
              </a:ext>
            </a:extLst>
          </p:cNvPr>
          <p:cNvPicPr>
            <a:picLocks noChangeAspect="1"/>
          </p:cNvPicPr>
          <p:nvPr/>
        </p:nvPicPr>
        <p:blipFill>
          <a:blip r:embed="rId4"/>
          <a:stretch>
            <a:fillRect/>
          </a:stretch>
        </p:blipFill>
        <p:spPr>
          <a:xfrm>
            <a:off x="5446651" y="1538868"/>
            <a:ext cx="4306763" cy="764094"/>
          </a:xfrm>
          <a:prstGeom prst="rect">
            <a:avLst/>
          </a:prstGeom>
        </p:spPr>
      </p:pic>
      <p:pic>
        <p:nvPicPr>
          <p:cNvPr id="8" name="Picture 7">
            <a:extLst>
              <a:ext uri="{FF2B5EF4-FFF2-40B4-BE49-F238E27FC236}">
                <a16:creationId xmlns:a16="http://schemas.microsoft.com/office/drawing/2014/main" id="{FB392AD2-C0C1-A01F-9346-B255ED12223C}"/>
              </a:ext>
            </a:extLst>
          </p:cNvPr>
          <p:cNvPicPr>
            <a:picLocks noChangeAspect="1"/>
          </p:cNvPicPr>
          <p:nvPr/>
        </p:nvPicPr>
        <p:blipFill>
          <a:blip r:embed="rId5"/>
          <a:stretch>
            <a:fillRect/>
          </a:stretch>
        </p:blipFill>
        <p:spPr>
          <a:xfrm>
            <a:off x="5284206" y="4234093"/>
            <a:ext cx="5197940" cy="519794"/>
          </a:xfrm>
          <a:prstGeom prst="rect">
            <a:avLst/>
          </a:prstGeom>
        </p:spPr>
      </p:pic>
    </p:spTree>
    <p:extLst>
      <p:ext uri="{BB962C8B-B14F-4D97-AF65-F5344CB8AC3E}">
        <p14:creationId xmlns:p14="http://schemas.microsoft.com/office/powerpoint/2010/main" val="25154441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411018" y="361171"/>
            <a:ext cx="11369963" cy="608515"/>
          </a:xfrm>
        </p:spPr>
        <p:txBody>
          <a:bodyPr>
            <a:noAutofit/>
          </a:bodyPr>
          <a:lstStyle/>
          <a:p>
            <a:r>
              <a:rPr lang="en-US" altLang="en-US" sz="3200" dirty="0"/>
              <a:t>示例：非线性数据点的比较：线性与非线性维度缩减方法</a:t>
            </a:r>
            <a:endParaRPr lang="en-US" sz="32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269502" y="1473201"/>
            <a:ext cx="5941727" cy="4719370"/>
          </a:xfrm>
        </p:spPr>
        <p:txBody>
          <a:bodyPr/>
          <a:lstStyle/>
          <a:p>
            <a:r>
              <a:rPr lang="en-US" sz="2400" b="0" i="0" u="none" strike="noStrike" baseline="0" dirty="0"/>
              <a:t>可视化：线性与非线性维度缩减方法的示例</a:t>
            </a:r>
          </a:p>
          <a:p>
            <a:pPr lvl="1"/>
            <a:r>
              <a:rPr lang="en-US" sz="2400" b="0" i="0" u="none" strike="noStrike" baseline="0" dirty="0"/>
              <a:t>给定一组二维空间中的输入数据（图（a））：红色和蓝色数据点无法通过线性方法分离</a:t>
            </a:r>
          </a:p>
          <a:p>
            <a:pPr lvl="1"/>
            <a:r>
              <a:rPr lang="en-US" sz="2400" b="0" i="0" u="none" strike="noStrike" baseline="0" dirty="0"/>
              <a:t>PCA变换无法使其线性可分</a:t>
            </a:r>
            <a:endParaRPr lang="en-US" sz="2400" dirty="0"/>
          </a:p>
          <a:p>
            <a:pPr lvl="1"/>
            <a:r>
              <a:rPr lang="en-US" sz="2400" b="0" i="0" u="none" strike="noStrike" baseline="0" dirty="0"/>
              <a:t>KPCA可使</a:t>
            </a:r>
            <a:r>
              <a:rPr lang="en-US" sz="2400" dirty="0"/>
              <a:t>数据点线性可分</a:t>
            </a:r>
          </a:p>
          <a:p>
            <a:pPr lvl="1"/>
            <a:r>
              <a:rPr lang="en-US" sz="2400" b="0" i="0" u="none" strike="noStrike" baseline="0" dirty="0"/>
              <a:t>t-SNE（t-分布式非同质性）可以使它们线性可分</a:t>
            </a:r>
          </a:p>
        </p:txBody>
      </p:sp>
      <p:pic>
        <p:nvPicPr>
          <p:cNvPr id="10" name="Picture 9">
            <a:extLst>
              <a:ext uri="{FF2B5EF4-FFF2-40B4-BE49-F238E27FC236}">
                <a16:creationId xmlns:a16="http://schemas.microsoft.com/office/drawing/2014/main" id="{52D1B10F-D452-35CC-4E96-98517F48F631}"/>
              </a:ext>
            </a:extLst>
          </p:cNvPr>
          <p:cNvPicPr>
            <a:picLocks noChangeAspect="1"/>
          </p:cNvPicPr>
          <p:nvPr/>
        </p:nvPicPr>
        <p:blipFill>
          <a:blip r:embed="rId2"/>
          <a:stretch>
            <a:fillRect/>
          </a:stretch>
        </p:blipFill>
        <p:spPr>
          <a:xfrm>
            <a:off x="6422150" y="1339912"/>
            <a:ext cx="5678410" cy="5518087"/>
          </a:xfrm>
          <a:prstGeom prst="rect">
            <a:avLst/>
          </a:prstGeom>
        </p:spPr>
      </p:pic>
    </p:spTree>
    <p:extLst>
      <p:ext uri="{BB962C8B-B14F-4D97-AF65-F5344CB8AC3E}">
        <p14:creationId xmlns:p14="http://schemas.microsoft.com/office/powerpoint/2010/main" val="285845187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0"/>
            <a:ext cx="12191999" cy="1083125"/>
          </a:xfrm>
        </p:spPr>
        <p:txBody>
          <a:bodyPr>
            <a:noAutofit/>
          </a:bodyPr>
          <a:lstStyle/>
          <a:p>
            <a:r>
              <a:rPr lang="en-US" altLang="en-US" sz="3600" dirty="0"/>
              <a:t>邻近矩阵的热力图：</a:t>
            </a:r>
            <a:br>
              <a:rPr lang="en-US" altLang="en-US" sz="3600" dirty="0"/>
            </a:br>
            <a:r>
              <a:rPr lang="en-US" altLang="en-US" sz="3600" dirty="0"/>
              <a:t>线性与非线性维度缩减方法</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92546" y="4757485"/>
            <a:ext cx="11406908" cy="1570887"/>
          </a:xfrm>
        </p:spPr>
        <p:txBody>
          <a:bodyPr/>
          <a:lstStyle/>
          <a:p>
            <a:pPr lvl="1"/>
            <a:r>
              <a:rPr lang="en-US" sz="2200" b="0" i="0" u="none" strike="noStrike" baseline="0" dirty="0"/>
              <a:t>两个对角线块分别表示两个聚类内部的邻近性</a:t>
            </a:r>
          </a:p>
          <a:p>
            <a:pPr lvl="1"/>
            <a:r>
              <a:rPr lang="en-US" sz="2200" b="0" i="0" u="none" strike="noStrike" baseline="0" dirty="0"/>
              <a:t>两个非对角块表示两个聚类中数据之间的亲和度</a:t>
            </a:r>
          </a:p>
          <a:p>
            <a:pPr lvl="1"/>
            <a:r>
              <a:rPr lang="en-US" sz="2200" b="0" i="0" u="none" strike="noStrike" baseline="0" dirty="0"/>
              <a:t>采用非线性方法（KPCA 和 t-SNE）时，同一聚类内数据元组之间的亲近度远高于不同聚类间数据元组之间的亲近度</a:t>
            </a:r>
          </a:p>
        </p:txBody>
      </p:sp>
      <p:pic>
        <p:nvPicPr>
          <p:cNvPr id="7" name="Picture 6">
            <a:extLst>
              <a:ext uri="{FF2B5EF4-FFF2-40B4-BE49-F238E27FC236}">
                <a16:creationId xmlns:a16="http://schemas.microsoft.com/office/drawing/2014/main" id="{FB6497E6-A721-F8B4-E5FB-9C045D273303}"/>
              </a:ext>
            </a:extLst>
          </p:cNvPr>
          <p:cNvPicPr>
            <a:picLocks noChangeAspect="1"/>
          </p:cNvPicPr>
          <p:nvPr/>
        </p:nvPicPr>
        <p:blipFill>
          <a:blip r:embed="rId2"/>
          <a:stretch>
            <a:fillRect/>
          </a:stretch>
        </p:blipFill>
        <p:spPr>
          <a:xfrm>
            <a:off x="1953452" y="1284960"/>
            <a:ext cx="8285093" cy="2989605"/>
          </a:xfrm>
          <a:prstGeom prst="rect">
            <a:avLst/>
          </a:prstGeom>
        </p:spPr>
      </p:pic>
      <p:sp>
        <p:nvSpPr>
          <p:cNvPr id="4" name="TextBox 3">
            <a:extLst>
              <a:ext uri="{FF2B5EF4-FFF2-40B4-BE49-F238E27FC236}">
                <a16:creationId xmlns:a16="http://schemas.microsoft.com/office/drawing/2014/main" id="{C3AD491A-F8B2-EDE7-6D3D-7D4DF93B29C1}"/>
              </a:ext>
            </a:extLst>
          </p:cNvPr>
          <p:cNvSpPr txBox="1"/>
          <p:nvPr/>
        </p:nvSpPr>
        <p:spPr>
          <a:xfrm>
            <a:off x="2112475" y="4274565"/>
            <a:ext cx="7967050" cy="400110"/>
          </a:xfrm>
          <a:prstGeom prst="rect">
            <a:avLst/>
          </a:prstGeom>
          <a:noFill/>
        </p:spPr>
        <p:txBody>
          <a:bodyPr wrap="square" rtlCol="0">
            <a:spAutoFit/>
          </a:bodyPr>
          <a:lstStyle/>
          <a:p>
            <a:pPr algn="ctr"/>
            <a:r>
              <a:rPr lang="en-US" sz="2000" b="0" i="0" u="none" strike="noStrike" baseline="0" dirty="0">
                <a:latin typeface="STKaiti" panose="02010600040101010101" pitchFamily="2" charset="-122"/>
                <a:ea typeface="STKaiti" panose="02010600040101010101" pitchFamily="2" charset="-122"/>
              </a:rPr>
              <a:t>PCA（a）、KPCA（b）和t-SNE（c）的邻近矩阵热力图 </a:t>
            </a:r>
          </a:p>
        </p:txBody>
      </p:sp>
    </p:spTree>
    <p:extLst>
      <p:ext uri="{BB962C8B-B14F-4D97-AF65-F5344CB8AC3E}">
        <p14:creationId xmlns:p14="http://schemas.microsoft.com/office/powerpoint/2010/main" val="117688275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2590800" y="404814"/>
            <a:ext cx="7010400" cy="528637"/>
          </a:xfrm>
          <a:noFill/>
        </p:spPr>
        <p:txBody>
          <a:bodyPr vert="horz" lIns="92075" tIns="46038" rIns="92075" bIns="46038" rtlCol="0" anchor="ctr">
            <a:noAutofit/>
          </a:bodyPr>
          <a:lstStyle/>
          <a:p>
            <a:pPr eaLnBrk="1" hangingPunct="1"/>
            <a:r>
              <a:rPr lang="en-US" altLang="en-US" b="1" dirty="0"/>
              <a:t>Summary</a:t>
            </a:r>
          </a:p>
        </p:txBody>
      </p:sp>
      <p:sp>
        <p:nvSpPr>
          <p:cNvPr id="44036" name="Rectangle 3"/>
          <p:cNvSpPr>
            <a:spLocks noGrp="1" noChangeArrowheads="1"/>
          </p:cNvSpPr>
          <p:nvPr>
            <p:ph type="body" idx="1"/>
          </p:nvPr>
        </p:nvSpPr>
        <p:spPr>
          <a:xfrm>
            <a:off x="598394" y="1196789"/>
            <a:ext cx="10995212" cy="5593310"/>
          </a:xfrm>
          <a:noFill/>
        </p:spPr>
        <p:txBody>
          <a:bodyPr vert="horz" lIns="92075" tIns="46038" rIns="92075" bIns="46038" rtlCol="0">
            <a:noAutofit/>
          </a:bodyPr>
          <a:lstStyle/>
          <a:p>
            <a:pPr eaLnBrk="1" hangingPunct="1">
              <a:spcAft>
                <a:spcPts val="600"/>
              </a:spcAft>
            </a:pPr>
            <a:r>
              <a:rPr lang="en-US" altLang="en-US" sz="2200" dirty="0"/>
              <a:t>数据类型与属性类型</a:t>
            </a:r>
          </a:p>
          <a:p>
            <a:pPr lvl="1">
              <a:spcAft>
                <a:spcPts val="600"/>
              </a:spcAft>
            </a:pPr>
            <a:r>
              <a:rPr lang="en-US" altLang="en-US" sz="2200" dirty="0"/>
              <a:t>名义型、二元型、有序型、数值型、离散型与连续型属性</a:t>
            </a:r>
          </a:p>
          <a:p>
            <a:pPr>
              <a:spcAft>
                <a:spcPts val="600"/>
              </a:spcAft>
            </a:pPr>
            <a:r>
              <a:rPr lang="en-US" altLang="en-US" sz="2200" dirty="0"/>
              <a:t>数据统计</a:t>
            </a:r>
          </a:p>
          <a:p>
            <a:pPr lvl="1">
              <a:spcAft>
                <a:spcPts val="600"/>
              </a:spcAft>
            </a:pPr>
            <a:r>
              <a:rPr lang="en-US" altLang="en-US" sz="2200" dirty="0"/>
              <a:t>集中趋势、离散程度、协方差与相关性、图形展示</a:t>
            </a:r>
          </a:p>
          <a:p>
            <a:pPr>
              <a:spcAft>
                <a:spcPts val="600"/>
              </a:spcAft>
            </a:pPr>
            <a:r>
              <a:rPr lang="en-US" altLang="en-US" sz="2200" dirty="0"/>
              <a:t>测量数据相似性和相关性</a:t>
            </a:r>
          </a:p>
          <a:p>
            <a:pPr lvl="1">
              <a:spcAft>
                <a:spcPts val="600"/>
              </a:spcAft>
            </a:pPr>
            <a:r>
              <a:rPr lang="en-US" altLang="en-US" sz="2200" dirty="0"/>
              <a:t>名义型、二元型、数值型、顺序型及混合型数据的距离度量</a:t>
            </a:r>
          </a:p>
          <a:p>
            <a:pPr lvl="1">
              <a:spcAft>
                <a:spcPts val="600"/>
              </a:spcAft>
            </a:pPr>
            <a:r>
              <a:rPr lang="en-US" altLang="en-US" sz="2200" dirty="0"/>
              <a:t>余弦相似度，KL散度</a:t>
            </a:r>
          </a:p>
          <a:p>
            <a:pPr>
              <a:spcAft>
                <a:spcPts val="600"/>
              </a:spcAft>
            </a:pPr>
            <a:r>
              <a:rPr lang="en-US" altLang="en-US" sz="2200" dirty="0"/>
              <a:t>数据质量度量、数据清洗与数据集成</a:t>
            </a:r>
          </a:p>
          <a:p>
            <a:pPr>
              <a:spcAft>
                <a:spcPts val="600"/>
              </a:spcAft>
            </a:pPr>
            <a:r>
              <a:rPr lang="en-US" altLang="en-US" sz="2200" dirty="0"/>
              <a:t>数据转换：标准化、离散化、数据压缩和采样  </a:t>
            </a:r>
          </a:p>
          <a:p>
            <a:pPr>
              <a:spcAft>
                <a:spcPts val="600"/>
              </a:spcAft>
            </a:pPr>
            <a:r>
              <a:rPr lang="en-US" altLang="en-US" sz="2200" dirty="0"/>
              <a:t>维度缩减方法</a:t>
            </a:r>
          </a:p>
          <a:p>
            <a:pPr lvl="1">
              <a:spcAft>
                <a:spcPts val="600"/>
              </a:spcAft>
            </a:pPr>
            <a:r>
              <a:rPr lang="en-US" altLang="en-US" sz="2200" dirty="0"/>
              <a:t>主成分分析（PCA）、属性子集选择及非线性维度缩减</a:t>
            </a:r>
          </a:p>
          <a:p>
            <a:pPr>
              <a:spcAft>
                <a:spcPts val="600"/>
              </a:spcAft>
            </a:pPr>
            <a:endParaRPr lang="en-US" altLang="en-US" sz="2400" dirty="0"/>
          </a:p>
          <a:p>
            <a:pPr>
              <a:spcAft>
                <a:spcPts val="600"/>
              </a:spcAft>
            </a:pPr>
            <a:endParaRPr lang="en-US" altLang="en-US" sz="2400" dirty="0"/>
          </a:p>
        </p:txBody>
      </p:sp>
    </p:spTree>
    <p:extLst>
      <p:ext uri="{BB962C8B-B14F-4D97-AF65-F5344CB8AC3E}">
        <p14:creationId xmlns:p14="http://schemas.microsoft.com/office/powerpoint/2010/main" val="181743819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23473</TotalTime>
  <Words>4541</Words>
  <Application>Microsoft Office PowerPoint</Application>
  <PresentationFormat>宽屏</PresentationFormat>
  <Paragraphs>1137</Paragraphs>
  <Slides>104</Slides>
  <Notes>101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7</vt:i4>
      </vt:variant>
      <vt:variant>
        <vt:lpstr>幻灯片标题</vt:lpstr>
      </vt:variant>
      <vt:variant>
        <vt:i4>104</vt:i4>
      </vt:variant>
    </vt:vector>
  </HeadingPairs>
  <TitlesOfParts>
    <vt:vector size="120" baseType="lpstr">
      <vt:lpstr>STKaiti</vt:lpstr>
      <vt:lpstr>Arial</vt:lpstr>
      <vt:lpstr>Calibri</vt:lpstr>
      <vt:lpstr>Cambria Math</vt:lpstr>
      <vt:lpstr>Symbol</vt:lpstr>
      <vt:lpstr>Tahoma</vt:lpstr>
      <vt:lpstr>Times New Roman</vt:lpstr>
      <vt:lpstr>Wingdings</vt:lpstr>
      <vt:lpstr>Retrospect</vt:lpstr>
      <vt:lpstr>Microsoft Equation 3.0</vt:lpstr>
      <vt:lpstr>Equation</vt:lpstr>
      <vt:lpstr>Bitmap Image</vt:lpstr>
      <vt:lpstr>Chart</vt:lpstr>
      <vt:lpstr>SmartDraw</vt:lpstr>
      <vt:lpstr>Worksheet</vt:lpstr>
      <vt:lpstr>Document</vt:lpstr>
      <vt:lpstr>数据、测量与数据预处理</vt:lpstr>
      <vt:lpstr>数据对象</vt:lpstr>
      <vt:lpstr>属性</vt:lpstr>
      <vt:lpstr>属性类型</vt:lpstr>
      <vt:lpstr>数值属性类型</vt:lpstr>
      <vt:lpstr>离散属性与连续属性</vt:lpstr>
      <vt:lpstr>Statics of Data</vt:lpstr>
      <vt:lpstr>数据的基本统计描述</vt:lpstr>
      <vt:lpstr>测量中心趋势：平均数</vt:lpstr>
      <vt:lpstr>测量中心趋势：中位数</vt:lpstr>
      <vt:lpstr>计算中位数</vt:lpstr>
      <vt:lpstr>测量中心趋势 ：众数</vt:lpstr>
      <vt:lpstr>测量中心趋势：中列数</vt:lpstr>
      <vt:lpstr>对称数据与倾斜数据</vt:lpstr>
      <vt:lpstr>测量数据分布：方差与标准差</vt:lpstr>
      <vt:lpstr>相关性分析（适用于数据分类）</vt:lpstr>
      <vt:lpstr>卡方检验</vt:lpstr>
      <vt:lpstr>卡方检验</vt:lpstr>
      <vt:lpstr>卡方检验</vt:lpstr>
      <vt:lpstr>卡方检验</vt:lpstr>
      <vt:lpstr>单变量方差（数值数据）</vt:lpstr>
      <vt:lpstr>两个变量的协方差</vt:lpstr>
      <vt:lpstr>两个变量的协方差</vt:lpstr>
      <vt:lpstr>示例：计算协方差</vt:lpstr>
      <vt:lpstr>两个数值变量之间的相关性</vt:lpstr>
      <vt:lpstr>相关系数变化的可视化</vt:lpstr>
      <vt:lpstr>协方差矩阵</vt:lpstr>
      <vt:lpstr>基本统计描述的图形展示</vt:lpstr>
      <vt:lpstr>数据离散程度的测量：四分位数与箱线图</vt:lpstr>
      <vt:lpstr>直方图</vt:lpstr>
      <vt:lpstr>直方图通常比箱线图更能说明问题</vt:lpstr>
      <vt:lpstr>分为数图</vt:lpstr>
      <vt:lpstr>Q-Q图</vt:lpstr>
      <vt:lpstr>点图</vt:lpstr>
      <vt:lpstr>正相关和负相关</vt:lpstr>
      <vt:lpstr>不相关数据</vt:lpstr>
      <vt:lpstr>相似度与距离度量</vt:lpstr>
      <vt:lpstr>Similarity, Dissimilarity, and Proximity</vt:lpstr>
      <vt:lpstr>数据矩阵与相异性矩阵</vt:lpstr>
      <vt:lpstr>数值数据的距离：Minkowski距离</vt:lpstr>
      <vt:lpstr>Minkowski 距离的特殊情况</vt:lpstr>
      <vt:lpstr>示例： Minkowski 距离在特殊情况下的应用</vt:lpstr>
      <vt:lpstr>二元属性间的距离度量</vt:lpstr>
      <vt:lpstr>示例：不对称二元变量之间的差异性</vt:lpstr>
      <vt:lpstr>计算练习</vt:lpstr>
      <vt:lpstr>类别属性之间的距离度量</vt:lpstr>
      <vt:lpstr>序数变量</vt:lpstr>
      <vt:lpstr>混合类型属性</vt:lpstr>
      <vt:lpstr>两个向量的余弦相似性</vt:lpstr>
      <vt:lpstr>示例：计算余弦相似度</vt:lpstr>
      <vt:lpstr>练习</vt:lpstr>
      <vt:lpstr>KL 散度：比较两个概率分布 </vt:lpstr>
      <vt:lpstr>关于KL散度</vt:lpstr>
      <vt:lpstr>KL散度计算中的微妙之处</vt:lpstr>
      <vt:lpstr>相似性度量中隐含语义的提取</vt:lpstr>
      <vt:lpstr>数据质量、数据清洗与数据集成</vt:lpstr>
      <vt:lpstr> 什么是数据预处理？ — 主要任务 </vt:lpstr>
      <vt:lpstr>为什么需要预处理数据？——数据质量问题 </vt:lpstr>
      <vt:lpstr>数据清洗</vt:lpstr>
      <vt:lpstr>不完整（缺失）数据</vt:lpstr>
      <vt:lpstr>如何处理缺失数据？</vt:lpstr>
      <vt:lpstr>噪声数据</vt:lpstr>
      <vt:lpstr>如何处理噪声数据？</vt:lpstr>
      <vt:lpstr>数据清理作为一个过程</vt:lpstr>
      <vt:lpstr>数据集成</vt:lpstr>
      <vt:lpstr>数据集成中的噪声处理</vt:lpstr>
      <vt:lpstr>数据集成中的冗余处理</vt:lpstr>
      <vt:lpstr>数据转换</vt:lpstr>
      <vt:lpstr>数据转换</vt:lpstr>
      <vt:lpstr>归一化</vt:lpstr>
      <vt:lpstr>离散化 </vt:lpstr>
      <vt:lpstr>数据离散化方法</vt:lpstr>
      <vt:lpstr>简单离散化：分箱</vt:lpstr>
      <vt:lpstr>示例：数据平滑的分箱方法</vt:lpstr>
      <vt:lpstr>无监督离散化：分箱与聚类</vt:lpstr>
      <vt:lpstr>分类与相关性分析的离散化</vt:lpstr>
      <vt:lpstr>概念层次结构生成</vt:lpstr>
      <vt:lpstr>名义数据的概念层次结构生成</vt:lpstr>
      <vt:lpstr>数据压缩</vt:lpstr>
      <vt:lpstr>数据立方体聚合</vt:lpstr>
      <vt:lpstr>自动概念层次结构生成</vt:lpstr>
      <vt:lpstr>采样</vt:lpstr>
      <vt:lpstr>抽样类型</vt:lpstr>
      <vt:lpstr>数据简化</vt:lpstr>
      <vt:lpstr>数据压缩：参数化与非参数化方法 </vt:lpstr>
      <vt:lpstr>参数数据简化：回归分析</vt:lpstr>
      <vt:lpstr>线性回归与多元回归</vt:lpstr>
      <vt:lpstr>多元回归与对数线性模型</vt:lpstr>
      <vt:lpstr>直方图分析</vt:lpstr>
      <vt:lpstr>聚类</vt:lpstr>
      <vt:lpstr>维度缩减</vt:lpstr>
      <vt:lpstr>什么是维度缩减？</vt:lpstr>
      <vt:lpstr>维度缩减方法</vt:lpstr>
      <vt:lpstr>主成分分析（PCA）</vt:lpstr>
      <vt:lpstr>主成分分析</vt:lpstr>
      <vt:lpstr>属性子集选择</vt:lpstr>
      <vt:lpstr>属性选择中的启发式搜索</vt:lpstr>
      <vt:lpstr>属性创建（特征生成）</vt:lpstr>
      <vt:lpstr>非线性维度约减方法</vt:lpstr>
      <vt:lpstr>非线性维度约减（I）：核主成分分析（KPCA）</vt:lpstr>
      <vt:lpstr>非线性维度约减（II）：SNE</vt:lpstr>
      <vt:lpstr>示例：非线性数据点的比较：线性与非线性维度缩减方法</vt:lpstr>
      <vt:lpstr>邻近矩阵的热力图： 线性与非线性维度缩减方法</vt:lpstr>
      <vt:lpstr>Summary</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keywords>, docId:4E06536B8ED7149FE0CC2A28418DFAC1</cp:keywords>
  <cp:lastModifiedBy>明源 周</cp:lastModifiedBy>
  <cp:revision>1008</cp:revision>
  <cp:lastPrinted>2016-08-23T14:41:30Z</cp:lastPrinted>
  <dcterms:created xsi:type="dcterms:W3CDTF">2014-06-02T15:06:14Z</dcterms:created>
  <dcterms:modified xsi:type="dcterms:W3CDTF">2025-10-13T09:35:04Z</dcterms:modified>
</cp:coreProperties>
</file>