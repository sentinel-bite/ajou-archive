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handoutMasterIdLst>
    <p:handoutMasterId r:id="rId65"/>
  </p:handoutMasterIdLst>
  <p:sldIdLst>
    <p:sldId id="1970" r:id="rId2"/>
    <p:sldId id="2051" r:id="rId3"/>
    <p:sldId id="370" r:id="rId4"/>
    <p:sldId id="1038" r:id="rId5"/>
    <p:sldId id="2038" r:id="rId6"/>
    <p:sldId id="1026" r:id="rId7"/>
    <p:sldId id="1031" r:id="rId8"/>
    <p:sldId id="1036" r:id="rId9"/>
    <p:sldId id="2052" r:id="rId10"/>
    <p:sldId id="2053" r:id="rId11"/>
    <p:sldId id="2054" r:id="rId12"/>
    <p:sldId id="2058" r:id="rId13"/>
    <p:sldId id="2056" r:id="rId14"/>
    <p:sldId id="2057" r:id="rId15"/>
    <p:sldId id="1759" r:id="rId16"/>
    <p:sldId id="2049" r:id="rId17"/>
    <p:sldId id="2050" r:id="rId18"/>
    <p:sldId id="1863" r:id="rId19"/>
    <p:sldId id="1032" r:id="rId20"/>
    <p:sldId id="2060" r:id="rId21"/>
    <p:sldId id="2062" r:id="rId22"/>
    <p:sldId id="1041" r:id="rId23"/>
    <p:sldId id="1043" r:id="rId24"/>
    <p:sldId id="1045" r:id="rId25"/>
    <p:sldId id="1046" r:id="rId26"/>
    <p:sldId id="2080" r:id="rId27"/>
    <p:sldId id="2086" r:id="rId28"/>
    <p:sldId id="2087" r:id="rId29"/>
    <p:sldId id="2088" r:id="rId30"/>
    <p:sldId id="1062" r:id="rId31"/>
    <p:sldId id="1051" r:id="rId32"/>
    <p:sldId id="1053" r:id="rId33"/>
    <p:sldId id="1059" r:id="rId34"/>
    <p:sldId id="2083" r:id="rId35"/>
    <p:sldId id="2081" r:id="rId36"/>
    <p:sldId id="2084" r:id="rId37"/>
    <p:sldId id="2082" r:id="rId38"/>
    <p:sldId id="2085" r:id="rId39"/>
    <p:sldId id="1042" r:id="rId40"/>
    <p:sldId id="2039" r:id="rId41"/>
    <p:sldId id="372" r:id="rId42"/>
    <p:sldId id="1064" r:id="rId43"/>
    <p:sldId id="2064" r:id="rId44"/>
    <p:sldId id="1060" r:id="rId45"/>
    <p:sldId id="1061" r:id="rId46"/>
    <p:sldId id="2075" r:id="rId47"/>
    <p:sldId id="2076" r:id="rId48"/>
    <p:sldId id="2077" r:id="rId49"/>
    <p:sldId id="2070" r:id="rId50"/>
    <p:sldId id="461" r:id="rId51"/>
    <p:sldId id="2073" r:id="rId52"/>
    <p:sldId id="2074" r:id="rId53"/>
    <p:sldId id="2066" r:id="rId54"/>
    <p:sldId id="2067" r:id="rId55"/>
    <p:sldId id="2068" r:id="rId56"/>
    <p:sldId id="2069" r:id="rId57"/>
    <p:sldId id="2071" r:id="rId58"/>
    <p:sldId id="2072" r:id="rId59"/>
    <p:sldId id="1054" r:id="rId60"/>
    <p:sldId id="2078" r:id="rId61"/>
    <p:sldId id="2079" r:id="rId62"/>
    <p:sldId id="1055" r:id="rId63"/>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 id="2" name="Shang, Jingbo" initials="SJ"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CC"/>
    <a:srgbClr val="F0CDBC"/>
    <a:srgbClr val="E48312"/>
    <a:srgbClr val="94A088"/>
    <a:srgbClr val="008080"/>
    <a:srgbClr val="BD582C"/>
    <a:srgbClr val="7F7F7F"/>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89255" autoAdjust="0"/>
  </p:normalViewPr>
  <p:slideViewPr>
    <p:cSldViewPr snapToGrid="0">
      <p:cViewPr varScale="1">
        <p:scale>
          <a:sx n="74" d="100"/>
          <a:sy n="74" d="100"/>
        </p:scale>
        <p:origin x="898" y="110"/>
      </p:cViewPr>
      <p:guideLst>
        <p:guide orient="horz" pos="2160"/>
        <p:guide pos="3840"/>
      </p:guideLst>
    </p:cSldViewPr>
  </p:slideViewPr>
  <p:outlineViewPr>
    <p:cViewPr>
      <p:scale>
        <a:sx n="33" d="100"/>
        <a:sy n="33" d="100"/>
      </p:scale>
      <p:origin x="0" y="-8358"/>
    </p:cViewPr>
  </p:outlineViewPr>
  <p:notesTextViewPr>
    <p:cViewPr>
      <p:scale>
        <a:sx n="1" d="1"/>
        <a:sy n="1" d="1"/>
      </p:scale>
      <p:origin x="0" y="0"/>
    </p:cViewPr>
  </p:notesTextViewPr>
  <p:sorterViewPr>
    <p:cViewPr varScale="1">
      <p:scale>
        <a:sx n="1" d="1"/>
        <a:sy n="1" d="1"/>
      </p:scale>
      <p:origin x="0" y="-20900"/>
    </p:cViewPr>
  </p:sorterViewPr>
  <p:notesViewPr>
    <p:cSldViewPr snapToGrid="0">
      <p:cViewPr varScale="1">
        <p:scale>
          <a:sx n="95" d="100"/>
          <a:sy n="95" d="100"/>
        </p:scale>
        <p:origin x="2896"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a:extLst>
              <a:ext uri="{FF2B5EF4-FFF2-40B4-BE49-F238E27FC236}">
                <a16:creationId xmlns:a16="http://schemas.microsoft.com/office/drawing/2014/main" id="{D121143B-6778-F98B-4303-820A106D6926}"/>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864B6DA5-75C6-404F-91F7-6F2B8EDBCF61}" type="slidenum">
              <a:t>‹#›</a:t>
            </a:fld>
            <a:endParaRPr kumimoji="1" lang="ko-Kore-KR" altLang="en-US"/>
          </a:p>
        </p:txBody>
      </p:sp>
    </p:spTree>
    <p:extLst>
      <p:ext uri="{BB962C8B-B14F-4D97-AF65-F5344CB8AC3E}">
        <p14:creationId xmlns:p14="http://schemas.microsoft.com/office/powerpoint/2010/main" val="4089281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11/4/2025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点击编辑主文本样式</a:t>
            </a:r>
          </a:p>
          <a:p>
            <a:pPr lvl="1"/>
            <a:r>
              <a:rPr lang="en-US"/>
              <a:t>二级</a:t>
            </a:r>
          </a:p>
          <a:p>
            <a:pPr lvl="2"/>
            <a:r>
              <a:rPr lang="en-US"/>
              <a:t>第三级</a:t>
            </a:r>
          </a:p>
          <a:p>
            <a:pPr lvl="3"/>
            <a:r>
              <a:rPr lang="en-US"/>
              <a:t>第四级</a:t>
            </a:r>
          </a:p>
          <a:p>
            <a:pPr lvl="4"/>
            <a:r>
              <a:rPr lang="en-US"/>
              <a:t>第五级</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BF947792-BF46-405C-86E9-4DC33AF8A072}"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1</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10421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a:t>
            </a:fld>
            <a:endParaRPr lang="en-US" altLang="zh-CN"/>
          </a:p>
        </p:txBody>
      </p:sp>
    </p:spTree>
    <p:extLst>
      <p:ext uri="{BB962C8B-B14F-4D97-AF65-F5344CB8AC3E}">
        <p14:creationId xmlns:p14="http://schemas.microsoft.com/office/powerpoint/2010/main" val="880249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a:t>
            </a:fld>
            <a:endParaRPr lang="en-US" altLang="zh-CN"/>
          </a:p>
        </p:txBody>
      </p:sp>
    </p:spTree>
    <p:extLst>
      <p:ext uri="{BB962C8B-B14F-4D97-AF65-F5344CB8AC3E}">
        <p14:creationId xmlns:p14="http://schemas.microsoft.com/office/powerpoint/2010/main" val="154570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a:t>
            </a:fld>
            <a:endParaRPr lang="en-US" altLang="zh-CN"/>
          </a:p>
        </p:txBody>
      </p:sp>
    </p:spTree>
    <p:extLst>
      <p:ext uri="{BB962C8B-B14F-4D97-AF65-F5344CB8AC3E}">
        <p14:creationId xmlns:p14="http://schemas.microsoft.com/office/powerpoint/2010/main" val="1526690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8</a:t>
            </a:fld>
            <a:endParaRPr lang="en-US" altLang="zh-CN"/>
          </a:p>
        </p:txBody>
      </p:sp>
    </p:spTree>
    <p:extLst>
      <p:ext uri="{BB962C8B-B14F-4D97-AF65-F5344CB8AC3E}">
        <p14:creationId xmlns:p14="http://schemas.microsoft.com/office/powerpoint/2010/main" val="2572894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9</a:t>
            </a:fld>
            <a:endParaRPr lang="en-US"/>
          </a:p>
        </p:txBody>
      </p:sp>
    </p:spTree>
    <p:extLst>
      <p:ext uri="{BB962C8B-B14F-4D97-AF65-F5344CB8AC3E}">
        <p14:creationId xmlns:p14="http://schemas.microsoft.com/office/powerpoint/2010/main" val="250415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12</a:t>
            </a:fld>
            <a:endParaRPr lang="en-US"/>
          </a:p>
        </p:txBody>
      </p:sp>
    </p:spTree>
    <p:extLst>
      <p:ext uri="{BB962C8B-B14F-4D97-AF65-F5344CB8AC3E}">
        <p14:creationId xmlns:p14="http://schemas.microsoft.com/office/powerpoint/2010/main" val="2625733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15</a:t>
            </a:fld>
            <a:endParaRPr lang="en-US"/>
          </a:p>
        </p:txBody>
      </p:sp>
    </p:spTree>
    <p:extLst>
      <p:ext uri="{BB962C8B-B14F-4D97-AF65-F5344CB8AC3E}">
        <p14:creationId xmlns:p14="http://schemas.microsoft.com/office/powerpoint/2010/main" val="3139664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0FB955-1A05-46BC-9E97-806C4BB938B5}" type="slidenum">
              <a:rPr lang="en-US" altLang="en-US"/>
              <a:t>16</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52234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0FB955-1A05-46BC-9E97-806C4BB938B5}" type="slidenum">
              <a:rPr lang="en-US" altLang="en-US"/>
              <a:t>17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75511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19</a:t>
            </a:fld>
            <a:endParaRPr lang="en-US" altLang="zh-CN"/>
          </a:p>
        </p:txBody>
      </p:sp>
    </p:spTree>
    <p:extLst>
      <p:ext uri="{BB962C8B-B14F-4D97-AF65-F5344CB8AC3E}">
        <p14:creationId xmlns:p14="http://schemas.microsoft.com/office/powerpoint/2010/main" val="1256371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20</a:t>
            </a:fld>
            <a:endParaRPr lang="en-US"/>
          </a:p>
        </p:txBody>
      </p:sp>
    </p:spTree>
    <p:extLst>
      <p:ext uri="{BB962C8B-B14F-4D97-AF65-F5344CB8AC3E}">
        <p14:creationId xmlns:p14="http://schemas.microsoft.com/office/powerpoint/2010/main" val="2873140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0FB955-1A05-46BC-9E97-806C4BB938B5}" type="slidenum">
              <a:rPr lang="en-US" altLang="en-US"/>
              <a:t>21</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02951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22</a:t>
            </a:fld>
            <a:endParaRPr lang="en-US" altLang="zh-CN"/>
          </a:p>
        </p:txBody>
      </p:sp>
    </p:spTree>
    <p:extLst>
      <p:ext uri="{BB962C8B-B14F-4D97-AF65-F5344CB8AC3E}">
        <p14:creationId xmlns:p14="http://schemas.microsoft.com/office/powerpoint/2010/main" val="2865006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23</a:t>
            </a:fld>
            <a:endParaRPr lang="en-US" altLang="zh-CN"/>
          </a:p>
        </p:txBody>
      </p:sp>
    </p:spTree>
    <p:extLst>
      <p:ext uri="{BB962C8B-B14F-4D97-AF65-F5344CB8AC3E}">
        <p14:creationId xmlns:p14="http://schemas.microsoft.com/office/powerpoint/2010/main" val="3292319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24</a:t>
            </a:fld>
            <a:endParaRPr lang="en-US" altLang="zh-CN"/>
          </a:p>
        </p:txBody>
      </p:sp>
    </p:spTree>
    <p:extLst>
      <p:ext uri="{BB962C8B-B14F-4D97-AF65-F5344CB8AC3E}">
        <p14:creationId xmlns:p14="http://schemas.microsoft.com/office/powerpoint/2010/main" val="99664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25</a:t>
            </a:fld>
            <a:endParaRPr lang="en-US" altLang="zh-CN"/>
          </a:p>
        </p:txBody>
      </p:sp>
    </p:spTree>
    <p:extLst>
      <p:ext uri="{BB962C8B-B14F-4D97-AF65-F5344CB8AC3E}">
        <p14:creationId xmlns:p14="http://schemas.microsoft.com/office/powerpoint/2010/main" val="1802487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latin typeface="+mj-ea"/>
                <a:ea typeface="+mj-ea"/>
                <a:cs typeface="Euclid" panose="02020503060505020303" pitchFamily="18" charset="0"/>
              </a:rPr>
              <a:t>在已经生成的决策树上进行剪枝，从而得到简化版的剪枝决策树。</a:t>
            </a:r>
          </a:p>
          <a:p>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后剪枝决策树通常比预剪枝决策树保留了更多的分支。一般情况下，后剪枝的欠拟合风险更小，泛化性能往往优于预剪枝决策树。</a:t>
            </a:r>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30</a:t>
            </a:fld>
            <a:endParaRPr lang="en-US" altLang="zh-CN"/>
          </a:p>
        </p:txBody>
      </p:sp>
    </p:spTree>
    <p:extLst>
      <p:ext uri="{BB962C8B-B14F-4D97-AF65-F5344CB8AC3E}">
        <p14:creationId xmlns:p14="http://schemas.microsoft.com/office/powerpoint/2010/main" val="1732530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31</a:t>
            </a:fld>
            <a:endParaRPr lang="en-US" altLang="zh-CN"/>
          </a:p>
        </p:txBody>
      </p:sp>
    </p:spTree>
    <p:extLst>
      <p:ext uri="{BB962C8B-B14F-4D97-AF65-F5344CB8AC3E}">
        <p14:creationId xmlns:p14="http://schemas.microsoft.com/office/powerpoint/2010/main" val="2994170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00" dirty="0">
                <a:effectLst/>
                <a:latin typeface="Times New Roman" panose="02020603050405020304" pitchFamily="18" charset="0"/>
                <a:ea typeface="宋体" panose="02010600030101010101" pitchFamily="2" charset="-122"/>
              </a:rPr>
              <a:t>对比预剪枝和后剪枝可以看出，后剪枝决策树通常比预剪枝决策树保留了更多的分支。一般情况下，后剪枝的欠拟合风险更小，泛化性能往往优于预剪枝决策树。但后剪枝决策过程是在生产完全决策树之后进行的，并且要自底向上的对树种的所有非叶节点进行逐一考察，因此训练时间开销比未剪枝决策树和预剪枝决策树都要打很多。</a:t>
            </a:r>
          </a:p>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32</a:t>
            </a:fld>
            <a:endParaRPr lang="en-US" altLang="zh-CN"/>
          </a:p>
        </p:txBody>
      </p:sp>
    </p:spTree>
    <p:extLst>
      <p:ext uri="{BB962C8B-B14F-4D97-AF65-F5344CB8AC3E}">
        <p14:creationId xmlns:p14="http://schemas.microsoft.com/office/powerpoint/2010/main" val="1165023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39</a:t>
            </a:fld>
            <a:endParaRPr lang="en-US" altLang="zh-CN"/>
          </a:p>
        </p:txBody>
      </p:sp>
    </p:spTree>
    <p:extLst>
      <p:ext uri="{BB962C8B-B14F-4D97-AF65-F5344CB8AC3E}">
        <p14:creationId xmlns:p14="http://schemas.microsoft.com/office/powerpoint/2010/main" val="1166424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40</a:t>
            </a:fld>
            <a:endParaRPr lang="en-US" altLang="zh-CN"/>
          </a:p>
        </p:txBody>
      </p:sp>
    </p:spTree>
    <p:extLst>
      <p:ext uri="{BB962C8B-B14F-4D97-AF65-F5344CB8AC3E}">
        <p14:creationId xmlns:p14="http://schemas.microsoft.com/office/powerpoint/2010/main" val="622268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41</a:t>
            </a:fld>
            <a:endParaRPr lang="zh-CN" altLang="en-US"/>
          </a:p>
        </p:txBody>
      </p:sp>
    </p:spTree>
    <p:extLst>
      <p:ext uri="{BB962C8B-B14F-4D97-AF65-F5344CB8AC3E}">
        <p14:creationId xmlns:p14="http://schemas.microsoft.com/office/powerpoint/2010/main" val="21497498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42</a:t>
            </a:fld>
            <a:endParaRPr lang="zh-CN" altLang="en-US"/>
          </a:p>
        </p:txBody>
      </p:sp>
    </p:spTree>
    <p:extLst>
      <p:ext uri="{BB962C8B-B14F-4D97-AF65-F5344CB8AC3E}">
        <p14:creationId xmlns:p14="http://schemas.microsoft.com/office/powerpoint/2010/main" val="33796646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43</a:t>
            </a:fld>
            <a:endParaRPr lang="zh-CN" altLang="en-US"/>
          </a:p>
        </p:txBody>
      </p:sp>
    </p:spTree>
    <p:extLst>
      <p:ext uri="{BB962C8B-B14F-4D97-AF65-F5344CB8AC3E}">
        <p14:creationId xmlns:p14="http://schemas.microsoft.com/office/powerpoint/2010/main" val="3307061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44</a:t>
            </a:fld>
            <a:endParaRPr lang="zh-CN" altLang="en-US"/>
          </a:p>
        </p:txBody>
      </p:sp>
    </p:spTree>
    <p:extLst>
      <p:ext uri="{BB962C8B-B14F-4D97-AF65-F5344CB8AC3E}">
        <p14:creationId xmlns:p14="http://schemas.microsoft.com/office/powerpoint/2010/main" val="3668968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45</a:t>
            </a:fld>
            <a:endParaRPr lang="zh-CN" altLang="en-US"/>
          </a:p>
        </p:txBody>
      </p:sp>
    </p:spTree>
    <p:extLst>
      <p:ext uri="{BB962C8B-B14F-4D97-AF65-F5344CB8AC3E}">
        <p14:creationId xmlns:p14="http://schemas.microsoft.com/office/powerpoint/2010/main" val="12844472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46</a:t>
            </a:fld>
            <a:endParaRPr lang="en-US"/>
          </a:p>
        </p:txBody>
      </p:sp>
    </p:spTree>
    <p:extLst>
      <p:ext uri="{BB962C8B-B14F-4D97-AF65-F5344CB8AC3E}">
        <p14:creationId xmlns:p14="http://schemas.microsoft.com/office/powerpoint/2010/main" val="731401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fld id="{A6F8110F-5CB8-4B7A-89C2-96B671E6053B}" type="slidenum">
              <a:rPr lang="en-US" smtClean="0"/>
              <a:t>47</a:t>
            </a:fld>
            <a:endParaRPr lang="en-US"/>
          </a:p>
        </p:txBody>
      </p:sp>
    </p:spTree>
    <p:extLst>
      <p:ext uri="{BB962C8B-B14F-4D97-AF65-F5344CB8AC3E}">
        <p14:creationId xmlns:p14="http://schemas.microsoft.com/office/powerpoint/2010/main" val="116778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59</a:t>
            </a:fld>
            <a:endParaRPr lang="en-US" altLang="zh-CN"/>
          </a:p>
        </p:txBody>
      </p:sp>
    </p:spTree>
    <p:extLst>
      <p:ext uri="{BB962C8B-B14F-4D97-AF65-F5344CB8AC3E}">
        <p14:creationId xmlns:p14="http://schemas.microsoft.com/office/powerpoint/2010/main" val="18179175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371600"/>
            <a:ext cx="5537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461362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点击编辑主标题样式</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点击编辑主文本样式</a:t>
            </a:r>
          </a:p>
          <a:p>
            <a:pPr lvl="1"/>
            <a:r>
              <a:rPr lang="en-US" dirty="0"/>
              <a:t> 二级</a:t>
            </a:r>
          </a:p>
          <a:p>
            <a:pPr lvl="2"/>
            <a:r>
              <a:rPr lang="en-US" dirty="0"/>
              <a:t> 第三级</a:t>
            </a:r>
          </a:p>
          <a:p>
            <a:pPr lvl="3"/>
            <a:r>
              <a:rPr lang="en-US" dirty="0"/>
              <a:t> 第四级</a:t>
            </a:r>
          </a:p>
          <a:p>
            <a:pPr lvl="4"/>
            <a:r>
              <a:rPr lang="en-US" dirty="0"/>
              <a:t> 第五级</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83" r:id="rId3"/>
  </p:sldLayoutIdLst>
  <p:hf sldNum="0"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4.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21.png"/><Relationship Id="rId4" Type="http://schemas.openxmlformats.org/officeDocument/2006/relationships/image" Target="../media/image15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s>
</file>

<file path=ppt/slides/_rels/slide42.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5.png"/><Relationship Id="rId7" Type="http://schemas.openxmlformats.org/officeDocument/2006/relationships/image" Target="../media/image15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43.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4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s>
</file>

<file path=ppt/slides/_rels/slide4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kaggle.com/code/caesarmario/listen-to-your-heart-a-disease-prediction#7.5-%7C-Decision-Tree"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19125" y="123825"/>
            <a:ext cx="11029950" cy="978710"/>
          </a:xfrm>
          <a:noFill/>
        </p:spPr>
        <p:txBody>
          <a:bodyPr vert="horz" lIns="92075" tIns="46038" rIns="92075" bIns="46038" rtlCol="0" anchor="ctr">
            <a:normAutofit/>
          </a:bodyPr>
          <a:lstStyle/>
          <a:p>
            <a:pPr eaLnBrk="1" hangingPunct="1"/>
            <a:r>
              <a:rPr lang="en-US" altLang="en-US" sz="4000" dirty="0"/>
              <a:t>第6章 分类：基本概念</a:t>
            </a:r>
          </a:p>
        </p:txBody>
      </p:sp>
      <p:sp>
        <p:nvSpPr>
          <p:cNvPr id="5124" name="Rectangle 3"/>
          <p:cNvSpPr>
            <a:spLocks noGrp="1" noChangeArrowheads="1"/>
          </p:cNvSpPr>
          <p:nvPr>
            <p:ph type="body" sz="half" idx="1"/>
          </p:nvPr>
        </p:nvSpPr>
        <p:spPr>
          <a:xfrm>
            <a:off x="619125" y="1209675"/>
            <a:ext cx="10915650" cy="5343525"/>
          </a:xfrm>
          <a:noFill/>
        </p:spPr>
        <p:txBody>
          <a:bodyPr vert="horz" lIns="92075" tIns="46038" rIns="92075" bIns="46038" rtlCol="0">
            <a:noAutofit/>
          </a:bodyPr>
          <a:lstStyle/>
          <a:p>
            <a:pPr>
              <a:lnSpc>
                <a:spcPct val="150000"/>
              </a:lnSpc>
            </a:pPr>
            <a:r>
              <a:rPr lang="en-US" altLang="en-US" sz="2400" dirty="0"/>
              <a:t>分类：基本概念</a:t>
            </a:r>
          </a:p>
          <a:p>
            <a:pPr>
              <a:lnSpc>
                <a:spcPct val="150000"/>
              </a:lnSpc>
            </a:pPr>
            <a:r>
              <a:rPr lang="en-US" altLang="en-US" sz="2400" dirty="0"/>
              <a:t>线性分类器</a:t>
            </a:r>
          </a:p>
          <a:p>
            <a:pPr>
              <a:lnSpc>
                <a:spcPct val="150000"/>
              </a:lnSpc>
            </a:pPr>
            <a:r>
              <a:rPr lang="en-US" altLang="en-US" sz="2400" dirty="0"/>
              <a:t>KNN</a:t>
            </a:r>
          </a:p>
          <a:p>
            <a:pPr>
              <a:lnSpc>
                <a:spcPct val="150000"/>
              </a:lnSpc>
            </a:pPr>
            <a:r>
              <a:rPr lang="en-US" altLang="en-US" sz="2400" dirty="0"/>
              <a:t>决策树的构造</a:t>
            </a:r>
          </a:p>
          <a:p>
            <a:pPr>
              <a:lnSpc>
                <a:spcPct val="150000"/>
              </a:lnSpc>
            </a:pPr>
            <a:r>
              <a:rPr lang="en-US" altLang="en-US" sz="2400" dirty="0"/>
              <a:t>贝叶斯分类方法 </a:t>
            </a:r>
          </a:p>
          <a:p>
            <a:pPr>
              <a:lnSpc>
                <a:spcPct val="150000"/>
              </a:lnSpc>
            </a:pPr>
            <a:r>
              <a:rPr lang="en-US" altLang="en-US" sz="2400" dirty="0"/>
              <a:t>模型评估与选择</a:t>
            </a:r>
          </a:p>
          <a:p>
            <a:pPr>
              <a:lnSpc>
                <a:spcPct val="150000"/>
              </a:lnSpc>
            </a:pPr>
            <a:r>
              <a:rPr lang="en-US" altLang="en-US" sz="2400" dirty="0"/>
              <a:t>提高分类准确率的技术</a:t>
            </a:r>
          </a:p>
          <a:p>
            <a:pPr>
              <a:lnSpc>
                <a:spcPct val="150000"/>
              </a:lnSpc>
            </a:pPr>
            <a:r>
              <a:rPr lang="en-US" altLang="en-US" sz="2400" dirty="0"/>
              <a:t>总结</a:t>
            </a:r>
          </a:p>
        </p:txBody>
      </p:sp>
      <p:sp>
        <p:nvSpPr>
          <p:cNvPr id="5125" name="AutoShape 8"/>
          <p:cNvSpPr>
            <a:spLocks noChangeArrowheads="1"/>
          </p:cNvSpPr>
          <p:nvPr/>
        </p:nvSpPr>
        <p:spPr bwMode="auto">
          <a:xfrm rot="9803581">
            <a:off x="3183428" y="3197508"/>
            <a:ext cx="533400" cy="462984"/>
          </a:xfrm>
          <a:prstGeom prst="notchedRightArrow">
            <a:avLst>
              <a:gd name="adj1" fmla="val 50000"/>
              <a:gd name="adj2" fmla="val 35000"/>
            </a:avLst>
          </a:prstGeom>
          <a:solidFill>
            <a:srgbClr val="00B0F0"/>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marL="0" marR="0" lvl="0" indent="0" algn="l" defTabSz="457178"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6498236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FCA1BC-F44E-CFAE-6D39-76F2FD277DF6}"/>
              </a:ext>
            </a:extLst>
          </p:cNvPr>
          <p:cNvSpPr>
            <a:spLocks noGrp="1"/>
          </p:cNvSpPr>
          <p:nvPr>
            <p:ph type="title"/>
          </p:nvPr>
        </p:nvSpPr>
        <p:spPr/>
        <p:txBody>
          <a:bodyPr>
            <a:normAutofit fontScale="90000"/>
          </a:bodyPr>
          <a:lstStyle/>
          <a:p>
            <a:r>
              <a:rPr kumimoji="1" lang="ko-Kore-KR" altLang="en-US"/>
              <a:t>决策树</a:t>
            </a:r>
          </a:p>
        </p:txBody>
      </p:sp>
      <p:pic>
        <p:nvPicPr>
          <p:cNvPr id="3074" name="Picture 2" descr="boundary">
            <a:extLst>
              <a:ext uri="{FF2B5EF4-FFF2-40B4-BE49-F238E27FC236}">
                <a16:creationId xmlns:a16="http://schemas.microsoft.com/office/drawing/2014/main" id="{7B7A43A8-9294-F61E-9ACA-F0A0F18E6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296" y="2777326"/>
            <a:ext cx="9973340" cy="36153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A05BE3-8759-6347-DF95-DEBC1EF5BED4}"/>
              </a:ext>
            </a:extLst>
          </p:cNvPr>
          <p:cNvSpPr txBox="1"/>
          <p:nvPr/>
        </p:nvSpPr>
        <p:spPr>
          <a:xfrm>
            <a:off x="524021" y="1440544"/>
            <a:ext cx="9210821" cy="830997"/>
          </a:xfrm>
          <a:prstGeom prst="rect">
            <a:avLst/>
          </a:prstGeom>
          <a:noFill/>
        </p:spPr>
        <p:txBody>
          <a:bodyPr wrap="square">
            <a:spAutoFit/>
          </a:bodyPr>
          <a:lstStyle/>
          <a:p>
            <a:pPr algn="just" latinLnBrk="1"/>
            <a:r>
              <a:rPr lang="ko-KR" altLang="en-US"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树以自上而下、递归、分治的方式构建</a:t>
            </a:r>
            <a:r>
              <a:rPr lang="zh-CN" altLang="en-US"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通常用</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来</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完成分</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类</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任</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务</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a:t>
            </a:r>
            <a:endParaRPr lang="en-US"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endParaRPr>
          </a:p>
          <a:p>
            <a:pPr algn="just" latinLnBrk="1"/>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在直角坐</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标</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系中，其分</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类</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的</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边</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界是</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与</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坐</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标轴</a:t>
            </a:r>
            <a:r>
              <a:rPr lang="ko-Kore-KR" altLang="ko-Kore-KR" sz="2400" kern="100">
                <a:solidFill>
                  <a:srgbClr val="454D64"/>
                </a:solidFill>
                <a:effectLst/>
                <a:latin typeface="Calibri" panose="020F0502020204030204" pitchFamily="34" charset="0"/>
                <a:ea typeface="KaiTi" panose="02010609060101010101" pitchFamily="49" charset="-122"/>
                <a:cs typeface="Segoe UI" panose="020B0502040204020203" pitchFamily="34" charset="0"/>
              </a:rPr>
              <a:t>平行的直</a:t>
            </a:r>
            <a:r>
              <a:rPr lang="ko-Kore-KR"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rPr>
              <a:t>线</a:t>
            </a:r>
            <a:endParaRPr lang="en-US" altLang="ko-Kore-KR" sz="2400" kern="100">
              <a:solidFill>
                <a:srgbClr val="454D64"/>
              </a:solidFill>
              <a:effectLst/>
              <a:latin typeface="Calibri" panose="020F0502020204030204" pitchFamily="34" charset="0"/>
              <a:ea typeface="KaiTi" panose="02010609060101010101" pitchFamily="49" charset="-122"/>
              <a:cs typeface="Microsoft YaHei" panose="020B0503020204020204" pitchFamily="34" charset="-122"/>
            </a:endParaRPr>
          </a:p>
        </p:txBody>
      </p:sp>
    </p:spTree>
    <p:extLst>
      <p:ext uri="{BB962C8B-B14F-4D97-AF65-F5344CB8AC3E}">
        <p14:creationId xmlns:p14="http://schemas.microsoft.com/office/powerpoint/2010/main" val="687200074"/>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椭圆 37"/>
          <p:cNvSpPr/>
          <p:nvPr/>
        </p:nvSpPr>
        <p:spPr>
          <a:xfrm>
            <a:off x="1761357" y="1395253"/>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chemeClr val="bg1"/>
                </a:solidFill>
                <a:latin typeface="KaiTi" panose="02010609060101010101" pitchFamily="49" charset="-122"/>
                <a:ea typeface="KaiTi" panose="02010609060101010101" pitchFamily="49" charset="-122"/>
              </a:rPr>
              <a:t>长相</a:t>
            </a:r>
          </a:p>
        </p:txBody>
      </p:sp>
      <p:sp>
        <p:nvSpPr>
          <p:cNvPr id="40" name="矩形 39"/>
          <p:cNvSpPr/>
          <p:nvPr/>
        </p:nvSpPr>
        <p:spPr>
          <a:xfrm>
            <a:off x="795858" y="2599083"/>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能</a:t>
            </a:r>
          </a:p>
        </p:txBody>
      </p:sp>
      <p:cxnSp>
        <p:nvCxnSpPr>
          <p:cNvPr id="43" name="直接箭头连接符 42"/>
          <p:cNvCxnSpPr/>
          <p:nvPr/>
        </p:nvCxnSpPr>
        <p:spPr>
          <a:xfrm flipH="1">
            <a:off x="1245896" y="1886723"/>
            <a:ext cx="1288868" cy="69791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379589" y="1936745"/>
            <a:ext cx="376649" cy="307777"/>
          </a:xfrm>
          <a:prstGeom prst="rect">
            <a:avLst/>
          </a:prstGeom>
          <a:noFill/>
          <a:ln>
            <a:solidFill>
              <a:srgbClr val="0066CC"/>
            </a:solidFill>
          </a:ln>
        </p:spPr>
        <p:txBody>
          <a:bodyPr wrap="square" rtlCol="0">
            <a:spAutoFit/>
          </a:bodyPr>
          <a:lstStyle>
            <a:defPPr>
              <a:defRPr lang="zh-CN"/>
            </a:defPPr>
            <a:lvl1pPr>
              <a:defRPr sz="1400">
                <a:solidFill>
                  <a:schemeClr val="tx1">
                    <a:lumMod val="65000"/>
                    <a:lumOff val="35000"/>
                  </a:schemeClr>
                </a:solidFill>
                <a:ea typeface="Microsoft YaHei" charset="0"/>
              </a:defRPr>
            </a:lvl1pPr>
          </a:lstStyle>
          <a:p>
            <a:r>
              <a:rPr lang="zh-CN" altLang="en-US" dirty="0">
                <a:latin typeface="KaiTi" panose="02010609060101010101" pitchFamily="49" charset="-122"/>
                <a:ea typeface="KaiTi" panose="02010609060101010101" pitchFamily="49" charset="-122"/>
              </a:rPr>
              <a:t>帅</a:t>
            </a:r>
          </a:p>
        </p:txBody>
      </p:sp>
      <p:cxnSp>
        <p:nvCxnSpPr>
          <p:cNvPr id="52" name="直接箭头连接符 51"/>
          <p:cNvCxnSpPr/>
          <p:nvPr/>
        </p:nvCxnSpPr>
        <p:spPr>
          <a:xfrm>
            <a:off x="2514730" y="1884689"/>
            <a:ext cx="827307" cy="69791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3089364" y="1934712"/>
            <a:ext cx="540700" cy="307777"/>
          </a:xfrm>
          <a:prstGeom prst="rect">
            <a:avLst/>
          </a:prstGeom>
          <a:noFill/>
          <a:ln>
            <a:solidFill>
              <a:srgbClr val="0066CC"/>
            </a:solidFill>
          </a:ln>
        </p:spPr>
        <p:txBody>
          <a:bodyPr wrap="square" rtlCol="0">
            <a:spAutoFit/>
          </a:bodyPr>
          <a:lstStyle/>
          <a:p>
            <a:r>
              <a:rPr lang="zh-CN" altLang="en-US" sz="1400" dirty="0">
                <a:solidFill>
                  <a:schemeClr val="tx1">
                    <a:lumMod val="65000"/>
                    <a:lumOff val="35000"/>
                  </a:schemeClr>
                </a:solidFill>
                <a:latin typeface="KaiTi" panose="02010609060101010101" pitchFamily="49" charset="-122"/>
                <a:ea typeface="KaiTi" panose="02010609060101010101" pitchFamily="49" charset="-122"/>
              </a:rPr>
              <a:t>不帅</a:t>
            </a:r>
          </a:p>
        </p:txBody>
      </p:sp>
      <p:sp>
        <p:nvSpPr>
          <p:cNvPr id="54" name="椭圆 53"/>
          <p:cNvSpPr/>
          <p:nvPr/>
        </p:nvSpPr>
        <p:spPr>
          <a:xfrm>
            <a:off x="2599701" y="2599083"/>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chemeClr val="bg1"/>
                </a:solidFill>
                <a:latin typeface="KaiTi" panose="02010609060101010101" pitchFamily="49" charset="-122"/>
                <a:ea typeface="KaiTi" panose="02010609060101010101" pitchFamily="49" charset="-122"/>
              </a:rPr>
              <a:t>家庭背景</a:t>
            </a:r>
          </a:p>
        </p:txBody>
      </p:sp>
      <p:cxnSp>
        <p:nvCxnSpPr>
          <p:cNvPr id="55" name="直接箭头连接符 54"/>
          <p:cNvCxnSpPr/>
          <p:nvPr/>
        </p:nvCxnSpPr>
        <p:spPr>
          <a:xfrm flipH="1">
            <a:off x="2677949" y="3099651"/>
            <a:ext cx="875172" cy="60090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2510049" y="3152997"/>
            <a:ext cx="418334"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好</a:t>
            </a:r>
          </a:p>
        </p:txBody>
      </p:sp>
      <p:sp>
        <p:nvSpPr>
          <p:cNvPr id="57" name="矩形 56"/>
          <p:cNvSpPr/>
          <p:nvPr/>
        </p:nvSpPr>
        <p:spPr>
          <a:xfrm>
            <a:off x="2174964" y="3723501"/>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能</a:t>
            </a:r>
          </a:p>
        </p:txBody>
      </p:sp>
      <p:cxnSp>
        <p:nvCxnSpPr>
          <p:cNvPr id="58" name="直接箭头连接符 57"/>
          <p:cNvCxnSpPr/>
          <p:nvPr/>
        </p:nvCxnSpPr>
        <p:spPr>
          <a:xfrm>
            <a:off x="3581089" y="3106647"/>
            <a:ext cx="772317" cy="60090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203218" y="3152996"/>
            <a:ext cx="606147"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不好</a:t>
            </a:r>
          </a:p>
        </p:txBody>
      </p:sp>
      <p:sp>
        <p:nvSpPr>
          <p:cNvPr id="60" name="椭圆 59"/>
          <p:cNvSpPr/>
          <p:nvPr/>
        </p:nvSpPr>
        <p:spPr>
          <a:xfrm>
            <a:off x="3581193" y="3723501"/>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chemeClr val="bg1"/>
                </a:solidFill>
                <a:latin typeface="KaiTi" panose="02010609060101010101" pitchFamily="49" charset="-122"/>
                <a:ea typeface="KaiTi" panose="02010609060101010101" pitchFamily="49" charset="-122"/>
              </a:rPr>
              <a:t>人品</a:t>
            </a:r>
          </a:p>
        </p:txBody>
      </p:sp>
      <p:cxnSp>
        <p:nvCxnSpPr>
          <p:cNvPr id="61" name="直接箭头连接符 60"/>
          <p:cNvCxnSpPr>
            <a:stCxn id="60" idx="4"/>
            <a:endCxn id="65" idx="0"/>
          </p:cNvCxnSpPr>
          <p:nvPr/>
        </p:nvCxnSpPr>
        <p:spPr>
          <a:xfrm flipH="1">
            <a:off x="3630064" y="4228598"/>
            <a:ext cx="743609" cy="56992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60" idx="4"/>
            <a:endCxn id="72" idx="0"/>
          </p:cNvCxnSpPr>
          <p:nvPr/>
        </p:nvCxnSpPr>
        <p:spPr>
          <a:xfrm>
            <a:off x="4373673" y="4228598"/>
            <a:ext cx="1036325" cy="62082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3410170" y="4249523"/>
            <a:ext cx="439785"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好</a:t>
            </a:r>
          </a:p>
        </p:txBody>
      </p:sp>
      <p:sp>
        <p:nvSpPr>
          <p:cNvPr id="65" name="椭圆 64"/>
          <p:cNvSpPr/>
          <p:nvPr/>
        </p:nvSpPr>
        <p:spPr>
          <a:xfrm>
            <a:off x="2837584" y="4798523"/>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chemeClr val="bg1"/>
                </a:solidFill>
                <a:latin typeface="KaiTi" panose="02010609060101010101" pitchFamily="49" charset="-122"/>
                <a:ea typeface="KaiTi" panose="02010609060101010101" pitchFamily="49" charset="-122"/>
              </a:rPr>
              <a:t>上进心</a:t>
            </a:r>
          </a:p>
        </p:txBody>
      </p:sp>
      <p:sp>
        <p:nvSpPr>
          <p:cNvPr id="66" name="矩形 65"/>
          <p:cNvSpPr/>
          <p:nvPr/>
        </p:nvSpPr>
        <p:spPr>
          <a:xfrm>
            <a:off x="2578879" y="5799891"/>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能</a:t>
            </a:r>
          </a:p>
        </p:txBody>
      </p:sp>
      <p:sp>
        <p:nvSpPr>
          <p:cNvPr id="67" name="矩形 66"/>
          <p:cNvSpPr/>
          <p:nvPr/>
        </p:nvSpPr>
        <p:spPr>
          <a:xfrm>
            <a:off x="4168198" y="5799891"/>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不能</a:t>
            </a:r>
            <a:endParaRPr lang="zh-CN" altLang="en-US" dirty="0">
              <a:latin typeface="KaiTi" panose="02010609060101010101" pitchFamily="49" charset="-122"/>
              <a:ea typeface="KaiTi" panose="02010609060101010101" pitchFamily="49" charset="-122"/>
            </a:endParaRPr>
          </a:p>
        </p:txBody>
      </p:sp>
      <p:cxnSp>
        <p:nvCxnSpPr>
          <p:cNvPr id="68" name="直接箭头连接符 67"/>
          <p:cNvCxnSpPr>
            <a:stCxn id="65" idx="4"/>
            <a:endCxn id="66" idx="0"/>
          </p:cNvCxnSpPr>
          <p:nvPr/>
        </p:nvCxnSpPr>
        <p:spPr>
          <a:xfrm flipH="1">
            <a:off x="3036079" y="5303620"/>
            <a:ext cx="593985" cy="4962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65" idx="4"/>
            <a:endCxn id="67" idx="0"/>
          </p:cNvCxnSpPr>
          <p:nvPr/>
        </p:nvCxnSpPr>
        <p:spPr>
          <a:xfrm>
            <a:off x="3630064" y="5303620"/>
            <a:ext cx="995334" cy="4962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2735504" y="5317300"/>
            <a:ext cx="411479"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有</a:t>
            </a:r>
          </a:p>
        </p:txBody>
      </p:sp>
      <p:sp>
        <p:nvSpPr>
          <p:cNvPr id="71" name="文本框 70"/>
          <p:cNvSpPr txBox="1"/>
          <p:nvPr/>
        </p:nvSpPr>
        <p:spPr>
          <a:xfrm>
            <a:off x="4411312" y="5302808"/>
            <a:ext cx="400334"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无</a:t>
            </a:r>
          </a:p>
        </p:txBody>
      </p:sp>
      <p:sp>
        <p:nvSpPr>
          <p:cNvPr id="72" name="矩形 71"/>
          <p:cNvSpPr/>
          <p:nvPr/>
        </p:nvSpPr>
        <p:spPr>
          <a:xfrm>
            <a:off x="4952798" y="4849423"/>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不能</a:t>
            </a:r>
          </a:p>
        </p:txBody>
      </p:sp>
      <p:sp>
        <p:nvSpPr>
          <p:cNvPr id="73" name="文本框 72"/>
          <p:cNvSpPr txBox="1"/>
          <p:nvPr/>
        </p:nvSpPr>
        <p:spPr>
          <a:xfrm>
            <a:off x="5032451" y="4233038"/>
            <a:ext cx="606147" cy="307777"/>
          </a:xfrm>
          <a:prstGeom prst="rect">
            <a:avLst/>
          </a:prstGeom>
          <a:noFill/>
          <a:ln>
            <a:solidFill>
              <a:srgbClr val="0066CC"/>
            </a:solidFill>
          </a:ln>
        </p:spPr>
        <p:txBody>
          <a:bodyPr wrap="square" rtlCol="0">
            <a:spAutoFit/>
          </a:bodyPr>
          <a:lstStyle/>
          <a:p>
            <a:pPr algn="ctr"/>
            <a:r>
              <a:rPr lang="zh-CN" altLang="en-US" sz="1400" dirty="0">
                <a:solidFill>
                  <a:schemeClr val="tx1">
                    <a:lumMod val="65000"/>
                    <a:lumOff val="35000"/>
                  </a:schemeClr>
                </a:solidFill>
                <a:latin typeface="KaiTi" panose="02010609060101010101" pitchFamily="49" charset="-122"/>
                <a:ea typeface="KaiTi" panose="02010609060101010101" pitchFamily="49" charset="-122"/>
              </a:rPr>
              <a:t>不好</a:t>
            </a:r>
          </a:p>
        </p:txBody>
      </p:sp>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9" name="Rectangle 2">
            <a:extLst>
              <a:ext uri="{FF2B5EF4-FFF2-40B4-BE49-F238E27FC236}">
                <a16:creationId xmlns:a16="http://schemas.microsoft.com/office/drawing/2014/main" id="{523AE428-A2AF-4972-9058-9593172412AF}"/>
              </a:ext>
            </a:extLst>
          </p:cNvPr>
          <p:cNvSpPr>
            <a:spLocks noGrp="1" noChangeArrowheads="1"/>
          </p:cNvSpPr>
          <p:nvPr>
            <p:ph type="title"/>
          </p:nvPr>
        </p:nvSpPr>
        <p:spPr>
          <a:xfrm>
            <a:off x="460375" y="307418"/>
            <a:ext cx="11523662" cy="677863"/>
          </a:xfrm>
        </p:spPr>
        <p:txBody>
          <a:bodyPr/>
          <a:lstStyle/>
          <a:p>
            <a:pPr eaLnBrk="1" hangingPunct="1"/>
            <a:r>
              <a:rPr lang="zh-CN" altLang="en-US" dirty="0">
                <a:solidFill>
                  <a:schemeClr val="tx1"/>
                </a:solidFill>
                <a:latin typeface="KaiTi" panose="02010609060101010101" pitchFamily="49" charset="-122"/>
                <a:ea typeface="KaiTi" panose="02010609060101010101" pitchFamily="49" charset="-122"/>
              </a:rPr>
              <a:t>决策树原理</a:t>
            </a:r>
          </a:p>
        </p:txBody>
      </p:sp>
      <p:cxnSp>
        <p:nvCxnSpPr>
          <p:cNvPr id="101" name="直接箭头连接符 100">
            <a:extLst>
              <a:ext uri="{FF2B5EF4-FFF2-40B4-BE49-F238E27FC236}">
                <a16:creationId xmlns:a16="http://schemas.microsoft.com/office/drawing/2014/main" id="{AAA7F0CB-7DEB-4129-9510-DF40EEA74D92}"/>
              </a:ext>
            </a:extLst>
          </p:cNvPr>
          <p:cNvCxnSpPr>
            <a:cxnSpLocks/>
          </p:cNvCxnSpPr>
          <p:nvPr/>
        </p:nvCxnSpPr>
        <p:spPr>
          <a:xfrm flipH="1">
            <a:off x="1806741" y="6040508"/>
            <a:ext cx="676670" cy="0"/>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26F6B215-CDEF-4BA7-83F0-E6600C640D4D}"/>
              </a:ext>
            </a:extLst>
          </p:cNvPr>
          <p:cNvCxnSpPr>
            <a:cxnSpLocks/>
          </p:cNvCxnSpPr>
          <p:nvPr/>
        </p:nvCxnSpPr>
        <p:spPr>
          <a:xfrm flipH="1">
            <a:off x="1847438" y="4228598"/>
            <a:ext cx="545193" cy="170723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FEB4DA5B-C3C2-4BAC-A167-80D2A66F50BD}"/>
              </a:ext>
            </a:extLst>
          </p:cNvPr>
          <p:cNvCxnSpPr>
            <a:cxnSpLocks/>
          </p:cNvCxnSpPr>
          <p:nvPr/>
        </p:nvCxnSpPr>
        <p:spPr>
          <a:xfrm flipV="1">
            <a:off x="3447775" y="1554380"/>
            <a:ext cx="1004955" cy="131166"/>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09786EC9-B098-4B71-97D7-B5DF1EB4C018}"/>
              </a:ext>
            </a:extLst>
          </p:cNvPr>
          <p:cNvSpPr txBox="1"/>
          <p:nvPr/>
        </p:nvSpPr>
        <p:spPr>
          <a:xfrm>
            <a:off x="6324805" y="1523641"/>
            <a:ext cx="5384148" cy="4654416"/>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sz="2000" dirty="0">
                <a:latin typeface="KaiTi" panose="02010609060101010101" pitchFamily="49" charset="-122"/>
                <a:ea typeface="KaiTi" panose="02010609060101010101" pitchFamily="49" charset="-122"/>
                <a:cs typeface="Times New Roman" panose="02020603050405020304" pitchFamily="18" charset="0"/>
              </a:rPr>
              <a:t>决策树：从得出一个树状结构的模型。训练数据中学习</a:t>
            </a:r>
            <a:endParaRPr lang="en-US" altLang="zh-CN" sz="20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000" dirty="0">
                <a:latin typeface="KaiTi" panose="02010609060101010101" pitchFamily="49" charset="-122"/>
                <a:ea typeface="KaiTi" panose="02010609060101010101" pitchFamily="49" charset="-122"/>
                <a:cs typeface="Times New Roman" panose="02020603050405020304" pitchFamily="18" charset="0"/>
              </a:rPr>
              <a:t>决策树属于</a:t>
            </a:r>
            <a:r>
              <a:rPr lang="zh-CN"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判别模型</a:t>
            </a:r>
            <a:r>
              <a:rPr lang="zh-CN" altLang="en-US" sz="2000" dirty="0">
                <a:latin typeface="KaiTi" panose="02010609060101010101" pitchFamily="49" charset="-122"/>
                <a:ea typeface="KaiTi" panose="02010609060101010101" pitchFamily="49" charset="-122"/>
                <a:cs typeface="Times New Roman" panose="02020603050405020304" pitchFamily="18" charset="0"/>
              </a:rPr>
              <a:t>。</a:t>
            </a:r>
            <a:endParaRPr lang="en-US" altLang="zh-CN" sz="20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决策树是一种</a:t>
            </a:r>
            <a:r>
              <a:rPr lang="zh-CN" altLang="en-US" sz="2000" dirty="0">
                <a:latin typeface="KaiTi" panose="02010609060101010101" pitchFamily="49" charset="-122"/>
                <a:ea typeface="KaiTi" panose="02010609060101010101" pitchFamily="49" charset="-122"/>
                <a:cs typeface="Times New Roman" panose="02020603050405020304" pitchFamily="18" charset="0"/>
              </a:rPr>
              <a:t>树状结构</a:t>
            </a: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，通过做出一系列决策（选择）来对数据进行划分，这类似于针对一系列问题进行选择。</a:t>
            </a:r>
            <a:endParaRPr lang="en-US" altLang="zh-CN"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决策树的决策过程就是从根节点开始，测试待分类项中对应的特征属性，并按照其值选择输出分支，直到叶子节点，将叶子节点的存放的类别作为决策结果。</a:t>
            </a:r>
            <a:endParaRPr lang="en-US" altLang="zh-CN" sz="2000" dirty="0">
              <a:solidFill>
                <a:schemeClr val="tx1">
                  <a:lumMod val="85000"/>
                  <a:lumOff val="15000"/>
                </a:schemeClr>
              </a:solidFill>
              <a:latin typeface="KaiTi" panose="02010609060101010101" pitchFamily="49" charset="-122"/>
              <a:ea typeface="KaiTi" panose="02010609060101010101" pitchFamily="49" charset="-122"/>
            </a:endParaRPr>
          </a:p>
        </p:txBody>
      </p:sp>
      <p:cxnSp>
        <p:nvCxnSpPr>
          <p:cNvPr id="35" name="直接箭头连接符 34">
            <a:extLst>
              <a:ext uri="{FF2B5EF4-FFF2-40B4-BE49-F238E27FC236}">
                <a16:creationId xmlns:a16="http://schemas.microsoft.com/office/drawing/2014/main" id="{7A1012E1-EA1C-48D3-BA90-A11587343E9B}"/>
              </a:ext>
            </a:extLst>
          </p:cNvPr>
          <p:cNvCxnSpPr>
            <a:cxnSpLocks/>
          </p:cNvCxnSpPr>
          <p:nvPr/>
        </p:nvCxnSpPr>
        <p:spPr>
          <a:xfrm>
            <a:off x="1317284" y="3076106"/>
            <a:ext cx="6008" cy="272378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2A0E8A03-415B-480E-9958-89A9A2A3D348}"/>
              </a:ext>
            </a:extLst>
          </p:cNvPr>
          <p:cNvSpPr txBox="1"/>
          <p:nvPr/>
        </p:nvSpPr>
        <p:spPr>
          <a:xfrm>
            <a:off x="4506291" y="1262525"/>
            <a:ext cx="1712794" cy="861774"/>
          </a:xfrm>
          <a:prstGeom prst="rect">
            <a:avLst/>
          </a:prstGeom>
          <a:noFill/>
        </p:spPr>
        <p:txBody>
          <a:bodyPr wrap="square">
            <a:spAutoFit/>
          </a:bodyPr>
          <a:lstStyle/>
          <a:p>
            <a:pPr>
              <a:spcBef>
                <a:spcPct val="50000"/>
              </a:spcBef>
              <a:buClr>
                <a:schemeClr val="hlink"/>
              </a:buClr>
              <a:buSzPct val="55000"/>
              <a:buFont typeface="Wingdings" panose="05000000000000000000" pitchFamily="2" charset="2"/>
              <a:buNone/>
            </a:pPr>
            <a:r>
              <a:rPr lang="zh-TW" altLang="en-US" sz="2000" dirty="0">
                <a:solidFill>
                  <a:srgbClr val="0070C0"/>
                </a:solidFill>
                <a:latin typeface="KaiTi" panose="02010609060101010101" pitchFamily="49" charset="-122"/>
                <a:ea typeface="KaiTi" panose="02010609060101010101" pitchFamily="49" charset="-122"/>
                <a:cs typeface="Times New Roman" panose="02020603050405020304" pitchFamily="18" charset="0"/>
              </a:rPr>
              <a:t>根节点</a:t>
            </a:r>
            <a:endParaRPr lang="en-US" altLang="zh-TW" sz="2000" dirty="0">
              <a:solidFill>
                <a:srgbClr val="0070C0"/>
              </a:solidFill>
              <a:latin typeface="KaiTi" panose="02010609060101010101" pitchFamily="49" charset="-122"/>
              <a:ea typeface="KaiTi" panose="02010609060101010101" pitchFamily="49" charset="-122"/>
              <a:cs typeface="Times New Roman" panose="02020603050405020304" pitchFamily="18" charset="0"/>
            </a:endParaRPr>
          </a:p>
          <a:p>
            <a:pPr>
              <a:spcBef>
                <a:spcPct val="50000"/>
              </a:spcBef>
              <a:buClr>
                <a:schemeClr val="hlink"/>
              </a:buClr>
              <a:buSzPct val="55000"/>
              <a:buFont typeface="Wingdings" panose="05000000000000000000" pitchFamily="2" charset="2"/>
              <a:buNone/>
            </a:pPr>
            <a:r>
              <a:rPr lang="zh-TW" altLang="en-US" sz="2000" dirty="0">
                <a:solidFill>
                  <a:srgbClr val="0070C0"/>
                </a:solidFill>
                <a:latin typeface="KaiTi" panose="02010609060101010101" pitchFamily="49" charset="-122"/>
                <a:ea typeface="KaiTi" panose="02010609060101010101" pitchFamily="49" charset="-122"/>
                <a:cs typeface="Times New Roman" panose="02020603050405020304" pitchFamily="18" charset="0"/>
              </a:rPr>
              <a:t> </a:t>
            </a:r>
            <a:r>
              <a:rPr lang="en-US" altLang="zh-CN" sz="2000" dirty="0">
                <a:latin typeface="KaiTi" panose="02010609060101010101" pitchFamily="49" charset="-122"/>
                <a:ea typeface="KaiTi" panose="02010609060101010101" pitchFamily="49" charset="-122"/>
                <a:cs typeface="Times New Roman" panose="02020603050405020304" pitchFamily="18" charset="0"/>
              </a:rPr>
              <a:t>(root node)</a:t>
            </a:r>
          </a:p>
        </p:txBody>
      </p:sp>
      <p:sp>
        <p:nvSpPr>
          <p:cNvPr id="41" name="文本框 40">
            <a:extLst>
              <a:ext uri="{FF2B5EF4-FFF2-40B4-BE49-F238E27FC236}">
                <a16:creationId xmlns:a16="http://schemas.microsoft.com/office/drawing/2014/main" id="{A0480F80-45C3-49C1-9EF1-42DCEDF73EF2}"/>
              </a:ext>
            </a:extLst>
          </p:cNvPr>
          <p:cNvSpPr txBox="1"/>
          <p:nvPr/>
        </p:nvSpPr>
        <p:spPr>
          <a:xfrm>
            <a:off x="668338" y="6025197"/>
            <a:ext cx="6096784" cy="575607"/>
          </a:xfrm>
          <a:prstGeom prst="rect">
            <a:avLst/>
          </a:prstGeom>
          <a:noFill/>
        </p:spPr>
        <p:txBody>
          <a:bodyPr wrap="square">
            <a:spAutoFit/>
          </a:bodyPr>
          <a:lstStyle/>
          <a:p>
            <a:pPr>
              <a:lnSpc>
                <a:spcPct val="50000"/>
              </a:lnSpc>
              <a:spcBef>
                <a:spcPct val="50000"/>
              </a:spcBef>
              <a:buClr>
                <a:schemeClr val="hlink"/>
              </a:buClr>
              <a:buSzPct val="55000"/>
              <a:buFont typeface="Wingdings" panose="05000000000000000000" pitchFamily="2" charset="2"/>
              <a:buNone/>
            </a:pPr>
            <a:r>
              <a:rPr lang="zh-TW" altLang="en-US" sz="2000" dirty="0">
                <a:solidFill>
                  <a:srgbClr val="0070C0"/>
                </a:solidFill>
                <a:latin typeface="KaiTi" panose="02010609060101010101" pitchFamily="49" charset="-122"/>
                <a:ea typeface="KaiTi" panose="02010609060101010101" pitchFamily="49" charset="-122"/>
                <a:cs typeface="Times New Roman" panose="02020603050405020304" pitchFamily="18" charset="0"/>
              </a:rPr>
              <a:t>叶节点 </a:t>
            </a:r>
            <a:endParaRPr lang="en-US" altLang="zh-TW" sz="2000" dirty="0">
              <a:solidFill>
                <a:srgbClr val="0070C0"/>
              </a:solidFill>
              <a:latin typeface="KaiTi" panose="02010609060101010101" pitchFamily="49" charset="-122"/>
              <a:ea typeface="KaiTi" panose="02010609060101010101" pitchFamily="49" charset="-122"/>
              <a:cs typeface="Times New Roman" panose="02020603050405020304" pitchFamily="18" charset="0"/>
            </a:endParaRPr>
          </a:p>
          <a:p>
            <a:pPr>
              <a:lnSpc>
                <a:spcPct val="50000"/>
              </a:lnSpc>
              <a:spcBef>
                <a:spcPct val="50000"/>
              </a:spcBef>
              <a:buClr>
                <a:schemeClr val="hlink"/>
              </a:buClr>
              <a:buSzPct val="55000"/>
              <a:buFont typeface="Wingdings" panose="05000000000000000000" pitchFamily="2" charset="2"/>
              <a:buNone/>
            </a:pPr>
            <a:r>
              <a:rPr lang="en-US" altLang="zh-CN" sz="2000" dirty="0">
                <a:latin typeface="KaiTi" panose="02010609060101010101" pitchFamily="49" charset="-122"/>
                <a:ea typeface="KaiTi" panose="02010609060101010101" pitchFamily="49" charset="-122"/>
                <a:cs typeface="Times New Roman" panose="02020603050405020304" pitchFamily="18" charset="0"/>
              </a:rPr>
              <a:t>(leaf node)</a:t>
            </a:r>
          </a:p>
        </p:txBody>
      </p:sp>
    </p:spTree>
    <p:extLst>
      <p:ext uri="{BB962C8B-B14F-4D97-AF65-F5344CB8AC3E}">
        <p14:creationId xmlns:p14="http://schemas.microsoft.com/office/powerpoint/2010/main" val="126956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8"/>
                                        </p:tgtEl>
                                        <p:attrNameLst>
                                          <p:attrName>style.visibility</p:attrName>
                                        </p:attrNameLst>
                                      </p:cBhvr>
                                      <p:to>
                                        <p:strVal val="visible"/>
                                      </p:to>
                                    </p:set>
                                    <p:anim calcmode="lin" valueType="num">
                                      <p:cBhvr>
                                        <p:cTn id="14" dur="500" fill="hold"/>
                                        <p:tgtEl>
                                          <p:spTgt spid="48"/>
                                        </p:tgtEl>
                                        <p:attrNameLst>
                                          <p:attrName>ppt_w</p:attrName>
                                        </p:attrNameLst>
                                      </p:cBhvr>
                                      <p:tavLst>
                                        <p:tav tm="0">
                                          <p:val>
                                            <p:fltVal val="0"/>
                                          </p:val>
                                        </p:tav>
                                        <p:tav tm="100000">
                                          <p:val>
                                            <p:strVal val="#ppt_w"/>
                                          </p:val>
                                        </p:tav>
                                      </p:tavLst>
                                    </p:anim>
                                    <p:anim calcmode="lin" valueType="num">
                                      <p:cBhvr>
                                        <p:cTn id="15" dur="500" fill="hold"/>
                                        <p:tgtEl>
                                          <p:spTgt spid="48"/>
                                        </p:tgtEl>
                                        <p:attrNameLst>
                                          <p:attrName>ppt_h</p:attrName>
                                        </p:attrNameLst>
                                      </p:cBhvr>
                                      <p:tavLst>
                                        <p:tav tm="0">
                                          <p:val>
                                            <p:fltVal val="0"/>
                                          </p:val>
                                        </p:tav>
                                        <p:tav tm="100000">
                                          <p:val>
                                            <p:strVal val="#ppt_h"/>
                                          </p:val>
                                        </p:tav>
                                      </p:tavLst>
                                    </p:anim>
                                    <p:animEffect transition="in" filter="fade">
                                      <p:cBhvr>
                                        <p:cTn id="16" dur="500"/>
                                        <p:tgtEl>
                                          <p:spTgt spid="48"/>
                                        </p:tgtEl>
                                      </p:cBhvr>
                                    </p:animEffect>
                                  </p:childTnLst>
                                </p:cTn>
                              </p:par>
                              <p:par>
                                <p:cTn id="17" presetID="53" presetClass="entr" presetSubtype="16"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p:cTn id="19" dur="500" fill="hold"/>
                                        <p:tgtEl>
                                          <p:spTgt spid="43"/>
                                        </p:tgtEl>
                                        <p:attrNameLst>
                                          <p:attrName>ppt_w</p:attrName>
                                        </p:attrNameLst>
                                      </p:cBhvr>
                                      <p:tavLst>
                                        <p:tav tm="0">
                                          <p:val>
                                            <p:fltVal val="0"/>
                                          </p:val>
                                        </p:tav>
                                        <p:tav tm="100000">
                                          <p:val>
                                            <p:strVal val="#ppt_w"/>
                                          </p:val>
                                        </p:tav>
                                      </p:tavLst>
                                    </p:anim>
                                    <p:anim calcmode="lin" valueType="num">
                                      <p:cBhvr>
                                        <p:cTn id="20" dur="500" fill="hold"/>
                                        <p:tgtEl>
                                          <p:spTgt spid="43"/>
                                        </p:tgtEl>
                                        <p:attrNameLst>
                                          <p:attrName>ppt_h</p:attrName>
                                        </p:attrNameLst>
                                      </p:cBhvr>
                                      <p:tavLst>
                                        <p:tav tm="0">
                                          <p:val>
                                            <p:fltVal val="0"/>
                                          </p:val>
                                        </p:tav>
                                        <p:tav tm="100000">
                                          <p:val>
                                            <p:strVal val="#ppt_h"/>
                                          </p:val>
                                        </p:tav>
                                      </p:tavLst>
                                    </p:anim>
                                    <p:animEffect transition="in" filter="fade">
                                      <p:cBhvr>
                                        <p:cTn id="21" dur="500"/>
                                        <p:tgtEl>
                                          <p:spTgt spid="4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 calcmode="lin" valueType="num">
                                      <p:cBhvr>
                                        <p:cTn id="24" dur="500" fill="hold"/>
                                        <p:tgtEl>
                                          <p:spTgt spid="40"/>
                                        </p:tgtEl>
                                        <p:attrNameLst>
                                          <p:attrName>ppt_w</p:attrName>
                                        </p:attrNameLst>
                                      </p:cBhvr>
                                      <p:tavLst>
                                        <p:tav tm="0">
                                          <p:val>
                                            <p:fltVal val="0"/>
                                          </p:val>
                                        </p:tav>
                                        <p:tav tm="100000">
                                          <p:val>
                                            <p:strVal val="#ppt_w"/>
                                          </p:val>
                                        </p:tav>
                                      </p:tavLst>
                                    </p:anim>
                                    <p:anim calcmode="lin" valueType="num">
                                      <p:cBhvr>
                                        <p:cTn id="25" dur="500" fill="hold"/>
                                        <p:tgtEl>
                                          <p:spTgt spid="40"/>
                                        </p:tgtEl>
                                        <p:attrNameLst>
                                          <p:attrName>ppt_h</p:attrName>
                                        </p:attrNameLst>
                                      </p:cBhvr>
                                      <p:tavLst>
                                        <p:tav tm="0">
                                          <p:val>
                                            <p:fltVal val="0"/>
                                          </p:val>
                                        </p:tav>
                                        <p:tav tm="100000">
                                          <p:val>
                                            <p:strVal val="#ppt_h"/>
                                          </p:val>
                                        </p:tav>
                                      </p:tavLst>
                                    </p:anim>
                                    <p:animEffect transition="in" filter="fade">
                                      <p:cBhvr>
                                        <p:cTn id="26" dur="500"/>
                                        <p:tgtEl>
                                          <p:spTgt spid="4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p:cTn id="31" dur="500" fill="hold"/>
                                        <p:tgtEl>
                                          <p:spTgt spid="52"/>
                                        </p:tgtEl>
                                        <p:attrNameLst>
                                          <p:attrName>ppt_w</p:attrName>
                                        </p:attrNameLst>
                                      </p:cBhvr>
                                      <p:tavLst>
                                        <p:tav tm="0">
                                          <p:val>
                                            <p:fltVal val="0"/>
                                          </p:val>
                                        </p:tav>
                                        <p:tav tm="100000">
                                          <p:val>
                                            <p:strVal val="#ppt_w"/>
                                          </p:val>
                                        </p:tav>
                                      </p:tavLst>
                                    </p:anim>
                                    <p:anim calcmode="lin" valueType="num">
                                      <p:cBhvr>
                                        <p:cTn id="32" dur="500" fill="hold"/>
                                        <p:tgtEl>
                                          <p:spTgt spid="52"/>
                                        </p:tgtEl>
                                        <p:attrNameLst>
                                          <p:attrName>ppt_h</p:attrName>
                                        </p:attrNameLst>
                                      </p:cBhvr>
                                      <p:tavLst>
                                        <p:tav tm="0">
                                          <p:val>
                                            <p:fltVal val="0"/>
                                          </p:val>
                                        </p:tav>
                                        <p:tav tm="100000">
                                          <p:val>
                                            <p:strVal val="#ppt_h"/>
                                          </p:val>
                                        </p:tav>
                                      </p:tavLst>
                                    </p:anim>
                                    <p:animEffect transition="in" filter="fade">
                                      <p:cBhvr>
                                        <p:cTn id="33" dur="500"/>
                                        <p:tgtEl>
                                          <p:spTgt spid="52"/>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3"/>
                                        </p:tgtEl>
                                        <p:attrNameLst>
                                          <p:attrName>style.visibility</p:attrName>
                                        </p:attrNameLst>
                                      </p:cBhvr>
                                      <p:to>
                                        <p:strVal val="visible"/>
                                      </p:to>
                                    </p:set>
                                    <p:anim calcmode="lin" valueType="num">
                                      <p:cBhvr>
                                        <p:cTn id="36" dur="500" fill="hold"/>
                                        <p:tgtEl>
                                          <p:spTgt spid="53"/>
                                        </p:tgtEl>
                                        <p:attrNameLst>
                                          <p:attrName>ppt_w</p:attrName>
                                        </p:attrNameLst>
                                      </p:cBhvr>
                                      <p:tavLst>
                                        <p:tav tm="0">
                                          <p:val>
                                            <p:fltVal val="0"/>
                                          </p:val>
                                        </p:tav>
                                        <p:tav tm="100000">
                                          <p:val>
                                            <p:strVal val="#ppt_w"/>
                                          </p:val>
                                        </p:tav>
                                      </p:tavLst>
                                    </p:anim>
                                    <p:anim calcmode="lin" valueType="num">
                                      <p:cBhvr>
                                        <p:cTn id="37" dur="500" fill="hold"/>
                                        <p:tgtEl>
                                          <p:spTgt spid="53"/>
                                        </p:tgtEl>
                                        <p:attrNameLst>
                                          <p:attrName>ppt_h</p:attrName>
                                        </p:attrNameLst>
                                      </p:cBhvr>
                                      <p:tavLst>
                                        <p:tav tm="0">
                                          <p:val>
                                            <p:fltVal val="0"/>
                                          </p:val>
                                        </p:tav>
                                        <p:tav tm="100000">
                                          <p:val>
                                            <p:strVal val="#ppt_h"/>
                                          </p:val>
                                        </p:tav>
                                      </p:tavLst>
                                    </p:anim>
                                    <p:animEffect transition="in" filter="fade">
                                      <p:cBhvr>
                                        <p:cTn id="38" dur="500"/>
                                        <p:tgtEl>
                                          <p:spTgt spid="53"/>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anim calcmode="lin" valueType="num">
                                      <p:cBhvr>
                                        <p:cTn id="41" dur="500" fill="hold"/>
                                        <p:tgtEl>
                                          <p:spTgt spid="54"/>
                                        </p:tgtEl>
                                        <p:attrNameLst>
                                          <p:attrName>ppt_w</p:attrName>
                                        </p:attrNameLst>
                                      </p:cBhvr>
                                      <p:tavLst>
                                        <p:tav tm="0">
                                          <p:val>
                                            <p:fltVal val="0"/>
                                          </p:val>
                                        </p:tav>
                                        <p:tav tm="100000">
                                          <p:val>
                                            <p:strVal val="#ppt_w"/>
                                          </p:val>
                                        </p:tav>
                                      </p:tavLst>
                                    </p:anim>
                                    <p:anim calcmode="lin" valueType="num">
                                      <p:cBhvr>
                                        <p:cTn id="42" dur="500" fill="hold"/>
                                        <p:tgtEl>
                                          <p:spTgt spid="54"/>
                                        </p:tgtEl>
                                        <p:attrNameLst>
                                          <p:attrName>ppt_h</p:attrName>
                                        </p:attrNameLst>
                                      </p:cBhvr>
                                      <p:tavLst>
                                        <p:tav tm="0">
                                          <p:val>
                                            <p:fltVal val="0"/>
                                          </p:val>
                                        </p:tav>
                                        <p:tav tm="100000">
                                          <p:val>
                                            <p:strVal val="#ppt_h"/>
                                          </p:val>
                                        </p:tav>
                                      </p:tavLst>
                                    </p:anim>
                                    <p:animEffect transition="in" filter="fade">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55"/>
                                        </p:tgtEl>
                                        <p:attrNameLst>
                                          <p:attrName>style.visibility</p:attrName>
                                        </p:attrNameLst>
                                      </p:cBhvr>
                                      <p:to>
                                        <p:strVal val="visible"/>
                                      </p:to>
                                    </p:set>
                                    <p:anim calcmode="lin" valueType="num">
                                      <p:cBhvr>
                                        <p:cTn id="48" dur="500" fill="hold"/>
                                        <p:tgtEl>
                                          <p:spTgt spid="55"/>
                                        </p:tgtEl>
                                        <p:attrNameLst>
                                          <p:attrName>ppt_w</p:attrName>
                                        </p:attrNameLst>
                                      </p:cBhvr>
                                      <p:tavLst>
                                        <p:tav tm="0">
                                          <p:val>
                                            <p:fltVal val="0"/>
                                          </p:val>
                                        </p:tav>
                                        <p:tav tm="100000">
                                          <p:val>
                                            <p:strVal val="#ppt_w"/>
                                          </p:val>
                                        </p:tav>
                                      </p:tavLst>
                                    </p:anim>
                                    <p:anim calcmode="lin" valueType="num">
                                      <p:cBhvr>
                                        <p:cTn id="49" dur="500" fill="hold"/>
                                        <p:tgtEl>
                                          <p:spTgt spid="55"/>
                                        </p:tgtEl>
                                        <p:attrNameLst>
                                          <p:attrName>ppt_h</p:attrName>
                                        </p:attrNameLst>
                                      </p:cBhvr>
                                      <p:tavLst>
                                        <p:tav tm="0">
                                          <p:val>
                                            <p:fltVal val="0"/>
                                          </p:val>
                                        </p:tav>
                                        <p:tav tm="100000">
                                          <p:val>
                                            <p:strVal val="#ppt_h"/>
                                          </p:val>
                                        </p:tav>
                                      </p:tavLst>
                                    </p:anim>
                                    <p:animEffect transition="in" filter="fade">
                                      <p:cBhvr>
                                        <p:cTn id="50" dur="500"/>
                                        <p:tgtEl>
                                          <p:spTgt spid="55"/>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anim calcmode="lin" valueType="num">
                                      <p:cBhvr>
                                        <p:cTn id="53" dur="500" fill="hold"/>
                                        <p:tgtEl>
                                          <p:spTgt spid="56"/>
                                        </p:tgtEl>
                                        <p:attrNameLst>
                                          <p:attrName>ppt_w</p:attrName>
                                        </p:attrNameLst>
                                      </p:cBhvr>
                                      <p:tavLst>
                                        <p:tav tm="0">
                                          <p:val>
                                            <p:fltVal val="0"/>
                                          </p:val>
                                        </p:tav>
                                        <p:tav tm="100000">
                                          <p:val>
                                            <p:strVal val="#ppt_w"/>
                                          </p:val>
                                        </p:tav>
                                      </p:tavLst>
                                    </p:anim>
                                    <p:anim calcmode="lin" valueType="num">
                                      <p:cBhvr>
                                        <p:cTn id="54" dur="500" fill="hold"/>
                                        <p:tgtEl>
                                          <p:spTgt spid="56"/>
                                        </p:tgtEl>
                                        <p:attrNameLst>
                                          <p:attrName>ppt_h</p:attrName>
                                        </p:attrNameLst>
                                      </p:cBhvr>
                                      <p:tavLst>
                                        <p:tav tm="0">
                                          <p:val>
                                            <p:fltVal val="0"/>
                                          </p:val>
                                        </p:tav>
                                        <p:tav tm="100000">
                                          <p:val>
                                            <p:strVal val="#ppt_h"/>
                                          </p:val>
                                        </p:tav>
                                      </p:tavLst>
                                    </p:anim>
                                    <p:animEffect transition="in" filter="fade">
                                      <p:cBhvr>
                                        <p:cTn id="55" dur="500"/>
                                        <p:tgtEl>
                                          <p:spTgt spid="56"/>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57"/>
                                        </p:tgtEl>
                                        <p:attrNameLst>
                                          <p:attrName>style.visibility</p:attrName>
                                        </p:attrNameLst>
                                      </p:cBhvr>
                                      <p:to>
                                        <p:strVal val="visible"/>
                                      </p:to>
                                    </p:set>
                                    <p:anim calcmode="lin" valueType="num">
                                      <p:cBhvr>
                                        <p:cTn id="58" dur="500" fill="hold"/>
                                        <p:tgtEl>
                                          <p:spTgt spid="57"/>
                                        </p:tgtEl>
                                        <p:attrNameLst>
                                          <p:attrName>ppt_w</p:attrName>
                                        </p:attrNameLst>
                                      </p:cBhvr>
                                      <p:tavLst>
                                        <p:tav tm="0">
                                          <p:val>
                                            <p:fltVal val="0"/>
                                          </p:val>
                                        </p:tav>
                                        <p:tav tm="100000">
                                          <p:val>
                                            <p:strVal val="#ppt_w"/>
                                          </p:val>
                                        </p:tav>
                                      </p:tavLst>
                                    </p:anim>
                                    <p:anim calcmode="lin" valueType="num">
                                      <p:cBhvr>
                                        <p:cTn id="59" dur="500" fill="hold"/>
                                        <p:tgtEl>
                                          <p:spTgt spid="57"/>
                                        </p:tgtEl>
                                        <p:attrNameLst>
                                          <p:attrName>ppt_h</p:attrName>
                                        </p:attrNameLst>
                                      </p:cBhvr>
                                      <p:tavLst>
                                        <p:tav tm="0">
                                          <p:val>
                                            <p:fltVal val="0"/>
                                          </p:val>
                                        </p:tav>
                                        <p:tav tm="100000">
                                          <p:val>
                                            <p:strVal val="#ppt_h"/>
                                          </p:val>
                                        </p:tav>
                                      </p:tavLst>
                                    </p:anim>
                                    <p:animEffect transition="in" filter="fade">
                                      <p:cBhvr>
                                        <p:cTn id="60" dur="500"/>
                                        <p:tgtEl>
                                          <p:spTgt spid="57"/>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 calcmode="lin" valueType="num">
                                      <p:cBhvr>
                                        <p:cTn id="65" dur="500" fill="hold"/>
                                        <p:tgtEl>
                                          <p:spTgt spid="58"/>
                                        </p:tgtEl>
                                        <p:attrNameLst>
                                          <p:attrName>ppt_w</p:attrName>
                                        </p:attrNameLst>
                                      </p:cBhvr>
                                      <p:tavLst>
                                        <p:tav tm="0">
                                          <p:val>
                                            <p:fltVal val="0"/>
                                          </p:val>
                                        </p:tav>
                                        <p:tav tm="100000">
                                          <p:val>
                                            <p:strVal val="#ppt_w"/>
                                          </p:val>
                                        </p:tav>
                                      </p:tavLst>
                                    </p:anim>
                                    <p:anim calcmode="lin" valueType="num">
                                      <p:cBhvr>
                                        <p:cTn id="66" dur="500" fill="hold"/>
                                        <p:tgtEl>
                                          <p:spTgt spid="58"/>
                                        </p:tgtEl>
                                        <p:attrNameLst>
                                          <p:attrName>ppt_h</p:attrName>
                                        </p:attrNameLst>
                                      </p:cBhvr>
                                      <p:tavLst>
                                        <p:tav tm="0">
                                          <p:val>
                                            <p:fltVal val="0"/>
                                          </p:val>
                                        </p:tav>
                                        <p:tav tm="100000">
                                          <p:val>
                                            <p:strVal val="#ppt_h"/>
                                          </p:val>
                                        </p:tav>
                                      </p:tavLst>
                                    </p:anim>
                                    <p:animEffect transition="in" filter="fade">
                                      <p:cBhvr>
                                        <p:cTn id="67" dur="500"/>
                                        <p:tgtEl>
                                          <p:spTgt spid="58"/>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59"/>
                                        </p:tgtEl>
                                        <p:attrNameLst>
                                          <p:attrName>style.visibility</p:attrName>
                                        </p:attrNameLst>
                                      </p:cBhvr>
                                      <p:to>
                                        <p:strVal val="visible"/>
                                      </p:to>
                                    </p:set>
                                    <p:anim calcmode="lin" valueType="num">
                                      <p:cBhvr>
                                        <p:cTn id="70" dur="500" fill="hold"/>
                                        <p:tgtEl>
                                          <p:spTgt spid="59"/>
                                        </p:tgtEl>
                                        <p:attrNameLst>
                                          <p:attrName>ppt_w</p:attrName>
                                        </p:attrNameLst>
                                      </p:cBhvr>
                                      <p:tavLst>
                                        <p:tav tm="0">
                                          <p:val>
                                            <p:fltVal val="0"/>
                                          </p:val>
                                        </p:tav>
                                        <p:tav tm="100000">
                                          <p:val>
                                            <p:strVal val="#ppt_w"/>
                                          </p:val>
                                        </p:tav>
                                      </p:tavLst>
                                    </p:anim>
                                    <p:anim calcmode="lin" valueType="num">
                                      <p:cBhvr>
                                        <p:cTn id="71" dur="500" fill="hold"/>
                                        <p:tgtEl>
                                          <p:spTgt spid="59"/>
                                        </p:tgtEl>
                                        <p:attrNameLst>
                                          <p:attrName>ppt_h</p:attrName>
                                        </p:attrNameLst>
                                      </p:cBhvr>
                                      <p:tavLst>
                                        <p:tav tm="0">
                                          <p:val>
                                            <p:fltVal val="0"/>
                                          </p:val>
                                        </p:tav>
                                        <p:tav tm="100000">
                                          <p:val>
                                            <p:strVal val="#ppt_h"/>
                                          </p:val>
                                        </p:tav>
                                      </p:tavLst>
                                    </p:anim>
                                    <p:animEffect transition="in" filter="fade">
                                      <p:cBhvr>
                                        <p:cTn id="72" dur="500"/>
                                        <p:tgtEl>
                                          <p:spTgt spid="59"/>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p:cTn id="75" dur="500" fill="hold"/>
                                        <p:tgtEl>
                                          <p:spTgt spid="60"/>
                                        </p:tgtEl>
                                        <p:attrNameLst>
                                          <p:attrName>ppt_w</p:attrName>
                                        </p:attrNameLst>
                                      </p:cBhvr>
                                      <p:tavLst>
                                        <p:tav tm="0">
                                          <p:val>
                                            <p:fltVal val="0"/>
                                          </p:val>
                                        </p:tav>
                                        <p:tav tm="100000">
                                          <p:val>
                                            <p:strVal val="#ppt_w"/>
                                          </p:val>
                                        </p:tav>
                                      </p:tavLst>
                                    </p:anim>
                                    <p:anim calcmode="lin" valueType="num">
                                      <p:cBhvr>
                                        <p:cTn id="76" dur="500" fill="hold"/>
                                        <p:tgtEl>
                                          <p:spTgt spid="60"/>
                                        </p:tgtEl>
                                        <p:attrNameLst>
                                          <p:attrName>ppt_h</p:attrName>
                                        </p:attrNameLst>
                                      </p:cBhvr>
                                      <p:tavLst>
                                        <p:tav tm="0">
                                          <p:val>
                                            <p:fltVal val="0"/>
                                          </p:val>
                                        </p:tav>
                                        <p:tav tm="100000">
                                          <p:val>
                                            <p:strVal val="#ppt_h"/>
                                          </p:val>
                                        </p:tav>
                                      </p:tavLst>
                                    </p:anim>
                                    <p:animEffect transition="in" filter="fade">
                                      <p:cBhvr>
                                        <p:cTn id="77" dur="500"/>
                                        <p:tgtEl>
                                          <p:spTgt spid="60"/>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62"/>
                                        </p:tgtEl>
                                        <p:attrNameLst>
                                          <p:attrName>style.visibility</p:attrName>
                                        </p:attrNameLst>
                                      </p:cBhvr>
                                      <p:to>
                                        <p:strVal val="visible"/>
                                      </p:to>
                                    </p:set>
                                    <p:anim calcmode="lin" valueType="num">
                                      <p:cBhvr>
                                        <p:cTn id="82" dur="500" fill="hold"/>
                                        <p:tgtEl>
                                          <p:spTgt spid="62"/>
                                        </p:tgtEl>
                                        <p:attrNameLst>
                                          <p:attrName>ppt_w</p:attrName>
                                        </p:attrNameLst>
                                      </p:cBhvr>
                                      <p:tavLst>
                                        <p:tav tm="0">
                                          <p:val>
                                            <p:fltVal val="0"/>
                                          </p:val>
                                        </p:tav>
                                        <p:tav tm="100000">
                                          <p:val>
                                            <p:strVal val="#ppt_w"/>
                                          </p:val>
                                        </p:tav>
                                      </p:tavLst>
                                    </p:anim>
                                    <p:anim calcmode="lin" valueType="num">
                                      <p:cBhvr>
                                        <p:cTn id="83" dur="500" fill="hold"/>
                                        <p:tgtEl>
                                          <p:spTgt spid="62"/>
                                        </p:tgtEl>
                                        <p:attrNameLst>
                                          <p:attrName>ppt_h</p:attrName>
                                        </p:attrNameLst>
                                      </p:cBhvr>
                                      <p:tavLst>
                                        <p:tav tm="0">
                                          <p:val>
                                            <p:fltVal val="0"/>
                                          </p:val>
                                        </p:tav>
                                        <p:tav tm="100000">
                                          <p:val>
                                            <p:strVal val="#ppt_h"/>
                                          </p:val>
                                        </p:tav>
                                      </p:tavLst>
                                    </p:anim>
                                    <p:animEffect transition="in" filter="fade">
                                      <p:cBhvr>
                                        <p:cTn id="84" dur="500"/>
                                        <p:tgtEl>
                                          <p:spTgt spid="62"/>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73"/>
                                        </p:tgtEl>
                                        <p:attrNameLst>
                                          <p:attrName>style.visibility</p:attrName>
                                        </p:attrNameLst>
                                      </p:cBhvr>
                                      <p:to>
                                        <p:strVal val="visible"/>
                                      </p:to>
                                    </p:set>
                                    <p:anim calcmode="lin" valueType="num">
                                      <p:cBhvr>
                                        <p:cTn id="87" dur="500" fill="hold"/>
                                        <p:tgtEl>
                                          <p:spTgt spid="73"/>
                                        </p:tgtEl>
                                        <p:attrNameLst>
                                          <p:attrName>ppt_w</p:attrName>
                                        </p:attrNameLst>
                                      </p:cBhvr>
                                      <p:tavLst>
                                        <p:tav tm="0">
                                          <p:val>
                                            <p:fltVal val="0"/>
                                          </p:val>
                                        </p:tav>
                                        <p:tav tm="100000">
                                          <p:val>
                                            <p:strVal val="#ppt_w"/>
                                          </p:val>
                                        </p:tav>
                                      </p:tavLst>
                                    </p:anim>
                                    <p:anim calcmode="lin" valueType="num">
                                      <p:cBhvr>
                                        <p:cTn id="88" dur="500" fill="hold"/>
                                        <p:tgtEl>
                                          <p:spTgt spid="73"/>
                                        </p:tgtEl>
                                        <p:attrNameLst>
                                          <p:attrName>ppt_h</p:attrName>
                                        </p:attrNameLst>
                                      </p:cBhvr>
                                      <p:tavLst>
                                        <p:tav tm="0">
                                          <p:val>
                                            <p:fltVal val="0"/>
                                          </p:val>
                                        </p:tav>
                                        <p:tav tm="100000">
                                          <p:val>
                                            <p:strVal val="#ppt_h"/>
                                          </p:val>
                                        </p:tav>
                                      </p:tavLst>
                                    </p:anim>
                                    <p:animEffect transition="in" filter="fade">
                                      <p:cBhvr>
                                        <p:cTn id="89" dur="500"/>
                                        <p:tgtEl>
                                          <p:spTgt spid="73"/>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72"/>
                                        </p:tgtEl>
                                        <p:attrNameLst>
                                          <p:attrName>style.visibility</p:attrName>
                                        </p:attrNameLst>
                                      </p:cBhvr>
                                      <p:to>
                                        <p:strVal val="visible"/>
                                      </p:to>
                                    </p:set>
                                    <p:anim calcmode="lin" valueType="num">
                                      <p:cBhvr>
                                        <p:cTn id="92" dur="500" fill="hold"/>
                                        <p:tgtEl>
                                          <p:spTgt spid="72"/>
                                        </p:tgtEl>
                                        <p:attrNameLst>
                                          <p:attrName>ppt_w</p:attrName>
                                        </p:attrNameLst>
                                      </p:cBhvr>
                                      <p:tavLst>
                                        <p:tav tm="0">
                                          <p:val>
                                            <p:fltVal val="0"/>
                                          </p:val>
                                        </p:tav>
                                        <p:tav tm="100000">
                                          <p:val>
                                            <p:strVal val="#ppt_w"/>
                                          </p:val>
                                        </p:tav>
                                      </p:tavLst>
                                    </p:anim>
                                    <p:anim calcmode="lin" valueType="num">
                                      <p:cBhvr>
                                        <p:cTn id="93" dur="500" fill="hold"/>
                                        <p:tgtEl>
                                          <p:spTgt spid="72"/>
                                        </p:tgtEl>
                                        <p:attrNameLst>
                                          <p:attrName>ppt_h</p:attrName>
                                        </p:attrNameLst>
                                      </p:cBhvr>
                                      <p:tavLst>
                                        <p:tav tm="0">
                                          <p:val>
                                            <p:fltVal val="0"/>
                                          </p:val>
                                        </p:tav>
                                        <p:tav tm="100000">
                                          <p:val>
                                            <p:strVal val="#ppt_h"/>
                                          </p:val>
                                        </p:tav>
                                      </p:tavLst>
                                    </p:anim>
                                    <p:animEffect transition="in" filter="fade">
                                      <p:cBhvr>
                                        <p:cTn id="94" dur="500"/>
                                        <p:tgtEl>
                                          <p:spTgt spid="72"/>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nodeType="clickEffect">
                                  <p:stCondLst>
                                    <p:cond delay="0"/>
                                  </p:stCondLst>
                                  <p:childTnLst>
                                    <p:set>
                                      <p:cBhvr>
                                        <p:cTn id="98" dur="1" fill="hold">
                                          <p:stCondLst>
                                            <p:cond delay="0"/>
                                          </p:stCondLst>
                                        </p:cTn>
                                        <p:tgtEl>
                                          <p:spTgt spid="61"/>
                                        </p:tgtEl>
                                        <p:attrNameLst>
                                          <p:attrName>style.visibility</p:attrName>
                                        </p:attrNameLst>
                                      </p:cBhvr>
                                      <p:to>
                                        <p:strVal val="visible"/>
                                      </p:to>
                                    </p:set>
                                    <p:anim calcmode="lin" valueType="num">
                                      <p:cBhvr>
                                        <p:cTn id="99" dur="500" fill="hold"/>
                                        <p:tgtEl>
                                          <p:spTgt spid="61"/>
                                        </p:tgtEl>
                                        <p:attrNameLst>
                                          <p:attrName>ppt_w</p:attrName>
                                        </p:attrNameLst>
                                      </p:cBhvr>
                                      <p:tavLst>
                                        <p:tav tm="0">
                                          <p:val>
                                            <p:fltVal val="0"/>
                                          </p:val>
                                        </p:tav>
                                        <p:tav tm="100000">
                                          <p:val>
                                            <p:strVal val="#ppt_w"/>
                                          </p:val>
                                        </p:tav>
                                      </p:tavLst>
                                    </p:anim>
                                    <p:anim calcmode="lin" valueType="num">
                                      <p:cBhvr>
                                        <p:cTn id="100" dur="500" fill="hold"/>
                                        <p:tgtEl>
                                          <p:spTgt spid="61"/>
                                        </p:tgtEl>
                                        <p:attrNameLst>
                                          <p:attrName>ppt_h</p:attrName>
                                        </p:attrNameLst>
                                      </p:cBhvr>
                                      <p:tavLst>
                                        <p:tav tm="0">
                                          <p:val>
                                            <p:fltVal val="0"/>
                                          </p:val>
                                        </p:tav>
                                        <p:tav tm="100000">
                                          <p:val>
                                            <p:strVal val="#ppt_h"/>
                                          </p:val>
                                        </p:tav>
                                      </p:tavLst>
                                    </p:anim>
                                    <p:animEffect transition="in" filter="fade">
                                      <p:cBhvr>
                                        <p:cTn id="101" dur="500"/>
                                        <p:tgtEl>
                                          <p:spTgt spid="61"/>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63"/>
                                        </p:tgtEl>
                                        <p:attrNameLst>
                                          <p:attrName>style.visibility</p:attrName>
                                        </p:attrNameLst>
                                      </p:cBhvr>
                                      <p:to>
                                        <p:strVal val="visible"/>
                                      </p:to>
                                    </p:set>
                                    <p:anim calcmode="lin" valueType="num">
                                      <p:cBhvr>
                                        <p:cTn id="104" dur="500" fill="hold"/>
                                        <p:tgtEl>
                                          <p:spTgt spid="63"/>
                                        </p:tgtEl>
                                        <p:attrNameLst>
                                          <p:attrName>ppt_w</p:attrName>
                                        </p:attrNameLst>
                                      </p:cBhvr>
                                      <p:tavLst>
                                        <p:tav tm="0">
                                          <p:val>
                                            <p:fltVal val="0"/>
                                          </p:val>
                                        </p:tav>
                                        <p:tav tm="100000">
                                          <p:val>
                                            <p:strVal val="#ppt_w"/>
                                          </p:val>
                                        </p:tav>
                                      </p:tavLst>
                                    </p:anim>
                                    <p:anim calcmode="lin" valueType="num">
                                      <p:cBhvr>
                                        <p:cTn id="105" dur="500" fill="hold"/>
                                        <p:tgtEl>
                                          <p:spTgt spid="63"/>
                                        </p:tgtEl>
                                        <p:attrNameLst>
                                          <p:attrName>ppt_h</p:attrName>
                                        </p:attrNameLst>
                                      </p:cBhvr>
                                      <p:tavLst>
                                        <p:tav tm="0">
                                          <p:val>
                                            <p:fltVal val="0"/>
                                          </p:val>
                                        </p:tav>
                                        <p:tav tm="100000">
                                          <p:val>
                                            <p:strVal val="#ppt_h"/>
                                          </p:val>
                                        </p:tav>
                                      </p:tavLst>
                                    </p:anim>
                                    <p:animEffect transition="in" filter="fade">
                                      <p:cBhvr>
                                        <p:cTn id="106" dur="500"/>
                                        <p:tgtEl>
                                          <p:spTgt spid="63"/>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65"/>
                                        </p:tgtEl>
                                        <p:attrNameLst>
                                          <p:attrName>style.visibility</p:attrName>
                                        </p:attrNameLst>
                                      </p:cBhvr>
                                      <p:to>
                                        <p:strVal val="visible"/>
                                      </p:to>
                                    </p:set>
                                    <p:anim calcmode="lin" valueType="num">
                                      <p:cBhvr>
                                        <p:cTn id="109" dur="500" fill="hold"/>
                                        <p:tgtEl>
                                          <p:spTgt spid="65"/>
                                        </p:tgtEl>
                                        <p:attrNameLst>
                                          <p:attrName>ppt_w</p:attrName>
                                        </p:attrNameLst>
                                      </p:cBhvr>
                                      <p:tavLst>
                                        <p:tav tm="0">
                                          <p:val>
                                            <p:fltVal val="0"/>
                                          </p:val>
                                        </p:tav>
                                        <p:tav tm="100000">
                                          <p:val>
                                            <p:strVal val="#ppt_w"/>
                                          </p:val>
                                        </p:tav>
                                      </p:tavLst>
                                    </p:anim>
                                    <p:anim calcmode="lin" valueType="num">
                                      <p:cBhvr>
                                        <p:cTn id="110" dur="500" fill="hold"/>
                                        <p:tgtEl>
                                          <p:spTgt spid="65"/>
                                        </p:tgtEl>
                                        <p:attrNameLst>
                                          <p:attrName>ppt_h</p:attrName>
                                        </p:attrNameLst>
                                      </p:cBhvr>
                                      <p:tavLst>
                                        <p:tav tm="0">
                                          <p:val>
                                            <p:fltVal val="0"/>
                                          </p:val>
                                        </p:tav>
                                        <p:tav tm="100000">
                                          <p:val>
                                            <p:strVal val="#ppt_h"/>
                                          </p:val>
                                        </p:tav>
                                      </p:tavLst>
                                    </p:anim>
                                    <p:animEffect transition="in" filter="fade">
                                      <p:cBhvr>
                                        <p:cTn id="111" dur="500"/>
                                        <p:tgtEl>
                                          <p:spTgt spid="65"/>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nodeType="clickEffect">
                                  <p:stCondLst>
                                    <p:cond delay="0"/>
                                  </p:stCondLst>
                                  <p:childTnLst>
                                    <p:set>
                                      <p:cBhvr>
                                        <p:cTn id="115" dur="1" fill="hold">
                                          <p:stCondLst>
                                            <p:cond delay="0"/>
                                          </p:stCondLst>
                                        </p:cTn>
                                        <p:tgtEl>
                                          <p:spTgt spid="68"/>
                                        </p:tgtEl>
                                        <p:attrNameLst>
                                          <p:attrName>style.visibility</p:attrName>
                                        </p:attrNameLst>
                                      </p:cBhvr>
                                      <p:to>
                                        <p:strVal val="visible"/>
                                      </p:to>
                                    </p:set>
                                    <p:anim calcmode="lin" valueType="num">
                                      <p:cBhvr>
                                        <p:cTn id="116" dur="500" fill="hold"/>
                                        <p:tgtEl>
                                          <p:spTgt spid="68"/>
                                        </p:tgtEl>
                                        <p:attrNameLst>
                                          <p:attrName>ppt_w</p:attrName>
                                        </p:attrNameLst>
                                      </p:cBhvr>
                                      <p:tavLst>
                                        <p:tav tm="0">
                                          <p:val>
                                            <p:fltVal val="0"/>
                                          </p:val>
                                        </p:tav>
                                        <p:tav tm="100000">
                                          <p:val>
                                            <p:strVal val="#ppt_w"/>
                                          </p:val>
                                        </p:tav>
                                      </p:tavLst>
                                    </p:anim>
                                    <p:anim calcmode="lin" valueType="num">
                                      <p:cBhvr>
                                        <p:cTn id="117" dur="500" fill="hold"/>
                                        <p:tgtEl>
                                          <p:spTgt spid="68"/>
                                        </p:tgtEl>
                                        <p:attrNameLst>
                                          <p:attrName>ppt_h</p:attrName>
                                        </p:attrNameLst>
                                      </p:cBhvr>
                                      <p:tavLst>
                                        <p:tav tm="0">
                                          <p:val>
                                            <p:fltVal val="0"/>
                                          </p:val>
                                        </p:tav>
                                        <p:tav tm="100000">
                                          <p:val>
                                            <p:strVal val="#ppt_h"/>
                                          </p:val>
                                        </p:tav>
                                      </p:tavLst>
                                    </p:anim>
                                    <p:animEffect transition="in" filter="fade">
                                      <p:cBhvr>
                                        <p:cTn id="118" dur="500"/>
                                        <p:tgtEl>
                                          <p:spTgt spid="68"/>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70"/>
                                        </p:tgtEl>
                                        <p:attrNameLst>
                                          <p:attrName>style.visibility</p:attrName>
                                        </p:attrNameLst>
                                      </p:cBhvr>
                                      <p:to>
                                        <p:strVal val="visible"/>
                                      </p:to>
                                    </p:set>
                                    <p:anim calcmode="lin" valueType="num">
                                      <p:cBhvr>
                                        <p:cTn id="121" dur="500" fill="hold"/>
                                        <p:tgtEl>
                                          <p:spTgt spid="70"/>
                                        </p:tgtEl>
                                        <p:attrNameLst>
                                          <p:attrName>ppt_w</p:attrName>
                                        </p:attrNameLst>
                                      </p:cBhvr>
                                      <p:tavLst>
                                        <p:tav tm="0">
                                          <p:val>
                                            <p:fltVal val="0"/>
                                          </p:val>
                                        </p:tav>
                                        <p:tav tm="100000">
                                          <p:val>
                                            <p:strVal val="#ppt_w"/>
                                          </p:val>
                                        </p:tav>
                                      </p:tavLst>
                                    </p:anim>
                                    <p:anim calcmode="lin" valueType="num">
                                      <p:cBhvr>
                                        <p:cTn id="122" dur="500" fill="hold"/>
                                        <p:tgtEl>
                                          <p:spTgt spid="70"/>
                                        </p:tgtEl>
                                        <p:attrNameLst>
                                          <p:attrName>ppt_h</p:attrName>
                                        </p:attrNameLst>
                                      </p:cBhvr>
                                      <p:tavLst>
                                        <p:tav tm="0">
                                          <p:val>
                                            <p:fltVal val="0"/>
                                          </p:val>
                                        </p:tav>
                                        <p:tav tm="100000">
                                          <p:val>
                                            <p:strVal val="#ppt_h"/>
                                          </p:val>
                                        </p:tav>
                                      </p:tavLst>
                                    </p:anim>
                                    <p:animEffect transition="in" filter="fade">
                                      <p:cBhvr>
                                        <p:cTn id="123" dur="500"/>
                                        <p:tgtEl>
                                          <p:spTgt spid="70"/>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66"/>
                                        </p:tgtEl>
                                        <p:attrNameLst>
                                          <p:attrName>style.visibility</p:attrName>
                                        </p:attrNameLst>
                                      </p:cBhvr>
                                      <p:to>
                                        <p:strVal val="visible"/>
                                      </p:to>
                                    </p:set>
                                    <p:anim calcmode="lin" valueType="num">
                                      <p:cBhvr>
                                        <p:cTn id="126" dur="500" fill="hold"/>
                                        <p:tgtEl>
                                          <p:spTgt spid="66"/>
                                        </p:tgtEl>
                                        <p:attrNameLst>
                                          <p:attrName>ppt_w</p:attrName>
                                        </p:attrNameLst>
                                      </p:cBhvr>
                                      <p:tavLst>
                                        <p:tav tm="0">
                                          <p:val>
                                            <p:fltVal val="0"/>
                                          </p:val>
                                        </p:tav>
                                        <p:tav tm="100000">
                                          <p:val>
                                            <p:strVal val="#ppt_w"/>
                                          </p:val>
                                        </p:tav>
                                      </p:tavLst>
                                    </p:anim>
                                    <p:anim calcmode="lin" valueType="num">
                                      <p:cBhvr>
                                        <p:cTn id="127" dur="500" fill="hold"/>
                                        <p:tgtEl>
                                          <p:spTgt spid="66"/>
                                        </p:tgtEl>
                                        <p:attrNameLst>
                                          <p:attrName>ppt_h</p:attrName>
                                        </p:attrNameLst>
                                      </p:cBhvr>
                                      <p:tavLst>
                                        <p:tav tm="0">
                                          <p:val>
                                            <p:fltVal val="0"/>
                                          </p:val>
                                        </p:tav>
                                        <p:tav tm="100000">
                                          <p:val>
                                            <p:strVal val="#ppt_h"/>
                                          </p:val>
                                        </p:tav>
                                      </p:tavLst>
                                    </p:anim>
                                    <p:animEffect transition="in" filter="fade">
                                      <p:cBhvr>
                                        <p:cTn id="128" dur="500"/>
                                        <p:tgtEl>
                                          <p:spTgt spid="66"/>
                                        </p:tgtEl>
                                      </p:cBhvr>
                                    </p:animEffect>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nodeType="clickEffect">
                                  <p:stCondLst>
                                    <p:cond delay="0"/>
                                  </p:stCondLst>
                                  <p:childTnLst>
                                    <p:set>
                                      <p:cBhvr>
                                        <p:cTn id="132" dur="1" fill="hold">
                                          <p:stCondLst>
                                            <p:cond delay="0"/>
                                          </p:stCondLst>
                                        </p:cTn>
                                        <p:tgtEl>
                                          <p:spTgt spid="69"/>
                                        </p:tgtEl>
                                        <p:attrNameLst>
                                          <p:attrName>style.visibility</p:attrName>
                                        </p:attrNameLst>
                                      </p:cBhvr>
                                      <p:to>
                                        <p:strVal val="visible"/>
                                      </p:to>
                                    </p:set>
                                    <p:anim calcmode="lin" valueType="num">
                                      <p:cBhvr>
                                        <p:cTn id="133" dur="500" fill="hold"/>
                                        <p:tgtEl>
                                          <p:spTgt spid="69"/>
                                        </p:tgtEl>
                                        <p:attrNameLst>
                                          <p:attrName>ppt_w</p:attrName>
                                        </p:attrNameLst>
                                      </p:cBhvr>
                                      <p:tavLst>
                                        <p:tav tm="0">
                                          <p:val>
                                            <p:fltVal val="0"/>
                                          </p:val>
                                        </p:tav>
                                        <p:tav tm="100000">
                                          <p:val>
                                            <p:strVal val="#ppt_w"/>
                                          </p:val>
                                        </p:tav>
                                      </p:tavLst>
                                    </p:anim>
                                    <p:anim calcmode="lin" valueType="num">
                                      <p:cBhvr>
                                        <p:cTn id="134" dur="500" fill="hold"/>
                                        <p:tgtEl>
                                          <p:spTgt spid="69"/>
                                        </p:tgtEl>
                                        <p:attrNameLst>
                                          <p:attrName>ppt_h</p:attrName>
                                        </p:attrNameLst>
                                      </p:cBhvr>
                                      <p:tavLst>
                                        <p:tav tm="0">
                                          <p:val>
                                            <p:fltVal val="0"/>
                                          </p:val>
                                        </p:tav>
                                        <p:tav tm="100000">
                                          <p:val>
                                            <p:strVal val="#ppt_h"/>
                                          </p:val>
                                        </p:tav>
                                      </p:tavLst>
                                    </p:anim>
                                    <p:animEffect transition="in" filter="fade">
                                      <p:cBhvr>
                                        <p:cTn id="135" dur="500"/>
                                        <p:tgtEl>
                                          <p:spTgt spid="69"/>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71"/>
                                        </p:tgtEl>
                                        <p:attrNameLst>
                                          <p:attrName>style.visibility</p:attrName>
                                        </p:attrNameLst>
                                      </p:cBhvr>
                                      <p:to>
                                        <p:strVal val="visible"/>
                                      </p:to>
                                    </p:set>
                                    <p:anim calcmode="lin" valueType="num">
                                      <p:cBhvr>
                                        <p:cTn id="138" dur="500" fill="hold"/>
                                        <p:tgtEl>
                                          <p:spTgt spid="71"/>
                                        </p:tgtEl>
                                        <p:attrNameLst>
                                          <p:attrName>ppt_w</p:attrName>
                                        </p:attrNameLst>
                                      </p:cBhvr>
                                      <p:tavLst>
                                        <p:tav tm="0">
                                          <p:val>
                                            <p:fltVal val="0"/>
                                          </p:val>
                                        </p:tav>
                                        <p:tav tm="100000">
                                          <p:val>
                                            <p:strVal val="#ppt_w"/>
                                          </p:val>
                                        </p:tav>
                                      </p:tavLst>
                                    </p:anim>
                                    <p:anim calcmode="lin" valueType="num">
                                      <p:cBhvr>
                                        <p:cTn id="139" dur="500" fill="hold"/>
                                        <p:tgtEl>
                                          <p:spTgt spid="71"/>
                                        </p:tgtEl>
                                        <p:attrNameLst>
                                          <p:attrName>ppt_h</p:attrName>
                                        </p:attrNameLst>
                                      </p:cBhvr>
                                      <p:tavLst>
                                        <p:tav tm="0">
                                          <p:val>
                                            <p:fltVal val="0"/>
                                          </p:val>
                                        </p:tav>
                                        <p:tav tm="100000">
                                          <p:val>
                                            <p:strVal val="#ppt_h"/>
                                          </p:val>
                                        </p:tav>
                                      </p:tavLst>
                                    </p:anim>
                                    <p:animEffect transition="in" filter="fade">
                                      <p:cBhvr>
                                        <p:cTn id="140" dur="500"/>
                                        <p:tgtEl>
                                          <p:spTgt spid="71"/>
                                        </p:tgtEl>
                                      </p:cBhvr>
                                    </p:animEffect>
                                  </p:childTnLst>
                                </p:cTn>
                              </p:par>
                              <p:par>
                                <p:cTn id="141" presetID="53" presetClass="entr" presetSubtype="16" fill="hold" grpId="0" nodeType="withEffect">
                                  <p:stCondLst>
                                    <p:cond delay="0"/>
                                  </p:stCondLst>
                                  <p:childTnLst>
                                    <p:set>
                                      <p:cBhvr>
                                        <p:cTn id="142" dur="1" fill="hold">
                                          <p:stCondLst>
                                            <p:cond delay="0"/>
                                          </p:stCondLst>
                                        </p:cTn>
                                        <p:tgtEl>
                                          <p:spTgt spid="67"/>
                                        </p:tgtEl>
                                        <p:attrNameLst>
                                          <p:attrName>style.visibility</p:attrName>
                                        </p:attrNameLst>
                                      </p:cBhvr>
                                      <p:to>
                                        <p:strVal val="visible"/>
                                      </p:to>
                                    </p:set>
                                    <p:anim calcmode="lin" valueType="num">
                                      <p:cBhvr>
                                        <p:cTn id="143" dur="500" fill="hold"/>
                                        <p:tgtEl>
                                          <p:spTgt spid="67"/>
                                        </p:tgtEl>
                                        <p:attrNameLst>
                                          <p:attrName>ppt_w</p:attrName>
                                        </p:attrNameLst>
                                      </p:cBhvr>
                                      <p:tavLst>
                                        <p:tav tm="0">
                                          <p:val>
                                            <p:fltVal val="0"/>
                                          </p:val>
                                        </p:tav>
                                        <p:tav tm="100000">
                                          <p:val>
                                            <p:strVal val="#ppt_w"/>
                                          </p:val>
                                        </p:tav>
                                      </p:tavLst>
                                    </p:anim>
                                    <p:anim calcmode="lin" valueType="num">
                                      <p:cBhvr>
                                        <p:cTn id="144" dur="500" fill="hold"/>
                                        <p:tgtEl>
                                          <p:spTgt spid="67"/>
                                        </p:tgtEl>
                                        <p:attrNameLst>
                                          <p:attrName>ppt_h</p:attrName>
                                        </p:attrNameLst>
                                      </p:cBhvr>
                                      <p:tavLst>
                                        <p:tav tm="0">
                                          <p:val>
                                            <p:fltVal val="0"/>
                                          </p:val>
                                        </p:tav>
                                        <p:tav tm="100000">
                                          <p:val>
                                            <p:strVal val="#ppt_h"/>
                                          </p:val>
                                        </p:tav>
                                      </p:tavLst>
                                    </p:anim>
                                    <p:animEffect transition="in" filter="fade">
                                      <p:cBhvr>
                                        <p:cTn id="145" dur="500"/>
                                        <p:tgtEl>
                                          <p:spTgt spid="67"/>
                                        </p:tgtEl>
                                      </p:cBhvr>
                                    </p:animEffect>
                                  </p:childTnLst>
                                </p:cTn>
                              </p:par>
                              <p:par>
                                <p:cTn id="146" presetID="22" presetClass="entr" presetSubtype="4" fill="hold" nodeType="withEffect">
                                  <p:stCondLst>
                                    <p:cond delay="0"/>
                                  </p:stCondLst>
                                  <p:childTnLst>
                                    <p:set>
                                      <p:cBhvr>
                                        <p:cTn id="147" dur="1" fill="hold">
                                          <p:stCondLst>
                                            <p:cond delay="0"/>
                                          </p:stCondLst>
                                        </p:cTn>
                                        <p:tgtEl>
                                          <p:spTgt spid="101"/>
                                        </p:tgtEl>
                                        <p:attrNameLst>
                                          <p:attrName>style.visibility</p:attrName>
                                        </p:attrNameLst>
                                      </p:cBhvr>
                                      <p:to>
                                        <p:strVal val="visible"/>
                                      </p:to>
                                    </p:set>
                                    <p:animEffect transition="in" filter="wipe(down)">
                                      <p:cBhvr>
                                        <p:cTn id="148" dur="500"/>
                                        <p:tgtEl>
                                          <p:spTgt spid="101"/>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nodeType="clickEffect">
                                  <p:stCondLst>
                                    <p:cond delay="0"/>
                                  </p:stCondLst>
                                  <p:childTnLst>
                                    <p:set>
                                      <p:cBhvr>
                                        <p:cTn id="152" dur="1" fill="hold">
                                          <p:stCondLst>
                                            <p:cond delay="0"/>
                                          </p:stCondLst>
                                        </p:cTn>
                                        <p:tgtEl>
                                          <p:spTgt spid="102"/>
                                        </p:tgtEl>
                                        <p:attrNameLst>
                                          <p:attrName>style.visibility</p:attrName>
                                        </p:attrNameLst>
                                      </p:cBhvr>
                                      <p:to>
                                        <p:strVal val="visible"/>
                                      </p:to>
                                    </p:set>
                                    <p:animEffect transition="in" filter="wipe(down)">
                                      <p:cBhvr>
                                        <p:cTn id="153" dur="500"/>
                                        <p:tgtEl>
                                          <p:spTgt spid="102"/>
                                        </p:tgtEl>
                                      </p:cBhvr>
                                    </p:animEffect>
                                  </p:childTnLst>
                                </p:cTn>
                              </p:par>
                              <p:par>
                                <p:cTn id="154" presetID="22" presetClass="entr" presetSubtype="4" fill="hold" nodeType="withEffect">
                                  <p:stCondLst>
                                    <p:cond delay="0"/>
                                  </p:stCondLst>
                                  <p:childTnLst>
                                    <p:set>
                                      <p:cBhvr>
                                        <p:cTn id="155" dur="1" fill="hold">
                                          <p:stCondLst>
                                            <p:cond delay="0"/>
                                          </p:stCondLst>
                                        </p:cTn>
                                        <p:tgtEl>
                                          <p:spTgt spid="104"/>
                                        </p:tgtEl>
                                        <p:attrNameLst>
                                          <p:attrName>style.visibility</p:attrName>
                                        </p:attrNameLst>
                                      </p:cBhvr>
                                      <p:to>
                                        <p:strVal val="visible"/>
                                      </p:to>
                                    </p:set>
                                    <p:animEffect transition="in" filter="wipe(down)">
                                      <p:cBhvr>
                                        <p:cTn id="156" dur="500"/>
                                        <p:tgtEl>
                                          <p:spTgt spid="104"/>
                                        </p:tgtEl>
                                      </p:cBhvr>
                                    </p:animEffect>
                                  </p:childTnLst>
                                </p:cTn>
                              </p:par>
                              <p:par>
                                <p:cTn id="157" presetID="22" presetClass="entr" presetSubtype="4" fill="hold" nodeType="withEffect">
                                  <p:stCondLst>
                                    <p:cond delay="0"/>
                                  </p:stCondLst>
                                  <p:childTnLst>
                                    <p:set>
                                      <p:cBhvr>
                                        <p:cTn id="158" dur="1" fill="hold">
                                          <p:stCondLst>
                                            <p:cond delay="0"/>
                                          </p:stCondLst>
                                        </p:cTn>
                                        <p:tgtEl>
                                          <p:spTgt spid="35"/>
                                        </p:tgtEl>
                                        <p:attrNameLst>
                                          <p:attrName>style.visibility</p:attrName>
                                        </p:attrNameLst>
                                      </p:cBhvr>
                                      <p:to>
                                        <p:strVal val="visible"/>
                                      </p:to>
                                    </p:set>
                                    <p:animEffect transition="in" filter="wipe(down)">
                                      <p:cBhvr>
                                        <p:cTn id="159" dur="500"/>
                                        <p:tgtEl>
                                          <p:spTgt spid="35"/>
                                        </p:tgtEl>
                                      </p:cBhvr>
                                    </p:animEffect>
                                  </p:childTnLst>
                                </p:cTn>
                              </p:par>
                              <p:par>
                                <p:cTn id="160" presetID="22" presetClass="entr" presetSubtype="4" fill="hold" grpId="0" nodeType="withEffect">
                                  <p:stCondLst>
                                    <p:cond delay="0"/>
                                  </p:stCondLst>
                                  <p:childTnLst>
                                    <p:set>
                                      <p:cBhvr>
                                        <p:cTn id="161" dur="1" fill="hold">
                                          <p:stCondLst>
                                            <p:cond delay="0"/>
                                          </p:stCondLst>
                                        </p:cTn>
                                        <p:tgtEl>
                                          <p:spTgt spid="39"/>
                                        </p:tgtEl>
                                        <p:attrNameLst>
                                          <p:attrName>style.visibility</p:attrName>
                                        </p:attrNameLst>
                                      </p:cBhvr>
                                      <p:to>
                                        <p:strVal val="visible"/>
                                      </p:to>
                                    </p:set>
                                    <p:animEffect transition="in" filter="wipe(down)">
                                      <p:cBhvr>
                                        <p:cTn id="162" dur="500"/>
                                        <p:tgtEl>
                                          <p:spTgt spid="39"/>
                                        </p:tgtEl>
                                      </p:cBhvr>
                                    </p:animEffect>
                                  </p:childTnLst>
                                </p:cTn>
                              </p:par>
                              <p:par>
                                <p:cTn id="163" presetID="22" presetClass="entr" presetSubtype="4" fill="hold" grpId="0" nodeType="withEffect">
                                  <p:stCondLst>
                                    <p:cond delay="0"/>
                                  </p:stCondLst>
                                  <p:childTnLst>
                                    <p:set>
                                      <p:cBhvr>
                                        <p:cTn id="164" dur="1" fill="hold">
                                          <p:stCondLst>
                                            <p:cond delay="0"/>
                                          </p:stCondLst>
                                        </p:cTn>
                                        <p:tgtEl>
                                          <p:spTgt spid="41"/>
                                        </p:tgtEl>
                                        <p:attrNameLst>
                                          <p:attrName>style.visibility</p:attrName>
                                        </p:attrNameLst>
                                      </p:cBhvr>
                                      <p:to>
                                        <p:strVal val="visible"/>
                                      </p:to>
                                    </p:set>
                                    <p:animEffect transition="in" filter="wipe(down)">
                                      <p:cBhvr>
                                        <p:cTn id="16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8" grpId="0" animBg="1"/>
      <p:bldP spid="53" grpId="0" animBg="1"/>
      <p:bldP spid="54" grpId="0" animBg="1"/>
      <p:bldP spid="56" grpId="0" animBg="1"/>
      <p:bldP spid="57" grpId="0" animBg="1"/>
      <p:bldP spid="59" grpId="0" animBg="1"/>
      <p:bldP spid="60" grpId="0" animBg="1"/>
      <p:bldP spid="63" grpId="0" animBg="1"/>
      <p:bldP spid="65" grpId="0" animBg="1"/>
      <p:bldP spid="66" grpId="0" animBg="1"/>
      <p:bldP spid="67" grpId="0" animBg="1"/>
      <p:bldP spid="70" grpId="0" animBg="1"/>
      <p:bldP spid="71" grpId="0" animBg="1"/>
      <p:bldP spid="72" grpId="0" animBg="1"/>
      <p:bldP spid="73" grpId="0" animBg="1"/>
      <p:bldP spid="39"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2553" y="-17496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grpSp>
        <p:nvGrpSpPr>
          <p:cNvPr id="30" name="Group 4">
            <a:extLst>
              <a:ext uri="{FF2B5EF4-FFF2-40B4-BE49-F238E27FC236}">
                <a16:creationId xmlns:a16="http://schemas.microsoft.com/office/drawing/2014/main" id="{70A643AE-B36A-489A-991C-64FD5DAFE8D9}"/>
              </a:ext>
            </a:extLst>
          </p:cNvPr>
          <p:cNvGrpSpPr>
            <a:grpSpLocks/>
          </p:cNvGrpSpPr>
          <p:nvPr/>
        </p:nvGrpSpPr>
        <p:grpSpPr bwMode="auto">
          <a:xfrm>
            <a:off x="550442" y="1591320"/>
            <a:ext cx="2447925" cy="3744912"/>
            <a:chOff x="0" y="0"/>
            <a:chExt cx="3600" cy="3600"/>
          </a:xfrm>
        </p:grpSpPr>
        <p:sp>
          <p:nvSpPr>
            <p:cNvPr id="31" name="Rectangle 4">
              <a:extLst>
                <a:ext uri="{FF2B5EF4-FFF2-40B4-BE49-F238E27FC236}">
                  <a16:creationId xmlns:a16="http://schemas.microsoft.com/office/drawing/2014/main" id="{40CA6B1D-7B57-4C98-B156-6B9E17F497C4}"/>
                </a:ext>
              </a:extLst>
            </p:cNvPr>
            <p:cNvSpPr>
              <a:spLocks noChangeArrowheads="1"/>
            </p:cNvSpPr>
            <p:nvPr/>
          </p:nvSpPr>
          <p:spPr bwMode="auto">
            <a:xfrm>
              <a:off x="0" y="0"/>
              <a:ext cx="3600" cy="3600"/>
            </a:xfrm>
            <a:prstGeom prst="rect">
              <a:avLst/>
            </a:prstGeom>
            <a:noFill/>
            <a:ln w="9525" cmpd="sng">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32" name="Oval 5">
              <a:extLst>
                <a:ext uri="{FF2B5EF4-FFF2-40B4-BE49-F238E27FC236}">
                  <a16:creationId xmlns:a16="http://schemas.microsoft.com/office/drawing/2014/main" id="{58F1E0E1-E9B6-46CF-A442-FB7576259703}"/>
                </a:ext>
              </a:extLst>
            </p:cNvPr>
            <p:cNvSpPr>
              <a:spLocks noChangeArrowheads="1"/>
            </p:cNvSpPr>
            <p:nvPr/>
          </p:nvSpPr>
          <p:spPr bwMode="auto">
            <a:xfrm>
              <a:off x="1440" y="18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33" name="Line 6">
              <a:extLst>
                <a:ext uri="{FF2B5EF4-FFF2-40B4-BE49-F238E27FC236}">
                  <a16:creationId xmlns:a16="http://schemas.microsoft.com/office/drawing/2014/main" id="{DF6762E1-367F-41D0-9DCF-78D8C9A1FE99}"/>
                </a:ext>
              </a:extLst>
            </p:cNvPr>
            <p:cNvSpPr>
              <a:spLocks noChangeShapeType="1"/>
            </p:cNvSpPr>
            <p:nvPr/>
          </p:nvSpPr>
          <p:spPr bwMode="auto">
            <a:xfrm flipH="1">
              <a:off x="1080" y="360"/>
              <a:ext cx="36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34" name="Line 7">
              <a:extLst>
                <a:ext uri="{FF2B5EF4-FFF2-40B4-BE49-F238E27FC236}">
                  <a16:creationId xmlns:a16="http://schemas.microsoft.com/office/drawing/2014/main" id="{AF66DCF7-DEA3-400A-8CBA-282426B9057A}"/>
                </a:ext>
              </a:extLst>
            </p:cNvPr>
            <p:cNvSpPr>
              <a:spLocks noChangeShapeType="1"/>
            </p:cNvSpPr>
            <p:nvPr/>
          </p:nvSpPr>
          <p:spPr bwMode="auto">
            <a:xfrm>
              <a:off x="1620" y="360"/>
              <a:ext cx="36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35" name="Oval 8">
              <a:extLst>
                <a:ext uri="{FF2B5EF4-FFF2-40B4-BE49-F238E27FC236}">
                  <a16:creationId xmlns:a16="http://schemas.microsoft.com/office/drawing/2014/main" id="{B8442768-16F7-4A9A-9DC5-A9A960CF28FE}"/>
                </a:ext>
              </a:extLst>
            </p:cNvPr>
            <p:cNvSpPr>
              <a:spLocks noChangeArrowheads="1"/>
            </p:cNvSpPr>
            <p:nvPr/>
          </p:nvSpPr>
          <p:spPr bwMode="auto">
            <a:xfrm>
              <a:off x="900" y="72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36" name="Line 9">
              <a:extLst>
                <a:ext uri="{FF2B5EF4-FFF2-40B4-BE49-F238E27FC236}">
                  <a16:creationId xmlns:a16="http://schemas.microsoft.com/office/drawing/2014/main" id="{A2530FCF-3142-4413-A731-E9F8AD08A4EC}"/>
                </a:ext>
              </a:extLst>
            </p:cNvPr>
            <p:cNvSpPr>
              <a:spLocks noChangeShapeType="1"/>
            </p:cNvSpPr>
            <p:nvPr/>
          </p:nvSpPr>
          <p:spPr bwMode="auto">
            <a:xfrm flipH="1">
              <a:off x="540" y="900"/>
              <a:ext cx="36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39" name="Line 10">
              <a:extLst>
                <a:ext uri="{FF2B5EF4-FFF2-40B4-BE49-F238E27FC236}">
                  <a16:creationId xmlns:a16="http://schemas.microsoft.com/office/drawing/2014/main" id="{FAFE487E-D309-4196-B4E3-E67941536CF6}"/>
                </a:ext>
              </a:extLst>
            </p:cNvPr>
            <p:cNvSpPr>
              <a:spLocks noChangeShapeType="1"/>
            </p:cNvSpPr>
            <p:nvPr/>
          </p:nvSpPr>
          <p:spPr bwMode="auto">
            <a:xfrm>
              <a:off x="1080" y="900"/>
              <a:ext cx="18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41" name="Oval 11">
              <a:extLst>
                <a:ext uri="{FF2B5EF4-FFF2-40B4-BE49-F238E27FC236}">
                  <a16:creationId xmlns:a16="http://schemas.microsoft.com/office/drawing/2014/main" id="{26A4B3A9-CCBA-4A65-991F-D3C46984ECF1}"/>
                </a:ext>
              </a:extLst>
            </p:cNvPr>
            <p:cNvSpPr>
              <a:spLocks noChangeArrowheads="1"/>
            </p:cNvSpPr>
            <p:nvPr/>
          </p:nvSpPr>
          <p:spPr bwMode="auto">
            <a:xfrm>
              <a:off x="1980" y="72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42" name="Line 12">
              <a:extLst>
                <a:ext uri="{FF2B5EF4-FFF2-40B4-BE49-F238E27FC236}">
                  <a16:creationId xmlns:a16="http://schemas.microsoft.com/office/drawing/2014/main" id="{001D3B6A-303A-4DD4-ACAA-E4C427F0DF40}"/>
                </a:ext>
              </a:extLst>
            </p:cNvPr>
            <p:cNvSpPr>
              <a:spLocks noChangeShapeType="1"/>
            </p:cNvSpPr>
            <p:nvPr/>
          </p:nvSpPr>
          <p:spPr bwMode="auto">
            <a:xfrm flipH="1">
              <a:off x="1800" y="900"/>
              <a:ext cx="18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44" name="Line 13">
              <a:extLst>
                <a:ext uri="{FF2B5EF4-FFF2-40B4-BE49-F238E27FC236}">
                  <a16:creationId xmlns:a16="http://schemas.microsoft.com/office/drawing/2014/main" id="{C3289142-95EC-47AC-BE70-B713C6ECF23E}"/>
                </a:ext>
              </a:extLst>
            </p:cNvPr>
            <p:cNvSpPr>
              <a:spLocks noChangeShapeType="1"/>
            </p:cNvSpPr>
            <p:nvPr/>
          </p:nvSpPr>
          <p:spPr bwMode="auto">
            <a:xfrm>
              <a:off x="2160" y="900"/>
              <a:ext cx="360" cy="36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45" name="Rectangle 14">
              <a:extLst>
                <a:ext uri="{FF2B5EF4-FFF2-40B4-BE49-F238E27FC236}">
                  <a16:creationId xmlns:a16="http://schemas.microsoft.com/office/drawing/2014/main" id="{12727B20-5A91-47FD-BF5E-B48E477CDACF}"/>
                </a:ext>
              </a:extLst>
            </p:cNvPr>
            <p:cNvSpPr>
              <a:spLocks noChangeArrowheads="1"/>
            </p:cNvSpPr>
            <p:nvPr/>
          </p:nvSpPr>
          <p:spPr bwMode="auto">
            <a:xfrm>
              <a:off x="360" y="126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46" name="Rectangle 15">
              <a:extLst>
                <a:ext uri="{FF2B5EF4-FFF2-40B4-BE49-F238E27FC236}">
                  <a16:creationId xmlns:a16="http://schemas.microsoft.com/office/drawing/2014/main" id="{627DC898-36AB-47ED-AEF7-21C79FC689EA}"/>
                </a:ext>
              </a:extLst>
            </p:cNvPr>
            <p:cNvSpPr>
              <a:spLocks noChangeArrowheads="1"/>
            </p:cNvSpPr>
            <p:nvPr/>
          </p:nvSpPr>
          <p:spPr bwMode="auto">
            <a:xfrm>
              <a:off x="1620" y="126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47" name="Oval 16">
              <a:extLst>
                <a:ext uri="{FF2B5EF4-FFF2-40B4-BE49-F238E27FC236}">
                  <a16:creationId xmlns:a16="http://schemas.microsoft.com/office/drawing/2014/main" id="{A13138A8-EF0F-4A28-AAF0-219893FB6445}"/>
                </a:ext>
              </a:extLst>
            </p:cNvPr>
            <p:cNvSpPr>
              <a:spLocks noChangeArrowheads="1"/>
            </p:cNvSpPr>
            <p:nvPr/>
          </p:nvSpPr>
          <p:spPr bwMode="auto">
            <a:xfrm>
              <a:off x="2340" y="126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49" name="Line 17">
              <a:extLst>
                <a:ext uri="{FF2B5EF4-FFF2-40B4-BE49-F238E27FC236}">
                  <a16:creationId xmlns:a16="http://schemas.microsoft.com/office/drawing/2014/main" id="{C42A7010-D728-4E57-AAA5-28AEF695E272}"/>
                </a:ext>
              </a:extLst>
            </p:cNvPr>
            <p:cNvSpPr>
              <a:spLocks noChangeShapeType="1"/>
            </p:cNvSpPr>
            <p:nvPr/>
          </p:nvSpPr>
          <p:spPr bwMode="auto">
            <a:xfrm flipH="1">
              <a:off x="1980" y="1440"/>
              <a:ext cx="360" cy="54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50" name="Line 18">
              <a:extLst>
                <a:ext uri="{FF2B5EF4-FFF2-40B4-BE49-F238E27FC236}">
                  <a16:creationId xmlns:a16="http://schemas.microsoft.com/office/drawing/2014/main" id="{7124CC6D-9C47-4320-A45C-31AD2C1E15D6}"/>
                </a:ext>
              </a:extLst>
            </p:cNvPr>
            <p:cNvSpPr>
              <a:spLocks noChangeShapeType="1"/>
            </p:cNvSpPr>
            <p:nvPr/>
          </p:nvSpPr>
          <p:spPr bwMode="auto">
            <a:xfrm>
              <a:off x="2520" y="1440"/>
              <a:ext cx="360" cy="54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51" name="Rectangle 19">
              <a:extLst>
                <a:ext uri="{FF2B5EF4-FFF2-40B4-BE49-F238E27FC236}">
                  <a16:creationId xmlns:a16="http://schemas.microsoft.com/office/drawing/2014/main" id="{2682B40E-79A8-4FEF-B510-51454D38AB08}"/>
                </a:ext>
              </a:extLst>
            </p:cNvPr>
            <p:cNvSpPr>
              <a:spLocks noChangeArrowheads="1"/>
            </p:cNvSpPr>
            <p:nvPr/>
          </p:nvSpPr>
          <p:spPr bwMode="auto">
            <a:xfrm>
              <a:off x="1800" y="198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64" name="Oval 20">
              <a:extLst>
                <a:ext uri="{FF2B5EF4-FFF2-40B4-BE49-F238E27FC236}">
                  <a16:creationId xmlns:a16="http://schemas.microsoft.com/office/drawing/2014/main" id="{513A4C1C-1DF6-4CE5-A3A9-AA7C418B6FBB}"/>
                </a:ext>
              </a:extLst>
            </p:cNvPr>
            <p:cNvSpPr>
              <a:spLocks noChangeArrowheads="1"/>
            </p:cNvSpPr>
            <p:nvPr/>
          </p:nvSpPr>
          <p:spPr bwMode="auto">
            <a:xfrm>
              <a:off x="2700" y="198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74" name="Oval 21">
              <a:extLst>
                <a:ext uri="{FF2B5EF4-FFF2-40B4-BE49-F238E27FC236}">
                  <a16:creationId xmlns:a16="http://schemas.microsoft.com/office/drawing/2014/main" id="{BB4773D5-2F9C-423E-9063-3F85AC28F9F7}"/>
                </a:ext>
              </a:extLst>
            </p:cNvPr>
            <p:cNvSpPr>
              <a:spLocks noChangeArrowheads="1"/>
            </p:cNvSpPr>
            <p:nvPr/>
          </p:nvSpPr>
          <p:spPr bwMode="auto">
            <a:xfrm flipH="1">
              <a:off x="1260" y="126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75" name="Line 22">
              <a:extLst>
                <a:ext uri="{FF2B5EF4-FFF2-40B4-BE49-F238E27FC236}">
                  <a16:creationId xmlns:a16="http://schemas.microsoft.com/office/drawing/2014/main" id="{744C3AC0-E4BB-45C8-80A0-567F6D2A35CE}"/>
                </a:ext>
              </a:extLst>
            </p:cNvPr>
            <p:cNvSpPr>
              <a:spLocks noChangeShapeType="1"/>
            </p:cNvSpPr>
            <p:nvPr/>
          </p:nvSpPr>
          <p:spPr bwMode="auto">
            <a:xfrm flipH="1">
              <a:off x="720" y="1440"/>
              <a:ext cx="540" cy="72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76" name="Line 23">
              <a:extLst>
                <a:ext uri="{FF2B5EF4-FFF2-40B4-BE49-F238E27FC236}">
                  <a16:creationId xmlns:a16="http://schemas.microsoft.com/office/drawing/2014/main" id="{BBBB01B1-9245-461D-909B-E982C9D77E25}"/>
                </a:ext>
              </a:extLst>
            </p:cNvPr>
            <p:cNvSpPr>
              <a:spLocks noChangeShapeType="1"/>
            </p:cNvSpPr>
            <p:nvPr/>
          </p:nvSpPr>
          <p:spPr bwMode="auto">
            <a:xfrm>
              <a:off x="1260" y="1440"/>
              <a:ext cx="180" cy="72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77" name="Rectangle 24">
              <a:extLst>
                <a:ext uri="{FF2B5EF4-FFF2-40B4-BE49-F238E27FC236}">
                  <a16:creationId xmlns:a16="http://schemas.microsoft.com/office/drawing/2014/main" id="{31B58E33-4A0C-480D-9D52-C89222F176E6}"/>
                </a:ext>
              </a:extLst>
            </p:cNvPr>
            <p:cNvSpPr>
              <a:spLocks noChangeArrowheads="1"/>
            </p:cNvSpPr>
            <p:nvPr/>
          </p:nvSpPr>
          <p:spPr bwMode="auto">
            <a:xfrm>
              <a:off x="540" y="216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78" name="Oval 25">
              <a:extLst>
                <a:ext uri="{FF2B5EF4-FFF2-40B4-BE49-F238E27FC236}">
                  <a16:creationId xmlns:a16="http://schemas.microsoft.com/office/drawing/2014/main" id="{E5A2D58A-50A2-484E-AEAB-3CA1A8896AF7}"/>
                </a:ext>
              </a:extLst>
            </p:cNvPr>
            <p:cNvSpPr>
              <a:spLocks noChangeArrowheads="1"/>
            </p:cNvSpPr>
            <p:nvPr/>
          </p:nvSpPr>
          <p:spPr bwMode="auto">
            <a:xfrm>
              <a:off x="1440" y="2160"/>
              <a:ext cx="180" cy="180"/>
            </a:xfrm>
            <a:prstGeom prst="ellipse">
              <a:avLst/>
            </a:prstGeom>
            <a:solidFill>
              <a:srgbClr val="FFFFFF"/>
            </a:solidFill>
            <a:ln w="9525" cmpd="sng">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79" name="Line 26">
              <a:extLst>
                <a:ext uri="{FF2B5EF4-FFF2-40B4-BE49-F238E27FC236}">
                  <a16:creationId xmlns:a16="http://schemas.microsoft.com/office/drawing/2014/main" id="{BC49F21A-F8D4-4BC3-B216-AD53D9AFD1F0}"/>
                </a:ext>
              </a:extLst>
            </p:cNvPr>
            <p:cNvSpPr>
              <a:spLocks noChangeShapeType="1"/>
            </p:cNvSpPr>
            <p:nvPr/>
          </p:nvSpPr>
          <p:spPr bwMode="auto">
            <a:xfrm flipH="1">
              <a:off x="1080" y="2340"/>
              <a:ext cx="360" cy="54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80" name="Line 27">
              <a:extLst>
                <a:ext uri="{FF2B5EF4-FFF2-40B4-BE49-F238E27FC236}">
                  <a16:creationId xmlns:a16="http://schemas.microsoft.com/office/drawing/2014/main" id="{BA68BCB0-22DD-4E5D-BAA1-B3E139535C2C}"/>
                </a:ext>
              </a:extLst>
            </p:cNvPr>
            <p:cNvSpPr>
              <a:spLocks noChangeShapeType="1"/>
            </p:cNvSpPr>
            <p:nvPr/>
          </p:nvSpPr>
          <p:spPr bwMode="auto">
            <a:xfrm>
              <a:off x="1440" y="2340"/>
              <a:ext cx="180" cy="54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81" name="Line 28">
              <a:extLst>
                <a:ext uri="{FF2B5EF4-FFF2-40B4-BE49-F238E27FC236}">
                  <a16:creationId xmlns:a16="http://schemas.microsoft.com/office/drawing/2014/main" id="{27A8A55E-952B-4B92-925C-43E9AAE1641B}"/>
                </a:ext>
              </a:extLst>
            </p:cNvPr>
            <p:cNvSpPr>
              <a:spLocks noChangeShapeType="1"/>
            </p:cNvSpPr>
            <p:nvPr/>
          </p:nvSpPr>
          <p:spPr bwMode="auto">
            <a:xfrm flipH="1">
              <a:off x="2340" y="2160"/>
              <a:ext cx="360" cy="72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82" name="Line 29">
              <a:extLst>
                <a:ext uri="{FF2B5EF4-FFF2-40B4-BE49-F238E27FC236}">
                  <a16:creationId xmlns:a16="http://schemas.microsoft.com/office/drawing/2014/main" id="{9D7405D8-F782-43FB-A2A8-362D992E9189}"/>
                </a:ext>
              </a:extLst>
            </p:cNvPr>
            <p:cNvSpPr>
              <a:spLocks noChangeShapeType="1"/>
            </p:cNvSpPr>
            <p:nvPr/>
          </p:nvSpPr>
          <p:spPr bwMode="auto">
            <a:xfrm>
              <a:off x="2700" y="2160"/>
              <a:ext cx="360" cy="720"/>
            </a:xfrm>
            <a:prstGeom prst="line">
              <a:avLst/>
            </a:prstGeom>
            <a:noFill/>
            <a:ln w="9525" cmpd="sng">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83" name="Rectangle 30">
              <a:extLst>
                <a:ext uri="{FF2B5EF4-FFF2-40B4-BE49-F238E27FC236}">
                  <a16:creationId xmlns:a16="http://schemas.microsoft.com/office/drawing/2014/main" id="{BB29DBCE-0639-4BC9-88EB-D9E36313C74A}"/>
                </a:ext>
              </a:extLst>
            </p:cNvPr>
            <p:cNvSpPr>
              <a:spLocks noChangeArrowheads="1"/>
            </p:cNvSpPr>
            <p:nvPr/>
          </p:nvSpPr>
          <p:spPr bwMode="auto">
            <a:xfrm>
              <a:off x="900" y="288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84" name="Rectangle 31">
              <a:extLst>
                <a:ext uri="{FF2B5EF4-FFF2-40B4-BE49-F238E27FC236}">
                  <a16:creationId xmlns:a16="http://schemas.microsoft.com/office/drawing/2014/main" id="{04887230-6858-4CE8-A1A4-6D533233A5E8}"/>
                </a:ext>
              </a:extLst>
            </p:cNvPr>
            <p:cNvSpPr>
              <a:spLocks noChangeArrowheads="1"/>
            </p:cNvSpPr>
            <p:nvPr/>
          </p:nvSpPr>
          <p:spPr bwMode="auto">
            <a:xfrm>
              <a:off x="1440" y="288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85" name="Rectangle 32">
              <a:extLst>
                <a:ext uri="{FF2B5EF4-FFF2-40B4-BE49-F238E27FC236}">
                  <a16:creationId xmlns:a16="http://schemas.microsoft.com/office/drawing/2014/main" id="{DB730EF6-7202-4906-9E6B-8979837460EA}"/>
                </a:ext>
              </a:extLst>
            </p:cNvPr>
            <p:cNvSpPr>
              <a:spLocks noChangeArrowheads="1"/>
            </p:cNvSpPr>
            <p:nvPr/>
          </p:nvSpPr>
          <p:spPr bwMode="auto">
            <a:xfrm>
              <a:off x="2160" y="288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86" name="Rectangle 33">
              <a:extLst>
                <a:ext uri="{FF2B5EF4-FFF2-40B4-BE49-F238E27FC236}">
                  <a16:creationId xmlns:a16="http://schemas.microsoft.com/office/drawing/2014/main" id="{BF90D04A-6D31-4940-8935-5C289652BDDC}"/>
                </a:ext>
              </a:extLst>
            </p:cNvPr>
            <p:cNvSpPr>
              <a:spLocks noChangeArrowheads="1"/>
            </p:cNvSpPr>
            <p:nvPr/>
          </p:nvSpPr>
          <p:spPr bwMode="auto">
            <a:xfrm>
              <a:off x="2880" y="2880"/>
              <a:ext cx="360" cy="540"/>
            </a:xfrm>
            <a:prstGeom prst="rect">
              <a:avLst/>
            </a:prstGeom>
            <a:solidFill>
              <a:srgbClr val="FFFFFF"/>
            </a:solidFill>
            <a:ln w="9525" cmpd="sng">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grpSp>
      <p:sp>
        <p:nvSpPr>
          <p:cNvPr id="87" name="Oval 34">
            <a:extLst>
              <a:ext uri="{FF2B5EF4-FFF2-40B4-BE49-F238E27FC236}">
                <a16:creationId xmlns:a16="http://schemas.microsoft.com/office/drawing/2014/main" id="{812F86AB-5D46-4CFE-A873-0BE7E360D938}"/>
              </a:ext>
            </a:extLst>
          </p:cNvPr>
          <p:cNvSpPr>
            <a:spLocks noChangeArrowheads="1"/>
          </p:cNvSpPr>
          <p:nvPr/>
        </p:nvSpPr>
        <p:spPr bwMode="auto">
          <a:xfrm>
            <a:off x="1342605" y="1664345"/>
            <a:ext cx="504825" cy="50323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88" name="Oval 35">
            <a:extLst>
              <a:ext uri="{FF2B5EF4-FFF2-40B4-BE49-F238E27FC236}">
                <a16:creationId xmlns:a16="http://schemas.microsoft.com/office/drawing/2014/main" id="{FF901946-E8AC-4460-8B4B-14B0EC1BC82E}"/>
              </a:ext>
            </a:extLst>
          </p:cNvPr>
          <p:cNvSpPr>
            <a:spLocks noChangeArrowheads="1"/>
          </p:cNvSpPr>
          <p:nvPr/>
        </p:nvSpPr>
        <p:spPr bwMode="auto">
          <a:xfrm>
            <a:off x="1125117" y="1589732"/>
            <a:ext cx="863600" cy="647700"/>
          </a:xfrm>
          <a:prstGeom prst="ellipse">
            <a:avLst/>
          </a:prstGeom>
          <a:noFill/>
          <a:ln w="127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89" name="Line 36">
            <a:extLst>
              <a:ext uri="{FF2B5EF4-FFF2-40B4-BE49-F238E27FC236}">
                <a16:creationId xmlns:a16="http://schemas.microsoft.com/office/drawing/2014/main" id="{AFD50912-5010-43FC-8F9D-AC3B331D326E}"/>
              </a:ext>
            </a:extLst>
          </p:cNvPr>
          <p:cNvSpPr>
            <a:spLocks noChangeShapeType="1"/>
          </p:cNvSpPr>
          <p:nvPr/>
        </p:nvSpPr>
        <p:spPr bwMode="auto">
          <a:xfrm>
            <a:off x="1990305" y="1951682"/>
            <a:ext cx="1296987" cy="0"/>
          </a:xfrm>
          <a:prstGeom prst="line">
            <a:avLst/>
          </a:prstGeom>
          <a:noFill/>
          <a:ln w="12700" cmpd="sng">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90" name="Text Box 37">
            <a:extLst>
              <a:ext uri="{FF2B5EF4-FFF2-40B4-BE49-F238E27FC236}">
                <a16:creationId xmlns:a16="http://schemas.microsoft.com/office/drawing/2014/main" id="{C94F7CC2-25F9-44B1-8EDB-E48DB986F1E4}"/>
              </a:ext>
            </a:extLst>
          </p:cNvPr>
          <p:cNvSpPr txBox="1">
            <a:spLocks noChangeArrowheads="1"/>
          </p:cNvSpPr>
          <p:nvPr/>
        </p:nvSpPr>
        <p:spPr bwMode="auto">
          <a:xfrm>
            <a:off x="2928517" y="1665932"/>
            <a:ext cx="4822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TW" altLang="en-US" dirty="0">
                <a:solidFill>
                  <a:srgbClr val="0070C0"/>
                </a:solidFill>
                <a:latin typeface="KaiTi" panose="02010609060101010101" pitchFamily="49" charset="-122"/>
                <a:ea typeface="KaiTi" panose="02010609060101010101" pitchFamily="49" charset="-122"/>
                <a:cs typeface="Times New Roman" panose="02020603050405020304" pitchFamily="18" charset="0"/>
              </a:rPr>
              <a:t>根节点 </a:t>
            </a:r>
            <a:r>
              <a:rPr lang="en-US" altLang="zh-CN" sz="2800" dirty="0">
                <a:latin typeface="KaiTi" panose="02010609060101010101" pitchFamily="49" charset="-122"/>
                <a:ea typeface="KaiTi" panose="02010609060101010101" pitchFamily="49" charset="-122"/>
                <a:cs typeface="Times New Roman" panose="02020603050405020304" pitchFamily="18" charset="0"/>
              </a:rPr>
              <a:t>(root node)</a:t>
            </a:r>
          </a:p>
        </p:txBody>
      </p:sp>
      <p:sp>
        <p:nvSpPr>
          <p:cNvPr id="91" name="Rectangle 38">
            <a:extLst>
              <a:ext uri="{FF2B5EF4-FFF2-40B4-BE49-F238E27FC236}">
                <a16:creationId xmlns:a16="http://schemas.microsoft.com/office/drawing/2014/main" id="{2DA538F2-9775-49D1-B51A-4D634275DD5F}"/>
              </a:ext>
            </a:extLst>
          </p:cNvPr>
          <p:cNvSpPr>
            <a:spLocks noChangeArrowheads="1"/>
          </p:cNvSpPr>
          <p:nvPr/>
        </p:nvSpPr>
        <p:spPr bwMode="auto">
          <a:xfrm>
            <a:off x="982242" y="2312045"/>
            <a:ext cx="1368425" cy="215900"/>
          </a:xfrm>
          <a:prstGeom prst="rect">
            <a:avLst/>
          </a:prstGeom>
          <a:noFill/>
          <a:ln w="12700"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92" name="Line 39">
            <a:extLst>
              <a:ext uri="{FF2B5EF4-FFF2-40B4-BE49-F238E27FC236}">
                <a16:creationId xmlns:a16="http://schemas.microsoft.com/office/drawing/2014/main" id="{BA9B5B9B-6E70-4154-AA08-B53AF7E19B86}"/>
              </a:ext>
            </a:extLst>
          </p:cNvPr>
          <p:cNvSpPr>
            <a:spLocks noChangeShapeType="1"/>
          </p:cNvSpPr>
          <p:nvPr/>
        </p:nvSpPr>
        <p:spPr bwMode="auto">
          <a:xfrm>
            <a:off x="2350667" y="2456507"/>
            <a:ext cx="1008063" cy="0"/>
          </a:xfrm>
          <a:prstGeom prst="line">
            <a:avLst/>
          </a:prstGeom>
          <a:noFill/>
          <a:ln w="12700" cmpd="sng">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93" name="Text Box 40">
            <a:extLst>
              <a:ext uri="{FF2B5EF4-FFF2-40B4-BE49-F238E27FC236}">
                <a16:creationId xmlns:a16="http://schemas.microsoft.com/office/drawing/2014/main" id="{7695170C-0493-40F0-A5E2-F25FB638A918}"/>
              </a:ext>
            </a:extLst>
          </p:cNvPr>
          <p:cNvSpPr txBox="1">
            <a:spLocks noChangeArrowheads="1"/>
          </p:cNvSpPr>
          <p:nvPr/>
        </p:nvSpPr>
        <p:spPr bwMode="auto">
          <a:xfrm>
            <a:off x="2926930" y="2240607"/>
            <a:ext cx="4747951"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CN" altLang="en-US" dirty="0">
                <a:solidFill>
                  <a:srgbClr val="0070C0"/>
                </a:solidFill>
                <a:latin typeface="KaiTi" panose="02010609060101010101" pitchFamily="49" charset="-122"/>
                <a:ea typeface="KaiTi" panose="02010609060101010101" pitchFamily="49" charset="-122"/>
                <a:cs typeface="Times New Roman" panose="02020603050405020304" pitchFamily="18" charset="0"/>
              </a:rPr>
              <a:t>非叶子</a:t>
            </a:r>
            <a:r>
              <a:rPr lang="zh-TW" altLang="en-US" dirty="0">
                <a:solidFill>
                  <a:srgbClr val="0070C0"/>
                </a:solidFill>
                <a:latin typeface="KaiTi" panose="02010609060101010101" pitchFamily="49" charset="-122"/>
                <a:ea typeface="KaiTi" panose="02010609060101010101" pitchFamily="49" charset="-122"/>
                <a:cs typeface="Times New Roman" panose="02020603050405020304" pitchFamily="18" charset="0"/>
              </a:rPr>
              <a:t>节点 </a:t>
            </a:r>
            <a:r>
              <a:rPr lang="en-US" altLang="zh-CN" dirty="0">
                <a:latin typeface="KaiTi" panose="02010609060101010101" pitchFamily="49" charset="-122"/>
                <a:ea typeface="KaiTi" panose="02010609060101010101" pitchFamily="49" charset="-122"/>
                <a:cs typeface="Times New Roman" panose="02020603050405020304" pitchFamily="18" charset="0"/>
              </a:rPr>
              <a:t>(non-leaf node)</a:t>
            </a:r>
          </a:p>
          <a:p>
            <a:pPr>
              <a:spcBef>
                <a:spcPct val="50000"/>
              </a:spcBef>
              <a:buClr>
                <a:schemeClr val="hlink"/>
              </a:buClr>
              <a:buSzPct val="55000"/>
              <a:buFont typeface="Wingdings" panose="05000000000000000000" pitchFamily="2" charset="2"/>
              <a:buNone/>
            </a:pP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r>
              <a:rPr lang="zh-TW" altLang="en-US" sz="2000" dirty="0">
                <a:latin typeface="KaiTi" panose="02010609060101010101" pitchFamily="49" charset="-122"/>
                <a:ea typeface="KaiTi" panose="02010609060101010101" pitchFamily="49" charset="-122"/>
                <a:cs typeface="Times New Roman" panose="02020603050405020304" pitchFamily="18" charset="0"/>
              </a:rPr>
              <a:t>代表</a:t>
            </a:r>
            <a:r>
              <a:rPr lang="zh-TW"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测试条件</a:t>
            </a:r>
            <a:r>
              <a:rPr lang="zh-CN" altLang="en-US" sz="2000" dirty="0">
                <a:latin typeface="KaiTi" panose="02010609060101010101" pitchFamily="49" charset="-122"/>
                <a:ea typeface="KaiTi" panose="02010609060101010101" pitchFamily="49" charset="-122"/>
                <a:cs typeface="Times New Roman" panose="02020603050405020304" pitchFamily="18" charset="0"/>
              </a:rPr>
              <a:t>，</a:t>
            </a:r>
            <a:r>
              <a:rPr lang="zh-CN"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对数据属性的测试</a:t>
            </a: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p>
        </p:txBody>
      </p:sp>
      <p:sp>
        <p:nvSpPr>
          <p:cNvPr id="94" name="Text Box 41">
            <a:extLst>
              <a:ext uri="{FF2B5EF4-FFF2-40B4-BE49-F238E27FC236}">
                <a16:creationId xmlns:a16="http://schemas.microsoft.com/office/drawing/2014/main" id="{6CDE5BEC-6BF7-46CC-985C-0BDFA5587AE2}"/>
              </a:ext>
            </a:extLst>
          </p:cNvPr>
          <p:cNvSpPr txBox="1">
            <a:spLocks noChangeArrowheads="1"/>
          </p:cNvSpPr>
          <p:nvPr/>
        </p:nvSpPr>
        <p:spPr bwMode="auto">
          <a:xfrm>
            <a:off x="2926930" y="3896370"/>
            <a:ext cx="5329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TW" altLang="en-US" dirty="0">
                <a:solidFill>
                  <a:srgbClr val="0070C0"/>
                </a:solidFill>
                <a:latin typeface="KaiTi" panose="02010609060101010101" pitchFamily="49" charset="-122"/>
                <a:ea typeface="KaiTi" panose="02010609060101010101" pitchFamily="49" charset="-122"/>
                <a:cs typeface="Times New Roman" panose="02020603050405020304" pitchFamily="18" charset="0"/>
              </a:rPr>
              <a:t>分支</a:t>
            </a:r>
            <a:r>
              <a:rPr lang="zh-TW" altLang="en-US" dirty="0">
                <a:latin typeface="KaiTi" panose="02010609060101010101" pitchFamily="49" charset="-122"/>
                <a:ea typeface="KaiTi" panose="02010609060101010101" pitchFamily="49" charset="-122"/>
                <a:cs typeface="Times New Roman" panose="02020603050405020304" pitchFamily="18" charset="0"/>
              </a:rPr>
              <a:t> </a:t>
            </a:r>
            <a:r>
              <a:rPr lang="en-US" altLang="zh-CN" dirty="0">
                <a:latin typeface="KaiTi" panose="02010609060101010101" pitchFamily="49" charset="-122"/>
                <a:ea typeface="KaiTi" panose="02010609060101010101" pitchFamily="49" charset="-122"/>
                <a:cs typeface="Times New Roman" panose="02020603050405020304" pitchFamily="18" charset="0"/>
              </a:rPr>
              <a:t>(branches) </a:t>
            </a: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r>
              <a:rPr lang="zh-TW" altLang="en-US" sz="2000" dirty="0">
                <a:latin typeface="KaiTi" panose="02010609060101010101" pitchFamily="49" charset="-122"/>
                <a:ea typeface="KaiTi" panose="02010609060101010101" pitchFamily="49" charset="-122"/>
                <a:cs typeface="Times New Roman" panose="02020603050405020304" pitchFamily="18" charset="0"/>
              </a:rPr>
              <a:t>代表</a:t>
            </a:r>
            <a:r>
              <a:rPr lang="zh-TW"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测试结果</a:t>
            </a: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p>
        </p:txBody>
      </p:sp>
      <p:sp>
        <p:nvSpPr>
          <p:cNvPr id="95" name="Rectangle 42">
            <a:extLst>
              <a:ext uri="{FF2B5EF4-FFF2-40B4-BE49-F238E27FC236}">
                <a16:creationId xmlns:a16="http://schemas.microsoft.com/office/drawing/2014/main" id="{C4EE8250-679A-4AA8-AA11-3164589D32BE}"/>
              </a:ext>
            </a:extLst>
          </p:cNvPr>
          <p:cNvSpPr>
            <a:spLocks noChangeArrowheads="1"/>
          </p:cNvSpPr>
          <p:nvPr/>
        </p:nvSpPr>
        <p:spPr bwMode="auto">
          <a:xfrm>
            <a:off x="1918867" y="3896370"/>
            <a:ext cx="936625" cy="503237"/>
          </a:xfrm>
          <a:prstGeom prst="rect">
            <a:avLst/>
          </a:prstGeom>
          <a:noFill/>
          <a:ln w="12700"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96" name="Line 43">
            <a:extLst>
              <a:ext uri="{FF2B5EF4-FFF2-40B4-BE49-F238E27FC236}">
                <a16:creationId xmlns:a16="http://schemas.microsoft.com/office/drawing/2014/main" id="{B727383F-7805-4243-B21D-3A611316B0EC}"/>
              </a:ext>
            </a:extLst>
          </p:cNvPr>
          <p:cNvSpPr>
            <a:spLocks noChangeShapeType="1"/>
          </p:cNvSpPr>
          <p:nvPr/>
        </p:nvSpPr>
        <p:spPr bwMode="auto">
          <a:xfrm>
            <a:off x="2855492" y="4183707"/>
            <a:ext cx="647700" cy="0"/>
          </a:xfrm>
          <a:prstGeom prst="line">
            <a:avLst/>
          </a:prstGeom>
          <a:noFill/>
          <a:ln w="12700" cmpd="sng">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97" name="Rectangle 44">
            <a:extLst>
              <a:ext uri="{FF2B5EF4-FFF2-40B4-BE49-F238E27FC236}">
                <a16:creationId xmlns:a16="http://schemas.microsoft.com/office/drawing/2014/main" id="{A62BCA77-33DB-496A-A57A-8F43BA662A05}"/>
              </a:ext>
            </a:extLst>
          </p:cNvPr>
          <p:cNvSpPr>
            <a:spLocks noChangeArrowheads="1"/>
          </p:cNvSpPr>
          <p:nvPr/>
        </p:nvSpPr>
        <p:spPr bwMode="auto">
          <a:xfrm>
            <a:off x="766342" y="4544070"/>
            <a:ext cx="2376488" cy="720725"/>
          </a:xfrm>
          <a:prstGeom prst="rect">
            <a:avLst/>
          </a:prstGeom>
          <a:noFill/>
          <a:ln w="12700"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800">
              <a:latin typeface="KaiTi" panose="02010609060101010101" pitchFamily="49" charset="-122"/>
              <a:ea typeface="KaiTi" panose="02010609060101010101" pitchFamily="49" charset="-122"/>
              <a:cs typeface="Times New Roman" panose="02020603050405020304" pitchFamily="18" charset="0"/>
            </a:endParaRPr>
          </a:p>
        </p:txBody>
      </p:sp>
      <p:sp>
        <p:nvSpPr>
          <p:cNvPr id="98" name="Line 45">
            <a:extLst>
              <a:ext uri="{FF2B5EF4-FFF2-40B4-BE49-F238E27FC236}">
                <a16:creationId xmlns:a16="http://schemas.microsoft.com/office/drawing/2014/main" id="{5A595A6F-C7BB-4E86-AD65-CB3CA2775A2C}"/>
              </a:ext>
            </a:extLst>
          </p:cNvPr>
          <p:cNvSpPr>
            <a:spLocks noChangeShapeType="1"/>
          </p:cNvSpPr>
          <p:nvPr/>
        </p:nvSpPr>
        <p:spPr bwMode="auto">
          <a:xfrm>
            <a:off x="2495130" y="5264795"/>
            <a:ext cx="0" cy="287337"/>
          </a:xfrm>
          <a:prstGeom prst="line">
            <a:avLst/>
          </a:prstGeom>
          <a:noFill/>
          <a:ln w="9525" cmpd="sng">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99" name="Line 46">
            <a:extLst>
              <a:ext uri="{FF2B5EF4-FFF2-40B4-BE49-F238E27FC236}">
                <a16:creationId xmlns:a16="http://schemas.microsoft.com/office/drawing/2014/main" id="{0AB7F6E8-54C2-4708-8775-03F82FDC2AC5}"/>
              </a:ext>
            </a:extLst>
          </p:cNvPr>
          <p:cNvSpPr>
            <a:spLocks noChangeShapeType="1"/>
          </p:cNvSpPr>
          <p:nvPr/>
        </p:nvSpPr>
        <p:spPr bwMode="auto">
          <a:xfrm>
            <a:off x="2495130" y="5552132"/>
            <a:ext cx="792162" cy="0"/>
          </a:xfrm>
          <a:prstGeom prst="line">
            <a:avLst/>
          </a:prstGeom>
          <a:noFill/>
          <a:ln w="12700" cmpd="sng">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100" name="Text Box 47">
            <a:extLst>
              <a:ext uri="{FF2B5EF4-FFF2-40B4-BE49-F238E27FC236}">
                <a16:creationId xmlns:a16="http://schemas.microsoft.com/office/drawing/2014/main" id="{178B06DC-26A7-4BB2-8449-CB09AA1D26C9}"/>
              </a:ext>
            </a:extLst>
          </p:cNvPr>
          <p:cNvSpPr txBox="1">
            <a:spLocks noChangeArrowheads="1"/>
          </p:cNvSpPr>
          <p:nvPr/>
        </p:nvSpPr>
        <p:spPr bwMode="auto">
          <a:xfrm>
            <a:off x="2753575" y="5386273"/>
            <a:ext cx="5329237" cy="55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chemeClr val="hlink"/>
              </a:buClr>
              <a:buSzPct val="55000"/>
              <a:buFont typeface="Wingdings" panose="05000000000000000000" pitchFamily="2" charset="2"/>
              <a:buNone/>
            </a:pPr>
            <a:r>
              <a:rPr lang="zh-TW" altLang="en-US" dirty="0">
                <a:solidFill>
                  <a:srgbClr val="0070C0"/>
                </a:solidFill>
                <a:latin typeface="KaiTi" panose="02010609060101010101" pitchFamily="49" charset="-122"/>
                <a:ea typeface="KaiTi" panose="02010609060101010101" pitchFamily="49" charset="-122"/>
                <a:cs typeface="Times New Roman" panose="02020603050405020304" pitchFamily="18" charset="0"/>
              </a:rPr>
              <a:t>叶节点 </a:t>
            </a:r>
            <a:r>
              <a:rPr lang="en-US" altLang="zh-CN" dirty="0">
                <a:latin typeface="KaiTi" panose="02010609060101010101" pitchFamily="49" charset="-122"/>
                <a:ea typeface="KaiTi" panose="02010609060101010101" pitchFamily="49" charset="-122"/>
                <a:cs typeface="Times New Roman" panose="02020603050405020304" pitchFamily="18" charset="0"/>
              </a:rPr>
              <a:t>(leaf node)</a:t>
            </a:r>
          </a:p>
          <a:p>
            <a:pPr>
              <a:lnSpc>
                <a:spcPct val="50000"/>
              </a:lnSpc>
              <a:spcBef>
                <a:spcPct val="50000"/>
              </a:spcBef>
              <a:buClr>
                <a:schemeClr val="hlink"/>
              </a:buClr>
              <a:buSzPct val="55000"/>
              <a:buFont typeface="Wingdings" panose="05000000000000000000" pitchFamily="2" charset="2"/>
              <a:buNone/>
            </a:pP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r>
              <a:rPr lang="zh-CN" altLang="en-US" sz="2000" dirty="0">
                <a:latin typeface="KaiTi" panose="02010609060101010101" pitchFamily="49" charset="-122"/>
                <a:ea typeface="KaiTi" panose="02010609060101010101" pitchFamily="49" charset="-122"/>
                <a:cs typeface="Times New Roman" panose="02020603050405020304" pitchFamily="18" charset="0"/>
              </a:rPr>
              <a:t>代表分类后所获得</a:t>
            </a:r>
            <a:r>
              <a:rPr lang="zh-TW" altLang="en-US" sz="2000" dirty="0">
                <a:latin typeface="KaiTi" panose="02010609060101010101" pitchFamily="49" charset="-122"/>
                <a:ea typeface="KaiTi" panose="02010609060101010101" pitchFamily="49" charset="-122"/>
                <a:cs typeface="Times New Roman" panose="02020603050405020304" pitchFamily="18" charset="0"/>
              </a:rPr>
              <a:t>的</a:t>
            </a:r>
            <a:r>
              <a:rPr lang="zh-TW"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分类标记</a:t>
            </a: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p>
        </p:txBody>
      </p:sp>
      <p:sp>
        <p:nvSpPr>
          <p:cNvPr id="52" name="文本框 51">
            <a:extLst>
              <a:ext uri="{FF2B5EF4-FFF2-40B4-BE49-F238E27FC236}">
                <a16:creationId xmlns:a16="http://schemas.microsoft.com/office/drawing/2014/main" id="{0491D754-3AC1-4939-84B1-8EA8136005F8}"/>
              </a:ext>
            </a:extLst>
          </p:cNvPr>
          <p:cNvSpPr txBox="1"/>
          <p:nvPr/>
        </p:nvSpPr>
        <p:spPr>
          <a:xfrm>
            <a:off x="7478454" y="1421987"/>
            <a:ext cx="4082232" cy="2346091"/>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决策树算法是一种归纳分类算法，它通过对训练集的学习，挖掘出有用的规则，用于对新数据进行预测。</a:t>
            </a:r>
          </a:p>
          <a:p>
            <a:pPr marL="342900" indent="-342900" algn="just">
              <a:lnSpc>
                <a:spcPct val="150000"/>
              </a:lnSpc>
              <a:buFont typeface="Wingdings" panose="05000000000000000000" pitchFamily="2" charset="2"/>
              <a:buChar char="l"/>
            </a:pP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决策树算法属于</a:t>
            </a:r>
            <a:r>
              <a:rPr lang="zh-CN"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监督学习</a:t>
            </a:r>
            <a:r>
              <a:rPr lang="zh-CN" altLang="en-US" sz="20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方法。</a:t>
            </a:r>
            <a:endParaRPr lang="en-US" altLang="zh-CN" sz="2000" dirty="0">
              <a:solidFill>
                <a:schemeClr val="tx1">
                  <a:lumMod val="85000"/>
                  <a:lumOff val="15000"/>
                </a:schemeClr>
              </a:solidFill>
              <a:latin typeface="KaiTi" panose="02010609060101010101" pitchFamily="49" charset="-122"/>
              <a:ea typeface="KaiTi" panose="02010609060101010101" pitchFamily="49" charset="-122"/>
            </a:endParaRPr>
          </a:p>
        </p:txBody>
      </p:sp>
      <p:sp>
        <p:nvSpPr>
          <p:cNvPr id="53" name="文本框 52">
            <a:extLst>
              <a:ext uri="{FF2B5EF4-FFF2-40B4-BE49-F238E27FC236}">
                <a16:creationId xmlns:a16="http://schemas.microsoft.com/office/drawing/2014/main" id="{C307DE76-1E61-4E2A-903E-B1A05A370BE1}"/>
              </a:ext>
            </a:extLst>
          </p:cNvPr>
          <p:cNvSpPr txBox="1"/>
          <p:nvPr/>
        </p:nvSpPr>
        <p:spPr>
          <a:xfrm>
            <a:off x="7478454" y="3828568"/>
            <a:ext cx="4343813" cy="2807756"/>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sz="2000" dirty="0">
                <a:latin typeface="KaiTi" panose="02010609060101010101" pitchFamily="49" charset="-122"/>
                <a:ea typeface="KaiTi" panose="02010609060101010101" pitchFamily="49" charset="-122"/>
                <a:cs typeface="Times New Roman" panose="02020603050405020304" pitchFamily="18" charset="0"/>
              </a:rPr>
              <a:t>决策树归纳的基本算法是贪心算法，自顶向下来构建决策树。</a:t>
            </a:r>
          </a:p>
          <a:p>
            <a:pPr marL="342900" indent="-342900" algn="just">
              <a:lnSpc>
                <a:spcPct val="150000"/>
              </a:lnSpc>
              <a:buFont typeface="Wingdings" panose="05000000000000000000" pitchFamily="2" charset="2"/>
              <a:buChar char="l"/>
            </a:pPr>
            <a:r>
              <a:rPr lang="zh-CN" altLang="en-US" sz="2000" dirty="0">
                <a:latin typeface="KaiTi" panose="02010609060101010101" pitchFamily="49" charset="-122"/>
                <a:ea typeface="KaiTi" panose="02010609060101010101" pitchFamily="49" charset="-122"/>
                <a:cs typeface="Times New Roman" panose="02020603050405020304" pitchFamily="18" charset="0"/>
              </a:rPr>
              <a:t>贪心算法：在每一步选择中都采取在当前状态下最好</a:t>
            </a:r>
            <a:r>
              <a:rPr lang="en-US" altLang="zh-CN" sz="2000" dirty="0">
                <a:latin typeface="KaiTi" panose="02010609060101010101" pitchFamily="49" charset="-122"/>
                <a:ea typeface="KaiTi" panose="02010609060101010101" pitchFamily="49" charset="-122"/>
                <a:cs typeface="Times New Roman" panose="02020603050405020304" pitchFamily="18" charset="0"/>
              </a:rPr>
              <a:t>/</a:t>
            </a:r>
            <a:r>
              <a:rPr lang="zh-CN" altLang="en-US" sz="2000" dirty="0">
                <a:latin typeface="KaiTi" panose="02010609060101010101" pitchFamily="49" charset="-122"/>
                <a:ea typeface="KaiTi" panose="02010609060101010101" pitchFamily="49" charset="-122"/>
                <a:cs typeface="Times New Roman" panose="02020603050405020304" pitchFamily="18" charset="0"/>
              </a:rPr>
              <a:t>优的选择。</a:t>
            </a:r>
          </a:p>
          <a:p>
            <a:pPr marL="342900" indent="-342900" algn="just">
              <a:lnSpc>
                <a:spcPct val="150000"/>
              </a:lnSpc>
              <a:buFont typeface="Wingdings" panose="05000000000000000000" pitchFamily="2" charset="2"/>
              <a:buChar char="l"/>
            </a:pPr>
            <a:r>
              <a:rPr lang="zh-CN" altLang="en-US" sz="2000" dirty="0">
                <a:latin typeface="KaiTi" panose="02010609060101010101" pitchFamily="49" charset="-122"/>
                <a:ea typeface="KaiTi" panose="02010609060101010101" pitchFamily="49" charset="-122"/>
                <a:cs typeface="Times New Roman" panose="02020603050405020304" pitchFamily="18" charset="0"/>
              </a:rPr>
              <a:t>在决策树的生成过程中，分割方法即</a:t>
            </a:r>
            <a:r>
              <a:rPr lang="zh-CN" altLang="en-US" sz="20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属性选择的度量</a:t>
            </a:r>
            <a:r>
              <a:rPr lang="zh-CN" altLang="en-US" sz="2000" dirty="0">
                <a:latin typeface="KaiTi" panose="02010609060101010101" pitchFamily="49" charset="-122"/>
                <a:ea typeface="KaiTi" panose="02010609060101010101" pitchFamily="49" charset="-122"/>
                <a:cs typeface="Times New Roman" panose="02020603050405020304" pitchFamily="18" charset="0"/>
              </a:rPr>
              <a:t>是关键。</a:t>
            </a:r>
            <a:endParaRPr lang="en-US" altLang="zh-CN" sz="2000" dirty="0">
              <a:latin typeface="KaiTi" panose="02010609060101010101" pitchFamily="49" charset="-122"/>
              <a:ea typeface="KaiTi" panose="02010609060101010101" pitchFamily="49" charset="-122"/>
              <a:cs typeface="Times New Roman" panose="02020603050405020304" pitchFamily="18" charset="0"/>
            </a:endParaRPr>
          </a:p>
        </p:txBody>
      </p:sp>
      <p:sp>
        <p:nvSpPr>
          <p:cNvPr id="3" name="제목 2">
            <a:extLst>
              <a:ext uri="{FF2B5EF4-FFF2-40B4-BE49-F238E27FC236}">
                <a16:creationId xmlns:a16="http://schemas.microsoft.com/office/drawing/2014/main" id="{57474F57-7C9C-5A2B-0E65-80B50F4FDBD3}"/>
              </a:ext>
            </a:extLst>
          </p:cNvPr>
          <p:cNvSpPr>
            <a:spLocks noGrp="1"/>
          </p:cNvSpPr>
          <p:nvPr>
            <p:ph type="title"/>
          </p:nvPr>
        </p:nvSpPr>
        <p:spPr/>
        <p:txBody>
          <a:bodyPr>
            <a:normAutofit/>
          </a:bodyPr>
          <a:lstStyle/>
          <a:p>
            <a:r>
              <a:rPr lang="zh-CN" altLang="en-US" dirty="0">
                <a:latin typeface="KaiTi" panose="02010609060101010101" pitchFamily="49" charset="-122"/>
                <a:ea typeface="KaiTi" panose="02010609060101010101" pitchFamily="49" charset="-122"/>
              </a:rPr>
              <a:t>决策树原理</a:t>
            </a:r>
            <a:endParaRPr lang="ko-Kore-KR" altLang="en-US">
              <a:latin typeface="KaiTi" panose="02010609060101010101" pitchFamily="49" charset="-122"/>
            </a:endParaRPr>
          </a:p>
        </p:txBody>
      </p:sp>
      <p:sp>
        <p:nvSpPr>
          <p:cNvPr id="4" name="Rectangle 2">
            <a:extLst>
              <a:ext uri="{FF2B5EF4-FFF2-40B4-BE49-F238E27FC236}">
                <a16:creationId xmlns:a16="http://schemas.microsoft.com/office/drawing/2014/main" id="{E7B4BC1B-B4E3-6D4B-95B4-14BCA873045E}"/>
              </a:ext>
            </a:extLst>
          </p:cNvPr>
          <p:cNvSpPr txBox="1">
            <a:spLocks noChangeArrowheads="1"/>
          </p:cNvSpPr>
          <p:nvPr/>
        </p:nvSpPr>
        <p:spPr>
          <a:xfrm>
            <a:off x="317353" y="276914"/>
            <a:ext cx="11523662" cy="677863"/>
          </a:xfrm>
          <a:prstGeom prst="rect">
            <a:avLst/>
          </a:prstGeom>
        </p:spPr>
        <p:txBody>
          <a:bodyPr vert="horz" lIns="91436" tIns="45718" rIns="91436" bIns="45718" rtlCol="0" anchor="b">
            <a:normAutofit/>
          </a:bodyPr>
          <a:lstStyle>
            <a:lvl1pPr marL="0"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a:lstStyle>
          <a:p>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10363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41" name="文本框 17">
            <a:extLst>
              <a:ext uri="{FF2B5EF4-FFF2-40B4-BE49-F238E27FC236}">
                <a16:creationId xmlns:a16="http://schemas.microsoft.com/office/drawing/2014/main" id="{C01B8D29-5042-4213-8F1D-BD019ACDB032}"/>
              </a:ext>
            </a:extLst>
          </p:cNvPr>
          <p:cNvSpPr txBox="1"/>
          <p:nvPr/>
        </p:nvSpPr>
        <p:spPr>
          <a:xfrm>
            <a:off x="1090259" y="1419908"/>
            <a:ext cx="10196178" cy="2178225"/>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优点</a:t>
            </a:r>
            <a:r>
              <a:rPr lang="zh-CN" altLang="en-US" sz="24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a:t>
            </a:r>
            <a:endParaRPr lang="en-US" altLang="zh-CN" sz="24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endParaRPr>
          </a:p>
          <a:p>
            <a:pPr marL="342900" indent="-342900" algn="just">
              <a:buFont typeface="Wingdings" panose="05000000000000000000" pitchFamily="2" charset="2"/>
              <a:buChar char="l"/>
            </a:pPr>
            <a:r>
              <a:rPr lang="zh-CN" altLang="en-US" sz="24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推理过程容易理解，计算简单，可解释性强。</a:t>
            </a:r>
          </a:p>
          <a:p>
            <a:pPr marL="342900" indent="-342900" algn="just">
              <a:buFont typeface="Wingdings" panose="05000000000000000000" pitchFamily="2" charset="2"/>
              <a:buChar char="l"/>
            </a:pPr>
            <a:r>
              <a:rPr lang="zh-CN" altLang="en-US" sz="24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比较适合处理有缺失属性的样本。</a:t>
            </a:r>
          </a:p>
          <a:p>
            <a:pPr marL="342900" indent="-342900" algn="just">
              <a:buFont typeface="Wingdings" panose="05000000000000000000" pitchFamily="2" charset="2"/>
              <a:buChar char="l"/>
            </a:pPr>
            <a:r>
              <a:rPr lang="zh-CN" altLang="en-US" sz="24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可自动忽略目标变量没有贡献的属性变量，也为判断属性变量的重要性，减少变量的数目提供参考。</a:t>
            </a:r>
            <a:endParaRPr lang="en-US" altLang="zh-CN" sz="2400" dirty="0">
              <a:solidFill>
                <a:schemeClr val="tx1">
                  <a:lumMod val="85000"/>
                  <a:lumOff val="15000"/>
                </a:schemeClr>
              </a:solidFill>
              <a:latin typeface="KaiTi" panose="02010609060101010101" pitchFamily="49" charset="-122"/>
              <a:ea typeface="KaiTi" panose="02010609060101010101" pitchFamily="49" charset="-122"/>
            </a:endParaRPr>
          </a:p>
        </p:txBody>
      </p:sp>
      <p:sp>
        <p:nvSpPr>
          <p:cNvPr id="51" name="文本框 17">
            <a:extLst>
              <a:ext uri="{FF2B5EF4-FFF2-40B4-BE49-F238E27FC236}">
                <a16:creationId xmlns:a16="http://schemas.microsoft.com/office/drawing/2014/main" id="{B5817745-F566-4141-A880-B321D20388AD}"/>
              </a:ext>
            </a:extLst>
          </p:cNvPr>
          <p:cNvSpPr txBox="1"/>
          <p:nvPr/>
        </p:nvSpPr>
        <p:spPr>
          <a:xfrm>
            <a:off x="1090257" y="3819590"/>
            <a:ext cx="10196180" cy="2178225"/>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缺点</a:t>
            </a:r>
            <a:r>
              <a:rPr lang="zh-CN" altLang="en-US" sz="2400" dirty="0">
                <a:latin typeface="KaiTi" panose="02010609060101010101" pitchFamily="49" charset="-122"/>
                <a:ea typeface="KaiTi" panose="02010609060101010101" pitchFamily="49" charset="-122"/>
                <a:cs typeface="Times New Roman" panose="02020603050405020304" pitchFamily="18" charset="0"/>
              </a:rPr>
              <a:t>：</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容易造成过拟合，需要采用剪枝操作。</a:t>
            </a:r>
          </a:p>
          <a:p>
            <a:pPr marL="342900" indent="-342900" algn="just">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忽略了数据之间的相关性。</a:t>
            </a:r>
          </a:p>
          <a:p>
            <a:pPr marL="342900" indent="-342900" algn="just">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对于各类别样本数量不一致的数据，信息增益会偏向于那些更多数值的特征。</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p:txBody>
      </p:sp>
      <p:sp>
        <p:nvSpPr>
          <p:cNvPr id="4" name="제목 2">
            <a:extLst>
              <a:ext uri="{FF2B5EF4-FFF2-40B4-BE49-F238E27FC236}">
                <a16:creationId xmlns:a16="http://schemas.microsoft.com/office/drawing/2014/main" id="{720BD4B5-AB60-5033-97EC-5F8E185FC026}"/>
              </a:ext>
            </a:extLst>
          </p:cNvPr>
          <p:cNvSpPr>
            <a:spLocks noGrp="1"/>
          </p:cNvSpPr>
          <p:nvPr>
            <p:ph type="title"/>
          </p:nvPr>
        </p:nvSpPr>
        <p:spPr/>
        <p:txBody>
          <a:bodyPr>
            <a:normAutofit/>
          </a:bodyPr>
          <a:lstStyle/>
          <a:p>
            <a:r>
              <a:rPr lang="zh-CN" altLang="en-US" dirty="0">
                <a:latin typeface="KaiTi" panose="02010609060101010101" pitchFamily="49" charset="-122"/>
                <a:ea typeface="KaiTi" panose="02010609060101010101" pitchFamily="49" charset="-122"/>
              </a:rPr>
              <a:t>决策树原理</a:t>
            </a:r>
            <a:endParaRPr lang="ko-Kore-KR" altLang="en-US">
              <a:latin typeface="KaiTi" panose="02010609060101010101" pitchFamily="49" charset="-122"/>
            </a:endParaRPr>
          </a:p>
        </p:txBody>
      </p:sp>
    </p:spTree>
    <p:extLst>
      <p:ext uri="{BB962C8B-B14F-4D97-AF65-F5344CB8AC3E}">
        <p14:creationId xmlns:p14="http://schemas.microsoft.com/office/powerpoint/2010/main" val="169610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6">
            <a:extLst>
              <a:ext uri="{FF2B5EF4-FFF2-40B4-BE49-F238E27FC236}">
                <a16:creationId xmlns:a16="http://schemas.microsoft.com/office/drawing/2014/main" id="{D2A02635-EC6C-4ECC-930A-FD4757307E62}"/>
              </a:ext>
            </a:extLst>
          </p:cNvPr>
          <p:cNvGraphicFramePr>
            <a:graphicFrameLocks noGrp="1"/>
          </p:cNvGraphicFramePr>
          <p:nvPr>
            <p:extLst>
              <p:ext uri="{D42A27DB-BD31-4B8C-83A1-F6EECF244321}">
                <p14:modId xmlns:p14="http://schemas.microsoft.com/office/powerpoint/2010/main" val="2534882415"/>
              </p:ext>
            </p:extLst>
          </p:nvPr>
        </p:nvGraphicFramePr>
        <p:xfrm>
          <a:off x="913178" y="3559958"/>
          <a:ext cx="10270435" cy="2745754"/>
        </p:xfrm>
        <a:graphic>
          <a:graphicData uri="http://schemas.openxmlformats.org/drawingml/2006/table">
            <a:tbl>
              <a:tblPr firstRow="1" bandRow="1">
                <a:tableStyleId>{21E4AEA4-8DFA-4A89-87EB-49C32662AFE0}</a:tableStyleId>
              </a:tblPr>
              <a:tblGrid>
                <a:gridCol w="895300">
                  <a:extLst>
                    <a:ext uri="{9D8B030D-6E8A-4147-A177-3AD203B41FA5}">
                      <a16:colId xmlns:a16="http://schemas.microsoft.com/office/drawing/2014/main" val="1145950565"/>
                    </a:ext>
                  </a:extLst>
                </a:gridCol>
                <a:gridCol w="1191269">
                  <a:extLst>
                    <a:ext uri="{9D8B030D-6E8A-4147-A177-3AD203B41FA5}">
                      <a16:colId xmlns:a16="http://schemas.microsoft.com/office/drawing/2014/main" val="814088080"/>
                    </a:ext>
                  </a:extLst>
                </a:gridCol>
                <a:gridCol w="982294">
                  <a:extLst>
                    <a:ext uri="{9D8B030D-6E8A-4147-A177-3AD203B41FA5}">
                      <a16:colId xmlns:a16="http://schemas.microsoft.com/office/drawing/2014/main" val="16527632"/>
                    </a:ext>
                  </a:extLst>
                </a:gridCol>
                <a:gridCol w="1419459">
                  <a:extLst>
                    <a:ext uri="{9D8B030D-6E8A-4147-A177-3AD203B41FA5}">
                      <a16:colId xmlns:a16="http://schemas.microsoft.com/office/drawing/2014/main" val="3607568300"/>
                    </a:ext>
                  </a:extLst>
                </a:gridCol>
                <a:gridCol w="1393151">
                  <a:extLst>
                    <a:ext uri="{9D8B030D-6E8A-4147-A177-3AD203B41FA5}">
                      <a16:colId xmlns:a16="http://schemas.microsoft.com/office/drawing/2014/main" val="48087253"/>
                    </a:ext>
                  </a:extLst>
                </a:gridCol>
                <a:gridCol w="1350661">
                  <a:extLst>
                    <a:ext uri="{9D8B030D-6E8A-4147-A177-3AD203B41FA5}">
                      <a16:colId xmlns:a16="http://schemas.microsoft.com/office/drawing/2014/main" val="3417502936"/>
                    </a:ext>
                  </a:extLst>
                </a:gridCol>
                <a:gridCol w="851251">
                  <a:extLst>
                    <a:ext uri="{9D8B030D-6E8A-4147-A177-3AD203B41FA5}">
                      <a16:colId xmlns:a16="http://schemas.microsoft.com/office/drawing/2014/main" val="740443591"/>
                    </a:ext>
                  </a:extLst>
                </a:gridCol>
                <a:gridCol w="2187050">
                  <a:extLst>
                    <a:ext uri="{9D8B030D-6E8A-4147-A177-3AD203B41FA5}">
                      <a16:colId xmlns:a16="http://schemas.microsoft.com/office/drawing/2014/main" val="442802855"/>
                    </a:ext>
                  </a:extLst>
                </a:gridCol>
              </a:tblGrid>
              <a:tr h="779373">
                <a:tc>
                  <a:txBody>
                    <a:bodyPr/>
                    <a:lstStyle/>
                    <a:p>
                      <a:pPr algn="ctr"/>
                      <a:r>
                        <a:rPr lang="zh-CN" altLang="en-US" sz="1800" dirty="0">
                          <a:latin typeface="KaiTi" panose="02010609060101010101" pitchFamily="49" charset="-122"/>
                          <a:ea typeface="KaiTi" panose="02010609060101010101" pitchFamily="49" charset="-122"/>
                        </a:rPr>
                        <a:t>算法</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KaiTi" panose="02010609060101010101" pitchFamily="49" charset="-122"/>
                          <a:ea typeface="KaiTi" panose="02010609060101010101" pitchFamily="49" charset="-122"/>
                        </a:rPr>
                        <a:t>支持模型</a:t>
                      </a:r>
                    </a:p>
                  </a:txBody>
                  <a:tcPr anchor="ctr"/>
                </a:tc>
                <a:tc>
                  <a:txBody>
                    <a:bodyPr/>
                    <a:lstStyle/>
                    <a:p>
                      <a:pPr algn="ctr"/>
                      <a:r>
                        <a:rPr lang="zh-CN" altLang="en-US" sz="1800" dirty="0">
                          <a:latin typeface="KaiTi" panose="02010609060101010101" pitchFamily="49" charset="-122"/>
                          <a:ea typeface="KaiTi" panose="02010609060101010101" pitchFamily="49" charset="-122"/>
                        </a:rPr>
                        <a:t>树结构</a:t>
                      </a:r>
                    </a:p>
                  </a:txBody>
                  <a:tcPr anchor="ctr"/>
                </a:tc>
                <a:tc>
                  <a:txBody>
                    <a:bodyPr/>
                    <a:lstStyle/>
                    <a:p>
                      <a:pPr algn="ctr"/>
                      <a:r>
                        <a:rPr lang="zh-CN" altLang="en-US" sz="1800" dirty="0">
                          <a:latin typeface="KaiTi" panose="02010609060101010101" pitchFamily="49" charset="-122"/>
                          <a:ea typeface="KaiTi" panose="02010609060101010101" pitchFamily="49" charset="-122"/>
                        </a:rPr>
                        <a:t>特征选择</a:t>
                      </a:r>
                    </a:p>
                  </a:txBody>
                  <a:tcPr anchor="ctr"/>
                </a:tc>
                <a:tc>
                  <a:txBody>
                    <a:bodyPr/>
                    <a:lstStyle/>
                    <a:p>
                      <a:pPr algn="ctr"/>
                      <a:r>
                        <a:rPr lang="zh-CN" altLang="en-US" sz="1800" dirty="0">
                          <a:latin typeface="KaiTi" panose="02010609060101010101" pitchFamily="49" charset="-122"/>
                          <a:ea typeface="KaiTi" panose="02010609060101010101" pitchFamily="49" charset="-122"/>
                        </a:rPr>
                        <a:t>连续值处理</a:t>
                      </a:r>
                    </a:p>
                  </a:txBody>
                  <a:tcPr anchor="ctr"/>
                </a:tc>
                <a:tc>
                  <a:txBody>
                    <a:bodyPr/>
                    <a:lstStyle/>
                    <a:p>
                      <a:pPr algn="ctr"/>
                      <a:r>
                        <a:rPr lang="zh-CN" altLang="en-US" sz="1800" dirty="0">
                          <a:latin typeface="KaiTi" panose="02010609060101010101" pitchFamily="49" charset="-122"/>
                          <a:ea typeface="KaiTi" panose="02010609060101010101" pitchFamily="49" charset="-122"/>
                        </a:rPr>
                        <a:t>缺失值处理</a:t>
                      </a:r>
                    </a:p>
                  </a:txBody>
                  <a:tcPr anchor="ctr"/>
                </a:tc>
                <a:tc>
                  <a:txBody>
                    <a:bodyPr/>
                    <a:lstStyle/>
                    <a:p>
                      <a:pPr algn="ctr"/>
                      <a:r>
                        <a:rPr lang="zh-CN" altLang="en-US" sz="1800" dirty="0">
                          <a:latin typeface="KaiTi" panose="02010609060101010101" pitchFamily="49" charset="-122"/>
                          <a:ea typeface="KaiTi" panose="02010609060101010101" pitchFamily="49" charset="-122"/>
                        </a:rPr>
                        <a:t>剪枝</a:t>
                      </a:r>
                    </a:p>
                  </a:txBody>
                  <a:tcPr anchor="ctr"/>
                </a:tc>
                <a:tc>
                  <a:txBody>
                    <a:bodyPr/>
                    <a:lstStyle/>
                    <a:p>
                      <a:pPr algn="ctr"/>
                      <a:r>
                        <a:rPr lang="zh-CN" altLang="en-US" sz="1800" dirty="0">
                          <a:latin typeface="KaiTi" panose="02010609060101010101" pitchFamily="49" charset="-122"/>
                          <a:ea typeface="KaiTi" panose="02010609060101010101" pitchFamily="49" charset="-122"/>
                        </a:rPr>
                        <a:t>特征属性多次使用</a:t>
                      </a:r>
                    </a:p>
                  </a:txBody>
                  <a:tcPr anchor="ctr"/>
                </a:tc>
                <a:extLst>
                  <a:ext uri="{0D108BD9-81ED-4DB2-BD59-A6C34878D82A}">
                    <a16:rowId xmlns:a16="http://schemas.microsoft.com/office/drawing/2014/main" val="2952894966"/>
                  </a:ext>
                </a:extLst>
              </a:tr>
              <a:tr h="546928">
                <a:tc>
                  <a:txBody>
                    <a:bodyPr/>
                    <a:lstStyle/>
                    <a:p>
                      <a:pPr algn="ctr"/>
                      <a:r>
                        <a:rPr lang="en-US" altLang="zh-CN" sz="1800" dirty="0">
                          <a:latin typeface="KaiTi" panose="02010609060101010101" pitchFamily="49" charset="-122"/>
                          <a:ea typeface="KaiTi" panose="02010609060101010101" pitchFamily="49" charset="-122"/>
                        </a:rPr>
                        <a:t>ID3</a:t>
                      </a:r>
                      <a:endParaRPr lang="zh-CN" altLang="en-US" sz="1800" dirty="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1800" dirty="0">
                          <a:latin typeface="KaiTi" panose="02010609060101010101" pitchFamily="49" charset="-122"/>
                          <a:ea typeface="KaiTi" panose="02010609060101010101" pitchFamily="49" charset="-122"/>
                        </a:rPr>
                        <a:t>分类</a:t>
                      </a:r>
                    </a:p>
                  </a:txBody>
                  <a:tcPr anchor="ctr"/>
                </a:tc>
                <a:tc>
                  <a:txBody>
                    <a:bodyPr/>
                    <a:lstStyle/>
                    <a:p>
                      <a:pPr algn="ctr"/>
                      <a:r>
                        <a:rPr lang="zh-CN" altLang="en-US" sz="1800" dirty="0">
                          <a:latin typeface="KaiTi" panose="02010609060101010101" pitchFamily="49" charset="-122"/>
                          <a:ea typeface="KaiTi" panose="02010609060101010101" pitchFamily="49" charset="-122"/>
                        </a:rPr>
                        <a:t>多叉树</a:t>
                      </a:r>
                    </a:p>
                  </a:txBody>
                  <a:tcPr anchor="ctr"/>
                </a:tc>
                <a:tc>
                  <a:txBody>
                    <a:bodyPr/>
                    <a:lstStyle/>
                    <a:p>
                      <a:pPr algn="ctr"/>
                      <a:r>
                        <a:rPr lang="zh-CN" altLang="en-US" sz="1800" dirty="0">
                          <a:solidFill>
                            <a:srgbClr val="FF0000"/>
                          </a:solidFill>
                          <a:latin typeface="KaiTi" panose="02010609060101010101" pitchFamily="49" charset="-122"/>
                          <a:ea typeface="KaiTi" panose="02010609060101010101" pitchFamily="49" charset="-122"/>
                        </a:rPr>
                        <a:t>信息增益</a:t>
                      </a:r>
                    </a:p>
                  </a:txBody>
                  <a:tcPr anchor="ctr"/>
                </a:tc>
                <a:tc>
                  <a:txBody>
                    <a:bodyPr/>
                    <a:lstStyle/>
                    <a:p>
                      <a:pPr algn="ctr"/>
                      <a:r>
                        <a:rPr lang="zh-CN" altLang="en-US" sz="1800" dirty="0">
                          <a:latin typeface="KaiTi" panose="02010609060101010101" pitchFamily="49" charset="-122"/>
                          <a:ea typeface="KaiTi" panose="02010609060101010101" pitchFamily="49" charset="-122"/>
                        </a:rPr>
                        <a:t>不支持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不支持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不支持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不支持</a:t>
                      </a:r>
                    </a:p>
                  </a:txBody>
                  <a:tcPr anchor="ctr"/>
                </a:tc>
                <a:extLst>
                  <a:ext uri="{0D108BD9-81ED-4DB2-BD59-A6C34878D82A}">
                    <a16:rowId xmlns:a16="http://schemas.microsoft.com/office/drawing/2014/main" val="2752954879"/>
                  </a:ext>
                </a:extLst>
              </a:tr>
              <a:tr h="546928">
                <a:tc>
                  <a:txBody>
                    <a:bodyPr/>
                    <a:lstStyle/>
                    <a:p>
                      <a:pPr algn="ctr"/>
                      <a:r>
                        <a:rPr lang="en-US" altLang="zh-CN" sz="1800" dirty="0">
                          <a:latin typeface="KaiTi" panose="02010609060101010101" pitchFamily="49" charset="-122"/>
                          <a:ea typeface="KaiTi" panose="02010609060101010101" pitchFamily="49" charset="-122"/>
                        </a:rPr>
                        <a:t>C4.5</a:t>
                      </a:r>
                      <a:endParaRPr lang="zh-CN" altLang="en-US" sz="1800" dirty="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1800" dirty="0">
                          <a:latin typeface="KaiTi" panose="02010609060101010101" pitchFamily="49" charset="-122"/>
                          <a:ea typeface="KaiTi" panose="02010609060101010101" pitchFamily="49" charset="-122"/>
                        </a:rPr>
                        <a:t>分类</a:t>
                      </a:r>
                    </a:p>
                  </a:txBody>
                  <a:tcPr anchor="ctr"/>
                </a:tc>
                <a:tc>
                  <a:txBody>
                    <a:bodyPr/>
                    <a:lstStyle/>
                    <a:p>
                      <a:pPr algn="ctr"/>
                      <a:r>
                        <a:rPr lang="zh-CN" altLang="en-US" sz="1800" dirty="0">
                          <a:latin typeface="KaiTi" panose="02010609060101010101" pitchFamily="49" charset="-122"/>
                          <a:ea typeface="KaiTi" panose="02010609060101010101" pitchFamily="49" charset="-122"/>
                        </a:rPr>
                        <a:t>多叉树</a:t>
                      </a:r>
                    </a:p>
                  </a:txBody>
                  <a:tcPr anchor="ctr"/>
                </a:tc>
                <a:tc>
                  <a:txBody>
                    <a:bodyPr/>
                    <a:lstStyle/>
                    <a:p>
                      <a:pPr algn="ctr"/>
                      <a:r>
                        <a:rPr lang="zh-CN" altLang="en-US" sz="1800" dirty="0">
                          <a:solidFill>
                            <a:srgbClr val="FF0000"/>
                          </a:solidFill>
                          <a:latin typeface="KaiTi" panose="02010609060101010101" pitchFamily="49" charset="-122"/>
                          <a:ea typeface="KaiTi" panose="02010609060101010101" pitchFamily="49" charset="-122"/>
                        </a:rPr>
                        <a:t>信息增益率</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不支持</a:t>
                      </a:r>
                    </a:p>
                  </a:txBody>
                  <a:tcPr anchor="ctr"/>
                </a:tc>
                <a:extLst>
                  <a:ext uri="{0D108BD9-81ED-4DB2-BD59-A6C34878D82A}">
                    <a16:rowId xmlns:a16="http://schemas.microsoft.com/office/drawing/2014/main" val="2764853885"/>
                  </a:ext>
                </a:extLst>
              </a:tr>
              <a:tr h="779373">
                <a:tc>
                  <a:txBody>
                    <a:bodyPr/>
                    <a:lstStyle/>
                    <a:p>
                      <a:pPr algn="ctr"/>
                      <a:r>
                        <a:rPr lang="en-US" altLang="zh-CN" sz="1800" dirty="0">
                          <a:latin typeface="KaiTi" panose="02010609060101010101" pitchFamily="49" charset="-122"/>
                          <a:ea typeface="KaiTi" panose="02010609060101010101" pitchFamily="49" charset="-122"/>
                        </a:rPr>
                        <a:t>CART</a:t>
                      </a:r>
                      <a:endParaRPr lang="zh-CN" altLang="en-US" sz="1800" dirty="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1800" dirty="0">
                          <a:latin typeface="KaiTi" panose="02010609060101010101" pitchFamily="49" charset="-122"/>
                          <a:ea typeface="KaiTi" panose="02010609060101010101" pitchFamily="49" charset="-122"/>
                        </a:rPr>
                        <a:t>分类</a:t>
                      </a:r>
                      <a:endParaRPr lang="en-US" altLang="zh-CN" sz="1800" dirty="0">
                        <a:latin typeface="KaiTi" panose="02010609060101010101" pitchFamily="49" charset="-122"/>
                        <a:ea typeface="KaiTi" panose="02010609060101010101" pitchFamily="49" charset="-122"/>
                      </a:endParaRPr>
                    </a:p>
                    <a:p>
                      <a:pPr algn="ctr"/>
                      <a:r>
                        <a:rPr lang="zh-CN" altLang="en-US" sz="1800" dirty="0">
                          <a:latin typeface="KaiTi" panose="02010609060101010101" pitchFamily="49" charset="-122"/>
                          <a:ea typeface="KaiTi" panose="02010609060101010101" pitchFamily="49" charset="-122"/>
                        </a:rPr>
                        <a:t>回归</a:t>
                      </a:r>
                    </a:p>
                  </a:txBody>
                  <a:tcPr anchor="ctr"/>
                </a:tc>
                <a:tc>
                  <a:txBody>
                    <a:bodyPr/>
                    <a:lstStyle/>
                    <a:p>
                      <a:pPr algn="ctr"/>
                      <a:r>
                        <a:rPr lang="zh-CN" altLang="en-US" sz="1800" dirty="0">
                          <a:latin typeface="KaiTi" panose="02010609060101010101" pitchFamily="49" charset="-122"/>
                          <a:ea typeface="KaiTi" panose="02010609060101010101" pitchFamily="49" charset="-122"/>
                        </a:rPr>
                        <a:t>二叉树</a:t>
                      </a:r>
                    </a:p>
                  </a:txBody>
                  <a:tcPr anchor="ctr"/>
                </a:tc>
                <a:tc>
                  <a:txBody>
                    <a:bodyPr/>
                    <a:lstStyle/>
                    <a:p>
                      <a:pPr algn="ctr"/>
                      <a:r>
                        <a:rPr lang="zh-CN" altLang="en-US" sz="1800" dirty="0">
                          <a:solidFill>
                            <a:srgbClr val="FF0000"/>
                          </a:solidFill>
                          <a:latin typeface="KaiTi" panose="02010609060101010101" pitchFamily="49" charset="-122"/>
                          <a:ea typeface="KaiTi" panose="02010609060101010101" pitchFamily="49" charset="-122"/>
                        </a:rPr>
                        <a:t>基尼指数</a:t>
                      </a:r>
                      <a:endParaRPr lang="en-US" altLang="zh-CN" sz="1800" dirty="0">
                        <a:solidFill>
                          <a:srgbClr val="FF0000"/>
                        </a:solidFill>
                        <a:latin typeface="KaiTi" panose="02010609060101010101" pitchFamily="49" charset="-122"/>
                        <a:ea typeface="KaiTi" panose="02010609060101010101" pitchFamily="49" charset="-122"/>
                      </a:endParaRPr>
                    </a:p>
                    <a:p>
                      <a:pPr algn="ctr"/>
                      <a:r>
                        <a:rPr lang="zh-CN" altLang="en-US" sz="1800" dirty="0">
                          <a:solidFill>
                            <a:srgbClr val="FF0000"/>
                          </a:solidFill>
                          <a:latin typeface="KaiTi" panose="02010609060101010101" pitchFamily="49" charset="-122"/>
                          <a:ea typeface="KaiTi" panose="02010609060101010101" pitchFamily="49" charset="-122"/>
                        </a:rPr>
                        <a:t>均方差</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tc>
                  <a:txBody>
                    <a:bodyPr/>
                    <a:lstStyle/>
                    <a:p>
                      <a:pPr algn="ctr"/>
                      <a:r>
                        <a:rPr lang="zh-CN" altLang="en-US" sz="1800" dirty="0">
                          <a:latin typeface="KaiTi" panose="02010609060101010101" pitchFamily="49" charset="-122"/>
                          <a:ea typeface="KaiTi" panose="02010609060101010101" pitchFamily="49" charset="-122"/>
                        </a:rPr>
                        <a:t>支持</a:t>
                      </a:r>
                    </a:p>
                  </a:txBody>
                  <a:tcPr anchor="ctr"/>
                </a:tc>
                <a:extLst>
                  <a:ext uri="{0D108BD9-81ED-4DB2-BD59-A6C34878D82A}">
                    <a16:rowId xmlns:a16="http://schemas.microsoft.com/office/drawing/2014/main" val="382593832"/>
                  </a:ext>
                </a:extLst>
              </a:tr>
            </a:tbl>
          </a:graphicData>
        </a:graphic>
      </p:graphicFrame>
      <p:sp>
        <p:nvSpPr>
          <p:cNvPr id="6" name="文本框 5">
            <a:extLst>
              <a:ext uri="{FF2B5EF4-FFF2-40B4-BE49-F238E27FC236}">
                <a16:creationId xmlns:a16="http://schemas.microsoft.com/office/drawing/2014/main" id="{C91690B9-27C8-445A-9B4D-A8AB1B25CD92}"/>
              </a:ext>
            </a:extLst>
          </p:cNvPr>
          <p:cNvSpPr txBox="1"/>
          <p:nvPr/>
        </p:nvSpPr>
        <p:spPr>
          <a:xfrm>
            <a:off x="704433" y="1361783"/>
            <a:ext cx="6096000" cy="400110"/>
          </a:xfrm>
          <a:prstGeom prst="rect">
            <a:avLst/>
          </a:prstGeom>
          <a:noFill/>
        </p:spPr>
        <p:txBody>
          <a:bodyPr wrap="square">
            <a:spAutoFit/>
          </a:bodyPr>
          <a:lstStyle/>
          <a:p>
            <a:r>
              <a:rPr lang="zh-CN" altLang="en-US" sz="2000" b="1" dirty="0">
                <a:solidFill>
                  <a:srgbClr val="000000"/>
                </a:solidFill>
                <a:latin typeface="KaiTi" panose="02010609060101010101" pitchFamily="49" charset="-122"/>
                <a:ea typeface="KaiTi" panose="02010609060101010101" pitchFamily="49" charset="-122"/>
              </a:rPr>
              <a:t>决策树的三种基本类型</a:t>
            </a:r>
            <a:endParaRPr lang="zh-CN" altLang="en-US" sz="2000" b="1" dirty="0">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A2AA13BE-30C6-49FF-839D-22254B16C838}"/>
              </a:ext>
            </a:extLst>
          </p:cNvPr>
          <p:cNvSpPr txBox="1"/>
          <p:nvPr/>
        </p:nvSpPr>
        <p:spPr>
          <a:xfrm>
            <a:off x="814776" y="1892850"/>
            <a:ext cx="10270435" cy="1405193"/>
          </a:xfrm>
          <a:prstGeom prst="rect">
            <a:avLst/>
          </a:prstGeom>
          <a:noFill/>
        </p:spPr>
        <p:txBody>
          <a:bodyPr wrap="square">
            <a:spAutoFit/>
          </a:bodyPr>
          <a:lstStyle/>
          <a:p>
            <a:pPr algn="just">
              <a:lnSpc>
                <a:spcPct val="150000"/>
              </a:lnSpc>
            </a:pPr>
            <a:r>
              <a:rPr lang="zh-CN" altLang="zh-CN" sz="2000" kern="100" dirty="0">
                <a:effectLst/>
                <a:latin typeface="KaiTi" panose="02010609060101010101" pitchFamily="49" charset="-122"/>
                <a:ea typeface="KaiTi" panose="02010609060101010101" pitchFamily="49" charset="-122"/>
              </a:rPr>
              <a:t>建立决策树的关键，即在当前状态下</a:t>
            </a:r>
            <a:r>
              <a:rPr lang="zh-CN" altLang="zh-CN" sz="2000" kern="100" dirty="0">
                <a:solidFill>
                  <a:srgbClr val="FF0000"/>
                </a:solidFill>
                <a:effectLst/>
                <a:latin typeface="KaiTi" panose="02010609060101010101" pitchFamily="49" charset="-122"/>
                <a:ea typeface="KaiTi" panose="02010609060101010101" pitchFamily="49" charset="-122"/>
              </a:rPr>
              <a:t>选择哪个属性</a:t>
            </a:r>
            <a:r>
              <a:rPr lang="zh-CN" altLang="zh-CN" sz="2000" kern="100" dirty="0">
                <a:effectLst/>
                <a:latin typeface="KaiTi" panose="02010609060101010101" pitchFamily="49" charset="-122"/>
                <a:ea typeface="KaiTi" panose="02010609060101010101" pitchFamily="49" charset="-122"/>
              </a:rPr>
              <a:t>作为分类依据。根据不同的目标函数，建立决策树主要有一下三种算法：</a:t>
            </a:r>
            <a:r>
              <a:rPr lang="en-US" altLang="zh-CN" sz="2000" kern="100" dirty="0">
                <a:effectLst/>
                <a:latin typeface="KaiTi" panose="02010609060101010101" pitchFamily="49" charset="-122"/>
                <a:ea typeface="KaiTi" panose="02010609060101010101" pitchFamily="49" charset="-122"/>
              </a:rPr>
              <a:t> ID3(Iterative </a:t>
            </a:r>
            <a:r>
              <a:rPr lang="en-US" altLang="zh-CN" sz="2000" kern="100" dirty="0" err="1">
                <a:effectLst/>
                <a:latin typeface="KaiTi" panose="02010609060101010101" pitchFamily="49" charset="-122"/>
                <a:ea typeface="KaiTi" panose="02010609060101010101" pitchFamily="49" charset="-122"/>
              </a:rPr>
              <a:t>Dichotomiser</a:t>
            </a:r>
            <a:r>
              <a:rPr lang="en-US" altLang="zh-CN" sz="2000" kern="100" dirty="0">
                <a:effectLst/>
                <a:latin typeface="KaiTi" panose="02010609060101010101" pitchFamily="49" charset="-122"/>
                <a:ea typeface="KaiTi" panose="02010609060101010101" pitchFamily="49" charset="-122"/>
              </a:rPr>
              <a:t>)</a:t>
            </a:r>
            <a:r>
              <a:rPr lang="zh-CN" altLang="zh-CN" sz="2000" kern="100" dirty="0">
                <a:effectLst/>
                <a:latin typeface="KaiTi" panose="02010609060101010101" pitchFamily="49" charset="-122"/>
                <a:ea typeface="KaiTi" panose="02010609060101010101" pitchFamily="49" charset="-122"/>
              </a:rPr>
              <a:t>、</a:t>
            </a:r>
            <a:r>
              <a:rPr lang="en-US" altLang="zh-CN" sz="2000" kern="100" dirty="0">
                <a:effectLst/>
                <a:latin typeface="KaiTi" panose="02010609060101010101" pitchFamily="49" charset="-122"/>
                <a:ea typeface="KaiTi" panose="02010609060101010101" pitchFamily="49" charset="-122"/>
              </a:rPr>
              <a:t>C4.5</a:t>
            </a:r>
            <a:r>
              <a:rPr lang="zh-CN" altLang="zh-CN" sz="2000" kern="100" dirty="0">
                <a:effectLst/>
                <a:latin typeface="KaiTi" panose="02010609060101010101" pitchFamily="49" charset="-122"/>
                <a:ea typeface="KaiTi" panose="02010609060101010101" pitchFamily="49" charset="-122"/>
              </a:rPr>
              <a:t>、</a:t>
            </a:r>
            <a:r>
              <a:rPr lang="en-US" altLang="zh-CN" sz="2000" kern="100" dirty="0">
                <a:effectLst/>
                <a:latin typeface="KaiTi" panose="02010609060101010101" pitchFamily="49" charset="-122"/>
                <a:ea typeface="KaiTi" panose="02010609060101010101" pitchFamily="49" charset="-122"/>
              </a:rPr>
              <a:t>CART(Classification And Regression Tree)</a:t>
            </a:r>
            <a:r>
              <a:rPr lang="zh-CN" altLang="zh-CN" sz="2000" kern="100" dirty="0">
                <a:effectLst/>
                <a:latin typeface="KaiTi" panose="02010609060101010101" pitchFamily="49" charset="-122"/>
                <a:ea typeface="KaiTi" panose="02010609060101010101" pitchFamily="49" charset="-122"/>
              </a:rPr>
              <a:t>。</a:t>
            </a:r>
          </a:p>
        </p:txBody>
      </p:sp>
      <p:sp>
        <p:nvSpPr>
          <p:cNvPr id="10" name="제목 9">
            <a:extLst>
              <a:ext uri="{FF2B5EF4-FFF2-40B4-BE49-F238E27FC236}">
                <a16:creationId xmlns:a16="http://schemas.microsoft.com/office/drawing/2014/main" id="{D7EB8D3B-6010-74B6-EE08-68F387BAFB45}"/>
              </a:ext>
            </a:extLst>
          </p:cNvPr>
          <p:cNvSpPr>
            <a:spLocks noGrp="1"/>
          </p:cNvSpPr>
          <p:nvPr>
            <p:ph type="title"/>
          </p:nvPr>
        </p:nvSpPr>
        <p:spPr/>
        <p:txBody>
          <a:bodyPr/>
          <a:lstStyle/>
          <a:p>
            <a:r>
              <a:rPr lang="zh-CN" altLang="en-US" dirty="0">
                <a:latin typeface="KaiTi" panose="02010609060101010101" pitchFamily="49" charset="-122"/>
                <a:ea typeface="KaiTi" panose="02010609060101010101" pitchFamily="49" charset="-122"/>
              </a:rPr>
              <a:t>决策树原理</a:t>
            </a:r>
            <a:endParaRPr lang="ko-Kore-KR" altLang="en-US"/>
          </a:p>
        </p:txBody>
      </p:sp>
    </p:spTree>
    <p:extLst>
      <p:ext uri="{BB962C8B-B14F-4D97-AF65-F5344CB8AC3E}">
        <p14:creationId xmlns:p14="http://schemas.microsoft.com/office/powerpoint/2010/main" val="296164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7">
            <a:extLst>
              <a:ext uri="{FF2B5EF4-FFF2-40B4-BE49-F238E27FC236}">
                <a16:creationId xmlns:a16="http://schemas.microsoft.com/office/drawing/2014/main" id="{19B2D2EA-B837-4645-A521-30B457E39146}"/>
              </a:ext>
            </a:extLst>
          </p:cNvPr>
          <p:cNvSpPr txBox="1"/>
          <p:nvPr/>
        </p:nvSpPr>
        <p:spPr>
          <a:xfrm>
            <a:off x="1096633" y="2214668"/>
            <a:ext cx="9878665" cy="1107996"/>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marL="342900" indent="-342900" algn="just">
              <a:lnSpc>
                <a:spcPct val="100000"/>
              </a:lnSpc>
              <a:buFont typeface="Wingdings" panose="05000000000000000000" pitchFamily="2" charset="2"/>
              <a:buChar char="l"/>
            </a:pPr>
            <a:r>
              <a:rPr lang="en-US" altLang="zh-CN" sz="2400" dirty="0">
                <a:latin typeface="KaiTi" panose="02010609060101010101" pitchFamily="49" charset="-122"/>
                <a:ea typeface="KaiTi" panose="02010609060101010101" pitchFamily="49" charset="-122"/>
                <a:cs typeface="Times New Roman" panose="02020603050405020304" pitchFamily="18" charset="0"/>
              </a:rPr>
              <a:t>ID3 </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算法最早是由罗斯昆（</a:t>
            </a:r>
            <a:r>
              <a:rPr lang="en-US" altLang="zh-CN" sz="2400" dirty="0">
                <a:latin typeface="KaiTi" panose="02010609060101010101" pitchFamily="49" charset="-122"/>
                <a:ea typeface="KaiTi" panose="02010609060101010101" pitchFamily="49" charset="-122"/>
                <a:cs typeface="Times New Roman" panose="02020603050405020304" pitchFamily="18" charset="0"/>
              </a:rPr>
              <a:t>J. Ross Quinlan</a:t>
            </a:r>
            <a:r>
              <a:rPr lang="zh-CN" altLang="en-US" sz="2400" dirty="0">
                <a:latin typeface="KaiTi" panose="02010609060101010101" pitchFamily="49" charset="-122"/>
                <a:ea typeface="KaiTi" panose="02010609060101010101" pitchFamily="49" charset="-122"/>
                <a:cs typeface="Times New Roman" panose="02020603050405020304" pitchFamily="18" charset="0"/>
              </a:rPr>
              <a:t>）于</a:t>
            </a:r>
            <a:r>
              <a:rPr lang="en-US" altLang="zh-CN" sz="2400" dirty="0">
                <a:latin typeface="KaiTi" panose="02010609060101010101" pitchFamily="49" charset="-122"/>
                <a:ea typeface="KaiTi" panose="02010609060101010101" pitchFamily="49" charset="-122"/>
                <a:cs typeface="Times New Roman" panose="02020603050405020304" pitchFamily="18" charset="0"/>
              </a:rPr>
              <a:t>1975</a:t>
            </a:r>
            <a:r>
              <a:rPr lang="zh-CN" altLang="en-US" sz="2400" dirty="0">
                <a:latin typeface="KaiTi" panose="02010609060101010101" pitchFamily="49" charset="-122"/>
                <a:ea typeface="KaiTi" panose="02010609060101010101" pitchFamily="49" charset="-122"/>
                <a:cs typeface="Times New Roman" panose="02020603050405020304" pitchFamily="18" charset="0"/>
              </a:rPr>
              <a:t>年提出的一种决策树构建算法，算法的核心是“</a:t>
            </a:r>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信息熵</a:t>
            </a:r>
            <a:r>
              <a:rPr lang="zh-CN" altLang="en-US" sz="2400" dirty="0">
                <a:latin typeface="KaiTi" panose="02010609060101010101" pitchFamily="49" charset="-122"/>
                <a:ea typeface="KaiTi" panose="02010609060101010101" pitchFamily="49" charset="-122"/>
                <a:cs typeface="Times New Roman" panose="02020603050405020304" pitchFamily="18" charset="0"/>
              </a:rPr>
              <a:t>”，期望信息越小，信息熵越大，样本纯度越低。</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p:txBody>
      </p:sp>
      <p:sp>
        <p:nvSpPr>
          <p:cNvPr id="34" name="文本框 17">
            <a:extLst>
              <a:ext uri="{FF2B5EF4-FFF2-40B4-BE49-F238E27FC236}">
                <a16:creationId xmlns:a16="http://schemas.microsoft.com/office/drawing/2014/main" id="{61AD1F0D-A35D-4547-B3C3-8598402C3ACF}"/>
              </a:ext>
            </a:extLst>
          </p:cNvPr>
          <p:cNvSpPr txBox="1"/>
          <p:nvPr/>
        </p:nvSpPr>
        <p:spPr>
          <a:xfrm>
            <a:off x="1096633" y="3373078"/>
            <a:ext cx="9878665" cy="2150525"/>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marL="342900" indent="-342900" algn="just">
              <a:lnSpc>
                <a:spcPct val="150000"/>
              </a:lnSpc>
              <a:buFont typeface="Wingdings" panose="05000000000000000000" pitchFamily="2" charset="2"/>
              <a:buChar char="l"/>
            </a:pPr>
            <a:r>
              <a:rPr lang="en-US" altLang="zh-CN" sz="2400" dirty="0">
                <a:latin typeface="KaiTi" panose="02010609060101010101" pitchFamily="49" charset="-122"/>
                <a:ea typeface="KaiTi" panose="02010609060101010101" pitchFamily="49" charset="-122"/>
                <a:cs typeface="Times New Roman" panose="02020603050405020304" pitchFamily="18" charset="0"/>
              </a:rPr>
              <a:t>ID3 </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算法是以信息论为基础，以</a:t>
            </a:r>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信息增益</a:t>
            </a:r>
            <a:r>
              <a:rPr lang="zh-CN" altLang="en-US" sz="2400" dirty="0">
                <a:latin typeface="KaiTi" panose="02010609060101010101" pitchFamily="49" charset="-122"/>
                <a:ea typeface="KaiTi" panose="02010609060101010101" pitchFamily="49" charset="-122"/>
                <a:cs typeface="Times New Roman" panose="02020603050405020304" pitchFamily="18" charset="0"/>
              </a:rPr>
              <a:t>为衡量标准，从而实现对数据的归纳分类。</a:t>
            </a:r>
          </a:p>
          <a:p>
            <a:pPr marL="342900" indent="-342900" algn="just">
              <a:lnSpc>
                <a:spcPct val="150000"/>
              </a:lnSpc>
              <a:buFont typeface="Wingdings" panose="05000000000000000000" pitchFamily="2" charset="2"/>
              <a:buChar char="l"/>
            </a:pPr>
            <a:r>
              <a:rPr lang="en-US" altLang="zh-CN" sz="2400" dirty="0">
                <a:latin typeface="KaiTi" panose="02010609060101010101" pitchFamily="49" charset="-122"/>
                <a:ea typeface="KaiTi" panose="02010609060101010101" pitchFamily="49" charset="-122"/>
                <a:cs typeface="Times New Roman" panose="02020603050405020304" pitchFamily="18" charset="0"/>
              </a:rPr>
              <a:t>ID3 </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算法计算每个属性的信息增益，并选取具有最高增益的属性作为给定的测试属性。</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p:txBody>
      </p:sp>
      <p:sp>
        <p:nvSpPr>
          <p:cNvPr id="36" name="文本框 35">
            <a:extLst>
              <a:ext uri="{FF2B5EF4-FFF2-40B4-BE49-F238E27FC236}">
                <a16:creationId xmlns:a16="http://schemas.microsoft.com/office/drawing/2014/main" id="{6D57D308-2AC7-49E9-9B5E-462C88820B6D}"/>
              </a:ext>
            </a:extLst>
          </p:cNvPr>
          <p:cNvSpPr txBox="1"/>
          <p:nvPr/>
        </p:nvSpPr>
        <p:spPr>
          <a:xfrm>
            <a:off x="690335" y="1328810"/>
            <a:ext cx="6096000" cy="523220"/>
          </a:xfrm>
          <a:prstGeom prst="rect">
            <a:avLst/>
          </a:prstGeom>
          <a:noFill/>
        </p:spPr>
        <p:txBody>
          <a:bodyPr wrap="square">
            <a:spAutoFit/>
          </a:bodyPr>
          <a:lstStyle/>
          <a:p>
            <a:r>
              <a:rPr lang="en-US" altLang="zh-CN" sz="2800" b="1" dirty="0">
                <a:latin typeface="KaiTi" panose="02010609060101010101" pitchFamily="49" charset="-122"/>
                <a:ea typeface="KaiTi" panose="02010609060101010101" pitchFamily="49" charset="-122"/>
                <a:cs typeface="Times New Roman" panose="02020603050405020304" pitchFamily="18" charset="0"/>
              </a:rPr>
              <a:t>ID3 </a:t>
            </a:r>
            <a:r>
              <a:rPr lang="zh-CN" altLang="en-US" sz="2800" b="1" dirty="0">
                <a:latin typeface="KaiTi" panose="02010609060101010101" pitchFamily="49" charset="-122"/>
                <a:ea typeface="KaiTi" panose="02010609060101010101" pitchFamily="49" charset="-122"/>
                <a:cs typeface="Times New Roman" panose="02020603050405020304" pitchFamily="18" charset="0"/>
              </a:rPr>
              <a:t>算法</a:t>
            </a:r>
            <a:endParaRPr lang="zh-CN" altLang="en-US" sz="2800" b="1" dirty="0">
              <a:latin typeface="KaiTi" panose="02010609060101010101" pitchFamily="49" charset="-122"/>
              <a:ea typeface="KaiTi" panose="02010609060101010101" pitchFamily="49" charset="-122"/>
            </a:endParaRPr>
          </a:p>
        </p:txBody>
      </p:sp>
      <p:sp>
        <p:nvSpPr>
          <p:cNvPr id="2" name="제목 2">
            <a:extLst>
              <a:ext uri="{FF2B5EF4-FFF2-40B4-BE49-F238E27FC236}">
                <a16:creationId xmlns:a16="http://schemas.microsoft.com/office/drawing/2014/main" id="{A0A0BD61-13D4-32B8-DDDB-9A14A5307600}"/>
              </a:ext>
            </a:extLst>
          </p:cNvPr>
          <p:cNvSpPr>
            <a:spLocks noGrp="1"/>
          </p:cNvSpPr>
          <p:nvPr>
            <p:ph type="title"/>
          </p:nvPr>
        </p:nvSpPr>
        <p:spPr>
          <a:xfrm>
            <a:off x="350985" y="221676"/>
            <a:ext cx="11369963" cy="738909"/>
          </a:xfrm>
        </p:spPr>
        <p:txBody>
          <a:bodyPr>
            <a:normAutofit/>
          </a:bodyPr>
          <a:lstStyle/>
          <a:p>
            <a:r>
              <a:rPr lang="en-US" altLang="zh-CN" sz="4400" b="1" dirty="0">
                <a:latin typeface="KaiTi" panose="02010609060101010101" pitchFamily="49" charset="-122"/>
                <a:ea typeface="KaiTi" panose="02010609060101010101" pitchFamily="49" charset="-122"/>
                <a:cs typeface="Times New Roman" panose="02020603050405020304" pitchFamily="18" charset="0"/>
              </a:rPr>
              <a:t>ID3 </a:t>
            </a:r>
            <a:r>
              <a:rPr lang="zh-CN" altLang="en-US" sz="4400" b="1" dirty="0">
                <a:latin typeface="KaiTi" panose="02010609060101010101" pitchFamily="49" charset="-122"/>
                <a:ea typeface="KaiTi" panose="02010609060101010101" pitchFamily="49" charset="-122"/>
                <a:cs typeface="Times New Roman" panose="02020603050405020304" pitchFamily="18" charset="0"/>
              </a:rPr>
              <a:t>算法</a:t>
            </a:r>
            <a:endParaRPr lang="zh-CN" altLang="en-US" sz="4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478242883"/>
      </p:ext>
    </p:extLst>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6D57D308-2AC7-49E9-9B5E-462C88820B6D}"/>
              </a:ext>
            </a:extLst>
          </p:cNvPr>
          <p:cNvSpPr txBox="1"/>
          <p:nvPr/>
        </p:nvSpPr>
        <p:spPr>
          <a:xfrm>
            <a:off x="725113" y="1363981"/>
            <a:ext cx="6096000" cy="523220"/>
          </a:xfrm>
          <a:prstGeom prst="rect">
            <a:avLst/>
          </a:prstGeom>
          <a:noFill/>
        </p:spPr>
        <p:txBody>
          <a:bodyPr wrap="square">
            <a:spAutoFit/>
          </a:bodyPr>
          <a:lstStyle/>
          <a:p>
            <a:r>
              <a:rPr lang="en-US" altLang="zh-CN" sz="2800" b="1" dirty="0">
                <a:latin typeface="KaiTi" panose="02010609060101010101" pitchFamily="49" charset="-122"/>
                <a:ea typeface="KaiTi" panose="02010609060101010101" pitchFamily="49" charset="-122"/>
                <a:cs typeface="Times New Roman" panose="02020603050405020304" pitchFamily="18" charset="0"/>
              </a:rPr>
              <a:t>ID3 </a:t>
            </a:r>
            <a:r>
              <a:rPr lang="zh-CN" altLang="en-US" sz="2800" b="1" dirty="0">
                <a:latin typeface="KaiTi" panose="02010609060101010101" pitchFamily="49" charset="-122"/>
                <a:ea typeface="KaiTi" panose="02010609060101010101" pitchFamily="49" charset="-122"/>
                <a:cs typeface="Times New Roman" panose="02020603050405020304" pitchFamily="18" charset="0"/>
              </a:rPr>
              <a:t>算法</a:t>
            </a:r>
            <a:endParaRPr lang="zh-CN" altLang="en-US" sz="2800" b="1" dirty="0">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8E369E20-03EA-47D5-8B77-C1B02CED45F2}"/>
              </a:ext>
            </a:extLst>
          </p:cNvPr>
          <p:cNvSpPr txBox="1"/>
          <p:nvPr/>
        </p:nvSpPr>
        <p:spPr>
          <a:xfrm>
            <a:off x="725113" y="2078840"/>
            <a:ext cx="10741774" cy="3329758"/>
          </a:xfrm>
          <a:prstGeom prst="rect">
            <a:avLst/>
          </a:prstGeom>
          <a:noFill/>
        </p:spPr>
        <p:txBody>
          <a:bodyPr wrap="square">
            <a:spAutoFit/>
          </a:bodyPr>
          <a:lstStyle/>
          <a:p>
            <a:pPr marL="342900" lvl="0" indent="-342900" algn="just">
              <a:lnSpc>
                <a:spcPct val="150000"/>
              </a:lnSpc>
              <a:buFont typeface="+mj-lt"/>
              <a:buAutoNum type="arabicPeriod"/>
            </a:pPr>
            <a:r>
              <a:rPr lang="zh-CN" altLang="zh-CN" sz="2400" kern="100" dirty="0">
                <a:effectLst/>
                <a:latin typeface="KaiTi" panose="02010609060101010101" pitchFamily="49" charset="-122"/>
                <a:ea typeface="KaiTi" panose="02010609060101010101" pitchFamily="49" charset="-122"/>
              </a:rPr>
              <a:t>初始化特征集合和数据集合；</a:t>
            </a:r>
          </a:p>
          <a:p>
            <a:pPr marL="342900" lvl="0" indent="-342900" algn="just">
              <a:lnSpc>
                <a:spcPct val="150000"/>
              </a:lnSpc>
              <a:buFont typeface="+mj-lt"/>
              <a:buAutoNum type="arabicPeriod"/>
            </a:pPr>
            <a:r>
              <a:rPr lang="zh-CN" altLang="zh-CN" sz="2400" kern="100" dirty="0">
                <a:effectLst/>
                <a:latin typeface="KaiTi" panose="02010609060101010101" pitchFamily="49" charset="-122"/>
                <a:ea typeface="KaiTi" panose="02010609060101010101" pitchFamily="49" charset="-122"/>
              </a:rPr>
              <a:t>计算数据集合</a:t>
            </a:r>
            <a:r>
              <a:rPr lang="zh-CN" altLang="zh-CN" sz="2400" kern="100" dirty="0">
                <a:solidFill>
                  <a:srgbClr val="FF0000"/>
                </a:solidFill>
                <a:effectLst/>
                <a:latin typeface="KaiTi" panose="02010609060101010101" pitchFamily="49" charset="-122"/>
                <a:ea typeface="KaiTi" panose="02010609060101010101" pitchFamily="49" charset="-122"/>
              </a:rPr>
              <a:t>信息熵</a:t>
            </a:r>
            <a:r>
              <a:rPr lang="zh-CN" altLang="zh-CN" sz="2400" kern="100" dirty="0">
                <a:effectLst/>
                <a:latin typeface="KaiTi" panose="02010609060101010101" pitchFamily="49" charset="-122"/>
                <a:ea typeface="KaiTi" panose="02010609060101010101" pitchFamily="49" charset="-122"/>
              </a:rPr>
              <a:t>和所有特征的</a:t>
            </a:r>
            <a:r>
              <a:rPr lang="zh-CN" altLang="zh-CN" sz="2400" kern="100" dirty="0">
                <a:solidFill>
                  <a:srgbClr val="FF0000"/>
                </a:solidFill>
                <a:effectLst/>
                <a:latin typeface="KaiTi" panose="02010609060101010101" pitchFamily="49" charset="-122"/>
                <a:ea typeface="KaiTi" panose="02010609060101010101" pitchFamily="49" charset="-122"/>
              </a:rPr>
              <a:t>条件熵</a:t>
            </a:r>
            <a:r>
              <a:rPr lang="zh-CN" altLang="zh-CN" sz="2400" kern="100" dirty="0">
                <a:effectLst/>
                <a:latin typeface="KaiTi" panose="02010609060101010101" pitchFamily="49" charset="-122"/>
                <a:ea typeface="KaiTi" panose="02010609060101010101" pitchFamily="49" charset="-122"/>
              </a:rPr>
              <a:t>，选择</a:t>
            </a:r>
            <a:r>
              <a:rPr lang="zh-CN" altLang="zh-CN" sz="2400" kern="100" dirty="0">
                <a:solidFill>
                  <a:srgbClr val="FF0000"/>
                </a:solidFill>
                <a:effectLst/>
                <a:latin typeface="KaiTi" panose="02010609060101010101" pitchFamily="49" charset="-122"/>
                <a:ea typeface="KaiTi" panose="02010609060101010101" pitchFamily="49" charset="-122"/>
              </a:rPr>
              <a:t>信息增益</a:t>
            </a:r>
            <a:r>
              <a:rPr lang="zh-CN" altLang="zh-CN" sz="2400" kern="100" dirty="0">
                <a:effectLst/>
                <a:latin typeface="KaiTi" panose="02010609060101010101" pitchFamily="49" charset="-122"/>
                <a:ea typeface="KaiTi" panose="02010609060101010101" pitchFamily="49" charset="-122"/>
              </a:rPr>
              <a:t>最大的特征作为当前决策节点；</a:t>
            </a:r>
          </a:p>
          <a:p>
            <a:pPr marL="342900" lvl="0" indent="-342900" algn="just">
              <a:lnSpc>
                <a:spcPct val="150000"/>
              </a:lnSpc>
              <a:buFont typeface="+mj-lt"/>
              <a:buAutoNum type="arabicPeriod"/>
            </a:pPr>
            <a:r>
              <a:rPr lang="zh-CN" altLang="zh-CN" sz="2400" kern="100" dirty="0">
                <a:effectLst/>
                <a:latin typeface="KaiTi" panose="02010609060101010101" pitchFamily="49" charset="-122"/>
                <a:ea typeface="KaiTi" panose="02010609060101010101" pitchFamily="49" charset="-122"/>
              </a:rPr>
              <a:t>更新数据集合和特征集合（删除上一步使用的特征，并按照特征值来划分不同分支的数据集合）；</a:t>
            </a:r>
          </a:p>
          <a:p>
            <a:pPr marL="342900" lvl="0" indent="-342900" algn="just">
              <a:lnSpc>
                <a:spcPct val="150000"/>
              </a:lnSpc>
              <a:buFont typeface="+mj-lt"/>
              <a:buAutoNum type="arabicPeriod"/>
            </a:pPr>
            <a:r>
              <a:rPr lang="zh-CN" altLang="zh-CN" sz="2400" kern="100" dirty="0">
                <a:effectLst/>
                <a:latin typeface="KaiTi" panose="02010609060101010101" pitchFamily="49" charset="-122"/>
                <a:ea typeface="KaiTi" panose="02010609060101010101" pitchFamily="49" charset="-122"/>
              </a:rPr>
              <a:t>重复</a:t>
            </a:r>
            <a:r>
              <a:rPr lang="en-US" altLang="zh-CN" sz="2400" kern="100" dirty="0">
                <a:effectLst/>
                <a:latin typeface="KaiTi" panose="02010609060101010101" pitchFamily="49" charset="-122"/>
                <a:ea typeface="KaiTi" panose="02010609060101010101" pitchFamily="49" charset="-122"/>
              </a:rPr>
              <a:t> 2</a:t>
            </a:r>
            <a:r>
              <a:rPr lang="zh-CN" altLang="zh-CN" sz="2400" kern="100" dirty="0">
                <a:effectLst/>
                <a:latin typeface="KaiTi" panose="02010609060101010101" pitchFamily="49" charset="-122"/>
                <a:ea typeface="KaiTi" panose="02010609060101010101" pitchFamily="49" charset="-122"/>
              </a:rPr>
              <a:t>，</a:t>
            </a:r>
            <a:r>
              <a:rPr lang="en-US" altLang="zh-CN" sz="2400" kern="100" dirty="0">
                <a:effectLst/>
                <a:latin typeface="KaiTi" panose="02010609060101010101" pitchFamily="49" charset="-122"/>
                <a:ea typeface="KaiTi" panose="02010609060101010101" pitchFamily="49" charset="-122"/>
              </a:rPr>
              <a:t>3 </a:t>
            </a:r>
            <a:r>
              <a:rPr lang="zh-CN" altLang="zh-CN" sz="2400" kern="100" dirty="0">
                <a:effectLst/>
                <a:latin typeface="KaiTi" panose="02010609060101010101" pitchFamily="49" charset="-122"/>
                <a:ea typeface="KaiTi" panose="02010609060101010101" pitchFamily="49" charset="-122"/>
              </a:rPr>
              <a:t>两步，若子集值包含单一特征，则为分支叶子节点。</a:t>
            </a:r>
          </a:p>
        </p:txBody>
      </p:sp>
      <p:sp>
        <p:nvSpPr>
          <p:cNvPr id="3" name="제목 2">
            <a:extLst>
              <a:ext uri="{FF2B5EF4-FFF2-40B4-BE49-F238E27FC236}">
                <a16:creationId xmlns:a16="http://schemas.microsoft.com/office/drawing/2014/main" id="{E139F1C3-791F-93BC-320C-FABF041C225B}"/>
              </a:ext>
            </a:extLst>
          </p:cNvPr>
          <p:cNvSpPr>
            <a:spLocks noGrp="1"/>
          </p:cNvSpPr>
          <p:nvPr>
            <p:ph type="title"/>
          </p:nvPr>
        </p:nvSpPr>
        <p:spPr/>
        <p:txBody>
          <a:bodyPr/>
          <a:lstStyle/>
          <a:p>
            <a:r>
              <a:rPr lang="en-US" altLang="zh-CN" sz="4400" b="1" dirty="0">
                <a:latin typeface="KaiTi" panose="02010609060101010101" pitchFamily="49" charset="-122"/>
                <a:ea typeface="KaiTi" panose="02010609060101010101" pitchFamily="49" charset="-122"/>
                <a:cs typeface="Times New Roman" panose="02020603050405020304" pitchFamily="18" charset="0"/>
              </a:rPr>
              <a:t>ID3 </a:t>
            </a:r>
            <a:r>
              <a:rPr lang="zh-CN" altLang="en-US" sz="4400" b="1" dirty="0">
                <a:latin typeface="KaiTi" panose="02010609060101010101" pitchFamily="49" charset="-122"/>
                <a:ea typeface="KaiTi" panose="02010609060101010101" pitchFamily="49" charset="-122"/>
                <a:cs typeface="Times New Roman" panose="02020603050405020304" pitchFamily="18" charset="0"/>
              </a:rPr>
              <a:t>算法</a:t>
            </a:r>
            <a:endParaRPr lang="ko-Kore-KR" altLang="en-US"/>
          </a:p>
        </p:txBody>
      </p:sp>
    </p:spTree>
    <p:extLst>
      <p:ext uri="{BB962C8B-B14F-4D97-AF65-F5344CB8AC3E}">
        <p14:creationId xmlns:p14="http://schemas.microsoft.com/office/powerpoint/2010/main" val="4017565501"/>
      </p:ext>
    </p:extLst>
  </p:cSld>
  <p:clrMapOvr>
    <a:masterClrMapping/>
  </p:clrMapOvr>
  <p:transition advTm="800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4AB9491-BE24-FA48-D80A-DC6DD8B78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946193" cy="58004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198FE0B-B353-6CE9-CB20-64EA96AA22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65" t="34169" r="80408" b="21923"/>
          <a:stretch/>
        </p:blipFill>
        <p:spPr bwMode="auto">
          <a:xfrm>
            <a:off x="9958643" y="4924960"/>
            <a:ext cx="1987550" cy="1750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96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344CC1D-0CE7-C7EF-862C-91DC98A61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84" y="0"/>
            <a:ext cx="11630759" cy="5339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1913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36AE299-1C8A-1CCD-E485-D3F5F5E65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9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991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D4B9A59F-E040-8766-4B76-AFB6BE546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8" y="0"/>
            <a:ext cx="12183422" cy="5151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208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921C712D-42BB-F887-C29D-A2C5AC416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67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460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987095D-BD15-6637-00BD-63610144B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22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215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dirty="0"/>
              <a:t>分割策略：信息增益</a:t>
            </a:r>
            <a:endParaRPr lang="en-US" sz="4000" dirty="0"/>
          </a:p>
        </p:txBody>
      </p:sp>
      <p:sp>
        <p:nvSpPr>
          <p:cNvPr id="3" name="Content Placeholder 2"/>
          <p:cNvSpPr>
            <a:spLocks noGrp="1"/>
          </p:cNvSpPr>
          <p:nvPr>
            <p:ph idx="1"/>
          </p:nvPr>
        </p:nvSpPr>
        <p:spPr>
          <a:xfrm>
            <a:off x="589108" y="1171575"/>
            <a:ext cx="11288497" cy="5384800"/>
          </a:xfrm>
        </p:spPr>
        <p:txBody>
          <a:bodyPr/>
          <a:lstStyle/>
          <a:p>
            <a:r>
              <a:rPr lang="en-US" sz="2200" dirty="0">
                <a:ea typeface="STKaiti" panose="02010600040101010101" pitchFamily="2" charset="-122"/>
              </a:rPr>
              <a:t>熵（信息论）</a:t>
            </a:r>
          </a:p>
          <a:p>
            <a:pPr lvl="1"/>
            <a:r>
              <a:rPr lang="en-US" sz="2200" dirty="0">
                <a:ea typeface="STKaiti" panose="02010600040101010101" pitchFamily="2" charset="-122"/>
              </a:rPr>
              <a:t>与随机数相关的的不确定性度量</a:t>
            </a:r>
          </a:p>
          <a:p>
            <a:pPr lvl="1"/>
            <a:r>
              <a:rPr lang="en-US" sz="2200" dirty="0">
                <a:ea typeface="STKaiti" panose="02010600040101010101" pitchFamily="2" charset="-122"/>
              </a:rPr>
              <a:t>计算：对于一个取m个不同值的离散随机变量Y，其值为{y</a:t>
            </a:r>
            <a:r>
              <a:rPr lang="en-US" sz="2200" baseline="-25000" dirty="0">
                <a:ea typeface="STKaiti" panose="02010600040101010101" pitchFamily="2" charset="-122"/>
              </a:rPr>
              <a:t>1</a:t>
            </a:r>
            <a:r>
              <a:rPr lang="en-US" sz="2200" dirty="0">
                <a:ea typeface="STKaiti" panose="02010600040101010101" pitchFamily="2" charset="-122"/>
              </a:rPr>
              <a:t> , y</a:t>
            </a:r>
            <a:r>
              <a:rPr lang="en-US" sz="2200" baseline="-25000" dirty="0">
                <a:ea typeface="STKaiti" panose="02010600040101010101" pitchFamily="2" charset="-122"/>
              </a:rPr>
              <a:t>2</a:t>
            </a:r>
            <a:r>
              <a:rPr lang="en-US" sz="2200" dirty="0">
                <a:ea typeface="STKaiti" panose="02010600040101010101" pitchFamily="2" charset="-122"/>
              </a:rPr>
              <a:t> , …, y</a:t>
            </a:r>
            <a:r>
              <a:rPr lang="en-US" sz="2200" baseline="-25000" dirty="0" err="1">
                <a:ea typeface="STKaiti" panose="02010600040101010101" pitchFamily="2" charset="-122"/>
              </a:rPr>
              <a:t>m</a:t>
            </a:r>
            <a:r>
              <a:rPr lang="en-US" sz="2200" dirty="0">
                <a:ea typeface="STKaiti" panose="02010600040101010101" pitchFamily="2" charset="-122"/>
              </a:rPr>
              <a:t> }</a:t>
            </a:r>
          </a:p>
          <a:p>
            <a:pPr lvl="1"/>
            <a:endParaRPr lang="en-US" sz="2200" dirty="0">
              <a:ea typeface="STKaiti" panose="02010600040101010101" pitchFamily="2" charset="-122"/>
            </a:endParaRPr>
          </a:p>
          <a:p>
            <a:pPr marL="200021" lvl="1" indent="0">
              <a:buNone/>
            </a:pPr>
            <a:endParaRPr lang="en-US" sz="2200" dirty="0">
              <a:ea typeface="STKaiti" panose="02010600040101010101" pitchFamily="2" charset="-122"/>
            </a:endParaRPr>
          </a:p>
          <a:p>
            <a:pPr lvl="1"/>
            <a:r>
              <a:rPr lang="en-US" sz="2200" dirty="0">
                <a:ea typeface="STKaiti" panose="02010600040101010101" pitchFamily="2" charset="-122"/>
              </a:rPr>
              <a:t>解释</a:t>
            </a:r>
          </a:p>
          <a:p>
            <a:pPr lvl="2"/>
            <a:r>
              <a:rPr lang="ko-KR" altLang="en-US" sz="2200" dirty="0">
                <a:ea typeface="STKaiti" panose="02010600040101010101" pitchFamily="2" charset="-122"/>
              </a:rPr>
              <a:t>信息熵大 → 数据混乱（不确定性高）</a:t>
            </a:r>
          </a:p>
          <a:p>
            <a:pPr lvl="2"/>
            <a:r>
              <a:rPr lang="ko-KR" altLang="en-US" sz="2200" dirty="0">
                <a:ea typeface="STKaiti" panose="02010600040101010101" pitchFamily="2" charset="-122"/>
              </a:rPr>
              <a:t>信息熵小 → 数据纯净（不确定性低） </a:t>
            </a:r>
            <a:endParaRPr lang="en-US" altLang="ko-KR" sz="2200" dirty="0">
              <a:ea typeface="STKaiti" panose="02010600040101010101" pitchFamily="2" charset="-122"/>
            </a:endParaRPr>
          </a:p>
          <a:p>
            <a:pPr lvl="1"/>
            <a:r>
              <a:rPr lang="en-US" sz="2200" dirty="0">
                <a:ea typeface="STKaiti" panose="02010600040101010101" pitchFamily="2" charset="-122"/>
              </a:rPr>
              <a:t>条件熵</a:t>
            </a:r>
          </a:p>
          <a:p>
            <a:pPr lvl="1"/>
            <a:endParaRPr lang="en-US" sz="2200" dirty="0">
              <a:ea typeface="STKaiti" panose="02010600040101010101" pitchFamily="2" charset="-122"/>
            </a:endParaRPr>
          </a:p>
          <a:p>
            <a:pPr marL="200021" lvl="1" indent="0">
              <a:buNone/>
            </a:pPr>
            <a:endParaRPr lang="en-US" sz="2200" dirty="0">
              <a:ea typeface="STKaiti" panose="02010600040101010101" pitchFamily="2" charset="-122"/>
            </a:endParaRPr>
          </a:p>
          <a:p>
            <a:r>
              <a:rPr lang="ko-Kore-KR" altLang="en-US" sz="2200"/>
              <a:t>信息增益 = H(Y) - H(Y|X)</a:t>
            </a:r>
          </a:p>
        </p:txBody>
      </p:sp>
      <p:pic>
        <p:nvPicPr>
          <p:cNvPr id="74754" name="Picture 2" descr="Image result for entr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294" y="3059182"/>
            <a:ext cx="2914581" cy="291458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2390389" y="2416125"/>
            <a:ext cx="6097905" cy="864133"/>
          </a:xfrm>
          <a:prstGeom prst="rect">
            <a:avLst/>
          </a:prstGeom>
        </p:spPr>
      </p:pic>
      <p:pic>
        <p:nvPicPr>
          <p:cNvPr id="5" name="Picture 4"/>
          <p:cNvPicPr>
            <a:picLocks noChangeAspect="1"/>
          </p:cNvPicPr>
          <p:nvPr/>
        </p:nvPicPr>
        <p:blipFill>
          <a:blip r:embed="rId5"/>
          <a:stretch>
            <a:fillRect/>
          </a:stretch>
        </p:blipFill>
        <p:spPr>
          <a:xfrm>
            <a:off x="1907324" y="5033898"/>
            <a:ext cx="3984025" cy="652527"/>
          </a:xfrm>
          <a:prstGeom prst="rect">
            <a:avLst/>
          </a:prstGeom>
        </p:spPr>
      </p:pic>
      <p:sp>
        <p:nvSpPr>
          <p:cNvPr id="7" name="TextBox 4"/>
          <p:cNvSpPr txBox="1">
            <a:spLocks noChangeArrowheads="1"/>
          </p:cNvSpPr>
          <p:nvPr/>
        </p:nvSpPr>
        <p:spPr bwMode="auto">
          <a:xfrm>
            <a:off x="9810750" y="6083532"/>
            <a:ext cx="681597" cy="338554"/>
          </a:xfrm>
          <a:prstGeom prst="rect">
            <a:avLst/>
          </a:prstGeom>
          <a:solidFill>
            <a:srgbClr val="FFFF00"/>
          </a:solidFill>
          <a:ln>
            <a:noFill/>
          </a:ln>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eaLnBrk="1" hangingPunct="1">
              <a:spcBef>
                <a:spcPct val="0"/>
              </a:spcBef>
              <a:buClrTx/>
              <a:buSzTx/>
              <a:buFontTx/>
              <a:buNone/>
            </a:pPr>
            <a:r>
              <a:rPr lang="en-US" altLang="en-US" sz="1600" b="1" dirty="0">
                <a:latin typeface="STKaiti" panose="02010600040101010101" pitchFamily="2" charset="-122"/>
                <a:ea typeface="STKaiti" panose="02010600040101010101" pitchFamily="2" charset="-122"/>
              </a:rPr>
              <a:t>m = 2</a:t>
            </a:r>
          </a:p>
        </p:txBody>
      </p:sp>
    </p:spTree>
    <p:extLst>
      <p:ext uri="{BB962C8B-B14F-4D97-AF65-F5344CB8AC3E}">
        <p14:creationId xmlns:p14="http://schemas.microsoft.com/office/powerpoint/2010/main" val="3187340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393" name="Object 8"/>
              <p:cNvSpPr txBox="1"/>
              <p:nvPr/>
            </p:nvSpPr>
            <p:spPr bwMode="auto">
              <a:xfrm>
                <a:off x="4978972" y="4854813"/>
                <a:ext cx="5677263" cy="4016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1800" i="1" smtClean="0">
                          <a:solidFill>
                            <a:srgbClr val="000000"/>
                          </a:solidFill>
                          <a:latin typeface="Cambria Math" panose="02040503050406030204" pitchFamily="18" charset="0"/>
                        </a:rPr>
                        <m:t>𝐺𝑎𝑖𝑛</m:t>
                      </m:r>
                      <m:r>
                        <a:rPr lang="en-US" sz="1800" i="1" smtClean="0">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𝑜𝑢𝑡𝑙𝑜𝑜𝑘</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𝐼𝑛𝑓𝑜</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𝐷</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𝐼𝑛𝑓</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𝑜</m:t>
                          </m:r>
                        </m:e>
                        <m:sub>
                          <m:r>
                            <a:rPr lang="en-US" sz="1800" b="0" i="1" smtClean="0">
                              <a:solidFill>
                                <a:srgbClr val="000000"/>
                              </a:solidFill>
                              <a:latin typeface="Cambria Math" panose="02040503050406030204" pitchFamily="18" charset="0"/>
                            </a:rPr>
                            <m:t>𝑜𝑢𝑡𝑙𝑜𝑜𝑘</m:t>
                          </m:r>
                        </m:sub>
                      </m:sSub>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𝐷</m:t>
                      </m:r>
                      <m:r>
                        <a:rPr lang="en-US" sz="1800" i="1">
                          <a:solidFill>
                            <a:srgbClr val="000000"/>
                          </a:solidFill>
                          <a:latin typeface="Cambria Math" panose="02040503050406030204" pitchFamily="18" charset="0"/>
                        </a:rPr>
                        <m:t>)=0.246</m:t>
                      </m:r>
                    </m:oMath>
                  </m:oMathPara>
                </a14:m>
                <a:endParaRPr lang="en-US" sz="1800" dirty="0">
                  <a:latin typeface="STKaiti" panose="02010600040101010101" pitchFamily="2" charset="-122"/>
                  <a:ea typeface="STKaiti" panose="02010600040101010101" pitchFamily="2" charset="-122"/>
                </a:endParaRPr>
              </a:p>
            </p:txBody>
          </p:sp>
        </mc:Choice>
        <mc:Fallback xmlns="">
          <p:sp>
            <p:nvSpPr>
              <p:cNvPr id="16393" name="Object 8"/>
              <p:cNvSpPr txBox="1">
                <a:spLocks noRot="1" noChangeAspect="1" noMove="1" noResize="1" noEditPoints="1" noAdjustHandles="1" noChangeArrowheads="1" noChangeShapeType="1" noTextEdit="1"/>
              </p:cNvSpPr>
              <p:nvPr/>
            </p:nvSpPr>
            <p:spPr bwMode="auto">
              <a:xfrm>
                <a:off x="4978972" y="4854813"/>
                <a:ext cx="5677263" cy="401638"/>
              </a:xfrm>
              <a:prstGeom prst="rect">
                <a:avLst/>
              </a:prstGeom>
              <a:blipFill>
                <a:blip r:embed="rId3"/>
                <a:stretch>
                  <a:fillRect b="-9375"/>
                </a:stretch>
              </a:blipFill>
              <a:ln>
                <a:noFill/>
              </a:ln>
              <a:effectLst/>
            </p:spPr>
            <p:txBody>
              <a:bodyPr/>
              <a:lstStyle/>
              <a:p>
                <a:r>
                  <a:rPr lang="ko-Kore-KR" altLang="en-US">
                    <a:noFill/>
                  </a:rPr>
                  <a:t> </a:t>
                </a:r>
              </a:p>
            </p:txBody>
          </p:sp>
        </mc:Fallback>
      </mc:AlternateContent>
      <p:graphicFrame>
        <p:nvGraphicFramePr>
          <p:cNvPr id="43" name="Object 11"/>
          <p:cNvGraphicFramePr>
            <a:graphicFrameLocks noChangeAspect="1"/>
          </p:cNvGraphicFramePr>
          <p:nvPr>
            <p:extLst>
              <p:ext uri="{D42A27DB-BD31-4B8C-83A1-F6EECF244321}">
                <p14:modId xmlns:p14="http://schemas.microsoft.com/office/powerpoint/2010/main" val="3673279751"/>
              </p:ext>
            </p:extLst>
          </p:nvPr>
        </p:nvGraphicFramePr>
        <p:xfrm>
          <a:off x="4776647" y="3509656"/>
          <a:ext cx="5276850" cy="575847"/>
        </p:xfrm>
        <a:graphic>
          <a:graphicData uri="http://schemas.openxmlformats.org/presentationml/2006/ole">
            <mc:AlternateContent xmlns:mc="http://schemas.openxmlformats.org/markup-compatibility/2006">
              <mc:Choice xmlns:v="urn:schemas-microsoft-com:vml" Requires="v">
                <p:oleObj name="Equation" r:id="rId4" imgW="3314700" imgH="393700" progId="Equation.3">
                  <p:embed/>
                </p:oleObj>
              </mc:Choice>
              <mc:Fallback>
                <p:oleObj name="Equation" r:id="rId4" imgW="3314700" imgH="393700" progId="Equation.3">
                  <p:embed/>
                  <p:pic>
                    <p:nvPicPr>
                      <p:cNvPr id="43"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6647" y="3509656"/>
                        <a:ext cx="5276850" cy="575847"/>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6" name="TextBox 5"/>
              <p:cNvSpPr txBox="1"/>
              <p:nvPr/>
            </p:nvSpPr>
            <p:spPr>
              <a:xfrm>
                <a:off x="4776647" y="4127078"/>
                <a:ext cx="5919313" cy="524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charset="0"/>
                        </a:rPr>
                        <m:t>𝐼𝑛𝑓</m:t>
                      </m:r>
                      <m:sSub>
                        <m:sSubPr>
                          <m:ctrlPr>
                            <a:rPr lang="en-US" sz="1800" b="0" i="1" smtClean="0">
                              <a:latin typeface="Cambria Math" panose="02040503050406030204" pitchFamily="18" charset="0"/>
                            </a:rPr>
                          </m:ctrlPr>
                        </m:sSubPr>
                        <m:e>
                          <m:r>
                            <a:rPr lang="en-US" sz="1800" b="0" i="1" smtClean="0">
                              <a:latin typeface="Cambria Math" charset="0"/>
                            </a:rPr>
                            <m:t>𝑜</m:t>
                          </m:r>
                        </m:e>
                        <m:sub>
                          <m:r>
                            <a:rPr lang="en-US" sz="1800" b="0" i="1" smtClean="0">
                              <a:latin typeface="Cambria Math" charset="0"/>
                            </a:rPr>
                            <m:t>𝑜𝑢𝑡𝑙𝑜𝑜𝑘</m:t>
                          </m:r>
                        </m:sub>
                      </m:sSub>
                      <m:d>
                        <m:dPr>
                          <m:ctrlPr>
                            <a:rPr lang="en-US" sz="1800" b="0" i="1" smtClean="0">
                              <a:latin typeface="Cambria Math" panose="02040503050406030204" pitchFamily="18" charset="0"/>
                            </a:rPr>
                          </m:ctrlPr>
                        </m:dPr>
                        <m:e>
                          <m:r>
                            <a:rPr lang="en-US" sz="1800" b="0" i="1" smtClean="0">
                              <a:latin typeface="Cambria Math" charset="0"/>
                            </a:rPr>
                            <m:t>𝐷</m:t>
                          </m:r>
                        </m:e>
                      </m:d>
                      <m:r>
                        <a:rPr lang="en-US" sz="1800" b="0" i="1" smtClean="0">
                          <a:latin typeface="Cambria Math" charset="0"/>
                        </a:rPr>
                        <m:t>=</m:t>
                      </m:r>
                      <m:f>
                        <m:fPr>
                          <m:ctrlPr>
                            <a:rPr lang="en-US" sz="1800" b="0" i="1" smtClean="0">
                              <a:latin typeface="Cambria Math" panose="02040503050406030204" pitchFamily="18" charset="0"/>
                            </a:rPr>
                          </m:ctrlPr>
                        </m:fPr>
                        <m:num>
                          <m:r>
                            <a:rPr lang="en-US" sz="1800" b="0" i="1" smtClean="0">
                              <a:latin typeface="Cambria Math" charset="0"/>
                            </a:rPr>
                            <m:t>5</m:t>
                          </m:r>
                        </m:num>
                        <m:den>
                          <m:r>
                            <a:rPr lang="en-US" sz="1800" b="0" i="1" smtClean="0">
                              <a:latin typeface="Cambria Math" charset="0"/>
                            </a:rPr>
                            <m:t>14</m:t>
                          </m:r>
                        </m:den>
                      </m:f>
                      <m:r>
                        <a:rPr lang="en-US" sz="1800" b="0" i="1" smtClean="0">
                          <a:latin typeface="Cambria Math" charset="0"/>
                        </a:rPr>
                        <m:t>𝐼</m:t>
                      </m:r>
                      <m:d>
                        <m:dPr>
                          <m:ctrlPr>
                            <a:rPr lang="en-US" sz="1800" b="0" i="1" smtClean="0">
                              <a:latin typeface="Cambria Math" panose="02040503050406030204" pitchFamily="18" charset="0"/>
                            </a:rPr>
                          </m:ctrlPr>
                        </m:dPr>
                        <m:e>
                          <m:r>
                            <a:rPr lang="en-US" sz="1800" b="0" i="1" smtClean="0">
                              <a:latin typeface="Cambria Math" charset="0"/>
                            </a:rPr>
                            <m:t>2,3</m:t>
                          </m:r>
                        </m:e>
                      </m:d>
                      <m:r>
                        <a:rPr lang="en-US" sz="1800" b="0" i="1" smtClean="0">
                          <a:latin typeface="Cambria Math" charset="0"/>
                        </a:rPr>
                        <m:t>+</m:t>
                      </m:r>
                      <m:f>
                        <m:fPr>
                          <m:ctrlPr>
                            <a:rPr lang="en-US" sz="1800" b="0" i="1" smtClean="0">
                              <a:latin typeface="Cambria Math" panose="02040503050406030204" pitchFamily="18" charset="0"/>
                            </a:rPr>
                          </m:ctrlPr>
                        </m:fPr>
                        <m:num>
                          <m:r>
                            <a:rPr lang="en-US" sz="1800" b="0" i="1" smtClean="0">
                              <a:latin typeface="Cambria Math" charset="0"/>
                            </a:rPr>
                            <m:t>4</m:t>
                          </m:r>
                        </m:num>
                        <m:den>
                          <m:r>
                            <a:rPr lang="en-US" sz="1800" b="0" i="1" smtClean="0">
                              <a:latin typeface="Cambria Math" charset="0"/>
                            </a:rPr>
                            <m:t>14</m:t>
                          </m:r>
                        </m:den>
                      </m:f>
                      <m:r>
                        <a:rPr lang="en-US" sz="1800" b="0" i="1" smtClean="0">
                          <a:latin typeface="Cambria Math" charset="0"/>
                        </a:rPr>
                        <m:t>𝐼</m:t>
                      </m:r>
                      <m:d>
                        <m:dPr>
                          <m:ctrlPr>
                            <a:rPr lang="en-US" sz="1800" b="0" i="1" smtClean="0">
                              <a:latin typeface="Cambria Math" panose="02040503050406030204" pitchFamily="18" charset="0"/>
                            </a:rPr>
                          </m:ctrlPr>
                        </m:dPr>
                        <m:e>
                          <m:r>
                            <a:rPr lang="en-US" sz="1800" b="0" i="1" smtClean="0">
                              <a:latin typeface="Cambria Math" charset="0"/>
                            </a:rPr>
                            <m:t>4,0</m:t>
                          </m:r>
                        </m:e>
                      </m:d>
                      <m:r>
                        <a:rPr lang="en-US" sz="1800" b="0" i="1" smtClean="0">
                          <a:latin typeface="Cambria Math" charset="0"/>
                        </a:rPr>
                        <m:t>+</m:t>
                      </m:r>
                      <m:f>
                        <m:fPr>
                          <m:ctrlPr>
                            <a:rPr lang="en-US" sz="1800" b="0" i="1" smtClean="0">
                              <a:latin typeface="Cambria Math" panose="02040503050406030204" pitchFamily="18" charset="0"/>
                            </a:rPr>
                          </m:ctrlPr>
                        </m:fPr>
                        <m:num>
                          <m:r>
                            <a:rPr lang="en-US" sz="1800" b="0" i="1" smtClean="0">
                              <a:latin typeface="Cambria Math" charset="0"/>
                            </a:rPr>
                            <m:t>5</m:t>
                          </m:r>
                        </m:num>
                        <m:den>
                          <m:r>
                            <a:rPr lang="en-US" sz="1800" b="0" i="1" smtClean="0">
                              <a:latin typeface="Cambria Math" charset="0"/>
                            </a:rPr>
                            <m:t>14</m:t>
                          </m:r>
                        </m:den>
                      </m:f>
                      <m:r>
                        <a:rPr lang="en-US" sz="1800" b="0" i="1" smtClean="0">
                          <a:latin typeface="Cambria Math" charset="0"/>
                        </a:rPr>
                        <m:t>𝐼</m:t>
                      </m:r>
                      <m:d>
                        <m:dPr>
                          <m:ctrlPr>
                            <a:rPr lang="en-US" sz="1800" b="0" i="1" smtClean="0">
                              <a:latin typeface="Cambria Math" panose="02040503050406030204" pitchFamily="18" charset="0"/>
                            </a:rPr>
                          </m:ctrlPr>
                        </m:dPr>
                        <m:e>
                          <m:r>
                            <a:rPr lang="en-US" sz="1800" b="0" i="1" smtClean="0">
                              <a:latin typeface="Cambria Math" charset="0"/>
                            </a:rPr>
                            <m:t>3,2</m:t>
                          </m:r>
                        </m:e>
                      </m:d>
                      <m:r>
                        <a:rPr lang="en-US" sz="1800" b="0" i="1" smtClean="0">
                          <a:latin typeface="Cambria Math" charset="0"/>
                        </a:rPr>
                        <m:t>=0.694</m:t>
                      </m:r>
                    </m:oMath>
                  </m:oMathPara>
                </a14:m>
                <a:endParaRPr lang="en-US" sz="1800" dirty="0">
                  <a:latin typeface="STKaiti" panose="02010600040101010101" pitchFamily="2" charset="-122"/>
                  <a:ea typeface="STKaiti" panose="02010600040101010101" pitchFamily="2"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76647" y="4127078"/>
                <a:ext cx="5919313" cy="524182"/>
              </a:xfrm>
              <a:prstGeom prst="rect">
                <a:avLst/>
              </a:prstGeom>
              <a:blipFill>
                <a:blip r:embed="rId6"/>
                <a:stretch>
                  <a:fillRect l="-857" r="-214" b="-13953"/>
                </a:stretch>
              </a:blipFill>
            </p:spPr>
            <p:txBody>
              <a:bodyPr/>
              <a:lstStyle/>
              <a:p>
                <a:r>
                  <a:rPr lang="ko-Kore-KR" altLang="en-US">
                    <a:noFill/>
                  </a:rPr>
                  <a:t> </a:t>
                </a:r>
              </a:p>
            </p:txBody>
          </p:sp>
        </mc:Fallback>
      </mc:AlternateContent>
      <p:graphicFrame>
        <p:nvGraphicFramePr>
          <p:cNvPr id="3" name="Table 46">
            <a:extLst>
              <a:ext uri="{FF2B5EF4-FFF2-40B4-BE49-F238E27FC236}">
                <a16:creationId xmlns:a16="http://schemas.microsoft.com/office/drawing/2014/main" id="{4EE7D599-29D2-3225-4C1E-F77EBAA90FFA}"/>
              </a:ext>
            </a:extLst>
          </p:cNvPr>
          <p:cNvGraphicFramePr>
            <a:graphicFrameLocks noGrp="1"/>
          </p:cNvGraphicFramePr>
          <p:nvPr>
            <p:extLst>
              <p:ext uri="{D42A27DB-BD31-4B8C-83A1-F6EECF244321}">
                <p14:modId xmlns:p14="http://schemas.microsoft.com/office/powerpoint/2010/main" val="1526979178"/>
              </p:ext>
            </p:extLst>
          </p:nvPr>
        </p:nvGraphicFramePr>
        <p:xfrm>
          <a:off x="158497" y="1210660"/>
          <a:ext cx="4272018" cy="5333827"/>
        </p:xfrm>
        <a:graphic>
          <a:graphicData uri="http://schemas.openxmlformats.org/drawingml/2006/table">
            <a:tbl>
              <a:tblPr firstRow="1" bandRow="1">
                <a:tableStyleId>{93296810-A885-4BE3-A3E7-6D5BEEA58F35}</a:tableStyleId>
              </a:tblPr>
              <a:tblGrid>
                <a:gridCol w="1019368">
                  <a:extLst>
                    <a:ext uri="{9D8B030D-6E8A-4147-A177-3AD203B41FA5}">
                      <a16:colId xmlns:a16="http://schemas.microsoft.com/office/drawing/2014/main" val="20000"/>
                    </a:ext>
                  </a:extLst>
                </a:gridCol>
                <a:gridCol w="713569">
                  <a:extLst>
                    <a:ext uri="{9D8B030D-6E8A-4147-A177-3AD203B41FA5}">
                      <a16:colId xmlns:a16="http://schemas.microsoft.com/office/drawing/2014/main" val="20001"/>
                    </a:ext>
                  </a:extLst>
                </a:gridCol>
                <a:gridCol w="1057950">
                  <a:extLst>
                    <a:ext uri="{9D8B030D-6E8A-4147-A177-3AD203B41FA5}">
                      <a16:colId xmlns:a16="http://schemas.microsoft.com/office/drawing/2014/main" val="20002"/>
                    </a:ext>
                  </a:extLst>
                </a:gridCol>
                <a:gridCol w="809021">
                  <a:extLst>
                    <a:ext uri="{9D8B030D-6E8A-4147-A177-3AD203B41FA5}">
                      <a16:colId xmlns:a16="http://schemas.microsoft.com/office/drawing/2014/main" val="20003"/>
                    </a:ext>
                  </a:extLst>
                </a:gridCol>
                <a:gridCol w="672110">
                  <a:extLst>
                    <a:ext uri="{9D8B030D-6E8A-4147-A177-3AD203B41FA5}">
                      <a16:colId xmlns:a16="http://schemas.microsoft.com/office/drawing/2014/main" val="20004"/>
                    </a:ext>
                  </a:extLst>
                </a:gridCol>
              </a:tblGrid>
              <a:tr h="585797">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Outlook</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Temp</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Humidity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Windy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Play Golf</a:t>
                      </a:r>
                    </a:p>
                  </a:txBody>
                  <a:tcPr anchor="ctr">
                    <a:solidFill>
                      <a:schemeClr val="accent2"/>
                    </a:solidFill>
                  </a:tcPr>
                </a:tc>
                <a:extLst>
                  <a:ext uri="{0D108BD9-81ED-4DB2-BD59-A6C34878D82A}">
                    <a16:rowId xmlns:a16="http://schemas.microsoft.com/office/drawing/2014/main" val="10000"/>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2"/>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4"/>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5"/>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6"/>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a:latin typeface="Times New Roman" panose="02020603050405020304" pitchFamily="18" charset="0"/>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7"/>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8"/>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9"/>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0"/>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2"/>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5" name="Table 43">
            <a:extLst>
              <a:ext uri="{FF2B5EF4-FFF2-40B4-BE49-F238E27FC236}">
                <a16:creationId xmlns:a16="http://schemas.microsoft.com/office/drawing/2014/main" id="{8DFB0857-F4EA-D993-5649-0E9D40F9C469}"/>
              </a:ext>
            </a:extLst>
          </p:cNvPr>
          <p:cNvGraphicFramePr>
            <a:graphicFrameLocks noGrp="1"/>
          </p:cNvGraphicFramePr>
          <p:nvPr>
            <p:extLst>
              <p:ext uri="{D42A27DB-BD31-4B8C-83A1-F6EECF244321}">
                <p14:modId xmlns:p14="http://schemas.microsoft.com/office/powerpoint/2010/main" val="4145136309"/>
              </p:ext>
            </p:extLst>
          </p:nvPr>
        </p:nvGraphicFramePr>
        <p:xfrm>
          <a:off x="4590900" y="1316442"/>
          <a:ext cx="3429272" cy="1110665"/>
        </p:xfrm>
        <a:graphic>
          <a:graphicData uri="http://schemas.openxmlformats.org/drawingml/2006/table">
            <a:tbl>
              <a:tblPr firstRow="1" bandRow="1">
                <a:tableStyleId>{2D5ABB26-0587-4C30-8999-92F81FD0307C}</a:tableStyleId>
              </a:tblPr>
              <a:tblGrid>
                <a:gridCol w="782357">
                  <a:extLst>
                    <a:ext uri="{9D8B030D-6E8A-4147-A177-3AD203B41FA5}">
                      <a16:colId xmlns:a16="http://schemas.microsoft.com/office/drawing/2014/main" val="3189156840"/>
                    </a:ext>
                  </a:extLst>
                </a:gridCol>
                <a:gridCol w="843446">
                  <a:extLst>
                    <a:ext uri="{9D8B030D-6E8A-4147-A177-3AD203B41FA5}">
                      <a16:colId xmlns:a16="http://schemas.microsoft.com/office/drawing/2014/main" val="713696415"/>
                    </a:ext>
                  </a:extLst>
                </a:gridCol>
                <a:gridCol w="754128">
                  <a:extLst>
                    <a:ext uri="{9D8B030D-6E8A-4147-A177-3AD203B41FA5}">
                      <a16:colId xmlns:a16="http://schemas.microsoft.com/office/drawing/2014/main" val="265858083"/>
                    </a:ext>
                  </a:extLst>
                </a:gridCol>
                <a:gridCol w="1049341">
                  <a:extLst>
                    <a:ext uri="{9D8B030D-6E8A-4147-A177-3AD203B41FA5}">
                      <a16:colId xmlns:a16="http://schemas.microsoft.com/office/drawing/2014/main" val="1676482580"/>
                    </a:ext>
                  </a:extLst>
                </a:gridCol>
              </a:tblGrid>
              <a:tr h="318622">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outlook</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I(yes,</a:t>
                      </a:r>
                      <a:r>
                        <a:rPr lang="en-US" sz="1600" b="1" baseline="0" dirty="0">
                          <a:solidFill>
                            <a:schemeClr val="bg1"/>
                          </a:solidFill>
                          <a:latin typeface="Times New Roman" panose="02020603050405020304" pitchFamily="18" charset="0"/>
                          <a:cs typeface="Times New Roman" panose="02020603050405020304" pitchFamily="18" charset="0"/>
                        </a:rPr>
                        <a:t> no)</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905">
                <a:tc>
                  <a:txBody>
                    <a:bodyPr/>
                    <a:lstStyle/>
                    <a:p>
                      <a:pPr algn="ctr"/>
                      <a:r>
                        <a:rPr lang="en-US" sz="1600" dirty="0">
                          <a:latin typeface="Times New Roman" panose="02020603050405020304" pitchFamily="18" charset="0"/>
                          <a:cs typeface="Times New Roman" panose="02020603050405020304" pitchFamily="18" charset="0"/>
                        </a:rPr>
                        <a:t>rainy</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0.971</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80233">
                <a:tc>
                  <a:txBody>
                    <a:bodyPr/>
                    <a:lstStyle/>
                    <a:p>
                      <a:pPr algn="ctr"/>
                      <a:r>
                        <a:rPr lang="en-US" sz="1600" dirty="0">
                          <a:latin typeface="Times New Roman" panose="02020603050405020304" pitchFamily="18" charset="0"/>
                          <a:cs typeface="Times New Roman" panose="02020603050405020304" pitchFamily="18" charset="0"/>
                        </a:rPr>
                        <a:t>overcast</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4</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r h="255905">
                <a:tc>
                  <a:txBody>
                    <a:bodyPr/>
                    <a:lstStyle/>
                    <a:p>
                      <a:pPr algn="ctr"/>
                      <a:r>
                        <a:rPr lang="en-US" sz="1600" dirty="0">
                          <a:latin typeface="Times New Roman" panose="02020603050405020304" pitchFamily="18" charset="0"/>
                          <a:cs typeface="Times New Roman" panose="02020603050405020304" pitchFamily="18" charset="0"/>
                        </a:rPr>
                        <a:t>sunny</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0.971</a:t>
                      </a:r>
                    </a:p>
                  </a:txBody>
                  <a:tcPr marL="0" marR="0" marT="0" marB="0" anchor="ctr">
                    <a:solidFill>
                      <a:schemeClr val="tx2">
                        <a:lumMod val="20000"/>
                        <a:lumOff val="80000"/>
                      </a:schemeClr>
                    </a:solidFill>
                  </a:tcPr>
                </a:tc>
                <a:extLst>
                  <a:ext uri="{0D108BD9-81ED-4DB2-BD59-A6C34878D82A}">
                    <a16:rowId xmlns:a16="http://schemas.microsoft.com/office/drawing/2014/main" val="3226009038"/>
                  </a:ext>
                </a:extLst>
              </a:tr>
            </a:tbl>
          </a:graphicData>
        </a:graphic>
      </p:graphicFrame>
      <p:grpSp>
        <p:nvGrpSpPr>
          <p:cNvPr id="11" name="Group 3">
            <a:extLst>
              <a:ext uri="{FF2B5EF4-FFF2-40B4-BE49-F238E27FC236}">
                <a16:creationId xmlns:a16="http://schemas.microsoft.com/office/drawing/2014/main" id="{8ADD6A27-798C-4F33-8F1A-E12DB58A2098}"/>
              </a:ext>
            </a:extLst>
          </p:cNvPr>
          <p:cNvGrpSpPr/>
          <p:nvPr/>
        </p:nvGrpSpPr>
        <p:grpSpPr>
          <a:xfrm>
            <a:off x="7944753" y="1275858"/>
            <a:ext cx="4025803" cy="1427389"/>
            <a:chOff x="3978306" y="1304384"/>
            <a:chExt cx="4004672" cy="1577540"/>
          </a:xfrm>
        </p:grpSpPr>
        <p:sp>
          <p:nvSpPr>
            <p:cNvPr id="12" name="Rectangle 3">
              <a:extLst>
                <a:ext uri="{FF2B5EF4-FFF2-40B4-BE49-F238E27FC236}">
                  <a16:creationId xmlns:a16="http://schemas.microsoft.com/office/drawing/2014/main" id="{D0830CC9-17DF-E097-621A-F880D466EE3F}"/>
                </a:ext>
              </a:extLst>
            </p:cNvPr>
            <p:cNvSpPr>
              <a:spLocks noChangeArrowheads="1"/>
            </p:cNvSpPr>
            <p:nvPr/>
          </p:nvSpPr>
          <p:spPr bwMode="auto">
            <a:xfrm>
              <a:off x="5186118" y="1304384"/>
              <a:ext cx="1370745" cy="511489"/>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b="1" dirty="0">
                  <a:latin typeface="Times New Roman" panose="02020603050405020304" pitchFamily="18" charset="0"/>
                </a:rPr>
                <a:t>outlook?</a:t>
              </a:r>
            </a:p>
          </p:txBody>
        </p:sp>
        <p:sp>
          <p:nvSpPr>
            <p:cNvPr id="13" name="Rectangle 14">
              <a:extLst>
                <a:ext uri="{FF2B5EF4-FFF2-40B4-BE49-F238E27FC236}">
                  <a16:creationId xmlns:a16="http://schemas.microsoft.com/office/drawing/2014/main" id="{57C8C072-342B-B29E-234F-4F76175727E3}"/>
                </a:ext>
              </a:extLst>
            </p:cNvPr>
            <p:cNvSpPr>
              <a:spLocks noChangeArrowheads="1"/>
            </p:cNvSpPr>
            <p:nvPr/>
          </p:nvSpPr>
          <p:spPr bwMode="auto">
            <a:xfrm>
              <a:off x="4208310" y="1919731"/>
              <a:ext cx="973022" cy="462307"/>
            </a:xfrm>
            <a:prstGeom prst="rect">
              <a:avLst/>
            </a:prstGeom>
            <a:noFill/>
            <a:ln w="12700">
              <a:solidFill>
                <a:schemeClr val="bg1"/>
              </a:solidFill>
              <a:miter lim="800000"/>
              <a:headEnd/>
              <a:tailEnd/>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Sunny</a:t>
              </a:r>
            </a:p>
          </p:txBody>
        </p:sp>
        <p:sp>
          <p:nvSpPr>
            <p:cNvPr id="14" name="Rectangle 15">
              <a:extLst>
                <a:ext uri="{FF2B5EF4-FFF2-40B4-BE49-F238E27FC236}">
                  <a16:creationId xmlns:a16="http://schemas.microsoft.com/office/drawing/2014/main" id="{33587F3D-49D7-C208-696D-3126078F333B}"/>
                </a:ext>
              </a:extLst>
            </p:cNvPr>
            <p:cNvSpPr>
              <a:spLocks noChangeArrowheads="1"/>
            </p:cNvSpPr>
            <p:nvPr/>
          </p:nvSpPr>
          <p:spPr bwMode="auto">
            <a:xfrm>
              <a:off x="6538399" y="1923439"/>
              <a:ext cx="920124"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Rainy</a:t>
              </a:r>
            </a:p>
          </p:txBody>
        </p:sp>
        <p:sp>
          <p:nvSpPr>
            <p:cNvPr id="15" name="Rectangle 30">
              <a:extLst>
                <a:ext uri="{FF2B5EF4-FFF2-40B4-BE49-F238E27FC236}">
                  <a16:creationId xmlns:a16="http://schemas.microsoft.com/office/drawing/2014/main" id="{F3A6BDBA-7FA1-A970-B04B-B543227F51CE}"/>
                </a:ext>
              </a:extLst>
            </p:cNvPr>
            <p:cNvSpPr>
              <a:spLocks noChangeArrowheads="1"/>
            </p:cNvSpPr>
            <p:nvPr/>
          </p:nvSpPr>
          <p:spPr bwMode="auto">
            <a:xfrm>
              <a:off x="5702137" y="2424337"/>
              <a:ext cx="1066800" cy="304800"/>
            </a:xfrm>
            <a:prstGeom prst="rect">
              <a:avLst/>
            </a:prstGeom>
            <a:noFill/>
            <a:ln>
              <a:noFill/>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800" dirty="0">
                  <a:latin typeface="Times New Roman" panose="02020603050405020304" pitchFamily="18" charset="0"/>
                </a:rPr>
                <a:t>Overcast</a:t>
              </a:r>
            </a:p>
          </p:txBody>
        </p:sp>
        <p:cxnSp>
          <p:nvCxnSpPr>
            <p:cNvPr id="16" name="Straight Arrow Connector 34">
              <a:extLst>
                <a:ext uri="{FF2B5EF4-FFF2-40B4-BE49-F238E27FC236}">
                  <a16:creationId xmlns:a16="http://schemas.microsoft.com/office/drawing/2014/main" id="{8B0ACA14-4193-643E-F7E7-49A40C0EA877}"/>
                </a:ext>
              </a:extLst>
            </p:cNvPr>
            <p:cNvCxnSpPr/>
            <p:nvPr/>
          </p:nvCxnSpPr>
          <p:spPr>
            <a:xfrm flipH="1">
              <a:off x="3978306" y="1815873"/>
              <a:ext cx="1893185" cy="10652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35">
              <a:extLst>
                <a:ext uri="{FF2B5EF4-FFF2-40B4-BE49-F238E27FC236}">
                  <a16:creationId xmlns:a16="http://schemas.microsoft.com/office/drawing/2014/main" id="{CE6F9493-B0E0-3697-7C36-F4C4BB04E3C6}"/>
                </a:ext>
              </a:extLst>
            </p:cNvPr>
            <p:cNvCxnSpPr/>
            <p:nvPr/>
          </p:nvCxnSpPr>
          <p:spPr>
            <a:xfrm flipH="1">
              <a:off x="5869860" y="1815873"/>
              <a:ext cx="1631" cy="1066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36">
              <a:extLst>
                <a:ext uri="{FF2B5EF4-FFF2-40B4-BE49-F238E27FC236}">
                  <a16:creationId xmlns:a16="http://schemas.microsoft.com/office/drawing/2014/main" id="{F8B7B3A1-C760-8F29-A2CF-45263F182BE2}"/>
                </a:ext>
              </a:extLst>
            </p:cNvPr>
            <p:cNvCxnSpPr>
              <a:cxnSpLocks/>
            </p:cNvCxnSpPr>
            <p:nvPr/>
          </p:nvCxnSpPr>
          <p:spPr>
            <a:xfrm>
              <a:off x="5871491" y="1815873"/>
              <a:ext cx="2111487" cy="10652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9" name="제목 2">
            <a:extLst>
              <a:ext uri="{FF2B5EF4-FFF2-40B4-BE49-F238E27FC236}">
                <a16:creationId xmlns:a16="http://schemas.microsoft.com/office/drawing/2014/main" id="{6B10884C-1524-E0D2-37E1-F035F801AFB8}"/>
              </a:ext>
            </a:extLst>
          </p:cNvPr>
          <p:cNvSpPr txBox="1">
            <a:spLocks/>
          </p:cNvSpPr>
          <p:nvPr/>
        </p:nvSpPr>
        <p:spPr>
          <a:xfrm>
            <a:off x="350985" y="221676"/>
            <a:ext cx="11369963" cy="738909"/>
          </a:xfrm>
          <a:prstGeom prst="rect">
            <a:avLst/>
          </a:prstGeom>
        </p:spPr>
        <p:txBody>
          <a:bodyPr vert="horz" lIns="91436" tIns="45718" rIns="91436" bIns="45718" rtlCol="0" anchor="b">
            <a:normAutofit/>
          </a:bodyPr>
          <a:lst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a:lstStyle>
          <a:p>
            <a:r>
              <a:rPr lang="en-US" altLang="en-US" sz="4400" dirty="0"/>
              <a:t>示例：基于信息增益的属性选择</a:t>
            </a:r>
            <a:endParaRPr lang="ko-KR" altLang="en-US" b="1" dirty="0">
              <a:latin typeface="KaiTi" panose="02010609060101010101" pitchFamily="49" charset="-122"/>
              <a:ea typeface="KaiTi" panose="02010609060101010101" pitchFamily="49" charset="-122"/>
              <a:cs typeface="Times New Roman" panose="02020603050405020304" pitchFamily="18" charset="0"/>
            </a:endParaRPr>
          </a:p>
        </p:txBody>
      </p:sp>
      <p:pic>
        <p:nvPicPr>
          <p:cNvPr id="4" name="그림 3">
            <a:extLst>
              <a:ext uri="{FF2B5EF4-FFF2-40B4-BE49-F238E27FC236}">
                <a16:creationId xmlns:a16="http://schemas.microsoft.com/office/drawing/2014/main" id="{9028611F-B88F-F638-6B52-BF2FC4C43BEC}"/>
              </a:ext>
            </a:extLst>
          </p:cNvPr>
          <p:cNvPicPr>
            <a:picLocks noChangeAspect="1"/>
          </p:cNvPicPr>
          <p:nvPr/>
        </p:nvPicPr>
        <p:blipFill>
          <a:blip r:embed="rId7"/>
          <a:stretch>
            <a:fillRect/>
          </a:stretch>
        </p:blipFill>
        <p:spPr>
          <a:xfrm>
            <a:off x="9846288" y="5192204"/>
            <a:ext cx="2345712" cy="1665796"/>
          </a:xfrm>
          <a:prstGeom prst="rect">
            <a:avLst/>
          </a:prstGeom>
        </p:spPr>
      </p:pic>
    </p:spTree>
    <p:extLst>
      <p:ext uri="{BB962C8B-B14F-4D97-AF65-F5344CB8AC3E}">
        <p14:creationId xmlns:p14="http://schemas.microsoft.com/office/powerpoint/2010/main" val="580064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2">
            <a:extLst>
              <a:ext uri="{FF2B5EF4-FFF2-40B4-BE49-F238E27FC236}">
                <a16:creationId xmlns:a16="http://schemas.microsoft.com/office/drawing/2014/main" id="{B109F05D-F5C7-924C-3A93-D82F67F50027}"/>
              </a:ext>
            </a:extLst>
          </p:cNvPr>
          <p:cNvSpPr txBox="1">
            <a:spLocks/>
          </p:cNvSpPr>
          <p:nvPr/>
        </p:nvSpPr>
        <p:spPr>
          <a:xfrm>
            <a:off x="350985" y="221676"/>
            <a:ext cx="11369963" cy="738909"/>
          </a:xfrm>
          <a:prstGeom prst="rect">
            <a:avLst/>
          </a:prstGeom>
        </p:spPr>
        <p:txBody>
          <a:bodyPr vert="horz" lIns="91436" tIns="45718" rIns="91436" bIns="45718" rtlCol="0" anchor="b">
            <a:normAutofit/>
          </a:bodyPr>
          <a:lst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a:lstStyle>
          <a:p>
            <a:r>
              <a:rPr lang="en-US" altLang="en-US" sz="4400" dirty="0"/>
              <a:t>示例：基于信息增益的属性选择</a:t>
            </a:r>
            <a:endParaRPr lang="ko-KR" altLang="en-US" b="1" dirty="0">
              <a:latin typeface="KaiTi" panose="02010609060101010101" pitchFamily="49" charset="-122"/>
              <a:ea typeface="KaiTi" panose="02010609060101010101" pitchFamily="49" charset="-122"/>
              <a:cs typeface="Times New Roman" panose="02020603050405020304" pitchFamily="18" charset="0"/>
            </a:endParaRPr>
          </a:p>
        </p:txBody>
      </p:sp>
      <p:graphicFrame>
        <p:nvGraphicFramePr>
          <p:cNvPr id="2" name="Table 46">
            <a:extLst>
              <a:ext uri="{FF2B5EF4-FFF2-40B4-BE49-F238E27FC236}">
                <a16:creationId xmlns:a16="http://schemas.microsoft.com/office/drawing/2014/main" id="{22052600-D6DD-CB31-B55A-94806B46676A}"/>
              </a:ext>
            </a:extLst>
          </p:cNvPr>
          <p:cNvGraphicFramePr>
            <a:graphicFrameLocks noGrp="1"/>
          </p:cNvGraphicFramePr>
          <p:nvPr>
            <p:extLst>
              <p:ext uri="{D42A27DB-BD31-4B8C-83A1-F6EECF244321}">
                <p14:modId xmlns:p14="http://schemas.microsoft.com/office/powerpoint/2010/main" val="3054999415"/>
              </p:ext>
            </p:extLst>
          </p:nvPr>
        </p:nvGraphicFramePr>
        <p:xfrm>
          <a:off x="158497" y="1210660"/>
          <a:ext cx="4272018" cy="5333827"/>
        </p:xfrm>
        <a:graphic>
          <a:graphicData uri="http://schemas.openxmlformats.org/drawingml/2006/table">
            <a:tbl>
              <a:tblPr firstRow="1" bandRow="1">
                <a:tableStyleId>{93296810-A885-4BE3-A3E7-6D5BEEA58F35}</a:tableStyleId>
              </a:tblPr>
              <a:tblGrid>
                <a:gridCol w="1019368">
                  <a:extLst>
                    <a:ext uri="{9D8B030D-6E8A-4147-A177-3AD203B41FA5}">
                      <a16:colId xmlns:a16="http://schemas.microsoft.com/office/drawing/2014/main" val="20000"/>
                    </a:ext>
                  </a:extLst>
                </a:gridCol>
                <a:gridCol w="713569">
                  <a:extLst>
                    <a:ext uri="{9D8B030D-6E8A-4147-A177-3AD203B41FA5}">
                      <a16:colId xmlns:a16="http://schemas.microsoft.com/office/drawing/2014/main" val="20001"/>
                    </a:ext>
                  </a:extLst>
                </a:gridCol>
                <a:gridCol w="1057950">
                  <a:extLst>
                    <a:ext uri="{9D8B030D-6E8A-4147-A177-3AD203B41FA5}">
                      <a16:colId xmlns:a16="http://schemas.microsoft.com/office/drawing/2014/main" val="20002"/>
                    </a:ext>
                  </a:extLst>
                </a:gridCol>
                <a:gridCol w="809021">
                  <a:extLst>
                    <a:ext uri="{9D8B030D-6E8A-4147-A177-3AD203B41FA5}">
                      <a16:colId xmlns:a16="http://schemas.microsoft.com/office/drawing/2014/main" val="20003"/>
                    </a:ext>
                  </a:extLst>
                </a:gridCol>
                <a:gridCol w="672110">
                  <a:extLst>
                    <a:ext uri="{9D8B030D-6E8A-4147-A177-3AD203B41FA5}">
                      <a16:colId xmlns:a16="http://schemas.microsoft.com/office/drawing/2014/main" val="20004"/>
                    </a:ext>
                  </a:extLst>
                </a:gridCol>
              </a:tblGrid>
              <a:tr h="585797">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Outlook</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Temp</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Humidity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Windy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Play Golf</a:t>
                      </a:r>
                    </a:p>
                  </a:txBody>
                  <a:tcPr anchor="ctr">
                    <a:solidFill>
                      <a:schemeClr val="accent2"/>
                    </a:solidFill>
                  </a:tcPr>
                </a:tc>
                <a:extLst>
                  <a:ext uri="{0D108BD9-81ED-4DB2-BD59-A6C34878D82A}">
                    <a16:rowId xmlns:a16="http://schemas.microsoft.com/office/drawing/2014/main" val="10000"/>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2"/>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4"/>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5"/>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6"/>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a:latin typeface="Times New Roman" panose="02020603050405020304" pitchFamily="18" charset="0"/>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7"/>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8"/>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9"/>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0"/>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2"/>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3" name="Table 12">
            <a:extLst>
              <a:ext uri="{FF2B5EF4-FFF2-40B4-BE49-F238E27FC236}">
                <a16:creationId xmlns:a16="http://schemas.microsoft.com/office/drawing/2014/main" id="{6CF7D277-C295-7D42-7260-D6F46BBD9517}"/>
              </a:ext>
            </a:extLst>
          </p:cNvPr>
          <p:cNvGraphicFramePr>
            <a:graphicFrameLocks noGrp="1"/>
          </p:cNvGraphicFramePr>
          <p:nvPr>
            <p:extLst>
              <p:ext uri="{D42A27DB-BD31-4B8C-83A1-F6EECF244321}">
                <p14:modId xmlns:p14="http://schemas.microsoft.com/office/powerpoint/2010/main" val="405251783"/>
              </p:ext>
            </p:extLst>
          </p:nvPr>
        </p:nvGraphicFramePr>
        <p:xfrm>
          <a:off x="4750989" y="1848103"/>
          <a:ext cx="3650512" cy="1010418"/>
        </p:xfrm>
        <a:graphic>
          <a:graphicData uri="http://schemas.openxmlformats.org/drawingml/2006/table">
            <a:tbl>
              <a:tblPr firstRow="1" bandRow="1">
                <a:tableStyleId>{2D5ABB26-0587-4C30-8999-92F81FD0307C}</a:tableStyleId>
              </a:tblPr>
              <a:tblGrid>
                <a:gridCol w="832831">
                  <a:extLst>
                    <a:ext uri="{9D8B030D-6E8A-4147-A177-3AD203B41FA5}">
                      <a16:colId xmlns:a16="http://schemas.microsoft.com/office/drawing/2014/main" val="3189156840"/>
                    </a:ext>
                  </a:extLst>
                </a:gridCol>
                <a:gridCol w="897861">
                  <a:extLst>
                    <a:ext uri="{9D8B030D-6E8A-4147-A177-3AD203B41FA5}">
                      <a16:colId xmlns:a16="http://schemas.microsoft.com/office/drawing/2014/main" val="713696415"/>
                    </a:ext>
                  </a:extLst>
                </a:gridCol>
                <a:gridCol w="802781">
                  <a:extLst>
                    <a:ext uri="{9D8B030D-6E8A-4147-A177-3AD203B41FA5}">
                      <a16:colId xmlns:a16="http://schemas.microsoft.com/office/drawing/2014/main" val="265858083"/>
                    </a:ext>
                  </a:extLst>
                </a:gridCol>
                <a:gridCol w="1117039">
                  <a:extLst>
                    <a:ext uri="{9D8B030D-6E8A-4147-A177-3AD203B41FA5}">
                      <a16:colId xmlns:a16="http://schemas.microsoft.com/office/drawing/2014/main" val="1676482580"/>
                    </a:ext>
                  </a:extLst>
                </a:gridCol>
              </a:tblGrid>
              <a:tr h="195779">
                <a:tc>
                  <a:txBody>
                    <a:bodyPr/>
                    <a:lstStyle/>
                    <a:p>
                      <a:pPr algn="ctr"/>
                      <a:r>
                        <a:rPr lang="en-US" altLang="zh-CN" sz="1600" b="1" dirty="0">
                          <a:solidFill>
                            <a:schemeClr val="bg1"/>
                          </a:solidFill>
                          <a:latin typeface="Times New Roman" panose="02020603050405020304" pitchFamily="18" charset="0"/>
                          <a:cs typeface="Times New Roman" panose="02020603050405020304" pitchFamily="18" charset="0"/>
                        </a:rPr>
                        <a:t>Temp</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I(Yes,</a:t>
                      </a:r>
                      <a:r>
                        <a:rPr lang="en-US" sz="1600" b="1" baseline="0" dirty="0">
                          <a:solidFill>
                            <a:schemeClr val="bg1"/>
                          </a:solidFill>
                          <a:latin typeface="Times New Roman" panose="02020603050405020304" pitchFamily="18" charset="0"/>
                          <a:cs typeface="Times New Roman" panose="02020603050405020304" pitchFamily="18" charset="0"/>
                        </a:rPr>
                        <a:t> No)</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526">
                <a:tc>
                  <a:txBody>
                    <a:bodyPr/>
                    <a:lstStyle/>
                    <a:p>
                      <a:pPr algn="ctr"/>
                      <a:r>
                        <a:rPr lang="en-US" sz="1600" dirty="0">
                          <a:latin typeface="Times New Roman" panose="02020603050405020304" pitchFamily="18" charset="0"/>
                          <a:cs typeface="Times New Roman" panose="02020603050405020304" pitchFamily="18" charset="0"/>
                        </a:rPr>
                        <a:t>Hot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55526">
                <a:tc>
                  <a:txBody>
                    <a:bodyPr/>
                    <a:lstStyle/>
                    <a:p>
                      <a:pPr algn="ctr"/>
                      <a:r>
                        <a:rPr lang="en-US" sz="1600" dirty="0">
                          <a:latin typeface="Times New Roman" panose="02020603050405020304" pitchFamily="18" charset="0"/>
                          <a:cs typeface="Times New Roman" panose="02020603050405020304" pitchFamily="18" charset="0"/>
                        </a:rPr>
                        <a:t>Mild</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4</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r h="255526">
                <a:tc>
                  <a:txBody>
                    <a:bodyPr/>
                    <a:lstStyle/>
                    <a:p>
                      <a:pPr algn="ctr"/>
                      <a:r>
                        <a:rPr lang="en-US" sz="1600" dirty="0">
                          <a:latin typeface="Times New Roman" panose="02020603050405020304" pitchFamily="18" charset="0"/>
                          <a:cs typeface="Times New Roman" panose="02020603050405020304" pitchFamily="18" charset="0"/>
                        </a:rPr>
                        <a:t>Cool</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1</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extLst>
                  <a:ext uri="{0D108BD9-81ED-4DB2-BD59-A6C34878D82A}">
                    <a16:rowId xmlns:a16="http://schemas.microsoft.com/office/drawing/2014/main" val="3226009038"/>
                  </a:ext>
                </a:extLst>
              </a:tr>
            </a:tbl>
          </a:graphicData>
        </a:graphic>
      </p:graphicFrame>
      <p:graphicFrame>
        <p:nvGraphicFramePr>
          <p:cNvPr id="5" name="Table 20">
            <a:extLst>
              <a:ext uri="{FF2B5EF4-FFF2-40B4-BE49-F238E27FC236}">
                <a16:creationId xmlns:a16="http://schemas.microsoft.com/office/drawing/2014/main" id="{19A43DD9-69E6-3F69-5E3D-A7C3B0FE0FA7}"/>
              </a:ext>
            </a:extLst>
          </p:cNvPr>
          <p:cNvGraphicFramePr>
            <a:graphicFrameLocks noGrp="1"/>
          </p:cNvGraphicFramePr>
          <p:nvPr>
            <p:extLst>
              <p:ext uri="{D42A27DB-BD31-4B8C-83A1-F6EECF244321}">
                <p14:modId xmlns:p14="http://schemas.microsoft.com/office/powerpoint/2010/main" val="3288705639"/>
              </p:ext>
            </p:extLst>
          </p:nvPr>
        </p:nvGraphicFramePr>
        <p:xfrm>
          <a:off x="4750989" y="4452769"/>
          <a:ext cx="3862159" cy="754892"/>
        </p:xfrm>
        <a:graphic>
          <a:graphicData uri="http://schemas.openxmlformats.org/drawingml/2006/table">
            <a:tbl>
              <a:tblPr firstRow="1" bandRow="1">
                <a:tableStyleId>{2D5ABB26-0587-4C30-8999-92F81FD0307C}</a:tableStyleId>
              </a:tblPr>
              <a:tblGrid>
                <a:gridCol w="881116">
                  <a:extLst>
                    <a:ext uri="{9D8B030D-6E8A-4147-A177-3AD203B41FA5}">
                      <a16:colId xmlns:a16="http://schemas.microsoft.com/office/drawing/2014/main" val="3189156840"/>
                    </a:ext>
                  </a:extLst>
                </a:gridCol>
                <a:gridCol w="949917">
                  <a:extLst>
                    <a:ext uri="{9D8B030D-6E8A-4147-A177-3AD203B41FA5}">
                      <a16:colId xmlns:a16="http://schemas.microsoft.com/office/drawing/2014/main" val="713696415"/>
                    </a:ext>
                  </a:extLst>
                </a:gridCol>
                <a:gridCol w="849324">
                  <a:extLst>
                    <a:ext uri="{9D8B030D-6E8A-4147-A177-3AD203B41FA5}">
                      <a16:colId xmlns:a16="http://schemas.microsoft.com/office/drawing/2014/main" val="265858083"/>
                    </a:ext>
                  </a:extLst>
                </a:gridCol>
                <a:gridCol w="1181802">
                  <a:extLst>
                    <a:ext uri="{9D8B030D-6E8A-4147-A177-3AD203B41FA5}">
                      <a16:colId xmlns:a16="http://schemas.microsoft.com/office/drawing/2014/main" val="1676482580"/>
                    </a:ext>
                  </a:extLst>
                </a:gridCol>
              </a:tblGrid>
              <a:tr h="0">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Humidity</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I(Yes,</a:t>
                      </a:r>
                      <a:r>
                        <a:rPr lang="en-US" sz="1600" b="1" baseline="0" dirty="0">
                          <a:solidFill>
                            <a:schemeClr val="bg1"/>
                          </a:solidFill>
                          <a:latin typeface="Times New Roman" panose="02020603050405020304" pitchFamily="18" charset="0"/>
                          <a:cs typeface="Times New Roman" panose="02020603050405020304" pitchFamily="18" charset="0"/>
                        </a:rPr>
                        <a:t> No)</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526">
                <a:tc>
                  <a:txBody>
                    <a:bodyPr/>
                    <a:lstStyle/>
                    <a:p>
                      <a:pPr algn="ctr"/>
                      <a:r>
                        <a:rPr lang="en-US" sz="1600" dirty="0">
                          <a:latin typeface="Times New Roman" panose="02020603050405020304" pitchFamily="18" charset="0"/>
                          <a:cs typeface="Times New Roman" panose="02020603050405020304" pitchFamily="18" charset="0"/>
                        </a:rPr>
                        <a:t>Normal</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6</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1</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55526">
                <a:tc>
                  <a:txBody>
                    <a:bodyPr/>
                    <a:lstStyle/>
                    <a:p>
                      <a:pPr algn="ctr"/>
                      <a:r>
                        <a:rPr lang="en-US" sz="1600" dirty="0">
                          <a:latin typeface="Times New Roman" panose="02020603050405020304" pitchFamily="18" charset="0"/>
                          <a:cs typeface="Times New Roman" panose="02020603050405020304" pitchFamily="18" charset="0"/>
                        </a:rPr>
                        <a:t>High</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4</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bl>
          </a:graphicData>
        </a:graphic>
      </p:graphicFrame>
      <p:graphicFrame>
        <p:nvGraphicFramePr>
          <p:cNvPr id="6" name="Table 21">
            <a:extLst>
              <a:ext uri="{FF2B5EF4-FFF2-40B4-BE49-F238E27FC236}">
                <a16:creationId xmlns:a16="http://schemas.microsoft.com/office/drawing/2014/main" id="{2CF22A43-3D65-5D01-0748-D1F8191F070A}"/>
              </a:ext>
            </a:extLst>
          </p:cNvPr>
          <p:cNvGraphicFramePr>
            <a:graphicFrameLocks noGrp="1"/>
          </p:cNvGraphicFramePr>
          <p:nvPr>
            <p:extLst>
              <p:ext uri="{D42A27DB-BD31-4B8C-83A1-F6EECF244321}">
                <p14:modId xmlns:p14="http://schemas.microsoft.com/office/powerpoint/2010/main" val="180611649"/>
              </p:ext>
            </p:extLst>
          </p:nvPr>
        </p:nvGraphicFramePr>
        <p:xfrm>
          <a:off x="4756542" y="3210732"/>
          <a:ext cx="3076147" cy="905885"/>
        </p:xfrm>
        <a:graphic>
          <a:graphicData uri="http://schemas.openxmlformats.org/drawingml/2006/table">
            <a:tbl>
              <a:tblPr firstRow="1" bandRow="1">
                <a:tableStyleId>{2D5ABB26-0587-4C30-8999-92F81FD0307C}</a:tableStyleId>
              </a:tblPr>
              <a:tblGrid>
                <a:gridCol w="701795">
                  <a:extLst>
                    <a:ext uri="{9D8B030D-6E8A-4147-A177-3AD203B41FA5}">
                      <a16:colId xmlns:a16="http://schemas.microsoft.com/office/drawing/2014/main" val="3189156840"/>
                    </a:ext>
                  </a:extLst>
                </a:gridCol>
                <a:gridCol w="756593">
                  <a:extLst>
                    <a:ext uri="{9D8B030D-6E8A-4147-A177-3AD203B41FA5}">
                      <a16:colId xmlns:a16="http://schemas.microsoft.com/office/drawing/2014/main" val="713696415"/>
                    </a:ext>
                  </a:extLst>
                </a:gridCol>
                <a:gridCol w="676473">
                  <a:extLst>
                    <a:ext uri="{9D8B030D-6E8A-4147-A177-3AD203B41FA5}">
                      <a16:colId xmlns:a16="http://schemas.microsoft.com/office/drawing/2014/main" val="265858083"/>
                    </a:ext>
                  </a:extLst>
                </a:gridCol>
                <a:gridCol w="941286">
                  <a:extLst>
                    <a:ext uri="{9D8B030D-6E8A-4147-A177-3AD203B41FA5}">
                      <a16:colId xmlns:a16="http://schemas.microsoft.com/office/drawing/2014/main" val="1676482580"/>
                    </a:ext>
                  </a:extLst>
                </a:gridCol>
              </a:tblGrid>
              <a:tr h="342087">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Windy</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I(Yes,</a:t>
                      </a:r>
                      <a:r>
                        <a:rPr lang="en-US" sz="1600" b="1" baseline="0" dirty="0">
                          <a:solidFill>
                            <a:schemeClr val="bg1"/>
                          </a:solidFill>
                          <a:latin typeface="Times New Roman" panose="02020603050405020304" pitchFamily="18" charset="0"/>
                          <a:cs typeface="Times New Roman" panose="02020603050405020304" pitchFamily="18" charset="0"/>
                        </a:rPr>
                        <a:t> No)</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81899">
                <a:tc>
                  <a:txBody>
                    <a:bodyPr/>
                    <a:lstStyle/>
                    <a:p>
                      <a:pPr algn="ctr"/>
                      <a:r>
                        <a:rPr lang="en-US" sz="1600" dirty="0">
                          <a:latin typeface="Times New Roman" panose="02020603050405020304" pitchFamily="18" charset="0"/>
                          <a:cs typeface="Times New Roman" panose="02020603050405020304" pitchFamily="18" charset="0"/>
                        </a:rPr>
                        <a:t>True</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81899">
                <a:tc>
                  <a:txBody>
                    <a:bodyPr/>
                    <a:lstStyle/>
                    <a:p>
                      <a:pPr algn="ctr"/>
                      <a:r>
                        <a:rPr lang="en-US" sz="1600" dirty="0">
                          <a:latin typeface="Times New Roman" panose="02020603050405020304" pitchFamily="18" charset="0"/>
                          <a:cs typeface="Times New Roman" panose="02020603050405020304" pitchFamily="18" charset="0"/>
                        </a:rPr>
                        <a:t>False</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92AF5C5-5A52-BC73-B8B1-9B97A3182EBD}"/>
                  </a:ext>
                </a:extLst>
              </p:cNvPr>
              <p:cNvSpPr txBox="1"/>
              <p:nvPr/>
            </p:nvSpPr>
            <p:spPr>
              <a:xfrm>
                <a:off x="8613148" y="3180866"/>
                <a:ext cx="3076147" cy="910506"/>
              </a:xfrm>
              <a:prstGeom prst="rect">
                <a:avLst/>
              </a:prstGeom>
              <a:noFill/>
            </p:spPr>
            <p:txBody>
              <a:bodyPr wrap="square">
                <a:spAutoFit/>
              </a:bodyPr>
              <a:lstStyle/>
              <a:p>
                <a:pPr eaLnBrk="1" hangingPunct="1">
                  <a:lnSpc>
                    <a:spcPct val="90000"/>
                  </a:lnSpc>
                  <a:buClr>
                    <a:schemeClr val="accent1"/>
                  </a:buClr>
                  <a:buFont typeface="Wingdings 2" panose="05020102010507070707" pitchFamily="18" charset="2"/>
                  <a:buNone/>
                </a:pPr>
                <a14:m>
                  <m:oMathPara xmlns:m="http://schemas.openxmlformats.org/officeDocument/2006/math">
                    <m:oMathParaPr>
                      <m:jc m:val="centerGroup"/>
                    </m:oMathParaPr>
                    <m:oMath xmlns:m="http://schemas.openxmlformats.org/officeDocument/2006/math">
                      <m:r>
                        <a:rPr lang="en-US" altLang="en-US" sz="2000" b="0" i="1" smtClean="0">
                          <a:solidFill>
                            <a:srgbClr val="121328"/>
                          </a:solidFill>
                          <a:latin typeface="Cambria Math" charset="0"/>
                        </a:rPr>
                        <m:t>𝐺𝑎𝑖𝑛</m:t>
                      </m:r>
                      <m:d>
                        <m:dPr>
                          <m:ctrlPr>
                            <a:rPr lang="en-US" altLang="en-US" sz="2000" b="0" i="1" smtClean="0">
                              <a:solidFill>
                                <a:srgbClr val="121328"/>
                              </a:solidFill>
                              <a:latin typeface="Cambria Math" panose="02040503050406030204" pitchFamily="18" charset="0"/>
                            </a:rPr>
                          </m:ctrlPr>
                        </m:dPr>
                        <m:e>
                          <m:r>
                            <a:rPr lang="en-US" altLang="en-US" sz="2000" b="0" i="1" smtClean="0">
                              <a:solidFill>
                                <a:srgbClr val="121328"/>
                              </a:solidFill>
                              <a:latin typeface="Cambria Math" charset="0"/>
                            </a:rPr>
                            <m:t>𝑇𝑒𝑚𝑝</m:t>
                          </m:r>
                        </m:e>
                      </m:d>
                      <m:r>
                        <a:rPr lang="en-US" altLang="en-US" sz="2000" b="0" i="1" smtClean="0">
                          <a:solidFill>
                            <a:srgbClr val="121328"/>
                          </a:solidFill>
                          <a:latin typeface="Cambria Math" charset="0"/>
                        </a:rPr>
                        <m:t>=0.029,  </m:t>
                      </m:r>
                      <m:r>
                        <a:rPr lang="en-US" altLang="en-US" sz="2000" b="0" i="1" smtClean="0">
                          <a:solidFill>
                            <a:srgbClr val="121328"/>
                          </a:solidFill>
                          <a:latin typeface="Cambria Math" charset="0"/>
                        </a:rPr>
                        <m:t>𝐺𝑎𝑖𝑛</m:t>
                      </m:r>
                      <m:d>
                        <m:dPr>
                          <m:ctrlPr>
                            <a:rPr lang="en-US" altLang="en-US" sz="2000" b="0" i="1" smtClean="0">
                              <a:solidFill>
                                <a:srgbClr val="121328"/>
                              </a:solidFill>
                              <a:latin typeface="Cambria Math" panose="02040503050406030204" pitchFamily="18" charset="0"/>
                            </a:rPr>
                          </m:ctrlPr>
                        </m:dPr>
                        <m:e>
                          <m:r>
                            <a:rPr lang="en-US" altLang="en-US" sz="2000" b="0" i="1" smtClean="0">
                              <a:solidFill>
                                <a:srgbClr val="121328"/>
                              </a:solidFill>
                              <a:latin typeface="Cambria Math" charset="0"/>
                            </a:rPr>
                            <m:t>h𝑢𝑚𝑖𝑑𝑖𝑡𝑦</m:t>
                          </m:r>
                        </m:e>
                      </m:d>
                      <m:r>
                        <a:rPr lang="en-US" altLang="en-US" sz="2000" b="0" i="1" smtClean="0">
                          <a:solidFill>
                            <a:srgbClr val="121328"/>
                          </a:solidFill>
                          <a:latin typeface="Cambria Math" charset="0"/>
                        </a:rPr>
                        <m:t>=0.151,  </m:t>
                      </m:r>
                      <m:r>
                        <a:rPr lang="en-US" altLang="en-US" sz="2000" b="0" i="1" smtClean="0">
                          <a:solidFill>
                            <a:srgbClr val="121328"/>
                          </a:solidFill>
                          <a:latin typeface="Cambria Math" charset="0"/>
                        </a:rPr>
                        <m:t>𝐺𝑎𝑖𝑛</m:t>
                      </m:r>
                      <m:d>
                        <m:dPr>
                          <m:ctrlPr>
                            <a:rPr lang="en-US" altLang="en-US" sz="2000" b="0" i="1" smtClean="0">
                              <a:solidFill>
                                <a:srgbClr val="121328"/>
                              </a:solidFill>
                              <a:latin typeface="Cambria Math" panose="02040503050406030204" pitchFamily="18" charset="0"/>
                            </a:rPr>
                          </m:ctrlPr>
                        </m:dPr>
                        <m:e>
                          <m:r>
                            <a:rPr lang="en-US" altLang="en-US" sz="2000" b="0" i="1" smtClean="0">
                              <a:solidFill>
                                <a:srgbClr val="121328"/>
                              </a:solidFill>
                              <a:latin typeface="Cambria Math" charset="0"/>
                            </a:rPr>
                            <m:t>𝑊𝑖𝑛𝑑𝑦</m:t>
                          </m:r>
                        </m:e>
                      </m:d>
                      <m:r>
                        <a:rPr lang="en-US" altLang="en-US" sz="2000" b="0" i="1" smtClean="0">
                          <a:solidFill>
                            <a:srgbClr val="121328"/>
                          </a:solidFill>
                          <a:latin typeface="Cambria Math" charset="0"/>
                        </a:rPr>
                        <m:t>=0.048</m:t>
                      </m:r>
                    </m:oMath>
                  </m:oMathPara>
                </a14:m>
                <a:endParaRPr lang="en-US" altLang="en-US" sz="2000" dirty="0">
                  <a:solidFill>
                    <a:srgbClr val="121328"/>
                  </a:solidFill>
                </a:endParaRPr>
              </a:p>
            </p:txBody>
          </p:sp>
        </mc:Choice>
        <mc:Fallback xmlns="">
          <p:sp>
            <p:nvSpPr>
              <p:cNvPr id="11" name="TextBox 10">
                <a:extLst>
                  <a:ext uri="{FF2B5EF4-FFF2-40B4-BE49-F238E27FC236}">
                    <a16:creationId xmlns:a16="http://schemas.microsoft.com/office/drawing/2014/main" id="{392AF5C5-5A52-BC73-B8B1-9B97A3182EBD}"/>
                  </a:ext>
                </a:extLst>
              </p:cNvPr>
              <p:cNvSpPr txBox="1">
                <a:spLocks noRot="1" noChangeAspect="1" noMove="1" noResize="1" noEditPoints="1" noAdjustHandles="1" noChangeArrowheads="1" noChangeShapeType="1" noTextEdit="1"/>
              </p:cNvSpPr>
              <p:nvPr/>
            </p:nvSpPr>
            <p:spPr>
              <a:xfrm>
                <a:off x="8613148" y="3180866"/>
                <a:ext cx="3076147" cy="910506"/>
              </a:xfrm>
              <a:prstGeom prst="rect">
                <a:avLst/>
              </a:prstGeom>
              <a:blipFill>
                <a:blip r:embed="rId3"/>
                <a:stretch>
                  <a:fillRect b="-5479"/>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2018392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AFBF0-468D-4585-94E6-54303DBFB816}"/>
              </a:ext>
            </a:extLst>
          </p:cNvPr>
          <p:cNvSpPr>
            <a:spLocks noGrp="1"/>
          </p:cNvSpPr>
          <p:nvPr>
            <p:ph type="title"/>
          </p:nvPr>
        </p:nvSpPr>
        <p:spPr/>
        <p:txBody>
          <a:bodyPr/>
          <a:lstStyle/>
          <a:p>
            <a:r>
              <a:rPr lang="en-US" b="1" dirty="0">
                <a:latin typeface="KaiTi" panose="02010609060101010101" pitchFamily="49" charset="-122"/>
                <a:ea typeface="KaiTi" panose="02010609060101010101" pitchFamily="49" charset="-122"/>
                <a:cs typeface="Times New Roman" panose="02020603050405020304" pitchFamily="18" charset="0"/>
              </a:rPr>
              <a:t>ID</a:t>
            </a:r>
            <a:r>
              <a:rPr lang="en-US" altLang="zh-CN" b="1" dirty="0">
                <a:latin typeface="KaiTi" panose="02010609060101010101" pitchFamily="49" charset="-122"/>
                <a:ea typeface="KaiTi" panose="02010609060101010101" pitchFamily="49" charset="-122"/>
                <a:cs typeface="Times New Roman" panose="02020603050405020304" pitchFamily="18" charset="0"/>
              </a:rPr>
              <a:t>3</a:t>
            </a:r>
            <a:r>
              <a:rPr lang="zh-CN" altLang="en-US" b="1" dirty="0">
                <a:latin typeface="KaiTi" panose="02010609060101010101" pitchFamily="49" charset="-122"/>
                <a:ea typeface="KaiTi" panose="02010609060101010101" pitchFamily="49" charset="-122"/>
                <a:cs typeface="Times New Roman" panose="02020603050405020304" pitchFamily="18" charset="0"/>
              </a:rPr>
              <a:t> 算法的</a:t>
            </a:r>
            <a:r>
              <a:rPr lang="en-US" b="1" dirty="0">
                <a:latin typeface="KaiTi" panose="02010609060101010101" pitchFamily="49" charset="-122"/>
                <a:ea typeface="KaiTi" panose="02010609060101010101" pitchFamily="49" charset="-122"/>
                <a:cs typeface="Times New Roman" panose="02020603050405020304" pitchFamily="18" charset="0"/>
              </a:rPr>
              <a:t>优点与缺点</a:t>
            </a:r>
          </a:p>
        </p:txBody>
      </p:sp>
      <p:sp>
        <p:nvSpPr>
          <p:cNvPr id="3" name="Content Placeholder 2">
            <a:extLst>
              <a:ext uri="{FF2B5EF4-FFF2-40B4-BE49-F238E27FC236}">
                <a16:creationId xmlns:a16="http://schemas.microsoft.com/office/drawing/2014/main" id="{D934B765-ED53-4460-A470-E03689D52202}"/>
              </a:ext>
            </a:extLst>
          </p:cNvPr>
          <p:cNvSpPr>
            <a:spLocks noGrp="1"/>
          </p:cNvSpPr>
          <p:nvPr>
            <p:ph idx="1"/>
          </p:nvPr>
        </p:nvSpPr>
        <p:spPr>
          <a:xfrm>
            <a:off x="768202" y="1256632"/>
            <a:ext cx="5267764" cy="3908926"/>
          </a:xfrm>
        </p:spPr>
        <p:txBody>
          <a:bodyPr/>
          <a:lstStyle/>
          <a:p>
            <a:r>
              <a:rPr lang="en-US" sz="2000" dirty="0"/>
              <a:t>优点</a:t>
            </a:r>
          </a:p>
          <a:p>
            <a:pPr lvl="1"/>
            <a:r>
              <a:rPr lang="en-US" sz="2000" dirty="0"/>
              <a:t>易于解释（即使对非专业人士）</a:t>
            </a:r>
          </a:p>
          <a:p>
            <a:pPr lvl="1"/>
            <a:r>
              <a:rPr lang="en-US" sz="2000" dirty="0"/>
              <a:t>易于实施（有许多软件可供选择）</a:t>
            </a:r>
          </a:p>
          <a:p>
            <a:pPr lvl="1"/>
            <a:r>
              <a:rPr lang="en-US" sz="2000" dirty="0"/>
              <a:t>高效</a:t>
            </a:r>
          </a:p>
          <a:p>
            <a:pPr lvl="1"/>
            <a:r>
              <a:rPr lang="en-US" sz="2000" dirty="0"/>
              <a:t>可容忍缺失数据</a:t>
            </a:r>
          </a:p>
          <a:p>
            <a:pPr lvl="1"/>
            <a:r>
              <a:rPr lang="en-US" sz="2000" dirty="0"/>
              <a:t>白盒</a:t>
            </a:r>
          </a:p>
          <a:p>
            <a:pPr lvl="1"/>
            <a:r>
              <a:rPr lang="en-US" sz="2000" dirty="0"/>
              <a:t>无需对数据进行标准化处理</a:t>
            </a:r>
          </a:p>
          <a:p>
            <a:pPr lvl="1"/>
            <a:r>
              <a:rPr lang="en-US" sz="2000" dirty="0"/>
              <a:t>非参数化：对数据分布无假设，对属性独立性无假设</a:t>
            </a:r>
          </a:p>
          <a:p>
            <a:pPr lvl="1"/>
            <a:r>
              <a:rPr lang="en-US" sz="2000" dirty="0"/>
              <a:t>支持多种属性类型</a:t>
            </a:r>
          </a:p>
        </p:txBody>
      </p:sp>
      <p:sp>
        <p:nvSpPr>
          <p:cNvPr id="4" name="Content Placeholder 2">
            <a:extLst>
              <a:ext uri="{FF2B5EF4-FFF2-40B4-BE49-F238E27FC236}">
                <a16:creationId xmlns:a16="http://schemas.microsoft.com/office/drawing/2014/main" id="{BA3804DE-05E4-C206-4E79-DDFA52C5203C}"/>
              </a:ext>
            </a:extLst>
          </p:cNvPr>
          <p:cNvSpPr txBox="1">
            <a:spLocks/>
          </p:cNvSpPr>
          <p:nvPr/>
        </p:nvSpPr>
        <p:spPr>
          <a:xfrm>
            <a:off x="6420852" y="1253958"/>
            <a:ext cx="4816643" cy="2033337"/>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STKaiti" panose="02010600040101010101" pitchFamily="2" charset="-122"/>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STKaiti" panose="02010600040101010101" pitchFamily="2" charset="-122"/>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STKaiti" panose="02010600040101010101" pitchFamily="2" charset="-122"/>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STKaiti" panose="02010600040101010101" pitchFamily="2" charset="-122"/>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STKaiti" panose="02010600040101010101" pitchFamily="2" charset="-122"/>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sz="2000" dirty="0"/>
              <a:t>缺点</a:t>
            </a:r>
          </a:p>
          <a:p>
            <a:pPr lvl="1"/>
            <a:r>
              <a:rPr lang="en-US" sz="2000" dirty="0"/>
              <a:t>不稳定。对噪声敏感</a:t>
            </a:r>
          </a:p>
          <a:p>
            <a:pPr lvl="1"/>
            <a:r>
              <a:rPr lang="en-US" sz="2000" dirty="0"/>
              <a:t>准确性可能不够高（取决于您的数据）</a:t>
            </a:r>
          </a:p>
          <a:p>
            <a:pPr lvl="1"/>
            <a:r>
              <a:rPr lang="en-US" sz="2000" dirty="0"/>
              <a:t>最佳分割是NP问题。使用贪心算法(</a:t>
            </a:r>
            <a:r>
              <a:rPr lang="en-US" altLang="ko-Kore-KR" sz="2000" dirty="0"/>
              <a:t>NP. Greedy algorithms)</a:t>
            </a:r>
            <a:endParaRPr lang="en-US" sz="2000" dirty="0"/>
          </a:p>
          <a:p>
            <a:pPr lvl="1"/>
            <a:r>
              <a:rPr lang="en-US" sz="2000" dirty="0"/>
              <a:t>过拟合  </a:t>
            </a:r>
          </a:p>
          <a:p>
            <a:pPr lvl="1"/>
            <a:endParaRPr lang="en-US" sz="2000" dirty="0"/>
          </a:p>
        </p:txBody>
      </p:sp>
    </p:spTree>
    <p:extLst>
      <p:ext uri="{BB962C8B-B14F-4D97-AF65-F5344CB8AC3E}">
        <p14:creationId xmlns:p14="http://schemas.microsoft.com/office/powerpoint/2010/main" val="291355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6D57D308-2AC7-49E9-9B5E-462C88820B6D}"/>
              </a:ext>
            </a:extLst>
          </p:cNvPr>
          <p:cNvSpPr txBox="1"/>
          <p:nvPr/>
        </p:nvSpPr>
        <p:spPr>
          <a:xfrm>
            <a:off x="702366" y="1448202"/>
            <a:ext cx="6096000" cy="523220"/>
          </a:xfrm>
          <a:prstGeom prst="rect">
            <a:avLst/>
          </a:prstGeom>
          <a:noFill/>
        </p:spPr>
        <p:txBody>
          <a:bodyPr wrap="square">
            <a:spAutoFit/>
          </a:bodyPr>
          <a:lstStyle/>
          <a:p>
            <a:r>
              <a:rPr lang="en-US" altLang="zh-CN" sz="2800" b="1" dirty="0">
                <a:latin typeface="KaiTi" panose="02010609060101010101" pitchFamily="49" charset="-122"/>
                <a:ea typeface="KaiTi" panose="02010609060101010101" pitchFamily="49" charset="-122"/>
                <a:cs typeface="Times New Roman" panose="02020603050405020304" pitchFamily="18" charset="0"/>
              </a:rPr>
              <a:t>C4.5 </a:t>
            </a:r>
            <a:r>
              <a:rPr lang="zh-CN" altLang="en-US" sz="2800" b="1" dirty="0">
                <a:latin typeface="KaiTi" panose="02010609060101010101" pitchFamily="49" charset="-122"/>
                <a:ea typeface="KaiTi" panose="02010609060101010101" pitchFamily="49" charset="-122"/>
                <a:cs typeface="Times New Roman" panose="02020603050405020304" pitchFamily="18" charset="0"/>
              </a:rPr>
              <a:t>算法</a:t>
            </a:r>
            <a:endParaRPr lang="zh-CN" altLang="en-US" sz="2800" b="1" dirty="0">
              <a:latin typeface="KaiTi" panose="02010609060101010101" pitchFamily="49" charset="-122"/>
              <a:ea typeface="KaiTi" panose="02010609060101010101" pitchFamily="49" charset="-122"/>
            </a:endParaRPr>
          </a:p>
        </p:txBody>
      </p:sp>
      <p:sp>
        <p:nvSpPr>
          <p:cNvPr id="6" name="文本框 17">
            <a:extLst>
              <a:ext uri="{FF2B5EF4-FFF2-40B4-BE49-F238E27FC236}">
                <a16:creationId xmlns:a16="http://schemas.microsoft.com/office/drawing/2014/main" id="{9CA86630-4C6F-4281-8C9B-C0A89188549E}"/>
              </a:ext>
            </a:extLst>
          </p:cNvPr>
          <p:cNvSpPr txBox="1"/>
          <p:nvPr/>
        </p:nvSpPr>
        <p:spPr>
          <a:xfrm>
            <a:off x="1421020" y="2295076"/>
            <a:ext cx="9242563" cy="3258521"/>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lnSpc>
                <a:spcPct val="150000"/>
              </a:lnSpc>
            </a:pPr>
            <a:r>
              <a:rPr lang="en-US" altLang="zh-CN" sz="2400" dirty="0">
                <a:latin typeface="KaiTi" panose="02010609060101010101" pitchFamily="49" charset="-122"/>
                <a:ea typeface="KaiTi" panose="02010609060101010101" pitchFamily="49" charset="-122"/>
                <a:cs typeface="Times New Roman" panose="02020603050405020304" pitchFamily="18" charset="0"/>
              </a:rPr>
              <a:t>C4.5 </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算法是 </a:t>
            </a:r>
            <a:r>
              <a:rPr lang="en-US" altLang="zh-CN" sz="2400" dirty="0">
                <a:latin typeface="KaiTi" panose="02010609060101010101" pitchFamily="49" charset="-122"/>
                <a:ea typeface="KaiTi" panose="02010609060101010101" pitchFamily="49" charset="-122"/>
                <a:cs typeface="Times New Roman" panose="02020603050405020304" pitchFamily="18" charset="0"/>
              </a:rPr>
              <a:t>Ross </a:t>
            </a:r>
            <a:r>
              <a:rPr lang="zh-CN" altLang="en-US" sz="2400" dirty="0">
                <a:latin typeface="KaiTi" panose="02010609060101010101" pitchFamily="49" charset="-122"/>
                <a:ea typeface="KaiTi" panose="02010609060101010101" pitchFamily="49" charset="-122"/>
                <a:cs typeface="Times New Roman" panose="02020603050405020304" pitchFamily="18" charset="0"/>
              </a:rPr>
              <a:t>对 </a:t>
            </a:r>
            <a:r>
              <a:rPr lang="en-US" altLang="zh-CN" sz="2400" dirty="0">
                <a:latin typeface="KaiTi" panose="02010609060101010101" pitchFamily="49" charset="-122"/>
                <a:ea typeface="KaiTi" panose="02010609060101010101" pitchFamily="49" charset="-122"/>
                <a:cs typeface="Times New Roman" panose="02020603050405020304" pitchFamily="18" charset="0"/>
              </a:rPr>
              <a:t>ID3 </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算法的改进。</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用</a:t>
            </a:r>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信息增益率</a:t>
            </a:r>
            <a:r>
              <a:rPr lang="zh-CN" altLang="en-US" sz="2400" dirty="0">
                <a:latin typeface="KaiTi" panose="02010609060101010101" pitchFamily="49" charset="-122"/>
                <a:ea typeface="KaiTi" panose="02010609060101010101" pitchFamily="49" charset="-122"/>
                <a:cs typeface="Times New Roman" panose="02020603050405020304" pitchFamily="18" charset="0"/>
              </a:rPr>
              <a:t>来选择属性。</a:t>
            </a:r>
            <a:r>
              <a:rPr lang="en-US" altLang="zh-CN" sz="2400" dirty="0">
                <a:latin typeface="KaiTi" panose="02010609060101010101" pitchFamily="49" charset="-122"/>
                <a:ea typeface="KaiTi" panose="02010609060101010101" pitchFamily="49" charset="-122"/>
                <a:cs typeface="Times New Roman" panose="02020603050405020304" pitchFamily="18" charset="0"/>
              </a:rPr>
              <a:t>ID3</a:t>
            </a:r>
            <a:r>
              <a:rPr lang="zh-CN" altLang="en-US" sz="2400" dirty="0">
                <a:latin typeface="KaiTi" panose="02010609060101010101" pitchFamily="49" charset="-122"/>
                <a:ea typeface="KaiTi" panose="02010609060101010101" pitchFamily="49" charset="-122"/>
                <a:cs typeface="Times New Roman" panose="02020603050405020304" pitchFamily="18" charset="0"/>
              </a:rPr>
              <a:t>选择属性用的是子树的信息增益，而</a:t>
            </a:r>
            <a:r>
              <a:rPr lang="en-US" altLang="zh-CN" sz="2400" dirty="0">
                <a:latin typeface="KaiTi" panose="02010609060101010101" pitchFamily="49" charset="-122"/>
                <a:ea typeface="KaiTi" panose="02010609060101010101" pitchFamily="49" charset="-122"/>
                <a:cs typeface="Times New Roman" panose="02020603050405020304" pitchFamily="18" charset="0"/>
              </a:rPr>
              <a:t>C4.5</a:t>
            </a:r>
            <a:r>
              <a:rPr lang="zh-CN" altLang="en-US" sz="2400" dirty="0">
                <a:latin typeface="KaiTi" panose="02010609060101010101" pitchFamily="49" charset="-122"/>
                <a:ea typeface="KaiTi" panose="02010609060101010101" pitchFamily="49" charset="-122"/>
                <a:cs typeface="Times New Roman" panose="02020603050405020304" pitchFamily="18" charset="0"/>
              </a:rPr>
              <a:t>用的是</a:t>
            </a:r>
            <a:r>
              <a:rPr lang="zh-CN" altLang="en-US" sz="2400" dirty="0">
                <a:solidFill>
                  <a:srgbClr val="0000FF"/>
                </a:solidFill>
                <a:latin typeface="KaiTi" panose="02010609060101010101" pitchFamily="49" charset="-122"/>
                <a:ea typeface="KaiTi" panose="02010609060101010101" pitchFamily="49" charset="-122"/>
                <a:cs typeface="Times New Roman" panose="02020603050405020304" pitchFamily="18" charset="0"/>
              </a:rPr>
              <a:t>信息增益率</a:t>
            </a:r>
            <a:r>
              <a:rPr lang="zh-CN" altLang="en-US" sz="2400" dirty="0">
                <a:latin typeface="KaiTi" panose="02010609060101010101" pitchFamily="49" charset="-122"/>
                <a:ea typeface="KaiTi" panose="02010609060101010101" pitchFamily="49" charset="-122"/>
                <a:cs typeface="Times New Roman" panose="02020603050405020304" pitchFamily="18" charset="0"/>
              </a:rPr>
              <a:t>。</a:t>
            </a: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在决策树构造过程中进行</a:t>
            </a:r>
            <a:r>
              <a:rPr lang="zh-CN" altLang="en-US" sz="2400" dirty="0">
                <a:solidFill>
                  <a:srgbClr val="0000FF"/>
                </a:solidFill>
                <a:latin typeface="KaiTi" panose="02010609060101010101" pitchFamily="49" charset="-122"/>
                <a:ea typeface="KaiTi" panose="02010609060101010101" pitchFamily="49" charset="-122"/>
                <a:cs typeface="Times New Roman" panose="02020603050405020304" pitchFamily="18" charset="0"/>
              </a:rPr>
              <a:t>剪枝</a:t>
            </a:r>
            <a:r>
              <a:rPr lang="zh-CN" altLang="en-US" sz="2400" dirty="0">
                <a:latin typeface="KaiTi" panose="02010609060101010101" pitchFamily="49" charset="-122"/>
                <a:ea typeface="KaiTi" panose="02010609060101010101" pitchFamily="49" charset="-122"/>
                <a:cs typeface="Times New Roman" panose="02020603050405020304" pitchFamily="18" charset="0"/>
              </a:rPr>
              <a:t>。</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对</a:t>
            </a:r>
            <a:r>
              <a:rPr lang="zh-CN" altLang="en-US" sz="2400" dirty="0">
                <a:solidFill>
                  <a:srgbClr val="0000FF"/>
                </a:solidFill>
                <a:latin typeface="KaiTi" panose="02010609060101010101" pitchFamily="49" charset="-122"/>
                <a:ea typeface="KaiTi" panose="02010609060101010101" pitchFamily="49" charset="-122"/>
                <a:cs typeface="Times New Roman" panose="02020603050405020304" pitchFamily="18" charset="0"/>
              </a:rPr>
              <a:t>非离散数据</a:t>
            </a:r>
            <a:r>
              <a:rPr lang="zh-CN" altLang="en-US" sz="2400" dirty="0">
                <a:latin typeface="KaiTi" panose="02010609060101010101" pitchFamily="49" charset="-122"/>
                <a:ea typeface="KaiTi" panose="02010609060101010101" pitchFamily="49" charset="-122"/>
                <a:cs typeface="Times New Roman" panose="02020603050405020304" pitchFamily="18" charset="0"/>
              </a:rPr>
              <a:t>也能处理。</a:t>
            </a: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对</a:t>
            </a:r>
            <a:r>
              <a:rPr lang="zh-CN" altLang="en-US" sz="2400" dirty="0">
                <a:solidFill>
                  <a:srgbClr val="0000FF"/>
                </a:solidFill>
                <a:latin typeface="KaiTi" panose="02010609060101010101" pitchFamily="49" charset="-122"/>
                <a:ea typeface="KaiTi" panose="02010609060101010101" pitchFamily="49" charset="-122"/>
                <a:cs typeface="Times New Roman" panose="02020603050405020304" pitchFamily="18" charset="0"/>
              </a:rPr>
              <a:t>不完整数据</a:t>
            </a:r>
            <a:r>
              <a:rPr lang="zh-CN" altLang="en-US" sz="2400" dirty="0">
                <a:latin typeface="KaiTi" panose="02010609060101010101" pitchFamily="49" charset="-122"/>
                <a:ea typeface="KaiTi" panose="02010609060101010101" pitchFamily="49" charset="-122"/>
                <a:cs typeface="Times New Roman" panose="02020603050405020304" pitchFamily="18" charset="0"/>
              </a:rPr>
              <a:t>也能处理。</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p:txBody>
      </p:sp>
      <p:sp>
        <p:nvSpPr>
          <p:cNvPr id="3" name="제목 2">
            <a:extLst>
              <a:ext uri="{FF2B5EF4-FFF2-40B4-BE49-F238E27FC236}">
                <a16:creationId xmlns:a16="http://schemas.microsoft.com/office/drawing/2014/main" id="{A9963623-FF61-76CA-E058-949E0B09B9E2}"/>
              </a:ext>
            </a:extLst>
          </p:cNvPr>
          <p:cNvSpPr>
            <a:spLocks noGrp="1"/>
          </p:cNvSpPr>
          <p:nvPr>
            <p:ph type="title"/>
          </p:nvPr>
        </p:nvSpPr>
        <p:spPr/>
        <p:txBody>
          <a:bodyPr>
            <a:normAutofit/>
          </a:bodyPr>
          <a:lstStyle/>
          <a:p>
            <a:r>
              <a:rPr lang="en" altLang="ko-KR" b="1" dirty="0">
                <a:latin typeface="KaiTi" panose="02010609060101010101" pitchFamily="49" charset="-122"/>
                <a:ea typeface="KaiTi" panose="02010609060101010101" pitchFamily="49" charset="-122"/>
                <a:cs typeface="Times New Roman" panose="02020603050405020304" pitchFamily="18" charset="0"/>
              </a:rPr>
              <a:t>C4.5 </a:t>
            </a:r>
            <a:r>
              <a:rPr lang="ko-KR" altLang="en-US" b="1" dirty="0">
                <a:latin typeface="KaiTi" panose="02010609060101010101" pitchFamily="49" charset="-122"/>
                <a:ea typeface="KaiTi" panose="02010609060101010101" pitchFamily="49" charset="-122"/>
                <a:cs typeface="Times New Roman" panose="02020603050405020304" pitchFamily="18" charset="0"/>
              </a:rPr>
              <a:t>算法</a:t>
            </a:r>
          </a:p>
        </p:txBody>
      </p:sp>
    </p:spTree>
    <p:extLst>
      <p:ext uri="{BB962C8B-B14F-4D97-AF65-F5344CB8AC3E}">
        <p14:creationId xmlns:p14="http://schemas.microsoft.com/office/powerpoint/2010/main" val="2864446236"/>
      </p:ext>
    </p:extLst>
  </p:cSld>
  <p:clrMapOvr>
    <a:masterClrMapping/>
  </p:clrMapOvr>
  <p:transition advTm="800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dirty="0"/>
              <a:t>分割策略：信息增益率</a:t>
            </a:r>
            <a:endParaRPr lang="en-US" sz="4000" dirty="0"/>
          </a:p>
        </p:txBody>
      </p:sp>
      <p:sp>
        <p:nvSpPr>
          <p:cNvPr id="3" name="Content Placeholder 2"/>
          <p:cNvSpPr>
            <a:spLocks noGrp="1"/>
          </p:cNvSpPr>
          <p:nvPr>
            <p:ph idx="1"/>
          </p:nvPr>
        </p:nvSpPr>
        <p:spPr>
          <a:xfrm>
            <a:off x="589109" y="1171575"/>
            <a:ext cx="11131840" cy="5384800"/>
          </a:xfrm>
        </p:spPr>
        <p:txBody>
          <a:bodyPr/>
          <a:lstStyle/>
          <a:p>
            <a:pPr marL="342900" lvl="0" indent="-342900">
              <a:spcBef>
                <a:spcPts val="900"/>
              </a:spcBef>
              <a:spcAft>
                <a:spcPts val="900"/>
              </a:spcAft>
              <a:buFont typeface="Wingdings" pitchFamily="2" charset="2"/>
              <a:buChar char="q"/>
              <a:tabLst>
                <a:tab pos="457200" algn="l"/>
              </a:tabLst>
            </a:pPr>
            <a:r>
              <a:rPr lang="en-US" altLang="ko-Kore-KR" sz="2200" dirty="0">
                <a:effectLst/>
                <a:latin typeface="KaiTi" panose="02010609060101010101" pitchFamily="49" charset="-122"/>
                <a:ea typeface="맑은 고딕" panose="020B0503020000020004" pitchFamily="34" charset="-127"/>
                <a:cs typeface="Times New Roman" panose="02020603050405020304" pitchFamily="18" charset="0"/>
              </a:rPr>
              <a:t>ID3 </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选择</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特征</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时</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，只看信息增益：</a:t>
            </a:r>
            <a:endParaRPr lang="en-US" altLang="zh-CN" sz="2200" dirty="0">
              <a:effectLst/>
              <a:latin typeface="Cambria" panose="02040503050406030204" pitchFamily="18" charset="0"/>
              <a:ea typeface="KaiTi" panose="02010609060101010101" pitchFamily="49" charset="-122"/>
              <a:cs typeface="Times New Roman" panose="02020603050405020304" pitchFamily="18" charset="0"/>
            </a:endParaRPr>
          </a:p>
          <a:p>
            <a:pPr marL="0" lvl="0" indent="0">
              <a:spcBef>
                <a:spcPts val="900"/>
              </a:spcBef>
              <a:spcAft>
                <a:spcPts val="900"/>
              </a:spcAft>
              <a:buNone/>
              <a:tabLst>
                <a:tab pos="457200" algn="l"/>
              </a:tabLst>
            </a:pPr>
            <a:endParaRPr lang="ko-Kore-KR" altLang="ko-Kore-KR" sz="2200" dirty="0">
              <a:effectLst/>
              <a:latin typeface="Cambria" panose="02040503050406030204" pitchFamily="18" charset="0"/>
              <a:ea typeface="맑은 고딕" panose="020B0503020000020004" pitchFamily="34" charset="-127"/>
              <a:cs typeface="Times New Roman" panose="02020603050405020304" pitchFamily="18" charset="0"/>
            </a:endParaRPr>
          </a:p>
          <a:p>
            <a:pPr marL="342900" lvl="0" indent="-342900">
              <a:spcBef>
                <a:spcPts val="900"/>
              </a:spcBef>
              <a:spcAft>
                <a:spcPts val="900"/>
              </a:spcAft>
              <a:buFont typeface="Wingdings" pitchFamily="2" charset="2"/>
              <a:buChar char="q"/>
              <a:tabLst>
                <a:tab pos="457200" algn="l"/>
              </a:tabLst>
            </a:pP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如果某</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个</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特征取</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值</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很多</a:t>
            </a:r>
            <a:r>
              <a:rPr lang="en-US" altLang="zh-CN" sz="2200" dirty="0">
                <a:latin typeface="Cambria" panose="02040503050406030204" pitchFamily="18" charset="0"/>
                <a:ea typeface="KaiTi" panose="02010609060101010101" pitchFamily="49" charset="-122"/>
                <a:cs typeface="Times New Roman" panose="02020603050405020304" pitchFamily="18" charset="0"/>
              </a:rPr>
              <a:t>(</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例如</a:t>
            </a:r>
            <a:r>
              <a:rPr lang="en-US" altLang="ko-Kore-KR" sz="2200" dirty="0">
                <a:effectLst/>
                <a:latin typeface="KaiTi" panose="02010609060101010101" pitchFamily="49" charset="-122"/>
                <a:ea typeface="맑은 고딕" panose="020B0503020000020004" pitchFamily="34" charset="-127"/>
                <a:cs typeface="Times New Roman" panose="02020603050405020304" pitchFamily="18" charset="0"/>
              </a:rPr>
              <a:t>ID</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编号</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或日期）， 那</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它</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几乎能把每</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个样</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本分成一</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个独</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立</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类别</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，此</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时条</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件</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熵为</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 </a:t>
            </a:r>
            <a:r>
              <a:rPr lang="en-US" altLang="ko-Kore-KR" sz="2200" dirty="0">
                <a:effectLst/>
                <a:latin typeface="KaiTi" panose="02010609060101010101" pitchFamily="49" charset="-122"/>
                <a:ea typeface="맑은 고딕" panose="020B0503020000020004" pitchFamily="34" charset="-127"/>
                <a:cs typeface="Times New Roman" panose="02020603050405020304" pitchFamily="18" charset="0"/>
              </a:rPr>
              <a:t>0</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，信息增益就</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会</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很高， 但</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实际</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上</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这个</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特征</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没</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什</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么预测</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价</a:t>
            </a:r>
            <a:r>
              <a:rPr lang="zh-CN" altLang="ko-Kore-KR" sz="2200" dirty="0">
                <a:effectLst/>
                <a:latin typeface="Cambria" panose="02040503050406030204" pitchFamily="18" charset="0"/>
                <a:ea typeface="KaiTi" panose="02010609060101010101" pitchFamily="49" charset="-122"/>
                <a:cs typeface="SimSun" panose="02010600030101010101" pitchFamily="2" charset="-122"/>
              </a:rPr>
              <a:t>值</a:t>
            </a: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 </a:t>
            </a:r>
            <a:endParaRPr lang="en-US" altLang="zh-CN" sz="2200" dirty="0">
              <a:effectLst/>
              <a:latin typeface="Cambria" panose="02040503050406030204" pitchFamily="18" charset="0"/>
              <a:ea typeface="KaiTi" panose="02010609060101010101" pitchFamily="49" charset="-122"/>
              <a:cs typeface="Times New Roman" panose="02020603050405020304" pitchFamily="18" charset="0"/>
            </a:endParaRPr>
          </a:p>
          <a:p>
            <a:pPr marL="619119" lvl="1" indent="-342900">
              <a:spcBef>
                <a:spcPts val="900"/>
              </a:spcBef>
              <a:spcAft>
                <a:spcPts val="900"/>
              </a:spcAft>
              <a:tabLst>
                <a:tab pos="457200" algn="l"/>
              </a:tabLst>
            </a:pPr>
            <a:r>
              <a:rPr lang="ko-Kore-KR" altLang="ko-Kore-KR" sz="2200" dirty="0">
                <a:latin typeface="KaiTi" panose="02010609060101010101" pitchFamily="49" charset="-122"/>
              </a:rPr>
              <a:t>惩罚取值太多的特征</a:t>
            </a:r>
            <a:endParaRPr lang="en-US" altLang="zh-CN" sz="2200" dirty="0">
              <a:latin typeface="KaiTi" panose="02010609060101010101" pitchFamily="49" charset="-122"/>
              <a:ea typeface="KaiTi" panose="02010609060101010101" pitchFamily="49" charset="-122"/>
            </a:endParaRPr>
          </a:p>
          <a:p>
            <a:pPr>
              <a:spcBef>
                <a:spcPts val="900"/>
              </a:spcBef>
              <a:spcAft>
                <a:spcPts val="900"/>
              </a:spcAft>
            </a:pPr>
            <a:r>
              <a:rPr lang="zh-CN" altLang="ko-Kore-KR" sz="2200" dirty="0">
                <a:effectLst/>
                <a:latin typeface="Cambria" panose="02040503050406030204" pitchFamily="18" charset="0"/>
                <a:ea typeface="KaiTi" panose="02010609060101010101" pitchFamily="49" charset="-122"/>
                <a:cs typeface="Times New Roman" panose="02020603050405020304" pitchFamily="18" charset="0"/>
              </a:rPr>
              <a:t>信息增益率</a:t>
            </a:r>
            <a:endParaRPr lang="ko-Kore-KR" altLang="ko-Kore-KR" sz="2200" dirty="0">
              <a:effectLst/>
              <a:latin typeface="Cambria" panose="02040503050406030204" pitchFamily="18" charset="0"/>
              <a:ea typeface="맑은 고딕" panose="020B0503020000020004" pitchFamily="34" charset="-127"/>
              <a:cs typeface="Times New Roman" panose="02020603050405020304" pitchFamily="18" charset="0"/>
            </a:endParaRPr>
          </a:p>
          <a:p>
            <a:pPr marL="0" indent="0">
              <a:buNone/>
            </a:pPr>
            <a:endParaRPr lang="en-US" altLang="ko-KR" sz="2200" dirty="0">
              <a:latin typeface="KaiTi" panose="02010609060101010101" pitchFamily="49" charset="-122"/>
            </a:endParaRPr>
          </a:p>
          <a:p>
            <a:pPr marL="0" indent="0">
              <a:buNone/>
            </a:pPr>
            <a:endParaRPr lang="en-US" altLang="ko-KR" sz="2200" dirty="0">
              <a:latin typeface="KaiTi" panose="02010609060101010101" pitchFamily="49" charset="-122"/>
            </a:endParaRPr>
          </a:p>
          <a:p>
            <a:pPr marL="0" indent="0">
              <a:buNone/>
            </a:pPr>
            <a:endParaRPr lang="en-US" altLang="ko-KR" sz="2200" dirty="0">
              <a:latin typeface="KaiTi" panose="02010609060101010101" pitchFamily="49" charset="-122"/>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0844EB-158D-B63B-8C8F-650A0A82EA7F}"/>
                  </a:ext>
                </a:extLst>
              </p:cNvPr>
              <p:cNvSpPr txBox="1"/>
              <p:nvPr/>
            </p:nvSpPr>
            <p:spPr>
              <a:xfrm>
                <a:off x="2579416" y="3982266"/>
                <a:ext cx="6113416" cy="2351221"/>
              </a:xfrm>
              <a:prstGeom prst="rect">
                <a:avLst/>
              </a:prstGeom>
              <a:noFill/>
            </p:spPr>
            <p:txBody>
              <a:bodyPr wrap="square">
                <a:spAutoFit/>
              </a:bodyPr>
              <a:lstStyle/>
              <a:p>
                <a:pPr>
                  <a:spcBef>
                    <a:spcPts val="900"/>
                  </a:spcBef>
                  <a:spcAft>
                    <a:spcPts val="900"/>
                  </a:spcAft>
                </a:pPr>
                <a14:m>
                  <m:oMathPara xmlns:m="http://schemas.openxmlformats.org/officeDocument/2006/math">
                    <m:oMathParaPr>
                      <m:jc m:val="centerGroup"/>
                    </m:oMathParaPr>
                    <m:oMath xmlns:m="http://schemas.openxmlformats.org/officeDocument/2006/math">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GainRatio</m:t>
                      </m:r>
                      <m:d>
                        <m:d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𝑋</m:t>
                          </m:r>
                        </m:e>
                      </m:d>
                      <m:r>
                        <a:rPr lang="en-US" altLang="ko-Kore-KR" sz="2000">
                          <a:effectLst/>
                          <a:latin typeface="Cambria Math" panose="02040503050406030204" pitchFamily="18" charset="0"/>
                          <a:ea typeface="맑은 고딕" panose="020B0503020000020004" pitchFamily="34" charset="-127"/>
                          <a:cs typeface="Times New Roman" panose="02020603050405020304" pitchFamily="18" charset="0"/>
                        </a:rPr>
                        <m:t>=</m:t>
                      </m:r>
                      <m:f>
                        <m:f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Gain</m:t>
                          </m:r>
                          <m:d>
                            <m:d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𝑋</m:t>
                              </m:r>
                            </m:e>
                          </m:d>
                        </m:num>
                        <m:den>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SplitInfo</m:t>
                          </m:r>
                          <m:d>
                            <m:d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𝑋</m:t>
                              </m:r>
                            </m:e>
                          </m:d>
                        </m:den>
                      </m:f>
                    </m:oMath>
                  </m:oMathPara>
                </a14:m>
                <a:endParaRPr lang="ko-Kore-KR" altLang="ko-Kore-KR" sz="2000" dirty="0">
                  <a:effectLst/>
                  <a:latin typeface="KaiTi" panose="02010609060101010101" pitchFamily="49" charset="-122"/>
                  <a:ea typeface="맑은 고딕" panose="020B0503020000020004" pitchFamily="34" charset="-127"/>
                  <a:cs typeface="Times New Roman" panose="02020603050405020304" pitchFamily="18" charset="0"/>
                </a:endParaRPr>
              </a:p>
              <a:p>
                <a:pPr>
                  <a:spcBef>
                    <a:spcPts val="900"/>
                  </a:spcBef>
                  <a:spcAft>
                    <a:spcPts val="900"/>
                  </a:spcAft>
                </a:pPr>
                <a:r>
                  <a:rPr lang="en-US" altLang="ko-Kore-KR" sz="2000" dirty="0" err="1">
                    <a:effectLst/>
                    <a:latin typeface="KaiTi" panose="02010609060101010101" pitchFamily="49" charset="-122"/>
                    <a:ea typeface="KaiTi" panose="02010609060101010101" pitchFamily="49" charset="-122"/>
                    <a:cs typeface="Times New Roman" panose="02020603050405020304" pitchFamily="18" charset="0"/>
                  </a:rPr>
                  <a:t>其中</a:t>
                </a:r>
                <a:r>
                  <a:rPr lang="en-US" altLang="ko-Kore-KR" sz="2000" dirty="0">
                    <a:effectLst/>
                    <a:latin typeface="KaiTi" panose="02010609060101010101" pitchFamily="49" charset="-122"/>
                    <a:ea typeface="KaiTi" panose="02010609060101010101" pitchFamily="49" charset="-122"/>
                    <a:cs typeface="Times New Roman" panose="02020603050405020304" pitchFamily="18" charset="0"/>
                  </a:rPr>
                  <a:t>：</a:t>
                </a:r>
                <a:endParaRPr lang="ko-Kore-KR" altLang="ko-Kore-KR" sz="2000" dirty="0">
                  <a:effectLst/>
                  <a:latin typeface="KaiTi" panose="02010609060101010101" pitchFamily="49" charset="-122"/>
                  <a:ea typeface="맑은 고딕" panose="020B0503020000020004" pitchFamily="34" charset="-127"/>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SplitInfo</m:t>
                      </m:r>
                      <m:d>
                        <m:d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𝑋</m:t>
                          </m:r>
                        </m:e>
                      </m:d>
                      <m:r>
                        <a:rPr lang="en-US" altLang="ko-Kore-KR" sz="20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m:t>
                      </m:r>
                      <m:nary>
                        <m:naryPr>
                          <m:chr m:val="∑"/>
                          <m:limLoc m:val="undOv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𝑖</m:t>
                          </m:r>
                          <m:r>
                            <a:rPr lang="en-US" altLang="ko-Kore-KR" sz="20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1</m:t>
                          </m:r>
                        </m:sub>
                        <m:sup>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𝑛</m:t>
                          </m:r>
                        </m:sup>
                        <m:e>
                          <m:f>
                            <m:f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D</m:t>
                                      </m:r>
                                    </m:e>
                                    <m:sub>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𝑖</m:t>
                                      </m:r>
                                    </m:sub>
                                  </m:sSub>
                                </m:e>
                              </m:d>
                            </m:num>
                            <m:den>
                              <m:d>
                                <m:dPr>
                                  <m:begChr m:val="|"/>
                                  <m:endChr m:val="|"/>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D</m:t>
                                  </m:r>
                                </m:e>
                              </m:d>
                            </m:den>
                          </m:f>
                        </m:e>
                      </m:nary>
                      <m:sSub>
                        <m:sSub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ko-Kore-KR" sz="2000">
                              <a:effectLst/>
                              <a:latin typeface="Cambria Math" panose="02040503050406030204" pitchFamily="18" charset="0"/>
                              <a:ea typeface="맑은 고딕" panose="020B0503020000020004" pitchFamily="34" charset="-127"/>
                              <a:cs typeface="Times New Roman" panose="02020603050405020304" pitchFamily="18" charset="0"/>
                            </a:rPr>
                            <m:t>log</m:t>
                          </m:r>
                        </m:e>
                        <m:sub>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2</m:t>
                          </m:r>
                        </m:sub>
                      </m:sSub>
                      <m:f>
                        <m:f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D</m:t>
                                  </m:r>
                                </m:e>
                                <m:sub>
                                  <m:r>
                                    <a:rPr lang="en-US" altLang="ko-Kore-KR" sz="2000" i="1">
                                      <a:effectLst/>
                                      <a:latin typeface="Cambria Math" panose="02040503050406030204" pitchFamily="18" charset="0"/>
                                      <a:ea typeface="맑은 고딕" panose="020B0503020000020004" pitchFamily="34" charset="-127"/>
                                      <a:cs typeface="Times New Roman" panose="02020603050405020304" pitchFamily="18" charset="0"/>
                                    </a:rPr>
                                    <m:t>𝑖</m:t>
                                  </m:r>
                                </m:sub>
                              </m:sSub>
                            </m:e>
                          </m:d>
                        </m:num>
                        <m:den>
                          <m:d>
                            <m:dPr>
                              <m:begChr m:val="|"/>
                              <m:endChr m:val="|"/>
                              <m:ctrlPr>
                                <a:rPr lang="ko-Kore-KR" altLang="ko-Kore-KR" sz="2000" i="1">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ko-Kore-KR" sz="2000">
                                  <a:effectLst/>
                                  <a:latin typeface="KaiTi" panose="02010609060101010101" pitchFamily="49" charset="-122"/>
                                  <a:ea typeface="KaiTi" panose="02010609060101010101" pitchFamily="49" charset="-122"/>
                                  <a:cs typeface="Times New Roman" panose="02020603050405020304" pitchFamily="18" charset="0"/>
                                </a:rPr>
                                <m:t>D</m:t>
                              </m:r>
                            </m:e>
                          </m:d>
                        </m:den>
                      </m:f>
                    </m:oMath>
                  </m:oMathPara>
                </a14:m>
                <a:endParaRPr lang="ko-Kore-KR" altLang="ko-Kore-KR" sz="2000" dirty="0">
                  <a:effectLst/>
                  <a:latin typeface="KaiTi" panose="02010609060101010101" pitchFamily="49" charset="-122"/>
                  <a:ea typeface="맑은 고딕" panose="020B0503020000020004" pitchFamily="34" charset="-127"/>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350844EB-158D-B63B-8C8F-650A0A82EA7F}"/>
                  </a:ext>
                </a:extLst>
              </p:cNvPr>
              <p:cNvSpPr txBox="1">
                <a:spLocks noRot="1" noChangeAspect="1" noMove="1" noResize="1" noEditPoints="1" noAdjustHandles="1" noChangeArrowheads="1" noChangeShapeType="1" noTextEdit="1"/>
              </p:cNvSpPr>
              <p:nvPr/>
            </p:nvSpPr>
            <p:spPr>
              <a:xfrm>
                <a:off x="2579416" y="3982266"/>
                <a:ext cx="6113416" cy="2351221"/>
              </a:xfrm>
              <a:prstGeom prst="rect">
                <a:avLst/>
              </a:prstGeom>
              <a:blipFill>
                <a:blip r:embed="rId3"/>
                <a:stretch>
                  <a:fillRect l="-1037" b="-56989"/>
                </a:stretch>
              </a:blipFill>
            </p:spPr>
            <p:txBody>
              <a:bodyPr/>
              <a:lstStyle/>
              <a:p>
                <a:r>
                  <a:rPr lang="ko-Kore-KR" altLang="en-US">
                    <a:noFill/>
                  </a:rPr>
                  <a:t> </a:t>
                </a:r>
              </a:p>
            </p:txBody>
          </p:sp>
        </mc:Fallback>
      </mc:AlternateContent>
      <p:sp>
        <p:nvSpPr>
          <p:cNvPr id="16" name="TextBox 15">
            <a:extLst>
              <a:ext uri="{FF2B5EF4-FFF2-40B4-BE49-F238E27FC236}">
                <a16:creationId xmlns:a16="http://schemas.microsoft.com/office/drawing/2014/main" id="{0205ED59-B04D-9ED2-163E-5F6BA930C64D}"/>
              </a:ext>
            </a:extLst>
          </p:cNvPr>
          <p:cNvSpPr txBox="1"/>
          <p:nvPr/>
        </p:nvSpPr>
        <p:spPr>
          <a:xfrm>
            <a:off x="3736523" y="1700123"/>
            <a:ext cx="6113416" cy="400110"/>
          </a:xfrm>
          <a:prstGeom prst="rect">
            <a:avLst/>
          </a:prstGeom>
          <a:noFill/>
        </p:spPr>
        <p:txBody>
          <a:bodyPr wrap="square">
            <a:spAutoFit/>
          </a:bodyPr>
          <a:lstStyle/>
          <a:p>
            <a:r>
              <a:rPr lang="en-US" altLang="ko-Kore-KR" sz="2000" dirty="0">
                <a:latin typeface="KaiTi" panose="02010609060101010101" pitchFamily="49" charset="-122"/>
              </a:rPr>
              <a:t>Gain(X)</a:t>
            </a:r>
            <a:r>
              <a:rPr lang="ko-Kore-KR" altLang="en-US" sz="2000" dirty="0">
                <a:latin typeface="KaiTi" panose="02010609060101010101" pitchFamily="49" charset="-122"/>
              </a:rPr>
              <a:t>= H(Y) - H(Y|X)</a:t>
            </a:r>
          </a:p>
        </p:txBody>
      </p:sp>
    </p:spTree>
    <p:extLst>
      <p:ext uri="{BB962C8B-B14F-4D97-AF65-F5344CB8AC3E}">
        <p14:creationId xmlns:p14="http://schemas.microsoft.com/office/powerpoint/2010/main" val="177486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393" name="Object 8"/>
              <p:cNvSpPr txBox="1"/>
              <p:nvPr/>
            </p:nvSpPr>
            <p:spPr bwMode="auto">
              <a:xfrm>
                <a:off x="4831036" y="3343080"/>
                <a:ext cx="6227433" cy="4016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𝐺𝑎𝑖𝑛</m:t>
                      </m:r>
                      <m:r>
                        <a:rPr lang="en-US" sz="200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𝑜𝑢𝑡𝑙𝑜𝑜𝑘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𝐼𝑛𝑓𝑜</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𝐷</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𝐼𝑛𝑓</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𝑜</m:t>
                          </m:r>
                        </m:e>
                        <m:sub>
                          <m:r>
                            <a:rPr lang="en-US" sz="2000" b="0" i="1" smtClean="0">
                              <a:solidFill>
                                <a:srgbClr val="000000"/>
                              </a:solidFill>
                              <a:latin typeface="Cambria Math" panose="02040503050406030204" pitchFamily="18" charset="0"/>
                            </a:rPr>
                            <m:t>𝑜𝑢𝑡𝑙𝑜𝑜𝑘</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𝐷</m:t>
                      </m:r>
                      <m:r>
                        <a:rPr lang="en-US" sz="2000" i="1">
                          <a:solidFill>
                            <a:srgbClr val="000000"/>
                          </a:solidFill>
                          <a:latin typeface="Cambria Math" panose="02040503050406030204" pitchFamily="18" charset="0"/>
                        </a:rPr>
                        <m:t>)=0.246</m:t>
                      </m:r>
                    </m:oMath>
                  </m:oMathPara>
                </a14:m>
                <a:endParaRPr lang="en-US" sz="1800" dirty="0">
                  <a:latin typeface="STKaiti" panose="02010600040101010101" pitchFamily="2" charset="-122"/>
                  <a:ea typeface="STKaiti" panose="02010600040101010101" pitchFamily="2" charset="-122"/>
                </a:endParaRPr>
              </a:p>
            </p:txBody>
          </p:sp>
        </mc:Choice>
        <mc:Fallback xmlns="">
          <p:sp>
            <p:nvSpPr>
              <p:cNvPr id="16393" name="Object 8"/>
              <p:cNvSpPr txBox="1">
                <a:spLocks noRot="1" noChangeAspect="1" noMove="1" noResize="1" noEditPoints="1" noAdjustHandles="1" noChangeArrowheads="1" noChangeShapeType="1" noTextEdit="1"/>
              </p:cNvSpPr>
              <p:nvPr/>
            </p:nvSpPr>
            <p:spPr bwMode="auto">
              <a:xfrm>
                <a:off x="4831036" y="3343080"/>
                <a:ext cx="6227433" cy="401638"/>
              </a:xfrm>
              <a:prstGeom prst="rect">
                <a:avLst/>
              </a:prstGeom>
              <a:blipFill>
                <a:blip r:embed="rId3"/>
                <a:stretch>
                  <a:fillRect b="-15625"/>
                </a:stretch>
              </a:blipFill>
              <a:ln>
                <a:noFill/>
              </a:ln>
              <a:effectLst/>
            </p:spPr>
            <p:txBody>
              <a:bodyPr/>
              <a:lstStyle/>
              <a:p>
                <a:r>
                  <a:rPr lang="ko-Kore-KR" altLang="en-US">
                    <a:noFill/>
                  </a:rPr>
                  <a:t> </a:t>
                </a:r>
              </a:p>
            </p:txBody>
          </p:sp>
        </mc:Fallback>
      </mc:AlternateContent>
      <p:graphicFrame>
        <p:nvGraphicFramePr>
          <p:cNvPr id="3" name="Table 46">
            <a:extLst>
              <a:ext uri="{FF2B5EF4-FFF2-40B4-BE49-F238E27FC236}">
                <a16:creationId xmlns:a16="http://schemas.microsoft.com/office/drawing/2014/main" id="{4EE7D599-29D2-3225-4C1E-F77EBAA90FFA}"/>
              </a:ext>
            </a:extLst>
          </p:cNvPr>
          <p:cNvGraphicFramePr>
            <a:graphicFrameLocks noGrp="1"/>
          </p:cNvGraphicFramePr>
          <p:nvPr/>
        </p:nvGraphicFramePr>
        <p:xfrm>
          <a:off x="158497" y="1210660"/>
          <a:ext cx="4272018" cy="5333827"/>
        </p:xfrm>
        <a:graphic>
          <a:graphicData uri="http://schemas.openxmlformats.org/drawingml/2006/table">
            <a:tbl>
              <a:tblPr firstRow="1" bandRow="1">
                <a:tableStyleId>{93296810-A885-4BE3-A3E7-6D5BEEA58F35}</a:tableStyleId>
              </a:tblPr>
              <a:tblGrid>
                <a:gridCol w="1019368">
                  <a:extLst>
                    <a:ext uri="{9D8B030D-6E8A-4147-A177-3AD203B41FA5}">
                      <a16:colId xmlns:a16="http://schemas.microsoft.com/office/drawing/2014/main" val="20000"/>
                    </a:ext>
                  </a:extLst>
                </a:gridCol>
                <a:gridCol w="713569">
                  <a:extLst>
                    <a:ext uri="{9D8B030D-6E8A-4147-A177-3AD203B41FA5}">
                      <a16:colId xmlns:a16="http://schemas.microsoft.com/office/drawing/2014/main" val="20001"/>
                    </a:ext>
                  </a:extLst>
                </a:gridCol>
                <a:gridCol w="1057950">
                  <a:extLst>
                    <a:ext uri="{9D8B030D-6E8A-4147-A177-3AD203B41FA5}">
                      <a16:colId xmlns:a16="http://schemas.microsoft.com/office/drawing/2014/main" val="20002"/>
                    </a:ext>
                  </a:extLst>
                </a:gridCol>
                <a:gridCol w="809021">
                  <a:extLst>
                    <a:ext uri="{9D8B030D-6E8A-4147-A177-3AD203B41FA5}">
                      <a16:colId xmlns:a16="http://schemas.microsoft.com/office/drawing/2014/main" val="20003"/>
                    </a:ext>
                  </a:extLst>
                </a:gridCol>
                <a:gridCol w="672110">
                  <a:extLst>
                    <a:ext uri="{9D8B030D-6E8A-4147-A177-3AD203B41FA5}">
                      <a16:colId xmlns:a16="http://schemas.microsoft.com/office/drawing/2014/main" val="20004"/>
                    </a:ext>
                  </a:extLst>
                </a:gridCol>
              </a:tblGrid>
              <a:tr h="585797">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Outlook</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Temp</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Humidity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Windy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Play Golf</a:t>
                      </a:r>
                    </a:p>
                  </a:txBody>
                  <a:tcPr anchor="ctr">
                    <a:solidFill>
                      <a:schemeClr val="accent2"/>
                    </a:solidFill>
                  </a:tcPr>
                </a:tc>
                <a:extLst>
                  <a:ext uri="{0D108BD9-81ED-4DB2-BD59-A6C34878D82A}">
                    <a16:rowId xmlns:a16="http://schemas.microsoft.com/office/drawing/2014/main" val="10000"/>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2"/>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4"/>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5"/>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6"/>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a:latin typeface="Times New Roman" panose="02020603050405020304" pitchFamily="18" charset="0"/>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7"/>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08"/>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Cool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09"/>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0"/>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Rainy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1"/>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2"/>
                  </a:ext>
                </a:extLst>
              </a:tr>
              <a:tr h="339145">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Overcast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Hot</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Normal</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False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Yes</a:t>
                      </a:r>
                    </a:p>
                  </a:txBody>
                  <a:tcPr anchor="ctr">
                    <a:solidFill>
                      <a:schemeClr val="accent2">
                        <a:lumMod val="20000"/>
                        <a:lumOff val="80000"/>
                      </a:schemeClr>
                    </a:solidFill>
                  </a:tcPr>
                </a:tc>
                <a:extLst>
                  <a:ext uri="{0D108BD9-81ED-4DB2-BD59-A6C34878D82A}">
                    <a16:rowId xmlns:a16="http://schemas.microsoft.com/office/drawing/2014/main" val="10013"/>
                  </a:ext>
                </a:extLst>
              </a:tr>
              <a:tr h="339145">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Sunny</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Mild</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High</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True</a:t>
                      </a:r>
                    </a:p>
                  </a:txBody>
                  <a:tcPr anchor="ct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No</a:t>
                      </a:r>
                    </a:p>
                  </a:txBody>
                  <a:tcPr anchor="ctr">
                    <a:solidFill>
                      <a:schemeClr val="accent2">
                        <a:lumMod val="20000"/>
                        <a:lumOff val="80000"/>
                      </a:schemeClr>
                    </a:solidFill>
                  </a:tcPr>
                </a:tc>
                <a:extLst>
                  <a:ext uri="{0D108BD9-81ED-4DB2-BD59-A6C34878D82A}">
                    <a16:rowId xmlns:a16="http://schemas.microsoft.com/office/drawing/2014/main" val="10014"/>
                  </a:ext>
                </a:extLst>
              </a:tr>
            </a:tbl>
          </a:graphicData>
        </a:graphic>
      </p:graphicFrame>
      <p:graphicFrame>
        <p:nvGraphicFramePr>
          <p:cNvPr id="5" name="Table 43">
            <a:extLst>
              <a:ext uri="{FF2B5EF4-FFF2-40B4-BE49-F238E27FC236}">
                <a16:creationId xmlns:a16="http://schemas.microsoft.com/office/drawing/2014/main" id="{8DFB0857-F4EA-D993-5649-0E9D40F9C469}"/>
              </a:ext>
            </a:extLst>
          </p:cNvPr>
          <p:cNvGraphicFramePr>
            <a:graphicFrameLocks noGrp="1"/>
          </p:cNvGraphicFramePr>
          <p:nvPr/>
        </p:nvGraphicFramePr>
        <p:xfrm>
          <a:off x="4590900" y="1316442"/>
          <a:ext cx="3429272" cy="1110665"/>
        </p:xfrm>
        <a:graphic>
          <a:graphicData uri="http://schemas.openxmlformats.org/drawingml/2006/table">
            <a:tbl>
              <a:tblPr firstRow="1" bandRow="1">
                <a:tableStyleId>{2D5ABB26-0587-4C30-8999-92F81FD0307C}</a:tableStyleId>
              </a:tblPr>
              <a:tblGrid>
                <a:gridCol w="782357">
                  <a:extLst>
                    <a:ext uri="{9D8B030D-6E8A-4147-A177-3AD203B41FA5}">
                      <a16:colId xmlns:a16="http://schemas.microsoft.com/office/drawing/2014/main" val="3189156840"/>
                    </a:ext>
                  </a:extLst>
                </a:gridCol>
                <a:gridCol w="843446">
                  <a:extLst>
                    <a:ext uri="{9D8B030D-6E8A-4147-A177-3AD203B41FA5}">
                      <a16:colId xmlns:a16="http://schemas.microsoft.com/office/drawing/2014/main" val="713696415"/>
                    </a:ext>
                  </a:extLst>
                </a:gridCol>
                <a:gridCol w="754128">
                  <a:extLst>
                    <a:ext uri="{9D8B030D-6E8A-4147-A177-3AD203B41FA5}">
                      <a16:colId xmlns:a16="http://schemas.microsoft.com/office/drawing/2014/main" val="265858083"/>
                    </a:ext>
                  </a:extLst>
                </a:gridCol>
                <a:gridCol w="1049341">
                  <a:extLst>
                    <a:ext uri="{9D8B030D-6E8A-4147-A177-3AD203B41FA5}">
                      <a16:colId xmlns:a16="http://schemas.microsoft.com/office/drawing/2014/main" val="1676482580"/>
                    </a:ext>
                  </a:extLst>
                </a:gridCol>
              </a:tblGrid>
              <a:tr h="318622">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outlook</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I(yes,</a:t>
                      </a:r>
                      <a:r>
                        <a:rPr lang="en-US" sz="1600" b="1" baseline="0" dirty="0">
                          <a:solidFill>
                            <a:schemeClr val="bg1"/>
                          </a:solidFill>
                          <a:latin typeface="Times New Roman" panose="02020603050405020304" pitchFamily="18" charset="0"/>
                          <a:cs typeface="Times New Roman" panose="02020603050405020304" pitchFamily="18" charset="0"/>
                        </a:rPr>
                        <a:t> no)</a:t>
                      </a:r>
                      <a:endParaRPr lang="en-US" sz="1600" b="1" dirty="0">
                        <a:solidFill>
                          <a:schemeClr val="bg1"/>
                        </a:solidFill>
                        <a:latin typeface="Times New Roman" panose="02020603050405020304" pitchFamily="18" charset="0"/>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905">
                <a:tc>
                  <a:txBody>
                    <a:bodyPr/>
                    <a:lstStyle/>
                    <a:p>
                      <a:pPr algn="ctr"/>
                      <a:r>
                        <a:rPr lang="en-US" sz="1600" dirty="0">
                          <a:latin typeface="Times New Roman" panose="02020603050405020304" pitchFamily="18" charset="0"/>
                          <a:cs typeface="Times New Roman" panose="02020603050405020304" pitchFamily="18" charset="0"/>
                        </a:rPr>
                        <a:t>rainy</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0.971</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80233">
                <a:tc>
                  <a:txBody>
                    <a:bodyPr/>
                    <a:lstStyle/>
                    <a:p>
                      <a:pPr algn="ctr"/>
                      <a:r>
                        <a:rPr lang="en-US" sz="1600" dirty="0">
                          <a:latin typeface="Times New Roman" panose="02020603050405020304" pitchFamily="18" charset="0"/>
                          <a:cs typeface="Times New Roman" panose="02020603050405020304" pitchFamily="18" charset="0"/>
                        </a:rPr>
                        <a:t>overcast</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4</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r h="255905">
                <a:tc>
                  <a:txBody>
                    <a:bodyPr/>
                    <a:lstStyle/>
                    <a:p>
                      <a:pPr algn="ctr"/>
                      <a:r>
                        <a:rPr lang="en-US" sz="1600" dirty="0">
                          <a:latin typeface="Times New Roman" panose="02020603050405020304" pitchFamily="18" charset="0"/>
                          <a:cs typeface="Times New Roman" panose="02020603050405020304" pitchFamily="18" charset="0"/>
                        </a:rPr>
                        <a:t>sunny</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3</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2</a:t>
                      </a:r>
                    </a:p>
                  </a:txBody>
                  <a:tcPr marL="0" marR="0" marT="0" marB="0" anchor="ctr">
                    <a:solidFill>
                      <a:schemeClr val="tx2">
                        <a:lumMod val="20000"/>
                        <a:lumOff val="8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0.971</a:t>
                      </a:r>
                    </a:p>
                  </a:txBody>
                  <a:tcPr marL="0" marR="0" marT="0" marB="0" anchor="ctr">
                    <a:solidFill>
                      <a:schemeClr val="tx2">
                        <a:lumMod val="20000"/>
                        <a:lumOff val="80000"/>
                      </a:schemeClr>
                    </a:solidFill>
                  </a:tcPr>
                </a:tc>
                <a:extLst>
                  <a:ext uri="{0D108BD9-81ED-4DB2-BD59-A6C34878D82A}">
                    <a16:rowId xmlns:a16="http://schemas.microsoft.com/office/drawing/2014/main" val="3226009038"/>
                  </a:ext>
                </a:extLst>
              </a:tr>
            </a:tbl>
          </a:graphicData>
        </a:graphic>
      </p:graphicFrame>
      <p:grpSp>
        <p:nvGrpSpPr>
          <p:cNvPr id="11" name="Group 3">
            <a:extLst>
              <a:ext uri="{FF2B5EF4-FFF2-40B4-BE49-F238E27FC236}">
                <a16:creationId xmlns:a16="http://schemas.microsoft.com/office/drawing/2014/main" id="{8ADD6A27-798C-4F33-8F1A-E12DB58A2098}"/>
              </a:ext>
            </a:extLst>
          </p:cNvPr>
          <p:cNvGrpSpPr/>
          <p:nvPr/>
        </p:nvGrpSpPr>
        <p:grpSpPr>
          <a:xfrm>
            <a:off x="7944753" y="1275858"/>
            <a:ext cx="4025803" cy="1427389"/>
            <a:chOff x="3978306" y="1304384"/>
            <a:chExt cx="4004672" cy="1577540"/>
          </a:xfrm>
        </p:grpSpPr>
        <p:sp>
          <p:nvSpPr>
            <p:cNvPr id="12" name="Rectangle 3">
              <a:extLst>
                <a:ext uri="{FF2B5EF4-FFF2-40B4-BE49-F238E27FC236}">
                  <a16:creationId xmlns:a16="http://schemas.microsoft.com/office/drawing/2014/main" id="{D0830CC9-17DF-E097-621A-F880D466EE3F}"/>
                </a:ext>
              </a:extLst>
            </p:cNvPr>
            <p:cNvSpPr>
              <a:spLocks noChangeArrowheads="1"/>
            </p:cNvSpPr>
            <p:nvPr/>
          </p:nvSpPr>
          <p:spPr bwMode="auto">
            <a:xfrm>
              <a:off x="5186118" y="1304384"/>
              <a:ext cx="1370745" cy="511489"/>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b="1" dirty="0">
                  <a:latin typeface="Times New Roman" panose="02020603050405020304" pitchFamily="18" charset="0"/>
                </a:rPr>
                <a:t>outlook?</a:t>
              </a:r>
            </a:p>
          </p:txBody>
        </p:sp>
        <p:sp>
          <p:nvSpPr>
            <p:cNvPr id="13" name="Rectangle 14">
              <a:extLst>
                <a:ext uri="{FF2B5EF4-FFF2-40B4-BE49-F238E27FC236}">
                  <a16:creationId xmlns:a16="http://schemas.microsoft.com/office/drawing/2014/main" id="{57C8C072-342B-B29E-234F-4F76175727E3}"/>
                </a:ext>
              </a:extLst>
            </p:cNvPr>
            <p:cNvSpPr>
              <a:spLocks noChangeArrowheads="1"/>
            </p:cNvSpPr>
            <p:nvPr/>
          </p:nvSpPr>
          <p:spPr bwMode="auto">
            <a:xfrm>
              <a:off x="4208310" y="1919731"/>
              <a:ext cx="973022" cy="462307"/>
            </a:xfrm>
            <a:prstGeom prst="rect">
              <a:avLst/>
            </a:prstGeom>
            <a:noFill/>
            <a:ln w="12700">
              <a:solidFill>
                <a:schemeClr val="bg1"/>
              </a:solidFill>
              <a:miter lim="800000"/>
              <a:headEnd/>
              <a:tailEnd/>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Sunny</a:t>
              </a:r>
            </a:p>
          </p:txBody>
        </p:sp>
        <p:sp>
          <p:nvSpPr>
            <p:cNvPr id="14" name="Rectangle 15">
              <a:extLst>
                <a:ext uri="{FF2B5EF4-FFF2-40B4-BE49-F238E27FC236}">
                  <a16:creationId xmlns:a16="http://schemas.microsoft.com/office/drawing/2014/main" id="{33587F3D-49D7-C208-696D-3126078F333B}"/>
                </a:ext>
              </a:extLst>
            </p:cNvPr>
            <p:cNvSpPr>
              <a:spLocks noChangeArrowheads="1"/>
            </p:cNvSpPr>
            <p:nvPr/>
          </p:nvSpPr>
          <p:spPr bwMode="auto">
            <a:xfrm>
              <a:off x="6538399" y="1923439"/>
              <a:ext cx="920124" cy="462307"/>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2400" dirty="0">
                  <a:latin typeface="Times New Roman" panose="02020603050405020304" pitchFamily="18" charset="0"/>
                </a:rPr>
                <a:t>Rainy</a:t>
              </a:r>
            </a:p>
          </p:txBody>
        </p:sp>
        <p:sp>
          <p:nvSpPr>
            <p:cNvPr id="15" name="Rectangle 30">
              <a:extLst>
                <a:ext uri="{FF2B5EF4-FFF2-40B4-BE49-F238E27FC236}">
                  <a16:creationId xmlns:a16="http://schemas.microsoft.com/office/drawing/2014/main" id="{F3A6BDBA-7FA1-A970-B04B-B543227F51CE}"/>
                </a:ext>
              </a:extLst>
            </p:cNvPr>
            <p:cNvSpPr>
              <a:spLocks noChangeArrowheads="1"/>
            </p:cNvSpPr>
            <p:nvPr/>
          </p:nvSpPr>
          <p:spPr bwMode="auto">
            <a:xfrm>
              <a:off x="5702137" y="2424337"/>
              <a:ext cx="1066800" cy="304800"/>
            </a:xfrm>
            <a:prstGeom prst="rect">
              <a:avLst/>
            </a:prstGeom>
            <a:noFill/>
            <a:ln>
              <a:noFill/>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800" dirty="0">
                  <a:latin typeface="Times New Roman" panose="02020603050405020304" pitchFamily="18" charset="0"/>
                </a:rPr>
                <a:t>Overcast</a:t>
              </a:r>
            </a:p>
          </p:txBody>
        </p:sp>
        <p:cxnSp>
          <p:nvCxnSpPr>
            <p:cNvPr id="16" name="Straight Arrow Connector 34">
              <a:extLst>
                <a:ext uri="{FF2B5EF4-FFF2-40B4-BE49-F238E27FC236}">
                  <a16:creationId xmlns:a16="http://schemas.microsoft.com/office/drawing/2014/main" id="{8B0ACA14-4193-643E-F7E7-49A40C0EA877}"/>
                </a:ext>
              </a:extLst>
            </p:cNvPr>
            <p:cNvCxnSpPr/>
            <p:nvPr/>
          </p:nvCxnSpPr>
          <p:spPr>
            <a:xfrm flipH="1">
              <a:off x="3978306" y="1815873"/>
              <a:ext cx="1893185" cy="10652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35">
              <a:extLst>
                <a:ext uri="{FF2B5EF4-FFF2-40B4-BE49-F238E27FC236}">
                  <a16:creationId xmlns:a16="http://schemas.microsoft.com/office/drawing/2014/main" id="{CE6F9493-B0E0-3697-7C36-F4C4BB04E3C6}"/>
                </a:ext>
              </a:extLst>
            </p:cNvPr>
            <p:cNvCxnSpPr/>
            <p:nvPr/>
          </p:nvCxnSpPr>
          <p:spPr>
            <a:xfrm flipH="1">
              <a:off x="5869860" y="1815873"/>
              <a:ext cx="1631" cy="1066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36">
              <a:extLst>
                <a:ext uri="{FF2B5EF4-FFF2-40B4-BE49-F238E27FC236}">
                  <a16:creationId xmlns:a16="http://schemas.microsoft.com/office/drawing/2014/main" id="{F8B7B3A1-C760-8F29-A2CF-45263F182BE2}"/>
                </a:ext>
              </a:extLst>
            </p:cNvPr>
            <p:cNvCxnSpPr>
              <a:cxnSpLocks/>
            </p:cNvCxnSpPr>
            <p:nvPr/>
          </p:nvCxnSpPr>
          <p:spPr>
            <a:xfrm>
              <a:off x="5871491" y="1815873"/>
              <a:ext cx="2111487" cy="10652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9" name="제목 2">
            <a:extLst>
              <a:ext uri="{FF2B5EF4-FFF2-40B4-BE49-F238E27FC236}">
                <a16:creationId xmlns:a16="http://schemas.microsoft.com/office/drawing/2014/main" id="{6B10884C-1524-E0D2-37E1-F035F801AFB8}"/>
              </a:ext>
            </a:extLst>
          </p:cNvPr>
          <p:cNvSpPr txBox="1">
            <a:spLocks/>
          </p:cNvSpPr>
          <p:nvPr/>
        </p:nvSpPr>
        <p:spPr>
          <a:xfrm>
            <a:off x="350985" y="221676"/>
            <a:ext cx="11369963" cy="738909"/>
          </a:xfrm>
          <a:prstGeom prst="rect">
            <a:avLst/>
          </a:prstGeom>
        </p:spPr>
        <p:txBody>
          <a:bodyPr vert="horz" lIns="91436" tIns="45718" rIns="91436" bIns="45718" rtlCol="0" anchor="b">
            <a:normAutofit/>
          </a:bodyPr>
          <a:lst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a:lstStyle>
          <a:p>
            <a:r>
              <a:rPr lang="en-US" altLang="en-US" sz="4400" dirty="0"/>
              <a:t>示例：基于信息增益率的属性选择</a:t>
            </a:r>
            <a:endParaRPr lang="ko-KR" altLang="en-US" b="1" dirty="0">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0C4439-06E1-61D1-C03A-1AA4F8B499EE}"/>
                  </a:ext>
                </a:extLst>
              </p:cNvPr>
              <p:cNvSpPr txBox="1"/>
              <p:nvPr/>
            </p:nvSpPr>
            <p:spPr>
              <a:xfrm>
                <a:off x="4731046" y="4026767"/>
                <a:ext cx="6113416" cy="12678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ore-KR" sz="2000" i="1" smtClean="0">
                          <a:effectLst/>
                          <a:latin typeface="Cambria Math" panose="02040503050406030204" pitchFamily="18" charset="0"/>
                          <a:ea typeface="Times New Roman" panose="02020603050405020304" pitchFamily="18" charset="0"/>
                        </a:rPr>
                        <m:t>𝑆𝑝𝑙𝑖𝑡𝐼𝑛𝑓𝑜</m:t>
                      </m:r>
                      <m:r>
                        <a:rPr lang="en-US" altLang="ko-Kore-KR" sz="2000" i="1" smtClean="0">
                          <a:effectLst/>
                          <a:latin typeface="Cambria Math" panose="02040503050406030204" pitchFamily="18" charset="0"/>
                          <a:ea typeface="Times New Roman" panose="02020603050405020304" pitchFamily="18" charset="0"/>
                        </a:rPr>
                        <m:t>(</m:t>
                      </m:r>
                      <m:r>
                        <a:rPr lang="en-US" altLang="ko-Kore-KR" sz="2000" i="1" smtClean="0">
                          <a:effectLst/>
                          <a:latin typeface="Cambria Math" panose="02040503050406030204" pitchFamily="18" charset="0"/>
                          <a:ea typeface="Times New Roman" panose="02020603050405020304" pitchFamily="18" charset="0"/>
                        </a:rPr>
                        <m:t>𝑜𝑢𝑡𝑙𝑜𝑜𝑘</m:t>
                      </m:r>
                      <m:r>
                        <a:rPr lang="en-US" altLang="ko-Kore-KR" sz="2000" i="1" smtClean="0">
                          <a:effectLst/>
                          <a:latin typeface="Cambria Math" panose="02040503050406030204" pitchFamily="18" charset="0"/>
                          <a:ea typeface="Times New Roman" panose="02020603050405020304" pitchFamily="18" charset="0"/>
                        </a:rPr>
                        <m:t>)=−(</m:t>
                      </m:r>
                      <m:r>
                        <m:rPr>
                          <m:nor/>
                        </m:rPr>
                        <a:rPr lang="en-US" altLang="ko-Kore-KR" sz="2000">
                          <a:effectLst/>
                          <a:latin typeface="Times New Roman" panose="02020603050405020304" pitchFamily="18" charset="0"/>
                          <a:ea typeface="Times New Roman" panose="02020603050405020304" pitchFamily="18" charset="0"/>
                        </a:rPr>
                        <m:t> </m:t>
                      </m:r>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5</m:t>
                          </m:r>
                        </m:num>
                        <m:den>
                          <m:r>
                            <a:rPr lang="en-US" altLang="ko-Kore-KR" sz="2000" i="1">
                              <a:effectLst/>
                              <a:latin typeface="Cambria Math" panose="02040503050406030204" pitchFamily="18" charset="0"/>
                              <a:ea typeface="Times New Roman" panose="02020603050405020304" pitchFamily="18" charset="0"/>
                            </a:rPr>
                            <m:t>14</m:t>
                          </m:r>
                        </m:den>
                      </m:f>
                      <m:sSub>
                        <m:sSubPr>
                          <m:ctrlPr>
                            <a:rPr lang="ko-Kore-KR" altLang="ko-Kore-KR" sz="2000" i="1">
                              <a:effectLst/>
                              <a:latin typeface="Cambria Math" panose="02040503050406030204" pitchFamily="18" charset="0"/>
                              <a:ea typeface="Cambria Math" panose="02040503050406030204" pitchFamily="18" charset="0"/>
                            </a:rPr>
                          </m:ctrlPr>
                        </m:sSubPr>
                        <m:e>
                          <m:r>
                            <m:rPr>
                              <m:sty m:val="p"/>
                            </m:rPr>
                            <a:rPr lang="en-US" altLang="ko-Kore-KR" sz="2000">
                              <a:effectLst/>
                              <a:latin typeface="Cambria Math" panose="02040503050406030204" pitchFamily="18" charset="0"/>
                              <a:ea typeface="Times New Roman" panose="02020603050405020304" pitchFamily="18" charset="0"/>
                            </a:rPr>
                            <m:t>log</m:t>
                          </m:r>
                          <m:r>
                            <a:rPr lang="en-US" altLang="ko-Kore-KR" sz="2000" i="1">
                              <a:effectLst/>
                              <a:latin typeface="Cambria Math" panose="02040503050406030204" pitchFamily="18" charset="0"/>
                              <a:ea typeface="Times New Roman" panose="02020603050405020304" pitchFamily="18" charset="0"/>
                            </a:rPr>
                            <m:t>⁡</m:t>
                          </m:r>
                        </m:e>
                        <m:sub>
                          <m:r>
                            <a:rPr lang="en-US" altLang="ko-Kore-KR" sz="2000" i="1">
                              <a:effectLst/>
                              <a:latin typeface="Cambria Math" panose="02040503050406030204" pitchFamily="18" charset="0"/>
                              <a:ea typeface="Times New Roman" panose="02020603050405020304" pitchFamily="18" charset="0"/>
                            </a:rPr>
                            <m:t>2</m:t>
                          </m:r>
                        </m:sub>
                      </m:sSub>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5</m:t>
                          </m:r>
                        </m:num>
                        <m:den>
                          <m:r>
                            <a:rPr lang="en-US" altLang="ko-Kore-KR" sz="2000" i="1">
                              <a:effectLst/>
                              <a:latin typeface="Cambria Math" panose="02040503050406030204" pitchFamily="18" charset="0"/>
                              <a:ea typeface="Times New Roman" panose="02020603050405020304" pitchFamily="18" charset="0"/>
                            </a:rPr>
                            <m:t>14</m:t>
                          </m:r>
                        </m:den>
                      </m:f>
                      <m:r>
                        <a:rPr lang="en-US" altLang="ko-Kore-KR" sz="2000" i="1">
                          <a:effectLst/>
                          <a:latin typeface="Cambria Math" panose="02040503050406030204" pitchFamily="18" charset="0"/>
                          <a:ea typeface="Times New Roman" panose="02020603050405020304" pitchFamily="18" charset="0"/>
                        </a:rPr>
                        <m:t>+</m:t>
                      </m:r>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4</m:t>
                          </m:r>
                        </m:num>
                        <m:den>
                          <m:r>
                            <a:rPr lang="en-US" altLang="ko-Kore-KR" sz="2000" i="1">
                              <a:effectLst/>
                              <a:latin typeface="Cambria Math" panose="02040503050406030204" pitchFamily="18" charset="0"/>
                              <a:ea typeface="Times New Roman" panose="02020603050405020304" pitchFamily="18" charset="0"/>
                            </a:rPr>
                            <m:t>14</m:t>
                          </m:r>
                        </m:den>
                      </m:f>
                      <m:sSub>
                        <m:sSubPr>
                          <m:ctrlPr>
                            <a:rPr lang="ko-Kore-KR" altLang="ko-Kore-KR" sz="2000" i="1">
                              <a:effectLst/>
                              <a:latin typeface="Cambria Math" panose="02040503050406030204" pitchFamily="18" charset="0"/>
                              <a:ea typeface="Cambria Math" panose="02040503050406030204" pitchFamily="18" charset="0"/>
                            </a:rPr>
                          </m:ctrlPr>
                        </m:sSubPr>
                        <m:e>
                          <m:r>
                            <m:rPr>
                              <m:sty m:val="p"/>
                            </m:rPr>
                            <a:rPr lang="en-US" altLang="ko-Kore-KR" sz="2000">
                              <a:effectLst/>
                              <a:latin typeface="Cambria Math" panose="02040503050406030204" pitchFamily="18" charset="0"/>
                              <a:ea typeface="Times New Roman" panose="02020603050405020304" pitchFamily="18" charset="0"/>
                            </a:rPr>
                            <m:t>log</m:t>
                          </m:r>
                          <m:r>
                            <a:rPr lang="en-US" altLang="ko-Kore-KR" sz="2000" i="1">
                              <a:effectLst/>
                              <a:latin typeface="Cambria Math" panose="02040503050406030204" pitchFamily="18" charset="0"/>
                              <a:ea typeface="Times New Roman" panose="02020603050405020304" pitchFamily="18" charset="0"/>
                            </a:rPr>
                            <m:t>⁡</m:t>
                          </m:r>
                        </m:e>
                        <m:sub>
                          <m:r>
                            <a:rPr lang="en-US" altLang="ko-Kore-KR" sz="2000" i="1">
                              <a:effectLst/>
                              <a:latin typeface="Cambria Math" panose="02040503050406030204" pitchFamily="18" charset="0"/>
                              <a:ea typeface="Times New Roman" panose="02020603050405020304" pitchFamily="18" charset="0"/>
                            </a:rPr>
                            <m:t>2</m:t>
                          </m:r>
                        </m:sub>
                      </m:sSub>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4</m:t>
                          </m:r>
                        </m:num>
                        <m:den>
                          <m:r>
                            <a:rPr lang="en-US" altLang="ko-Kore-KR" sz="2000" i="1">
                              <a:effectLst/>
                              <a:latin typeface="Cambria Math" panose="02040503050406030204" pitchFamily="18" charset="0"/>
                              <a:ea typeface="Times New Roman" panose="02020603050405020304" pitchFamily="18" charset="0"/>
                            </a:rPr>
                            <m:t>14</m:t>
                          </m:r>
                        </m:den>
                      </m:f>
                      <m:r>
                        <a:rPr lang="en-US" altLang="ko-Kore-KR" sz="2000" i="1">
                          <a:effectLst/>
                          <a:latin typeface="Cambria Math" panose="02040503050406030204" pitchFamily="18" charset="0"/>
                          <a:ea typeface="Times New Roman" panose="02020603050405020304" pitchFamily="18" charset="0"/>
                        </a:rPr>
                        <m:t>+</m:t>
                      </m:r>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5</m:t>
                          </m:r>
                        </m:num>
                        <m:den>
                          <m:r>
                            <a:rPr lang="en-US" altLang="ko-Kore-KR" sz="2000" i="1">
                              <a:effectLst/>
                              <a:latin typeface="Cambria Math" panose="02040503050406030204" pitchFamily="18" charset="0"/>
                              <a:ea typeface="Times New Roman" panose="02020603050405020304" pitchFamily="18" charset="0"/>
                            </a:rPr>
                            <m:t>14</m:t>
                          </m:r>
                        </m:den>
                      </m:f>
                      <m:sSub>
                        <m:sSubPr>
                          <m:ctrlPr>
                            <a:rPr lang="ko-Kore-KR" altLang="ko-Kore-KR" sz="2000" i="1">
                              <a:effectLst/>
                              <a:latin typeface="Cambria Math" panose="02040503050406030204" pitchFamily="18" charset="0"/>
                              <a:ea typeface="Cambria Math" panose="02040503050406030204" pitchFamily="18" charset="0"/>
                            </a:rPr>
                          </m:ctrlPr>
                        </m:sSubPr>
                        <m:e>
                          <m:r>
                            <m:rPr>
                              <m:sty m:val="p"/>
                            </m:rPr>
                            <a:rPr lang="en-US" altLang="ko-Kore-KR" sz="2000">
                              <a:effectLst/>
                              <a:latin typeface="Cambria Math" panose="02040503050406030204" pitchFamily="18" charset="0"/>
                              <a:ea typeface="Times New Roman" panose="02020603050405020304" pitchFamily="18" charset="0"/>
                            </a:rPr>
                            <m:t>log</m:t>
                          </m:r>
                          <m:r>
                            <a:rPr lang="en-US" altLang="ko-Kore-KR" sz="2000" i="1">
                              <a:effectLst/>
                              <a:latin typeface="Cambria Math" panose="02040503050406030204" pitchFamily="18" charset="0"/>
                              <a:ea typeface="Times New Roman" panose="02020603050405020304" pitchFamily="18" charset="0"/>
                            </a:rPr>
                            <m:t>⁡</m:t>
                          </m:r>
                        </m:e>
                        <m:sub>
                          <m:r>
                            <a:rPr lang="en-US" altLang="ko-Kore-KR" sz="2000" i="1">
                              <a:effectLst/>
                              <a:latin typeface="Cambria Math" panose="02040503050406030204" pitchFamily="18" charset="0"/>
                              <a:ea typeface="Times New Roman" panose="02020603050405020304" pitchFamily="18" charset="0"/>
                            </a:rPr>
                            <m:t>2</m:t>
                          </m:r>
                        </m:sub>
                      </m:sSub>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5</m:t>
                          </m:r>
                        </m:num>
                        <m:den>
                          <m:r>
                            <a:rPr lang="en-US" altLang="ko-Kore-KR" sz="2000" i="1">
                              <a:effectLst/>
                              <a:latin typeface="Cambria Math" panose="02040503050406030204" pitchFamily="18" charset="0"/>
                              <a:ea typeface="Times New Roman" panose="02020603050405020304" pitchFamily="18" charset="0"/>
                            </a:rPr>
                            <m:t>14</m:t>
                          </m:r>
                        </m:den>
                      </m:f>
                      <m:r>
                        <a:rPr lang="en-US" altLang="ko-Kore-KR" sz="2000" i="1">
                          <a:effectLst/>
                          <a:latin typeface="Cambria Math" panose="02040503050406030204" pitchFamily="18" charset="0"/>
                          <a:ea typeface="Times New Roman" panose="02020603050405020304" pitchFamily="18" charset="0"/>
                        </a:rPr>
                        <m:t>)≈1.577</m:t>
                      </m:r>
                    </m:oMath>
                  </m:oMathPara>
                </a14:m>
                <a:endParaRPr lang="ko-Kore-KR" altLang="ko-Kore-KR" sz="2000" dirty="0">
                  <a:effectLst/>
                  <a:latin typeface="Times New Roman" panose="02020603050405020304" pitchFamily="18" charset="0"/>
                  <a:ea typeface="Times New Roman" panose="02020603050405020304" pitchFamily="18" charset="0"/>
                </a:endParaRPr>
              </a:p>
              <a:p>
                <a:endParaRPr lang="ko-Kore-KR" altLang="en-US" dirty="0"/>
              </a:p>
            </p:txBody>
          </p:sp>
        </mc:Choice>
        <mc:Fallback xmlns="">
          <p:sp>
            <p:nvSpPr>
              <p:cNvPr id="8" name="TextBox 7">
                <a:extLst>
                  <a:ext uri="{FF2B5EF4-FFF2-40B4-BE49-F238E27FC236}">
                    <a16:creationId xmlns:a16="http://schemas.microsoft.com/office/drawing/2014/main" id="{760C4439-06E1-61D1-C03A-1AA4F8B499EE}"/>
                  </a:ext>
                </a:extLst>
              </p:cNvPr>
              <p:cNvSpPr txBox="1">
                <a:spLocks noRot="1" noChangeAspect="1" noMove="1" noResize="1" noEditPoints="1" noAdjustHandles="1" noChangeArrowheads="1" noChangeShapeType="1" noTextEdit="1"/>
              </p:cNvSpPr>
              <p:nvPr/>
            </p:nvSpPr>
            <p:spPr>
              <a:xfrm>
                <a:off x="4731046" y="4026767"/>
                <a:ext cx="6113416" cy="1267848"/>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2B73B40-6436-ECBB-38C4-4A11A42730B4}"/>
                  </a:ext>
                </a:extLst>
              </p:cNvPr>
              <p:cNvSpPr txBox="1"/>
              <p:nvPr/>
            </p:nvSpPr>
            <p:spPr>
              <a:xfrm>
                <a:off x="4430515" y="5252601"/>
                <a:ext cx="6113416" cy="9628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ore-KR" sz="2000" i="1">
                          <a:effectLst/>
                          <a:latin typeface="Cambria Math" panose="02040503050406030204" pitchFamily="18" charset="0"/>
                          <a:ea typeface="Times New Roman" panose="02020603050405020304" pitchFamily="18" charset="0"/>
                        </a:rPr>
                        <m:t>𝐺𝑎𝑖𝑛𝑅𝑎𝑡𝑖𝑜</m:t>
                      </m:r>
                      <m:r>
                        <a:rPr lang="en-US" altLang="ko-Kore-KR" sz="2000" i="1">
                          <a:effectLst/>
                          <a:latin typeface="Cambria Math" panose="02040503050406030204" pitchFamily="18" charset="0"/>
                          <a:ea typeface="Times New Roman" panose="02020603050405020304" pitchFamily="18" charset="0"/>
                        </a:rPr>
                        <m:t>(</m:t>
                      </m:r>
                      <m:r>
                        <a:rPr lang="en-US" altLang="ko-Kore-KR" sz="2000" i="1">
                          <a:effectLst/>
                          <a:latin typeface="Cambria Math" panose="02040503050406030204" pitchFamily="18" charset="0"/>
                          <a:ea typeface="Times New Roman" panose="02020603050405020304" pitchFamily="18" charset="0"/>
                        </a:rPr>
                        <m:t>𝑜𝑢𝑡𝑙𝑜𝑜𝑘</m:t>
                      </m:r>
                      <m:r>
                        <a:rPr lang="en-US" altLang="ko-Kore-KR" sz="2000" i="1">
                          <a:effectLst/>
                          <a:latin typeface="Cambria Math" panose="02040503050406030204" pitchFamily="18" charset="0"/>
                          <a:ea typeface="Times New Roman" panose="02020603050405020304" pitchFamily="18" charset="0"/>
                        </a:rPr>
                        <m:t>)=</m:t>
                      </m:r>
                      <m:f>
                        <m:fPr>
                          <m:ctrlPr>
                            <a:rPr lang="ko-Kore-KR" altLang="ko-Kore-KR" sz="2000" i="1">
                              <a:effectLst/>
                              <a:latin typeface="Cambria Math" panose="02040503050406030204" pitchFamily="18" charset="0"/>
                              <a:ea typeface="Cambria Math" panose="02040503050406030204" pitchFamily="18" charset="0"/>
                            </a:rPr>
                          </m:ctrlPr>
                        </m:fPr>
                        <m:num>
                          <m:r>
                            <a:rPr lang="en-US" altLang="ko-Kore-KR" sz="2000" i="1">
                              <a:effectLst/>
                              <a:latin typeface="Cambria Math" panose="02040503050406030204" pitchFamily="18" charset="0"/>
                              <a:ea typeface="Times New Roman" panose="02020603050405020304" pitchFamily="18" charset="0"/>
                            </a:rPr>
                            <m:t>0.246</m:t>
                          </m:r>
                        </m:num>
                        <m:den>
                          <m:r>
                            <a:rPr lang="en-US" altLang="ko-Kore-KR" sz="2000" i="1">
                              <a:effectLst/>
                              <a:latin typeface="Cambria Math" panose="02040503050406030204" pitchFamily="18" charset="0"/>
                              <a:ea typeface="Times New Roman" panose="02020603050405020304" pitchFamily="18" charset="0"/>
                            </a:rPr>
                            <m:t>1.577</m:t>
                          </m:r>
                        </m:den>
                      </m:f>
                      <m:r>
                        <a:rPr lang="en-US" altLang="ko-Kore-KR" sz="2000" i="1">
                          <a:effectLst/>
                          <a:latin typeface="Cambria Math" panose="02040503050406030204" pitchFamily="18" charset="0"/>
                          <a:ea typeface="Times New Roman" panose="02020603050405020304" pitchFamily="18" charset="0"/>
                        </a:rPr>
                        <m:t>≈</m:t>
                      </m:r>
                      <m:r>
                        <a:rPr lang="en-US" altLang="ko-Kore-KR" sz="2000">
                          <a:effectLst/>
                          <a:latin typeface="Cambria Math" panose="02040503050406030204" pitchFamily="18" charset="0"/>
                          <a:ea typeface="Times New Roman" panose="02020603050405020304" pitchFamily="18" charset="0"/>
                        </a:rPr>
                        <m:t>0.156</m:t>
                      </m:r>
                    </m:oMath>
                  </m:oMathPara>
                </a14:m>
                <a:endParaRPr lang="ko-Kore-KR" altLang="ko-Kore-KR" sz="2000">
                  <a:effectLst/>
                  <a:latin typeface="Times New Roman" panose="02020603050405020304" pitchFamily="18" charset="0"/>
                  <a:ea typeface="Times New Roman" panose="02020603050405020304" pitchFamily="18" charset="0"/>
                </a:endParaRPr>
              </a:p>
              <a:p>
                <a:endParaRPr lang="ko-Kore-KR" altLang="en-US"/>
              </a:p>
            </p:txBody>
          </p:sp>
        </mc:Choice>
        <mc:Fallback xmlns="">
          <p:sp>
            <p:nvSpPr>
              <p:cNvPr id="10" name="TextBox 9">
                <a:extLst>
                  <a:ext uri="{FF2B5EF4-FFF2-40B4-BE49-F238E27FC236}">
                    <a16:creationId xmlns:a16="http://schemas.microsoft.com/office/drawing/2014/main" id="{92B73B40-6436-ECBB-38C4-4A11A42730B4}"/>
                  </a:ext>
                </a:extLst>
              </p:cNvPr>
              <p:cNvSpPr txBox="1">
                <a:spLocks noRot="1" noChangeAspect="1" noMove="1" noResize="1" noEditPoints="1" noAdjustHandles="1" noChangeArrowheads="1" noChangeShapeType="1" noTextEdit="1"/>
              </p:cNvSpPr>
              <p:nvPr/>
            </p:nvSpPr>
            <p:spPr>
              <a:xfrm>
                <a:off x="4430515" y="5252601"/>
                <a:ext cx="6113416" cy="962892"/>
              </a:xfrm>
              <a:prstGeom prst="rect">
                <a:avLst/>
              </a:prstGeom>
              <a:blipFill>
                <a:blip r:embed="rId5"/>
                <a:stretch>
                  <a:fillRect/>
                </a:stretch>
              </a:blipFill>
            </p:spPr>
            <p:txBody>
              <a:bodyPr/>
              <a:lstStyle/>
              <a:p>
                <a:r>
                  <a:rPr lang="ko-Kore-KR" altLang="en-US">
                    <a:noFill/>
                  </a:rPr>
                  <a:t> </a:t>
                </a:r>
              </a:p>
            </p:txBody>
          </p:sp>
        </mc:Fallback>
      </mc:AlternateContent>
      <p:pic>
        <p:nvPicPr>
          <p:cNvPr id="4" name="그림 3">
            <a:extLst>
              <a:ext uri="{FF2B5EF4-FFF2-40B4-BE49-F238E27FC236}">
                <a16:creationId xmlns:a16="http://schemas.microsoft.com/office/drawing/2014/main" id="{C5276F15-6C30-A30A-8920-32AFC75F820B}"/>
              </a:ext>
            </a:extLst>
          </p:cNvPr>
          <p:cNvPicPr>
            <a:picLocks noChangeAspect="1"/>
          </p:cNvPicPr>
          <p:nvPr/>
        </p:nvPicPr>
        <p:blipFill>
          <a:blip r:embed="rId6"/>
          <a:stretch>
            <a:fillRect/>
          </a:stretch>
        </p:blipFill>
        <p:spPr>
          <a:xfrm>
            <a:off x="9570026" y="4894784"/>
            <a:ext cx="2400529" cy="1735677"/>
          </a:xfrm>
          <a:prstGeom prst="rect">
            <a:avLst/>
          </a:prstGeom>
        </p:spPr>
      </p:pic>
    </p:spTree>
    <p:extLst>
      <p:ext uri="{BB962C8B-B14F-4D97-AF65-F5344CB8AC3E}">
        <p14:creationId xmlns:p14="http://schemas.microsoft.com/office/powerpoint/2010/main" val="3387563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644938" y="1585581"/>
            <a:ext cx="10782852" cy="2655279"/>
          </a:xfrm>
          <a:prstGeom prst="rect">
            <a:avLst/>
          </a:prstGeom>
          <a:noFill/>
        </p:spPr>
        <p:txBody>
          <a:bodyPr wrap="square">
            <a:spAutoFit/>
          </a:bodyPr>
          <a:lstStyle/>
          <a:p>
            <a:pPr>
              <a:lnSpc>
                <a:spcPct val="150000"/>
              </a:lnSpc>
            </a:pPr>
            <a:r>
              <a:rPr lang="zh-CN" altLang="en-US" b="0" i="0" dirty="0">
                <a:effectLst/>
                <a:latin typeface="KaiTi" panose="02010609060101010101" pitchFamily="49" charset="-122"/>
                <a:ea typeface="KaiTi" panose="02010609060101010101" pitchFamily="49" charset="-122"/>
              </a:rPr>
              <a:t>过拟合的原因：</a:t>
            </a:r>
            <a:endParaRPr lang="en-US" altLang="zh-CN" b="0" i="0" dirty="0">
              <a:effectLst/>
              <a:latin typeface="KaiTi" panose="02010609060101010101" pitchFamily="49" charset="-122"/>
              <a:ea typeface="KaiTi" panose="02010609060101010101" pitchFamily="49" charset="-122"/>
            </a:endParaRPr>
          </a:p>
          <a:p>
            <a:pPr>
              <a:lnSpc>
                <a:spcPct val="150000"/>
              </a:lnSpc>
            </a:pPr>
            <a:r>
              <a:rPr lang="zh-CN" altLang="en-US" b="0" i="0" dirty="0">
                <a:effectLst/>
                <a:latin typeface="KaiTi" panose="02010609060101010101" pitchFamily="49" charset="-122"/>
                <a:ea typeface="KaiTi" panose="02010609060101010101" pitchFamily="49" charset="-122"/>
              </a:rPr>
              <a:t>为了尽可能正确分类训练样本，节点的划分过程会不断重复直到不能再分，这样就可能对训练样本学习的“太好”了，把训练样本的一些特点当做所有数据都具有的一般性质，从而导致过拟合。</a:t>
            </a:r>
            <a:endParaRPr lang="en-US" altLang="zh-CN" b="0" i="0" dirty="0">
              <a:effectLst/>
              <a:latin typeface="KaiTi" panose="02010609060101010101" pitchFamily="49" charset="-122"/>
              <a:ea typeface="KaiTi" panose="02010609060101010101" pitchFamily="49" charset="-122"/>
            </a:endParaRPr>
          </a:p>
          <a:p>
            <a:pPr>
              <a:lnSpc>
                <a:spcPct val="150000"/>
              </a:lnSpc>
            </a:pPr>
            <a:endParaRPr lang="en-US" altLang="zh-CN" b="0" i="0" dirty="0">
              <a:effectLst/>
              <a:latin typeface="KaiTi" panose="02010609060101010101" pitchFamily="49" charset="-122"/>
              <a:ea typeface="KaiTi" panose="02010609060101010101" pitchFamily="49" charset="-122"/>
            </a:endParaRPr>
          </a:p>
          <a:p>
            <a:pPr>
              <a:lnSpc>
                <a:spcPct val="150000"/>
              </a:lnSpc>
            </a:pPr>
            <a:r>
              <a:rPr lang="zh-CN" altLang="en-US" b="0" i="0" dirty="0">
                <a:effectLst/>
                <a:latin typeface="KaiTi" panose="02010609060101010101" pitchFamily="49" charset="-122"/>
                <a:ea typeface="KaiTi" panose="02010609060101010101" pitchFamily="49" charset="-122"/>
              </a:rPr>
              <a:t>剪枝的基本策略有“预剪枝”（</a:t>
            </a:r>
            <a:r>
              <a:rPr lang="en-US" altLang="zh-CN" b="0" i="0" dirty="0" err="1">
                <a:effectLst/>
                <a:latin typeface="KaiTi" panose="02010609060101010101" pitchFamily="49" charset="-122"/>
                <a:ea typeface="KaiTi" panose="02010609060101010101" pitchFamily="49" charset="-122"/>
              </a:rPr>
              <a:t>prepruning</a:t>
            </a:r>
            <a:r>
              <a:rPr lang="zh-CN" altLang="en-US" b="0" i="0" dirty="0">
                <a:effectLst/>
                <a:latin typeface="KaiTi" panose="02010609060101010101" pitchFamily="49" charset="-122"/>
                <a:ea typeface="KaiTi" panose="02010609060101010101" pitchFamily="49" charset="-122"/>
              </a:rPr>
              <a:t>）和“后剪枝”（</a:t>
            </a:r>
            <a:r>
              <a:rPr lang="en-US" altLang="zh-CN" b="0" i="0" dirty="0">
                <a:effectLst/>
                <a:latin typeface="KaiTi" panose="02010609060101010101" pitchFamily="49" charset="-122"/>
                <a:ea typeface="KaiTi" panose="02010609060101010101" pitchFamily="49" charset="-122"/>
              </a:rPr>
              <a:t>post-pruning</a:t>
            </a:r>
            <a:r>
              <a:rPr lang="zh-CN" altLang="en-US" b="0" i="0" dirty="0">
                <a:effectLst/>
                <a:latin typeface="KaiTi" panose="02010609060101010101" pitchFamily="49" charset="-122"/>
                <a:ea typeface="KaiTi" panose="02010609060101010101" pitchFamily="49" charset="-122"/>
              </a:rPr>
              <a:t>）</a:t>
            </a:r>
            <a:endParaRPr lang="en-US" altLang="zh-CN" b="0" i="0" dirty="0">
              <a:effectLst/>
              <a:latin typeface="KaiTi" panose="02010609060101010101" pitchFamily="49" charset="-122"/>
              <a:ea typeface="KaiTi" panose="02010609060101010101" pitchFamily="49" charset="-122"/>
            </a:endParaRPr>
          </a:p>
          <a:p>
            <a:pPr>
              <a:lnSpc>
                <a:spcPct val="150000"/>
              </a:lnSpc>
            </a:pPr>
            <a:r>
              <a:rPr lang="zh-CN" altLang="en-US" b="0" i="0" dirty="0">
                <a:effectLst/>
                <a:latin typeface="KaiTi" panose="02010609060101010101" pitchFamily="49" charset="-122"/>
                <a:ea typeface="KaiTi" panose="02010609060101010101" pitchFamily="49" charset="-122"/>
              </a:rPr>
              <a:t>通过剪枝处理来降低过拟合的风险。</a:t>
            </a:r>
            <a:endParaRPr lang="zh-CN" altLang="en-US" dirty="0">
              <a:latin typeface="KaiTi" panose="02010609060101010101" pitchFamily="49" charset="-122"/>
              <a:ea typeface="KaiTi" panose="02010609060101010101" pitchFamily="49" charset="-122"/>
            </a:endParaRPr>
          </a:p>
        </p:txBody>
      </p:sp>
      <p:sp>
        <p:nvSpPr>
          <p:cNvPr id="2" name="제목 2">
            <a:extLst>
              <a:ext uri="{FF2B5EF4-FFF2-40B4-BE49-F238E27FC236}">
                <a16:creationId xmlns:a16="http://schemas.microsoft.com/office/drawing/2014/main" id="{D690E5C1-5ABC-7BB6-99D5-85BE8DACD790}"/>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1555482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568679" y="1426555"/>
            <a:ext cx="10782852" cy="462371"/>
          </a:xfrm>
          <a:prstGeom prst="rect">
            <a:avLst/>
          </a:prstGeom>
          <a:noFill/>
        </p:spPr>
        <p:txBody>
          <a:bodyPr wrap="square">
            <a:spAutoFit/>
          </a:bodyPr>
          <a:lstStyle/>
          <a:p>
            <a:pPr>
              <a:lnSpc>
                <a:spcPct val="150000"/>
              </a:lnSpc>
            </a:pPr>
            <a:r>
              <a:rPr lang="zh-CN" altLang="en-US" b="1" i="0" dirty="0">
                <a:effectLst/>
                <a:latin typeface="KaiTi" panose="02010609060101010101" pitchFamily="49" charset="-122"/>
                <a:ea typeface="KaiTi" panose="02010609060101010101" pitchFamily="49" charset="-122"/>
              </a:rPr>
              <a:t>预剪枝（</a:t>
            </a:r>
            <a:r>
              <a:rPr lang="en-US" altLang="zh-CN" b="1" i="0" dirty="0" err="1">
                <a:effectLst/>
                <a:latin typeface="KaiTi" panose="02010609060101010101" pitchFamily="49" charset="-122"/>
                <a:ea typeface="KaiTi" panose="02010609060101010101" pitchFamily="49" charset="-122"/>
              </a:rPr>
              <a:t>prepruning</a:t>
            </a:r>
            <a:r>
              <a:rPr lang="zh-CN" altLang="en-US" b="1" i="0" dirty="0">
                <a:effectLst/>
                <a:latin typeface="KaiTi" panose="02010609060101010101" pitchFamily="49" charset="-122"/>
                <a:ea typeface="KaiTi" panose="02010609060101010101" pitchFamily="49" charset="-122"/>
              </a:rPr>
              <a:t>）</a:t>
            </a:r>
            <a:endParaRPr lang="zh-CN" altLang="en-US" b="1" dirty="0">
              <a:latin typeface="KaiTi" panose="02010609060101010101" pitchFamily="49" charset="-122"/>
              <a:ea typeface="KaiTi" panose="02010609060101010101" pitchFamily="49" charset="-122"/>
            </a:endParaRPr>
          </a:p>
        </p:txBody>
      </p:sp>
      <p:sp>
        <p:nvSpPr>
          <p:cNvPr id="10" name="文本框 9">
            <a:extLst>
              <a:ext uri="{FF2B5EF4-FFF2-40B4-BE49-F238E27FC236}">
                <a16:creationId xmlns:a16="http://schemas.microsoft.com/office/drawing/2014/main" id="{4EC0C5F5-8EF6-4A67-9E4C-528FE3D78E02}"/>
              </a:ext>
            </a:extLst>
          </p:cNvPr>
          <p:cNvSpPr txBox="1"/>
          <p:nvPr/>
        </p:nvSpPr>
        <p:spPr>
          <a:xfrm>
            <a:off x="568679" y="2013254"/>
            <a:ext cx="5450335" cy="1422954"/>
          </a:xfrm>
          <a:prstGeom prst="rect">
            <a:avLst/>
          </a:prstGeom>
          <a:noFill/>
        </p:spPr>
        <p:txBody>
          <a:bodyPr wrap="square">
            <a:spAutoFit/>
          </a:bodyPr>
          <a:lstStyle/>
          <a:p>
            <a:pPr>
              <a:lnSpc>
                <a:spcPct val="150000"/>
              </a:lnSpc>
              <a:spcBef>
                <a:spcPts val="900"/>
              </a:spcBef>
              <a:spcAft>
                <a:spcPts val="900"/>
              </a:spcAft>
            </a:pPr>
            <a:r>
              <a:rPr lang="zh-CN" altLang="zh-CN" sz="2000" dirty="0">
                <a:effectLst/>
                <a:latin typeface="KaiTi" panose="02010609060101010101" pitchFamily="49" charset="-122"/>
                <a:ea typeface="KaiTi" panose="02010609060101010101" pitchFamily="49" charset="-122"/>
                <a:cs typeface="Times New Roman" panose="02020603050405020304" pitchFamily="18" charset="0"/>
              </a:rPr>
              <a:t>预剪枝不仅可以降低过拟合的风险而且还可以减少训练时间，但另一方面它是基于</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sz="2000" dirty="0">
                <a:effectLst/>
                <a:latin typeface="KaiTi" panose="02010609060101010101" pitchFamily="49" charset="-122"/>
                <a:ea typeface="KaiTi" panose="02010609060101010101" pitchFamily="49" charset="-122"/>
                <a:cs typeface="Times New Roman" panose="02020603050405020304" pitchFamily="18" charset="0"/>
              </a:rPr>
              <a:t>贪心</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sz="2000" dirty="0">
                <a:effectLst/>
                <a:latin typeface="KaiTi" panose="02010609060101010101" pitchFamily="49" charset="-122"/>
                <a:ea typeface="KaiTi" panose="02010609060101010101" pitchFamily="49" charset="-122"/>
                <a:cs typeface="Times New Roman" panose="02020603050405020304" pitchFamily="18" charset="0"/>
              </a:rPr>
              <a:t>策略，会带来欠拟合风险。</a:t>
            </a:r>
          </a:p>
        </p:txBody>
      </p:sp>
      <p:graphicFrame>
        <p:nvGraphicFramePr>
          <p:cNvPr id="7" name="表格 6">
            <a:extLst>
              <a:ext uri="{FF2B5EF4-FFF2-40B4-BE49-F238E27FC236}">
                <a16:creationId xmlns:a16="http://schemas.microsoft.com/office/drawing/2014/main" id="{6C211086-7C99-47E3-B1F9-FDADF8900842}"/>
              </a:ext>
            </a:extLst>
          </p:cNvPr>
          <p:cNvGraphicFramePr>
            <a:graphicFrameLocks noGrp="1"/>
          </p:cNvGraphicFramePr>
          <p:nvPr/>
        </p:nvGraphicFramePr>
        <p:xfrm>
          <a:off x="6352635" y="1719902"/>
          <a:ext cx="5450333" cy="2731784"/>
        </p:xfrm>
        <a:graphic>
          <a:graphicData uri="http://schemas.openxmlformats.org/drawingml/2006/table">
            <a:tbl>
              <a:tblPr firstRow="1" firstCol="1" bandRow="1">
                <a:tableStyleId>{93296810-A885-4BE3-A3E7-6D5BEEA58F35}</a:tableStyleId>
              </a:tblPr>
              <a:tblGrid>
                <a:gridCol w="673896">
                  <a:extLst>
                    <a:ext uri="{9D8B030D-6E8A-4147-A177-3AD203B41FA5}">
                      <a16:colId xmlns:a16="http://schemas.microsoft.com/office/drawing/2014/main" val="3293487446"/>
                    </a:ext>
                  </a:extLst>
                </a:gridCol>
                <a:gridCol w="681127">
                  <a:extLst>
                    <a:ext uri="{9D8B030D-6E8A-4147-A177-3AD203B41FA5}">
                      <a16:colId xmlns:a16="http://schemas.microsoft.com/office/drawing/2014/main" val="386253756"/>
                    </a:ext>
                  </a:extLst>
                </a:gridCol>
                <a:gridCol w="688359">
                  <a:extLst>
                    <a:ext uri="{9D8B030D-6E8A-4147-A177-3AD203B41FA5}">
                      <a16:colId xmlns:a16="http://schemas.microsoft.com/office/drawing/2014/main" val="2640380126"/>
                    </a:ext>
                  </a:extLst>
                </a:gridCol>
                <a:gridCol w="681127">
                  <a:extLst>
                    <a:ext uri="{9D8B030D-6E8A-4147-A177-3AD203B41FA5}">
                      <a16:colId xmlns:a16="http://schemas.microsoft.com/office/drawing/2014/main" val="3464683554"/>
                    </a:ext>
                  </a:extLst>
                </a:gridCol>
                <a:gridCol w="688359">
                  <a:extLst>
                    <a:ext uri="{9D8B030D-6E8A-4147-A177-3AD203B41FA5}">
                      <a16:colId xmlns:a16="http://schemas.microsoft.com/office/drawing/2014/main" val="866107626"/>
                    </a:ext>
                  </a:extLst>
                </a:gridCol>
                <a:gridCol w="688359">
                  <a:extLst>
                    <a:ext uri="{9D8B030D-6E8A-4147-A177-3AD203B41FA5}">
                      <a16:colId xmlns:a16="http://schemas.microsoft.com/office/drawing/2014/main" val="527232932"/>
                    </a:ext>
                  </a:extLst>
                </a:gridCol>
                <a:gridCol w="688359">
                  <a:extLst>
                    <a:ext uri="{9D8B030D-6E8A-4147-A177-3AD203B41FA5}">
                      <a16:colId xmlns:a16="http://schemas.microsoft.com/office/drawing/2014/main" val="225318252"/>
                    </a:ext>
                  </a:extLst>
                </a:gridCol>
                <a:gridCol w="660747">
                  <a:extLst>
                    <a:ext uri="{9D8B030D-6E8A-4147-A177-3AD203B41FA5}">
                      <a16:colId xmlns:a16="http://schemas.microsoft.com/office/drawing/2014/main" val="2660412007"/>
                    </a:ext>
                  </a:extLst>
                </a:gridCol>
              </a:tblGrid>
              <a:tr h="248344">
                <a:tc>
                  <a:txBody>
                    <a:bodyPr/>
                    <a:lstStyle/>
                    <a:p>
                      <a:pPr algn="ctr"/>
                      <a:r>
                        <a:rPr lang="zh-CN" sz="1400" kern="0">
                          <a:effectLst/>
                          <a:latin typeface="KaiTi" panose="02010609060101010101" pitchFamily="49" charset="-122"/>
                          <a:ea typeface="KaiTi" panose="02010609060101010101" pitchFamily="49" charset="-122"/>
                        </a:rPr>
                        <a:t>编号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色泽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根蒂</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敲声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纹理</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脐部</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触感</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好瓜</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57138875"/>
                  </a:ext>
                </a:extLst>
              </a:tr>
              <a:tr h="248344">
                <a:tc>
                  <a:txBody>
                    <a:bodyPr/>
                    <a:lstStyle/>
                    <a:p>
                      <a:pPr algn="ctr"/>
                      <a:r>
                        <a:rPr lang="en-US" sz="1400" kern="0">
                          <a:effectLst/>
                          <a:latin typeface="KaiTi" panose="02010609060101010101" pitchFamily="49" charset="-122"/>
                          <a:ea typeface="KaiTi" panose="02010609060101010101" pitchFamily="49" charset="-122"/>
                        </a:rPr>
                        <a:t>1</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凹陷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32621448"/>
                  </a:ext>
                </a:extLst>
              </a:tr>
              <a:tr h="248344">
                <a:tc>
                  <a:txBody>
                    <a:bodyPr/>
                    <a:lstStyle/>
                    <a:p>
                      <a:pPr algn="ctr"/>
                      <a:r>
                        <a:rPr lang="en-US" sz="1400" kern="0">
                          <a:effectLst/>
                          <a:latin typeface="KaiTi" panose="02010609060101010101" pitchFamily="49" charset="-122"/>
                          <a:ea typeface="KaiTi" panose="02010609060101010101" pitchFamily="49" charset="-122"/>
                        </a:rPr>
                        <a:t>2</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沉闷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凹陷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02747196"/>
                  </a:ext>
                </a:extLst>
              </a:tr>
              <a:tr h="248344">
                <a:tc>
                  <a:txBody>
                    <a:bodyPr/>
                    <a:lstStyle/>
                    <a:p>
                      <a:pPr algn="ctr"/>
                      <a:r>
                        <a:rPr lang="en-US" sz="1400" kern="0">
                          <a:effectLst/>
                          <a:latin typeface="KaiTi" panose="02010609060101010101" pitchFamily="49" charset="-122"/>
                          <a:ea typeface="KaiTi" panose="02010609060101010101" pitchFamily="49" charset="-122"/>
                        </a:rPr>
                        <a:t>3</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凹陷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730608035"/>
                  </a:ext>
                </a:extLst>
              </a:tr>
              <a:tr h="248344">
                <a:tc>
                  <a:txBody>
                    <a:bodyPr/>
                    <a:lstStyle/>
                    <a:p>
                      <a:pPr algn="ctr"/>
                      <a:r>
                        <a:rPr lang="en-US" sz="1400" kern="0">
                          <a:effectLst/>
                          <a:latin typeface="KaiTi" panose="02010609060101010101" pitchFamily="49" charset="-122"/>
                          <a:ea typeface="KaiTi" panose="02010609060101010101" pitchFamily="49" charset="-122"/>
                        </a:rPr>
                        <a:t>6</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稍凹</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软粘</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89961209"/>
                  </a:ext>
                </a:extLst>
              </a:tr>
              <a:tr h="248344">
                <a:tc>
                  <a:txBody>
                    <a:bodyPr/>
                    <a:lstStyle/>
                    <a:p>
                      <a:pPr algn="ctr"/>
                      <a:r>
                        <a:rPr lang="en-US" sz="1400" kern="0">
                          <a:effectLst/>
                          <a:latin typeface="KaiTi" panose="02010609060101010101" pitchFamily="49" charset="-122"/>
                          <a:ea typeface="KaiTi" panose="02010609060101010101" pitchFamily="49" charset="-122"/>
                        </a:rPr>
                        <a:t>7</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稍凹</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软粘</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2394645"/>
                  </a:ext>
                </a:extLst>
              </a:tr>
              <a:tr h="248344">
                <a:tc>
                  <a:txBody>
                    <a:bodyPr/>
                    <a:lstStyle/>
                    <a:p>
                      <a:pPr algn="ctr"/>
                      <a:r>
                        <a:rPr lang="en-US" sz="1400" kern="0">
                          <a:effectLst/>
                          <a:latin typeface="KaiTi" panose="02010609060101010101" pitchFamily="49" charset="-122"/>
                          <a:ea typeface="KaiTi" panose="02010609060101010101" pitchFamily="49" charset="-122"/>
                        </a:rPr>
                        <a:t>10</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硬挺</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清脆</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平坦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软粘</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27726043"/>
                  </a:ext>
                </a:extLst>
              </a:tr>
              <a:tr h="248344">
                <a:tc>
                  <a:txBody>
                    <a:bodyPr/>
                    <a:lstStyle/>
                    <a:p>
                      <a:pPr algn="ctr"/>
                      <a:r>
                        <a:rPr lang="en-US" sz="1400" kern="0">
                          <a:effectLst/>
                          <a:latin typeface="KaiTi" panose="02010609060101010101" pitchFamily="49" charset="-122"/>
                          <a:ea typeface="KaiTi" panose="02010609060101010101" pitchFamily="49" charset="-122"/>
                        </a:rPr>
                        <a:t>14</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浅白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沉闷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凹陷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612363080"/>
                  </a:ext>
                </a:extLst>
              </a:tr>
              <a:tr h="248344">
                <a:tc>
                  <a:txBody>
                    <a:bodyPr/>
                    <a:lstStyle/>
                    <a:p>
                      <a:pPr algn="ctr"/>
                      <a:r>
                        <a:rPr lang="en-US" sz="1400" kern="0">
                          <a:effectLst/>
                          <a:latin typeface="KaiTi" panose="02010609060101010101" pitchFamily="49" charset="-122"/>
                          <a:ea typeface="KaiTi" panose="02010609060101010101" pitchFamily="49" charset="-122"/>
                        </a:rPr>
                        <a:t>15</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稍凹</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软粘</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4129791"/>
                  </a:ext>
                </a:extLst>
              </a:tr>
              <a:tr h="248344">
                <a:tc>
                  <a:txBody>
                    <a:bodyPr/>
                    <a:lstStyle/>
                    <a:p>
                      <a:pPr algn="ctr"/>
                      <a:r>
                        <a:rPr lang="en-US" sz="1400" kern="0">
                          <a:effectLst/>
                          <a:latin typeface="KaiTi" panose="02010609060101010101" pitchFamily="49" charset="-122"/>
                          <a:ea typeface="KaiTi" panose="02010609060101010101" pitchFamily="49" charset="-122"/>
                        </a:rPr>
                        <a:t>16</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浅白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模糊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平坦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987562583"/>
                  </a:ext>
                </a:extLst>
              </a:tr>
              <a:tr h="248344">
                <a:tc>
                  <a:txBody>
                    <a:bodyPr/>
                    <a:lstStyle/>
                    <a:p>
                      <a:pPr algn="ctr"/>
                      <a:r>
                        <a:rPr lang="en-US" sz="1400" kern="0" dirty="0">
                          <a:effectLst/>
                          <a:latin typeface="KaiTi" panose="02010609060101010101" pitchFamily="49" charset="-122"/>
                          <a:ea typeface="KaiTi" panose="02010609060101010101" pitchFamily="49" charset="-122"/>
                        </a:rPr>
                        <a:t>17</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沉闷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稍凹</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否</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96866431"/>
                  </a:ext>
                </a:extLst>
              </a:tr>
            </a:tbl>
          </a:graphicData>
        </a:graphic>
      </p:graphicFrame>
      <p:graphicFrame>
        <p:nvGraphicFramePr>
          <p:cNvPr id="11" name="表格 10">
            <a:extLst>
              <a:ext uri="{FF2B5EF4-FFF2-40B4-BE49-F238E27FC236}">
                <a16:creationId xmlns:a16="http://schemas.microsoft.com/office/drawing/2014/main" id="{17C2409E-F0F6-42B3-ADE9-438F3CB4D75C}"/>
              </a:ext>
            </a:extLst>
          </p:cNvPr>
          <p:cNvGraphicFramePr>
            <a:graphicFrameLocks noGrp="1"/>
          </p:cNvGraphicFramePr>
          <p:nvPr/>
        </p:nvGraphicFramePr>
        <p:xfrm>
          <a:off x="576700" y="4357617"/>
          <a:ext cx="5648472" cy="2147656"/>
        </p:xfrm>
        <a:graphic>
          <a:graphicData uri="http://schemas.openxmlformats.org/drawingml/2006/table">
            <a:tbl>
              <a:tblPr firstRow="1" firstCol="1" bandRow="1">
                <a:tableStyleId>{7DF18680-E054-41AD-8BC1-D1AEF772440D}</a:tableStyleId>
              </a:tblPr>
              <a:tblGrid>
                <a:gridCol w="691650">
                  <a:extLst>
                    <a:ext uri="{9D8B030D-6E8A-4147-A177-3AD203B41FA5}">
                      <a16:colId xmlns:a16="http://schemas.microsoft.com/office/drawing/2014/main" val="2652304926"/>
                    </a:ext>
                  </a:extLst>
                </a:gridCol>
                <a:gridCol w="707019">
                  <a:extLst>
                    <a:ext uri="{9D8B030D-6E8A-4147-A177-3AD203B41FA5}">
                      <a16:colId xmlns:a16="http://schemas.microsoft.com/office/drawing/2014/main" val="3296771878"/>
                    </a:ext>
                  </a:extLst>
                </a:gridCol>
                <a:gridCol w="714705">
                  <a:extLst>
                    <a:ext uri="{9D8B030D-6E8A-4147-A177-3AD203B41FA5}">
                      <a16:colId xmlns:a16="http://schemas.microsoft.com/office/drawing/2014/main" val="3012036665"/>
                    </a:ext>
                  </a:extLst>
                </a:gridCol>
                <a:gridCol w="707019">
                  <a:extLst>
                    <a:ext uri="{9D8B030D-6E8A-4147-A177-3AD203B41FA5}">
                      <a16:colId xmlns:a16="http://schemas.microsoft.com/office/drawing/2014/main" val="4034501041"/>
                    </a:ext>
                  </a:extLst>
                </a:gridCol>
                <a:gridCol w="714705">
                  <a:extLst>
                    <a:ext uri="{9D8B030D-6E8A-4147-A177-3AD203B41FA5}">
                      <a16:colId xmlns:a16="http://schemas.microsoft.com/office/drawing/2014/main" val="2790693418"/>
                    </a:ext>
                  </a:extLst>
                </a:gridCol>
                <a:gridCol w="714705">
                  <a:extLst>
                    <a:ext uri="{9D8B030D-6E8A-4147-A177-3AD203B41FA5}">
                      <a16:colId xmlns:a16="http://schemas.microsoft.com/office/drawing/2014/main" val="3255700682"/>
                    </a:ext>
                  </a:extLst>
                </a:gridCol>
                <a:gridCol w="714705">
                  <a:extLst>
                    <a:ext uri="{9D8B030D-6E8A-4147-A177-3AD203B41FA5}">
                      <a16:colId xmlns:a16="http://schemas.microsoft.com/office/drawing/2014/main" val="3276869180"/>
                    </a:ext>
                  </a:extLst>
                </a:gridCol>
                <a:gridCol w="683964">
                  <a:extLst>
                    <a:ext uri="{9D8B030D-6E8A-4147-A177-3AD203B41FA5}">
                      <a16:colId xmlns:a16="http://schemas.microsoft.com/office/drawing/2014/main" val="2113032772"/>
                    </a:ext>
                  </a:extLst>
                </a:gridCol>
              </a:tblGrid>
              <a:tr h="268457">
                <a:tc>
                  <a:txBody>
                    <a:bodyPr/>
                    <a:lstStyle/>
                    <a:p>
                      <a:pPr algn="ctr"/>
                      <a:r>
                        <a:rPr lang="zh-CN" sz="1400" kern="0" dirty="0">
                          <a:effectLst/>
                          <a:latin typeface="KaiTi" panose="02010609060101010101" pitchFamily="49" charset="-122"/>
                          <a:ea typeface="KaiTi" panose="02010609060101010101" pitchFamily="49" charset="-122"/>
                        </a:rPr>
                        <a:t>编号</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色泽</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根蒂</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敲声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纹理</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脐部</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触感</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好瓜</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42060005"/>
                  </a:ext>
                </a:extLst>
              </a:tr>
              <a:tr h="268457">
                <a:tc>
                  <a:txBody>
                    <a:bodyPr/>
                    <a:lstStyle/>
                    <a:p>
                      <a:pPr algn="ctr"/>
                      <a:r>
                        <a:rPr lang="en-US" sz="1400" kern="0">
                          <a:effectLst/>
                          <a:latin typeface="KaiTi" panose="02010609060101010101" pitchFamily="49" charset="-122"/>
                          <a:ea typeface="KaiTi" panose="02010609060101010101" pitchFamily="49" charset="-122"/>
                        </a:rPr>
                        <a:t>4</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沉闷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凹陷</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47558474"/>
                  </a:ext>
                </a:extLst>
              </a:tr>
              <a:tr h="268457">
                <a:tc>
                  <a:txBody>
                    <a:bodyPr/>
                    <a:lstStyle/>
                    <a:p>
                      <a:pPr algn="ctr"/>
                      <a:r>
                        <a:rPr lang="en-US" sz="1400" kern="0">
                          <a:effectLst/>
                          <a:latin typeface="KaiTi" panose="02010609060101010101" pitchFamily="49" charset="-122"/>
                          <a:ea typeface="KaiTi" panose="02010609060101010101" pitchFamily="49" charset="-122"/>
                        </a:rPr>
                        <a:t>5</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浅白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凹陷</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872323030"/>
                  </a:ext>
                </a:extLst>
              </a:tr>
              <a:tr h="268457">
                <a:tc>
                  <a:txBody>
                    <a:bodyPr/>
                    <a:lstStyle/>
                    <a:p>
                      <a:pPr algn="ctr"/>
                      <a:r>
                        <a:rPr lang="en-US" sz="1400" kern="0">
                          <a:effectLst/>
                          <a:latin typeface="KaiTi" panose="02010609060101010101" pitchFamily="49" charset="-122"/>
                          <a:ea typeface="KaiTi" panose="02010609060101010101" pitchFamily="49" charset="-122"/>
                        </a:rPr>
                        <a:t>8</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清晰</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稍凹</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是</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70080407"/>
                  </a:ext>
                </a:extLst>
              </a:tr>
              <a:tr h="268457">
                <a:tc>
                  <a:txBody>
                    <a:bodyPr/>
                    <a:lstStyle/>
                    <a:p>
                      <a:pPr algn="ctr"/>
                      <a:r>
                        <a:rPr lang="en-US" sz="1400" kern="0">
                          <a:effectLst/>
                          <a:latin typeface="KaiTi" panose="02010609060101010101" pitchFamily="49" charset="-122"/>
                          <a:ea typeface="KaiTi" panose="02010609060101010101" pitchFamily="49" charset="-122"/>
                        </a:rPr>
                        <a:t>9</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乌黑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沉闷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稍凹</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7771892"/>
                  </a:ext>
                </a:extLst>
              </a:tr>
              <a:tr h="268457">
                <a:tc>
                  <a:txBody>
                    <a:bodyPr/>
                    <a:lstStyle/>
                    <a:p>
                      <a:pPr algn="ctr"/>
                      <a:r>
                        <a:rPr lang="en-US" sz="1400" kern="0">
                          <a:effectLst/>
                          <a:latin typeface="KaiTi" panose="02010609060101010101" pitchFamily="49" charset="-122"/>
                          <a:ea typeface="KaiTi" panose="02010609060101010101" pitchFamily="49" charset="-122"/>
                        </a:rPr>
                        <a:t>11</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浅白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硬挺</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清脆</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模糊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平坦</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056102755"/>
                  </a:ext>
                </a:extLst>
              </a:tr>
              <a:tr h="268457">
                <a:tc>
                  <a:txBody>
                    <a:bodyPr/>
                    <a:lstStyle/>
                    <a:p>
                      <a:pPr algn="ctr"/>
                      <a:r>
                        <a:rPr lang="en-US" sz="1400" kern="0">
                          <a:effectLst/>
                          <a:latin typeface="KaiTi" panose="02010609060101010101" pitchFamily="49" charset="-122"/>
                          <a:ea typeface="KaiTi" panose="02010609060101010101" pitchFamily="49" charset="-122"/>
                        </a:rPr>
                        <a:t>12</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浅白</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蜷缩</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模糊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平坦</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软粘</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否</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996060309"/>
                  </a:ext>
                </a:extLst>
              </a:tr>
              <a:tr h="268457">
                <a:tc>
                  <a:txBody>
                    <a:bodyPr/>
                    <a:lstStyle/>
                    <a:p>
                      <a:pPr algn="ctr"/>
                      <a:r>
                        <a:rPr lang="en-US" sz="1400" kern="0">
                          <a:effectLst/>
                          <a:latin typeface="KaiTi" panose="02010609060101010101" pitchFamily="49" charset="-122"/>
                          <a:ea typeface="KaiTi" panose="02010609060101010101" pitchFamily="49" charset="-122"/>
                        </a:rPr>
                        <a:t>13</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青绿</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稍蜷</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浊响</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稍糊</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凹陷</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a:effectLst/>
                          <a:latin typeface="KaiTi" panose="02010609060101010101" pitchFamily="49" charset="-122"/>
                          <a:ea typeface="KaiTi" panose="02010609060101010101" pitchFamily="49" charset="-122"/>
                        </a:rPr>
                        <a:t>硬滑</a:t>
                      </a:r>
                      <a:endParaRPr lang="zh-CN" sz="11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400" kern="0" dirty="0">
                          <a:effectLst/>
                          <a:latin typeface="KaiTi" panose="02010609060101010101" pitchFamily="49" charset="-122"/>
                          <a:ea typeface="KaiTi" panose="02010609060101010101" pitchFamily="49" charset="-122"/>
                        </a:rPr>
                        <a:t>否</a:t>
                      </a:r>
                      <a:endParaRPr lang="zh-CN" sz="11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66607762"/>
                  </a:ext>
                </a:extLst>
              </a:tr>
            </a:tbl>
          </a:graphicData>
        </a:graphic>
      </p:graphicFrame>
      <p:sp>
        <p:nvSpPr>
          <p:cNvPr id="12" name="文本框 11">
            <a:extLst>
              <a:ext uri="{FF2B5EF4-FFF2-40B4-BE49-F238E27FC236}">
                <a16:creationId xmlns:a16="http://schemas.microsoft.com/office/drawing/2014/main" id="{5A440025-28C9-40FD-9982-E9FADCC36BC2}"/>
              </a:ext>
            </a:extLst>
          </p:cNvPr>
          <p:cNvSpPr txBox="1"/>
          <p:nvPr/>
        </p:nvSpPr>
        <p:spPr>
          <a:xfrm>
            <a:off x="6459270" y="1197325"/>
            <a:ext cx="1140851" cy="458459"/>
          </a:xfrm>
          <a:prstGeom prst="rect">
            <a:avLst/>
          </a:prstGeom>
          <a:noFill/>
        </p:spPr>
        <p:txBody>
          <a:bodyPr wrap="square">
            <a:spAutoFit/>
          </a:bodyPr>
          <a:lstStyle/>
          <a:p>
            <a:pPr>
              <a:lnSpc>
                <a:spcPct val="150000"/>
              </a:lnSpc>
            </a:pPr>
            <a:r>
              <a:rPr lang="zh-CN" altLang="en-US" sz="1800" b="1" i="0" dirty="0">
                <a:effectLst/>
                <a:latin typeface="KaiTi" panose="02010609060101010101" pitchFamily="49" charset="-122"/>
                <a:ea typeface="KaiTi" panose="02010609060101010101" pitchFamily="49" charset="-122"/>
              </a:rPr>
              <a:t>训练集</a:t>
            </a:r>
            <a:endParaRPr lang="zh-CN" altLang="en-US" sz="1800" b="1" dirty="0">
              <a:latin typeface="KaiTi" panose="02010609060101010101" pitchFamily="49" charset="-122"/>
              <a:ea typeface="KaiTi" panose="02010609060101010101" pitchFamily="49" charset="-122"/>
            </a:endParaRPr>
          </a:p>
        </p:txBody>
      </p:sp>
      <p:sp>
        <p:nvSpPr>
          <p:cNvPr id="13" name="文本框 12">
            <a:extLst>
              <a:ext uri="{FF2B5EF4-FFF2-40B4-BE49-F238E27FC236}">
                <a16:creationId xmlns:a16="http://schemas.microsoft.com/office/drawing/2014/main" id="{EFF65E97-FCEF-49BC-BCCA-52050B2AF02D}"/>
              </a:ext>
            </a:extLst>
          </p:cNvPr>
          <p:cNvSpPr txBox="1"/>
          <p:nvPr/>
        </p:nvSpPr>
        <p:spPr>
          <a:xfrm>
            <a:off x="576700" y="3833535"/>
            <a:ext cx="1140851" cy="442878"/>
          </a:xfrm>
          <a:prstGeom prst="rect">
            <a:avLst/>
          </a:prstGeom>
          <a:noFill/>
        </p:spPr>
        <p:txBody>
          <a:bodyPr wrap="square">
            <a:spAutoFit/>
          </a:bodyPr>
          <a:lstStyle/>
          <a:p>
            <a:pPr>
              <a:lnSpc>
                <a:spcPct val="150000"/>
              </a:lnSpc>
            </a:pPr>
            <a:r>
              <a:rPr lang="zh-CN" altLang="en-US" sz="1800" b="1" dirty="0">
                <a:latin typeface="KaiTi" panose="02010609060101010101" pitchFamily="49" charset="-122"/>
                <a:ea typeface="KaiTi" panose="02010609060101010101" pitchFamily="49" charset="-122"/>
              </a:rPr>
              <a:t>验证</a:t>
            </a:r>
            <a:r>
              <a:rPr lang="zh-CN" altLang="en-US" sz="1800" b="1" i="0" dirty="0">
                <a:effectLst/>
                <a:latin typeface="KaiTi" panose="02010609060101010101" pitchFamily="49" charset="-122"/>
                <a:ea typeface="KaiTi" panose="02010609060101010101" pitchFamily="49" charset="-122"/>
              </a:rPr>
              <a:t>集</a:t>
            </a:r>
            <a:endParaRPr lang="zh-CN" altLang="en-US" sz="1800" b="1" dirty="0">
              <a:latin typeface="KaiTi" panose="02010609060101010101" pitchFamily="49" charset="-122"/>
              <a:ea typeface="KaiTi" panose="02010609060101010101" pitchFamily="49" charset="-122"/>
            </a:endParaRPr>
          </a:p>
        </p:txBody>
      </p:sp>
      <p:sp>
        <p:nvSpPr>
          <p:cNvPr id="2" name="제목 2">
            <a:extLst>
              <a:ext uri="{FF2B5EF4-FFF2-40B4-BE49-F238E27FC236}">
                <a16:creationId xmlns:a16="http://schemas.microsoft.com/office/drawing/2014/main" id="{9B947DFE-7827-433F-18AE-DB68777E50CB}"/>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3469583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720411" y="1425658"/>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预剪枝</a:t>
            </a:r>
            <a:endParaRPr lang="zh-CN" altLang="en-US" sz="2400" b="1" dirty="0">
              <a:latin typeface="KaiTi" panose="02010609060101010101" pitchFamily="49" charset="-122"/>
              <a:ea typeface="KaiTi" panose="02010609060101010101" pitchFamily="49" charset="-122"/>
            </a:endParaRPr>
          </a:p>
        </p:txBody>
      </p:sp>
      <p:sp>
        <p:nvSpPr>
          <p:cNvPr id="63" name="文本框 62">
            <a:extLst>
              <a:ext uri="{FF2B5EF4-FFF2-40B4-BE49-F238E27FC236}">
                <a16:creationId xmlns:a16="http://schemas.microsoft.com/office/drawing/2014/main" id="{9CFCC6FC-E2BF-4298-A088-97EC0D1C6A51}"/>
              </a:ext>
            </a:extLst>
          </p:cNvPr>
          <p:cNvSpPr txBox="1"/>
          <p:nvPr/>
        </p:nvSpPr>
        <p:spPr>
          <a:xfrm>
            <a:off x="1820748" y="6233711"/>
            <a:ext cx="3091427" cy="384721"/>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基于表生成未剪枝的决策树</a:t>
            </a:r>
          </a:p>
        </p:txBody>
      </p:sp>
      <p:cxnSp>
        <p:nvCxnSpPr>
          <p:cNvPr id="64" name="直接箭头连接符 63">
            <a:extLst>
              <a:ext uri="{FF2B5EF4-FFF2-40B4-BE49-F238E27FC236}">
                <a16:creationId xmlns:a16="http://schemas.microsoft.com/office/drawing/2014/main" id="{ED7D12FC-5D3F-43FE-B867-2860E5C5429C}"/>
              </a:ext>
            </a:extLst>
          </p:cNvPr>
          <p:cNvCxnSpPr>
            <a:cxnSpLocks/>
            <a:stCxn id="108" idx="2"/>
          </p:cNvCxnSpPr>
          <p:nvPr/>
        </p:nvCxnSpPr>
        <p:spPr>
          <a:xfrm flipH="1">
            <a:off x="1638860" y="2196887"/>
            <a:ext cx="1299784" cy="5643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7E29BCD3-78AE-4173-B903-0ED9045E3D5F}"/>
              </a:ext>
            </a:extLst>
          </p:cNvPr>
          <p:cNvCxnSpPr>
            <a:cxnSpLocks/>
            <a:stCxn id="108" idx="6"/>
          </p:cNvCxnSpPr>
          <p:nvPr/>
        </p:nvCxnSpPr>
        <p:spPr>
          <a:xfrm>
            <a:off x="3794280" y="2196887"/>
            <a:ext cx="1652599" cy="62898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F64EB792-DEB1-4D3B-A54E-AA65668C83E3}"/>
              </a:ext>
            </a:extLst>
          </p:cNvPr>
          <p:cNvCxnSpPr>
            <a:cxnSpLocks/>
            <a:endCxn id="103" idx="0"/>
          </p:cNvCxnSpPr>
          <p:nvPr/>
        </p:nvCxnSpPr>
        <p:spPr>
          <a:xfrm flipH="1">
            <a:off x="3483607" y="2738557"/>
            <a:ext cx="515160" cy="85163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B10DB874-65FC-4717-BFBD-A04456F1CC19}"/>
              </a:ext>
            </a:extLst>
          </p:cNvPr>
          <p:cNvCxnSpPr>
            <a:cxnSpLocks/>
          </p:cNvCxnSpPr>
          <p:nvPr/>
        </p:nvCxnSpPr>
        <p:spPr>
          <a:xfrm>
            <a:off x="3222761" y="2020950"/>
            <a:ext cx="640078" cy="65749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EB7BBDDD-9CA4-4CEA-BA53-B5BB0B75B38B}"/>
              </a:ext>
            </a:extLst>
          </p:cNvPr>
          <p:cNvSpPr txBox="1"/>
          <p:nvPr/>
        </p:nvSpPr>
        <p:spPr>
          <a:xfrm>
            <a:off x="4407621" y="216671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平坦</a:t>
            </a:r>
          </a:p>
        </p:txBody>
      </p:sp>
      <p:sp>
        <p:nvSpPr>
          <p:cNvPr id="73" name="椭圆 72">
            <a:extLst>
              <a:ext uri="{FF2B5EF4-FFF2-40B4-BE49-F238E27FC236}">
                <a16:creationId xmlns:a16="http://schemas.microsoft.com/office/drawing/2014/main" id="{C9795187-F7D6-4CCD-8226-7674987A850F}"/>
              </a:ext>
            </a:extLst>
          </p:cNvPr>
          <p:cNvSpPr/>
          <p:nvPr/>
        </p:nvSpPr>
        <p:spPr>
          <a:xfrm>
            <a:off x="2863873" y="4738313"/>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纹理</a:t>
            </a:r>
          </a:p>
        </p:txBody>
      </p:sp>
      <p:sp>
        <p:nvSpPr>
          <p:cNvPr id="103" name="椭圆 102">
            <a:extLst>
              <a:ext uri="{FF2B5EF4-FFF2-40B4-BE49-F238E27FC236}">
                <a16:creationId xmlns:a16="http://schemas.microsoft.com/office/drawing/2014/main" id="{3E09840C-C0B0-41CC-BC52-A138E103C2C7}"/>
              </a:ext>
            </a:extLst>
          </p:cNvPr>
          <p:cNvSpPr/>
          <p:nvPr/>
        </p:nvSpPr>
        <p:spPr>
          <a:xfrm>
            <a:off x="3055789" y="3590192"/>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104" name="椭圆 103">
            <a:extLst>
              <a:ext uri="{FF2B5EF4-FFF2-40B4-BE49-F238E27FC236}">
                <a16:creationId xmlns:a16="http://schemas.microsoft.com/office/drawing/2014/main" id="{69E807A0-C52B-4495-85A9-2A983A3B0D6C}"/>
              </a:ext>
            </a:extLst>
          </p:cNvPr>
          <p:cNvSpPr/>
          <p:nvPr/>
        </p:nvSpPr>
        <p:spPr>
          <a:xfrm>
            <a:off x="5080380" y="357557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05" name="椭圆 104">
            <a:extLst>
              <a:ext uri="{FF2B5EF4-FFF2-40B4-BE49-F238E27FC236}">
                <a16:creationId xmlns:a16="http://schemas.microsoft.com/office/drawing/2014/main" id="{B7541368-4130-4904-A83B-FBD51B69574D}"/>
              </a:ext>
            </a:extLst>
          </p:cNvPr>
          <p:cNvSpPr/>
          <p:nvPr/>
        </p:nvSpPr>
        <p:spPr>
          <a:xfrm>
            <a:off x="5426097" y="267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06" name="椭圆 105">
            <a:extLst>
              <a:ext uri="{FF2B5EF4-FFF2-40B4-BE49-F238E27FC236}">
                <a16:creationId xmlns:a16="http://schemas.microsoft.com/office/drawing/2014/main" id="{58D53BC0-E24A-4F8B-AA83-C440DF71B735}"/>
              </a:ext>
            </a:extLst>
          </p:cNvPr>
          <p:cNvSpPr/>
          <p:nvPr/>
        </p:nvSpPr>
        <p:spPr>
          <a:xfrm>
            <a:off x="3478653" y="2684335"/>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根蒂</a:t>
            </a:r>
          </a:p>
        </p:txBody>
      </p:sp>
      <p:sp>
        <p:nvSpPr>
          <p:cNvPr id="107" name="椭圆 106">
            <a:extLst>
              <a:ext uri="{FF2B5EF4-FFF2-40B4-BE49-F238E27FC236}">
                <a16:creationId xmlns:a16="http://schemas.microsoft.com/office/drawing/2014/main" id="{62E0B78A-8DD8-47E0-91D5-86E61519F5DB}"/>
              </a:ext>
            </a:extLst>
          </p:cNvPr>
          <p:cNvSpPr/>
          <p:nvPr/>
        </p:nvSpPr>
        <p:spPr>
          <a:xfrm>
            <a:off x="892238" y="2711100"/>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108" name="椭圆 107">
            <a:extLst>
              <a:ext uri="{FF2B5EF4-FFF2-40B4-BE49-F238E27FC236}">
                <a16:creationId xmlns:a16="http://schemas.microsoft.com/office/drawing/2014/main" id="{3D2EE782-3FA2-4F2F-AFC9-423B45B80A09}"/>
              </a:ext>
            </a:extLst>
          </p:cNvPr>
          <p:cNvSpPr/>
          <p:nvPr/>
        </p:nvSpPr>
        <p:spPr>
          <a:xfrm>
            <a:off x="2938644" y="1996587"/>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脐部</a:t>
            </a:r>
          </a:p>
        </p:txBody>
      </p:sp>
      <p:cxnSp>
        <p:nvCxnSpPr>
          <p:cNvPr id="109" name="直接箭头连接符 108">
            <a:extLst>
              <a:ext uri="{FF2B5EF4-FFF2-40B4-BE49-F238E27FC236}">
                <a16:creationId xmlns:a16="http://schemas.microsoft.com/office/drawing/2014/main" id="{22ECA8A3-55FA-4422-811D-39D12157A3AB}"/>
              </a:ext>
            </a:extLst>
          </p:cNvPr>
          <p:cNvCxnSpPr>
            <a:cxnSpLocks/>
            <a:stCxn id="107" idx="4"/>
          </p:cNvCxnSpPr>
          <p:nvPr/>
        </p:nvCxnSpPr>
        <p:spPr>
          <a:xfrm flipH="1">
            <a:off x="1310253" y="3111699"/>
            <a:ext cx="9803" cy="91761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C98BFA8B-3929-473A-8458-37FB9B092E48}"/>
              </a:ext>
            </a:extLst>
          </p:cNvPr>
          <p:cNvCxnSpPr>
            <a:cxnSpLocks/>
          </p:cNvCxnSpPr>
          <p:nvPr/>
        </p:nvCxnSpPr>
        <p:spPr>
          <a:xfrm>
            <a:off x="1505152" y="3111699"/>
            <a:ext cx="652661" cy="4674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57D967AD-29BD-4A89-B0D2-2B3354B93F12}"/>
              </a:ext>
            </a:extLst>
          </p:cNvPr>
          <p:cNvCxnSpPr>
            <a:cxnSpLocks/>
            <a:stCxn id="103" idx="4"/>
            <a:endCxn id="73" idx="0"/>
          </p:cNvCxnSpPr>
          <p:nvPr/>
        </p:nvCxnSpPr>
        <p:spPr>
          <a:xfrm flipH="1">
            <a:off x="3291691" y="3990791"/>
            <a:ext cx="191916" cy="7475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DB2DCCDF-C1C3-4476-85FA-BF9799F42975}"/>
              </a:ext>
            </a:extLst>
          </p:cNvPr>
          <p:cNvCxnSpPr>
            <a:cxnSpLocks/>
            <a:stCxn id="103" idx="3"/>
          </p:cNvCxnSpPr>
          <p:nvPr/>
        </p:nvCxnSpPr>
        <p:spPr>
          <a:xfrm flipH="1">
            <a:off x="2444264" y="3932125"/>
            <a:ext cx="736830" cy="53992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B81068BC-C397-4BD1-A034-9DBE3F1B6430}"/>
              </a:ext>
            </a:extLst>
          </p:cNvPr>
          <p:cNvCxnSpPr>
            <a:cxnSpLocks/>
          </p:cNvCxnSpPr>
          <p:nvPr/>
        </p:nvCxnSpPr>
        <p:spPr>
          <a:xfrm>
            <a:off x="3683797" y="3893338"/>
            <a:ext cx="332949" cy="71184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1A4DD375-5C03-41FB-A6B5-B013209E3158}"/>
              </a:ext>
            </a:extLst>
          </p:cNvPr>
          <p:cNvCxnSpPr>
            <a:cxnSpLocks/>
          </p:cNvCxnSpPr>
          <p:nvPr/>
        </p:nvCxnSpPr>
        <p:spPr>
          <a:xfrm flipH="1">
            <a:off x="868202" y="3111699"/>
            <a:ext cx="274294" cy="513376"/>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78646681-9DC1-4C41-89F2-681FFC7C7899}"/>
              </a:ext>
            </a:extLst>
          </p:cNvPr>
          <p:cNvCxnSpPr>
            <a:cxnSpLocks/>
          </p:cNvCxnSpPr>
          <p:nvPr/>
        </p:nvCxnSpPr>
        <p:spPr>
          <a:xfrm>
            <a:off x="4028168" y="3060014"/>
            <a:ext cx="346697" cy="58574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FE3DEF1A-EB5A-4616-9D55-A9C5C43B892E}"/>
              </a:ext>
            </a:extLst>
          </p:cNvPr>
          <p:cNvCxnSpPr>
            <a:cxnSpLocks/>
          </p:cNvCxnSpPr>
          <p:nvPr/>
        </p:nvCxnSpPr>
        <p:spPr>
          <a:xfrm>
            <a:off x="4327269" y="2914970"/>
            <a:ext cx="1010283" cy="65741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339A5777-DCAC-4AD5-A734-B3E6A31BF1ED}"/>
              </a:ext>
            </a:extLst>
          </p:cNvPr>
          <p:cNvCxnSpPr>
            <a:cxnSpLocks/>
            <a:stCxn id="73" idx="3"/>
          </p:cNvCxnSpPr>
          <p:nvPr/>
        </p:nvCxnSpPr>
        <p:spPr>
          <a:xfrm flipH="1">
            <a:off x="2369882" y="5080246"/>
            <a:ext cx="619296" cy="53280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D9E24D2E-DE16-4656-8647-454852A14972}"/>
              </a:ext>
            </a:extLst>
          </p:cNvPr>
          <p:cNvCxnSpPr>
            <a:cxnSpLocks/>
            <a:stCxn id="73" idx="5"/>
          </p:cNvCxnSpPr>
          <p:nvPr/>
        </p:nvCxnSpPr>
        <p:spPr>
          <a:xfrm>
            <a:off x="3594204" y="5080246"/>
            <a:ext cx="664144" cy="479910"/>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1284C220-847C-410C-B03E-C83030B114A6}"/>
              </a:ext>
            </a:extLst>
          </p:cNvPr>
          <p:cNvCxnSpPr>
            <a:cxnSpLocks/>
            <a:stCxn id="132" idx="0"/>
          </p:cNvCxnSpPr>
          <p:nvPr/>
        </p:nvCxnSpPr>
        <p:spPr>
          <a:xfrm flipH="1">
            <a:off x="3323934" y="5134639"/>
            <a:ext cx="34792" cy="496727"/>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20" name="椭圆 119">
            <a:extLst>
              <a:ext uri="{FF2B5EF4-FFF2-40B4-BE49-F238E27FC236}">
                <a16:creationId xmlns:a16="http://schemas.microsoft.com/office/drawing/2014/main" id="{28B28E1E-0528-4A0B-9206-0F7674A61F72}"/>
              </a:ext>
            </a:extLst>
          </p:cNvPr>
          <p:cNvSpPr/>
          <p:nvPr/>
        </p:nvSpPr>
        <p:spPr>
          <a:xfrm>
            <a:off x="1684199" y="3591028"/>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21" name="椭圆 120">
            <a:extLst>
              <a:ext uri="{FF2B5EF4-FFF2-40B4-BE49-F238E27FC236}">
                <a16:creationId xmlns:a16="http://schemas.microsoft.com/office/drawing/2014/main" id="{8EE92141-E7DA-48DD-A584-3E2AD0B90607}"/>
              </a:ext>
            </a:extLst>
          </p:cNvPr>
          <p:cNvSpPr/>
          <p:nvPr/>
        </p:nvSpPr>
        <p:spPr>
          <a:xfrm>
            <a:off x="4009276" y="5554160"/>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22" name="椭圆 121">
            <a:extLst>
              <a:ext uri="{FF2B5EF4-FFF2-40B4-BE49-F238E27FC236}">
                <a16:creationId xmlns:a16="http://schemas.microsoft.com/office/drawing/2014/main" id="{E0957DE4-765E-4FB3-919D-D3AD44DDA889}"/>
              </a:ext>
            </a:extLst>
          </p:cNvPr>
          <p:cNvSpPr/>
          <p:nvPr/>
        </p:nvSpPr>
        <p:spPr>
          <a:xfrm>
            <a:off x="3827450" y="4582366"/>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23" name="椭圆 122">
            <a:extLst>
              <a:ext uri="{FF2B5EF4-FFF2-40B4-BE49-F238E27FC236}">
                <a16:creationId xmlns:a16="http://schemas.microsoft.com/office/drawing/2014/main" id="{058CF4B8-8BEE-49DE-A35F-70E716521C5A}"/>
              </a:ext>
            </a:extLst>
          </p:cNvPr>
          <p:cNvSpPr/>
          <p:nvPr/>
        </p:nvSpPr>
        <p:spPr>
          <a:xfrm>
            <a:off x="4022120" y="364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24" name="椭圆 123">
            <a:extLst>
              <a:ext uri="{FF2B5EF4-FFF2-40B4-BE49-F238E27FC236}">
                <a16:creationId xmlns:a16="http://schemas.microsoft.com/office/drawing/2014/main" id="{19F903F4-06FC-4050-8955-D8C9DB852004}"/>
              </a:ext>
            </a:extLst>
          </p:cNvPr>
          <p:cNvSpPr/>
          <p:nvPr/>
        </p:nvSpPr>
        <p:spPr>
          <a:xfrm>
            <a:off x="1673002" y="557651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25" name="椭圆 124">
            <a:extLst>
              <a:ext uri="{FF2B5EF4-FFF2-40B4-BE49-F238E27FC236}">
                <a16:creationId xmlns:a16="http://schemas.microsoft.com/office/drawing/2014/main" id="{D51EBA8A-EEE4-49DD-AD9D-F559C0247ED0}"/>
              </a:ext>
            </a:extLst>
          </p:cNvPr>
          <p:cNvSpPr/>
          <p:nvPr/>
        </p:nvSpPr>
        <p:spPr>
          <a:xfrm>
            <a:off x="2883370" y="5629601"/>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26" name="椭圆 125">
            <a:extLst>
              <a:ext uri="{FF2B5EF4-FFF2-40B4-BE49-F238E27FC236}">
                <a16:creationId xmlns:a16="http://schemas.microsoft.com/office/drawing/2014/main" id="{D4F3D95D-9C07-40C4-AA2D-5D7F6F7DDED8}"/>
              </a:ext>
            </a:extLst>
          </p:cNvPr>
          <p:cNvSpPr/>
          <p:nvPr/>
        </p:nvSpPr>
        <p:spPr>
          <a:xfrm>
            <a:off x="1908142" y="447390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27" name="椭圆 126">
            <a:extLst>
              <a:ext uri="{FF2B5EF4-FFF2-40B4-BE49-F238E27FC236}">
                <a16:creationId xmlns:a16="http://schemas.microsoft.com/office/drawing/2014/main" id="{61242E27-595C-4E1B-9CAD-A4DB5AE3D56A}"/>
              </a:ext>
            </a:extLst>
          </p:cNvPr>
          <p:cNvSpPr/>
          <p:nvPr/>
        </p:nvSpPr>
        <p:spPr>
          <a:xfrm>
            <a:off x="882759" y="4039434"/>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28" name="椭圆 127">
            <a:extLst>
              <a:ext uri="{FF2B5EF4-FFF2-40B4-BE49-F238E27FC236}">
                <a16:creationId xmlns:a16="http://schemas.microsoft.com/office/drawing/2014/main" id="{23635B22-1795-4D11-A9AA-84069148F43C}"/>
              </a:ext>
            </a:extLst>
          </p:cNvPr>
          <p:cNvSpPr/>
          <p:nvPr/>
        </p:nvSpPr>
        <p:spPr>
          <a:xfrm>
            <a:off x="337874" y="363301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29" name="文本框 128">
            <a:extLst>
              <a:ext uri="{FF2B5EF4-FFF2-40B4-BE49-F238E27FC236}">
                <a16:creationId xmlns:a16="http://schemas.microsoft.com/office/drawing/2014/main" id="{3F369863-A7EB-4291-B1DB-79345B401E26}"/>
              </a:ext>
            </a:extLst>
          </p:cNvPr>
          <p:cNvSpPr txBox="1"/>
          <p:nvPr/>
        </p:nvSpPr>
        <p:spPr>
          <a:xfrm>
            <a:off x="1068370" y="3349341"/>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130" name="文本框 129">
            <a:extLst>
              <a:ext uri="{FF2B5EF4-FFF2-40B4-BE49-F238E27FC236}">
                <a16:creationId xmlns:a16="http://schemas.microsoft.com/office/drawing/2014/main" id="{792C12A0-5A4A-49DF-947B-E8959E12A3EA}"/>
              </a:ext>
            </a:extLst>
          </p:cNvPr>
          <p:cNvSpPr txBox="1"/>
          <p:nvPr/>
        </p:nvSpPr>
        <p:spPr>
          <a:xfrm>
            <a:off x="1909721" y="220804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凹陷</a:t>
            </a:r>
          </a:p>
        </p:txBody>
      </p:sp>
      <p:sp>
        <p:nvSpPr>
          <p:cNvPr id="131" name="文本框 130">
            <a:extLst>
              <a:ext uri="{FF2B5EF4-FFF2-40B4-BE49-F238E27FC236}">
                <a16:creationId xmlns:a16="http://schemas.microsoft.com/office/drawing/2014/main" id="{A4D7C019-6CB2-4DDA-903E-B29EEF464E5F}"/>
              </a:ext>
            </a:extLst>
          </p:cNvPr>
          <p:cNvSpPr txBox="1"/>
          <p:nvPr/>
        </p:nvSpPr>
        <p:spPr>
          <a:xfrm>
            <a:off x="4568148" y="3136086"/>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硬挺</a:t>
            </a:r>
          </a:p>
        </p:txBody>
      </p:sp>
      <p:sp>
        <p:nvSpPr>
          <p:cNvPr id="132" name="文本框 131">
            <a:extLst>
              <a:ext uri="{FF2B5EF4-FFF2-40B4-BE49-F238E27FC236}">
                <a16:creationId xmlns:a16="http://schemas.microsoft.com/office/drawing/2014/main" id="{96F757E9-7378-4E46-A8B9-1EBB9D813326}"/>
              </a:ext>
            </a:extLst>
          </p:cNvPr>
          <p:cNvSpPr txBox="1"/>
          <p:nvPr/>
        </p:nvSpPr>
        <p:spPr>
          <a:xfrm>
            <a:off x="3038687" y="513463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稍糊</a:t>
            </a:r>
          </a:p>
        </p:txBody>
      </p:sp>
      <p:sp>
        <p:nvSpPr>
          <p:cNvPr id="133" name="文本框 132">
            <a:extLst>
              <a:ext uri="{FF2B5EF4-FFF2-40B4-BE49-F238E27FC236}">
                <a16:creationId xmlns:a16="http://schemas.microsoft.com/office/drawing/2014/main" id="{6B9C9B21-FC0F-4F0D-9507-AF395AE5EFF1}"/>
              </a:ext>
            </a:extLst>
          </p:cNvPr>
          <p:cNvSpPr txBox="1"/>
          <p:nvPr/>
        </p:nvSpPr>
        <p:spPr>
          <a:xfrm>
            <a:off x="3920783" y="513891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清晰</a:t>
            </a:r>
          </a:p>
        </p:txBody>
      </p:sp>
      <p:sp>
        <p:nvSpPr>
          <p:cNvPr id="134" name="文本框 133">
            <a:extLst>
              <a:ext uri="{FF2B5EF4-FFF2-40B4-BE49-F238E27FC236}">
                <a16:creationId xmlns:a16="http://schemas.microsoft.com/office/drawing/2014/main" id="{2AC84C2A-88CB-4128-9CC0-D5E2901FAA93}"/>
              </a:ext>
            </a:extLst>
          </p:cNvPr>
          <p:cNvSpPr txBox="1"/>
          <p:nvPr/>
        </p:nvSpPr>
        <p:spPr>
          <a:xfrm>
            <a:off x="3850271" y="312684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蜷曲</a:t>
            </a:r>
          </a:p>
        </p:txBody>
      </p:sp>
      <p:sp>
        <p:nvSpPr>
          <p:cNvPr id="135" name="文本框 134">
            <a:extLst>
              <a:ext uri="{FF2B5EF4-FFF2-40B4-BE49-F238E27FC236}">
                <a16:creationId xmlns:a16="http://schemas.microsoft.com/office/drawing/2014/main" id="{AF13C6D0-3645-41A0-8F35-EB87F5E937B4}"/>
              </a:ext>
            </a:extLst>
          </p:cNvPr>
          <p:cNvSpPr txBox="1"/>
          <p:nvPr/>
        </p:nvSpPr>
        <p:spPr>
          <a:xfrm>
            <a:off x="3134995" y="310866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稍蜷</a:t>
            </a:r>
          </a:p>
        </p:txBody>
      </p:sp>
      <p:sp>
        <p:nvSpPr>
          <p:cNvPr id="136" name="文本框 135">
            <a:extLst>
              <a:ext uri="{FF2B5EF4-FFF2-40B4-BE49-F238E27FC236}">
                <a16:creationId xmlns:a16="http://schemas.microsoft.com/office/drawing/2014/main" id="{EE4BB55A-087C-45DB-8ED0-88AA9A60908C}"/>
              </a:ext>
            </a:extLst>
          </p:cNvPr>
          <p:cNvSpPr txBox="1"/>
          <p:nvPr/>
        </p:nvSpPr>
        <p:spPr>
          <a:xfrm>
            <a:off x="2208599" y="5088084"/>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模糊</a:t>
            </a:r>
          </a:p>
        </p:txBody>
      </p:sp>
      <p:sp>
        <p:nvSpPr>
          <p:cNvPr id="137" name="文本框 136">
            <a:extLst>
              <a:ext uri="{FF2B5EF4-FFF2-40B4-BE49-F238E27FC236}">
                <a16:creationId xmlns:a16="http://schemas.microsoft.com/office/drawing/2014/main" id="{DAA3AF4F-68E0-4FE2-A632-50007FB6351C}"/>
              </a:ext>
            </a:extLst>
          </p:cNvPr>
          <p:cNvSpPr txBox="1"/>
          <p:nvPr/>
        </p:nvSpPr>
        <p:spPr>
          <a:xfrm>
            <a:off x="600856" y="3137381"/>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138" name="文本框 137">
            <a:extLst>
              <a:ext uri="{FF2B5EF4-FFF2-40B4-BE49-F238E27FC236}">
                <a16:creationId xmlns:a16="http://schemas.microsoft.com/office/drawing/2014/main" id="{E04F1D33-AE91-46D5-8DD4-75135F852917}"/>
              </a:ext>
            </a:extLst>
          </p:cNvPr>
          <p:cNvSpPr txBox="1"/>
          <p:nvPr/>
        </p:nvSpPr>
        <p:spPr>
          <a:xfrm>
            <a:off x="3210193" y="241092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稍凹</a:t>
            </a:r>
          </a:p>
        </p:txBody>
      </p:sp>
      <p:sp>
        <p:nvSpPr>
          <p:cNvPr id="139" name="文本框 138">
            <a:extLst>
              <a:ext uri="{FF2B5EF4-FFF2-40B4-BE49-F238E27FC236}">
                <a16:creationId xmlns:a16="http://schemas.microsoft.com/office/drawing/2014/main" id="{113DE7DB-B999-46A7-9A5E-70D595A8DF2B}"/>
              </a:ext>
            </a:extLst>
          </p:cNvPr>
          <p:cNvSpPr txBox="1"/>
          <p:nvPr/>
        </p:nvSpPr>
        <p:spPr>
          <a:xfrm>
            <a:off x="3806844" y="405609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140" name="文本框 139">
            <a:extLst>
              <a:ext uri="{FF2B5EF4-FFF2-40B4-BE49-F238E27FC236}">
                <a16:creationId xmlns:a16="http://schemas.microsoft.com/office/drawing/2014/main" id="{2CCED2FE-4E81-434B-9749-3F971CBB8694}"/>
              </a:ext>
            </a:extLst>
          </p:cNvPr>
          <p:cNvSpPr txBox="1"/>
          <p:nvPr/>
        </p:nvSpPr>
        <p:spPr>
          <a:xfrm>
            <a:off x="2464963" y="406647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141" name="文本框 140">
            <a:extLst>
              <a:ext uri="{FF2B5EF4-FFF2-40B4-BE49-F238E27FC236}">
                <a16:creationId xmlns:a16="http://schemas.microsoft.com/office/drawing/2014/main" id="{5275CEB7-5DD9-4D66-B0B3-EC64012FD05E}"/>
              </a:ext>
            </a:extLst>
          </p:cNvPr>
          <p:cNvSpPr txBox="1"/>
          <p:nvPr/>
        </p:nvSpPr>
        <p:spPr>
          <a:xfrm>
            <a:off x="3147020" y="406525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142" name="文本框 141">
            <a:extLst>
              <a:ext uri="{FF2B5EF4-FFF2-40B4-BE49-F238E27FC236}">
                <a16:creationId xmlns:a16="http://schemas.microsoft.com/office/drawing/2014/main" id="{99745B3D-AF1B-4485-954E-DF606A866846}"/>
              </a:ext>
            </a:extLst>
          </p:cNvPr>
          <p:cNvSpPr txBox="1"/>
          <p:nvPr/>
        </p:nvSpPr>
        <p:spPr>
          <a:xfrm>
            <a:off x="1716911" y="3122835"/>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143" name="文本框 142">
            <a:extLst>
              <a:ext uri="{FF2B5EF4-FFF2-40B4-BE49-F238E27FC236}">
                <a16:creationId xmlns:a16="http://schemas.microsoft.com/office/drawing/2014/main" id="{18509CA8-6990-41DE-AA0E-2E7C4FD8C5AB}"/>
              </a:ext>
            </a:extLst>
          </p:cNvPr>
          <p:cNvSpPr txBox="1"/>
          <p:nvPr/>
        </p:nvSpPr>
        <p:spPr>
          <a:xfrm>
            <a:off x="2845324" y="171990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①</a:t>
            </a:r>
          </a:p>
        </p:txBody>
      </p:sp>
      <p:sp>
        <p:nvSpPr>
          <p:cNvPr id="144" name="文本框 143">
            <a:extLst>
              <a:ext uri="{FF2B5EF4-FFF2-40B4-BE49-F238E27FC236}">
                <a16:creationId xmlns:a16="http://schemas.microsoft.com/office/drawing/2014/main" id="{DBE8996F-BD3E-4A76-A612-3C6CCE65B41C}"/>
              </a:ext>
            </a:extLst>
          </p:cNvPr>
          <p:cNvSpPr txBox="1"/>
          <p:nvPr/>
        </p:nvSpPr>
        <p:spPr>
          <a:xfrm>
            <a:off x="2756104" y="4471855"/>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⑥</a:t>
            </a:r>
          </a:p>
        </p:txBody>
      </p:sp>
      <p:sp>
        <p:nvSpPr>
          <p:cNvPr id="145" name="文本框 144">
            <a:extLst>
              <a:ext uri="{FF2B5EF4-FFF2-40B4-BE49-F238E27FC236}">
                <a16:creationId xmlns:a16="http://schemas.microsoft.com/office/drawing/2014/main" id="{2DA30954-C410-4A7B-8839-2C9E0159EFA0}"/>
              </a:ext>
            </a:extLst>
          </p:cNvPr>
          <p:cNvSpPr txBox="1"/>
          <p:nvPr/>
        </p:nvSpPr>
        <p:spPr>
          <a:xfrm>
            <a:off x="2960944" y="3314891"/>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⑤</a:t>
            </a:r>
          </a:p>
        </p:txBody>
      </p:sp>
      <p:sp>
        <p:nvSpPr>
          <p:cNvPr id="146" name="文本框 145">
            <a:extLst>
              <a:ext uri="{FF2B5EF4-FFF2-40B4-BE49-F238E27FC236}">
                <a16:creationId xmlns:a16="http://schemas.microsoft.com/office/drawing/2014/main" id="{4D8F0D75-32C4-4DAE-8C49-35CAFC1C170D}"/>
              </a:ext>
            </a:extLst>
          </p:cNvPr>
          <p:cNvSpPr txBox="1"/>
          <p:nvPr/>
        </p:nvSpPr>
        <p:spPr>
          <a:xfrm>
            <a:off x="5245369" y="2441948"/>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④</a:t>
            </a:r>
          </a:p>
        </p:txBody>
      </p:sp>
      <p:sp>
        <p:nvSpPr>
          <p:cNvPr id="147" name="文本框 146">
            <a:extLst>
              <a:ext uri="{FF2B5EF4-FFF2-40B4-BE49-F238E27FC236}">
                <a16:creationId xmlns:a16="http://schemas.microsoft.com/office/drawing/2014/main" id="{33AC9C4D-2BAE-4368-B1D6-B7DD0AB47A84}"/>
              </a:ext>
            </a:extLst>
          </p:cNvPr>
          <p:cNvSpPr txBox="1"/>
          <p:nvPr/>
        </p:nvSpPr>
        <p:spPr>
          <a:xfrm>
            <a:off x="3124923" y="263285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③</a:t>
            </a:r>
          </a:p>
        </p:txBody>
      </p:sp>
      <p:sp>
        <p:nvSpPr>
          <p:cNvPr id="148" name="文本框 147">
            <a:extLst>
              <a:ext uri="{FF2B5EF4-FFF2-40B4-BE49-F238E27FC236}">
                <a16:creationId xmlns:a16="http://schemas.microsoft.com/office/drawing/2014/main" id="{33F19EE1-325A-4149-AD1B-60297A23C629}"/>
              </a:ext>
            </a:extLst>
          </p:cNvPr>
          <p:cNvSpPr txBox="1"/>
          <p:nvPr/>
        </p:nvSpPr>
        <p:spPr>
          <a:xfrm>
            <a:off x="699850" y="2477403"/>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②</a:t>
            </a:r>
          </a:p>
        </p:txBody>
      </p:sp>
      <p:sp>
        <p:nvSpPr>
          <p:cNvPr id="149" name="文本框 148">
            <a:extLst>
              <a:ext uri="{FF2B5EF4-FFF2-40B4-BE49-F238E27FC236}">
                <a16:creationId xmlns:a16="http://schemas.microsoft.com/office/drawing/2014/main" id="{E615FE8E-33CF-4694-A453-BF445E992837}"/>
              </a:ext>
            </a:extLst>
          </p:cNvPr>
          <p:cNvSpPr txBox="1"/>
          <p:nvPr/>
        </p:nvSpPr>
        <p:spPr>
          <a:xfrm>
            <a:off x="6903256" y="1807459"/>
            <a:ext cx="4849742" cy="3526093"/>
          </a:xfrm>
          <a:prstGeom prst="rect">
            <a:avLst/>
          </a:prstGeom>
          <a:noFill/>
        </p:spPr>
        <p:txBody>
          <a:bodyPr wrap="square">
            <a:spAutoFit/>
          </a:bodyPr>
          <a:lstStyle/>
          <a:p>
            <a:pPr>
              <a:lnSpc>
                <a:spcPct val="150000"/>
              </a:lnSpc>
            </a:pPr>
            <a:r>
              <a:rPr lang="zh-CN" altLang="en-US" sz="2000" b="1" dirty="0">
                <a:effectLst/>
                <a:latin typeface="KaiTi" panose="02010609060101010101" pitchFamily="49" charset="-122"/>
                <a:ea typeface="KaiTi" panose="02010609060101010101" pitchFamily="49" charset="-122"/>
                <a:cs typeface="Euclid" panose="02020503060505020303" pitchFamily="18" charset="0"/>
              </a:rPr>
              <a:t>剪枝策略</a:t>
            </a:r>
            <a:endParaRPr lang="en-US" altLang="zh-CN" sz="2000" b="1" dirty="0">
              <a:effectLst/>
              <a:latin typeface="KaiTi" panose="02010609060101010101" pitchFamily="49" charset="-122"/>
              <a:ea typeface="KaiTi" panose="02010609060101010101" pitchFamily="49" charset="-122"/>
              <a:cs typeface="Euclid" panose="02020503060505020303" pitchFamily="18" charset="0"/>
            </a:endParaRPr>
          </a:p>
          <a:p>
            <a:pPr>
              <a:lnSpc>
                <a:spcPct val="150000"/>
              </a:lnSpc>
            </a:pPr>
            <a:r>
              <a:rPr lang="zh-CN" altLang="zh-CN" sz="2000" dirty="0">
                <a:effectLst/>
                <a:latin typeface="KaiTi" panose="02010609060101010101" pitchFamily="49" charset="-122"/>
                <a:ea typeface="KaiTi" panose="02010609060101010101" pitchFamily="49" charset="-122"/>
                <a:cs typeface="Euclid" panose="02020503060505020303" pitchFamily="18" charset="0"/>
              </a:rPr>
              <a:t>在节点划分前来确定是否继续增长，及早停止增长</a:t>
            </a:r>
            <a:endParaRPr lang="en-US" altLang="zh-CN" sz="2000" dirty="0">
              <a:effectLst/>
              <a:latin typeface="KaiTi" panose="02010609060101010101" pitchFamily="49" charset="-122"/>
              <a:ea typeface="KaiTi" panose="02010609060101010101" pitchFamily="49" charset="-122"/>
              <a:cs typeface="Euclid" panose="02020503060505020303" pitchFamily="18" charset="0"/>
            </a:endParaRPr>
          </a:p>
          <a:p>
            <a:pPr>
              <a:lnSpc>
                <a:spcPct val="150000"/>
              </a:lnSpc>
            </a:pPr>
            <a:r>
              <a:rPr lang="zh-CN" altLang="zh-CN" sz="2000" dirty="0">
                <a:effectLst/>
                <a:latin typeface="KaiTi" panose="02010609060101010101" pitchFamily="49" charset="-122"/>
                <a:ea typeface="KaiTi" panose="02010609060101010101" pitchFamily="49" charset="-122"/>
                <a:cs typeface="Euclid" panose="02020503060505020303" pitchFamily="18" charset="0"/>
              </a:rPr>
              <a:t>主要方法有：</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节点内数据样本低于某一阈值；</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所有节点特征都已分裂；</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节点划分前准确率比划分后准确率高。</a:t>
            </a:r>
          </a:p>
        </p:txBody>
      </p:sp>
      <p:sp>
        <p:nvSpPr>
          <p:cNvPr id="2" name="제목 2">
            <a:extLst>
              <a:ext uri="{FF2B5EF4-FFF2-40B4-BE49-F238E27FC236}">
                <a16:creationId xmlns:a16="http://schemas.microsoft.com/office/drawing/2014/main" id="{F5BD7CF9-0352-6FC1-C7F0-499DB30D098F}"/>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912610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预剪枝</a:t>
            </a:r>
            <a:endParaRPr lang="zh-CN" altLang="en-US" sz="2400" b="1" dirty="0">
              <a:latin typeface="KaiTi" panose="02010609060101010101" pitchFamily="49" charset="-122"/>
              <a:ea typeface="KaiTi" panose="02010609060101010101" pitchFamily="49" charset="-122"/>
            </a:endParaRPr>
          </a:p>
        </p:txBody>
      </p:sp>
      <p:cxnSp>
        <p:nvCxnSpPr>
          <p:cNvPr id="11" name="直接箭头连接符 10">
            <a:extLst>
              <a:ext uri="{FF2B5EF4-FFF2-40B4-BE49-F238E27FC236}">
                <a16:creationId xmlns:a16="http://schemas.microsoft.com/office/drawing/2014/main" id="{DC04FA22-E7C7-4DF6-8FCF-09BF7C0AED1D}"/>
              </a:ext>
            </a:extLst>
          </p:cNvPr>
          <p:cNvCxnSpPr>
            <a:cxnSpLocks/>
            <a:stCxn id="27" idx="2"/>
          </p:cNvCxnSpPr>
          <p:nvPr/>
        </p:nvCxnSpPr>
        <p:spPr>
          <a:xfrm flipH="1">
            <a:off x="1214870" y="2955072"/>
            <a:ext cx="1299784" cy="5643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594C113F-02D1-4F51-B761-48FEF46DAE70}"/>
              </a:ext>
            </a:extLst>
          </p:cNvPr>
          <p:cNvCxnSpPr>
            <a:cxnSpLocks/>
            <a:stCxn id="27" idx="6"/>
          </p:cNvCxnSpPr>
          <p:nvPr/>
        </p:nvCxnSpPr>
        <p:spPr>
          <a:xfrm>
            <a:off x="3370290" y="2955072"/>
            <a:ext cx="1652599" cy="62898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2E24B654-C5EE-4563-909B-B9FD96C5A6EA}"/>
              </a:ext>
            </a:extLst>
          </p:cNvPr>
          <p:cNvCxnSpPr>
            <a:cxnSpLocks/>
          </p:cNvCxnSpPr>
          <p:nvPr/>
        </p:nvCxnSpPr>
        <p:spPr>
          <a:xfrm>
            <a:off x="2798771" y="2779135"/>
            <a:ext cx="640078" cy="65749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1CE9AA7-D399-4505-8F5A-054563404755}"/>
              </a:ext>
            </a:extLst>
          </p:cNvPr>
          <p:cNvSpPr txBox="1"/>
          <p:nvPr/>
        </p:nvSpPr>
        <p:spPr>
          <a:xfrm>
            <a:off x="3983631" y="2924895"/>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平坦</a:t>
            </a:r>
          </a:p>
        </p:txBody>
      </p:sp>
      <p:sp>
        <p:nvSpPr>
          <p:cNvPr id="24" name="椭圆 23">
            <a:extLst>
              <a:ext uri="{FF2B5EF4-FFF2-40B4-BE49-F238E27FC236}">
                <a16:creationId xmlns:a16="http://schemas.microsoft.com/office/drawing/2014/main" id="{764E65E0-204C-4062-9BCC-AB3CE33B17CF}"/>
              </a:ext>
            </a:extLst>
          </p:cNvPr>
          <p:cNvSpPr/>
          <p:nvPr/>
        </p:nvSpPr>
        <p:spPr>
          <a:xfrm>
            <a:off x="5002107" y="3433944"/>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27" name="椭圆 26">
            <a:extLst>
              <a:ext uri="{FF2B5EF4-FFF2-40B4-BE49-F238E27FC236}">
                <a16:creationId xmlns:a16="http://schemas.microsoft.com/office/drawing/2014/main" id="{6073B7FD-856B-43DA-81FD-D39AF3AEA5EB}"/>
              </a:ext>
            </a:extLst>
          </p:cNvPr>
          <p:cNvSpPr/>
          <p:nvPr/>
        </p:nvSpPr>
        <p:spPr>
          <a:xfrm>
            <a:off x="2514654" y="2754772"/>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脐部</a:t>
            </a:r>
          </a:p>
        </p:txBody>
      </p:sp>
      <p:sp>
        <p:nvSpPr>
          <p:cNvPr id="50" name="文本框 49">
            <a:extLst>
              <a:ext uri="{FF2B5EF4-FFF2-40B4-BE49-F238E27FC236}">
                <a16:creationId xmlns:a16="http://schemas.microsoft.com/office/drawing/2014/main" id="{508EF85F-9AB9-436A-B171-BAE62710FFD0}"/>
              </a:ext>
            </a:extLst>
          </p:cNvPr>
          <p:cNvSpPr txBox="1"/>
          <p:nvPr/>
        </p:nvSpPr>
        <p:spPr>
          <a:xfrm>
            <a:off x="1485731" y="296622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凹陷</a:t>
            </a:r>
          </a:p>
        </p:txBody>
      </p:sp>
      <p:sp>
        <p:nvSpPr>
          <p:cNvPr id="58" name="文本框 57">
            <a:extLst>
              <a:ext uri="{FF2B5EF4-FFF2-40B4-BE49-F238E27FC236}">
                <a16:creationId xmlns:a16="http://schemas.microsoft.com/office/drawing/2014/main" id="{BAD102DA-5CF4-48D6-96D2-DCF4C6F6E039}"/>
              </a:ext>
            </a:extLst>
          </p:cNvPr>
          <p:cNvSpPr txBox="1"/>
          <p:nvPr/>
        </p:nvSpPr>
        <p:spPr>
          <a:xfrm>
            <a:off x="2786203" y="316910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稍凹</a:t>
            </a:r>
          </a:p>
        </p:txBody>
      </p:sp>
      <p:sp>
        <p:nvSpPr>
          <p:cNvPr id="63" name="文本框 62">
            <a:extLst>
              <a:ext uri="{FF2B5EF4-FFF2-40B4-BE49-F238E27FC236}">
                <a16:creationId xmlns:a16="http://schemas.microsoft.com/office/drawing/2014/main" id="{1499D523-8DE5-4A01-BDCD-436627308A3B}"/>
              </a:ext>
            </a:extLst>
          </p:cNvPr>
          <p:cNvSpPr txBox="1"/>
          <p:nvPr/>
        </p:nvSpPr>
        <p:spPr>
          <a:xfrm>
            <a:off x="2421334" y="2478089"/>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①</a:t>
            </a:r>
          </a:p>
        </p:txBody>
      </p:sp>
      <p:sp>
        <p:nvSpPr>
          <p:cNvPr id="66" name="文本框 65">
            <a:extLst>
              <a:ext uri="{FF2B5EF4-FFF2-40B4-BE49-F238E27FC236}">
                <a16:creationId xmlns:a16="http://schemas.microsoft.com/office/drawing/2014/main" id="{73092F8C-B8E0-4446-9A0D-8BB7B80320C2}"/>
              </a:ext>
            </a:extLst>
          </p:cNvPr>
          <p:cNvSpPr txBox="1"/>
          <p:nvPr/>
        </p:nvSpPr>
        <p:spPr>
          <a:xfrm>
            <a:off x="4821379" y="3200133"/>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④</a:t>
            </a:r>
          </a:p>
        </p:txBody>
      </p:sp>
      <p:sp>
        <p:nvSpPr>
          <p:cNvPr id="67" name="文本框 66">
            <a:extLst>
              <a:ext uri="{FF2B5EF4-FFF2-40B4-BE49-F238E27FC236}">
                <a16:creationId xmlns:a16="http://schemas.microsoft.com/office/drawing/2014/main" id="{EB3A8561-D8B2-4EA2-995E-53B6CB9C113B}"/>
              </a:ext>
            </a:extLst>
          </p:cNvPr>
          <p:cNvSpPr txBox="1"/>
          <p:nvPr/>
        </p:nvSpPr>
        <p:spPr>
          <a:xfrm>
            <a:off x="2700933" y="3391039"/>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③</a:t>
            </a:r>
          </a:p>
        </p:txBody>
      </p:sp>
      <p:sp>
        <p:nvSpPr>
          <p:cNvPr id="68" name="文本框 67">
            <a:extLst>
              <a:ext uri="{FF2B5EF4-FFF2-40B4-BE49-F238E27FC236}">
                <a16:creationId xmlns:a16="http://schemas.microsoft.com/office/drawing/2014/main" id="{E3A320C4-EF72-42B8-8568-362E1FBBECA4}"/>
              </a:ext>
            </a:extLst>
          </p:cNvPr>
          <p:cNvSpPr txBox="1"/>
          <p:nvPr/>
        </p:nvSpPr>
        <p:spPr>
          <a:xfrm>
            <a:off x="275860" y="3235588"/>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②</a:t>
            </a:r>
          </a:p>
        </p:txBody>
      </p:sp>
      <p:sp>
        <p:nvSpPr>
          <p:cNvPr id="69" name="椭圆 68">
            <a:extLst>
              <a:ext uri="{FF2B5EF4-FFF2-40B4-BE49-F238E27FC236}">
                <a16:creationId xmlns:a16="http://schemas.microsoft.com/office/drawing/2014/main" id="{21E38BD6-6FC8-48F1-9F39-7902B5593AF8}"/>
              </a:ext>
            </a:extLst>
          </p:cNvPr>
          <p:cNvSpPr/>
          <p:nvPr/>
        </p:nvSpPr>
        <p:spPr>
          <a:xfrm>
            <a:off x="502935" y="3476884"/>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70" name="椭圆 69">
            <a:extLst>
              <a:ext uri="{FF2B5EF4-FFF2-40B4-BE49-F238E27FC236}">
                <a16:creationId xmlns:a16="http://schemas.microsoft.com/office/drawing/2014/main" id="{A397B138-FBA0-4B36-8560-0774C9436B9F}"/>
              </a:ext>
            </a:extLst>
          </p:cNvPr>
          <p:cNvSpPr/>
          <p:nvPr/>
        </p:nvSpPr>
        <p:spPr>
          <a:xfrm>
            <a:off x="3027742" y="3468073"/>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71" name="文本框 70">
            <a:extLst>
              <a:ext uri="{FF2B5EF4-FFF2-40B4-BE49-F238E27FC236}">
                <a16:creationId xmlns:a16="http://schemas.microsoft.com/office/drawing/2014/main" id="{8C524285-9C49-4122-98B6-4325F6E5B887}"/>
              </a:ext>
            </a:extLst>
          </p:cNvPr>
          <p:cNvSpPr txBox="1"/>
          <p:nvPr/>
        </p:nvSpPr>
        <p:spPr>
          <a:xfrm>
            <a:off x="4544598" y="2052823"/>
            <a:ext cx="1528225" cy="1169551"/>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验证集精度</a:t>
            </a:r>
          </a:p>
          <a:p>
            <a:r>
              <a:rPr lang="zh-CN" altLang="en-US" sz="1400" dirty="0">
                <a:solidFill>
                  <a:srgbClr val="FF0000"/>
                </a:solidFill>
                <a:latin typeface="KaiTi" panose="02010609060101010101" pitchFamily="49" charset="-122"/>
                <a:ea typeface="KaiTi" panose="02010609060101010101" pitchFamily="49" charset="-122"/>
              </a:rPr>
              <a:t>脐部=?</a:t>
            </a:r>
          </a:p>
          <a:p>
            <a:r>
              <a:rPr lang="zh-CN" altLang="en-US" sz="1400" dirty="0">
                <a:solidFill>
                  <a:srgbClr val="FF0000"/>
                </a:solidFill>
                <a:latin typeface="KaiTi" panose="02010609060101010101" pitchFamily="49" charset="-122"/>
                <a:ea typeface="KaiTi" panose="02010609060101010101" pitchFamily="49" charset="-122"/>
              </a:rPr>
              <a:t>划分前:42.9%</a:t>
            </a:r>
          </a:p>
          <a:p>
            <a:r>
              <a:rPr lang="zh-CN" altLang="en-US" sz="1400" dirty="0">
                <a:solidFill>
                  <a:srgbClr val="FF0000"/>
                </a:solidFill>
                <a:latin typeface="KaiTi" panose="02010609060101010101" pitchFamily="49" charset="-122"/>
                <a:ea typeface="KaiTi" panose="02010609060101010101" pitchFamily="49" charset="-122"/>
              </a:rPr>
              <a:t>划分后:71.4%</a:t>
            </a:r>
          </a:p>
          <a:p>
            <a:r>
              <a:rPr lang="zh-CN" altLang="en-US" sz="1400" dirty="0">
                <a:solidFill>
                  <a:srgbClr val="FF0000"/>
                </a:solidFill>
                <a:latin typeface="KaiTi" panose="02010609060101010101" pitchFamily="49" charset="-122"/>
                <a:ea typeface="KaiTi" panose="02010609060101010101" pitchFamily="49" charset="-122"/>
              </a:rPr>
              <a:t>预剪枝决策:划分</a:t>
            </a:r>
          </a:p>
        </p:txBody>
      </p:sp>
      <p:cxnSp>
        <p:nvCxnSpPr>
          <p:cNvPr id="72" name="直接箭头连接符 71">
            <a:extLst>
              <a:ext uri="{FF2B5EF4-FFF2-40B4-BE49-F238E27FC236}">
                <a16:creationId xmlns:a16="http://schemas.microsoft.com/office/drawing/2014/main" id="{519C7CC7-8C89-4512-B945-0B74D8AF6C64}"/>
              </a:ext>
            </a:extLst>
          </p:cNvPr>
          <p:cNvCxnSpPr>
            <a:cxnSpLocks/>
          </p:cNvCxnSpPr>
          <p:nvPr/>
        </p:nvCxnSpPr>
        <p:spPr>
          <a:xfrm flipH="1">
            <a:off x="3358060" y="2847421"/>
            <a:ext cx="118653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587A32D8-EF66-4C8A-85E9-0676102FD746}"/>
              </a:ext>
            </a:extLst>
          </p:cNvPr>
          <p:cNvSpPr txBox="1"/>
          <p:nvPr/>
        </p:nvSpPr>
        <p:spPr>
          <a:xfrm>
            <a:off x="2840254" y="4435977"/>
            <a:ext cx="1924995" cy="1169551"/>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验证集精度</a:t>
            </a:r>
          </a:p>
          <a:p>
            <a:r>
              <a:rPr lang="zh-CN" altLang="en-US" sz="1400" dirty="0">
                <a:solidFill>
                  <a:srgbClr val="FF0000"/>
                </a:solidFill>
                <a:latin typeface="KaiTi" panose="02010609060101010101" pitchFamily="49" charset="-122"/>
                <a:ea typeface="KaiTi" panose="02010609060101010101" pitchFamily="49" charset="-122"/>
              </a:rPr>
              <a:t>根蒂=?</a:t>
            </a:r>
          </a:p>
          <a:p>
            <a:r>
              <a:rPr lang="zh-CN" altLang="en-US" sz="1400" dirty="0">
                <a:solidFill>
                  <a:srgbClr val="FF0000"/>
                </a:solidFill>
                <a:latin typeface="KaiTi" panose="02010609060101010101" pitchFamily="49" charset="-122"/>
                <a:ea typeface="KaiTi" panose="02010609060101010101" pitchFamily="49" charset="-122"/>
              </a:rPr>
              <a:t>划分前:</a:t>
            </a:r>
            <a:r>
              <a:rPr lang="en-US" altLang="zh-CN" sz="1400" dirty="0">
                <a:solidFill>
                  <a:srgbClr val="FF0000"/>
                </a:solidFill>
                <a:latin typeface="KaiTi" panose="02010609060101010101" pitchFamily="49" charset="-122"/>
                <a:ea typeface="KaiTi" panose="02010609060101010101" pitchFamily="49" charset="-122"/>
              </a:rPr>
              <a:t>71.4</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划分后:71.4%</a:t>
            </a:r>
          </a:p>
          <a:p>
            <a:r>
              <a:rPr lang="zh-CN" altLang="en-US" sz="1400" dirty="0">
                <a:solidFill>
                  <a:srgbClr val="FF0000"/>
                </a:solidFill>
                <a:latin typeface="KaiTi" panose="02010609060101010101" pitchFamily="49" charset="-122"/>
                <a:ea typeface="KaiTi" panose="02010609060101010101" pitchFamily="49" charset="-122"/>
              </a:rPr>
              <a:t>预剪枝决策:禁止划分</a:t>
            </a:r>
          </a:p>
        </p:txBody>
      </p:sp>
      <p:sp>
        <p:nvSpPr>
          <p:cNvPr id="74" name="文本框 73">
            <a:extLst>
              <a:ext uri="{FF2B5EF4-FFF2-40B4-BE49-F238E27FC236}">
                <a16:creationId xmlns:a16="http://schemas.microsoft.com/office/drawing/2014/main" id="{929DB696-498D-4F55-B3A6-CE05F6EE7DCB}"/>
              </a:ext>
            </a:extLst>
          </p:cNvPr>
          <p:cNvSpPr txBox="1"/>
          <p:nvPr/>
        </p:nvSpPr>
        <p:spPr>
          <a:xfrm>
            <a:off x="390904" y="4434291"/>
            <a:ext cx="1961083" cy="1169551"/>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验证集精度</a:t>
            </a:r>
          </a:p>
          <a:p>
            <a:r>
              <a:rPr lang="zh-CN" altLang="en-US" sz="1400" dirty="0">
                <a:solidFill>
                  <a:srgbClr val="FF0000"/>
                </a:solidFill>
                <a:latin typeface="KaiTi" panose="02010609060101010101" pitchFamily="49" charset="-122"/>
                <a:ea typeface="KaiTi" panose="02010609060101010101" pitchFamily="49" charset="-122"/>
              </a:rPr>
              <a:t>色泽=?</a:t>
            </a:r>
          </a:p>
          <a:p>
            <a:r>
              <a:rPr lang="zh-CN" altLang="en-US" sz="1400" dirty="0">
                <a:solidFill>
                  <a:srgbClr val="FF0000"/>
                </a:solidFill>
                <a:latin typeface="KaiTi" panose="02010609060101010101" pitchFamily="49" charset="-122"/>
                <a:ea typeface="KaiTi" panose="02010609060101010101" pitchFamily="49" charset="-122"/>
              </a:rPr>
              <a:t>划分前:</a:t>
            </a:r>
            <a:r>
              <a:rPr lang="en-US" altLang="zh-CN" sz="1400" dirty="0">
                <a:solidFill>
                  <a:srgbClr val="FF0000"/>
                </a:solidFill>
                <a:latin typeface="KaiTi" panose="02010609060101010101" pitchFamily="49" charset="-122"/>
                <a:ea typeface="KaiTi" panose="02010609060101010101" pitchFamily="49" charset="-122"/>
              </a:rPr>
              <a:t>71.4</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划分后:</a:t>
            </a:r>
            <a:r>
              <a:rPr lang="en-US" altLang="zh-CN" sz="1400" dirty="0">
                <a:solidFill>
                  <a:srgbClr val="FF0000"/>
                </a:solidFill>
                <a:latin typeface="KaiTi" panose="02010609060101010101" pitchFamily="49" charset="-122"/>
                <a:ea typeface="KaiTi" panose="02010609060101010101" pitchFamily="49" charset="-122"/>
              </a:rPr>
              <a:t>57.1</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预剪枝决策:禁止划分</a:t>
            </a:r>
          </a:p>
        </p:txBody>
      </p:sp>
      <p:sp>
        <p:nvSpPr>
          <p:cNvPr id="75" name="文本框 74">
            <a:extLst>
              <a:ext uri="{FF2B5EF4-FFF2-40B4-BE49-F238E27FC236}">
                <a16:creationId xmlns:a16="http://schemas.microsoft.com/office/drawing/2014/main" id="{D4FA12D4-003A-45ED-808C-1A52CD40E041}"/>
              </a:ext>
            </a:extLst>
          </p:cNvPr>
          <p:cNvSpPr txBox="1"/>
          <p:nvPr/>
        </p:nvSpPr>
        <p:spPr>
          <a:xfrm>
            <a:off x="366532" y="3856540"/>
            <a:ext cx="1759277" cy="369332"/>
          </a:xfrm>
          <a:prstGeom prst="rect">
            <a:avLst/>
          </a:prstGeom>
          <a:noFill/>
        </p:spPr>
        <p:txBody>
          <a:bodyPr wrap="square">
            <a:spAutoFit/>
          </a:bodyPr>
          <a:lstStyle/>
          <a:p>
            <a:r>
              <a:rPr lang="en-US" altLang="zh-CN" sz="1800" kern="100" dirty="0">
                <a:effectLst/>
                <a:latin typeface="KaiTi" panose="02010609060101010101" pitchFamily="49" charset="-122"/>
                <a:ea typeface="KaiTi" panose="02010609060101010101" pitchFamily="49" charset="-122"/>
              </a:rPr>
              <a:t>{1,2,3,14}</a:t>
            </a:r>
            <a:endParaRPr lang="zh-CN" altLang="en-US" sz="1800" dirty="0">
              <a:latin typeface="KaiTi" panose="02010609060101010101" pitchFamily="49" charset="-122"/>
              <a:ea typeface="KaiTi" panose="02010609060101010101" pitchFamily="49" charset="-122"/>
            </a:endParaRPr>
          </a:p>
        </p:txBody>
      </p:sp>
      <p:sp>
        <p:nvSpPr>
          <p:cNvPr id="76" name="文本框 75">
            <a:extLst>
              <a:ext uri="{FF2B5EF4-FFF2-40B4-BE49-F238E27FC236}">
                <a16:creationId xmlns:a16="http://schemas.microsoft.com/office/drawing/2014/main" id="{13DEE598-9EC8-484D-8E74-5E0423B002EB}"/>
              </a:ext>
            </a:extLst>
          </p:cNvPr>
          <p:cNvSpPr txBox="1"/>
          <p:nvPr/>
        </p:nvSpPr>
        <p:spPr>
          <a:xfrm>
            <a:off x="2814223" y="3820507"/>
            <a:ext cx="1759277" cy="369332"/>
          </a:xfrm>
          <a:prstGeom prst="rect">
            <a:avLst/>
          </a:prstGeom>
          <a:noFill/>
        </p:spPr>
        <p:txBody>
          <a:bodyPr wrap="square">
            <a:spAutoFit/>
          </a:bodyPr>
          <a:lstStyle/>
          <a:p>
            <a:r>
              <a:rPr lang="en-US" altLang="zh-CN" sz="1800" kern="100" dirty="0">
                <a:effectLst/>
                <a:latin typeface="KaiTi" panose="02010609060101010101" pitchFamily="49" charset="-122"/>
                <a:ea typeface="KaiTi" panose="02010609060101010101" pitchFamily="49" charset="-122"/>
              </a:rPr>
              <a:t>{6,7,15,17}</a:t>
            </a:r>
            <a:endParaRPr lang="zh-CN" altLang="en-US" sz="1800" dirty="0">
              <a:latin typeface="KaiTi" panose="02010609060101010101" pitchFamily="49" charset="-122"/>
              <a:ea typeface="KaiTi" panose="02010609060101010101" pitchFamily="49" charset="-122"/>
            </a:endParaRPr>
          </a:p>
        </p:txBody>
      </p:sp>
      <p:sp>
        <p:nvSpPr>
          <p:cNvPr id="77" name="文本框 76">
            <a:extLst>
              <a:ext uri="{FF2B5EF4-FFF2-40B4-BE49-F238E27FC236}">
                <a16:creationId xmlns:a16="http://schemas.microsoft.com/office/drawing/2014/main" id="{1BE7DDF7-77B6-4095-9B87-F7CA87D27F23}"/>
              </a:ext>
            </a:extLst>
          </p:cNvPr>
          <p:cNvSpPr txBox="1"/>
          <p:nvPr/>
        </p:nvSpPr>
        <p:spPr>
          <a:xfrm>
            <a:off x="4978104" y="3856540"/>
            <a:ext cx="1759277" cy="369332"/>
          </a:xfrm>
          <a:prstGeom prst="rect">
            <a:avLst/>
          </a:prstGeom>
          <a:noFill/>
        </p:spPr>
        <p:txBody>
          <a:bodyPr wrap="square">
            <a:spAutoFit/>
          </a:bodyPr>
          <a:lstStyle/>
          <a:p>
            <a:r>
              <a:rPr lang="en-US" altLang="zh-CN" sz="1800" kern="100" dirty="0">
                <a:effectLst/>
                <a:latin typeface="KaiTi" panose="02010609060101010101" pitchFamily="49" charset="-122"/>
                <a:ea typeface="KaiTi" panose="02010609060101010101" pitchFamily="49" charset="-122"/>
              </a:rPr>
              <a:t>{10</a:t>
            </a:r>
            <a:r>
              <a:rPr lang="en-US" altLang="zh-CN" sz="1800" kern="100" dirty="0">
                <a:latin typeface="KaiTi" panose="02010609060101010101" pitchFamily="49" charset="-122"/>
                <a:ea typeface="KaiTi" panose="02010609060101010101" pitchFamily="49" charset="-122"/>
              </a:rPr>
              <a:t>,16</a:t>
            </a:r>
            <a:r>
              <a:rPr lang="en-US" altLang="zh-CN" sz="1800" kern="100" dirty="0">
                <a:effectLst/>
                <a:latin typeface="KaiTi" panose="02010609060101010101" pitchFamily="49" charset="-122"/>
                <a:ea typeface="KaiTi" panose="02010609060101010101" pitchFamily="49" charset="-122"/>
              </a:rPr>
              <a:t>}</a:t>
            </a:r>
            <a:endParaRPr lang="zh-CN" altLang="en-US" sz="1800" dirty="0">
              <a:latin typeface="KaiTi" panose="02010609060101010101" pitchFamily="49" charset="-122"/>
              <a:ea typeface="KaiTi" panose="02010609060101010101" pitchFamily="49" charset="-122"/>
            </a:endParaRPr>
          </a:p>
        </p:txBody>
      </p:sp>
      <p:cxnSp>
        <p:nvCxnSpPr>
          <p:cNvPr id="78" name="直接箭头连接符 77">
            <a:extLst>
              <a:ext uri="{FF2B5EF4-FFF2-40B4-BE49-F238E27FC236}">
                <a16:creationId xmlns:a16="http://schemas.microsoft.com/office/drawing/2014/main" id="{3F06E97D-D532-4C7E-8550-06DFA13EA607}"/>
              </a:ext>
            </a:extLst>
          </p:cNvPr>
          <p:cNvCxnSpPr>
            <a:cxnSpLocks/>
          </p:cNvCxnSpPr>
          <p:nvPr/>
        </p:nvCxnSpPr>
        <p:spPr>
          <a:xfrm flipV="1">
            <a:off x="3341011" y="4114800"/>
            <a:ext cx="0" cy="367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10D35C9C-9CAF-4E0D-92C0-9EF3C23547B0}"/>
              </a:ext>
            </a:extLst>
          </p:cNvPr>
          <p:cNvCxnSpPr>
            <a:cxnSpLocks/>
          </p:cNvCxnSpPr>
          <p:nvPr/>
        </p:nvCxnSpPr>
        <p:spPr>
          <a:xfrm flipV="1">
            <a:off x="955100" y="4114800"/>
            <a:ext cx="0" cy="367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C3631D22-F9C5-455B-8AD3-9E5538C1CA0A}"/>
              </a:ext>
            </a:extLst>
          </p:cNvPr>
          <p:cNvSpPr txBox="1"/>
          <p:nvPr/>
        </p:nvSpPr>
        <p:spPr>
          <a:xfrm>
            <a:off x="6626088" y="1806418"/>
            <a:ext cx="4849742" cy="3526093"/>
          </a:xfrm>
          <a:prstGeom prst="rect">
            <a:avLst/>
          </a:prstGeom>
          <a:noFill/>
        </p:spPr>
        <p:txBody>
          <a:bodyPr wrap="square">
            <a:spAutoFit/>
          </a:bodyPr>
          <a:lstStyle/>
          <a:p>
            <a:pPr>
              <a:lnSpc>
                <a:spcPct val="150000"/>
              </a:lnSpc>
            </a:pPr>
            <a:r>
              <a:rPr lang="zh-CN" altLang="en-US" sz="2000" b="1" dirty="0">
                <a:effectLst/>
                <a:latin typeface="KaiTi" panose="02010609060101010101" pitchFamily="49" charset="-122"/>
                <a:ea typeface="KaiTi" panose="02010609060101010101" pitchFamily="49" charset="-122"/>
                <a:cs typeface="Euclid" panose="02020503060505020303" pitchFamily="18" charset="0"/>
              </a:rPr>
              <a:t>剪枝策略</a:t>
            </a:r>
            <a:endParaRPr lang="en-US" altLang="zh-CN" sz="2000" b="1" dirty="0">
              <a:effectLst/>
              <a:latin typeface="KaiTi" panose="02010609060101010101" pitchFamily="49" charset="-122"/>
              <a:ea typeface="KaiTi" panose="02010609060101010101" pitchFamily="49" charset="-122"/>
              <a:cs typeface="Euclid" panose="02020503060505020303" pitchFamily="18" charset="0"/>
            </a:endParaRPr>
          </a:p>
          <a:p>
            <a:pPr>
              <a:lnSpc>
                <a:spcPct val="150000"/>
              </a:lnSpc>
            </a:pPr>
            <a:r>
              <a:rPr lang="zh-CN" altLang="zh-CN" sz="2000" dirty="0">
                <a:effectLst/>
                <a:latin typeface="KaiTi" panose="02010609060101010101" pitchFamily="49" charset="-122"/>
                <a:ea typeface="KaiTi" panose="02010609060101010101" pitchFamily="49" charset="-122"/>
                <a:cs typeface="Euclid" panose="02020503060505020303" pitchFamily="18" charset="0"/>
              </a:rPr>
              <a:t>在节点划分前来确定是否继续增长，及早停止增长</a:t>
            </a:r>
            <a:endParaRPr lang="en-US" altLang="zh-CN" sz="2000" dirty="0">
              <a:effectLst/>
              <a:latin typeface="KaiTi" panose="02010609060101010101" pitchFamily="49" charset="-122"/>
              <a:ea typeface="KaiTi" panose="02010609060101010101" pitchFamily="49" charset="-122"/>
              <a:cs typeface="Euclid" panose="02020503060505020303" pitchFamily="18" charset="0"/>
            </a:endParaRPr>
          </a:p>
          <a:p>
            <a:pPr>
              <a:lnSpc>
                <a:spcPct val="150000"/>
              </a:lnSpc>
            </a:pPr>
            <a:r>
              <a:rPr lang="zh-CN" altLang="zh-CN" sz="2000" dirty="0">
                <a:effectLst/>
                <a:latin typeface="KaiTi" panose="02010609060101010101" pitchFamily="49" charset="-122"/>
                <a:ea typeface="KaiTi" panose="02010609060101010101" pitchFamily="49" charset="-122"/>
                <a:cs typeface="Euclid" panose="02020503060505020303" pitchFamily="18" charset="0"/>
              </a:rPr>
              <a:t>主要方法有：</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节点内数据样本低于某一阈值；</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所有节点特征都已分裂；</a:t>
            </a:r>
          </a:p>
          <a:p>
            <a:pPr marL="342900" lvl="0" indent="-342900" algn="l">
              <a:lnSpc>
                <a:spcPct val="150000"/>
              </a:lnSpc>
              <a:spcAft>
                <a:spcPts val="1000"/>
              </a:spcAft>
              <a:buFont typeface="Arial" panose="020B0604020202020204" pitchFamily="34" charset="0"/>
              <a:buChar char="•"/>
            </a:pP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节点划分前准确率比划分后准确率高。</a:t>
            </a:r>
          </a:p>
        </p:txBody>
      </p:sp>
      <p:sp>
        <p:nvSpPr>
          <p:cNvPr id="33" name="文本框 32">
            <a:extLst>
              <a:ext uri="{FF2B5EF4-FFF2-40B4-BE49-F238E27FC236}">
                <a16:creationId xmlns:a16="http://schemas.microsoft.com/office/drawing/2014/main" id="{967B27B6-0774-4215-8D1E-BFF938CAAAEC}"/>
              </a:ext>
            </a:extLst>
          </p:cNvPr>
          <p:cNvSpPr txBox="1"/>
          <p:nvPr/>
        </p:nvSpPr>
        <p:spPr>
          <a:xfrm>
            <a:off x="2421334" y="5955788"/>
            <a:ext cx="1961083" cy="384721"/>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预剪枝的决策树</a:t>
            </a:r>
          </a:p>
        </p:txBody>
      </p:sp>
      <p:sp>
        <p:nvSpPr>
          <p:cNvPr id="2" name="제목 2">
            <a:extLst>
              <a:ext uri="{FF2B5EF4-FFF2-40B4-BE49-F238E27FC236}">
                <a16:creationId xmlns:a16="http://schemas.microsoft.com/office/drawing/2014/main" id="{EC0BE172-185F-F869-A07A-2269077609D9}"/>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662471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B4FE29-B20D-397B-3956-F835B5277FCA}"/>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5" name="그림 4">
            <a:extLst>
              <a:ext uri="{FF2B5EF4-FFF2-40B4-BE49-F238E27FC236}">
                <a16:creationId xmlns:a16="http://schemas.microsoft.com/office/drawing/2014/main" id="{D7BA577D-37E1-E88F-1C2F-3C4404227D44}"/>
              </a:ext>
            </a:extLst>
          </p:cNvPr>
          <p:cNvPicPr>
            <a:picLocks noChangeAspect="1"/>
          </p:cNvPicPr>
          <p:nvPr/>
        </p:nvPicPr>
        <p:blipFill>
          <a:blip r:embed="rId2"/>
          <a:stretch>
            <a:fillRect/>
          </a:stretch>
        </p:blipFill>
        <p:spPr>
          <a:xfrm>
            <a:off x="1934095" y="1796279"/>
            <a:ext cx="8323809" cy="3590476"/>
          </a:xfrm>
          <a:prstGeom prst="rect">
            <a:avLst/>
          </a:prstGeom>
        </p:spPr>
      </p:pic>
      <p:sp>
        <p:nvSpPr>
          <p:cNvPr id="7" name="TextBox 6">
            <a:extLst>
              <a:ext uri="{FF2B5EF4-FFF2-40B4-BE49-F238E27FC236}">
                <a16:creationId xmlns:a16="http://schemas.microsoft.com/office/drawing/2014/main" id="{EE7A647E-D269-C405-A51C-AA8D991BEF34}"/>
              </a:ext>
            </a:extLst>
          </p:cNvPr>
          <p:cNvSpPr txBox="1"/>
          <p:nvPr/>
        </p:nvSpPr>
        <p:spPr>
          <a:xfrm>
            <a:off x="1934095" y="5544118"/>
            <a:ext cx="8865578" cy="384721"/>
          </a:xfrm>
          <a:prstGeom prst="rect">
            <a:avLst/>
          </a:prstGeom>
          <a:noFill/>
        </p:spPr>
        <p:txBody>
          <a:bodyPr wrap="square">
            <a:spAutoFit/>
          </a:bodyPr>
          <a:lstStyle/>
          <a:p>
            <a:r>
              <a:rPr lang="zh-CN" altLang="en-US" b="0" i="0" dirty="0">
                <a:solidFill>
                  <a:srgbClr val="4D4D4D"/>
                </a:solidFill>
                <a:effectLst/>
                <a:latin typeface="-apple-system"/>
              </a:rPr>
              <a:t>正确率从</a:t>
            </a:r>
            <a:r>
              <a:rPr lang="en-US" altLang="zh-CN" b="0" i="0" dirty="0">
                <a:solidFill>
                  <a:srgbClr val="4D4D4D"/>
                </a:solidFill>
                <a:effectLst/>
                <a:latin typeface="-apple-system"/>
              </a:rPr>
              <a:t>3/7</a:t>
            </a:r>
            <a:r>
              <a:rPr lang="zh-CN" altLang="en-US" b="0" i="0" dirty="0">
                <a:solidFill>
                  <a:srgbClr val="4D4D4D"/>
                </a:solidFill>
                <a:effectLst/>
                <a:latin typeface="-apple-system"/>
              </a:rPr>
              <a:t>提升到</a:t>
            </a:r>
            <a:r>
              <a:rPr lang="en-US" altLang="zh-CN" b="0" i="0" dirty="0">
                <a:solidFill>
                  <a:srgbClr val="4D4D4D"/>
                </a:solidFill>
                <a:effectLst/>
                <a:latin typeface="-apple-system"/>
              </a:rPr>
              <a:t>5/7</a:t>
            </a:r>
            <a:r>
              <a:rPr lang="zh-CN" altLang="en-US" b="0" i="0" dirty="0">
                <a:solidFill>
                  <a:srgbClr val="4D4D4D"/>
                </a:solidFill>
                <a:effectLst/>
                <a:latin typeface="-apple-system"/>
              </a:rPr>
              <a:t>，</a:t>
            </a:r>
            <a:r>
              <a:rPr lang="zh-CN" altLang="en-US" dirty="0"/>
              <a:t>正确率从</a:t>
            </a:r>
            <a:r>
              <a:rPr lang="en-US" altLang="zh-CN" dirty="0"/>
              <a:t>42.9%</a:t>
            </a:r>
            <a:r>
              <a:rPr lang="zh-CN" altLang="en-US" dirty="0"/>
              <a:t>提升至</a:t>
            </a:r>
            <a:r>
              <a:rPr lang="en-US" altLang="zh-CN" dirty="0"/>
              <a:t>71.4%</a:t>
            </a:r>
            <a:r>
              <a:rPr lang="zh-CN" altLang="en-US" b="0" i="0" dirty="0">
                <a:solidFill>
                  <a:srgbClr val="4D4D4D"/>
                </a:solidFill>
                <a:effectLst/>
                <a:latin typeface="-apple-system"/>
              </a:rPr>
              <a:t>，脐部的划分选择保留。</a:t>
            </a:r>
            <a:endParaRPr lang="ko-KR" altLang="en-US" dirty="0"/>
          </a:p>
        </p:txBody>
      </p:sp>
      <p:sp>
        <p:nvSpPr>
          <p:cNvPr id="9" name="TextBox 8">
            <a:extLst>
              <a:ext uri="{FF2B5EF4-FFF2-40B4-BE49-F238E27FC236}">
                <a16:creationId xmlns:a16="http://schemas.microsoft.com/office/drawing/2014/main" id="{CA0F8F35-88CE-F070-0225-29F8E5F173DD}"/>
              </a:ext>
            </a:extLst>
          </p:cNvPr>
          <p:cNvSpPr txBox="1"/>
          <p:nvPr/>
        </p:nvSpPr>
        <p:spPr>
          <a:xfrm>
            <a:off x="350985" y="1314416"/>
            <a:ext cx="6113584" cy="481863"/>
          </a:xfrm>
          <a:prstGeom prst="rect">
            <a:avLst/>
          </a:prstGeom>
          <a:noFill/>
        </p:spPr>
        <p:txBody>
          <a:bodyPr wrap="square">
            <a:spAutoFit/>
          </a:bodyPr>
          <a:lstStyle/>
          <a:p>
            <a:pPr>
              <a:lnSpc>
                <a:spcPct val="150000"/>
              </a:lnSpc>
            </a:pPr>
            <a:r>
              <a:rPr lang="zh-CN" altLang="en-US" sz="2000" b="1" i="0" dirty="0">
                <a:effectLst/>
                <a:latin typeface="KaiTi" panose="02010609060101010101" pitchFamily="49" charset="-122"/>
                <a:ea typeface="KaiTi" panose="02010609060101010101" pitchFamily="49" charset="-122"/>
              </a:rPr>
              <a:t>预剪枝</a:t>
            </a:r>
            <a:endParaRPr lang="zh-CN" altLang="en-US" sz="20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559132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A555FF-1B32-9701-214E-C70284103A72}"/>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6146" name="Picture 2" descr="在这里插入图片描述">
            <a:extLst>
              <a:ext uri="{FF2B5EF4-FFF2-40B4-BE49-F238E27FC236}">
                <a16:creationId xmlns:a16="http://schemas.microsoft.com/office/drawing/2014/main" id="{01FC2E6B-0257-52AF-9DAC-146158EAB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85" y="1155089"/>
            <a:ext cx="6244410" cy="3827219"/>
          </a:xfrm>
          <a:prstGeom prst="rect">
            <a:avLst/>
          </a:prstGeom>
          <a:noFill/>
          <a:extLst>
            <a:ext uri="{909E8E84-426E-40DD-AFC4-6F175D3DCCD1}">
              <a14:hiddenFill xmlns:a14="http://schemas.microsoft.com/office/drawing/2010/main">
                <a:solidFill>
                  <a:srgbClr val="FFFFFF"/>
                </a:solidFill>
              </a14:hiddenFill>
            </a:ext>
          </a:extLst>
        </p:spPr>
      </p:pic>
      <p:pic>
        <p:nvPicPr>
          <p:cNvPr id="6" name="그림 5">
            <a:extLst>
              <a:ext uri="{FF2B5EF4-FFF2-40B4-BE49-F238E27FC236}">
                <a16:creationId xmlns:a16="http://schemas.microsoft.com/office/drawing/2014/main" id="{AB6BDD10-ED60-3200-9055-30763DD1E13C}"/>
              </a:ext>
            </a:extLst>
          </p:cNvPr>
          <p:cNvPicPr>
            <a:picLocks noChangeAspect="1"/>
          </p:cNvPicPr>
          <p:nvPr/>
        </p:nvPicPr>
        <p:blipFill>
          <a:blip r:embed="rId3"/>
          <a:stretch>
            <a:fillRect/>
          </a:stretch>
        </p:blipFill>
        <p:spPr>
          <a:xfrm>
            <a:off x="3758133" y="3327777"/>
            <a:ext cx="7824267" cy="3308547"/>
          </a:xfrm>
          <a:prstGeom prst="rect">
            <a:avLst/>
          </a:prstGeom>
        </p:spPr>
      </p:pic>
      <p:sp>
        <p:nvSpPr>
          <p:cNvPr id="7" name="文本框 19">
            <a:extLst>
              <a:ext uri="{FF2B5EF4-FFF2-40B4-BE49-F238E27FC236}">
                <a16:creationId xmlns:a16="http://schemas.microsoft.com/office/drawing/2014/main" id="{D0A6A3BD-8485-9A87-AB44-D4B8AE1F63DE}"/>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预剪枝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98442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A05A18-AFD3-A85B-D96C-67295535384F}"/>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7170" name="Picture 2" descr="在这里插入图片描述">
            <a:extLst>
              <a:ext uri="{FF2B5EF4-FFF2-40B4-BE49-F238E27FC236}">
                <a16:creationId xmlns:a16="http://schemas.microsoft.com/office/drawing/2014/main" id="{1CCED223-8052-7766-03DF-22BB6B693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052" y="1151331"/>
            <a:ext cx="5045183" cy="4069180"/>
          </a:xfrm>
          <a:prstGeom prst="rect">
            <a:avLst/>
          </a:prstGeom>
          <a:noFill/>
          <a:extLst>
            <a:ext uri="{909E8E84-426E-40DD-AFC4-6F175D3DCCD1}">
              <a14:hiddenFill xmlns:a14="http://schemas.microsoft.com/office/drawing/2010/main">
                <a:solidFill>
                  <a:srgbClr val="FFFFFF"/>
                </a:solidFill>
              </a14:hiddenFill>
            </a:ext>
          </a:extLst>
        </p:spPr>
      </p:pic>
      <p:pic>
        <p:nvPicPr>
          <p:cNvPr id="5" name="그림 4">
            <a:extLst>
              <a:ext uri="{FF2B5EF4-FFF2-40B4-BE49-F238E27FC236}">
                <a16:creationId xmlns:a16="http://schemas.microsoft.com/office/drawing/2014/main" id="{565B0E3D-4C35-0863-256D-002B4EBB4CC2}"/>
              </a:ext>
            </a:extLst>
          </p:cNvPr>
          <p:cNvPicPr>
            <a:picLocks noChangeAspect="1"/>
          </p:cNvPicPr>
          <p:nvPr/>
        </p:nvPicPr>
        <p:blipFill>
          <a:blip r:embed="rId3"/>
          <a:stretch>
            <a:fillRect/>
          </a:stretch>
        </p:blipFill>
        <p:spPr>
          <a:xfrm>
            <a:off x="4949585" y="3651738"/>
            <a:ext cx="6679710" cy="2885820"/>
          </a:xfrm>
          <a:prstGeom prst="rect">
            <a:avLst/>
          </a:prstGeom>
        </p:spPr>
      </p:pic>
      <p:sp>
        <p:nvSpPr>
          <p:cNvPr id="6" name="文本框 19">
            <a:extLst>
              <a:ext uri="{FF2B5EF4-FFF2-40B4-BE49-F238E27FC236}">
                <a16:creationId xmlns:a16="http://schemas.microsoft.com/office/drawing/2014/main" id="{13996AFD-B353-0F77-2E08-C3CFE02CCB17}"/>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预剪枝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852885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FBEB29C-64E7-72C3-2708-A01DB763F3E8}"/>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8194" name="Picture 2" descr="在这里插入图片描述">
            <a:extLst>
              <a:ext uri="{FF2B5EF4-FFF2-40B4-BE49-F238E27FC236}">
                <a16:creationId xmlns:a16="http://schemas.microsoft.com/office/drawing/2014/main" id="{4AEB865D-7841-7881-6AFC-CFA3F5342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2205038"/>
            <a:ext cx="9048750" cy="24479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9">
            <a:extLst>
              <a:ext uri="{FF2B5EF4-FFF2-40B4-BE49-F238E27FC236}">
                <a16:creationId xmlns:a16="http://schemas.microsoft.com/office/drawing/2014/main" id="{688A937A-39ED-B989-D989-344CD293E7ED}"/>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预剪枝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239984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graphicFrame>
        <p:nvGraphicFramePr>
          <p:cNvPr id="5" name="表格 4">
            <a:extLst>
              <a:ext uri="{FF2B5EF4-FFF2-40B4-BE49-F238E27FC236}">
                <a16:creationId xmlns:a16="http://schemas.microsoft.com/office/drawing/2014/main" id="{1DF549E0-CCC7-4FC2-BB93-A4A0102E32C8}"/>
              </a:ext>
            </a:extLst>
          </p:cNvPr>
          <p:cNvGraphicFramePr>
            <a:graphicFrameLocks noGrp="1"/>
          </p:cNvGraphicFramePr>
          <p:nvPr/>
        </p:nvGraphicFramePr>
        <p:xfrm>
          <a:off x="6575611" y="1719904"/>
          <a:ext cx="5227357" cy="2221230"/>
        </p:xfrm>
        <a:graphic>
          <a:graphicData uri="http://schemas.openxmlformats.org/drawingml/2006/table">
            <a:tbl>
              <a:tblPr firstRow="1" firstCol="1" bandRow="1">
                <a:tableStyleId>{93296810-A885-4BE3-A3E7-6D5BEEA58F35}</a:tableStyleId>
              </a:tblPr>
              <a:tblGrid>
                <a:gridCol w="646326">
                  <a:extLst>
                    <a:ext uri="{9D8B030D-6E8A-4147-A177-3AD203B41FA5}">
                      <a16:colId xmlns:a16="http://schemas.microsoft.com/office/drawing/2014/main" val="3293487446"/>
                    </a:ext>
                  </a:extLst>
                </a:gridCol>
                <a:gridCol w="653262">
                  <a:extLst>
                    <a:ext uri="{9D8B030D-6E8A-4147-A177-3AD203B41FA5}">
                      <a16:colId xmlns:a16="http://schemas.microsoft.com/office/drawing/2014/main" val="386253756"/>
                    </a:ext>
                  </a:extLst>
                </a:gridCol>
                <a:gridCol w="660198">
                  <a:extLst>
                    <a:ext uri="{9D8B030D-6E8A-4147-A177-3AD203B41FA5}">
                      <a16:colId xmlns:a16="http://schemas.microsoft.com/office/drawing/2014/main" val="2640380126"/>
                    </a:ext>
                  </a:extLst>
                </a:gridCol>
                <a:gridCol w="653262">
                  <a:extLst>
                    <a:ext uri="{9D8B030D-6E8A-4147-A177-3AD203B41FA5}">
                      <a16:colId xmlns:a16="http://schemas.microsoft.com/office/drawing/2014/main" val="3464683554"/>
                    </a:ext>
                  </a:extLst>
                </a:gridCol>
                <a:gridCol w="660198">
                  <a:extLst>
                    <a:ext uri="{9D8B030D-6E8A-4147-A177-3AD203B41FA5}">
                      <a16:colId xmlns:a16="http://schemas.microsoft.com/office/drawing/2014/main" val="866107626"/>
                    </a:ext>
                  </a:extLst>
                </a:gridCol>
                <a:gridCol w="660198">
                  <a:extLst>
                    <a:ext uri="{9D8B030D-6E8A-4147-A177-3AD203B41FA5}">
                      <a16:colId xmlns:a16="http://schemas.microsoft.com/office/drawing/2014/main" val="527232932"/>
                    </a:ext>
                  </a:extLst>
                </a:gridCol>
                <a:gridCol w="660198">
                  <a:extLst>
                    <a:ext uri="{9D8B030D-6E8A-4147-A177-3AD203B41FA5}">
                      <a16:colId xmlns:a16="http://schemas.microsoft.com/office/drawing/2014/main" val="225318252"/>
                    </a:ext>
                  </a:extLst>
                </a:gridCol>
                <a:gridCol w="633715">
                  <a:extLst>
                    <a:ext uri="{9D8B030D-6E8A-4147-A177-3AD203B41FA5}">
                      <a16:colId xmlns:a16="http://schemas.microsoft.com/office/drawing/2014/main" val="2660412007"/>
                    </a:ext>
                  </a:extLst>
                </a:gridCol>
              </a:tblGrid>
              <a:tr h="127000">
                <a:tc>
                  <a:txBody>
                    <a:bodyPr/>
                    <a:lstStyle/>
                    <a:p>
                      <a:pPr algn="ctr"/>
                      <a:r>
                        <a:rPr lang="zh-CN" sz="1200" kern="0">
                          <a:effectLst/>
                          <a:latin typeface="KaiTi" panose="02010609060101010101" pitchFamily="49" charset="-122"/>
                          <a:ea typeface="KaiTi" panose="02010609060101010101" pitchFamily="49" charset="-122"/>
                        </a:rPr>
                        <a:t>编号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色泽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根蒂</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敲声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纹理</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脐部</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触感</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好瓜</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57138875"/>
                  </a:ext>
                </a:extLst>
              </a:tr>
              <a:tr h="127000">
                <a:tc>
                  <a:txBody>
                    <a:bodyPr/>
                    <a:lstStyle/>
                    <a:p>
                      <a:pPr algn="ctr"/>
                      <a:r>
                        <a:rPr lang="en-US" sz="1200" kern="0">
                          <a:effectLst/>
                          <a:latin typeface="KaiTi" panose="02010609060101010101" pitchFamily="49" charset="-122"/>
                          <a:ea typeface="KaiTi" panose="02010609060101010101" pitchFamily="49" charset="-122"/>
                        </a:rPr>
                        <a:t>1</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青绿</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32621448"/>
                  </a:ext>
                </a:extLst>
              </a:tr>
              <a:tr h="127000">
                <a:tc>
                  <a:txBody>
                    <a:bodyPr/>
                    <a:lstStyle/>
                    <a:p>
                      <a:pPr algn="ctr"/>
                      <a:r>
                        <a:rPr lang="en-US" sz="1200" kern="0">
                          <a:effectLst/>
                          <a:latin typeface="KaiTi" panose="02010609060101010101" pitchFamily="49" charset="-122"/>
                          <a:ea typeface="KaiTi" panose="02010609060101010101" pitchFamily="49" charset="-122"/>
                        </a:rPr>
                        <a:t>2</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乌黑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沉闷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02747196"/>
                  </a:ext>
                </a:extLst>
              </a:tr>
              <a:tr h="127000">
                <a:tc>
                  <a:txBody>
                    <a:bodyPr/>
                    <a:lstStyle/>
                    <a:p>
                      <a:pPr algn="ctr"/>
                      <a:r>
                        <a:rPr lang="en-US" sz="1200" kern="0">
                          <a:effectLst/>
                          <a:latin typeface="KaiTi" panose="02010609060101010101" pitchFamily="49" charset="-122"/>
                          <a:ea typeface="KaiTi" panose="02010609060101010101" pitchFamily="49" charset="-122"/>
                        </a:rPr>
                        <a:t>3</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乌黑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730608035"/>
                  </a:ext>
                </a:extLst>
              </a:tr>
              <a:tr h="127000">
                <a:tc>
                  <a:txBody>
                    <a:bodyPr/>
                    <a:lstStyle/>
                    <a:p>
                      <a:pPr algn="ctr"/>
                      <a:r>
                        <a:rPr lang="en-US" sz="1200" kern="0" dirty="0">
                          <a:effectLst/>
                          <a:latin typeface="KaiTi" panose="02010609060101010101" pitchFamily="49" charset="-122"/>
                          <a:ea typeface="KaiTi" panose="02010609060101010101" pitchFamily="49" charset="-122"/>
                        </a:rPr>
                        <a:t>6</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青绿</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稍凹</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软粘</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89961209"/>
                  </a:ext>
                </a:extLst>
              </a:tr>
              <a:tr h="127000">
                <a:tc>
                  <a:txBody>
                    <a:bodyPr/>
                    <a:lstStyle/>
                    <a:p>
                      <a:pPr algn="ctr"/>
                      <a:r>
                        <a:rPr lang="en-US" sz="1200" kern="0" dirty="0">
                          <a:effectLst/>
                          <a:latin typeface="KaiTi" panose="02010609060101010101" pitchFamily="49" charset="-122"/>
                          <a:ea typeface="KaiTi" panose="02010609060101010101" pitchFamily="49" charset="-122"/>
                        </a:rPr>
                        <a:t>7</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乌黑</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稍蜷</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浊响</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稍糊</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稍凹</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软粘</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是</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2394645"/>
                  </a:ext>
                </a:extLst>
              </a:tr>
              <a:tr h="127000">
                <a:tc>
                  <a:txBody>
                    <a:bodyPr/>
                    <a:lstStyle/>
                    <a:p>
                      <a:pPr algn="ctr"/>
                      <a:r>
                        <a:rPr lang="en-US" sz="1200" kern="0">
                          <a:effectLst/>
                          <a:latin typeface="KaiTi" panose="02010609060101010101" pitchFamily="49" charset="-122"/>
                          <a:ea typeface="KaiTi" panose="02010609060101010101" pitchFamily="49" charset="-122"/>
                        </a:rPr>
                        <a:t>10</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青绿</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硬挺</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清脆</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清晰</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平坦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软粘</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否</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27726043"/>
                  </a:ext>
                </a:extLst>
              </a:tr>
              <a:tr h="127000">
                <a:tc>
                  <a:txBody>
                    <a:bodyPr/>
                    <a:lstStyle/>
                    <a:p>
                      <a:pPr algn="ctr"/>
                      <a:r>
                        <a:rPr lang="en-US" sz="1200" kern="0">
                          <a:effectLst/>
                          <a:latin typeface="KaiTi" panose="02010609060101010101" pitchFamily="49" charset="-122"/>
                          <a:ea typeface="KaiTi" panose="02010609060101010101" pitchFamily="49" charset="-122"/>
                        </a:rPr>
                        <a:t>14</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浅白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沉闷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612363080"/>
                  </a:ext>
                </a:extLst>
              </a:tr>
              <a:tr h="127000">
                <a:tc>
                  <a:txBody>
                    <a:bodyPr/>
                    <a:lstStyle/>
                    <a:p>
                      <a:pPr algn="ctr"/>
                      <a:r>
                        <a:rPr lang="en-US" sz="1200" kern="0">
                          <a:effectLst/>
                          <a:latin typeface="KaiTi" panose="02010609060101010101" pitchFamily="49" charset="-122"/>
                          <a:ea typeface="KaiTi" panose="02010609060101010101" pitchFamily="49" charset="-122"/>
                        </a:rPr>
                        <a:t>15</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乌黑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稍凹</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软粘</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4129791"/>
                  </a:ext>
                </a:extLst>
              </a:tr>
              <a:tr h="127000">
                <a:tc>
                  <a:txBody>
                    <a:bodyPr/>
                    <a:lstStyle/>
                    <a:p>
                      <a:pPr algn="ctr"/>
                      <a:r>
                        <a:rPr lang="en-US" sz="1200" kern="0">
                          <a:effectLst/>
                          <a:latin typeface="KaiTi" panose="02010609060101010101" pitchFamily="49" charset="-122"/>
                          <a:ea typeface="KaiTi" panose="02010609060101010101" pitchFamily="49" charset="-122"/>
                        </a:rPr>
                        <a:t>16</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浅白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模糊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平坦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987562583"/>
                  </a:ext>
                </a:extLst>
              </a:tr>
              <a:tr h="127000">
                <a:tc>
                  <a:txBody>
                    <a:bodyPr/>
                    <a:lstStyle/>
                    <a:p>
                      <a:pPr algn="ctr"/>
                      <a:r>
                        <a:rPr lang="en-US" sz="1200" kern="0" dirty="0">
                          <a:effectLst/>
                          <a:latin typeface="KaiTi" panose="02010609060101010101" pitchFamily="49" charset="-122"/>
                          <a:ea typeface="KaiTi" panose="02010609060101010101" pitchFamily="49" charset="-122"/>
                        </a:rPr>
                        <a:t>17</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青绿</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蜷缩</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沉闷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稍凹</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否</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96866431"/>
                  </a:ext>
                </a:extLst>
              </a:tr>
            </a:tbl>
          </a:graphicData>
        </a:graphic>
      </p:graphicFrame>
      <p:graphicFrame>
        <p:nvGraphicFramePr>
          <p:cNvPr id="11" name="表格 10">
            <a:extLst>
              <a:ext uri="{FF2B5EF4-FFF2-40B4-BE49-F238E27FC236}">
                <a16:creationId xmlns:a16="http://schemas.microsoft.com/office/drawing/2014/main" id="{1849B364-4594-4ADD-BBE8-41009B4C549E}"/>
              </a:ext>
            </a:extLst>
          </p:cNvPr>
          <p:cNvGraphicFramePr>
            <a:graphicFrameLocks noGrp="1"/>
          </p:cNvGraphicFramePr>
          <p:nvPr/>
        </p:nvGraphicFramePr>
        <p:xfrm>
          <a:off x="6575611" y="4817160"/>
          <a:ext cx="5227357" cy="1615440"/>
        </p:xfrm>
        <a:graphic>
          <a:graphicData uri="http://schemas.openxmlformats.org/drawingml/2006/table">
            <a:tbl>
              <a:tblPr firstRow="1" firstCol="1" bandRow="1">
                <a:tableStyleId>{21E4AEA4-8DFA-4A89-87EB-49C32662AFE0}</a:tableStyleId>
              </a:tblPr>
              <a:tblGrid>
                <a:gridCol w="640085">
                  <a:extLst>
                    <a:ext uri="{9D8B030D-6E8A-4147-A177-3AD203B41FA5}">
                      <a16:colId xmlns:a16="http://schemas.microsoft.com/office/drawing/2014/main" val="2652304926"/>
                    </a:ext>
                  </a:extLst>
                </a:gridCol>
                <a:gridCol w="654308">
                  <a:extLst>
                    <a:ext uri="{9D8B030D-6E8A-4147-A177-3AD203B41FA5}">
                      <a16:colId xmlns:a16="http://schemas.microsoft.com/office/drawing/2014/main" val="3296771878"/>
                    </a:ext>
                  </a:extLst>
                </a:gridCol>
                <a:gridCol w="661421">
                  <a:extLst>
                    <a:ext uri="{9D8B030D-6E8A-4147-A177-3AD203B41FA5}">
                      <a16:colId xmlns:a16="http://schemas.microsoft.com/office/drawing/2014/main" val="3012036665"/>
                    </a:ext>
                  </a:extLst>
                </a:gridCol>
                <a:gridCol w="654308">
                  <a:extLst>
                    <a:ext uri="{9D8B030D-6E8A-4147-A177-3AD203B41FA5}">
                      <a16:colId xmlns:a16="http://schemas.microsoft.com/office/drawing/2014/main" val="4034501041"/>
                    </a:ext>
                  </a:extLst>
                </a:gridCol>
                <a:gridCol w="661421">
                  <a:extLst>
                    <a:ext uri="{9D8B030D-6E8A-4147-A177-3AD203B41FA5}">
                      <a16:colId xmlns:a16="http://schemas.microsoft.com/office/drawing/2014/main" val="2790693418"/>
                    </a:ext>
                  </a:extLst>
                </a:gridCol>
                <a:gridCol w="661421">
                  <a:extLst>
                    <a:ext uri="{9D8B030D-6E8A-4147-A177-3AD203B41FA5}">
                      <a16:colId xmlns:a16="http://schemas.microsoft.com/office/drawing/2014/main" val="3255700682"/>
                    </a:ext>
                  </a:extLst>
                </a:gridCol>
                <a:gridCol w="661421">
                  <a:extLst>
                    <a:ext uri="{9D8B030D-6E8A-4147-A177-3AD203B41FA5}">
                      <a16:colId xmlns:a16="http://schemas.microsoft.com/office/drawing/2014/main" val="3276869180"/>
                    </a:ext>
                  </a:extLst>
                </a:gridCol>
                <a:gridCol w="632972">
                  <a:extLst>
                    <a:ext uri="{9D8B030D-6E8A-4147-A177-3AD203B41FA5}">
                      <a16:colId xmlns:a16="http://schemas.microsoft.com/office/drawing/2014/main" val="2113032772"/>
                    </a:ext>
                  </a:extLst>
                </a:gridCol>
              </a:tblGrid>
              <a:tr h="127000">
                <a:tc>
                  <a:txBody>
                    <a:bodyPr/>
                    <a:lstStyle/>
                    <a:p>
                      <a:pPr algn="ctr"/>
                      <a:r>
                        <a:rPr lang="zh-CN" sz="1200" kern="0" dirty="0">
                          <a:effectLst/>
                          <a:latin typeface="KaiTi" panose="02010609060101010101" pitchFamily="49" charset="-122"/>
                          <a:ea typeface="KaiTi" panose="02010609060101010101" pitchFamily="49" charset="-122"/>
                        </a:rPr>
                        <a:t>编号</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色泽</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根蒂</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敲声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纹理</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脐部</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触感</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好瓜</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42060005"/>
                  </a:ext>
                </a:extLst>
              </a:tr>
              <a:tr h="127000">
                <a:tc>
                  <a:txBody>
                    <a:bodyPr/>
                    <a:lstStyle/>
                    <a:p>
                      <a:pPr algn="ctr"/>
                      <a:r>
                        <a:rPr lang="en-US" sz="1200" kern="0">
                          <a:effectLst/>
                          <a:latin typeface="KaiTi" panose="02010609060101010101" pitchFamily="49" charset="-122"/>
                          <a:ea typeface="KaiTi" panose="02010609060101010101" pitchFamily="49" charset="-122"/>
                        </a:rPr>
                        <a:t>4</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青绿</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沉闷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47558474"/>
                  </a:ext>
                </a:extLst>
              </a:tr>
              <a:tr h="127000">
                <a:tc>
                  <a:txBody>
                    <a:bodyPr/>
                    <a:lstStyle/>
                    <a:p>
                      <a:pPr algn="ctr"/>
                      <a:r>
                        <a:rPr lang="en-US" sz="1200" kern="0">
                          <a:effectLst/>
                          <a:latin typeface="KaiTi" panose="02010609060101010101" pitchFamily="49" charset="-122"/>
                          <a:ea typeface="KaiTi" panose="02010609060101010101" pitchFamily="49" charset="-122"/>
                        </a:rPr>
                        <a:t>5</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浅白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872323030"/>
                  </a:ext>
                </a:extLst>
              </a:tr>
              <a:tr h="127000">
                <a:tc>
                  <a:txBody>
                    <a:bodyPr/>
                    <a:lstStyle/>
                    <a:p>
                      <a:pPr algn="ctr"/>
                      <a:r>
                        <a:rPr lang="en-US" sz="1200" kern="0">
                          <a:effectLst/>
                          <a:latin typeface="KaiTi" panose="02010609060101010101" pitchFamily="49" charset="-122"/>
                          <a:ea typeface="KaiTi" panose="02010609060101010101" pitchFamily="49" charset="-122"/>
                        </a:rPr>
                        <a:t>8</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乌黑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清晰</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稍凹</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是</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70080407"/>
                  </a:ext>
                </a:extLst>
              </a:tr>
              <a:tr h="127000">
                <a:tc>
                  <a:txBody>
                    <a:bodyPr/>
                    <a:lstStyle/>
                    <a:p>
                      <a:pPr algn="ctr"/>
                      <a:r>
                        <a:rPr lang="en-US" sz="1200" kern="0">
                          <a:effectLst/>
                          <a:latin typeface="KaiTi" panose="02010609060101010101" pitchFamily="49" charset="-122"/>
                          <a:ea typeface="KaiTi" panose="02010609060101010101" pitchFamily="49" charset="-122"/>
                        </a:rPr>
                        <a:t>9</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乌黑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沉闷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稍凹</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7771892"/>
                  </a:ext>
                </a:extLst>
              </a:tr>
              <a:tr h="127000">
                <a:tc>
                  <a:txBody>
                    <a:bodyPr/>
                    <a:lstStyle/>
                    <a:p>
                      <a:pPr algn="ctr"/>
                      <a:r>
                        <a:rPr lang="en-US" sz="1200" kern="0">
                          <a:effectLst/>
                          <a:latin typeface="KaiTi" panose="02010609060101010101" pitchFamily="49" charset="-122"/>
                          <a:ea typeface="KaiTi" panose="02010609060101010101" pitchFamily="49" charset="-122"/>
                        </a:rPr>
                        <a:t>11</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浅白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硬挺</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清脆</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模糊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平坦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056102755"/>
                  </a:ext>
                </a:extLst>
              </a:tr>
              <a:tr h="127000">
                <a:tc>
                  <a:txBody>
                    <a:bodyPr/>
                    <a:lstStyle/>
                    <a:p>
                      <a:pPr algn="ctr"/>
                      <a:r>
                        <a:rPr lang="en-US" sz="1200" kern="0">
                          <a:effectLst/>
                          <a:latin typeface="KaiTi" panose="02010609060101010101" pitchFamily="49" charset="-122"/>
                          <a:ea typeface="KaiTi" panose="02010609060101010101" pitchFamily="49" charset="-122"/>
                        </a:rPr>
                        <a:t>12</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浅白</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蜷缩</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模糊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平坦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软粘</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否</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996060309"/>
                  </a:ext>
                </a:extLst>
              </a:tr>
              <a:tr h="127000">
                <a:tc>
                  <a:txBody>
                    <a:bodyPr/>
                    <a:lstStyle/>
                    <a:p>
                      <a:pPr algn="ctr"/>
                      <a:r>
                        <a:rPr lang="en-US" sz="1200" kern="0">
                          <a:effectLst/>
                          <a:latin typeface="KaiTi" panose="02010609060101010101" pitchFamily="49" charset="-122"/>
                          <a:ea typeface="KaiTi" panose="02010609060101010101" pitchFamily="49" charset="-122"/>
                        </a:rPr>
                        <a:t>13</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青绿</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浊响</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稍糊</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凹陷</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a:effectLst/>
                          <a:latin typeface="KaiTi" panose="02010609060101010101" pitchFamily="49" charset="-122"/>
                          <a:ea typeface="KaiTi" panose="02010609060101010101" pitchFamily="49" charset="-122"/>
                        </a:rPr>
                        <a:t>硬滑</a:t>
                      </a:r>
                      <a:endParaRPr lang="zh-CN" sz="105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zh-CN" sz="1200" kern="0" dirty="0">
                          <a:effectLst/>
                          <a:latin typeface="KaiTi" panose="02010609060101010101" pitchFamily="49" charset="-122"/>
                          <a:ea typeface="KaiTi" panose="02010609060101010101" pitchFamily="49" charset="-122"/>
                        </a:rPr>
                        <a:t>否</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66607762"/>
                  </a:ext>
                </a:extLst>
              </a:tr>
            </a:tbl>
          </a:graphicData>
        </a:graphic>
      </p:graphicFrame>
      <p:sp>
        <p:nvSpPr>
          <p:cNvPr id="14" name="文本框 13">
            <a:extLst>
              <a:ext uri="{FF2B5EF4-FFF2-40B4-BE49-F238E27FC236}">
                <a16:creationId xmlns:a16="http://schemas.microsoft.com/office/drawing/2014/main" id="{62F5E553-552C-4B75-BBFB-4EAE739D1361}"/>
              </a:ext>
            </a:extLst>
          </p:cNvPr>
          <p:cNvSpPr txBox="1"/>
          <p:nvPr/>
        </p:nvSpPr>
        <p:spPr>
          <a:xfrm>
            <a:off x="6459270" y="1197325"/>
            <a:ext cx="1140851" cy="458459"/>
          </a:xfrm>
          <a:prstGeom prst="rect">
            <a:avLst/>
          </a:prstGeom>
          <a:noFill/>
        </p:spPr>
        <p:txBody>
          <a:bodyPr wrap="square">
            <a:spAutoFit/>
          </a:bodyPr>
          <a:lstStyle/>
          <a:p>
            <a:pPr>
              <a:lnSpc>
                <a:spcPct val="150000"/>
              </a:lnSpc>
            </a:pPr>
            <a:r>
              <a:rPr lang="zh-CN" altLang="en-US" sz="1800" b="1" i="0" dirty="0">
                <a:effectLst/>
                <a:latin typeface="KaiTi" panose="02010609060101010101" pitchFamily="49" charset="-122"/>
                <a:ea typeface="KaiTi" panose="02010609060101010101" pitchFamily="49" charset="-122"/>
              </a:rPr>
              <a:t>训练集</a:t>
            </a:r>
            <a:endParaRPr lang="zh-CN" altLang="en-US" sz="1800" b="1" dirty="0">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F1640F0-5012-4E3F-82B3-5D5A81999197}"/>
              </a:ext>
            </a:extLst>
          </p:cNvPr>
          <p:cNvSpPr txBox="1"/>
          <p:nvPr/>
        </p:nvSpPr>
        <p:spPr>
          <a:xfrm>
            <a:off x="6459270" y="4269621"/>
            <a:ext cx="1140851" cy="458459"/>
          </a:xfrm>
          <a:prstGeom prst="rect">
            <a:avLst/>
          </a:prstGeom>
          <a:noFill/>
        </p:spPr>
        <p:txBody>
          <a:bodyPr wrap="square">
            <a:spAutoFit/>
          </a:bodyPr>
          <a:lstStyle/>
          <a:p>
            <a:pPr>
              <a:lnSpc>
                <a:spcPct val="150000"/>
              </a:lnSpc>
            </a:pPr>
            <a:r>
              <a:rPr lang="zh-CN" altLang="en-US" sz="1800" b="1" i="0" dirty="0">
                <a:effectLst/>
                <a:latin typeface="KaiTi" panose="02010609060101010101" pitchFamily="49" charset="-122"/>
                <a:ea typeface="KaiTi" panose="02010609060101010101" pitchFamily="49" charset="-122"/>
              </a:rPr>
              <a:t>验证集</a:t>
            </a:r>
            <a:endParaRPr lang="zh-CN" altLang="en-US" sz="1800" b="1" dirty="0">
              <a:latin typeface="KaiTi" panose="02010609060101010101" pitchFamily="49" charset="-122"/>
              <a:ea typeface="KaiTi" panose="02010609060101010101" pitchFamily="49" charset="-122"/>
            </a:endParaRPr>
          </a:p>
        </p:txBody>
      </p:sp>
      <p:sp>
        <p:nvSpPr>
          <p:cNvPr id="73" name="文本框 72">
            <a:extLst>
              <a:ext uri="{FF2B5EF4-FFF2-40B4-BE49-F238E27FC236}">
                <a16:creationId xmlns:a16="http://schemas.microsoft.com/office/drawing/2014/main" id="{16877BC6-9B5F-4AF0-BCAD-2AC06964CDB7}"/>
              </a:ext>
            </a:extLst>
          </p:cNvPr>
          <p:cNvSpPr txBox="1"/>
          <p:nvPr/>
        </p:nvSpPr>
        <p:spPr>
          <a:xfrm>
            <a:off x="526722" y="2126521"/>
            <a:ext cx="5479723" cy="3351046"/>
          </a:xfrm>
          <a:prstGeom prst="rect">
            <a:avLst/>
          </a:prstGeom>
          <a:noFill/>
        </p:spPr>
        <p:txBody>
          <a:bodyPr wrap="square">
            <a:spAutoFit/>
          </a:bodyPr>
          <a:lstStyle/>
          <a:p>
            <a:pPr marL="0" marR="0" lvl="0" indent="0" algn="l" defTabSz="914400" rtl="0" eaLnBrk="0" fontAlgn="base" latinLnBrk="0" hangingPunct="0">
              <a:lnSpc>
                <a:spcPct val="150000"/>
              </a:lnSpc>
              <a:spcBef>
                <a:spcPct val="30000"/>
              </a:spcBef>
              <a:spcAft>
                <a:spcPct val="0"/>
              </a:spcAft>
              <a:buClrTx/>
              <a:buSzTx/>
              <a:buFontTx/>
              <a:buNone/>
              <a:tabLst/>
              <a:defRPr/>
            </a:pPr>
            <a:r>
              <a:rPr lang="zh-CN" altLang="zh-CN" sz="2400" dirty="0">
                <a:effectLst/>
                <a:latin typeface="KaiTi" panose="02010609060101010101" pitchFamily="49" charset="-122"/>
                <a:ea typeface="KaiTi" panose="02010609060101010101" pitchFamily="49" charset="-122"/>
                <a:cs typeface="Euclid" panose="02020503060505020303" pitchFamily="18" charset="0"/>
              </a:rPr>
              <a:t>在已经生成的决策树上进行剪枝，从而得到简化版的剪枝决策树。</a:t>
            </a:r>
          </a:p>
          <a:p>
            <a:pPr>
              <a:lnSpc>
                <a:spcPct val="150000"/>
              </a:lnSpc>
            </a:pP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后剪枝决策树通常比预剪枝决策树保留了更多的分支。一般情况下，后剪枝的欠拟合风险更小，泛化性能往往优于预剪枝决策树。</a:t>
            </a:r>
            <a:endParaRPr lang="zh-CN" altLang="en-US" dirty="0">
              <a:latin typeface="KaiTi" panose="02010609060101010101" pitchFamily="49" charset="-122"/>
              <a:ea typeface="KaiTi" panose="02010609060101010101" pitchFamily="49" charset="-122"/>
            </a:endParaRPr>
          </a:p>
        </p:txBody>
      </p:sp>
      <p:sp>
        <p:nvSpPr>
          <p:cNvPr id="2" name="제목 2">
            <a:extLst>
              <a:ext uri="{FF2B5EF4-FFF2-40B4-BE49-F238E27FC236}">
                <a16:creationId xmlns:a16="http://schemas.microsoft.com/office/drawing/2014/main" id="{FA6A1EEF-AFB0-09B8-E278-8621F076F18C}"/>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3801945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8" name="文本框 17">
            <a:extLst>
              <a:ext uri="{FF2B5EF4-FFF2-40B4-BE49-F238E27FC236}">
                <a16:creationId xmlns:a16="http://schemas.microsoft.com/office/drawing/2014/main" id="{1D731450-6F13-403C-B39A-80FDEDCA9BCB}"/>
              </a:ext>
            </a:extLst>
          </p:cNvPr>
          <p:cNvSpPr txBox="1"/>
          <p:nvPr/>
        </p:nvSpPr>
        <p:spPr>
          <a:xfrm>
            <a:off x="1660461" y="6246115"/>
            <a:ext cx="3326946" cy="384721"/>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基于表生成未剪枝的决策树</a:t>
            </a:r>
          </a:p>
        </p:txBody>
      </p:sp>
      <p:cxnSp>
        <p:nvCxnSpPr>
          <p:cNvPr id="12" name="直接箭头连接符 11">
            <a:extLst>
              <a:ext uri="{FF2B5EF4-FFF2-40B4-BE49-F238E27FC236}">
                <a16:creationId xmlns:a16="http://schemas.microsoft.com/office/drawing/2014/main" id="{1229DE46-E59C-4882-BA54-F75F23A1EBD8}"/>
              </a:ext>
            </a:extLst>
          </p:cNvPr>
          <p:cNvCxnSpPr>
            <a:cxnSpLocks/>
            <a:stCxn id="28" idx="2"/>
          </p:cNvCxnSpPr>
          <p:nvPr/>
        </p:nvCxnSpPr>
        <p:spPr>
          <a:xfrm flipH="1">
            <a:off x="1638860" y="2196887"/>
            <a:ext cx="1299784" cy="5643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EDFDF60-8CC3-4DF0-9895-E28DF988549B}"/>
              </a:ext>
            </a:extLst>
          </p:cNvPr>
          <p:cNvCxnSpPr>
            <a:cxnSpLocks/>
            <a:stCxn id="28" idx="6"/>
          </p:cNvCxnSpPr>
          <p:nvPr/>
        </p:nvCxnSpPr>
        <p:spPr>
          <a:xfrm>
            <a:off x="3794280" y="2196887"/>
            <a:ext cx="1652599" cy="62898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7E6E6C2-322D-4CDC-A932-14DE781D0437}"/>
              </a:ext>
            </a:extLst>
          </p:cNvPr>
          <p:cNvCxnSpPr>
            <a:cxnSpLocks/>
            <a:endCxn id="23" idx="0"/>
          </p:cNvCxnSpPr>
          <p:nvPr/>
        </p:nvCxnSpPr>
        <p:spPr>
          <a:xfrm flipH="1">
            <a:off x="3483607" y="2738557"/>
            <a:ext cx="515160" cy="85163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1B253DF-C205-438E-BBD0-F6A0515CBD7A}"/>
              </a:ext>
            </a:extLst>
          </p:cNvPr>
          <p:cNvCxnSpPr>
            <a:cxnSpLocks/>
          </p:cNvCxnSpPr>
          <p:nvPr/>
        </p:nvCxnSpPr>
        <p:spPr>
          <a:xfrm>
            <a:off x="3222761" y="2020950"/>
            <a:ext cx="640078" cy="65749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4A1DE0E-8287-4088-A9C5-BCD3A4246F17}"/>
              </a:ext>
            </a:extLst>
          </p:cNvPr>
          <p:cNvSpPr txBox="1"/>
          <p:nvPr/>
        </p:nvSpPr>
        <p:spPr>
          <a:xfrm>
            <a:off x="4407621" y="216671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平坦</a:t>
            </a:r>
          </a:p>
        </p:txBody>
      </p:sp>
      <p:sp>
        <p:nvSpPr>
          <p:cNvPr id="22" name="椭圆 21">
            <a:extLst>
              <a:ext uri="{FF2B5EF4-FFF2-40B4-BE49-F238E27FC236}">
                <a16:creationId xmlns:a16="http://schemas.microsoft.com/office/drawing/2014/main" id="{69DAD029-3DDF-4146-8C77-47DAD0D8E672}"/>
              </a:ext>
            </a:extLst>
          </p:cNvPr>
          <p:cNvSpPr/>
          <p:nvPr/>
        </p:nvSpPr>
        <p:spPr>
          <a:xfrm>
            <a:off x="2863873" y="4738313"/>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纹理</a:t>
            </a:r>
          </a:p>
        </p:txBody>
      </p:sp>
      <p:sp>
        <p:nvSpPr>
          <p:cNvPr id="23" name="椭圆 22">
            <a:extLst>
              <a:ext uri="{FF2B5EF4-FFF2-40B4-BE49-F238E27FC236}">
                <a16:creationId xmlns:a16="http://schemas.microsoft.com/office/drawing/2014/main" id="{37C5CC07-26DE-4220-B581-CD7377C9CB78}"/>
              </a:ext>
            </a:extLst>
          </p:cNvPr>
          <p:cNvSpPr/>
          <p:nvPr/>
        </p:nvSpPr>
        <p:spPr>
          <a:xfrm>
            <a:off x="3055789" y="3590192"/>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24" name="椭圆 23">
            <a:extLst>
              <a:ext uri="{FF2B5EF4-FFF2-40B4-BE49-F238E27FC236}">
                <a16:creationId xmlns:a16="http://schemas.microsoft.com/office/drawing/2014/main" id="{402E8CFC-5190-4BD5-81AB-5AAE5BEFC05E}"/>
              </a:ext>
            </a:extLst>
          </p:cNvPr>
          <p:cNvSpPr/>
          <p:nvPr/>
        </p:nvSpPr>
        <p:spPr>
          <a:xfrm>
            <a:off x="5080380" y="357557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25" name="椭圆 24">
            <a:extLst>
              <a:ext uri="{FF2B5EF4-FFF2-40B4-BE49-F238E27FC236}">
                <a16:creationId xmlns:a16="http://schemas.microsoft.com/office/drawing/2014/main" id="{742769C0-BD1D-4983-802B-00E99E617588}"/>
              </a:ext>
            </a:extLst>
          </p:cNvPr>
          <p:cNvSpPr/>
          <p:nvPr/>
        </p:nvSpPr>
        <p:spPr>
          <a:xfrm>
            <a:off x="5426097" y="267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26" name="椭圆 25">
            <a:extLst>
              <a:ext uri="{FF2B5EF4-FFF2-40B4-BE49-F238E27FC236}">
                <a16:creationId xmlns:a16="http://schemas.microsoft.com/office/drawing/2014/main" id="{96D9F32D-8329-4DEC-A6FA-5FB4D23F49D3}"/>
              </a:ext>
            </a:extLst>
          </p:cNvPr>
          <p:cNvSpPr/>
          <p:nvPr/>
        </p:nvSpPr>
        <p:spPr>
          <a:xfrm>
            <a:off x="3478653" y="2684335"/>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根蒂</a:t>
            </a:r>
          </a:p>
        </p:txBody>
      </p:sp>
      <p:sp>
        <p:nvSpPr>
          <p:cNvPr id="27" name="椭圆 26">
            <a:extLst>
              <a:ext uri="{FF2B5EF4-FFF2-40B4-BE49-F238E27FC236}">
                <a16:creationId xmlns:a16="http://schemas.microsoft.com/office/drawing/2014/main" id="{3D3AB4A4-8A0F-4B27-8A5B-6D45289D06B3}"/>
              </a:ext>
            </a:extLst>
          </p:cNvPr>
          <p:cNvSpPr/>
          <p:nvPr/>
        </p:nvSpPr>
        <p:spPr>
          <a:xfrm>
            <a:off x="892238" y="2711100"/>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28" name="椭圆 27">
            <a:extLst>
              <a:ext uri="{FF2B5EF4-FFF2-40B4-BE49-F238E27FC236}">
                <a16:creationId xmlns:a16="http://schemas.microsoft.com/office/drawing/2014/main" id="{5384D8A9-8177-4591-8C45-712B1E8D75BF}"/>
              </a:ext>
            </a:extLst>
          </p:cNvPr>
          <p:cNvSpPr/>
          <p:nvPr/>
        </p:nvSpPr>
        <p:spPr>
          <a:xfrm>
            <a:off x="2938644" y="1996587"/>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脐部</a:t>
            </a:r>
          </a:p>
        </p:txBody>
      </p:sp>
      <p:cxnSp>
        <p:nvCxnSpPr>
          <p:cNvPr id="29" name="直接箭头连接符 28">
            <a:extLst>
              <a:ext uri="{FF2B5EF4-FFF2-40B4-BE49-F238E27FC236}">
                <a16:creationId xmlns:a16="http://schemas.microsoft.com/office/drawing/2014/main" id="{3FC7E8B8-13CC-4243-A8C1-06BC866BC6E0}"/>
              </a:ext>
            </a:extLst>
          </p:cNvPr>
          <p:cNvCxnSpPr>
            <a:cxnSpLocks/>
            <a:stCxn id="27" idx="4"/>
          </p:cNvCxnSpPr>
          <p:nvPr/>
        </p:nvCxnSpPr>
        <p:spPr>
          <a:xfrm flipH="1">
            <a:off x="1310253" y="3111699"/>
            <a:ext cx="9803" cy="91761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B8C4EF66-9B35-4A98-BBE6-482BF11E7485}"/>
              </a:ext>
            </a:extLst>
          </p:cNvPr>
          <p:cNvCxnSpPr>
            <a:cxnSpLocks/>
          </p:cNvCxnSpPr>
          <p:nvPr/>
        </p:nvCxnSpPr>
        <p:spPr>
          <a:xfrm>
            <a:off x="1505152" y="3111699"/>
            <a:ext cx="652661" cy="4674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869DB08C-D50A-4702-B311-CF846A9E4D39}"/>
              </a:ext>
            </a:extLst>
          </p:cNvPr>
          <p:cNvCxnSpPr>
            <a:cxnSpLocks/>
            <a:stCxn id="23" idx="4"/>
            <a:endCxn id="22" idx="0"/>
          </p:cNvCxnSpPr>
          <p:nvPr/>
        </p:nvCxnSpPr>
        <p:spPr>
          <a:xfrm flipH="1">
            <a:off x="3291691" y="3990791"/>
            <a:ext cx="191916" cy="7475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707860FE-2C65-4938-B82E-668E37D8E4E6}"/>
              </a:ext>
            </a:extLst>
          </p:cNvPr>
          <p:cNvCxnSpPr>
            <a:cxnSpLocks/>
            <a:stCxn id="23" idx="3"/>
          </p:cNvCxnSpPr>
          <p:nvPr/>
        </p:nvCxnSpPr>
        <p:spPr>
          <a:xfrm flipH="1">
            <a:off x="2444264" y="3932125"/>
            <a:ext cx="736830" cy="53992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4754EF9-5587-4C2F-95C7-7D9DB5CB9B90}"/>
              </a:ext>
            </a:extLst>
          </p:cNvPr>
          <p:cNvCxnSpPr>
            <a:cxnSpLocks/>
          </p:cNvCxnSpPr>
          <p:nvPr/>
        </p:nvCxnSpPr>
        <p:spPr>
          <a:xfrm>
            <a:off x="3683797" y="3893338"/>
            <a:ext cx="332949" cy="71184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F5FEFD01-7517-4B9D-AAB0-051D11C64D5E}"/>
              </a:ext>
            </a:extLst>
          </p:cNvPr>
          <p:cNvCxnSpPr>
            <a:cxnSpLocks/>
          </p:cNvCxnSpPr>
          <p:nvPr/>
        </p:nvCxnSpPr>
        <p:spPr>
          <a:xfrm flipH="1">
            <a:off x="868202" y="3111699"/>
            <a:ext cx="274294" cy="513376"/>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6321F97-4919-485E-A07C-22B71A76D9A6}"/>
              </a:ext>
            </a:extLst>
          </p:cNvPr>
          <p:cNvCxnSpPr>
            <a:cxnSpLocks/>
          </p:cNvCxnSpPr>
          <p:nvPr/>
        </p:nvCxnSpPr>
        <p:spPr>
          <a:xfrm>
            <a:off x="4028168" y="3060014"/>
            <a:ext cx="346697" cy="58574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FCE7D98F-3EEF-4A35-B9D3-DDD1F8035661}"/>
              </a:ext>
            </a:extLst>
          </p:cNvPr>
          <p:cNvCxnSpPr>
            <a:cxnSpLocks/>
          </p:cNvCxnSpPr>
          <p:nvPr/>
        </p:nvCxnSpPr>
        <p:spPr>
          <a:xfrm>
            <a:off x="4327269" y="2914970"/>
            <a:ext cx="1010283" cy="65741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48ED4D58-C071-4B70-827B-24D210967091}"/>
              </a:ext>
            </a:extLst>
          </p:cNvPr>
          <p:cNvCxnSpPr>
            <a:cxnSpLocks/>
            <a:stCxn id="22" idx="3"/>
          </p:cNvCxnSpPr>
          <p:nvPr/>
        </p:nvCxnSpPr>
        <p:spPr>
          <a:xfrm flipH="1">
            <a:off x="2369882" y="5080246"/>
            <a:ext cx="619296" cy="53280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324F7AB6-9113-4958-9E90-935846E2106F}"/>
              </a:ext>
            </a:extLst>
          </p:cNvPr>
          <p:cNvCxnSpPr>
            <a:cxnSpLocks/>
            <a:stCxn id="22" idx="5"/>
          </p:cNvCxnSpPr>
          <p:nvPr/>
        </p:nvCxnSpPr>
        <p:spPr>
          <a:xfrm>
            <a:off x="3594204" y="5080246"/>
            <a:ext cx="664144" cy="479910"/>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044EFBFF-AA5B-494A-9CFE-61DE0CC9BEDF}"/>
              </a:ext>
            </a:extLst>
          </p:cNvPr>
          <p:cNvCxnSpPr>
            <a:cxnSpLocks/>
            <a:stCxn id="53" idx="0"/>
          </p:cNvCxnSpPr>
          <p:nvPr/>
        </p:nvCxnSpPr>
        <p:spPr>
          <a:xfrm flipH="1">
            <a:off x="3323934" y="5134639"/>
            <a:ext cx="34792" cy="496727"/>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119C4CDF-DF0F-4F23-98F3-DE6EFC4FD736}"/>
              </a:ext>
            </a:extLst>
          </p:cNvPr>
          <p:cNvSpPr/>
          <p:nvPr/>
        </p:nvSpPr>
        <p:spPr>
          <a:xfrm>
            <a:off x="1684199" y="3591028"/>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42" name="椭圆 41">
            <a:extLst>
              <a:ext uri="{FF2B5EF4-FFF2-40B4-BE49-F238E27FC236}">
                <a16:creationId xmlns:a16="http://schemas.microsoft.com/office/drawing/2014/main" id="{0C2C631A-D0EA-4566-B9A5-7F34D88D28BF}"/>
              </a:ext>
            </a:extLst>
          </p:cNvPr>
          <p:cNvSpPr/>
          <p:nvPr/>
        </p:nvSpPr>
        <p:spPr>
          <a:xfrm>
            <a:off x="4009276" y="5554160"/>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43" name="椭圆 42">
            <a:extLst>
              <a:ext uri="{FF2B5EF4-FFF2-40B4-BE49-F238E27FC236}">
                <a16:creationId xmlns:a16="http://schemas.microsoft.com/office/drawing/2014/main" id="{4F3AB50B-7D8C-45F2-BBD0-5B2C2DFE6336}"/>
              </a:ext>
            </a:extLst>
          </p:cNvPr>
          <p:cNvSpPr/>
          <p:nvPr/>
        </p:nvSpPr>
        <p:spPr>
          <a:xfrm>
            <a:off x="3827450" y="4582366"/>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44" name="椭圆 43">
            <a:extLst>
              <a:ext uri="{FF2B5EF4-FFF2-40B4-BE49-F238E27FC236}">
                <a16:creationId xmlns:a16="http://schemas.microsoft.com/office/drawing/2014/main" id="{C5834DBC-39B3-40D7-8B46-8EBAA9EC5562}"/>
              </a:ext>
            </a:extLst>
          </p:cNvPr>
          <p:cNvSpPr/>
          <p:nvPr/>
        </p:nvSpPr>
        <p:spPr>
          <a:xfrm>
            <a:off x="4022120" y="364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45" name="椭圆 44">
            <a:extLst>
              <a:ext uri="{FF2B5EF4-FFF2-40B4-BE49-F238E27FC236}">
                <a16:creationId xmlns:a16="http://schemas.microsoft.com/office/drawing/2014/main" id="{8B59BFFD-194F-4DFB-89F5-620BFC6CCB6B}"/>
              </a:ext>
            </a:extLst>
          </p:cNvPr>
          <p:cNvSpPr/>
          <p:nvPr/>
        </p:nvSpPr>
        <p:spPr>
          <a:xfrm>
            <a:off x="1673002" y="557651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6" name="椭圆 45">
            <a:extLst>
              <a:ext uri="{FF2B5EF4-FFF2-40B4-BE49-F238E27FC236}">
                <a16:creationId xmlns:a16="http://schemas.microsoft.com/office/drawing/2014/main" id="{71E233E0-2FA6-4952-8F28-2490592C9E73}"/>
              </a:ext>
            </a:extLst>
          </p:cNvPr>
          <p:cNvSpPr/>
          <p:nvPr/>
        </p:nvSpPr>
        <p:spPr>
          <a:xfrm>
            <a:off x="2883370" y="5629601"/>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7" name="椭圆 46">
            <a:extLst>
              <a:ext uri="{FF2B5EF4-FFF2-40B4-BE49-F238E27FC236}">
                <a16:creationId xmlns:a16="http://schemas.microsoft.com/office/drawing/2014/main" id="{80F0FE9C-69B8-4D27-B798-D1B17AAE9ED4}"/>
              </a:ext>
            </a:extLst>
          </p:cNvPr>
          <p:cNvSpPr/>
          <p:nvPr/>
        </p:nvSpPr>
        <p:spPr>
          <a:xfrm>
            <a:off x="1908142" y="447390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8" name="椭圆 47">
            <a:extLst>
              <a:ext uri="{FF2B5EF4-FFF2-40B4-BE49-F238E27FC236}">
                <a16:creationId xmlns:a16="http://schemas.microsoft.com/office/drawing/2014/main" id="{D8A236F9-259B-47E8-B315-14A8EE2C1843}"/>
              </a:ext>
            </a:extLst>
          </p:cNvPr>
          <p:cNvSpPr/>
          <p:nvPr/>
        </p:nvSpPr>
        <p:spPr>
          <a:xfrm>
            <a:off x="882759" y="4039434"/>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9" name="椭圆 48">
            <a:extLst>
              <a:ext uri="{FF2B5EF4-FFF2-40B4-BE49-F238E27FC236}">
                <a16:creationId xmlns:a16="http://schemas.microsoft.com/office/drawing/2014/main" id="{64819107-6B28-4194-9B48-6E36710ADC4B}"/>
              </a:ext>
            </a:extLst>
          </p:cNvPr>
          <p:cNvSpPr/>
          <p:nvPr/>
        </p:nvSpPr>
        <p:spPr>
          <a:xfrm>
            <a:off x="337874" y="363301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50" name="文本框 49">
            <a:extLst>
              <a:ext uri="{FF2B5EF4-FFF2-40B4-BE49-F238E27FC236}">
                <a16:creationId xmlns:a16="http://schemas.microsoft.com/office/drawing/2014/main" id="{A15933A6-6247-4085-AEE1-995B3BB892CA}"/>
              </a:ext>
            </a:extLst>
          </p:cNvPr>
          <p:cNvSpPr txBox="1"/>
          <p:nvPr/>
        </p:nvSpPr>
        <p:spPr>
          <a:xfrm>
            <a:off x="1068370" y="3349341"/>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51" name="文本框 50">
            <a:extLst>
              <a:ext uri="{FF2B5EF4-FFF2-40B4-BE49-F238E27FC236}">
                <a16:creationId xmlns:a16="http://schemas.microsoft.com/office/drawing/2014/main" id="{C04F61BB-35DF-4E76-A25A-1F2B7A3E7292}"/>
              </a:ext>
            </a:extLst>
          </p:cNvPr>
          <p:cNvSpPr txBox="1"/>
          <p:nvPr/>
        </p:nvSpPr>
        <p:spPr>
          <a:xfrm>
            <a:off x="1909721" y="220804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凹陷</a:t>
            </a:r>
          </a:p>
        </p:txBody>
      </p:sp>
      <p:sp>
        <p:nvSpPr>
          <p:cNvPr id="52" name="文本框 51">
            <a:extLst>
              <a:ext uri="{FF2B5EF4-FFF2-40B4-BE49-F238E27FC236}">
                <a16:creationId xmlns:a16="http://schemas.microsoft.com/office/drawing/2014/main" id="{03D8330B-35B3-4314-84F3-AAD17C9C7E4B}"/>
              </a:ext>
            </a:extLst>
          </p:cNvPr>
          <p:cNvSpPr txBox="1"/>
          <p:nvPr/>
        </p:nvSpPr>
        <p:spPr>
          <a:xfrm>
            <a:off x="4568148" y="3136086"/>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硬挺</a:t>
            </a:r>
          </a:p>
        </p:txBody>
      </p:sp>
      <p:sp>
        <p:nvSpPr>
          <p:cNvPr id="53" name="文本框 52">
            <a:extLst>
              <a:ext uri="{FF2B5EF4-FFF2-40B4-BE49-F238E27FC236}">
                <a16:creationId xmlns:a16="http://schemas.microsoft.com/office/drawing/2014/main" id="{49DB8525-A0AB-4821-802A-DFCFB5A0DCAC}"/>
              </a:ext>
            </a:extLst>
          </p:cNvPr>
          <p:cNvSpPr txBox="1"/>
          <p:nvPr/>
        </p:nvSpPr>
        <p:spPr>
          <a:xfrm>
            <a:off x="3038687" y="513463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稍糊</a:t>
            </a:r>
          </a:p>
        </p:txBody>
      </p:sp>
      <p:sp>
        <p:nvSpPr>
          <p:cNvPr id="54" name="文本框 53">
            <a:extLst>
              <a:ext uri="{FF2B5EF4-FFF2-40B4-BE49-F238E27FC236}">
                <a16:creationId xmlns:a16="http://schemas.microsoft.com/office/drawing/2014/main" id="{F5E68905-F55F-4164-A9A9-9E1B16732721}"/>
              </a:ext>
            </a:extLst>
          </p:cNvPr>
          <p:cNvSpPr txBox="1"/>
          <p:nvPr/>
        </p:nvSpPr>
        <p:spPr>
          <a:xfrm>
            <a:off x="3920783" y="513891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清晰</a:t>
            </a:r>
          </a:p>
        </p:txBody>
      </p:sp>
      <p:sp>
        <p:nvSpPr>
          <p:cNvPr id="55" name="文本框 54">
            <a:extLst>
              <a:ext uri="{FF2B5EF4-FFF2-40B4-BE49-F238E27FC236}">
                <a16:creationId xmlns:a16="http://schemas.microsoft.com/office/drawing/2014/main" id="{BE9DF773-3A94-4A20-B4E8-ACD280B1E117}"/>
              </a:ext>
            </a:extLst>
          </p:cNvPr>
          <p:cNvSpPr txBox="1"/>
          <p:nvPr/>
        </p:nvSpPr>
        <p:spPr>
          <a:xfrm>
            <a:off x="3850271" y="312684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蜷曲</a:t>
            </a:r>
          </a:p>
        </p:txBody>
      </p:sp>
      <p:sp>
        <p:nvSpPr>
          <p:cNvPr id="56" name="文本框 55">
            <a:extLst>
              <a:ext uri="{FF2B5EF4-FFF2-40B4-BE49-F238E27FC236}">
                <a16:creationId xmlns:a16="http://schemas.microsoft.com/office/drawing/2014/main" id="{AAD6A0C4-F085-4893-AF7F-E3C9D35E27D8}"/>
              </a:ext>
            </a:extLst>
          </p:cNvPr>
          <p:cNvSpPr txBox="1"/>
          <p:nvPr/>
        </p:nvSpPr>
        <p:spPr>
          <a:xfrm>
            <a:off x="3134995" y="310866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稍蜷</a:t>
            </a:r>
          </a:p>
        </p:txBody>
      </p:sp>
      <p:sp>
        <p:nvSpPr>
          <p:cNvPr id="57" name="文本框 56">
            <a:extLst>
              <a:ext uri="{FF2B5EF4-FFF2-40B4-BE49-F238E27FC236}">
                <a16:creationId xmlns:a16="http://schemas.microsoft.com/office/drawing/2014/main" id="{D11EB838-9E5F-4D85-AF48-A04808A40C8A}"/>
              </a:ext>
            </a:extLst>
          </p:cNvPr>
          <p:cNvSpPr txBox="1"/>
          <p:nvPr/>
        </p:nvSpPr>
        <p:spPr>
          <a:xfrm>
            <a:off x="2208599" y="5088084"/>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模糊</a:t>
            </a:r>
          </a:p>
        </p:txBody>
      </p:sp>
      <p:sp>
        <p:nvSpPr>
          <p:cNvPr id="58" name="文本框 57">
            <a:extLst>
              <a:ext uri="{FF2B5EF4-FFF2-40B4-BE49-F238E27FC236}">
                <a16:creationId xmlns:a16="http://schemas.microsoft.com/office/drawing/2014/main" id="{C3C69705-6560-446C-9E2E-F629581FD1B1}"/>
              </a:ext>
            </a:extLst>
          </p:cNvPr>
          <p:cNvSpPr txBox="1"/>
          <p:nvPr/>
        </p:nvSpPr>
        <p:spPr>
          <a:xfrm>
            <a:off x="600856" y="3137381"/>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59" name="文本框 58">
            <a:extLst>
              <a:ext uri="{FF2B5EF4-FFF2-40B4-BE49-F238E27FC236}">
                <a16:creationId xmlns:a16="http://schemas.microsoft.com/office/drawing/2014/main" id="{75731980-CD1B-4629-9D44-B467485D40D0}"/>
              </a:ext>
            </a:extLst>
          </p:cNvPr>
          <p:cNvSpPr txBox="1"/>
          <p:nvPr/>
        </p:nvSpPr>
        <p:spPr>
          <a:xfrm>
            <a:off x="3210193" y="241092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稍凹</a:t>
            </a:r>
          </a:p>
        </p:txBody>
      </p:sp>
      <p:sp>
        <p:nvSpPr>
          <p:cNvPr id="60" name="文本框 59">
            <a:extLst>
              <a:ext uri="{FF2B5EF4-FFF2-40B4-BE49-F238E27FC236}">
                <a16:creationId xmlns:a16="http://schemas.microsoft.com/office/drawing/2014/main" id="{6C27F279-AB26-4BC4-9D33-776E6BDFEE21}"/>
              </a:ext>
            </a:extLst>
          </p:cNvPr>
          <p:cNvSpPr txBox="1"/>
          <p:nvPr/>
        </p:nvSpPr>
        <p:spPr>
          <a:xfrm>
            <a:off x="3806844" y="405609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61" name="文本框 60">
            <a:extLst>
              <a:ext uri="{FF2B5EF4-FFF2-40B4-BE49-F238E27FC236}">
                <a16:creationId xmlns:a16="http://schemas.microsoft.com/office/drawing/2014/main" id="{AF734ED8-A2DD-414B-B64F-F20FBD11E53A}"/>
              </a:ext>
            </a:extLst>
          </p:cNvPr>
          <p:cNvSpPr txBox="1"/>
          <p:nvPr/>
        </p:nvSpPr>
        <p:spPr>
          <a:xfrm>
            <a:off x="2464963" y="406647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62" name="文本框 61">
            <a:extLst>
              <a:ext uri="{FF2B5EF4-FFF2-40B4-BE49-F238E27FC236}">
                <a16:creationId xmlns:a16="http://schemas.microsoft.com/office/drawing/2014/main" id="{AC5C5BB0-DB73-47D5-81A8-428FB49F4405}"/>
              </a:ext>
            </a:extLst>
          </p:cNvPr>
          <p:cNvSpPr txBox="1"/>
          <p:nvPr/>
        </p:nvSpPr>
        <p:spPr>
          <a:xfrm>
            <a:off x="3147020" y="406525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63" name="文本框 62">
            <a:extLst>
              <a:ext uri="{FF2B5EF4-FFF2-40B4-BE49-F238E27FC236}">
                <a16:creationId xmlns:a16="http://schemas.microsoft.com/office/drawing/2014/main" id="{717E95B1-FBB3-44AA-B2F0-F53F6388696E}"/>
              </a:ext>
            </a:extLst>
          </p:cNvPr>
          <p:cNvSpPr txBox="1"/>
          <p:nvPr/>
        </p:nvSpPr>
        <p:spPr>
          <a:xfrm>
            <a:off x="1716911" y="3122835"/>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64" name="文本框 63">
            <a:extLst>
              <a:ext uri="{FF2B5EF4-FFF2-40B4-BE49-F238E27FC236}">
                <a16:creationId xmlns:a16="http://schemas.microsoft.com/office/drawing/2014/main" id="{3FF0A972-9D50-4360-8509-C81B29545D3D}"/>
              </a:ext>
            </a:extLst>
          </p:cNvPr>
          <p:cNvSpPr txBox="1"/>
          <p:nvPr/>
        </p:nvSpPr>
        <p:spPr>
          <a:xfrm>
            <a:off x="2845324" y="171990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①</a:t>
            </a:r>
          </a:p>
        </p:txBody>
      </p:sp>
      <p:sp>
        <p:nvSpPr>
          <p:cNvPr id="65" name="文本框 64">
            <a:extLst>
              <a:ext uri="{FF2B5EF4-FFF2-40B4-BE49-F238E27FC236}">
                <a16:creationId xmlns:a16="http://schemas.microsoft.com/office/drawing/2014/main" id="{3A088A6F-D956-4126-9C3C-41CDB3C2FFC9}"/>
              </a:ext>
            </a:extLst>
          </p:cNvPr>
          <p:cNvSpPr txBox="1"/>
          <p:nvPr/>
        </p:nvSpPr>
        <p:spPr>
          <a:xfrm>
            <a:off x="2756104" y="4471855"/>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⑥</a:t>
            </a:r>
          </a:p>
        </p:txBody>
      </p:sp>
      <p:sp>
        <p:nvSpPr>
          <p:cNvPr id="66" name="文本框 65">
            <a:extLst>
              <a:ext uri="{FF2B5EF4-FFF2-40B4-BE49-F238E27FC236}">
                <a16:creationId xmlns:a16="http://schemas.microsoft.com/office/drawing/2014/main" id="{AFD68B10-AC8C-4D3D-ACA8-03365A963B5D}"/>
              </a:ext>
            </a:extLst>
          </p:cNvPr>
          <p:cNvSpPr txBox="1"/>
          <p:nvPr/>
        </p:nvSpPr>
        <p:spPr>
          <a:xfrm>
            <a:off x="2960944" y="3314891"/>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⑤</a:t>
            </a:r>
          </a:p>
        </p:txBody>
      </p:sp>
      <p:sp>
        <p:nvSpPr>
          <p:cNvPr id="67" name="文本框 66">
            <a:extLst>
              <a:ext uri="{FF2B5EF4-FFF2-40B4-BE49-F238E27FC236}">
                <a16:creationId xmlns:a16="http://schemas.microsoft.com/office/drawing/2014/main" id="{A1D7E4BD-96E1-43FA-B54B-004D5847B475}"/>
              </a:ext>
            </a:extLst>
          </p:cNvPr>
          <p:cNvSpPr txBox="1"/>
          <p:nvPr/>
        </p:nvSpPr>
        <p:spPr>
          <a:xfrm>
            <a:off x="5245369" y="2441948"/>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④</a:t>
            </a:r>
          </a:p>
        </p:txBody>
      </p:sp>
      <p:sp>
        <p:nvSpPr>
          <p:cNvPr id="68" name="文本框 67">
            <a:extLst>
              <a:ext uri="{FF2B5EF4-FFF2-40B4-BE49-F238E27FC236}">
                <a16:creationId xmlns:a16="http://schemas.microsoft.com/office/drawing/2014/main" id="{84A337F3-4F21-42F2-891E-B1D8C83C1B08}"/>
              </a:ext>
            </a:extLst>
          </p:cNvPr>
          <p:cNvSpPr txBox="1"/>
          <p:nvPr/>
        </p:nvSpPr>
        <p:spPr>
          <a:xfrm>
            <a:off x="3124923" y="263285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③</a:t>
            </a:r>
          </a:p>
        </p:txBody>
      </p:sp>
      <p:sp>
        <p:nvSpPr>
          <p:cNvPr id="69" name="文本框 68">
            <a:extLst>
              <a:ext uri="{FF2B5EF4-FFF2-40B4-BE49-F238E27FC236}">
                <a16:creationId xmlns:a16="http://schemas.microsoft.com/office/drawing/2014/main" id="{A849678B-4E6D-4964-A8A0-C94DBD434F03}"/>
              </a:ext>
            </a:extLst>
          </p:cNvPr>
          <p:cNvSpPr txBox="1"/>
          <p:nvPr/>
        </p:nvSpPr>
        <p:spPr>
          <a:xfrm>
            <a:off x="699850" y="2477403"/>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②</a:t>
            </a:r>
          </a:p>
        </p:txBody>
      </p:sp>
      <p:sp>
        <p:nvSpPr>
          <p:cNvPr id="70" name="文本框 69">
            <a:extLst>
              <a:ext uri="{FF2B5EF4-FFF2-40B4-BE49-F238E27FC236}">
                <a16:creationId xmlns:a16="http://schemas.microsoft.com/office/drawing/2014/main" id="{4687245B-92D2-480E-9212-3EA0A02FCB42}"/>
              </a:ext>
            </a:extLst>
          </p:cNvPr>
          <p:cNvSpPr txBox="1"/>
          <p:nvPr/>
        </p:nvSpPr>
        <p:spPr>
          <a:xfrm>
            <a:off x="2380477" y="3840073"/>
            <a:ext cx="1759277" cy="338554"/>
          </a:xfrm>
          <a:prstGeom prst="rect">
            <a:avLst/>
          </a:prstGeom>
          <a:noFill/>
        </p:spPr>
        <p:txBody>
          <a:bodyPr wrap="square">
            <a:spAutoFit/>
          </a:bodyPr>
          <a:lstStyle/>
          <a:p>
            <a:r>
              <a:rPr lang="en-US" altLang="zh-CN" sz="1600" kern="100" dirty="0">
                <a:solidFill>
                  <a:srgbClr val="FF0000"/>
                </a:solidFill>
                <a:effectLst/>
                <a:latin typeface="KaiTi" panose="02010609060101010101" pitchFamily="49" charset="-122"/>
                <a:ea typeface="KaiTi" panose="02010609060101010101" pitchFamily="49" charset="-122"/>
              </a:rPr>
              <a:t>{6,7,15}</a:t>
            </a:r>
            <a:endParaRPr lang="zh-CN" altLang="en-US" sz="1600" dirty="0">
              <a:solidFill>
                <a:srgbClr val="FF0000"/>
              </a:solidFill>
              <a:latin typeface="KaiTi" panose="02010609060101010101" pitchFamily="49" charset="-122"/>
              <a:ea typeface="KaiTi" panose="02010609060101010101" pitchFamily="49" charset="-122"/>
            </a:endParaRPr>
          </a:p>
        </p:txBody>
      </p:sp>
      <p:sp>
        <p:nvSpPr>
          <p:cNvPr id="71" name="文本框 70">
            <a:extLst>
              <a:ext uri="{FF2B5EF4-FFF2-40B4-BE49-F238E27FC236}">
                <a16:creationId xmlns:a16="http://schemas.microsoft.com/office/drawing/2014/main" id="{2BA58E81-8C83-4276-87AD-76745F952FA5}"/>
              </a:ext>
            </a:extLst>
          </p:cNvPr>
          <p:cNvSpPr txBox="1"/>
          <p:nvPr/>
        </p:nvSpPr>
        <p:spPr>
          <a:xfrm>
            <a:off x="2255356" y="4836421"/>
            <a:ext cx="1759277" cy="338554"/>
          </a:xfrm>
          <a:prstGeom prst="rect">
            <a:avLst/>
          </a:prstGeom>
          <a:noFill/>
        </p:spPr>
        <p:txBody>
          <a:bodyPr wrap="square">
            <a:spAutoFit/>
          </a:bodyPr>
          <a:lstStyle/>
          <a:p>
            <a:r>
              <a:rPr lang="en-US" altLang="zh-CN" sz="1600" kern="100" dirty="0">
                <a:solidFill>
                  <a:srgbClr val="FF0000"/>
                </a:solidFill>
                <a:effectLst/>
                <a:latin typeface="KaiTi" panose="02010609060101010101" pitchFamily="49" charset="-122"/>
                <a:ea typeface="KaiTi" panose="02010609060101010101" pitchFamily="49" charset="-122"/>
              </a:rPr>
              <a:t>{7,15}</a:t>
            </a:r>
            <a:endParaRPr lang="zh-CN" altLang="en-US" sz="1600" dirty="0">
              <a:solidFill>
                <a:srgbClr val="FF0000"/>
              </a:solidFill>
              <a:latin typeface="KaiTi" panose="02010609060101010101" pitchFamily="49" charset="-122"/>
              <a:ea typeface="KaiTi" panose="02010609060101010101" pitchFamily="49" charset="-122"/>
            </a:endParaRPr>
          </a:p>
        </p:txBody>
      </p:sp>
      <p:sp>
        <p:nvSpPr>
          <p:cNvPr id="72" name="文本框 71">
            <a:extLst>
              <a:ext uri="{FF2B5EF4-FFF2-40B4-BE49-F238E27FC236}">
                <a16:creationId xmlns:a16="http://schemas.microsoft.com/office/drawing/2014/main" id="{4E024D93-4E37-4AE5-B0F6-770AB223E7B6}"/>
              </a:ext>
            </a:extLst>
          </p:cNvPr>
          <p:cNvSpPr txBox="1"/>
          <p:nvPr/>
        </p:nvSpPr>
        <p:spPr>
          <a:xfrm>
            <a:off x="1688540" y="2771036"/>
            <a:ext cx="1759277" cy="338554"/>
          </a:xfrm>
          <a:prstGeom prst="rect">
            <a:avLst/>
          </a:prstGeom>
          <a:noFill/>
        </p:spPr>
        <p:txBody>
          <a:bodyPr wrap="square">
            <a:spAutoFit/>
          </a:bodyPr>
          <a:lstStyle/>
          <a:p>
            <a:r>
              <a:rPr lang="en-US" altLang="zh-CN" sz="1600" kern="100" dirty="0">
                <a:solidFill>
                  <a:srgbClr val="FF0000"/>
                </a:solidFill>
                <a:effectLst/>
                <a:latin typeface="KaiTi" panose="02010609060101010101" pitchFamily="49" charset="-122"/>
                <a:ea typeface="KaiTi" panose="02010609060101010101" pitchFamily="49" charset="-122"/>
              </a:rPr>
              <a:t>{1,2,3,14}</a:t>
            </a:r>
            <a:endParaRPr lang="zh-CN" altLang="en-US" sz="1600" dirty="0">
              <a:solidFill>
                <a:srgbClr val="FF0000"/>
              </a:solidFill>
              <a:latin typeface="KaiTi" panose="02010609060101010101" pitchFamily="49" charset="-122"/>
              <a:ea typeface="KaiTi" panose="02010609060101010101" pitchFamily="49" charset="-122"/>
            </a:endParaRPr>
          </a:p>
        </p:txBody>
      </p:sp>
      <p:sp>
        <p:nvSpPr>
          <p:cNvPr id="73" name="文本框 72">
            <a:extLst>
              <a:ext uri="{FF2B5EF4-FFF2-40B4-BE49-F238E27FC236}">
                <a16:creationId xmlns:a16="http://schemas.microsoft.com/office/drawing/2014/main" id="{8E1EE625-AEAD-44A9-A6DB-E651B2D257C6}"/>
              </a:ext>
            </a:extLst>
          </p:cNvPr>
          <p:cNvSpPr txBox="1"/>
          <p:nvPr/>
        </p:nvSpPr>
        <p:spPr>
          <a:xfrm>
            <a:off x="6541821" y="1426555"/>
            <a:ext cx="4781977" cy="5013360"/>
          </a:xfrm>
          <a:prstGeom prst="rect">
            <a:avLst/>
          </a:prstGeom>
          <a:noFill/>
        </p:spPr>
        <p:txBody>
          <a:bodyPr wrap="square">
            <a:spAutoFit/>
          </a:bodyPr>
          <a:lstStyle/>
          <a:p>
            <a:pPr algn="just">
              <a:lnSpc>
                <a:spcPct val="150000"/>
              </a:lnSpc>
            </a:pPr>
            <a:r>
              <a:rPr lang="zh-CN" altLang="en-US" sz="1800" b="1" dirty="0">
                <a:effectLst/>
                <a:latin typeface="KaiTi" panose="02010609060101010101" pitchFamily="49" charset="-122"/>
                <a:ea typeface="KaiTi" panose="02010609060101010101" pitchFamily="49" charset="-122"/>
                <a:cs typeface="Euclid" panose="02020503060505020303" pitchFamily="18" charset="0"/>
              </a:rPr>
              <a:t>剪枝方法</a:t>
            </a:r>
            <a:endParaRPr lang="en-US" altLang="zh-CN" sz="1800" b="1" dirty="0">
              <a:effectLst/>
              <a:latin typeface="KaiTi" panose="02010609060101010101" pitchFamily="49" charset="-122"/>
              <a:ea typeface="KaiTi" panose="02010609060101010101" pitchFamily="49" charset="-122"/>
              <a:cs typeface="Euclid" panose="02020503060505020303" pitchFamily="18" charset="0"/>
            </a:endParaRPr>
          </a:p>
          <a:p>
            <a:pPr algn="just">
              <a:lnSpc>
                <a:spcPct val="150000"/>
              </a:lnSpc>
            </a:pPr>
            <a:r>
              <a:rPr lang="zh-CN" altLang="zh-CN" sz="1800" dirty="0">
                <a:effectLst/>
                <a:latin typeface="KaiTi" panose="02010609060101010101" pitchFamily="49" charset="-122"/>
                <a:ea typeface="KaiTi" panose="02010609060101010101" pitchFamily="49" charset="-122"/>
                <a:cs typeface="Euclid" panose="02020503060505020303" pitchFamily="18" charset="0"/>
              </a:rPr>
              <a:t>在已经生成的决策树上进行剪枝，从而得到简化版的剪枝决策树。</a:t>
            </a:r>
          </a:p>
          <a:p>
            <a:pPr algn="just">
              <a:lnSpc>
                <a:spcPct val="150000"/>
              </a:lnSpc>
            </a:pPr>
            <a:r>
              <a:rPr lang="en-US" altLang="zh-CN" sz="1800" dirty="0">
                <a:effectLst/>
                <a:latin typeface="KaiTi" panose="02010609060101010101" pitchFamily="49" charset="-122"/>
                <a:ea typeface="KaiTi" panose="02010609060101010101" pitchFamily="49" charset="-122"/>
                <a:cs typeface="Euclid" panose="02020503060505020303" pitchFamily="18" charset="0"/>
              </a:rPr>
              <a:t>C4.5 </a:t>
            </a:r>
            <a:r>
              <a:rPr lang="zh-CN" altLang="zh-CN" sz="1800" dirty="0">
                <a:effectLst/>
                <a:latin typeface="KaiTi" panose="02010609060101010101" pitchFamily="49" charset="-122"/>
                <a:ea typeface="KaiTi" panose="02010609060101010101" pitchFamily="49" charset="-122"/>
                <a:cs typeface="Euclid" panose="02020503060505020303" pitchFamily="18" charset="0"/>
              </a:rPr>
              <a:t>采用的悲观剪枝方法，用递归的方式从低往上针对每一个非叶子节点，评估用一个最佳叶子节点去代替这课子树是否有益。如果剪枝后与剪枝前相比其错误率是保持或者下降，则这棵子树就可以被替换掉。</a:t>
            </a:r>
            <a:r>
              <a:rPr lang="en-US" altLang="zh-CN" sz="1800" dirty="0">
                <a:effectLst/>
                <a:latin typeface="KaiTi" panose="02010609060101010101" pitchFamily="49" charset="-122"/>
                <a:ea typeface="KaiTi" panose="02010609060101010101" pitchFamily="49" charset="-122"/>
                <a:cs typeface="Euclid" panose="02020503060505020303" pitchFamily="18" charset="0"/>
              </a:rPr>
              <a:t>C4.5 </a:t>
            </a:r>
            <a:r>
              <a:rPr lang="zh-CN" altLang="zh-CN" sz="1800" dirty="0">
                <a:effectLst/>
                <a:latin typeface="KaiTi" panose="02010609060101010101" pitchFamily="49" charset="-122"/>
                <a:ea typeface="KaiTi" panose="02010609060101010101" pitchFamily="49" charset="-122"/>
                <a:cs typeface="Euclid" panose="02020503060505020303" pitchFamily="18" charset="0"/>
              </a:rPr>
              <a:t>通过训练数据集上的错误分类数量来估算未知样本上的错误率。</a:t>
            </a:r>
          </a:p>
          <a:p>
            <a:pPr algn="just">
              <a:lnSpc>
                <a:spcPct val="150000"/>
              </a:lnSpc>
            </a:pPr>
            <a:r>
              <a:rPr lang="zh-CN" altLang="zh-CN" sz="1800" kern="100" dirty="0">
                <a:effectLst/>
                <a:latin typeface="KaiTi" panose="02010609060101010101" pitchFamily="49" charset="-122"/>
                <a:ea typeface="KaiTi" panose="02010609060101010101" pitchFamily="49" charset="-122"/>
                <a:cs typeface="Times New Roman" panose="02020603050405020304" pitchFamily="18" charset="0"/>
              </a:rPr>
              <a:t>后剪枝决策树的欠拟合风险很小，泛化性能往往优于预剪枝决策树。</a:t>
            </a:r>
            <a:endParaRPr lang="zh-CN" altLang="zh-CN" sz="1800" dirty="0">
              <a:effectLst/>
              <a:latin typeface="KaiTi" panose="02010609060101010101" pitchFamily="49" charset="-122"/>
              <a:ea typeface="KaiTi" panose="02010609060101010101" pitchFamily="49" charset="-122"/>
              <a:cs typeface="Euclid" panose="02020503060505020303" pitchFamily="18" charset="0"/>
            </a:endParaRPr>
          </a:p>
        </p:txBody>
      </p:sp>
      <p:sp>
        <p:nvSpPr>
          <p:cNvPr id="2" name="제목 2">
            <a:extLst>
              <a:ext uri="{FF2B5EF4-FFF2-40B4-BE49-F238E27FC236}">
                <a16:creationId xmlns:a16="http://schemas.microsoft.com/office/drawing/2014/main" id="{C3A805AD-5727-0A2A-4898-400545E5AE0C}"/>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
        <p:nvSpPr>
          <p:cNvPr id="3" name="文本框 19">
            <a:extLst>
              <a:ext uri="{FF2B5EF4-FFF2-40B4-BE49-F238E27FC236}">
                <a16:creationId xmlns:a16="http://schemas.microsoft.com/office/drawing/2014/main" id="{17EE305D-67BD-33C9-D766-0539017B9E30}"/>
              </a:ext>
            </a:extLst>
          </p:cNvPr>
          <p:cNvSpPr txBox="1"/>
          <p:nvPr/>
        </p:nvSpPr>
        <p:spPr>
          <a:xfrm>
            <a:off x="568679" y="1426555"/>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569850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0" name="文本框 19">
            <a:extLst>
              <a:ext uri="{FF2B5EF4-FFF2-40B4-BE49-F238E27FC236}">
                <a16:creationId xmlns:a16="http://schemas.microsoft.com/office/drawing/2014/main" id="{1101F22B-82A9-4FBF-BAA4-8A3FA6F54429}"/>
              </a:ext>
            </a:extLst>
          </p:cNvPr>
          <p:cNvSpPr txBox="1"/>
          <p:nvPr/>
        </p:nvSpPr>
        <p:spPr>
          <a:xfrm>
            <a:off x="611402" y="1337151"/>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
        <p:nvSpPr>
          <p:cNvPr id="18" name="文本框 17">
            <a:extLst>
              <a:ext uri="{FF2B5EF4-FFF2-40B4-BE49-F238E27FC236}">
                <a16:creationId xmlns:a16="http://schemas.microsoft.com/office/drawing/2014/main" id="{1D731450-6F13-403C-B39A-80FDEDCA9BCB}"/>
              </a:ext>
            </a:extLst>
          </p:cNvPr>
          <p:cNvSpPr txBox="1"/>
          <p:nvPr/>
        </p:nvSpPr>
        <p:spPr>
          <a:xfrm>
            <a:off x="1207268" y="5988735"/>
            <a:ext cx="2188914" cy="384721"/>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后剪枝的决策树</a:t>
            </a:r>
          </a:p>
        </p:txBody>
      </p:sp>
      <p:sp>
        <p:nvSpPr>
          <p:cNvPr id="13" name="文本框 12">
            <a:extLst>
              <a:ext uri="{FF2B5EF4-FFF2-40B4-BE49-F238E27FC236}">
                <a16:creationId xmlns:a16="http://schemas.microsoft.com/office/drawing/2014/main" id="{4EA5DAE7-2083-47D0-9E53-26358F75D984}"/>
              </a:ext>
            </a:extLst>
          </p:cNvPr>
          <p:cNvSpPr txBox="1"/>
          <p:nvPr/>
        </p:nvSpPr>
        <p:spPr>
          <a:xfrm>
            <a:off x="6541822" y="1426555"/>
            <a:ext cx="4864116" cy="5013360"/>
          </a:xfrm>
          <a:prstGeom prst="rect">
            <a:avLst/>
          </a:prstGeom>
          <a:noFill/>
        </p:spPr>
        <p:txBody>
          <a:bodyPr wrap="square">
            <a:spAutoFit/>
          </a:bodyPr>
          <a:lstStyle/>
          <a:p>
            <a:pPr algn="just">
              <a:lnSpc>
                <a:spcPct val="150000"/>
              </a:lnSpc>
            </a:pPr>
            <a:r>
              <a:rPr lang="zh-CN" altLang="en-US" sz="1800" b="1" dirty="0">
                <a:effectLst/>
                <a:latin typeface="KaiTi" panose="02010609060101010101" pitchFamily="49" charset="-122"/>
                <a:ea typeface="KaiTi" panose="02010609060101010101" pitchFamily="49" charset="-122"/>
                <a:cs typeface="Euclid" panose="02020503060505020303" pitchFamily="18" charset="0"/>
              </a:rPr>
              <a:t>剪枝方法</a:t>
            </a:r>
            <a:endParaRPr lang="en-US" altLang="zh-CN" sz="1800" b="1" dirty="0">
              <a:effectLst/>
              <a:latin typeface="KaiTi" panose="02010609060101010101" pitchFamily="49" charset="-122"/>
              <a:ea typeface="KaiTi" panose="02010609060101010101" pitchFamily="49" charset="-122"/>
              <a:cs typeface="Euclid" panose="02020503060505020303" pitchFamily="18" charset="0"/>
            </a:endParaRPr>
          </a:p>
          <a:p>
            <a:pPr algn="just">
              <a:lnSpc>
                <a:spcPct val="150000"/>
              </a:lnSpc>
            </a:pPr>
            <a:r>
              <a:rPr lang="zh-CN" altLang="zh-CN" sz="1800" dirty="0">
                <a:effectLst/>
                <a:latin typeface="KaiTi" panose="02010609060101010101" pitchFamily="49" charset="-122"/>
                <a:ea typeface="KaiTi" panose="02010609060101010101" pitchFamily="49" charset="-122"/>
                <a:cs typeface="Euclid" panose="02020503060505020303" pitchFamily="18" charset="0"/>
              </a:rPr>
              <a:t>在已经生成的决策树上进行剪枝，从而得到简化版的剪枝决策树。</a:t>
            </a:r>
          </a:p>
          <a:p>
            <a:pPr algn="just">
              <a:lnSpc>
                <a:spcPct val="150000"/>
              </a:lnSpc>
            </a:pPr>
            <a:r>
              <a:rPr lang="en-US" altLang="zh-CN" sz="1800" dirty="0">
                <a:effectLst/>
                <a:latin typeface="KaiTi" panose="02010609060101010101" pitchFamily="49" charset="-122"/>
                <a:ea typeface="KaiTi" panose="02010609060101010101" pitchFamily="49" charset="-122"/>
                <a:cs typeface="Euclid" panose="02020503060505020303" pitchFamily="18" charset="0"/>
              </a:rPr>
              <a:t>C4.5 </a:t>
            </a:r>
            <a:r>
              <a:rPr lang="zh-CN" altLang="zh-CN" sz="1800" dirty="0">
                <a:effectLst/>
                <a:latin typeface="KaiTi" panose="02010609060101010101" pitchFamily="49" charset="-122"/>
                <a:ea typeface="KaiTi" panose="02010609060101010101" pitchFamily="49" charset="-122"/>
                <a:cs typeface="Euclid" panose="02020503060505020303" pitchFamily="18" charset="0"/>
              </a:rPr>
              <a:t>采用的悲观剪枝方法，用递归的方式从低往上针对每一个非叶子节点，评估用一个最佳叶子节点去代替这课子树是否有益。如果剪枝后与剪枝前相比其错误率是保持或者下降，则这棵子树就可以被替换掉。</a:t>
            </a:r>
            <a:r>
              <a:rPr lang="en-US" altLang="zh-CN" sz="1800" dirty="0">
                <a:effectLst/>
                <a:latin typeface="KaiTi" panose="02010609060101010101" pitchFamily="49" charset="-122"/>
                <a:ea typeface="KaiTi" panose="02010609060101010101" pitchFamily="49" charset="-122"/>
                <a:cs typeface="Euclid" panose="02020503060505020303" pitchFamily="18" charset="0"/>
              </a:rPr>
              <a:t>C4.5 </a:t>
            </a:r>
            <a:r>
              <a:rPr lang="zh-CN" altLang="zh-CN" sz="1800" dirty="0">
                <a:effectLst/>
                <a:latin typeface="KaiTi" panose="02010609060101010101" pitchFamily="49" charset="-122"/>
                <a:ea typeface="KaiTi" panose="02010609060101010101" pitchFamily="49" charset="-122"/>
                <a:cs typeface="Euclid" panose="02020503060505020303" pitchFamily="18" charset="0"/>
              </a:rPr>
              <a:t>通过训练数据集上的错误分类数量来估算未知样本上的错误率。</a:t>
            </a:r>
          </a:p>
          <a:p>
            <a:pPr algn="just">
              <a:lnSpc>
                <a:spcPct val="150000"/>
              </a:lnSpc>
            </a:pPr>
            <a:r>
              <a:rPr lang="zh-CN" altLang="zh-CN" sz="1800" kern="100" dirty="0">
                <a:effectLst/>
                <a:latin typeface="KaiTi" panose="02010609060101010101" pitchFamily="49" charset="-122"/>
                <a:ea typeface="KaiTi" panose="02010609060101010101" pitchFamily="49" charset="-122"/>
                <a:cs typeface="Times New Roman" panose="02020603050405020304" pitchFamily="18" charset="0"/>
              </a:rPr>
              <a:t>后剪枝决策树的欠拟合风险很小，泛化性能往往优于预剪枝决策树。</a:t>
            </a:r>
            <a:endParaRPr lang="zh-CN" altLang="zh-CN" sz="1800" dirty="0">
              <a:effectLst/>
              <a:latin typeface="KaiTi" panose="02010609060101010101" pitchFamily="49" charset="-122"/>
              <a:ea typeface="KaiTi" panose="02010609060101010101" pitchFamily="49" charset="-122"/>
              <a:cs typeface="Euclid" panose="02020503060505020303" pitchFamily="18" charset="0"/>
            </a:endParaRPr>
          </a:p>
        </p:txBody>
      </p:sp>
      <p:cxnSp>
        <p:nvCxnSpPr>
          <p:cNvPr id="8" name="直接箭头连接符 7">
            <a:extLst>
              <a:ext uri="{FF2B5EF4-FFF2-40B4-BE49-F238E27FC236}">
                <a16:creationId xmlns:a16="http://schemas.microsoft.com/office/drawing/2014/main" id="{6D27A94E-37C8-4366-863A-CDC237B7A361}"/>
              </a:ext>
            </a:extLst>
          </p:cNvPr>
          <p:cNvCxnSpPr>
            <a:cxnSpLocks/>
            <a:stCxn id="21" idx="2"/>
          </p:cNvCxnSpPr>
          <p:nvPr/>
        </p:nvCxnSpPr>
        <p:spPr>
          <a:xfrm flipH="1">
            <a:off x="1638860" y="2196887"/>
            <a:ext cx="1299784" cy="5643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2D86206-7572-4EC2-A12B-B1F75EDDF784}"/>
              </a:ext>
            </a:extLst>
          </p:cNvPr>
          <p:cNvCxnSpPr>
            <a:cxnSpLocks/>
            <a:stCxn id="21" idx="6"/>
          </p:cNvCxnSpPr>
          <p:nvPr/>
        </p:nvCxnSpPr>
        <p:spPr>
          <a:xfrm>
            <a:off x="3794280" y="2196887"/>
            <a:ext cx="1652599" cy="62898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D654BA4-916C-477C-BAE2-C75F72C153DA}"/>
              </a:ext>
            </a:extLst>
          </p:cNvPr>
          <p:cNvCxnSpPr>
            <a:cxnSpLocks/>
            <a:endCxn id="15" idx="0"/>
          </p:cNvCxnSpPr>
          <p:nvPr/>
        </p:nvCxnSpPr>
        <p:spPr>
          <a:xfrm flipH="1">
            <a:off x="3483607" y="2738557"/>
            <a:ext cx="515160" cy="85163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FF4DC28E-F4B6-4745-B193-97DB933AB4AC}"/>
              </a:ext>
            </a:extLst>
          </p:cNvPr>
          <p:cNvSpPr txBox="1"/>
          <p:nvPr/>
        </p:nvSpPr>
        <p:spPr>
          <a:xfrm>
            <a:off x="4407621" y="216671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平坦</a:t>
            </a:r>
          </a:p>
        </p:txBody>
      </p:sp>
      <p:sp>
        <p:nvSpPr>
          <p:cNvPr id="15" name="椭圆 14">
            <a:extLst>
              <a:ext uri="{FF2B5EF4-FFF2-40B4-BE49-F238E27FC236}">
                <a16:creationId xmlns:a16="http://schemas.microsoft.com/office/drawing/2014/main" id="{2D992E3C-5ED9-4615-B580-609EECFE44E2}"/>
              </a:ext>
            </a:extLst>
          </p:cNvPr>
          <p:cNvSpPr/>
          <p:nvPr/>
        </p:nvSpPr>
        <p:spPr>
          <a:xfrm>
            <a:off x="3055789" y="3590192"/>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16" name="椭圆 15">
            <a:extLst>
              <a:ext uri="{FF2B5EF4-FFF2-40B4-BE49-F238E27FC236}">
                <a16:creationId xmlns:a16="http://schemas.microsoft.com/office/drawing/2014/main" id="{9321521A-3AFE-4EE5-BDC1-DAA5DF23CA55}"/>
              </a:ext>
            </a:extLst>
          </p:cNvPr>
          <p:cNvSpPr/>
          <p:nvPr/>
        </p:nvSpPr>
        <p:spPr>
          <a:xfrm>
            <a:off x="5080380" y="357557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7" name="椭圆 16">
            <a:extLst>
              <a:ext uri="{FF2B5EF4-FFF2-40B4-BE49-F238E27FC236}">
                <a16:creationId xmlns:a16="http://schemas.microsoft.com/office/drawing/2014/main" id="{C21065FA-0353-41A7-8706-5EB31B71C048}"/>
              </a:ext>
            </a:extLst>
          </p:cNvPr>
          <p:cNvSpPr/>
          <p:nvPr/>
        </p:nvSpPr>
        <p:spPr>
          <a:xfrm>
            <a:off x="5426097" y="267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9" name="椭圆 18">
            <a:extLst>
              <a:ext uri="{FF2B5EF4-FFF2-40B4-BE49-F238E27FC236}">
                <a16:creationId xmlns:a16="http://schemas.microsoft.com/office/drawing/2014/main" id="{EC88B4D3-0329-431C-92FE-4DF314793051}"/>
              </a:ext>
            </a:extLst>
          </p:cNvPr>
          <p:cNvSpPr/>
          <p:nvPr/>
        </p:nvSpPr>
        <p:spPr>
          <a:xfrm>
            <a:off x="3478653" y="2684335"/>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根蒂</a:t>
            </a:r>
          </a:p>
        </p:txBody>
      </p:sp>
      <p:sp>
        <p:nvSpPr>
          <p:cNvPr id="21" name="椭圆 20">
            <a:extLst>
              <a:ext uri="{FF2B5EF4-FFF2-40B4-BE49-F238E27FC236}">
                <a16:creationId xmlns:a16="http://schemas.microsoft.com/office/drawing/2014/main" id="{6D23733C-6A46-49CD-A663-D8C96DAEF78A}"/>
              </a:ext>
            </a:extLst>
          </p:cNvPr>
          <p:cNvSpPr/>
          <p:nvPr/>
        </p:nvSpPr>
        <p:spPr>
          <a:xfrm>
            <a:off x="2938644" y="1996587"/>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脐部</a:t>
            </a:r>
          </a:p>
        </p:txBody>
      </p:sp>
      <p:cxnSp>
        <p:nvCxnSpPr>
          <p:cNvPr id="22" name="直接箭头连接符 21">
            <a:extLst>
              <a:ext uri="{FF2B5EF4-FFF2-40B4-BE49-F238E27FC236}">
                <a16:creationId xmlns:a16="http://schemas.microsoft.com/office/drawing/2014/main" id="{EAC30686-5BF0-48A0-8ABE-0EE66FF04CA8}"/>
              </a:ext>
            </a:extLst>
          </p:cNvPr>
          <p:cNvCxnSpPr>
            <a:cxnSpLocks/>
            <a:stCxn id="15" idx="4"/>
          </p:cNvCxnSpPr>
          <p:nvPr/>
        </p:nvCxnSpPr>
        <p:spPr>
          <a:xfrm flipH="1">
            <a:off x="3291691" y="3990791"/>
            <a:ext cx="191916" cy="7475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97E636E-8599-46E6-8859-5465DC8E6405}"/>
              </a:ext>
            </a:extLst>
          </p:cNvPr>
          <p:cNvCxnSpPr>
            <a:cxnSpLocks/>
            <a:stCxn id="15" idx="3"/>
          </p:cNvCxnSpPr>
          <p:nvPr/>
        </p:nvCxnSpPr>
        <p:spPr>
          <a:xfrm flipH="1">
            <a:off x="2444264" y="3932125"/>
            <a:ext cx="736830" cy="53992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678A606-94FA-4D9D-9669-D50583982593}"/>
              </a:ext>
            </a:extLst>
          </p:cNvPr>
          <p:cNvCxnSpPr>
            <a:cxnSpLocks/>
          </p:cNvCxnSpPr>
          <p:nvPr/>
        </p:nvCxnSpPr>
        <p:spPr>
          <a:xfrm>
            <a:off x="3683797" y="3893338"/>
            <a:ext cx="332949" cy="71184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F6000557-FDB1-4B18-8794-87531E3E6281}"/>
              </a:ext>
            </a:extLst>
          </p:cNvPr>
          <p:cNvCxnSpPr>
            <a:cxnSpLocks/>
          </p:cNvCxnSpPr>
          <p:nvPr/>
        </p:nvCxnSpPr>
        <p:spPr>
          <a:xfrm>
            <a:off x="4028168" y="3060014"/>
            <a:ext cx="346697" cy="58574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AB8AF78-23F8-4D87-8ED6-E266F649EBE7}"/>
              </a:ext>
            </a:extLst>
          </p:cNvPr>
          <p:cNvCxnSpPr>
            <a:cxnSpLocks/>
          </p:cNvCxnSpPr>
          <p:nvPr/>
        </p:nvCxnSpPr>
        <p:spPr>
          <a:xfrm>
            <a:off x="4327269" y="2914970"/>
            <a:ext cx="1010283" cy="65741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E01967D8-D913-4C82-97C9-289CEF6ABBE0}"/>
              </a:ext>
            </a:extLst>
          </p:cNvPr>
          <p:cNvSpPr/>
          <p:nvPr/>
        </p:nvSpPr>
        <p:spPr>
          <a:xfrm>
            <a:off x="3827450" y="4582366"/>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28" name="椭圆 27">
            <a:extLst>
              <a:ext uri="{FF2B5EF4-FFF2-40B4-BE49-F238E27FC236}">
                <a16:creationId xmlns:a16="http://schemas.microsoft.com/office/drawing/2014/main" id="{EE6971D0-DF3C-46BF-9275-B4379D39D48B}"/>
              </a:ext>
            </a:extLst>
          </p:cNvPr>
          <p:cNvSpPr/>
          <p:nvPr/>
        </p:nvSpPr>
        <p:spPr>
          <a:xfrm>
            <a:off x="4022120" y="3645759"/>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29" name="椭圆 28">
            <a:extLst>
              <a:ext uri="{FF2B5EF4-FFF2-40B4-BE49-F238E27FC236}">
                <a16:creationId xmlns:a16="http://schemas.microsoft.com/office/drawing/2014/main" id="{9E04493D-6A1C-4B92-B1AE-7B9A49D99EE9}"/>
              </a:ext>
            </a:extLst>
          </p:cNvPr>
          <p:cNvSpPr/>
          <p:nvPr/>
        </p:nvSpPr>
        <p:spPr>
          <a:xfrm>
            <a:off x="2882677" y="474376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30" name="椭圆 29">
            <a:extLst>
              <a:ext uri="{FF2B5EF4-FFF2-40B4-BE49-F238E27FC236}">
                <a16:creationId xmlns:a16="http://schemas.microsoft.com/office/drawing/2014/main" id="{769FE669-8DF4-48C1-B5EF-A5D7B326D6ED}"/>
              </a:ext>
            </a:extLst>
          </p:cNvPr>
          <p:cNvSpPr/>
          <p:nvPr/>
        </p:nvSpPr>
        <p:spPr>
          <a:xfrm>
            <a:off x="1908142" y="4473900"/>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31" name="椭圆 30">
            <a:extLst>
              <a:ext uri="{FF2B5EF4-FFF2-40B4-BE49-F238E27FC236}">
                <a16:creationId xmlns:a16="http://schemas.microsoft.com/office/drawing/2014/main" id="{4547C8DC-7447-46A1-881D-93FD71C6DC1D}"/>
              </a:ext>
            </a:extLst>
          </p:cNvPr>
          <p:cNvSpPr/>
          <p:nvPr/>
        </p:nvSpPr>
        <p:spPr>
          <a:xfrm>
            <a:off x="900469" y="2709082"/>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32" name="文本框 31">
            <a:extLst>
              <a:ext uri="{FF2B5EF4-FFF2-40B4-BE49-F238E27FC236}">
                <a16:creationId xmlns:a16="http://schemas.microsoft.com/office/drawing/2014/main" id="{B82E3964-3FEC-47C0-A16D-EA3AA0F0140B}"/>
              </a:ext>
            </a:extLst>
          </p:cNvPr>
          <p:cNvSpPr txBox="1"/>
          <p:nvPr/>
        </p:nvSpPr>
        <p:spPr>
          <a:xfrm>
            <a:off x="1909721" y="220804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凹陷</a:t>
            </a:r>
          </a:p>
        </p:txBody>
      </p:sp>
      <p:sp>
        <p:nvSpPr>
          <p:cNvPr id="33" name="文本框 32">
            <a:extLst>
              <a:ext uri="{FF2B5EF4-FFF2-40B4-BE49-F238E27FC236}">
                <a16:creationId xmlns:a16="http://schemas.microsoft.com/office/drawing/2014/main" id="{6CF07206-74FB-4AEC-88B4-13714E94B036}"/>
              </a:ext>
            </a:extLst>
          </p:cNvPr>
          <p:cNvSpPr txBox="1"/>
          <p:nvPr/>
        </p:nvSpPr>
        <p:spPr>
          <a:xfrm>
            <a:off x="4568148" y="3136086"/>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硬挺</a:t>
            </a:r>
          </a:p>
        </p:txBody>
      </p:sp>
      <p:sp>
        <p:nvSpPr>
          <p:cNvPr id="34" name="文本框 33">
            <a:extLst>
              <a:ext uri="{FF2B5EF4-FFF2-40B4-BE49-F238E27FC236}">
                <a16:creationId xmlns:a16="http://schemas.microsoft.com/office/drawing/2014/main" id="{DC9BCD49-6455-49EA-B368-5791286CA694}"/>
              </a:ext>
            </a:extLst>
          </p:cNvPr>
          <p:cNvSpPr txBox="1"/>
          <p:nvPr/>
        </p:nvSpPr>
        <p:spPr>
          <a:xfrm>
            <a:off x="3850271" y="3126840"/>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蜷曲</a:t>
            </a:r>
          </a:p>
        </p:txBody>
      </p:sp>
      <p:sp>
        <p:nvSpPr>
          <p:cNvPr id="35" name="文本框 34">
            <a:extLst>
              <a:ext uri="{FF2B5EF4-FFF2-40B4-BE49-F238E27FC236}">
                <a16:creationId xmlns:a16="http://schemas.microsoft.com/office/drawing/2014/main" id="{DF34FA86-F0A3-47F2-BBEB-C9D8419015E8}"/>
              </a:ext>
            </a:extLst>
          </p:cNvPr>
          <p:cNvSpPr txBox="1"/>
          <p:nvPr/>
        </p:nvSpPr>
        <p:spPr>
          <a:xfrm>
            <a:off x="3134995" y="310866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稍蜷</a:t>
            </a:r>
          </a:p>
        </p:txBody>
      </p:sp>
      <p:sp>
        <p:nvSpPr>
          <p:cNvPr id="36" name="文本框 35">
            <a:extLst>
              <a:ext uri="{FF2B5EF4-FFF2-40B4-BE49-F238E27FC236}">
                <a16:creationId xmlns:a16="http://schemas.microsoft.com/office/drawing/2014/main" id="{C49BD02D-B8D8-4221-B223-F71613CBCAE5}"/>
              </a:ext>
            </a:extLst>
          </p:cNvPr>
          <p:cNvSpPr txBox="1"/>
          <p:nvPr/>
        </p:nvSpPr>
        <p:spPr>
          <a:xfrm>
            <a:off x="3210193" y="241092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稍凹</a:t>
            </a:r>
          </a:p>
        </p:txBody>
      </p:sp>
      <p:sp>
        <p:nvSpPr>
          <p:cNvPr id="38" name="文本框 37">
            <a:extLst>
              <a:ext uri="{FF2B5EF4-FFF2-40B4-BE49-F238E27FC236}">
                <a16:creationId xmlns:a16="http://schemas.microsoft.com/office/drawing/2014/main" id="{C9A3C42F-5841-4576-BFB6-22D5C5B4F1AB}"/>
              </a:ext>
            </a:extLst>
          </p:cNvPr>
          <p:cNvSpPr txBox="1"/>
          <p:nvPr/>
        </p:nvSpPr>
        <p:spPr>
          <a:xfrm>
            <a:off x="3806844" y="405609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39" name="文本框 38">
            <a:extLst>
              <a:ext uri="{FF2B5EF4-FFF2-40B4-BE49-F238E27FC236}">
                <a16:creationId xmlns:a16="http://schemas.microsoft.com/office/drawing/2014/main" id="{9F53FACB-B784-455A-B3A1-A2BA12E6B45F}"/>
              </a:ext>
            </a:extLst>
          </p:cNvPr>
          <p:cNvSpPr txBox="1"/>
          <p:nvPr/>
        </p:nvSpPr>
        <p:spPr>
          <a:xfrm>
            <a:off x="2464963" y="406647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40" name="文本框 39">
            <a:extLst>
              <a:ext uri="{FF2B5EF4-FFF2-40B4-BE49-F238E27FC236}">
                <a16:creationId xmlns:a16="http://schemas.microsoft.com/office/drawing/2014/main" id="{5B0D7537-EA53-4440-9256-E4C39454306B}"/>
              </a:ext>
            </a:extLst>
          </p:cNvPr>
          <p:cNvSpPr txBox="1"/>
          <p:nvPr/>
        </p:nvSpPr>
        <p:spPr>
          <a:xfrm>
            <a:off x="3147020" y="406525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41" name="文本框 40">
            <a:extLst>
              <a:ext uri="{FF2B5EF4-FFF2-40B4-BE49-F238E27FC236}">
                <a16:creationId xmlns:a16="http://schemas.microsoft.com/office/drawing/2014/main" id="{1E3E81AF-70DD-4188-BDA8-4FB768691731}"/>
              </a:ext>
            </a:extLst>
          </p:cNvPr>
          <p:cNvSpPr txBox="1"/>
          <p:nvPr/>
        </p:nvSpPr>
        <p:spPr>
          <a:xfrm>
            <a:off x="2845324" y="171990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①</a:t>
            </a:r>
          </a:p>
        </p:txBody>
      </p:sp>
      <p:sp>
        <p:nvSpPr>
          <p:cNvPr id="42" name="文本框 41">
            <a:extLst>
              <a:ext uri="{FF2B5EF4-FFF2-40B4-BE49-F238E27FC236}">
                <a16:creationId xmlns:a16="http://schemas.microsoft.com/office/drawing/2014/main" id="{949E1F62-4736-4D00-8CEA-6709A8A0DA5D}"/>
              </a:ext>
            </a:extLst>
          </p:cNvPr>
          <p:cNvSpPr txBox="1"/>
          <p:nvPr/>
        </p:nvSpPr>
        <p:spPr>
          <a:xfrm>
            <a:off x="2756104" y="4471855"/>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⑥</a:t>
            </a:r>
          </a:p>
        </p:txBody>
      </p:sp>
      <p:sp>
        <p:nvSpPr>
          <p:cNvPr id="43" name="文本框 42">
            <a:extLst>
              <a:ext uri="{FF2B5EF4-FFF2-40B4-BE49-F238E27FC236}">
                <a16:creationId xmlns:a16="http://schemas.microsoft.com/office/drawing/2014/main" id="{881CB148-F31A-4659-BB7D-BC74DCA8F3E0}"/>
              </a:ext>
            </a:extLst>
          </p:cNvPr>
          <p:cNvSpPr txBox="1"/>
          <p:nvPr/>
        </p:nvSpPr>
        <p:spPr>
          <a:xfrm>
            <a:off x="2960944" y="3314891"/>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⑤</a:t>
            </a:r>
          </a:p>
        </p:txBody>
      </p:sp>
      <p:sp>
        <p:nvSpPr>
          <p:cNvPr id="44" name="文本框 43">
            <a:extLst>
              <a:ext uri="{FF2B5EF4-FFF2-40B4-BE49-F238E27FC236}">
                <a16:creationId xmlns:a16="http://schemas.microsoft.com/office/drawing/2014/main" id="{05B97BC5-4988-4BE3-B5AB-C268822501EB}"/>
              </a:ext>
            </a:extLst>
          </p:cNvPr>
          <p:cNvSpPr txBox="1"/>
          <p:nvPr/>
        </p:nvSpPr>
        <p:spPr>
          <a:xfrm>
            <a:off x="5245369" y="2441948"/>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④</a:t>
            </a:r>
          </a:p>
        </p:txBody>
      </p:sp>
      <p:sp>
        <p:nvSpPr>
          <p:cNvPr id="45" name="文本框 44">
            <a:extLst>
              <a:ext uri="{FF2B5EF4-FFF2-40B4-BE49-F238E27FC236}">
                <a16:creationId xmlns:a16="http://schemas.microsoft.com/office/drawing/2014/main" id="{99B2016E-5653-44F6-9555-6F9A8D035D31}"/>
              </a:ext>
            </a:extLst>
          </p:cNvPr>
          <p:cNvSpPr txBox="1"/>
          <p:nvPr/>
        </p:nvSpPr>
        <p:spPr>
          <a:xfrm>
            <a:off x="3124923" y="2632854"/>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③</a:t>
            </a:r>
          </a:p>
        </p:txBody>
      </p:sp>
      <p:sp>
        <p:nvSpPr>
          <p:cNvPr id="46" name="文本框 45">
            <a:extLst>
              <a:ext uri="{FF2B5EF4-FFF2-40B4-BE49-F238E27FC236}">
                <a16:creationId xmlns:a16="http://schemas.microsoft.com/office/drawing/2014/main" id="{971810AA-CD70-4C09-84B4-9FAAEF866077}"/>
              </a:ext>
            </a:extLst>
          </p:cNvPr>
          <p:cNvSpPr txBox="1"/>
          <p:nvPr/>
        </p:nvSpPr>
        <p:spPr>
          <a:xfrm>
            <a:off x="699850" y="2477403"/>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②</a:t>
            </a:r>
          </a:p>
        </p:txBody>
      </p:sp>
      <p:sp>
        <p:nvSpPr>
          <p:cNvPr id="47" name="文本框 46">
            <a:extLst>
              <a:ext uri="{FF2B5EF4-FFF2-40B4-BE49-F238E27FC236}">
                <a16:creationId xmlns:a16="http://schemas.microsoft.com/office/drawing/2014/main" id="{1983F8AA-1EC6-4641-9835-C8402370BAF5}"/>
              </a:ext>
            </a:extLst>
          </p:cNvPr>
          <p:cNvSpPr txBox="1"/>
          <p:nvPr/>
        </p:nvSpPr>
        <p:spPr>
          <a:xfrm>
            <a:off x="1688540" y="2771036"/>
            <a:ext cx="1759277" cy="338554"/>
          </a:xfrm>
          <a:prstGeom prst="rect">
            <a:avLst/>
          </a:prstGeom>
          <a:noFill/>
        </p:spPr>
        <p:txBody>
          <a:bodyPr wrap="square">
            <a:spAutoFit/>
          </a:bodyPr>
          <a:lstStyle/>
          <a:p>
            <a:r>
              <a:rPr lang="en-US" altLang="zh-CN" sz="1600" kern="100" dirty="0">
                <a:solidFill>
                  <a:srgbClr val="FF0000"/>
                </a:solidFill>
                <a:effectLst/>
                <a:latin typeface="KaiTi" panose="02010609060101010101" pitchFamily="49" charset="-122"/>
                <a:ea typeface="KaiTi" panose="02010609060101010101" pitchFamily="49" charset="-122"/>
              </a:rPr>
              <a:t>{1,2,3,14}</a:t>
            </a:r>
            <a:endParaRPr lang="zh-CN" altLang="en-US" sz="1600" dirty="0">
              <a:solidFill>
                <a:srgbClr val="FF0000"/>
              </a:solidFill>
              <a:latin typeface="KaiTi" panose="02010609060101010101" pitchFamily="49" charset="-122"/>
              <a:ea typeface="KaiTi" panose="02010609060101010101" pitchFamily="49" charset="-122"/>
            </a:endParaRPr>
          </a:p>
        </p:txBody>
      </p:sp>
      <p:sp>
        <p:nvSpPr>
          <p:cNvPr id="48" name="文本框 47">
            <a:extLst>
              <a:ext uri="{FF2B5EF4-FFF2-40B4-BE49-F238E27FC236}">
                <a16:creationId xmlns:a16="http://schemas.microsoft.com/office/drawing/2014/main" id="{C2411EC3-EBDA-4777-9CF7-84E8EE2D6F8D}"/>
              </a:ext>
            </a:extLst>
          </p:cNvPr>
          <p:cNvSpPr txBox="1"/>
          <p:nvPr/>
        </p:nvSpPr>
        <p:spPr>
          <a:xfrm>
            <a:off x="2255356" y="4836421"/>
            <a:ext cx="1759277" cy="338554"/>
          </a:xfrm>
          <a:prstGeom prst="rect">
            <a:avLst/>
          </a:prstGeom>
          <a:noFill/>
        </p:spPr>
        <p:txBody>
          <a:bodyPr wrap="square">
            <a:spAutoFit/>
          </a:bodyPr>
          <a:lstStyle/>
          <a:p>
            <a:r>
              <a:rPr lang="en-US" altLang="zh-CN" sz="1600" kern="100" dirty="0">
                <a:solidFill>
                  <a:srgbClr val="FF0000"/>
                </a:solidFill>
                <a:effectLst/>
                <a:latin typeface="KaiTi" panose="02010609060101010101" pitchFamily="49" charset="-122"/>
                <a:ea typeface="KaiTi" panose="02010609060101010101" pitchFamily="49" charset="-122"/>
              </a:rPr>
              <a:t>{7,15}</a:t>
            </a:r>
            <a:endParaRPr lang="zh-CN" altLang="en-US" sz="1600" dirty="0">
              <a:solidFill>
                <a:srgbClr val="FF0000"/>
              </a:solidFill>
              <a:latin typeface="KaiTi" panose="02010609060101010101" pitchFamily="49" charset="-122"/>
              <a:ea typeface="KaiTi" panose="02010609060101010101" pitchFamily="49" charset="-122"/>
            </a:endParaRPr>
          </a:p>
        </p:txBody>
      </p:sp>
      <p:sp>
        <p:nvSpPr>
          <p:cNvPr id="49" name="文本框 48">
            <a:extLst>
              <a:ext uri="{FF2B5EF4-FFF2-40B4-BE49-F238E27FC236}">
                <a16:creationId xmlns:a16="http://schemas.microsoft.com/office/drawing/2014/main" id="{FECD2BAF-C38E-4010-8063-C22C9347993F}"/>
              </a:ext>
            </a:extLst>
          </p:cNvPr>
          <p:cNvSpPr txBox="1"/>
          <p:nvPr/>
        </p:nvSpPr>
        <p:spPr>
          <a:xfrm>
            <a:off x="125525" y="3397118"/>
            <a:ext cx="2719799" cy="954107"/>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原分支“色泽”的验证集精度</a:t>
            </a:r>
          </a:p>
          <a:p>
            <a:r>
              <a:rPr lang="zh-CN" altLang="en-US" sz="1400" dirty="0">
                <a:solidFill>
                  <a:srgbClr val="FF0000"/>
                </a:solidFill>
                <a:latin typeface="KaiTi" panose="02010609060101010101" pitchFamily="49" charset="-122"/>
                <a:ea typeface="KaiTi" panose="02010609060101010101" pitchFamily="49" charset="-122"/>
              </a:rPr>
              <a:t>剪枝前:</a:t>
            </a:r>
            <a:r>
              <a:rPr lang="en-US" altLang="zh-CN" sz="1400" dirty="0">
                <a:solidFill>
                  <a:srgbClr val="FF0000"/>
                </a:solidFill>
                <a:latin typeface="KaiTi" panose="02010609060101010101" pitchFamily="49" charset="-122"/>
                <a:ea typeface="KaiTi" panose="02010609060101010101" pitchFamily="49" charset="-122"/>
              </a:rPr>
              <a:t>57.1</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剪枝后:</a:t>
            </a:r>
            <a:r>
              <a:rPr lang="en-US" altLang="zh-CN" sz="1400" dirty="0">
                <a:solidFill>
                  <a:srgbClr val="FF0000"/>
                </a:solidFill>
                <a:latin typeface="KaiTi" panose="02010609060101010101" pitchFamily="49" charset="-122"/>
                <a:ea typeface="KaiTi" panose="02010609060101010101" pitchFamily="49" charset="-122"/>
              </a:rPr>
              <a:t>71.4</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后剪枝决策:剪枝</a:t>
            </a:r>
          </a:p>
        </p:txBody>
      </p:sp>
      <p:cxnSp>
        <p:nvCxnSpPr>
          <p:cNvPr id="50" name="直接箭头连接符 49">
            <a:extLst>
              <a:ext uri="{FF2B5EF4-FFF2-40B4-BE49-F238E27FC236}">
                <a16:creationId xmlns:a16="http://schemas.microsoft.com/office/drawing/2014/main" id="{0739EE02-008F-4EE3-AA85-1C3D470291AF}"/>
              </a:ext>
            </a:extLst>
          </p:cNvPr>
          <p:cNvCxnSpPr>
            <a:cxnSpLocks/>
          </p:cNvCxnSpPr>
          <p:nvPr/>
        </p:nvCxnSpPr>
        <p:spPr>
          <a:xfrm flipV="1">
            <a:off x="1139104" y="3076358"/>
            <a:ext cx="0" cy="367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A9EF799-FD45-41A9-9C49-CD7B203C61C7}"/>
              </a:ext>
            </a:extLst>
          </p:cNvPr>
          <p:cNvSpPr txBox="1"/>
          <p:nvPr/>
        </p:nvSpPr>
        <p:spPr>
          <a:xfrm>
            <a:off x="3656307" y="5180825"/>
            <a:ext cx="2719799" cy="954107"/>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原分支“纹理”的验证集精度</a:t>
            </a:r>
          </a:p>
          <a:p>
            <a:r>
              <a:rPr lang="zh-CN" altLang="en-US" sz="1400" dirty="0">
                <a:solidFill>
                  <a:srgbClr val="FF0000"/>
                </a:solidFill>
                <a:latin typeface="KaiTi" panose="02010609060101010101" pitchFamily="49" charset="-122"/>
                <a:ea typeface="KaiTi" panose="02010609060101010101" pitchFamily="49" charset="-122"/>
              </a:rPr>
              <a:t>剪枝前:</a:t>
            </a:r>
            <a:r>
              <a:rPr lang="en-US" altLang="zh-CN" sz="1400" dirty="0">
                <a:solidFill>
                  <a:srgbClr val="FF0000"/>
                </a:solidFill>
                <a:latin typeface="KaiTi" panose="02010609060101010101" pitchFamily="49" charset="-122"/>
                <a:ea typeface="KaiTi" panose="02010609060101010101" pitchFamily="49" charset="-122"/>
              </a:rPr>
              <a:t>42.9</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剪枝后:</a:t>
            </a:r>
            <a:r>
              <a:rPr lang="en-US" altLang="zh-CN" sz="1400" dirty="0">
                <a:solidFill>
                  <a:srgbClr val="FF0000"/>
                </a:solidFill>
                <a:latin typeface="KaiTi" panose="02010609060101010101" pitchFamily="49" charset="-122"/>
                <a:ea typeface="KaiTi" panose="02010609060101010101" pitchFamily="49" charset="-122"/>
              </a:rPr>
              <a:t>57.1</a:t>
            </a:r>
            <a:r>
              <a:rPr lang="zh-CN" altLang="en-US" sz="1400" dirty="0">
                <a:solidFill>
                  <a:srgbClr val="FF0000"/>
                </a:solidFill>
                <a:latin typeface="KaiTi" panose="02010609060101010101" pitchFamily="49" charset="-122"/>
                <a:ea typeface="KaiTi" panose="02010609060101010101" pitchFamily="49" charset="-122"/>
              </a:rPr>
              <a:t>%</a:t>
            </a:r>
          </a:p>
          <a:p>
            <a:r>
              <a:rPr lang="zh-CN" altLang="en-US" sz="1400" dirty="0">
                <a:solidFill>
                  <a:srgbClr val="FF0000"/>
                </a:solidFill>
                <a:latin typeface="KaiTi" panose="02010609060101010101" pitchFamily="49" charset="-122"/>
                <a:ea typeface="KaiTi" panose="02010609060101010101" pitchFamily="49" charset="-122"/>
              </a:rPr>
              <a:t>后剪枝决策:剪枝</a:t>
            </a:r>
          </a:p>
        </p:txBody>
      </p:sp>
      <p:cxnSp>
        <p:nvCxnSpPr>
          <p:cNvPr id="52" name="直接箭头连接符 51">
            <a:extLst>
              <a:ext uri="{FF2B5EF4-FFF2-40B4-BE49-F238E27FC236}">
                <a16:creationId xmlns:a16="http://schemas.microsoft.com/office/drawing/2014/main" id="{BDE7334A-6E96-4DA1-B19D-23B53B77D39A}"/>
              </a:ext>
            </a:extLst>
          </p:cNvPr>
          <p:cNvCxnSpPr>
            <a:cxnSpLocks/>
          </p:cNvCxnSpPr>
          <p:nvPr/>
        </p:nvCxnSpPr>
        <p:spPr>
          <a:xfrm flipH="1" flipV="1">
            <a:off x="3656307" y="5066907"/>
            <a:ext cx="1013579" cy="1608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02B9C524-54FA-442E-B9DF-2C47D42E7CB9}"/>
              </a:ext>
            </a:extLst>
          </p:cNvPr>
          <p:cNvCxnSpPr>
            <a:cxnSpLocks/>
          </p:cNvCxnSpPr>
          <p:nvPr/>
        </p:nvCxnSpPr>
        <p:spPr>
          <a:xfrm>
            <a:off x="3585686" y="2373949"/>
            <a:ext cx="152627" cy="32304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4" name="제목 2">
            <a:extLst>
              <a:ext uri="{FF2B5EF4-FFF2-40B4-BE49-F238E27FC236}">
                <a16:creationId xmlns:a16="http://schemas.microsoft.com/office/drawing/2014/main" id="{FB6F6E2F-2B9F-61B3-32A6-EA4560A1B311}"/>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p>
        </p:txBody>
      </p:sp>
    </p:spTree>
    <p:extLst>
      <p:ext uri="{BB962C8B-B14F-4D97-AF65-F5344CB8AC3E}">
        <p14:creationId xmlns:p14="http://schemas.microsoft.com/office/powerpoint/2010/main" val="1640692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7" name="文本框 6">
            <a:extLst>
              <a:ext uri="{FF2B5EF4-FFF2-40B4-BE49-F238E27FC236}">
                <a16:creationId xmlns:a16="http://schemas.microsoft.com/office/drawing/2014/main" id="{8FA5A88E-5B31-45BF-A61B-E0E86838CCE5}"/>
              </a:ext>
            </a:extLst>
          </p:cNvPr>
          <p:cNvSpPr txBox="1"/>
          <p:nvPr/>
        </p:nvSpPr>
        <p:spPr>
          <a:xfrm>
            <a:off x="702916" y="1336419"/>
            <a:ext cx="4565286" cy="3251852"/>
          </a:xfrm>
          <a:prstGeom prst="rect">
            <a:avLst/>
          </a:prstGeom>
          <a:noFill/>
        </p:spPr>
        <p:txBody>
          <a:bodyPr wrap="square">
            <a:spAutoFit/>
          </a:bodyPr>
          <a:lstStyle/>
          <a:p>
            <a:pPr algn="just">
              <a:lnSpc>
                <a:spcPct val="150000"/>
              </a:lnSpc>
            </a:pPr>
            <a:r>
              <a:rPr lang="zh-CN" altLang="en-US" sz="2000" dirty="0">
                <a:latin typeface="KaiTi" panose="02010609060101010101" pitchFamily="49" charset="-122"/>
                <a:ea typeface="KaiTi" panose="02010609060101010101" pitchFamily="49" charset="-122"/>
              </a:rPr>
              <a:t>具体流程:</a:t>
            </a:r>
          </a:p>
          <a:p>
            <a:pPr algn="just">
              <a:lnSpc>
                <a:spcPct val="150000"/>
              </a:lnSpc>
            </a:pPr>
            <a:r>
              <a:rPr lang="zh-CN" altLang="en-US" sz="2000" dirty="0">
                <a:latin typeface="KaiTi" panose="02010609060101010101" pitchFamily="49" charset="-122"/>
                <a:ea typeface="KaiTi" panose="02010609060101010101" pitchFamily="49" charset="-122"/>
              </a:rPr>
              <a:t>(1)计算每一个结点的条件熵</a:t>
            </a:r>
          </a:p>
          <a:p>
            <a:pPr algn="just">
              <a:lnSpc>
                <a:spcPct val="150000"/>
              </a:lnSpc>
            </a:pPr>
            <a:r>
              <a:rPr lang="zh-CN" altLang="en-US" sz="2000" dirty="0">
                <a:latin typeface="KaiTi" panose="02010609060101010101" pitchFamily="49" charset="-122"/>
                <a:ea typeface="KaiTi" panose="02010609060101010101" pitchFamily="49" charset="-122"/>
              </a:rPr>
              <a:t>(2)递归的从叶子节点开始往上遍历,减掉叶子节点,然后判断损失函数的值是否减少,如果减少,则将父节点作为新的叶子节点</a:t>
            </a:r>
          </a:p>
          <a:p>
            <a:pPr algn="just">
              <a:lnSpc>
                <a:spcPct val="150000"/>
              </a:lnSpc>
            </a:pPr>
            <a:r>
              <a:rPr lang="zh-CN" altLang="en-US" sz="2000" dirty="0">
                <a:latin typeface="KaiTi" panose="02010609060101010101" pitchFamily="49" charset="-122"/>
                <a:ea typeface="KaiTi" panose="02010609060101010101" pitchFamily="49" charset="-122"/>
              </a:rPr>
              <a:t>(3)重复(2),直到完全不能剪枝.</a:t>
            </a:r>
          </a:p>
        </p:txBody>
      </p:sp>
      <p:cxnSp>
        <p:nvCxnSpPr>
          <p:cNvPr id="9" name="直接箭头连接符 8">
            <a:extLst>
              <a:ext uri="{FF2B5EF4-FFF2-40B4-BE49-F238E27FC236}">
                <a16:creationId xmlns:a16="http://schemas.microsoft.com/office/drawing/2014/main" id="{A5C7C386-885E-458A-A39E-1D151FEE2D0B}"/>
              </a:ext>
            </a:extLst>
          </p:cNvPr>
          <p:cNvCxnSpPr>
            <a:cxnSpLocks/>
            <a:stCxn id="20" idx="2"/>
          </p:cNvCxnSpPr>
          <p:nvPr/>
        </p:nvCxnSpPr>
        <p:spPr>
          <a:xfrm flipH="1">
            <a:off x="6846211" y="2055254"/>
            <a:ext cx="1299784" cy="5643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A5180814-0627-4A04-90F7-5432FF425F7F}"/>
              </a:ext>
            </a:extLst>
          </p:cNvPr>
          <p:cNvCxnSpPr>
            <a:cxnSpLocks/>
            <a:stCxn id="20" idx="6"/>
          </p:cNvCxnSpPr>
          <p:nvPr/>
        </p:nvCxnSpPr>
        <p:spPr>
          <a:xfrm>
            <a:off x="9001631" y="2055254"/>
            <a:ext cx="1652599" cy="62898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A3F12CAF-F234-487D-9BFC-E6DDB7DC10E1}"/>
              </a:ext>
            </a:extLst>
          </p:cNvPr>
          <p:cNvCxnSpPr>
            <a:cxnSpLocks/>
            <a:endCxn id="15" idx="0"/>
          </p:cNvCxnSpPr>
          <p:nvPr/>
        </p:nvCxnSpPr>
        <p:spPr>
          <a:xfrm flipH="1">
            <a:off x="8690958" y="2596924"/>
            <a:ext cx="515160" cy="85163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76D4FF8F-B4B6-4779-A4B2-A97564838F9B}"/>
              </a:ext>
            </a:extLst>
          </p:cNvPr>
          <p:cNvCxnSpPr>
            <a:cxnSpLocks/>
          </p:cNvCxnSpPr>
          <p:nvPr/>
        </p:nvCxnSpPr>
        <p:spPr>
          <a:xfrm>
            <a:off x="8430112" y="1879317"/>
            <a:ext cx="640078" cy="65749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01DB187-6832-4A9B-9F59-E90BBBBB9055}"/>
              </a:ext>
            </a:extLst>
          </p:cNvPr>
          <p:cNvSpPr txBox="1"/>
          <p:nvPr/>
        </p:nvSpPr>
        <p:spPr>
          <a:xfrm>
            <a:off x="9614972" y="202507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平坦</a:t>
            </a:r>
          </a:p>
        </p:txBody>
      </p:sp>
      <p:sp>
        <p:nvSpPr>
          <p:cNvPr id="14" name="椭圆 13">
            <a:extLst>
              <a:ext uri="{FF2B5EF4-FFF2-40B4-BE49-F238E27FC236}">
                <a16:creationId xmlns:a16="http://schemas.microsoft.com/office/drawing/2014/main" id="{8D76DA6E-B6E2-4E22-9B7C-264C08C98C61}"/>
              </a:ext>
            </a:extLst>
          </p:cNvPr>
          <p:cNvSpPr/>
          <p:nvPr/>
        </p:nvSpPr>
        <p:spPr>
          <a:xfrm>
            <a:off x="8071224" y="4596680"/>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纹理</a:t>
            </a:r>
          </a:p>
        </p:txBody>
      </p:sp>
      <p:sp>
        <p:nvSpPr>
          <p:cNvPr id="15" name="椭圆 14">
            <a:extLst>
              <a:ext uri="{FF2B5EF4-FFF2-40B4-BE49-F238E27FC236}">
                <a16:creationId xmlns:a16="http://schemas.microsoft.com/office/drawing/2014/main" id="{3CD4C5BE-8C3D-4BD2-B0FF-A93BD3E613D4}"/>
              </a:ext>
            </a:extLst>
          </p:cNvPr>
          <p:cNvSpPr/>
          <p:nvPr/>
        </p:nvSpPr>
        <p:spPr>
          <a:xfrm>
            <a:off x="8263140" y="3448559"/>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16" name="椭圆 15">
            <a:extLst>
              <a:ext uri="{FF2B5EF4-FFF2-40B4-BE49-F238E27FC236}">
                <a16:creationId xmlns:a16="http://schemas.microsoft.com/office/drawing/2014/main" id="{75F72C52-D404-4DA7-8A6E-7482415C2347}"/>
              </a:ext>
            </a:extLst>
          </p:cNvPr>
          <p:cNvSpPr/>
          <p:nvPr/>
        </p:nvSpPr>
        <p:spPr>
          <a:xfrm>
            <a:off x="10287731" y="3433939"/>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17" name="椭圆 16">
            <a:extLst>
              <a:ext uri="{FF2B5EF4-FFF2-40B4-BE49-F238E27FC236}">
                <a16:creationId xmlns:a16="http://schemas.microsoft.com/office/drawing/2014/main" id="{053FE11A-0C91-45BC-A65F-FC73029196B6}"/>
              </a:ext>
            </a:extLst>
          </p:cNvPr>
          <p:cNvSpPr/>
          <p:nvPr/>
        </p:nvSpPr>
        <p:spPr>
          <a:xfrm>
            <a:off x="10633448" y="2534126"/>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18" name="椭圆 17">
            <a:extLst>
              <a:ext uri="{FF2B5EF4-FFF2-40B4-BE49-F238E27FC236}">
                <a16:creationId xmlns:a16="http://schemas.microsoft.com/office/drawing/2014/main" id="{046E72E8-6F2E-460F-9B50-0EAD29375D26}"/>
              </a:ext>
            </a:extLst>
          </p:cNvPr>
          <p:cNvSpPr/>
          <p:nvPr/>
        </p:nvSpPr>
        <p:spPr>
          <a:xfrm>
            <a:off x="8686004" y="2542702"/>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根蒂</a:t>
            </a:r>
          </a:p>
        </p:txBody>
      </p:sp>
      <p:sp>
        <p:nvSpPr>
          <p:cNvPr id="19" name="椭圆 18">
            <a:extLst>
              <a:ext uri="{FF2B5EF4-FFF2-40B4-BE49-F238E27FC236}">
                <a16:creationId xmlns:a16="http://schemas.microsoft.com/office/drawing/2014/main" id="{E2221BB5-4EA4-42EE-806C-003997CA43E6}"/>
              </a:ext>
            </a:extLst>
          </p:cNvPr>
          <p:cNvSpPr/>
          <p:nvPr/>
        </p:nvSpPr>
        <p:spPr>
          <a:xfrm>
            <a:off x="6099589" y="2569467"/>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色泽</a:t>
            </a:r>
          </a:p>
        </p:txBody>
      </p:sp>
      <p:sp>
        <p:nvSpPr>
          <p:cNvPr id="20" name="椭圆 19">
            <a:extLst>
              <a:ext uri="{FF2B5EF4-FFF2-40B4-BE49-F238E27FC236}">
                <a16:creationId xmlns:a16="http://schemas.microsoft.com/office/drawing/2014/main" id="{7A4BE854-40C3-4A01-81B1-0CA6B69FE50D}"/>
              </a:ext>
            </a:extLst>
          </p:cNvPr>
          <p:cNvSpPr/>
          <p:nvPr/>
        </p:nvSpPr>
        <p:spPr>
          <a:xfrm>
            <a:off x="8145995" y="1854954"/>
            <a:ext cx="855636" cy="400599"/>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脐部</a:t>
            </a:r>
          </a:p>
        </p:txBody>
      </p:sp>
      <p:cxnSp>
        <p:nvCxnSpPr>
          <p:cNvPr id="21" name="直接箭头连接符 20">
            <a:extLst>
              <a:ext uri="{FF2B5EF4-FFF2-40B4-BE49-F238E27FC236}">
                <a16:creationId xmlns:a16="http://schemas.microsoft.com/office/drawing/2014/main" id="{33FDC53C-7931-4F0E-9AF2-3A4B87D50DC6}"/>
              </a:ext>
            </a:extLst>
          </p:cNvPr>
          <p:cNvCxnSpPr>
            <a:cxnSpLocks/>
            <a:stCxn id="19" idx="4"/>
          </p:cNvCxnSpPr>
          <p:nvPr/>
        </p:nvCxnSpPr>
        <p:spPr>
          <a:xfrm flipH="1">
            <a:off x="6517604" y="2970066"/>
            <a:ext cx="9803" cy="91761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B44A5F9D-90E5-45A9-A1AD-8F351FC553BD}"/>
              </a:ext>
            </a:extLst>
          </p:cNvPr>
          <p:cNvCxnSpPr>
            <a:cxnSpLocks/>
          </p:cNvCxnSpPr>
          <p:nvPr/>
        </p:nvCxnSpPr>
        <p:spPr>
          <a:xfrm>
            <a:off x="6712503" y="2970066"/>
            <a:ext cx="652661" cy="4674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0F42D57-13A6-4E76-9767-F0EA057E1240}"/>
              </a:ext>
            </a:extLst>
          </p:cNvPr>
          <p:cNvCxnSpPr>
            <a:cxnSpLocks/>
            <a:stCxn id="15" idx="4"/>
            <a:endCxn id="14" idx="0"/>
          </p:cNvCxnSpPr>
          <p:nvPr/>
        </p:nvCxnSpPr>
        <p:spPr>
          <a:xfrm flipH="1">
            <a:off x="8499042" y="3849158"/>
            <a:ext cx="191916" cy="74752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E0B789F-CAC0-4E5B-AC5E-E4563E0C211E}"/>
              </a:ext>
            </a:extLst>
          </p:cNvPr>
          <p:cNvCxnSpPr>
            <a:cxnSpLocks/>
            <a:stCxn id="15" idx="3"/>
          </p:cNvCxnSpPr>
          <p:nvPr/>
        </p:nvCxnSpPr>
        <p:spPr>
          <a:xfrm flipH="1">
            <a:off x="7651615" y="3790492"/>
            <a:ext cx="736830" cy="539924"/>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9AFE892-812D-4EB5-AFB1-8CD52D079BCD}"/>
              </a:ext>
            </a:extLst>
          </p:cNvPr>
          <p:cNvCxnSpPr>
            <a:cxnSpLocks/>
          </p:cNvCxnSpPr>
          <p:nvPr/>
        </p:nvCxnSpPr>
        <p:spPr>
          <a:xfrm>
            <a:off x="8891148" y="3751705"/>
            <a:ext cx="332949" cy="71184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B7DD62C0-A03E-48B5-BDF8-16C2C7014930}"/>
              </a:ext>
            </a:extLst>
          </p:cNvPr>
          <p:cNvCxnSpPr>
            <a:cxnSpLocks/>
          </p:cNvCxnSpPr>
          <p:nvPr/>
        </p:nvCxnSpPr>
        <p:spPr>
          <a:xfrm flipH="1">
            <a:off x="6075553" y="2970066"/>
            <a:ext cx="274294" cy="513376"/>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2FB35EAD-D156-43D4-AD1C-8F86008ECDF1}"/>
              </a:ext>
            </a:extLst>
          </p:cNvPr>
          <p:cNvCxnSpPr>
            <a:cxnSpLocks/>
          </p:cNvCxnSpPr>
          <p:nvPr/>
        </p:nvCxnSpPr>
        <p:spPr>
          <a:xfrm>
            <a:off x="9235519" y="2918381"/>
            <a:ext cx="346697" cy="58574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54B8C14-37AA-4317-B047-5BB596473C3D}"/>
              </a:ext>
            </a:extLst>
          </p:cNvPr>
          <p:cNvCxnSpPr>
            <a:cxnSpLocks/>
          </p:cNvCxnSpPr>
          <p:nvPr/>
        </p:nvCxnSpPr>
        <p:spPr>
          <a:xfrm>
            <a:off x="9534620" y="2773337"/>
            <a:ext cx="1010283" cy="657412"/>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4CA0B9D-B5C5-4FE2-BA9A-9843E8AE568D}"/>
              </a:ext>
            </a:extLst>
          </p:cNvPr>
          <p:cNvCxnSpPr>
            <a:cxnSpLocks/>
            <a:stCxn id="14" idx="3"/>
          </p:cNvCxnSpPr>
          <p:nvPr/>
        </p:nvCxnSpPr>
        <p:spPr>
          <a:xfrm flipH="1">
            <a:off x="7577233" y="4938613"/>
            <a:ext cx="619296" cy="532808"/>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C4CF7CA-6C21-4472-8F18-D271C299C8C4}"/>
              </a:ext>
            </a:extLst>
          </p:cNvPr>
          <p:cNvCxnSpPr>
            <a:cxnSpLocks/>
            <a:stCxn id="14" idx="5"/>
          </p:cNvCxnSpPr>
          <p:nvPr/>
        </p:nvCxnSpPr>
        <p:spPr>
          <a:xfrm>
            <a:off x="8801555" y="4938613"/>
            <a:ext cx="664144" cy="479910"/>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73A95B23-1AE4-411B-94EA-C06BE960B25D}"/>
              </a:ext>
            </a:extLst>
          </p:cNvPr>
          <p:cNvCxnSpPr>
            <a:cxnSpLocks/>
            <a:stCxn id="45" idx="0"/>
          </p:cNvCxnSpPr>
          <p:nvPr/>
        </p:nvCxnSpPr>
        <p:spPr>
          <a:xfrm flipH="1">
            <a:off x="8531285" y="4993006"/>
            <a:ext cx="34792" cy="496727"/>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C81D03C1-5F28-496D-B98A-DFBD07134D06}"/>
              </a:ext>
            </a:extLst>
          </p:cNvPr>
          <p:cNvSpPr/>
          <p:nvPr/>
        </p:nvSpPr>
        <p:spPr>
          <a:xfrm>
            <a:off x="6891550" y="3449395"/>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33" name="椭圆 32">
            <a:extLst>
              <a:ext uri="{FF2B5EF4-FFF2-40B4-BE49-F238E27FC236}">
                <a16:creationId xmlns:a16="http://schemas.microsoft.com/office/drawing/2014/main" id="{BA756B71-62D8-4790-AA43-534A451349F7}"/>
              </a:ext>
            </a:extLst>
          </p:cNvPr>
          <p:cNvSpPr/>
          <p:nvPr/>
        </p:nvSpPr>
        <p:spPr>
          <a:xfrm>
            <a:off x="9216627" y="5412527"/>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34" name="椭圆 33">
            <a:extLst>
              <a:ext uri="{FF2B5EF4-FFF2-40B4-BE49-F238E27FC236}">
                <a16:creationId xmlns:a16="http://schemas.microsoft.com/office/drawing/2014/main" id="{3BDE7951-A0F9-46EE-A48F-1506E8656368}"/>
              </a:ext>
            </a:extLst>
          </p:cNvPr>
          <p:cNvSpPr/>
          <p:nvPr/>
        </p:nvSpPr>
        <p:spPr>
          <a:xfrm>
            <a:off x="9034801" y="4440733"/>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35" name="椭圆 34">
            <a:extLst>
              <a:ext uri="{FF2B5EF4-FFF2-40B4-BE49-F238E27FC236}">
                <a16:creationId xmlns:a16="http://schemas.microsoft.com/office/drawing/2014/main" id="{FC729E45-141C-422E-A71B-46BF9A80D9C6}"/>
              </a:ext>
            </a:extLst>
          </p:cNvPr>
          <p:cNvSpPr/>
          <p:nvPr/>
        </p:nvSpPr>
        <p:spPr>
          <a:xfrm>
            <a:off x="9229471" y="3504126"/>
            <a:ext cx="855636" cy="400599"/>
          </a:xfrm>
          <a:prstGeom prst="ellipse">
            <a:avLst/>
          </a:prstGeom>
          <a:solidFill>
            <a:srgbClr val="FF9900"/>
          </a:solidFill>
          <a:ln>
            <a:solidFill>
              <a:srgbClr val="FBBCA3"/>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坏瓜</a:t>
            </a:r>
          </a:p>
        </p:txBody>
      </p:sp>
      <p:sp>
        <p:nvSpPr>
          <p:cNvPr id="36" name="椭圆 35">
            <a:extLst>
              <a:ext uri="{FF2B5EF4-FFF2-40B4-BE49-F238E27FC236}">
                <a16:creationId xmlns:a16="http://schemas.microsoft.com/office/drawing/2014/main" id="{C159D155-8537-4A12-95E3-7E0F4863F7C4}"/>
              </a:ext>
            </a:extLst>
          </p:cNvPr>
          <p:cNvSpPr/>
          <p:nvPr/>
        </p:nvSpPr>
        <p:spPr>
          <a:xfrm>
            <a:off x="6880353" y="5434879"/>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38" name="椭圆 37">
            <a:extLst>
              <a:ext uri="{FF2B5EF4-FFF2-40B4-BE49-F238E27FC236}">
                <a16:creationId xmlns:a16="http://schemas.microsoft.com/office/drawing/2014/main" id="{1393CAE6-DA10-45DD-8533-BCA8D3BC73B8}"/>
              </a:ext>
            </a:extLst>
          </p:cNvPr>
          <p:cNvSpPr/>
          <p:nvPr/>
        </p:nvSpPr>
        <p:spPr>
          <a:xfrm>
            <a:off x="8090721" y="5487968"/>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39" name="椭圆 38">
            <a:extLst>
              <a:ext uri="{FF2B5EF4-FFF2-40B4-BE49-F238E27FC236}">
                <a16:creationId xmlns:a16="http://schemas.microsoft.com/office/drawing/2014/main" id="{392251D7-D29F-4CEB-9858-2A69E7DA76EC}"/>
              </a:ext>
            </a:extLst>
          </p:cNvPr>
          <p:cNvSpPr/>
          <p:nvPr/>
        </p:nvSpPr>
        <p:spPr>
          <a:xfrm>
            <a:off x="7115493" y="4332267"/>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0" name="椭圆 39">
            <a:extLst>
              <a:ext uri="{FF2B5EF4-FFF2-40B4-BE49-F238E27FC236}">
                <a16:creationId xmlns:a16="http://schemas.microsoft.com/office/drawing/2014/main" id="{753ABB3F-A424-4D37-9199-61A77EFB2971}"/>
              </a:ext>
            </a:extLst>
          </p:cNvPr>
          <p:cNvSpPr/>
          <p:nvPr/>
        </p:nvSpPr>
        <p:spPr>
          <a:xfrm>
            <a:off x="6090110" y="3897801"/>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1" name="椭圆 40">
            <a:extLst>
              <a:ext uri="{FF2B5EF4-FFF2-40B4-BE49-F238E27FC236}">
                <a16:creationId xmlns:a16="http://schemas.microsoft.com/office/drawing/2014/main" id="{B7A491C6-52C7-4490-94BA-09B22E513F73}"/>
              </a:ext>
            </a:extLst>
          </p:cNvPr>
          <p:cNvSpPr/>
          <p:nvPr/>
        </p:nvSpPr>
        <p:spPr>
          <a:xfrm>
            <a:off x="5545225" y="3491377"/>
            <a:ext cx="855636" cy="400599"/>
          </a:xfrm>
          <a:prstGeom prst="ellipse">
            <a:avLst/>
          </a:prstGeom>
          <a:solidFill>
            <a:srgbClr val="00B050"/>
          </a:solidFill>
          <a:ln>
            <a:solidFill>
              <a:schemeClr val="accent1">
                <a:lumMod val="2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solidFill>
                  <a:schemeClr val="bg1"/>
                </a:solidFill>
                <a:latin typeface="KaiTi" panose="02010609060101010101" pitchFamily="49" charset="-122"/>
                <a:ea typeface="KaiTi" panose="02010609060101010101" pitchFamily="49" charset="-122"/>
              </a:rPr>
              <a:t>好瓜</a:t>
            </a:r>
          </a:p>
        </p:txBody>
      </p:sp>
      <p:sp>
        <p:nvSpPr>
          <p:cNvPr id="42" name="文本框 41">
            <a:extLst>
              <a:ext uri="{FF2B5EF4-FFF2-40B4-BE49-F238E27FC236}">
                <a16:creationId xmlns:a16="http://schemas.microsoft.com/office/drawing/2014/main" id="{EA563319-94A3-43F5-8084-DA41E09F5461}"/>
              </a:ext>
            </a:extLst>
          </p:cNvPr>
          <p:cNvSpPr txBox="1"/>
          <p:nvPr/>
        </p:nvSpPr>
        <p:spPr>
          <a:xfrm>
            <a:off x="6275721" y="320770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43" name="文本框 42">
            <a:extLst>
              <a:ext uri="{FF2B5EF4-FFF2-40B4-BE49-F238E27FC236}">
                <a16:creationId xmlns:a16="http://schemas.microsoft.com/office/drawing/2014/main" id="{252F5D15-44C3-4BCA-B2A1-CF6C1A9376A2}"/>
              </a:ext>
            </a:extLst>
          </p:cNvPr>
          <p:cNvSpPr txBox="1"/>
          <p:nvPr/>
        </p:nvSpPr>
        <p:spPr>
          <a:xfrm>
            <a:off x="7117072" y="206640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凹陷</a:t>
            </a:r>
          </a:p>
        </p:txBody>
      </p:sp>
      <p:sp>
        <p:nvSpPr>
          <p:cNvPr id="44" name="文本框 43">
            <a:extLst>
              <a:ext uri="{FF2B5EF4-FFF2-40B4-BE49-F238E27FC236}">
                <a16:creationId xmlns:a16="http://schemas.microsoft.com/office/drawing/2014/main" id="{37204972-4700-4EC9-B26A-3AECFD609BB9}"/>
              </a:ext>
            </a:extLst>
          </p:cNvPr>
          <p:cNvSpPr txBox="1"/>
          <p:nvPr/>
        </p:nvSpPr>
        <p:spPr>
          <a:xfrm>
            <a:off x="9775499" y="2994453"/>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硬挺</a:t>
            </a:r>
          </a:p>
        </p:txBody>
      </p:sp>
      <p:sp>
        <p:nvSpPr>
          <p:cNvPr id="45" name="文本框 44">
            <a:extLst>
              <a:ext uri="{FF2B5EF4-FFF2-40B4-BE49-F238E27FC236}">
                <a16:creationId xmlns:a16="http://schemas.microsoft.com/office/drawing/2014/main" id="{9E4BD3DC-59D0-4452-A828-09144846E2CC}"/>
              </a:ext>
            </a:extLst>
          </p:cNvPr>
          <p:cNvSpPr txBox="1"/>
          <p:nvPr/>
        </p:nvSpPr>
        <p:spPr>
          <a:xfrm>
            <a:off x="8246038" y="4993006"/>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稍糊</a:t>
            </a:r>
          </a:p>
        </p:txBody>
      </p:sp>
      <p:sp>
        <p:nvSpPr>
          <p:cNvPr id="46" name="文本框 45">
            <a:extLst>
              <a:ext uri="{FF2B5EF4-FFF2-40B4-BE49-F238E27FC236}">
                <a16:creationId xmlns:a16="http://schemas.microsoft.com/office/drawing/2014/main" id="{A28E08FF-38CE-4E21-AEE7-5AE3F6325913}"/>
              </a:ext>
            </a:extLst>
          </p:cNvPr>
          <p:cNvSpPr txBox="1"/>
          <p:nvPr/>
        </p:nvSpPr>
        <p:spPr>
          <a:xfrm>
            <a:off x="9128134" y="499727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清晰</a:t>
            </a:r>
          </a:p>
        </p:txBody>
      </p:sp>
      <p:sp>
        <p:nvSpPr>
          <p:cNvPr id="47" name="文本框 46">
            <a:extLst>
              <a:ext uri="{FF2B5EF4-FFF2-40B4-BE49-F238E27FC236}">
                <a16:creationId xmlns:a16="http://schemas.microsoft.com/office/drawing/2014/main" id="{A210BE0D-EE61-47F2-9A20-9A8B4E0E26A1}"/>
              </a:ext>
            </a:extLst>
          </p:cNvPr>
          <p:cNvSpPr txBox="1"/>
          <p:nvPr/>
        </p:nvSpPr>
        <p:spPr>
          <a:xfrm>
            <a:off x="9057622" y="2985207"/>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蜷曲</a:t>
            </a:r>
          </a:p>
        </p:txBody>
      </p:sp>
      <p:sp>
        <p:nvSpPr>
          <p:cNvPr id="48" name="文本框 47">
            <a:extLst>
              <a:ext uri="{FF2B5EF4-FFF2-40B4-BE49-F238E27FC236}">
                <a16:creationId xmlns:a16="http://schemas.microsoft.com/office/drawing/2014/main" id="{75BAF203-98C9-4596-BA36-ABA7EA7CD734}"/>
              </a:ext>
            </a:extLst>
          </p:cNvPr>
          <p:cNvSpPr txBox="1"/>
          <p:nvPr/>
        </p:nvSpPr>
        <p:spPr>
          <a:xfrm>
            <a:off x="8342346" y="2967035"/>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稍蜷</a:t>
            </a:r>
          </a:p>
        </p:txBody>
      </p:sp>
      <p:sp>
        <p:nvSpPr>
          <p:cNvPr id="49" name="文本框 48">
            <a:extLst>
              <a:ext uri="{FF2B5EF4-FFF2-40B4-BE49-F238E27FC236}">
                <a16:creationId xmlns:a16="http://schemas.microsoft.com/office/drawing/2014/main" id="{38E34B54-0F27-498E-AF2A-BB40121CB76F}"/>
              </a:ext>
            </a:extLst>
          </p:cNvPr>
          <p:cNvSpPr txBox="1"/>
          <p:nvPr/>
        </p:nvSpPr>
        <p:spPr>
          <a:xfrm>
            <a:off x="7415950" y="4946451"/>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模糊</a:t>
            </a:r>
          </a:p>
        </p:txBody>
      </p:sp>
      <p:sp>
        <p:nvSpPr>
          <p:cNvPr id="50" name="文本框 49">
            <a:extLst>
              <a:ext uri="{FF2B5EF4-FFF2-40B4-BE49-F238E27FC236}">
                <a16:creationId xmlns:a16="http://schemas.microsoft.com/office/drawing/2014/main" id="{65340546-AD26-40F5-B70C-A7FCD8B18BB8}"/>
              </a:ext>
            </a:extLst>
          </p:cNvPr>
          <p:cNvSpPr txBox="1"/>
          <p:nvPr/>
        </p:nvSpPr>
        <p:spPr>
          <a:xfrm>
            <a:off x="5808207" y="2995748"/>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51" name="文本框 50">
            <a:extLst>
              <a:ext uri="{FF2B5EF4-FFF2-40B4-BE49-F238E27FC236}">
                <a16:creationId xmlns:a16="http://schemas.microsoft.com/office/drawing/2014/main" id="{65D92061-5337-4010-91EC-BD50FC00A44E}"/>
              </a:ext>
            </a:extLst>
          </p:cNvPr>
          <p:cNvSpPr txBox="1"/>
          <p:nvPr/>
        </p:nvSpPr>
        <p:spPr>
          <a:xfrm>
            <a:off x="8417544" y="2269289"/>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稍凹</a:t>
            </a:r>
          </a:p>
        </p:txBody>
      </p:sp>
      <p:sp>
        <p:nvSpPr>
          <p:cNvPr id="52" name="文本框 51">
            <a:extLst>
              <a:ext uri="{FF2B5EF4-FFF2-40B4-BE49-F238E27FC236}">
                <a16:creationId xmlns:a16="http://schemas.microsoft.com/office/drawing/2014/main" id="{9B7E15FB-ECEA-4611-BCF1-0AA567F348B1}"/>
              </a:ext>
            </a:extLst>
          </p:cNvPr>
          <p:cNvSpPr txBox="1"/>
          <p:nvPr/>
        </p:nvSpPr>
        <p:spPr>
          <a:xfrm>
            <a:off x="9014195" y="3914465"/>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53" name="文本框 52">
            <a:extLst>
              <a:ext uri="{FF2B5EF4-FFF2-40B4-BE49-F238E27FC236}">
                <a16:creationId xmlns:a16="http://schemas.microsoft.com/office/drawing/2014/main" id="{5B470D99-232B-454B-BF8B-A3AADCEADCA6}"/>
              </a:ext>
            </a:extLst>
          </p:cNvPr>
          <p:cNvSpPr txBox="1"/>
          <p:nvPr/>
        </p:nvSpPr>
        <p:spPr>
          <a:xfrm>
            <a:off x="7672314" y="3924846"/>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青绿</a:t>
            </a:r>
          </a:p>
        </p:txBody>
      </p:sp>
      <p:sp>
        <p:nvSpPr>
          <p:cNvPr id="54" name="文本框 53">
            <a:extLst>
              <a:ext uri="{FF2B5EF4-FFF2-40B4-BE49-F238E27FC236}">
                <a16:creationId xmlns:a16="http://schemas.microsoft.com/office/drawing/2014/main" id="{0D4AACD3-9297-4B0C-A0B3-5D69F63C2148}"/>
              </a:ext>
            </a:extLst>
          </p:cNvPr>
          <p:cNvSpPr txBox="1"/>
          <p:nvPr/>
        </p:nvSpPr>
        <p:spPr>
          <a:xfrm>
            <a:off x="8354371" y="3923624"/>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乌黑</a:t>
            </a:r>
          </a:p>
        </p:txBody>
      </p:sp>
      <p:sp>
        <p:nvSpPr>
          <p:cNvPr id="55" name="文本框 54">
            <a:extLst>
              <a:ext uri="{FF2B5EF4-FFF2-40B4-BE49-F238E27FC236}">
                <a16:creationId xmlns:a16="http://schemas.microsoft.com/office/drawing/2014/main" id="{1DFE9C74-4ADD-477B-959A-5E99A9EDF652}"/>
              </a:ext>
            </a:extLst>
          </p:cNvPr>
          <p:cNvSpPr txBox="1"/>
          <p:nvPr/>
        </p:nvSpPr>
        <p:spPr>
          <a:xfrm>
            <a:off x="6924262" y="2981202"/>
            <a:ext cx="640078"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浅白</a:t>
            </a:r>
          </a:p>
        </p:txBody>
      </p:sp>
      <p:sp>
        <p:nvSpPr>
          <p:cNvPr id="56" name="文本框 55">
            <a:extLst>
              <a:ext uri="{FF2B5EF4-FFF2-40B4-BE49-F238E27FC236}">
                <a16:creationId xmlns:a16="http://schemas.microsoft.com/office/drawing/2014/main" id="{8A9470E1-B206-4680-A4D2-D6C4A1D9742E}"/>
              </a:ext>
            </a:extLst>
          </p:cNvPr>
          <p:cNvSpPr txBox="1"/>
          <p:nvPr/>
        </p:nvSpPr>
        <p:spPr>
          <a:xfrm>
            <a:off x="8052675" y="1578271"/>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①</a:t>
            </a:r>
          </a:p>
        </p:txBody>
      </p:sp>
      <p:sp>
        <p:nvSpPr>
          <p:cNvPr id="57" name="文本框 56">
            <a:extLst>
              <a:ext uri="{FF2B5EF4-FFF2-40B4-BE49-F238E27FC236}">
                <a16:creationId xmlns:a16="http://schemas.microsoft.com/office/drawing/2014/main" id="{7D2DD024-3A57-4D89-A28D-0A66BB8B3EAC}"/>
              </a:ext>
            </a:extLst>
          </p:cNvPr>
          <p:cNvSpPr txBox="1"/>
          <p:nvPr/>
        </p:nvSpPr>
        <p:spPr>
          <a:xfrm>
            <a:off x="7963455" y="4330222"/>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⑥</a:t>
            </a:r>
          </a:p>
        </p:txBody>
      </p:sp>
      <p:sp>
        <p:nvSpPr>
          <p:cNvPr id="58" name="文本框 57">
            <a:extLst>
              <a:ext uri="{FF2B5EF4-FFF2-40B4-BE49-F238E27FC236}">
                <a16:creationId xmlns:a16="http://schemas.microsoft.com/office/drawing/2014/main" id="{116E7D28-8B09-41C4-A250-6673B4A79925}"/>
              </a:ext>
            </a:extLst>
          </p:cNvPr>
          <p:cNvSpPr txBox="1"/>
          <p:nvPr/>
        </p:nvSpPr>
        <p:spPr>
          <a:xfrm>
            <a:off x="8168295" y="3173258"/>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⑤</a:t>
            </a:r>
          </a:p>
        </p:txBody>
      </p:sp>
      <p:sp>
        <p:nvSpPr>
          <p:cNvPr id="59" name="文本框 58">
            <a:extLst>
              <a:ext uri="{FF2B5EF4-FFF2-40B4-BE49-F238E27FC236}">
                <a16:creationId xmlns:a16="http://schemas.microsoft.com/office/drawing/2014/main" id="{7526F468-40EA-4AA8-9341-D54C6829CBC6}"/>
              </a:ext>
            </a:extLst>
          </p:cNvPr>
          <p:cNvSpPr txBox="1"/>
          <p:nvPr/>
        </p:nvSpPr>
        <p:spPr>
          <a:xfrm>
            <a:off x="10452720" y="2300315"/>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④</a:t>
            </a:r>
          </a:p>
        </p:txBody>
      </p:sp>
      <p:sp>
        <p:nvSpPr>
          <p:cNvPr id="60" name="文本框 59">
            <a:extLst>
              <a:ext uri="{FF2B5EF4-FFF2-40B4-BE49-F238E27FC236}">
                <a16:creationId xmlns:a16="http://schemas.microsoft.com/office/drawing/2014/main" id="{2ECF6F5A-E96E-4B06-A51E-C68D4B758734}"/>
              </a:ext>
            </a:extLst>
          </p:cNvPr>
          <p:cNvSpPr txBox="1"/>
          <p:nvPr/>
        </p:nvSpPr>
        <p:spPr>
          <a:xfrm>
            <a:off x="8332274" y="2491221"/>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③</a:t>
            </a:r>
          </a:p>
        </p:txBody>
      </p:sp>
      <p:sp>
        <p:nvSpPr>
          <p:cNvPr id="61" name="文本框 60">
            <a:extLst>
              <a:ext uri="{FF2B5EF4-FFF2-40B4-BE49-F238E27FC236}">
                <a16:creationId xmlns:a16="http://schemas.microsoft.com/office/drawing/2014/main" id="{C02F1376-EE49-4619-BF39-363CF2FC5B3A}"/>
              </a:ext>
            </a:extLst>
          </p:cNvPr>
          <p:cNvSpPr txBox="1"/>
          <p:nvPr/>
        </p:nvSpPr>
        <p:spPr>
          <a:xfrm>
            <a:off x="5907201" y="2335770"/>
            <a:ext cx="64007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②</a:t>
            </a:r>
          </a:p>
        </p:txBody>
      </p:sp>
      <p:sp>
        <p:nvSpPr>
          <p:cNvPr id="4" name="제목 3">
            <a:extLst>
              <a:ext uri="{FF2B5EF4-FFF2-40B4-BE49-F238E27FC236}">
                <a16:creationId xmlns:a16="http://schemas.microsoft.com/office/drawing/2014/main" id="{D39FC52D-F53E-4E5F-8A33-64386A149995}"/>
              </a:ext>
            </a:extLst>
          </p:cNvPr>
          <p:cNvSpPr>
            <a:spLocks noGrp="1"/>
          </p:cNvSpPr>
          <p:nvPr>
            <p:ph type="title"/>
          </p:nvPr>
        </p:nvSpPr>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p>
        </p:txBody>
      </p:sp>
    </p:spTree>
    <p:extLst>
      <p:ext uri="{BB962C8B-B14F-4D97-AF65-F5344CB8AC3E}">
        <p14:creationId xmlns:p14="http://schemas.microsoft.com/office/powerpoint/2010/main" val="2323287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466D76-DE1F-FDE6-E086-FB04DA5DDF62}"/>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3074" name="Picture 2" descr="在这里插入图片描述">
            <a:extLst>
              <a:ext uri="{FF2B5EF4-FFF2-40B4-BE49-F238E27FC236}">
                <a16:creationId xmlns:a16="http://schemas.microsoft.com/office/drawing/2014/main" id="{13485273-0C7A-56AE-03D9-7EE90A5B2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269" y="1692914"/>
            <a:ext cx="5301222" cy="35909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4F5780-E487-F3DE-229F-C02652780D79}"/>
              </a:ext>
            </a:extLst>
          </p:cNvPr>
          <p:cNvSpPr txBox="1"/>
          <p:nvPr/>
        </p:nvSpPr>
        <p:spPr>
          <a:xfrm>
            <a:off x="454269" y="1308193"/>
            <a:ext cx="6113584" cy="384721"/>
          </a:xfrm>
          <a:prstGeom prst="rect">
            <a:avLst/>
          </a:prstGeom>
          <a:noFill/>
        </p:spPr>
        <p:txBody>
          <a:bodyPr wrap="square">
            <a:spAutoFit/>
          </a:bodyPr>
          <a:lstStyle/>
          <a:p>
            <a:r>
              <a:rPr lang="zh-CN" altLang="en-US" b="0" i="0" dirty="0">
                <a:solidFill>
                  <a:srgbClr val="4D4D4D"/>
                </a:solidFill>
                <a:effectLst/>
                <a:latin typeface="-apple-system"/>
              </a:rPr>
              <a:t>按照信息增益生成一棵树：</a:t>
            </a:r>
            <a:endParaRPr lang="ko-KR" altLang="en-US" dirty="0"/>
          </a:p>
        </p:txBody>
      </p:sp>
      <p:pic>
        <p:nvPicPr>
          <p:cNvPr id="7" name="그림 6">
            <a:extLst>
              <a:ext uri="{FF2B5EF4-FFF2-40B4-BE49-F238E27FC236}">
                <a16:creationId xmlns:a16="http://schemas.microsoft.com/office/drawing/2014/main" id="{8F0EBEEA-A682-EF84-CD3E-DF4E05DC10ED}"/>
              </a:ext>
            </a:extLst>
          </p:cNvPr>
          <p:cNvPicPr>
            <a:picLocks noChangeAspect="1"/>
          </p:cNvPicPr>
          <p:nvPr/>
        </p:nvPicPr>
        <p:blipFill>
          <a:blip r:embed="rId3"/>
          <a:stretch>
            <a:fillRect/>
          </a:stretch>
        </p:blipFill>
        <p:spPr>
          <a:xfrm>
            <a:off x="4479410" y="3666586"/>
            <a:ext cx="6846933" cy="2997000"/>
          </a:xfrm>
          <a:prstGeom prst="rect">
            <a:avLst/>
          </a:prstGeom>
        </p:spPr>
      </p:pic>
      <p:sp>
        <p:nvSpPr>
          <p:cNvPr id="10" name="文本框 19">
            <a:extLst>
              <a:ext uri="{FF2B5EF4-FFF2-40B4-BE49-F238E27FC236}">
                <a16:creationId xmlns:a16="http://schemas.microsoft.com/office/drawing/2014/main" id="{1168BE56-77C1-5A6A-B157-8B964A8E573D}"/>
              </a:ext>
            </a:extLst>
          </p:cNvPr>
          <p:cNvSpPr txBox="1"/>
          <p:nvPr/>
        </p:nvSpPr>
        <p:spPr>
          <a:xfrm>
            <a:off x="10458786" y="1413029"/>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941776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13F6163-6BBB-0645-6287-F8B72017554E}"/>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1026" name="Picture 2" descr="在这里插入图片描述">
            <a:extLst>
              <a:ext uri="{FF2B5EF4-FFF2-40B4-BE49-F238E27FC236}">
                <a16:creationId xmlns:a16="http://schemas.microsoft.com/office/drawing/2014/main" id="{893A367B-31EB-F79C-8252-9575E156F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92" y="1185864"/>
            <a:ext cx="7367954" cy="3536270"/>
          </a:xfrm>
          <a:prstGeom prst="rect">
            <a:avLst/>
          </a:prstGeom>
          <a:noFill/>
          <a:extLst>
            <a:ext uri="{909E8E84-426E-40DD-AFC4-6F175D3DCCD1}">
              <a14:hiddenFill xmlns:a14="http://schemas.microsoft.com/office/drawing/2010/main">
                <a:solidFill>
                  <a:srgbClr val="FFFFFF"/>
                </a:solidFill>
              </a14:hiddenFill>
            </a:ext>
          </a:extLst>
        </p:spPr>
      </p:pic>
      <p:pic>
        <p:nvPicPr>
          <p:cNvPr id="5" name="그림 4">
            <a:extLst>
              <a:ext uri="{FF2B5EF4-FFF2-40B4-BE49-F238E27FC236}">
                <a16:creationId xmlns:a16="http://schemas.microsoft.com/office/drawing/2014/main" id="{AE8E7AB3-6A28-8E8D-D027-F137F8E65F25}"/>
              </a:ext>
            </a:extLst>
          </p:cNvPr>
          <p:cNvPicPr>
            <a:picLocks noChangeAspect="1"/>
          </p:cNvPicPr>
          <p:nvPr/>
        </p:nvPicPr>
        <p:blipFill>
          <a:blip r:embed="rId3"/>
          <a:stretch>
            <a:fillRect/>
          </a:stretch>
        </p:blipFill>
        <p:spPr>
          <a:xfrm>
            <a:off x="5343312" y="3662426"/>
            <a:ext cx="6649396" cy="2874796"/>
          </a:xfrm>
          <a:prstGeom prst="rect">
            <a:avLst/>
          </a:prstGeom>
        </p:spPr>
      </p:pic>
      <p:sp>
        <p:nvSpPr>
          <p:cNvPr id="6" name="文本框 19">
            <a:extLst>
              <a:ext uri="{FF2B5EF4-FFF2-40B4-BE49-F238E27FC236}">
                <a16:creationId xmlns:a16="http://schemas.microsoft.com/office/drawing/2014/main" id="{F4803CFB-25AF-8827-88F4-BA7406AF1892}"/>
              </a:ext>
            </a:extLst>
          </p:cNvPr>
          <p:cNvSpPr txBox="1"/>
          <p:nvPr/>
        </p:nvSpPr>
        <p:spPr>
          <a:xfrm>
            <a:off x="10458786" y="1413029"/>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622969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CA057-7D78-507B-93AA-77D85C1EE1B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1BB0B86-DF34-8D64-31ED-90BA122297D8}"/>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4100" name="Picture 4" descr="在这里插入图片描述">
            <a:extLst>
              <a:ext uri="{FF2B5EF4-FFF2-40B4-BE49-F238E27FC236}">
                <a16:creationId xmlns:a16="http://schemas.microsoft.com/office/drawing/2014/main" id="{AAD7BC55-26C3-E416-BF19-467DF2263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370" y="1437524"/>
            <a:ext cx="6085183" cy="2245374"/>
          </a:xfrm>
          <a:prstGeom prst="rect">
            <a:avLst/>
          </a:prstGeom>
          <a:noFill/>
          <a:extLst>
            <a:ext uri="{909E8E84-426E-40DD-AFC4-6F175D3DCCD1}">
              <a14:hiddenFill xmlns:a14="http://schemas.microsoft.com/office/drawing/2010/main">
                <a:solidFill>
                  <a:srgbClr val="FFFFFF"/>
                </a:solidFill>
              </a14:hiddenFill>
            </a:ext>
          </a:extLst>
        </p:spPr>
      </p:pic>
      <p:pic>
        <p:nvPicPr>
          <p:cNvPr id="4" name="그림 3">
            <a:extLst>
              <a:ext uri="{FF2B5EF4-FFF2-40B4-BE49-F238E27FC236}">
                <a16:creationId xmlns:a16="http://schemas.microsoft.com/office/drawing/2014/main" id="{BB27ED5C-364A-2EC5-AB50-23976F0375E6}"/>
              </a:ext>
            </a:extLst>
          </p:cNvPr>
          <p:cNvPicPr>
            <a:picLocks noChangeAspect="1"/>
          </p:cNvPicPr>
          <p:nvPr/>
        </p:nvPicPr>
        <p:blipFill>
          <a:blip r:embed="rId3"/>
          <a:stretch>
            <a:fillRect/>
          </a:stretch>
        </p:blipFill>
        <p:spPr>
          <a:xfrm>
            <a:off x="4763155" y="3531740"/>
            <a:ext cx="6936475" cy="2960402"/>
          </a:xfrm>
          <a:prstGeom prst="rect">
            <a:avLst/>
          </a:prstGeom>
        </p:spPr>
      </p:pic>
      <p:sp>
        <p:nvSpPr>
          <p:cNvPr id="6" name="文本框 19">
            <a:extLst>
              <a:ext uri="{FF2B5EF4-FFF2-40B4-BE49-F238E27FC236}">
                <a16:creationId xmlns:a16="http://schemas.microsoft.com/office/drawing/2014/main" id="{F8728508-523D-85CB-8EE0-CA04C46C9FF9}"/>
              </a:ext>
            </a:extLst>
          </p:cNvPr>
          <p:cNvSpPr txBox="1"/>
          <p:nvPr/>
        </p:nvSpPr>
        <p:spPr>
          <a:xfrm>
            <a:off x="10458786" y="1413029"/>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043817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EF3317-EE21-13D2-9ABB-4B3C4F1E8F4B}"/>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2052" name="Picture 4" descr="在这里插入图片描述">
            <a:extLst>
              <a:ext uri="{FF2B5EF4-FFF2-40B4-BE49-F238E27FC236}">
                <a16:creationId xmlns:a16="http://schemas.microsoft.com/office/drawing/2014/main" id="{1C3E4AEE-EE80-A2C3-B677-427FBCEEA8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052" y="1359877"/>
            <a:ext cx="5392105" cy="3456682"/>
          </a:xfrm>
          <a:prstGeom prst="rect">
            <a:avLst/>
          </a:prstGeom>
          <a:noFill/>
          <a:extLst>
            <a:ext uri="{909E8E84-426E-40DD-AFC4-6F175D3DCCD1}">
              <a14:hiddenFill xmlns:a14="http://schemas.microsoft.com/office/drawing/2010/main">
                <a:solidFill>
                  <a:srgbClr val="FFFFFF"/>
                </a:solidFill>
              </a14:hiddenFill>
            </a:ext>
          </a:extLst>
        </p:spPr>
      </p:pic>
      <p:pic>
        <p:nvPicPr>
          <p:cNvPr id="5" name="그림 4">
            <a:extLst>
              <a:ext uri="{FF2B5EF4-FFF2-40B4-BE49-F238E27FC236}">
                <a16:creationId xmlns:a16="http://schemas.microsoft.com/office/drawing/2014/main" id="{3A402F66-0837-6D20-D443-F0DBA8F02030}"/>
              </a:ext>
            </a:extLst>
          </p:cNvPr>
          <p:cNvPicPr>
            <a:picLocks noChangeAspect="1"/>
          </p:cNvPicPr>
          <p:nvPr/>
        </p:nvPicPr>
        <p:blipFill>
          <a:blip r:embed="rId3"/>
          <a:stretch>
            <a:fillRect/>
          </a:stretch>
        </p:blipFill>
        <p:spPr>
          <a:xfrm>
            <a:off x="4892780" y="3631577"/>
            <a:ext cx="6828168" cy="2979564"/>
          </a:xfrm>
          <a:prstGeom prst="rect">
            <a:avLst/>
          </a:prstGeom>
        </p:spPr>
      </p:pic>
      <p:sp>
        <p:nvSpPr>
          <p:cNvPr id="6" name="文本框 19">
            <a:extLst>
              <a:ext uri="{FF2B5EF4-FFF2-40B4-BE49-F238E27FC236}">
                <a16:creationId xmlns:a16="http://schemas.microsoft.com/office/drawing/2014/main" id="{518B2246-D781-B040-CBD7-F1EF7809CDCE}"/>
              </a:ext>
            </a:extLst>
          </p:cNvPr>
          <p:cNvSpPr txBox="1"/>
          <p:nvPr/>
        </p:nvSpPr>
        <p:spPr>
          <a:xfrm>
            <a:off x="10458786" y="1413029"/>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96530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23072CD-F55E-EE2C-5F8A-E322537CB939}"/>
              </a:ext>
            </a:extLst>
          </p:cNvPr>
          <p:cNvSpPr>
            <a:spLocks noGrp="1"/>
          </p:cNvSpPr>
          <p:nvPr>
            <p:ph type="title"/>
          </p:nvPr>
        </p:nvSpPr>
        <p:spPr/>
        <p:txBody>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的剪枝</a:t>
            </a:r>
            <a:endParaRPr lang="ko-KR" altLang="en-US" dirty="0"/>
          </a:p>
        </p:txBody>
      </p:sp>
      <p:pic>
        <p:nvPicPr>
          <p:cNvPr id="5122" name="Picture 2" descr="在这里插入图片描述">
            <a:extLst>
              <a:ext uri="{FF2B5EF4-FFF2-40B4-BE49-F238E27FC236}">
                <a16:creationId xmlns:a16="http://schemas.microsoft.com/office/drawing/2014/main" id="{FD3ECD1A-B670-4E09-8A6D-62D873334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9841" y="1849412"/>
            <a:ext cx="6572250" cy="41624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FCB62D-A6CD-5E20-E02C-A55A1BDB1606}"/>
              </a:ext>
            </a:extLst>
          </p:cNvPr>
          <p:cNvSpPr txBox="1"/>
          <p:nvPr/>
        </p:nvSpPr>
        <p:spPr>
          <a:xfrm>
            <a:off x="571500" y="1464691"/>
            <a:ext cx="6113584" cy="384721"/>
          </a:xfrm>
          <a:prstGeom prst="rect">
            <a:avLst/>
          </a:prstGeom>
          <a:noFill/>
        </p:spPr>
        <p:txBody>
          <a:bodyPr wrap="square">
            <a:spAutoFit/>
          </a:bodyPr>
          <a:lstStyle/>
          <a:p>
            <a:r>
              <a:rPr lang="zh-CN" altLang="en-US" b="0" i="0" dirty="0">
                <a:solidFill>
                  <a:srgbClr val="4D4D4D"/>
                </a:solidFill>
                <a:effectLst/>
                <a:latin typeface="-apple-system"/>
              </a:rPr>
              <a:t>最终的决策树</a:t>
            </a:r>
            <a:endParaRPr lang="ko-KR" altLang="en-US" dirty="0"/>
          </a:p>
        </p:txBody>
      </p:sp>
      <p:sp>
        <p:nvSpPr>
          <p:cNvPr id="6" name="文本框 19">
            <a:extLst>
              <a:ext uri="{FF2B5EF4-FFF2-40B4-BE49-F238E27FC236}">
                <a16:creationId xmlns:a16="http://schemas.microsoft.com/office/drawing/2014/main" id="{D7CC554E-8AA8-01AC-376C-13EF03B23CDD}"/>
              </a:ext>
            </a:extLst>
          </p:cNvPr>
          <p:cNvSpPr txBox="1"/>
          <p:nvPr/>
        </p:nvSpPr>
        <p:spPr>
          <a:xfrm>
            <a:off x="10458786" y="1413029"/>
            <a:ext cx="1140851" cy="559769"/>
          </a:xfrm>
          <a:prstGeom prst="rect">
            <a:avLst/>
          </a:prstGeom>
          <a:noFill/>
        </p:spPr>
        <p:txBody>
          <a:bodyPr wrap="square">
            <a:spAutoFit/>
          </a:bodyPr>
          <a:lstStyle/>
          <a:p>
            <a:pPr>
              <a:lnSpc>
                <a:spcPct val="150000"/>
              </a:lnSpc>
            </a:pPr>
            <a:r>
              <a:rPr lang="zh-CN" altLang="en-US" sz="2400" b="1" i="0" dirty="0">
                <a:effectLst/>
                <a:latin typeface="KaiTi" panose="02010609060101010101" pitchFamily="49" charset="-122"/>
                <a:ea typeface="KaiTi" panose="02010609060101010101" pitchFamily="49" charset="-122"/>
              </a:rPr>
              <a:t>后剪枝</a:t>
            </a:r>
            <a:endParaRPr lang="zh-CN" altLang="en-US" sz="2400"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507196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文本框 7">
            <a:extLst>
              <a:ext uri="{FF2B5EF4-FFF2-40B4-BE49-F238E27FC236}">
                <a16:creationId xmlns:a16="http://schemas.microsoft.com/office/drawing/2014/main" id="{BF0D183D-6629-4808-A517-9CDAEF9F0170}"/>
              </a:ext>
            </a:extLst>
          </p:cNvPr>
          <p:cNvSpPr txBox="1"/>
          <p:nvPr/>
        </p:nvSpPr>
        <p:spPr>
          <a:xfrm>
            <a:off x="640521" y="1366553"/>
            <a:ext cx="10328046" cy="4414029"/>
          </a:xfrm>
          <a:prstGeom prst="rect">
            <a:avLst/>
          </a:prstGeom>
          <a:noFill/>
        </p:spPr>
        <p:txBody>
          <a:bodyPr wrap="square">
            <a:spAutoFit/>
          </a:bodyPr>
          <a:lstStyle/>
          <a:p>
            <a:pPr marL="342900" lvl="0" indent="-342900" algn="l">
              <a:lnSpc>
                <a:spcPct val="150000"/>
              </a:lnSpc>
              <a:spcAft>
                <a:spcPts val="1000"/>
              </a:spcAft>
              <a:buFont typeface="Arial" panose="020B0604020202020204" pitchFamily="34" charset="0"/>
              <a:buChar char="•"/>
            </a:pP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剪枝策略可以再优化；</a:t>
            </a:r>
          </a:p>
          <a:p>
            <a:pPr marL="342900" lvl="0" indent="-342900" algn="l">
              <a:lnSpc>
                <a:spcPct val="150000"/>
              </a:lnSpc>
              <a:spcAft>
                <a:spcPts val="1000"/>
              </a:spcAft>
              <a:buFont typeface="Arial" panose="020B0604020202020204" pitchFamily="34" charset="0"/>
              <a:buChar char="•"/>
            </a:pP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用的是多叉树，用二叉树效率更高；</a:t>
            </a:r>
          </a:p>
          <a:p>
            <a:pPr marL="342900" lvl="0" indent="-342900" algn="l">
              <a:lnSpc>
                <a:spcPct val="150000"/>
              </a:lnSpc>
              <a:spcAft>
                <a:spcPts val="1000"/>
              </a:spcAft>
              <a:buFont typeface="Arial" panose="020B0604020202020204" pitchFamily="34" charset="0"/>
              <a:buChar char="•"/>
            </a:pP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只能用于分类；</a:t>
            </a:r>
          </a:p>
          <a:p>
            <a:pPr marL="342900" lvl="0" indent="-342900" algn="l">
              <a:lnSpc>
                <a:spcPct val="150000"/>
              </a:lnSpc>
              <a:spcAft>
                <a:spcPts val="1000"/>
              </a:spcAft>
              <a:buFont typeface="Arial" panose="020B0604020202020204" pitchFamily="34" charset="0"/>
              <a:buChar char="•"/>
            </a:pP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使用的熵模型拥有大量耗时的对数运算，连续值还有排序运算；</a:t>
            </a:r>
          </a:p>
          <a:p>
            <a:pPr marL="342900" lvl="0" indent="-342900" algn="l">
              <a:lnSpc>
                <a:spcPct val="150000"/>
              </a:lnSpc>
              <a:spcAft>
                <a:spcPts val="1000"/>
              </a:spcAft>
              <a:buFont typeface="Arial" panose="020B0604020202020204" pitchFamily="34" charset="0"/>
              <a:buChar char="•"/>
            </a:pP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在构造树的过程中，对数值属性值需要按照其大小进行排序，从中选择一个分割点，所以只适合于能够驻留于内存的数据集，当训练集大得无法在内存容纳时，程序无法运行。</a:t>
            </a:r>
          </a:p>
        </p:txBody>
      </p:sp>
      <p:sp>
        <p:nvSpPr>
          <p:cNvPr id="2" name="제목 2">
            <a:extLst>
              <a:ext uri="{FF2B5EF4-FFF2-40B4-BE49-F238E27FC236}">
                <a16:creationId xmlns:a16="http://schemas.microsoft.com/office/drawing/2014/main" id="{C26BE3DF-F166-0934-34F4-A9408DFA4F1D}"/>
              </a:ext>
            </a:extLst>
          </p:cNvPr>
          <p:cNvSpPr>
            <a:spLocks noGrp="1"/>
          </p:cNvSpPr>
          <p:nvPr>
            <p:ph type="title"/>
          </p:nvPr>
        </p:nvSpPr>
        <p:spPr>
          <a:xfrm>
            <a:off x="350985" y="221676"/>
            <a:ext cx="11369963" cy="738909"/>
          </a:xfrm>
        </p:spPr>
        <p:txBody>
          <a:bodyPr>
            <a:normAutofit/>
          </a:bodyPr>
          <a:lstStyle/>
          <a:p>
            <a:r>
              <a:rPr lang="en-US" altLang="zh-CN" dirty="0">
                <a:latin typeface="KaiTi" panose="02010609060101010101" pitchFamily="49" charset="-122"/>
                <a:ea typeface="KaiTi" panose="02010609060101010101" pitchFamily="49" charset="-122"/>
              </a:rPr>
              <a:t>C4.5</a:t>
            </a:r>
            <a:r>
              <a:rPr lang="zh-CN" altLang="en-US" dirty="0">
                <a:latin typeface="KaiTi" panose="02010609060101010101" pitchFamily="49" charset="-122"/>
                <a:ea typeface="KaiTi" panose="02010609060101010101" pitchFamily="49" charset="-122"/>
              </a:rPr>
              <a:t>的缺点</a:t>
            </a:r>
          </a:p>
        </p:txBody>
      </p:sp>
    </p:spTree>
    <p:extLst>
      <p:ext uri="{BB962C8B-B14F-4D97-AF65-F5344CB8AC3E}">
        <p14:creationId xmlns:p14="http://schemas.microsoft.com/office/powerpoint/2010/main" val="2454690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6D57D308-2AC7-49E9-9B5E-462C88820B6D}"/>
              </a:ext>
            </a:extLst>
          </p:cNvPr>
          <p:cNvSpPr txBox="1"/>
          <p:nvPr/>
        </p:nvSpPr>
        <p:spPr>
          <a:xfrm>
            <a:off x="702366" y="1448202"/>
            <a:ext cx="6096000" cy="523220"/>
          </a:xfrm>
          <a:prstGeom prst="rect">
            <a:avLst/>
          </a:prstGeom>
          <a:noFill/>
        </p:spPr>
        <p:txBody>
          <a:bodyPr wrap="square">
            <a:spAutoFit/>
          </a:bodyPr>
          <a:lstStyle/>
          <a:p>
            <a:r>
              <a:rPr lang="en-US" altLang="zh-CN" sz="2800" b="1" dirty="0">
                <a:latin typeface="KaiTi" panose="02010609060101010101" pitchFamily="49" charset="-122"/>
                <a:ea typeface="KaiTi" panose="02010609060101010101" pitchFamily="49" charset="-122"/>
                <a:cs typeface="Times New Roman" panose="02020603050405020304" pitchFamily="18" charset="0"/>
              </a:rPr>
              <a:t>CART</a:t>
            </a:r>
            <a:endParaRPr lang="zh-CN" altLang="en-US" sz="2800" b="1" dirty="0">
              <a:latin typeface="KaiTi" panose="02010609060101010101" pitchFamily="49" charset="-122"/>
              <a:ea typeface="KaiTi" panose="02010609060101010101" pitchFamily="49" charset="-122"/>
            </a:endParaRPr>
          </a:p>
        </p:txBody>
      </p:sp>
      <p:sp>
        <p:nvSpPr>
          <p:cNvPr id="5" name="文本框 17">
            <a:extLst>
              <a:ext uri="{FF2B5EF4-FFF2-40B4-BE49-F238E27FC236}">
                <a16:creationId xmlns:a16="http://schemas.microsoft.com/office/drawing/2014/main" id="{99AB87B1-79F3-4B22-AD88-5A8ACFA427F8}"/>
              </a:ext>
            </a:extLst>
          </p:cNvPr>
          <p:cNvSpPr txBox="1"/>
          <p:nvPr/>
        </p:nvSpPr>
        <p:spPr>
          <a:xfrm>
            <a:off x="1394515" y="2182056"/>
            <a:ext cx="9671050" cy="3258521"/>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marL="342900" indent="-342900" algn="just">
              <a:lnSpc>
                <a:spcPct val="150000"/>
              </a:lnSpc>
              <a:buFont typeface="Wingdings" panose="05000000000000000000" pitchFamily="2" charset="2"/>
              <a:buChar char="l"/>
            </a:pPr>
            <a:r>
              <a:rPr lang="en-US" altLang="zh-CN" sz="2400" dirty="0">
                <a:latin typeface="KaiTi" panose="02010609060101010101" pitchFamily="49" charset="-122"/>
                <a:ea typeface="KaiTi" panose="02010609060101010101" pitchFamily="49" charset="-122"/>
                <a:cs typeface="Times New Roman" panose="02020603050405020304" pitchFamily="18" charset="0"/>
              </a:rPr>
              <a:t>Classification and Regression Tree (CART) </a:t>
            </a:r>
            <a:r>
              <a:rPr lang="zh-CN" altLang="en-US" sz="2400" dirty="0">
                <a:latin typeface="KaiTi" panose="02010609060101010101" pitchFamily="49" charset="-122"/>
                <a:ea typeface="KaiTi" panose="02010609060101010101" pitchFamily="49" charset="-122"/>
                <a:cs typeface="Times New Roman" panose="02020603050405020304" pitchFamily="18" charset="0"/>
              </a:rPr>
              <a:t>是决策树的一种。</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用</a:t>
            </a:r>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基尼指数</a:t>
            </a:r>
            <a:r>
              <a:rPr lang="zh-CN" altLang="en-US" sz="2400" dirty="0">
                <a:latin typeface="KaiTi" panose="02010609060101010101" pitchFamily="49" charset="-122"/>
                <a:ea typeface="KaiTi" panose="02010609060101010101" pitchFamily="49" charset="-122"/>
                <a:cs typeface="Times New Roman" panose="02020603050405020304" pitchFamily="18" charset="0"/>
              </a:rPr>
              <a:t>来选择属性（分类），或用</a:t>
            </a:r>
            <a:r>
              <a:rPr lang="zh-CN" altLang="en-US" sz="2400" dirty="0">
                <a:solidFill>
                  <a:srgbClr val="FF0000"/>
                </a:solidFill>
                <a:latin typeface="KaiTi" panose="02010609060101010101" pitchFamily="49" charset="-122"/>
                <a:ea typeface="KaiTi" panose="02010609060101010101" pitchFamily="49" charset="-122"/>
                <a:cs typeface="Times New Roman" panose="02020603050405020304" pitchFamily="18" charset="0"/>
              </a:rPr>
              <a:t>均方差</a:t>
            </a:r>
            <a:r>
              <a:rPr lang="zh-CN" altLang="en-US" sz="2400" dirty="0">
                <a:latin typeface="KaiTi" panose="02010609060101010101" pitchFamily="49" charset="-122"/>
                <a:ea typeface="KaiTi" panose="02010609060101010101" pitchFamily="49" charset="-122"/>
                <a:cs typeface="Times New Roman" panose="02020603050405020304" pitchFamily="18" charset="0"/>
              </a:rPr>
              <a:t>来选择属性（回归）。</a:t>
            </a: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顾名思义，</a:t>
            </a:r>
            <a:r>
              <a:rPr lang="en-US" altLang="zh-CN" sz="2400" dirty="0">
                <a:latin typeface="KaiTi" panose="02010609060101010101" pitchFamily="49" charset="-122"/>
                <a:ea typeface="KaiTi" panose="02010609060101010101" pitchFamily="49" charset="-122"/>
                <a:cs typeface="Times New Roman" panose="02020603050405020304" pitchFamily="18" charset="0"/>
              </a:rPr>
              <a:t>CART</a:t>
            </a:r>
            <a:r>
              <a:rPr lang="zh-CN" altLang="en-US" sz="2400" dirty="0">
                <a:latin typeface="KaiTi" panose="02010609060101010101" pitchFamily="49" charset="-122"/>
                <a:ea typeface="KaiTi" panose="02010609060101010101" pitchFamily="49" charset="-122"/>
                <a:cs typeface="Times New Roman" panose="02020603050405020304" pitchFamily="18" charset="0"/>
              </a:rPr>
              <a:t>算法既可以用于创建分类树，也可以用于创建回归树，两者在构建的过程中稍有差异。</a:t>
            </a: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如果目标变量是离散的，称为分类树。</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400" dirty="0">
                <a:latin typeface="KaiTi" panose="02010609060101010101" pitchFamily="49" charset="-122"/>
                <a:ea typeface="KaiTi" panose="02010609060101010101" pitchFamily="49" charset="-122"/>
                <a:cs typeface="Times New Roman" panose="02020603050405020304" pitchFamily="18" charset="0"/>
              </a:rPr>
              <a:t>如果目标变量是连续的，称为回归树。</a:t>
            </a:r>
            <a:endParaRPr lang="en-US" altLang="zh-CN" sz="2400" dirty="0">
              <a:latin typeface="KaiTi" panose="02010609060101010101" pitchFamily="49" charset="-122"/>
              <a:ea typeface="KaiTi" panose="02010609060101010101" pitchFamily="49" charset="-122"/>
              <a:cs typeface="Times New Roman" panose="02020603050405020304" pitchFamily="18" charset="0"/>
            </a:endParaRPr>
          </a:p>
        </p:txBody>
      </p:sp>
      <p:sp>
        <p:nvSpPr>
          <p:cNvPr id="3" name="제목 2">
            <a:extLst>
              <a:ext uri="{FF2B5EF4-FFF2-40B4-BE49-F238E27FC236}">
                <a16:creationId xmlns:a16="http://schemas.microsoft.com/office/drawing/2014/main" id="{FC32C0E1-F595-D1BC-B275-305E8B71904E}"/>
              </a:ext>
            </a:extLst>
          </p:cNvPr>
          <p:cNvSpPr>
            <a:spLocks noGrp="1"/>
          </p:cNvSpPr>
          <p:nvPr>
            <p:ph type="title"/>
          </p:nvPr>
        </p:nvSpPr>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p>
        </p:txBody>
      </p:sp>
    </p:spTree>
    <p:extLst>
      <p:ext uri="{BB962C8B-B14F-4D97-AF65-F5344CB8AC3E}">
        <p14:creationId xmlns:p14="http://schemas.microsoft.com/office/powerpoint/2010/main" val="1973647394"/>
      </p:ext>
    </p:extLst>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0" y="-22324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36" name="文本框 35">
            <a:extLst>
              <a:ext uri="{FF2B5EF4-FFF2-40B4-BE49-F238E27FC236}">
                <a16:creationId xmlns:a16="http://schemas.microsoft.com/office/drawing/2014/main" id="{186CB390-3F0B-4249-9644-ED99CCFE7C62}"/>
              </a:ext>
            </a:extLst>
          </p:cNvPr>
          <p:cNvSpPr txBox="1"/>
          <p:nvPr/>
        </p:nvSpPr>
        <p:spPr>
          <a:xfrm>
            <a:off x="468947" y="1439913"/>
            <a:ext cx="2331615" cy="461665"/>
          </a:xfrm>
          <a:prstGeom prst="rect">
            <a:avLst/>
          </a:prstGeom>
          <a:noFill/>
        </p:spPr>
        <p:txBody>
          <a:bodyPr wrap="square" rtlCol="0">
            <a:spAutoFit/>
          </a:bodyPr>
          <a:lstStyle/>
          <a:p>
            <a:r>
              <a:rPr lang="zh-CN" altLang="en-US" sz="2400" b="1" dirty="0">
                <a:latin typeface="KaiTi" panose="02010609060101010101" pitchFamily="49" charset="-122"/>
                <a:ea typeface="KaiTi" panose="02010609060101010101" pitchFamily="49" charset="-122"/>
              </a:rPr>
              <a:t>连续特征处理</a:t>
            </a:r>
          </a:p>
        </p:txBody>
      </p:sp>
      <mc:AlternateContent xmlns:mc="http://schemas.openxmlformats.org/markup-compatibility/2006" xmlns:a14="http://schemas.microsoft.com/office/drawing/2010/main">
        <mc:Choice Requires="a14">
          <p:graphicFrame>
            <p:nvGraphicFramePr>
              <p:cNvPr id="3" name="表格 6">
                <a:extLst>
                  <a:ext uri="{FF2B5EF4-FFF2-40B4-BE49-F238E27FC236}">
                    <a16:creationId xmlns:a16="http://schemas.microsoft.com/office/drawing/2014/main" id="{34CB87BD-B28C-4079-996D-1293DF47B3F7}"/>
                  </a:ext>
                </a:extLst>
              </p:cNvPr>
              <p:cNvGraphicFramePr>
                <a:graphicFrameLocks noGrp="1"/>
              </p:cNvGraphicFramePr>
              <p:nvPr/>
            </p:nvGraphicFramePr>
            <p:xfrm>
              <a:off x="6214492" y="1706247"/>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0070C0"/>
                        </a:solidFill>
                      </a:tcPr>
                    </a:tc>
                    <a:extLst>
                      <a:ext uri="{0D108BD9-81ED-4DB2-BD59-A6C34878D82A}">
                        <a16:rowId xmlns:a16="http://schemas.microsoft.com/office/drawing/2014/main" val="1573037358"/>
                      </a:ext>
                    </a:extLst>
                  </a:tr>
                </a:tbl>
              </a:graphicData>
            </a:graphic>
          </p:graphicFrame>
        </mc:Choice>
        <mc:Fallback xmlns="">
          <p:graphicFrame>
            <p:nvGraphicFramePr>
              <p:cNvPr id="3" name="表格 6">
                <a:extLst>
                  <a:ext uri="{FF2B5EF4-FFF2-40B4-BE49-F238E27FC236}">
                    <a16:creationId xmlns:a16="http://schemas.microsoft.com/office/drawing/2014/main" id="{34CB87BD-B28C-4079-996D-1293DF47B3F7}"/>
                  </a:ext>
                </a:extLst>
              </p:cNvPr>
              <p:cNvGraphicFramePr>
                <a:graphicFrameLocks noGrp="1"/>
              </p:cNvGraphicFramePr>
              <p:nvPr>
                <p:extLst>
                  <p:ext uri="{D42A27DB-BD31-4B8C-83A1-F6EECF244321}">
                    <p14:modId xmlns:p14="http://schemas.microsoft.com/office/powerpoint/2010/main" val="4014117397"/>
                  </p:ext>
                </p:extLst>
              </p:nvPr>
            </p:nvGraphicFramePr>
            <p:xfrm>
              <a:off x="6214492" y="1706247"/>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3"/>
                          <a:stretch>
                            <a:fillRect l="-1852" t="-6452" r="-698148" b="-25806"/>
                          </a:stretch>
                        </a:blipFill>
                      </a:tcPr>
                    </a:tc>
                    <a:tc>
                      <a:txBody>
                        <a:bodyPr/>
                        <a:lstStyle/>
                        <a:p>
                          <a:endParaRPr lang="ko-Kore-KR"/>
                        </a:p>
                      </a:txBody>
                      <a:tcPr>
                        <a:blipFill>
                          <a:blip r:embed="rId3"/>
                          <a:stretch>
                            <a:fillRect l="-103774" t="-6452" r="-611321" b="-25806"/>
                          </a:stretch>
                        </a:blipFill>
                      </a:tcPr>
                    </a:tc>
                    <a:tc>
                      <a:txBody>
                        <a:bodyPr/>
                        <a:lstStyle/>
                        <a:p>
                          <a:endParaRPr lang="ko-Kore-KR"/>
                        </a:p>
                      </a:txBody>
                      <a:tcPr>
                        <a:blipFill>
                          <a:blip r:embed="rId3"/>
                          <a:stretch>
                            <a:fillRect l="-200000" t="-6452" r="-500000" b="-25806"/>
                          </a:stretch>
                        </a:blipFill>
                      </a:tcPr>
                    </a:tc>
                    <a:tc>
                      <a:txBody>
                        <a:bodyPr/>
                        <a:lstStyle/>
                        <a:p>
                          <a:endParaRPr lang="ko-Kore-KR"/>
                        </a:p>
                      </a:txBody>
                      <a:tcPr>
                        <a:blipFill>
                          <a:blip r:embed="rId3"/>
                          <a:stretch>
                            <a:fillRect l="-300000" t="-6452" r="-400000" b="-25806"/>
                          </a:stretch>
                        </a:blipFill>
                      </a:tcPr>
                    </a:tc>
                    <a:tc>
                      <a:txBody>
                        <a:bodyPr/>
                        <a:lstStyle/>
                        <a:p>
                          <a:endParaRPr lang="ko-Kore-KR"/>
                        </a:p>
                      </a:txBody>
                      <a:tcPr>
                        <a:blipFill>
                          <a:blip r:embed="rId3"/>
                          <a:stretch>
                            <a:fillRect l="-407547" t="-6452" r="-307547" b="-25806"/>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3"/>
                          <a:stretch>
                            <a:fillRect l="-609434" t="-6452" r="-105660" b="-25806"/>
                          </a:stretch>
                        </a:blipFill>
                      </a:tcPr>
                    </a:tc>
                    <a:tc>
                      <a:txBody>
                        <a:bodyPr/>
                        <a:lstStyle/>
                        <a:p>
                          <a:endParaRPr lang="ko-Kore-KR"/>
                        </a:p>
                      </a:txBody>
                      <a:tcPr>
                        <a:blipFill>
                          <a:blip r:embed="rId3"/>
                          <a:stretch>
                            <a:fillRect l="-696296" t="-6452" r="-3704" b="-25806"/>
                          </a:stretch>
                        </a:blipFill>
                      </a:tcPr>
                    </a:tc>
                    <a:extLst>
                      <a:ext uri="{0D108BD9-81ED-4DB2-BD59-A6C34878D82A}">
                        <a16:rowId xmlns:a16="http://schemas.microsoft.com/office/drawing/2014/main" val="157303735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6">
                <a:extLst>
                  <a:ext uri="{FF2B5EF4-FFF2-40B4-BE49-F238E27FC236}">
                    <a16:creationId xmlns:a16="http://schemas.microsoft.com/office/drawing/2014/main" id="{366A60A1-DE43-4080-B84B-18C94587B631}"/>
                  </a:ext>
                </a:extLst>
              </p:cNvPr>
              <p:cNvGraphicFramePr>
                <a:graphicFrameLocks noGrp="1"/>
              </p:cNvGraphicFramePr>
              <p:nvPr/>
            </p:nvGraphicFramePr>
            <p:xfrm>
              <a:off x="6214492" y="278713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0070C0"/>
                        </a:solidFill>
                      </a:tcPr>
                    </a:tc>
                    <a:extLst>
                      <a:ext uri="{0D108BD9-81ED-4DB2-BD59-A6C34878D82A}">
                        <a16:rowId xmlns:a16="http://schemas.microsoft.com/office/drawing/2014/main" val="1573037358"/>
                      </a:ext>
                    </a:extLst>
                  </a:tr>
                </a:tbl>
              </a:graphicData>
            </a:graphic>
          </p:graphicFrame>
        </mc:Choice>
        <mc:Fallback xmlns="">
          <p:graphicFrame>
            <p:nvGraphicFramePr>
              <p:cNvPr id="37" name="表格 6">
                <a:extLst>
                  <a:ext uri="{FF2B5EF4-FFF2-40B4-BE49-F238E27FC236}">
                    <a16:creationId xmlns:a16="http://schemas.microsoft.com/office/drawing/2014/main" id="{366A60A1-DE43-4080-B84B-18C94587B631}"/>
                  </a:ext>
                </a:extLst>
              </p:cNvPr>
              <p:cNvGraphicFramePr>
                <a:graphicFrameLocks noGrp="1"/>
              </p:cNvGraphicFramePr>
              <p:nvPr>
                <p:extLst>
                  <p:ext uri="{D42A27DB-BD31-4B8C-83A1-F6EECF244321}">
                    <p14:modId xmlns:p14="http://schemas.microsoft.com/office/powerpoint/2010/main" val="1375336757"/>
                  </p:ext>
                </p:extLst>
              </p:nvPr>
            </p:nvGraphicFramePr>
            <p:xfrm>
              <a:off x="6214492" y="278713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4"/>
                          <a:stretch>
                            <a:fillRect l="-1852" t="-9677" r="-698148" b="-25806"/>
                          </a:stretch>
                        </a:blipFill>
                      </a:tcPr>
                    </a:tc>
                    <a:tc>
                      <a:txBody>
                        <a:bodyPr/>
                        <a:lstStyle/>
                        <a:p>
                          <a:endParaRPr lang="ko-Kore-KR"/>
                        </a:p>
                      </a:txBody>
                      <a:tcPr>
                        <a:blipFill>
                          <a:blip r:embed="rId4"/>
                          <a:stretch>
                            <a:fillRect l="-103774" t="-9677" r="-611321" b="-25806"/>
                          </a:stretch>
                        </a:blipFill>
                      </a:tcPr>
                    </a:tc>
                    <a:tc>
                      <a:txBody>
                        <a:bodyPr/>
                        <a:lstStyle/>
                        <a:p>
                          <a:endParaRPr lang="ko-Kore-KR"/>
                        </a:p>
                      </a:txBody>
                      <a:tcPr>
                        <a:blipFill>
                          <a:blip r:embed="rId4"/>
                          <a:stretch>
                            <a:fillRect l="-200000" t="-9677" r="-500000" b="-25806"/>
                          </a:stretch>
                        </a:blipFill>
                      </a:tcPr>
                    </a:tc>
                    <a:tc>
                      <a:txBody>
                        <a:bodyPr/>
                        <a:lstStyle/>
                        <a:p>
                          <a:endParaRPr lang="ko-Kore-KR"/>
                        </a:p>
                      </a:txBody>
                      <a:tcPr>
                        <a:blipFill>
                          <a:blip r:embed="rId4"/>
                          <a:stretch>
                            <a:fillRect l="-300000" t="-9677" r="-400000" b="-25806"/>
                          </a:stretch>
                        </a:blipFill>
                      </a:tcPr>
                    </a:tc>
                    <a:tc>
                      <a:txBody>
                        <a:bodyPr/>
                        <a:lstStyle/>
                        <a:p>
                          <a:endParaRPr lang="ko-Kore-KR"/>
                        </a:p>
                      </a:txBody>
                      <a:tcPr>
                        <a:blipFill>
                          <a:blip r:embed="rId4"/>
                          <a:stretch>
                            <a:fillRect l="-407547" t="-9677" r="-307547" b="-25806"/>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4"/>
                          <a:stretch>
                            <a:fillRect l="-609434" t="-9677" r="-105660" b="-25806"/>
                          </a:stretch>
                        </a:blipFill>
                      </a:tcPr>
                    </a:tc>
                    <a:tc>
                      <a:txBody>
                        <a:bodyPr/>
                        <a:lstStyle/>
                        <a:p>
                          <a:endParaRPr lang="ko-Kore-KR"/>
                        </a:p>
                      </a:txBody>
                      <a:tcPr>
                        <a:blipFill>
                          <a:blip r:embed="rId4"/>
                          <a:stretch>
                            <a:fillRect l="-696296" t="-9677" r="-3704" b="-25806"/>
                          </a:stretch>
                        </a:blipFill>
                      </a:tcPr>
                    </a:tc>
                    <a:extLst>
                      <a:ext uri="{0D108BD9-81ED-4DB2-BD59-A6C34878D82A}">
                        <a16:rowId xmlns:a16="http://schemas.microsoft.com/office/drawing/2014/main" val="1573037358"/>
                      </a:ext>
                    </a:extLst>
                  </a:tr>
                </a:tbl>
              </a:graphicData>
            </a:graphic>
          </p:graphicFrame>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1CAD4A0-61B4-462E-9094-82868EAB33BB}"/>
                  </a:ext>
                </a:extLst>
              </p:cNvPr>
              <p:cNvSpPr txBox="1"/>
              <p:nvPr/>
            </p:nvSpPr>
            <p:spPr>
              <a:xfrm>
                <a:off x="6415052" y="2197124"/>
                <a:ext cx="942325" cy="5380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600" i="1" smtClean="0">
                              <a:solidFill>
                                <a:srgbClr val="836967"/>
                              </a:solidFill>
                              <a:latin typeface="Cambria Math" panose="02040503050406030204" pitchFamily="18" charset="0"/>
                            </a:rPr>
                          </m:ctrlPr>
                        </m:fPr>
                        <m:num>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den>
                      </m:f>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41" name="文本框 40">
                <a:extLst>
                  <a:ext uri="{FF2B5EF4-FFF2-40B4-BE49-F238E27FC236}">
                    <a16:creationId xmlns:a16="http://schemas.microsoft.com/office/drawing/2014/main" id="{21CAD4A0-61B4-462E-9094-82868EAB33BB}"/>
                  </a:ext>
                </a:extLst>
              </p:cNvPr>
              <p:cNvSpPr txBox="1">
                <a:spLocks noRot="1" noChangeAspect="1" noMove="1" noResize="1" noEditPoints="1" noAdjustHandles="1" noChangeArrowheads="1" noChangeShapeType="1" noTextEdit="1"/>
              </p:cNvSpPr>
              <p:nvPr/>
            </p:nvSpPr>
            <p:spPr>
              <a:xfrm>
                <a:off x="6415052" y="2197124"/>
                <a:ext cx="942325" cy="538032"/>
              </a:xfrm>
              <a:prstGeom prst="rect">
                <a:avLst/>
              </a:prstGeom>
              <a:blipFill>
                <a:blip r:embed="rId5"/>
                <a:stretch>
                  <a:fillRect b="-2273"/>
                </a:stretch>
              </a:blipFill>
            </p:spPr>
            <p:txBody>
              <a:bodyPr/>
              <a:lstStyle/>
              <a:p>
                <a:r>
                  <a:rPr lang="ko-Kore-KR" altLang="en-US">
                    <a:noFill/>
                  </a:rPr>
                  <a:t> </a:t>
                </a:r>
              </a:p>
            </p:txBody>
          </p:sp>
        </mc:Fallback>
      </mc:AlternateContent>
      <p:sp>
        <p:nvSpPr>
          <p:cNvPr id="23" name="矩形 22">
            <a:extLst>
              <a:ext uri="{FF2B5EF4-FFF2-40B4-BE49-F238E27FC236}">
                <a16:creationId xmlns:a16="http://schemas.microsoft.com/office/drawing/2014/main" id="{D95936C4-FA6B-4D94-8C14-8959C974C606}"/>
              </a:ext>
            </a:extLst>
          </p:cNvPr>
          <p:cNvSpPr/>
          <p:nvPr/>
        </p:nvSpPr>
        <p:spPr>
          <a:xfrm>
            <a:off x="6863107" y="1632273"/>
            <a:ext cx="45719" cy="54015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9356204-27C7-472C-B845-5F1D64B9A0DB}"/>
                  </a:ext>
                </a:extLst>
              </p:cNvPr>
              <p:cNvSpPr txBox="1"/>
              <p:nvPr/>
            </p:nvSpPr>
            <p:spPr>
              <a:xfrm>
                <a:off x="10317805" y="4916333"/>
                <a:ext cx="1374083" cy="5380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600" i="1" smtClean="0">
                              <a:solidFill>
                                <a:srgbClr val="836967"/>
                              </a:solidFill>
                              <a:latin typeface="Cambria Math" panose="02040503050406030204" pitchFamily="18" charset="0"/>
                            </a:rPr>
                          </m:ctrlPr>
                        </m:fPr>
                        <m:num>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𝑚</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𝑚</m:t>
                              </m:r>
                            </m:sub>
                          </m:sSub>
                        </m:num>
                        <m:den>
                          <m:r>
                            <a:rPr lang="zh-CN" altLang="en-US" sz="1600" i="0">
                              <a:latin typeface="Cambria Math" panose="02040503050406030204" pitchFamily="18" charset="0"/>
                            </a:rPr>
                            <m:t>2</m:t>
                          </m:r>
                        </m:den>
                      </m:f>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45" name="文本框 44">
                <a:extLst>
                  <a:ext uri="{FF2B5EF4-FFF2-40B4-BE49-F238E27FC236}">
                    <a16:creationId xmlns:a16="http://schemas.microsoft.com/office/drawing/2014/main" id="{C9356204-27C7-472C-B845-5F1D64B9A0DB}"/>
                  </a:ext>
                </a:extLst>
              </p:cNvPr>
              <p:cNvSpPr txBox="1">
                <a:spLocks noRot="1" noChangeAspect="1" noMove="1" noResize="1" noEditPoints="1" noAdjustHandles="1" noChangeArrowheads="1" noChangeShapeType="1" noTextEdit="1"/>
              </p:cNvSpPr>
              <p:nvPr/>
            </p:nvSpPr>
            <p:spPr>
              <a:xfrm>
                <a:off x="10317805" y="4916333"/>
                <a:ext cx="1374083" cy="538032"/>
              </a:xfrm>
              <a:prstGeom prst="rect">
                <a:avLst/>
              </a:prstGeom>
              <a:blipFill>
                <a:blip r:embed="rId6"/>
                <a:stretch>
                  <a:fillRect b="-227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6DC4351-77D2-4FDB-867C-0422821B9B29}"/>
                  </a:ext>
                </a:extLst>
              </p:cNvPr>
              <p:cNvSpPr txBox="1"/>
              <p:nvPr/>
            </p:nvSpPr>
            <p:spPr>
              <a:xfrm>
                <a:off x="6840096" y="3320461"/>
                <a:ext cx="1481397" cy="5380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600" i="1" smtClean="0">
                              <a:solidFill>
                                <a:srgbClr val="836967"/>
                              </a:solidFill>
                              <a:latin typeface="Cambria Math" panose="02040503050406030204" pitchFamily="18" charset="0"/>
                            </a:rPr>
                          </m:ctrlPr>
                        </m:fPr>
                        <m:num>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num>
                        <m:den>
                          <m:r>
                            <a:rPr lang="zh-CN" altLang="en-US" sz="1600" i="0">
                              <a:latin typeface="Cambria Math" panose="02040503050406030204" pitchFamily="18" charset="0"/>
                            </a:rPr>
                            <m:t>2</m:t>
                          </m:r>
                        </m:den>
                      </m:f>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48" name="文本框 47">
                <a:extLst>
                  <a:ext uri="{FF2B5EF4-FFF2-40B4-BE49-F238E27FC236}">
                    <a16:creationId xmlns:a16="http://schemas.microsoft.com/office/drawing/2014/main" id="{B6DC4351-77D2-4FDB-867C-0422821B9B29}"/>
                  </a:ext>
                </a:extLst>
              </p:cNvPr>
              <p:cNvSpPr txBox="1">
                <a:spLocks noRot="1" noChangeAspect="1" noMove="1" noResize="1" noEditPoints="1" noAdjustHandles="1" noChangeArrowheads="1" noChangeShapeType="1" noTextEdit="1"/>
              </p:cNvSpPr>
              <p:nvPr/>
            </p:nvSpPr>
            <p:spPr>
              <a:xfrm>
                <a:off x="6840096" y="3320461"/>
                <a:ext cx="1481397" cy="538032"/>
              </a:xfrm>
              <a:prstGeom prst="rect">
                <a:avLst/>
              </a:prstGeom>
              <a:blipFill>
                <a:blip r:embed="rId7"/>
                <a:stretch>
                  <a:fillRect b="-2326"/>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graphicFrame>
            <p:nvGraphicFramePr>
              <p:cNvPr id="49" name="表格 6">
                <a:extLst>
                  <a:ext uri="{FF2B5EF4-FFF2-40B4-BE49-F238E27FC236}">
                    <a16:creationId xmlns:a16="http://schemas.microsoft.com/office/drawing/2014/main" id="{C6FDE6A2-230F-4A5D-9A76-ED6DBF367447}"/>
                  </a:ext>
                </a:extLst>
              </p:cNvPr>
              <p:cNvGraphicFramePr>
                <a:graphicFrameLocks noGrp="1"/>
              </p:cNvGraphicFramePr>
              <p:nvPr/>
            </p:nvGraphicFramePr>
            <p:xfrm>
              <a:off x="6214492" y="435762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0070C0"/>
                        </a:solidFill>
                      </a:tcPr>
                    </a:tc>
                    <a:extLst>
                      <a:ext uri="{0D108BD9-81ED-4DB2-BD59-A6C34878D82A}">
                        <a16:rowId xmlns:a16="http://schemas.microsoft.com/office/drawing/2014/main" val="1573037358"/>
                      </a:ext>
                    </a:extLst>
                  </a:tr>
                </a:tbl>
              </a:graphicData>
            </a:graphic>
          </p:graphicFrame>
        </mc:Choice>
        <mc:Fallback xmlns="">
          <p:graphicFrame>
            <p:nvGraphicFramePr>
              <p:cNvPr id="49" name="表格 6">
                <a:extLst>
                  <a:ext uri="{FF2B5EF4-FFF2-40B4-BE49-F238E27FC236}">
                    <a16:creationId xmlns:a16="http://schemas.microsoft.com/office/drawing/2014/main" id="{C6FDE6A2-230F-4A5D-9A76-ED6DBF367447}"/>
                  </a:ext>
                </a:extLst>
              </p:cNvPr>
              <p:cNvGraphicFramePr>
                <a:graphicFrameLocks noGrp="1"/>
              </p:cNvGraphicFramePr>
              <p:nvPr>
                <p:extLst>
                  <p:ext uri="{D42A27DB-BD31-4B8C-83A1-F6EECF244321}">
                    <p14:modId xmlns:p14="http://schemas.microsoft.com/office/powerpoint/2010/main" val="3222160517"/>
                  </p:ext>
                </p:extLst>
              </p:nvPr>
            </p:nvGraphicFramePr>
            <p:xfrm>
              <a:off x="6214492" y="435762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8"/>
                          <a:stretch>
                            <a:fillRect l="-1852" t="-9677" r="-698148" b="-25806"/>
                          </a:stretch>
                        </a:blipFill>
                      </a:tcPr>
                    </a:tc>
                    <a:tc>
                      <a:txBody>
                        <a:bodyPr/>
                        <a:lstStyle/>
                        <a:p>
                          <a:endParaRPr lang="ko-Kore-KR"/>
                        </a:p>
                      </a:txBody>
                      <a:tcPr>
                        <a:blipFill>
                          <a:blip r:embed="rId8"/>
                          <a:stretch>
                            <a:fillRect l="-103774" t="-9677" r="-611321" b="-25806"/>
                          </a:stretch>
                        </a:blipFill>
                      </a:tcPr>
                    </a:tc>
                    <a:tc>
                      <a:txBody>
                        <a:bodyPr/>
                        <a:lstStyle/>
                        <a:p>
                          <a:endParaRPr lang="ko-Kore-KR"/>
                        </a:p>
                      </a:txBody>
                      <a:tcPr>
                        <a:blipFill>
                          <a:blip r:embed="rId8"/>
                          <a:stretch>
                            <a:fillRect l="-200000" t="-9677" r="-500000" b="-25806"/>
                          </a:stretch>
                        </a:blipFill>
                      </a:tcPr>
                    </a:tc>
                    <a:tc>
                      <a:txBody>
                        <a:bodyPr/>
                        <a:lstStyle/>
                        <a:p>
                          <a:endParaRPr lang="ko-Kore-KR"/>
                        </a:p>
                      </a:txBody>
                      <a:tcPr>
                        <a:blipFill>
                          <a:blip r:embed="rId8"/>
                          <a:stretch>
                            <a:fillRect l="-300000" t="-9677" r="-400000" b="-25806"/>
                          </a:stretch>
                        </a:blipFill>
                      </a:tcPr>
                    </a:tc>
                    <a:tc>
                      <a:txBody>
                        <a:bodyPr/>
                        <a:lstStyle/>
                        <a:p>
                          <a:endParaRPr lang="ko-Kore-KR"/>
                        </a:p>
                      </a:txBody>
                      <a:tcPr>
                        <a:blipFill>
                          <a:blip r:embed="rId8"/>
                          <a:stretch>
                            <a:fillRect l="-407547" t="-9677" r="-307547" b="-25806"/>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8"/>
                          <a:stretch>
                            <a:fillRect l="-609434" t="-9677" r="-105660" b="-25806"/>
                          </a:stretch>
                        </a:blipFill>
                      </a:tcPr>
                    </a:tc>
                    <a:tc>
                      <a:txBody>
                        <a:bodyPr/>
                        <a:lstStyle/>
                        <a:p>
                          <a:endParaRPr lang="ko-Kore-KR"/>
                        </a:p>
                      </a:txBody>
                      <a:tcPr>
                        <a:blipFill>
                          <a:blip r:embed="rId8"/>
                          <a:stretch>
                            <a:fillRect l="-696296" t="-9677" r="-3704" b="-25806"/>
                          </a:stretch>
                        </a:blipFill>
                      </a:tcPr>
                    </a:tc>
                    <a:extLst>
                      <a:ext uri="{0D108BD9-81ED-4DB2-BD59-A6C34878D82A}">
                        <a16:rowId xmlns:a16="http://schemas.microsoft.com/office/drawing/2014/main" val="1573037358"/>
                      </a:ext>
                    </a:extLst>
                  </a:tr>
                </a:tbl>
              </a:graphicData>
            </a:graphic>
          </p:graphicFrame>
        </mc:Fallback>
      </mc:AlternateContent>
      <p:sp>
        <p:nvSpPr>
          <p:cNvPr id="50" name="文本框 49">
            <a:extLst>
              <a:ext uri="{FF2B5EF4-FFF2-40B4-BE49-F238E27FC236}">
                <a16:creationId xmlns:a16="http://schemas.microsoft.com/office/drawing/2014/main" id="{74237334-EFDC-429A-B4B3-7BCA101856A3}"/>
              </a:ext>
            </a:extLst>
          </p:cNvPr>
          <p:cNvSpPr txBox="1"/>
          <p:nvPr/>
        </p:nvSpPr>
        <p:spPr>
          <a:xfrm>
            <a:off x="6134829" y="3799480"/>
            <a:ext cx="872502" cy="384721"/>
          </a:xfrm>
          <a:prstGeom prst="rect">
            <a:avLst/>
          </a:prstGeom>
          <a:noFill/>
        </p:spPr>
        <p:txBody>
          <a:bodyPr vert="horz" wrap="square" rtlCol="0">
            <a:spAutoFit/>
          </a:bodyPr>
          <a:lstStyle/>
          <a:p>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51" name="矩形 50">
            <a:extLst>
              <a:ext uri="{FF2B5EF4-FFF2-40B4-BE49-F238E27FC236}">
                <a16:creationId xmlns:a16="http://schemas.microsoft.com/office/drawing/2014/main" id="{F40CF4AE-8A74-4142-A328-62F585DC42C8}"/>
              </a:ext>
            </a:extLst>
          </p:cNvPr>
          <p:cNvSpPr/>
          <p:nvPr/>
        </p:nvSpPr>
        <p:spPr>
          <a:xfrm>
            <a:off x="10959128" y="4279701"/>
            <a:ext cx="45719" cy="54015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2" name="矩形 51">
            <a:extLst>
              <a:ext uri="{FF2B5EF4-FFF2-40B4-BE49-F238E27FC236}">
                <a16:creationId xmlns:a16="http://schemas.microsoft.com/office/drawing/2014/main" id="{1CBD1018-9386-4E84-94E8-D9D0C375BE73}"/>
              </a:ext>
            </a:extLst>
          </p:cNvPr>
          <p:cNvSpPr/>
          <p:nvPr/>
        </p:nvSpPr>
        <p:spPr>
          <a:xfrm>
            <a:off x="7557936" y="2699933"/>
            <a:ext cx="45719" cy="54015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3" name="文本框 52">
            <a:extLst>
              <a:ext uri="{FF2B5EF4-FFF2-40B4-BE49-F238E27FC236}">
                <a16:creationId xmlns:a16="http://schemas.microsoft.com/office/drawing/2014/main" id="{83D341B7-3AA2-4A91-B85E-A33E86B356FF}"/>
              </a:ext>
            </a:extLst>
          </p:cNvPr>
          <p:cNvSpPr txBox="1"/>
          <p:nvPr/>
        </p:nvSpPr>
        <p:spPr>
          <a:xfrm>
            <a:off x="4488252" y="1702675"/>
            <a:ext cx="1278427"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r>
              <a:rPr lang="en-US" altLang="zh-CN" sz="1800" dirty="0">
                <a:latin typeface="KaiTi" panose="02010609060101010101" pitchFamily="49" charset="-122"/>
                <a:ea typeface="KaiTi" panose="02010609060101010101" pitchFamily="49" charset="-122"/>
              </a:rPr>
              <a:t>1</a:t>
            </a:r>
            <a:r>
              <a:rPr lang="zh-CN" altLang="en-US" sz="1800" dirty="0">
                <a:latin typeface="KaiTi" panose="02010609060101010101" pitchFamily="49" charset="-122"/>
                <a:ea typeface="KaiTi" panose="02010609060101010101" pitchFamily="49" charset="-122"/>
              </a:rPr>
              <a:t>次划分</a:t>
            </a: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326A982-9890-468A-BB91-44BD4BAFBA09}"/>
                  </a:ext>
                </a:extLst>
              </p:cNvPr>
              <p:cNvSpPr txBox="1"/>
              <p:nvPr/>
            </p:nvSpPr>
            <p:spPr>
              <a:xfrm>
                <a:off x="4472374" y="4364908"/>
                <a:ext cx="1864420"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14:m>
                  <m:oMath xmlns:m="http://schemas.openxmlformats.org/officeDocument/2006/math">
                    <m:r>
                      <a:rPr lang="en-US" altLang="zh-CN" sz="1800" i="1" dirty="0" smtClean="0">
                        <a:latin typeface="Cambria Math" panose="02040503050406030204" pitchFamily="18" charset="0"/>
                      </a:rPr>
                      <m:t>𝑚</m:t>
                    </m:r>
                    <m:r>
                      <a:rPr lang="en-US" altLang="zh-CN" sz="1800" i="1" dirty="0" smtClean="0">
                        <a:latin typeface="Cambria Math" panose="02040503050406030204" pitchFamily="18" charset="0"/>
                      </a:rPr>
                      <m:t>−1</m:t>
                    </m:r>
                  </m:oMath>
                </a14:m>
                <a:r>
                  <a:rPr lang="zh-CN" altLang="en-US" sz="1800" dirty="0">
                    <a:latin typeface="KaiTi" panose="02010609060101010101" pitchFamily="49" charset="-122"/>
                    <a:ea typeface="KaiTi" panose="02010609060101010101" pitchFamily="49" charset="-122"/>
                  </a:rPr>
                  <a:t>次划分</a:t>
                </a:r>
              </a:p>
            </p:txBody>
          </p:sp>
        </mc:Choice>
        <mc:Fallback xmlns="">
          <p:sp>
            <p:nvSpPr>
              <p:cNvPr id="54" name="文本框 53">
                <a:extLst>
                  <a:ext uri="{FF2B5EF4-FFF2-40B4-BE49-F238E27FC236}">
                    <a16:creationId xmlns:a16="http://schemas.microsoft.com/office/drawing/2014/main" id="{C326A982-9890-468A-BB91-44BD4BAFBA09}"/>
                  </a:ext>
                </a:extLst>
              </p:cNvPr>
              <p:cNvSpPr txBox="1">
                <a:spLocks noRot="1" noChangeAspect="1" noMove="1" noResize="1" noEditPoints="1" noAdjustHandles="1" noChangeArrowheads="1" noChangeShapeType="1" noTextEdit="1"/>
              </p:cNvSpPr>
              <p:nvPr/>
            </p:nvSpPr>
            <p:spPr>
              <a:xfrm>
                <a:off x="4472374" y="4364908"/>
                <a:ext cx="1864420" cy="369332"/>
              </a:xfrm>
              <a:prstGeom prst="rect">
                <a:avLst/>
              </a:prstGeom>
              <a:blipFill>
                <a:blip r:embed="rId9"/>
                <a:stretch>
                  <a:fillRect l="-2703" t="-10000" b="-23333"/>
                </a:stretch>
              </a:blipFill>
            </p:spPr>
            <p:txBody>
              <a:bodyPr/>
              <a:lstStyle/>
              <a:p>
                <a:r>
                  <a:rPr lang="ko-Kore-KR" altLang="en-US">
                    <a:noFill/>
                  </a:rPr>
                  <a:t> </a:t>
                </a:r>
              </a:p>
            </p:txBody>
          </p:sp>
        </mc:Fallback>
      </mc:AlternateContent>
      <p:sp>
        <p:nvSpPr>
          <p:cNvPr id="55" name="文本框 54">
            <a:extLst>
              <a:ext uri="{FF2B5EF4-FFF2-40B4-BE49-F238E27FC236}">
                <a16:creationId xmlns:a16="http://schemas.microsoft.com/office/drawing/2014/main" id="{C8641057-C1AA-4D27-97D8-35FD01C017AA}"/>
              </a:ext>
            </a:extLst>
          </p:cNvPr>
          <p:cNvSpPr txBox="1"/>
          <p:nvPr/>
        </p:nvSpPr>
        <p:spPr>
          <a:xfrm>
            <a:off x="4488252" y="2792069"/>
            <a:ext cx="1278427"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r>
              <a:rPr lang="en-US" altLang="zh-CN" sz="1800" dirty="0">
                <a:latin typeface="KaiTi" panose="02010609060101010101" pitchFamily="49" charset="-122"/>
                <a:ea typeface="KaiTi" panose="02010609060101010101" pitchFamily="49" charset="-122"/>
              </a:rPr>
              <a:t>2</a:t>
            </a:r>
            <a:r>
              <a:rPr lang="zh-CN" altLang="en-US" sz="1800" dirty="0">
                <a:latin typeface="KaiTi" panose="02010609060101010101" pitchFamily="49" charset="-122"/>
                <a:ea typeface="KaiTi" panose="02010609060101010101" pitchFamily="49" charset="-122"/>
              </a:rPr>
              <a:t>次划分</a:t>
            </a:r>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08CD7DA2-5D66-436D-A665-3F3B09CDBEB6}"/>
                  </a:ext>
                </a:extLst>
              </p:cNvPr>
              <p:cNvSpPr txBox="1"/>
              <p:nvPr/>
            </p:nvSpPr>
            <p:spPr>
              <a:xfrm>
                <a:off x="509668" y="2037919"/>
                <a:ext cx="3714639" cy="3946273"/>
              </a:xfrm>
              <a:prstGeom prst="rect">
                <a:avLst/>
              </a:prstGeom>
              <a:noFill/>
            </p:spPr>
            <p:txBody>
              <a:bodyPr wrap="square">
                <a:spAutoFit/>
              </a:bodyPr>
              <a:lstStyle/>
              <a:p>
                <a:pPr>
                  <a:lnSpc>
                    <a:spcPct val="150000"/>
                  </a:lnSpc>
                </a:pPr>
                <a:r>
                  <a:rPr lang="zh-CN" altLang="zh-CN" sz="1800" dirty="0">
                    <a:latin typeface="KaiTi" panose="02010609060101010101" pitchFamily="49" charset="-122"/>
                    <a:ea typeface="KaiTi" panose="02010609060101010101" pitchFamily="49" charset="-122"/>
                  </a:rPr>
                  <a:t>具体思路：</a:t>
                </a:r>
                <a14:m>
                  <m:oMath xmlns:m="http://schemas.openxmlformats.org/officeDocument/2006/math">
                    <m:r>
                      <a:rPr lang="en-US" altLang="zh-CN" sz="1800" i="1">
                        <a:latin typeface="Cambria Math" panose="02040503050406030204" pitchFamily="18" charset="0"/>
                      </a:rPr>
                      <m:t>𝑚</m:t>
                    </m:r>
                  </m:oMath>
                </a14:m>
                <a:r>
                  <a:rPr lang="zh-CN" altLang="zh-CN" sz="1800" dirty="0">
                    <a:latin typeface="KaiTi" panose="02010609060101010101" pitchFamily="49" charset="-122"/>
                    <a:ea typeface="KaiTi" panose="02010609060101010101" pitchFamily="49" charset="-122"/>
                  </a:rPr>
                  <a:t>个样本的连续特征</a:t>
                </a:r>
                <a14:m>
                  <m:oMath xmlns:m="http://schemas.openxmlformats.org/officeDocument/2006/math">
                    <m:r>
                      <a:rPr lang="en-US" altLang="zh-CN" sz="1800" i="1">
                        <a:latin typeface="Cambria Math" panose="02040503050406030204" pitchFamily="18" charset="0"/>
                      </a:rPr>
                      <m:t>𝐴</m:t>
                    </m:r>
                  </m:oMath>
                </a14:m>
                <a:r>
                  <a:rPr lang="zh-CN" altLang="zh-CN" sz="1800" dirty="0">
                    <a:latin typeface="KaiTi" panose="02010609060101010101" pitchFamily="49" charset="-122"/>
                    <a:ea typeface="KaiTi" panose="02010609060101010101" pitchFamily="49" charset="-122"/>
                  </a:rPr>
                  <a:t>有</a:t>
                </a:r>
                <a14:m>
                  <m:oMath xmlns:m="http://schemas.openxmlformats.org/officeDocument/2006/math">
                    <m:r>
                      <a:rPr lang="en-US" altLang="zh-CN" sz="1800" i="1">
                        <a:latin typeface="Cambria Math" panose="02040503050406030204" pitchFamily="18" charset="0"/>
                      </a:rPr>
                      <m:t>𝑚</m:t>
                    </m:r>
                  </m:oMath>
                </a14:m>
                <a:r>
                  <a:rPr lang="zh-CN" altLang="zh-CN" sz="1800" dirty="0">
                    <a:latin typeface="KaiTi" panose="02010609060101010101" pitchFamily="49" charset="-122"/>
                    <a:ea typeface="KaiTi" panose="02010609060101010101" pitchFamily="49" charset="-122"/>
                  </a:rPr>
                  <a:t>个，</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a:latin typeface="Cambria Math" panose="02040503050406030204" pitchFamily="18" charset="0"/>
                          </a:rPr>
                          <m:t>1</m:t>
                        </m:r>
                      </m:sub>
                    </m:sSub>
                  </m:oMath>
                </a14:m>
                <a:r>
                  <a:rPr lang="en-US" altLang="zh-CN" sz="18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a:latin typeface="Cambria Math" panose="02040503050406030204" pitchFamily="18" charset="0"/>
                          </a:rPr>
                          <m:t>2</m:t>
                        </m:r>
                      </m:sub>
                    </m:sSub>
                  </m:oMath>
                </a14:m>
                <a:r>
                  <a:rPr lang="en-US" altLang="zh-CN" sz="1800" dirty="0">
                    <a:latin typeface="KaiTi" panose="02010609060101010101" pitchFamily="49" charset="-122"/>
                    <a:ea typeface="KaiTi" panose="02010609060101010101" pitchFamily="49" charset="-122"/>
                  </a:rPr>
                  <a:t> , </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a:latin typeface="Cambria Math" panose="02040503050406030204" pitchFamily="18" charset="0"/>
                          </a:rPr>
                          <m:t>3</m:t>
                        </m:r>
                      </m:sub>
                    </m:sSub>
                  </m:oMath>
                </a14:m>
                <a:r>
                  <a:rPr lang="en-US" altLang="zh-CN" sz="18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en-US" altLang="zh-CN" sz="1800" i="1">
                            <a:latin typeface="Cambria Math" panose="02040503050406030204" pitchFamily="18" charset="0"/>
                          </a:rPr>
                          <m:t>−</m:t>
                        </m:r>
                        <m:r>
                          <a:rPr lang="en-US" altLang="zh-CN" sz="1800">
                            <a:latin typeface="Cambria Math" panose="02040503050406030204" pitchFamily="18" charset="0"/>
                          </a:rPr>
                          <m:t>1</m:t>
                        </m:r>
                      </m:sub>
                    </m:sSub>
                  </m:oMath>
                </a14:m>
                <a:r>
                  <a:rPr lang="en-US" altLang="zh-CN" sz="18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sub>
                    </m:sSub>
                  </m:oMath>
                </a14:m>
                <a:r>
                  <a:rPr lang="zh-CN" altLang="zh-CN" sz="1800" dirty="0">
                    <a:latin typeface="KaiTi" panose="02010609060101010101" pitchFamily="49" charset="-122"/>
                    <a:ea typeface="KaiTi" panose="02010609060101010101" pitchFamily="49" charset="-122"/>
                  </a:rPr>
                  <a:t>从小到大排列， 取相邻两样本值的平均数做划分点，一共取</a:t>
                </a:r>
                <a14:m>
                  <m:oMath xmlns:m="http://schemas.openxmlformats.org/officeDocument/2006/math">
                    <m:r>
                      <a:rPr lang="en-US" altLang="zh-CN" sz="1800" i="1">
                        <a:latin typeface="Cambria Math" panose="02040503050406030204" pitchFamily="18" charset="0"/>
                      </a:rPr>
                      <m:t>𝑚</m:t>
                    </m:r>
                    <m:r>
                      <a:rPr lang="zh-CN" altLang="en-US"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KaiTi" panose="02010609060101010101" pitchFamily="49" charset="-122"/>
                    <a:ea typeface="KaiTi" panose="02010609060101010101" pitchFamily="49" charset="-122"/>
                  </a:rPr>
                  <a:t>个，其中第</a:t>
                </a:r>
                <a14:m>
                  <m:oMath xmlns:m="http://schemas.openxmlformats.org/officeDocument/2006/math">
                    <m:r>
                      <a:rPr lang="en-US" altLang="zh-CN" sz="1800" i="1">
                        <a:latin typeface="Cambria Math" panose="02040503050406030204" pitchFamily="18" charset="0"/>
                      </a:rPr>
                      <m:t>𝑚</m:t>
                    </m:r>
                  </m:oMath>
                </a14:m>
                <a:r>
                  <a:rPr lang="zh-CN" altLang="zh-CN" sz="1800" dirty="0">
                    <a:latin typeface="KaiTi" panose="02010609060101010101" pitchFamily="49" charset="-122"/>
                    <a:ea typeface="KaiTi" panose="02010609060101010101" pitchFamily="49" charset="-122"/>
                  </a:rPr>
                  <a:t>个划分点</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𝑇</m:t>
                        </m:r>
                      </m:e>
                      <m:sub>
                        <m:r>
                          <a:rPr lang="en-US" altLang="zh-CN" sz="1800" i="1">
                            <a:latin typeface="Cambria Math" panose="02040503050406030204" pitchFamily="18" charset="0"/>
                          </a:rPr>
                          <m:t>𝑚</m:t>
                        </m:r>
                      </m:sub>
                    </m:sSub>
                    <m:r>
                      <a:rPr lang="en-US" altLang="zh-CN" sz="1800" i="1">
                        <a:latin typeface="Cambria Math" panose="02040503050406030204" pitchFamily="18" charset="0"/>
                      </a:rPr>
                      <m:t> </m:t>
                    </m:r>
                  </m:oMath>
                </a14:m>
                <a:r>
                  <a:rPr lang="zh-CN" altLang="zh-CN" sz="1800" dirty="0">
                    <a:latin typeface="KaiTi" panose="02010609060101010101" pitchFamily="49" charset="-122"/>
                    <a:ea typeface="KaiTi" panose="02010609060101010101" pitchFamily="49" charset="-122"/>
                  </a:rPr>
                  <a:t>表示为：</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𝑇</m:t>
                        </m:r>
                      </m:e>
                      <m:sub>
                        <m:r>
                          <a:rPr lang="en-US" altLang="zh-CN" sz="1800" i="1">
                            <a:latin typeface="Cambria Math" panose="02040503050406030204" pitchFamily="18" charset="0"/>
                          </a:rPr>
                          <m:t>𝑚</m:t>
                        </m:r>
                      </m:sub>
                    </m:sSub>
                    <m:r>
                      <a:rPr lang="en-US" altLang="zh-CN" sz="1800" i="1">
                        <a:latin typeface="Cambria Math" panose="02040503050406030204" pitchFamily="18" charset="0"/>
                      </a:rPr>
                      <m:t> </m:t>
                    </m:r>
                    <m:r>
                      <a:rPr lang="en-US" altLang="zh-CN" sz="1800">
                        <a:latin typeface="Cambria Math" panose="02040503050406030204" pitchFamily="18" charset="0"/>
                      </a:rPr>
                      <m:t>=</m:t>
                    </m:r>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r>
                              <a:rPr lang="zh-CN" altLang="en-US"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𝑚</m:t>
                            </m:r>
                          </m:sub>
                        </m:sSub>
                      </m:num>
                      <m:den>
                        <m:r>
                          <a:rPr lang="en-US" altLang="zh-CN" sz="1800" i="1">
                            <a:latin typeface="Cambria Math" panose="02040503050406030204" pitchFamily="18" charset="0"/>
                          </a:rPr>
                          <m:t>2</m:t>
                        </m:r>
                      </m:den>
                    </m:f>
                    <m:r>
                      <a:rPr lang="en-US" altLang="zh-CN" sz="1800" i="1">
                        <a:latin typeface="Cambria Math" panose="02040503050406030204" pitchFamily="18" charset="0"/>
                      </a:rPr>
                      <m:t> </m:t>
                    </m:r>
                  </m:oMath>
                </a14:m>
                <a:r>
                  <a:rPr lang="zh-CN" altLang="zh-CN" sz="1800" dirty="0">
                    <a:latin typeface="KaiTi" panose="02010609060101010101" pitchFamily="49" charset="-122"/>
                    <a:ea typeface="KaiTi" panose="02010609060101010101" pitchFamily="49" charset="-122"/>
                  </a:rPr>
                  <a:t>。分别计算以这</a:t>
                </a:r>
                <a14:m>
                  <m:oMath xmlns:m="http://schemas.openxmlformats.org/officeDocument/2006/math">
                    <m:r>
                      <a:rPr lang="en-US" altLang="zh-CN" sz="1800" i="1">
                        <a:latin typeface="Cambria Math" panose="02040503050406030204" pitchFamily="18" charset="0"/>
                      </a:rPr>
                      <m:t>𝑚</m:t>
                    </m:r>
                    <m:r>
                      <a:rPr lang="zh-CN" altLang="en-US"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KaiTi" panose="02010609060101010101" pitchFamily="49" charset="-122"/>
                    <a:ea typeface="KaiTi" panose="02010609060101010101" pitchFamily="49" charset="-122"/>
                  </a:rPr>
                  <a:t>个点作为二元分类点时的基尼系数。选择基尼</a:t>
                </a:r>
                <a:r>
                  <a:rPr lang="zh-CN" altLang="en-US" sz="1800" dirty="0">
                    <a:latin typeface="KaiTi" panose="02010609060101010101" pitchFamily="49" charset="-122"/>
                    <a:ea typeface="KaiTi" panose="02010609060101010101" pitchFamily="49" charset="-122"/>
                  </a:rPr>
                  <a:t>指</a:t>
                </a:r>
                <a:r>
                  <a:rPr lang="zh-CN" altLang="zh-CN" sz="1800" dirty="0">
                    <a:latin typeface="KaiTi" panose="02010609060101010101" pitchFamily="49" charset="-122"/>
                    <a:ea typeface="KaiTi" panose="02010609060101010101" pitchFamily="49" charset="-122"/>
                  </a:rPr>
                  <a:t>数最小的点为该连续特征的二元离散分类点。</a:t>
                </a:r>
              </a:p>
            </p:txBody>
          </p:sp>
        </mc:Choice>
        <mc:Fallback xmlns="">
          <p:sp>
            <p:nvSpPr>
              <p:cNvPr id="58" name="文本框 57">
                <a:extLst>
                  <a:ext uri="{FF2B5EF4-FFF2-40B4-BE49-F238E27FC236}">
                    <a16:creationId xmlns:a16="http://schemas.microsoft.com/office/drawing/2014/main" id="{08CD7DA2-5D66-436D-A665-3F3B09CDBEB6}"/>
                  </a:ext>
                </a:extLst>
              </p:cNvPr>
              <p:cNvSpPr txBox="1">
                <a:spLocks noRot="1" noChangeAspect="1" noMove="1" noResize="1" noEditPoints="1" noAdjustHandles="1" noChangeArrowheads="1" noChangeShapeType="1" noTextEdit="1"/>
              </p:cNvSpPr>
              <p:nvPr/>
            </p:nvSpPr>
            <p:spPr>
              <a:xfrm>
                <a:off x="509668" y="2037919"/>
                <a:ext cx="3714639" cy="3946273"/>
              </a:xfrm>
              <a:prstGeom prst="rect">
                <a:avLst/>
              </a:prstGeom>
              <a:blipFill>
                <a:blip r:embed="rId10"/>
                <a:stretch>
                  <a:fillRect l="-1365" r="-7509" b="-96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BA60DBB6-981F-416F-AD37-9B5960447CCE}"/>
                  </a:ext>
                </a:extLst>
              </p:cNvPr>
              <p:cNvSpPr txBox="1"/>
              <p:nvPr/>
            </p:nvSpPr>
            <p:spPr>
              <a:xfrm>
                <a:off x="4007964" y="5849249"/>
                <a:ext cx="7783232" cy="787075"/>
              </a:xfrm>
              <a:prstGeom prst="rect">
                <a:avLst/>
              </a:prstGeom>
              <a:noFill/>
            </p:spPr>
            <p:txBody>
              <a:bodyPr wrap="square">
                <a:spAutoFit/>
              </a:bodyPr>
              <a:lstStyle>
                <a:defPPr>
                  <a:defRPr lang="zh-CN"/>
                </a:defPPr>
                <a:lvl1pPr>
                  <a:lnSpc>
                    <a:spcPct val="150000"/>
                  </a:lnSpc>
                  <a:defRPr sz="1800"/>
                </a:lvl1pPr>
              </a:lstStyle>
              <a:p>
                <a:r>
                  <a:rPr lang="zh-CN" altLang="zh-CN" sz="1600" dirty="0">
                    <a:latin typeface="KaiTi" panose="02010609060101010101" pitchFamily="49" charset="-122"/>
                    <a:ea typeface="KaiTi" panose="02010609060101010101" pitchFamily="49" charset="-122"/>
                  </a:rPr>
                  <a:t>比如取到的基尼</a:t>
                </a:r>
                <a:r>
                  <a:rPr lang="zh-CN" altLang="en-US" sz="1600" dirty="0">
                    <a:latin typeface="KaiTi" panose="02010609060101010101" pitchFamily="49" charset="-122"/>
                    <a:ea typeface="KaiTi" panose="02010609060101010101" pitchFamily="49" charset="-122"/>
                  </a:rPr>
                  <a:t>指</a:t>
                </a:r>
                <a:r>
                  <a:rPr lang="zh-CN" altLang="zh-CN" sz="1600" dirty="0">
                    <a:latin typeface="KaiTi" panose="02010609060101010101" pitchFamily="49" charset="-122"/>
                    <a:ea typeface="KaiTi" panose="02010609060101010101" pitchFamily="49" charset="-122"/>
                  </a:rPr>
                  <a:t>数最小的点为</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𝑡</m:t>
                        </m:r>
                      </m:sub>
                    </m:sSub>
                  </m:oMath>
                </a14:m>
                <a:r>
                  <a:rPr lang="zh-CN" altLang="zh-CN" sz="1600" dirty="0">
                    <a:latin typeface="KaiTi" panose="02010609060101010101" pitchFamily="49" charset="-122"/>
                    <a:ea typeface="KaiTi" panose="02010609060101010101" pitchFamily="49" charset="-122"/>
                  </a:rPr>
                  <a:t>，则小于</a:t>
                </a:r>
                <a14:m>
                  <m:oMath xmlns:m="http://schemas.openxmlformats.org/officeDocument/2006/math">
                    <m:sSub>
                      <m:sSubPr>
                        <m:ctrlPr>
                          <a:rPr lang="zh-CN" altLang="zh-CN" sz="1600" i="1" smtClean="0">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𝑡</m:t>
                        </m:r>
                      </m:sub>
                    </m:sSub>
                  </m:oMath>
                </a14:m>
                <a:r>
                  <a:rPr lang="zh-CN" altLang="zh-CN" sz="1600" dirty="0">
                    <a:latin typeface="KaiTi" panose="02010609060101010101" pitchFamily="49" charset="-122"/>
                    <a:ea typeface="KaiTi" panose="02010609060101010101" pitchFamily="49" charset="-122"/>
                  </a:rPr>
                  <a:t>的值为类别</a:t>
                </a:r>
                <a:r>
                  <a:rPr lang="en-US" altLang="zh-CN" sz="1600" dirty="0">
                    <a:latin typeface="KaiTi" panose="02010609060101010101" pitchFamily="49" charset="-122"/>
                    <a:ea typeface="KaiTi" panose="02010609060101010101" pitchFamily="49" charset="-122"/>
                  </a:rPr>
                  <a:t>1</a:t>
                </a:r>
                <a:r>
                  <a:rPr lang="zh-CN" altLang="zh-CN" sz="1600" dirty="0">
                    <a:latin typeface="KaiTi" panose="02010609060101010101" pitchFamily="49" charset="-122"/>
                    <a:ea typeface="KaiTi" panose="02010609060101010101" pitchFamily="49" charset="-122"/>
                  </a:rPr>
                  <a:t>，大于</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𝑡</m:t>
                        </m:r>
                      </m:sub>
                    </m:sSub>
                  </m:oMath>
                </a14:m>
                <a:r>
                  <a:rPr lang="zh-CN" altLang="zh-CN" sz="1600" dirty="0">
                    <a:latin typeface="KaiTi" panose="02010609060101010101" pitchFamily="49" charset="-122"/>
                    <a:ea typeface="KaiTi" panose="02010609060101010101" pitchFamily="49" charset="-122"/>
                  </a:rPr>
                  <a:t>的值为类别</a:t>
                </a:r>
                <a:r>
                  <a:rPr lang="en-US" altLang="zh-CN" sz="1600" dirty="0">
                    <a:latin typeface="KaiTi" panose="02010609060101010101" pitchFamily="49" charset="-122"/>
                    <a:ea typeface="KaiTi" panose="02010609060101010101" pitchFamily="49" charset="-122"/>
                  </a:rPr>
                  <a:t>2</a:t>
                </a:r>
                <a:r>
                  <a:rPr lang="zh-CN" altLang="zh-CN" sz="1600" dirty="0">
                    <a:latin typeface="KaiTi" panose="02010609060101010101" pitchFamily="49" charset="-122"/>
                    <a:ea typeface="KaiTi" panose="02010609060101010101" pitchFamily="49" charset="-122"/>
                  </a:rPr>
                  <a:t>，这样就做到了连续特征的离散化，接着采用基尼指数的大小来度量特征的各个划分点。</a:t>
                </a:r>
              </a:p>
            </p:txBody>
          </p:sp>
        </mc:Choice>
        <mc:Fallback xmlns="">
          <p:sp>
            <p:nvSpPr>
              <p:cNvPr id="62" name="文本框 61">
                <a:extLst>
                  <a:ext uri="{FF2B5EF4-FFF2-40B4-BE49-F238E27FC236}">
                    <a16:creationId xmlns:a16="http://schemas.microsoft.com/office/drawing/2014/main" id="{BA60DBB6-981F-416F-AD37-9B5960447CCE}"/>
                  </a:ext>
                </a:extLst>
              </p:cNvPr>
              <p:cNvSpPr txBox="1">
                <a:spLocks noRot="1" noChangeAspect="1" noMove="1" noResize="1" noEditPoints="1" noAdjustHandles="1" noChangeArrowheads="1" noChangeShapeType="1" noTextEdit="1"/>
              </p:cNvSpPr>
              <p:nvPr/>
            </p:nvSpPr>
            <p:spPr>
              <a:xfrm>
                <a:off x="4007964" y="5849249"/>
                <a:ext cx="7783232" cy="787075"/>
              </a:xfrm>
              <a:prstGeom prst="rect">
                <a:avLst/>
              </a:prstGeom>
              <a:blipFill>
                <a:blip r:embed="rId11"/>
                <a:stretch>
                  <a:fillRect l="-489" b="-7937"/>
                </a:stretch>
              </a:blipFill>
            </p:spPr>
            <p:txBody>
              <a:bodyPr/>
              <a:lstStyle/>
              <a:p>
                <a:r>
                  <a:rPr lang="ko-Kore-KR" altLang="en-US">
                    <a:noFill/>
                  </a:rPr>
                  <a:t> </a:t>
                </a:r>
              </a:p>
            </p:txBody>
          </p:sp>
        </mc:Fallback>
      </mc:AlternateContent>
      <p:sp>
        <p:nvSpPr>
          <p:cNvPr id="2" name="제목 2">
            <a:extLst>
              <a:ext uri="{FF2B5EF4-FFF2-40B4-BE49-F238E27FC236}">
                <a16:creationId xmlns:a16="http://schemas.microsoft.com/office/drawing/2014/main" id="{21F0DC75-A900-AF6D-AD96-906EFD674E75}"/>
              </a:ext>
            </a:extLst>
          </p:cNvPr>
          <p:cNvSpPr>
            <a:spLocks noGrp="1"/>
          </p:cNvSpPr>
          <p:nvPr>
            <p:ph type="title"/>
          </p:nvPr>
        </p:nvSpPr>
        <p:spPr>
          <a:xfrm>
            <a:off x="350985" y="221676"/>
            <a:ext cx="11369963" cy="738909"/>
          </a:xfrm>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分类</a:t>
            </a:r>
            <a:endParaRPr lang="ko-Kore-KR" altLang="en-US">
              <a:latin typeface="KaiTi" panose="02010609060101010101" pitchFamily="49" charset="-122"/>
            </a:endParaRPr>
          </a:p>
        </p:txBody>
      </p:sp>
    </p:spTree>
    <p:extLst>
      <p:ext uri="{BB962C8B-B14F-4D97-AF65-F5344CB8AC3E}">
        <p14:creationId xmlns:p14="http://schemas.microsoft.com/office/powerpoint/2010/main" val="2370299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36" name="文本框 35">
            <a:extLst>
              <a:ext uri="{FF2B5EF4-FFF2-40B4-BE49-F238E27FC236}">
                <a16:creationId xmlns:a16="http://schemas.microsoft.com/office/drawing/2014/main" id="{186CB390-3F0B-4249-9644-ED99CCFE7C62}"/>
              </a:ext>
            </a:extLst>
          </p:cNvPr>
          <p:cNvSpPr txBox="1"/>
          <p:nvPr/>
        </p:nvSpPr>
        <p:spPr>
          <a:xfrm>
            <a:off x="460375" y="1414589"/>
            <a:ext cx="2331615" cy="461665"/>
          </a:xfrm>
          <a:prstGeom prst="rect">
            <a:avLst/>
          </a:prstGeom>
          <a:noFill/>
        </p:spPr>
        <p:txBody>
          <a:bodyPr wrap="square" rtlCol="0">
            <a:spAutoFit/>
          </a:bodyPr>
          <a:lstStyle/>
          <a:p>
            <a:r>
              <a:rPr lang="zh-CN" altLang="en-US" sz="2400" b="1" dirty="0">
                <a:latin typeface="KaiTi" panose="02010609060101010101" pitchFamily="49" charset="-122"/>
                <a:ea typeface="KaiTi" panose="02010609060101010101" pitchFamily="49" charset="-122"/>
              </a:rPr>
              <a:t>离散特征处理</a:t>
            </a:r>
          </a:p>
        </p:txBody>
      </p:sp>
      <mc:AlternateContent xmlns:mc="http://schemas.openxmlformats.org/markup-compatibility/2006" xmlns:a14="http://schemas.microsoft.com/office/drawing/2010/main">
        <mc:Choice Requires="a14">
          <p:graphicFrame>
            <p:nvGraphicFramePr>
              <p:cNvPr id="3" name="表格 6">
                <a:extLst>
                  <a:ext uri="{FF2B5EF4-FFF2-40B4-BE49-F238E27FC236}">
                    <a16:creationId xmlns:a16="http://schemas.microsoft.com/office/drawing/2014/main" id="{34CB87BD-B28C-4079-996D-1293DF47B3F7}"/>
                  </a:ext>
                </a:extLst>
              </p:cNvPr>
              <p:cNvGraphicFramePr>
                <a:graphicFrameLocks noGrp="1"/>
              </p:cNvGraphicFramePr>
              <p:nvPr/>
            </p:nvGraphicFramePr>
            <p:xfrm>
              <a:off x="6282220" y="200588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FF99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0070C0"/>
                        </a:solidFill>
                      </a:tcPr>
                    </a:tc>
                    <a:extLst>
                      <a:ext uri="{0D108BD9-81ED-4DB2-BD59-A6C34878D82A}">
                        <a16:rowId xmlns:a16="http://schemas.microsoft.com/office/drawing/2014/main" val="1573037358"/>
                      </a:ext>
                    </a:extLst>
                  </a:tr>
                </a:tbl>
              </a:graphicData>
            </a:graphic>
          </p:graphicFrame>
        </mc:Choice>
        <mc:Fallback xmlns="">
          <p:graphicFrame>
            <p:nvGraphicFramePr>
              <p:cNvPr id="3" name="表格 6">
                <a:extLst>
                  <a:ext uri="{FF2B5EF4-FFF2-40B4-BE49-F238E27FC236}">
                    <a16:creationId xmlns:a16="http://schemas.microsoft.com/office/drawing/2014/main" id="{34CB87BD-B28C-4079-996D-1293DF47B3F7}"/>
                  </a:ext>
                </a:extLst>
              </p:cNvPr>
              <p:cNvGraphicFramePr>
                <a:graphicFrameLocks noGrp="1"/>
              </p:cNvGraphicFramePr>
              <p:nvPr>
                <p:extLst>
                  <p:ext uri="{D42A27DB-BD31-4B8C-83A1-F6EECF244321}">
                    <p14:modId xmlns:p14="http://schemas.microsoft.com/office/powerpoint/2010/main" val="3413048122"/>
                  </p:ext>
                </p:extLst>
              </p:nvPr>
            </p:nvGraphicFramePr>
            <p:xfrm>
              <a:off x="6282220" y="2005881"/>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3"/>
                          <a:stretch>
                            <a:fillRect l="-1852" t="-6452" r="-698148" b="-29032"/>
                          </a:stretch>
                        </a:blipFill>
                      </a:tcPr>
                    </a:tc>
                    <a:tc>
                      <a:txBody>
                        <a:bodyPr/>
                        <a:lstStyle/>
                        <a:p>
                          <a:endParaRPr lang="ko-Kore-KR"/>
                        </a:p>
                      </a:txBody>
                      <a:tcPr>
                        <a:blipFill>
                          <a:blip r:embed="rId3"/>
                          <a:stretch>
                            <a:fillRect l="-103774" t="-6452" r="-611321" b="-29032"/>
                          </a:stretch>
                        </a:blipFill>
                      </a:tcPr>
                    </a:tc>
                    <a:tc>
                      <a:txBody>
                        <a:bodyPr/>
                        <a:lstStyle/>
                        <a:p>
                          <a:endParaRPr lang="ko-Kore-KR"/>
                        </a:p>
                      </a:txBody>
                      <a:tcPr>
                        <a:blipFill>
                          <a:blip r:embed="rId3"/>
                          <a:stretch>
                            <a:fillRect l="-200000" t="-6452" r="-500000" b="-29032"/>
                          </a:stretch>
                        </a:blipFill>
                      </a:tcPr>
                    </a:tc>
                    <a:tc>
                      <a:txBody>
                        <a:bodyPr/>
                        <a:lstStyle/>
                        <a:p>
                          <a:endParaRPr lang="ko-Kore-KR"/>
                        </a:p>
                      </a:txBody>
                      <a:tcPr>
                        <a:blipFill>
                          <a:blip r:embed="rId3"/>
                          <a:stretch>
                            <a:fillRect l="-300000" t="-6452" r="-400000" b="-29032"/>
                          </a:stretch>
                        </a:blipFill>
                      </a:tcPr>
                    </a:tc>
                    <a:tc>
                      <a:txBody>
                        <a:bodyPr/>
                        <a:lstStyle/>
                        <a:p>
                          <a:endParaRPr lang="ko-Kore-KR"/>
                        </a:p>
                      </a:txBody>
                      <a:tcPr>
                        <a:blipFill>
                          <a:blip r:embed="rId3"/>
                          <a:stretch>
                            <a:fillRect l="-407547" t="-6452" r="-307547" b="-29032"/>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3"/>
                          <a:stretch>
                            <a:fillRect l="-609434" t="-6452" r="-105660" b="-29032"/>
                          </a:stretch>
                        </a:blipFill>
                      </a:tcPr>
                    </a:tc>
                    <a:tc>
                      <a:txBody>
                        <a:bodyPr/>
                        <a:lstStyle/>
                        <a:p>
                          <a:endParaRPr lang="ko-Kore-KR"/>
                        </a:p>
                      </a:txBody>
                      <a:tcPr>
                        <a:blipFill>
                          <a:blip r:embed="rId3"/>
                          <a:stretch>
                            <a:fillRect l="-696296" t="-6452" r="-3704" b="-29032"/>
                          </a:stretch>
                        </a:blipFill>
                      </a:tcPr>
                    </a:tc>
                    <a:extLst>
                      <a:ext uri="{0D108BD9-81ED-4DB2-BD59-A6C34878D82A}">
                        <a16:rowId xmlns:a16="http://schemas.microsoft.com/office/drawing/2014/main" val="157303735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6">
                <a:extLst>
                  <a:ext uri="{FF2B5EF4-FFF2-40B4-BE49-F238E27FC236}">
                    <a16:creationId xmlns:a16="http://schemas.microsoft.com/office/drawing/2014/main" id="{366A60A1-DE43-4080-B84B-18C94587B631}"/>
                  </a:ext>
                </a:extLst>
              </p:cNvPr>
              <p:cNvGraphicFramePr>
                <a:graphicFrameLocks noGrp="1"/>
              </p:cNvGraphicFramePr>
              <p:nvPr/>
            </p:nvGraphicFramePr>
            <p:xfrm>
              <a:off x="6282220" y="3086765"/>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FF99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0070C0"/>
                        </a:solidFill>
                      </a:tcPr>
                    </a:tc>
                    <a:extLst>
                      <a:ext uri="{0D108BD9-81ED-4DB2-BD59-A6C34878D82A}">
                        <a16:rowId xmlns:a16="http://schemas.microsoft.com/office/drawing/2014/main" val="1573037358"/>
                      </a:ext>
                    </a:extLst>
                  </a:tr>
                </a:tbl>
              </a:graphicData>
            </a:graphic>
          </p:graphicFrame>
        </mc:Choice>
        <mc:Fallback xmlns="">
          <p:graphicFrame>
            <p:nvGraphicFramePr>
              <p:cNvPr id="37" name="表格 6">
                <a:extLst>
                  <a:ext uri="{FF2B5EF4-FFF2-40B4-BE49-F238E27FC236}">
                    <a16:creationId xmlns:a16="http://schemas.microsoft.com/office/drawing/2014/main" id="{366A60A1-DE43-4080-B84B-18C94587B631}"/>
                  </a:ext>
                </a:extLst>
              </p:cNvPr>
              <p:cNvGraphicFramePr>
                <a:graphicFrameLocks noGrp="1"/>
              </p:cNvGraphicFramePr>
              <p:nvPr>
                <p:extLst>
                  <p:ext uri="{D42A27DB-BD31-4B8C-83A1-F6EECF244321}">
                    <p14:modId xmlns:p14="http://schemas.microsoft.com/office/powerpoint/2010/main" val="3863938059"/>
                  </p:ext>
                </p:extLst>
              </p:nvPr>
            </p:nvGraphicFramePr>
            <p:xfrm>
              <a:off x="6282220" y="3086765"/>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4"/>
                          <a:stretch>
                            <a:fillRect l="-1852" t="-9677" r="-698148" b="-25806"/>
                          </a:stretch>
                        </a:blipFill>
                      </a:tcPr>
                    </a:tc>
                    <a:tc>
                      <a:txBody>
                        <a:bodyPr/>
                        <a:lstStyle/>
                        <a:p>
                          <a:endParaRPr lang="ko-Kore-KR"/>
                        </a:p>
                      </a:txBody>
                      <a:tcPr>
                        <a:blipFill>
                          <a:blip r:embed="rId4"/>
                          <a:stretch>
                            <a:fillRect l="-103774" t="-9677" r="-611321" b="-25806"/>
                          </a:stretch>
                        </a:blipFill>
                      </a:tcPr>
                    </a:tc>
                    <a:tc>
                      <a:txBody>
                        <a:bodyPr/>
                        <a:lstStyle/>
                        <a:p>
                          <a:endParaRPr lang="ko-Kore-KR"/>
                        </a:p>
                      </a:txBody>
                      <a:tcPr>
                        <a:blipFill>
                          <a:blip r:embed="rId4"/>
                          <a:stretch>
                            <a:fillRect l="-200000" t="-9677" r="-500000" b="-25806"/>
                          </a:stretch>
                        </a:blipFill>
                      </a:tcPr>
                    </a:tc>
                    <a:tc>
                      <a:txBody>
                        <a:bodyPr/>
                        <a:lstStyle/>
                        <a:p>
                          <a:endParaRPr lang="ko-Kore-KR"/>
                        </a:p>
                      </a:txBody>
                      <a:tcPr>
                        <a:blipFill>
                          <a:blip r:embed="rId4"/>
                          <a:stretch>
                            <a:fillRect l="-300000" t="-9677" r="-400000" b="-25806"/>
                          </a:stretch>
                        </a:blipFill>
                      </a:tcPr>
                    </a:tc>
                    <a:tc>
                      <a:txBody>
                        <a:bodyPr/>
                        <a:lstStyle/>
                        <a:p>
                          <a:endParaRPr lang="ko-Kore-KR"/>
                        </a:p>
                      </a:txBody>
                      <a:tcPr>
                        <a:blipFill>
                          <a:blip r:embed="rId4"/>
                          <a:stretch>
                            <a:fillRect l="-407547" t="-9677" r="-307547" b="-25806"/>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4"/>
                          <a:stretch>
                            <a:fillRect l="-609434" t="-9677" r="-105660" b="-25806"/>
                          </a:stretch>
                        </a:blipFill>
                      </a:tcPr>
                    </a:tc>
                    <a:tc>
                      <a:txBody>
                        <a:bodyPr/>
                        <a:lstStyle/>
                        <a:p>
                          <a:endParaRPr lang="ko-Kore-KR"/>
                        </a:p>
                      </a:txBody>
                      <a:tcPr>
                        <a:blipFill>
                          <a:blip r:embed="rId4"/>
                          <a:stretch>
                            <a:fillRect l="-696296" t="-9677" r="-3704" b="-25806"/>
                          </a:stretch>
                        </a:blipFill>
                      </a:tcPr>
                    </a:tc>
                    <a:extLst>
                      <a:ext uri="{0D108BD9-81ED-4DB2-BD59-A6C34878D82A}">
                        <a16:rowId xmlns:a16="http://schemas.microsoft.com/office/drawing/2014/main" val="157303735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表格 6">
                <a:extLst>
                  <a:ext uri="{FF2B5EF4-FFF2-40B4-BE49-F238E27FC236}">
                    <a16:creationId xmlns:a16="http://schemas.microsoft.com/office/drawing/2014/main" id="{C6FDE6A2-230F-4A5D-9A76-ED6DBF367447}"/>
                  </a:ext>
                </a:extLst>
              </p:cNvPr>
              <p:cNvGraphicFramePr>
                <a:graphicFrameLocks noGrp="1"/>
              </p:cNvGraphicFramePr>
              <p:nvPr/>
            </p:nvGraphicFramePr>
            <p:xfrm>
              <a:off x="6282220" y="4494385"/>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155668">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0" dirty="0" smtClean="0">
                                        <a:latin typeface="Cambria Math" panose="02040503050406030204" pitchFamily="18" charset="0"/>
                                      </a:rPr>
                                      <m:t>𝟐</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𝟑</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𝟒</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b="1" i="1" dirty="0" smtClean="0">
                                        <a:latin typeface="Cambria Math" panose="02040503050406030204" pitchFamily="18" charset="0"/>
                                      </a:rPr>
                                      <m:t>𝟓</m:t>
                                    </m:r>
                                  </m:sub>
                                </m:sSub>
                              </m:oMath>
                            </m:oMathPara>
                          </a14:m>
                          <a:endParaRPr lang="zh-CN" altLang="en-US" dirty="0"/>
                        </a:p>
                      </a:txBody>
                      <a:tcPr>
                        <a:solidFill>
                          <a:srgbClr val="0070C0"/>
                        </a:solidFill>
                      </a:tcPr>
                    </a:tc>
                    <a:tc>
                      <a:txBody>
                        <a:bodyPr/>
                        <a:lstStyle/>
                        <a:p>
                          <a:r>
                            <a:rPr lang="en-US" altLang="zh-CN" dirty="0"/>
                            <a:t>……</a:t>
                          </a:r>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r>
                                      <a:rPr lang="en-US" altLang="zh-CN" b="1" dirty="0" smtClean="0">
                                        <a:latin typeface="Cambria Math" panose="02040503050406030204" pitchFamily="18" charset="0"/>
                                      </a:rPr>
                                      <m:t>𝟏</m:t>
                                    </m:r>
                                  </m:sub>
                                </m:sSub>
                              </m:oMath>
                            </m:oMathPara>
                          </a14:m>
                          <a:endParaRPr lang="zh-CN" altLang="en-US" dirty="0"/>
                        </a:p>
                      </a:txBody>
                      <a:tcPr>
                        <a:solidFill>
                          <a:srgbClr val="0070C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dirty="0" smtClean="0">
                                        <a:latin typeface="Cambria Math" panose="02040503050406030204" pitchFamily="18" charset="0"/>
                                      </a:rPr>
                                      <m:t>𝑎</m:t>
                                    </m:r>
                                  </m:e>
                                  <m:sub>
                                    <m:r>
                                      <a:rPr lang="en-US" altLang="zh-CN" i="1" dirty="0" smtClean="0">
                                        <a:latin typeface="Cambria Math" panose="02040503050406030204" pitchFamily="18" charset="0"/>
                                      </a:rPr>
                                      <m:t>𝑚</m:t>
                                    </m:r>
                                  </m:sub>
                                </m:sSub>
                              </m:oMath>
                            </m:oMathPara>
                          </a14:m>
                          <a:endParaRPr lang="zh-CN" altLang="en-US" dirty="0"/>
                        </a:p>
                      </a:txBody>
                      <a:tcPr>
                        <a:solidFill>
                          <a:srgbClr val="FF9900"/>
                        </a:solidFill>
                      </a:tcPr>
                    </a:tc>
                    <a:extLst>
                      <a:ext uri="{0D108BD9-81ED-4DB2-BD59-A6C34878D82A}">
                        <a16:rowId xmlns:a16="http://schemas.microsoft.com/office/drawing/2014/main" val="1573037358"/>
                      </a:ext>
                    </a:extLst>
                  </a:tr>
                </a:tbl>
              </a:graphicData>
            </a:graphic>
          </p:graphicFrame>
        </mc:Choice>
        <mc:Fallback xmlns="">
          <p:graphicFrame>
            <p:nvGraphicFramePr>
              <p:cNvPr id="49" name="表格 6">
                <a:extLst>
                  <a:ext uri="{FF2B5EF4-FFF2-40B4-BE49-F238E27FC236}">
                    <a16:creationId xmlns:a16="http://schemas.microsoft.com/office/drawing/2014/main" id="{C6FDE6A2-230F-4A5D-9A76-ED6DBF367447}"/>
                  </a:ext>
                </a:extLst>
              </p:cNvPr>
              <p:cNvGraphicFramePr>
                <a:graphicFrameLocks noGrp="1"/>
              </p:cNvGraphicFramePr>
              <p:nvPr>
                <p:extLst>
                  <p:ext uri="{D42A27DB-BD31-4B8C-83A1-F6EECF244321}">
                    <p14:modId xmlns:p14="http://schemas.microsoft.com/office/powerpoint/2010/main" val="1691126489"/>
                  </p:ext>
                </p:extLst>
              </p:nvPr>
            </p:nvGraphicFramePr>
            <p:xfrm>
              <a:off x="6282220" y="4494385"/>
              <a:ext cx="5438728" cy="381000"/>
            </p:xfrm>
            <a:graphic>
              <a:graphicData uri="http://schemas.openxmlformats.org/drawingml/2006/table">
                <a:tbl>
                  <a:tblPr firstRow="1" bandRow="1">
                    <a:tableStyleId>{93296810-A885-4BE3-A3E7-6D5BEEA58F35}</a:tableStyleId>
                  </a:tblPr>
                  <a:tblGrid>
                    <a:gridCol w="679841">
                      <a:extLst>
                        <a:ext uri="{9D8B030D-6E8A-4147-A177-3AD203B41FA5}">
                          <a16:colId xmlns:a16="http://schemas.microsoft.com/office/drawing/2014/main" val="3652332265"/>
                        </a:ext>
                      </a:extLst>
                    </a:gridCol>
                    <a:gridCol w="679841">
                      <a:extLst>
                        <a:ext uri="{9D8B030D-6E8A-4147-A177-3AD203B41FA5}">
                          <a16:colId xmlns:a16="http://schemas.microsoft.com/office/drawing/2014/main" val="3841889250"/>
                        </a:ext>
                      </a:extLst>
                    </a:gridCol>
                    <a:gridCol w="679841">
                      <a:extLst>
                        <a:ext uri="{9D8B030D-6E8A-4147-A177-3AD203B41FA5}">
                          <a16:colId xmlns:a16="http://schemas.microsoft.com/office/drawing/2014/main" val="341700238"/>
                        </a:ext>
                      </a:extLst>
                    </a:gridCol>
                    <a:gridCol w="679841">
                      <a:extLst>
                        <a:ext uri="{9D8B030D-6E8A-4147-A177-3AD203B41FA5}">
                          <a16:colId xmlns:a16="http://schemas.microsoft.com/office/drawing/2014/main" val="1854383907"/>
                        </a:ext>
                      </a:extLst>
                    </a:gridCol>
                    <a:gridCol w="679841">
                      <a:extLst>
                        <a:ext uri="{9D8B030D-6E8A-4147-A177-3AD203B41FA5}">
                          <a16:colId xmlns:a16="http://schemas.microsoft.com/office/drawing/2014/main" val="432805085"/>
                        </a:ext>
                      </a:extLst>
                    </a:gridCol>
                    <a:gridCol w="679841">
                      <a:extLst>
                        <a:ext uri="{9D8B030D-6E8A-4147-A177-3AD203B41FA5}">
                          <a16:colId xmlns:a16="http://schemas.microsoft.com/office/drawing/2014/main" val="3916441905"/>
                        </a:ext>
                      </a:extLst>
                    </a:gridCol>
                    <a:gridCol w="679841">
                      <a:extLst>
                        <a:ext uri="{9D8B030D-6E8A-4147-A177-3AD203B41FA5}">
                          <a16:colId xmlns:a16="http://schemas.microsoft.com/office/drawing/2014/main" val="3435204254"/>
                        </a:ext>
                      </a:extLst>
                    </a:gridCol>
                    <a:gridCol w="679841">
                      <a:extLst>
                        <a:ext uri="{9D8B030D-6E8A-4147-A177-3AD203B41FA5}">
                          <a16:colId xmlns:a16="http://schemas.microsoft.com/office/drawing/2014/main" val="844235568"/>
                        </a:ext>
                      </a:extLst>
                    </a:gridCol>
                  </a:tblGrid>
                  <a:tr h="381000">
                    <a:tc>
                      <a:txBody>
                        <a:bodyPr/>
                        <a:lstStyle/>
                        <a:p>
                          <a:endParaRPr lang="ko-Kore-KR"/>
                        </a:p>
                      </a:txBody>
                      <a:tcPr>
                        <a:blipFill>
                          <a:blip r:embed="rId5"/>
                          <a:stretch>
                            <a:fillRect l="-1852" t="-6452" r="-698148" b="-29032"/>
                          </a:stretch>
                        </a:blipFill>
                      </a:tcPr>
                    </a:tc>
                    <a:tc>
                      <a:txBody>
                        <a:bodyPr/>
                        <a:lstStyle/>
                        <a:p>
                          <a:endParaRPr lang="ko-Kore-KR"/>
                        </a:p>
                      </a:txBody>
                      <a:tcPr>
                        <a:blipFill>
                          <a:blip r:embed="rId5"/>
                          <a:stretch>
                            <a:fillRect l="-103774" t="-6452" r="-611321" b="-29032"/>
                          </a:stretch>
                        </a:blipFill>
                      </a:tcPr>
                    </a:tc>
                    <a:tc>
                      <a:txBody>
                        <a:bodyPr/>
                        <a:lstStyle/>
                        <a:p>
                          <a:endParaRPr lang="ko-Kore-KR"/>
                        </a:p>
                      </a:txBody>
                      <a:tcPr>
                        <a:blipFill>
                          <a:blip r:embed="rId5"/>
                          <a:stretch>
                            <a:fillRect l="-200000" t="-6452" r="-500000" b="-29032"/>
                          </a:stretch>
                        </a:blipFill>
                      </a:tcPr>
                    </a:tc>
                    <a:tc>
                      <a:txBody>
                        <a:bodyPr/>
                        <a:lstStyle/>
                        <a:p>
                          <a:endParaRPr lang="ko-Kore-KR"/>
                        </a:p>
                      </a:txBody>
                      <a:tcPr>
                        <a:blipFill>
                          <a:blip r:embed="rId5"/>
                          <a:stretch>
                            <a:fillRect l="-300000" t="-6452" r="-400000" b="-29032"/>
                          </a:stretch>
                        </a:blipFill>
                      </a:tcPr>
                    </a:tc>
                    <a:tc>
                      <a:txBody>
                        <a:bodyPr/>
                        <a:lstStyle/>
                        <a:p>
                          <a:endParaRPr lang="ko-Kore-KR"/>
                        </a:p>
                      </a:txBody>
                      <a:tcPr>
                        <a:blipFill>
                          <a:blip r:embed="rId5"/>
                          <a:stretch>
                            <a:fillRect l="-407547" t="-6452" r="-307547" b="-29032"/>
                          </a:stretch>
                        </a:blipFill>
                      </a:tcPr>
                    </a:tc>
                    <a:tc>
                      <a:txBody>
                        <a:bodyPr/>
                        <a:lstStyle/>
                        <a:p>
                          <a:r>
                            <a:rPr lang="en-US" altLang="zh-CN" dirty="0"/>
                            <a:t>……</a:t>
                          </a:r>
                          <a:endParaRPr lang="zh-CN" altLang="en-US" dirty="0"/>
                        </a:p>
                      </a:txBody>
                      <a:tcPr>
                        <a:solidFill>
                          <a:srgbClr val="0070C0"/>
                        </a:solidFill>
                      </a:tcPr>
                    </a:tc>
                    <a:tc>
                      <a:txBody>
                        <a:bodyPr/>
                        <a:lstStyle/>
                        <a:p>
                          <a:endParaRPr lang="ko-Kore-KR"/>
                        </a:p>
                      </a:txBody>
                      <a:tcPr>
                        <a:blipFill>
                          <a:blip r:embed="rId5"/>
                          <a:stretch>
                            <a:fillRect l="-609434" t="-6452" r="-105660" b="-29032"/>
                          </a:stretch>
                        </a:blipFill>
                      </a:tcPr>
                    </a:tc>
                    <a:tc>
                      <a:txBody>
                        <a:bodyPr/>
                        <a:lstStyle/>
                        <a:p>
                          <a:endParaRPr lang="ko-Kore-KR"/>
                        </a:p>
                      </a:txBody>
                      <a:tcPr>
                        <a:blipFill>
                          <a:blip r:embed="rId5"/>
                          <a:stretch>
                            <a:fillRect l="-696296" t="-6452" r="-3704" b="-29032"/>
                          </a:stretch>
                        </a:blipFill>
                      </a:tcPr>
                    </a:tc>
                    <a:extLst>
                      <a:ext uri="{0D108BD9-81ED-4DB2-BD59-A6C34878D82A}">
                        <a16:rowId xmlns:a16="http://schemas.microsoft.com/office/drawing/2014/main" val="1573037358"/>
                      </a:ext>
                    </a:extLst>
                  </a:tr>
                </a:tbl>
              </a:graphicData>
            </a:graphic>
          </p:graphicFrame>
        </mc:Fallback>
      </mc:AlternateContent>
      <p:sp>
        <p:nvSpPr>
          <p:cNvPr id="50" name="文本框 49">
            <a:extLst>
              <a:ext uri="{FF2B5EF4-FFF2-40B4-BE49-F238E27FC236}">
                <a16:creationId xmlns:a16="http://schemas.microsoft.com/office/drawing/2014/main" id="{74237334-EFDC-429A-B4B3-7BCA101856A3}"/>
              </a:ext>
            </a:extLst>
          </p:cNvPr>
          <p:cNvSpPr txBox="1"/>
          <p:nvPr/>
        </p:nvSpPr>
        <p:spPr>
          <a:xfrm>
            <a:off x="6202557" y="3936244"/>
            <a:ext cx="872502" cy="384721"/>
          </a:xfrm>
          <a:prstGeom prst="rect">
            <a:avLst/>
          </a:prstGeom>
          <a:noFill/>
        </p:spPr>
        <p:txBody>
          <a:bodyPr vert="horz" wrap="square" rtlCol="0">
            <a:spAutoFit/>
          </a:bodyPr>
          <a:lstStyle/>
          <a:p>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53" name="文本框 52">
            <a:extLst>
              <a:ext uri="{FF2B5EF4-FFF2-40B4-BE49-F238E27FC236}">
                <a16:creationId xmlns:a16="http://schemas.microsoft.com/office/drawing/2014/main" id="{83D341B7-3AA2-4A91-B85E-A33E86B356FF}"/>
              </a:ext>
            </a:extLst>
          </p:cNvPr>
          <p:cNvSpPr txBox="1"/>
          <p:nvPr/>
        </p:nvSpPr>
        <p:spPr>
          <a:xfrm>
            <a:off x="4555980" y="2002309"/>
            <a:ext cx="1278427"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r>
              <a:rPr lang="en-US" altLang="zh-CN" sz="1800" dirty="0">
                <a:latin typeface="KaiTi" panose="02010609060101010101" pitchFamily="49" charset="-122"/>
                <a:ea typeface="KaiTi" panose="02010609060101010101" pitchFamily="49" charset="-122"/>
              </a:rPr>
              <a:t>1</a:t>
            </a:r>
            <a:r>
              <a:rPr lang="zh-CN" altLang="en-US" sz="1800" dirty="0">
                <a:latin typeface="KaiTi" panose="02010609060101010101" pitchFamily="49" charset="-122"/>
                <a:ea typeface="KaiTi" panose="02010609060101010101" pitchFamily="49" charset="-122"/>
              </a:rPr>
              <a:t>次划分</a:t>
            </a: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326A982-9890-468A-BB91-44BD4BAFBA09}"/>
                  </a:ext>
                </a:extLst>
              </p:cNvPr>
              <p:cNvSpPr txBox="1"/>
              <p:nvPr/>
            </p:nvSpPr>
            <p:spPr>
              <a:xfrm>
                <a:off x="4540102" y="4501672"/>
                <a:ext cx="1864420"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14:m>
                  <m:oMath xmlns:m="http://schemas.openxmlformats.org/officeDocument/2006/math">
                    <m:r>
                      <a:rPr lang="en-US" altLang="zh-CN" sz="1800" i="1" dirty="0" smtClean="0">
                        <a:latin typeface="Cambria Math" panose="02040503050406030204" pitchFamily="18" charset="0"/>
                      </a:rPr>
                      <m:t>𝑚</m:t>
                    </m:r>
                  </m:oMath>
                </a14:m>
                <a:r>
                  <a:rPr lang="zh-CN" altLang="en-US" sz="1800" dirty="0">
                    <a:latin typeface="KaiTi" panose="02010609060101010101" pitchFamily="49" charset="-122"/>
                    <a:ea typeface="KaiTi" panose="02010609060101010101" pitchFamily="49" charset="-122"/>
                  </a:rPr>
                  <a:t>次划分</a:t>
                </a:r>
              </a:p>
            </p:txBody>
          </p:sp>
        </mc:Choice>
        <mc:Fallback xmlns="">
          <p:sp>
            <p:nvSpPr>
              <p:cNvPr id="54" name="文本框 53">
                <a:extLst>
                  <a:ext uri="{FF2B5EF4-FFF2-40B4-BE49-F238E27FC236}">
                    <a16:creationId xmlns:a16="http://schemas.microsoft.com/office/drawing/2014/main" id="{C326A982-9890-468A-BB91-44BD4BAFBA09}"/>
                  </a:ext>
                </a:extLst>
              </p:cNvPr>
              <p:cNvSpPr txBox="1">
                <a:spLocks noRot="1" noChangeAspect="1" noMove="1" noResize="1" noEditPoints="1" noAdjustHandles="1" noChangeArrowheads="1" noChangeShapeType="1" noTextEdit="1"/>
              </p:cNvSpPr>
              <p:nvPr/>
            </p:nvSpPr>
            <p:spPr>
              <a:xfrm>
                <a:off x="4540102" y="4501672"/>
                <a:ext cx="1864420" cy="369332"/>
              </a:xfrm>
              <a:prstGeom prst="rect">
                <a:avLst/>
              </a:prstGeom>
              <a:blipFill>
                <a:blip r:embed="rId6"/>
                <a:stretch>
                  <a:fillRect l="-2703" t="-10000" b="-23333"/>
                </a:stretch>
              </a:blipFill>
            </p:spPr>
            <p:txBody>
              <a:bodyPr/>
              <a:lstStyle/>
              <a:p>
                <a:r>
                  <a:rPr lang="ko-Kore-KR" altLang="en-US">
                    <a:noFill/>
                  </a:rPr>
                  <a:t> </a:t>
                </a:r>
              </a:p>
            </p:txBody>
          </p:sp>
        </mc:Fallback>
      </mc:AlternateContent>
      <p:sp>
        <p:nvSpPr>
          <p:cNvPr id="55" name="文本框 54">
            <a:extLst>
              <a:ext uri="{FF2B5EF4-FFF2-40B4-BE49-F238E27FC236}">
                <a16:creationId xmlns:a16="http://schemas.microsoft.com/office/drawing/2014/main" id="{C8641057-C1AA-4D27-97D8-35FD01C017AA}"/>
              </a:ext>
            </a:extLst>
          </p:cNvPr>
          <p:cNvSpPr txBox="1"/>
          <p:nvPr/>
        </p:nvSpPr>
        <p:spPr>
          <a:xfrm>
            <a:off x="4555980" y="3091703"/>
            <a:ext cx="1278427" cy="369332"/>
          </a:xfrm>
          <a:prstGeom prst="rect">
            <a:avLst/>
          </a:prstGeom>
          <a:noFill/>
        </p:spPr>
        <p:txBody>
          <a:bodyPr wrap="square" rtlCol="0">
            <a:spAutoFit/>
          </a:bodyPr>
          <a:lstStyle/>
          <a:p>
            <a:r>
              <a:rPr lang="zh-CN" altLang="en-US" sz="1800" dirty="0">
                <a:latin typeface="KaiTi" panose="02010609060101010101" pitchFamily="49" charset="-122"/>
                <a:ea typeface="KaiTi" panose="02010609060101010101" pitchFamily="49" charset="-122"/>
              </a:rPr>
              <a:t>第</a:t>
            </a:r>
            <a:r>
              <a:rPr lang="en-US" altLang="zh-CN" sz="1800" dirty="0">
                <a:latin typeface="KaiTi" panose="02010609060101010101" pitchFamily="49" charset="-122"/>
                <a:ea typeface="KaiTi" panose="02010609060101010101" pitchFamily="49" charset="-122"/>
              </a:rPr>
              <a:t>2</a:t>
            </a:r>
            <a:r>
              <a:rPr lang="zh-CN" altLang="en-US" sz="1800" dirty="0">
                <a:latin typeface="KaiTi" panose="02010609060101010101" pitchFamily="49" charset="-122"/>
                <a:ea typeface="KaiTi" panose="02010609060101010101" pitchFamily="49" charset="-122"/>
              </a:rPr>
              <a:t>次划分</a:t>
            </a:r>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08CD7DA2-5D66-436D-A665-3F3B09CDBEB6}"/>
                  </a:ext>
                </a:extLst>
              </p:cNvPr>
              <p:cNvSpPr txBox="1"/>
              <p:nvPr/>
            </p:nvSpPr>
            <p:spPr>
              <a:xfrm>
                <a:off x="501096" y="2012595"/>
                <a:ext cx="3977178" cy="2535951"/>
              </a:xfrm>
              <a:prstGeom prst="rect">
                <a:avLst/>
              </a:prstGeom>
              <a:noFill/>
            </p:spPr>
            <p:txBody>
              <a:bodyPr wrap="square">
                <a:spAutoFit/>
              </a:bodyPr>
              <a:lstStyle/>
              <a:p>
                <a:pPr>
                  <a:lnSpc>
                    <a:spcPct val="150000"/>
                  </a:lnSpc>
                </a:pPr>
                <a:r>
                  <a:rPr lang="zh-CN" altLang="zh-CN" sz="1800" dirty="0">
                    <a:latin typeface="KaiTi" panose="02010609060101010101" pitchFamily="49" charset="-122"/>
                    <a:ea typeface="KaiTi" panose="02010609060101010101" pitchFamily="49" charset="-122"/>
                  </a:rPr>
                  <a:t>具体思路：</a:t>
                </a:r>
                <a:r>
                  <a:rPr lang="zh-CN" altLang="en-US" sz="1800" dirty="0">
                    <a:latin typeface="KaiTi" panose="02010609060101010101" pitchFamily="49" charset="-122"/>
                    <a:ea typeface="KaiTi" panose="02010609060101010101" pitchFamily="49" charset="-122"/>
                  </a:rPr>
                  <a:t>假设特征</a:t>
                </a:r>
                <a14:m>
                  <m:oMath xmlns:m="http://schemas.openxmlformats.org/officeDocument/2006/math">
                    <m:r>
                      <a:rPr lang="en-US" altLang="zh-CN" sz="1800" i="1" dirty="0" smtClean="0">
                        <a:latin typeface="Cambria Math" panose="02040503050406030204" pitchFamily="18" charset="0"/>
                      </a:rPr>
                      <m:t>𝑎</m:t>
                    </m:r>
                  </m:oMath>
                </a14:m>
                <a:r>
                  <a:rPr lang="zh-CN" altLang="en-US" sz="1800" dirty="0">
                    <a:latin typeface="KaiTi" panose="02010609060101010101" pitchFamily="49" charset="-122"/>
                    <a:ea typeface="KaiTi" panose="02010609060101010101" pitchFamily="49" charset="-122"/>
                  </a:rPr>
                  <a:t>有</a:t>
                </a:r>
                <a14:m>
                  <m:oMath xmlns:m="http://schemas.openxmlformats.org/officeDocument/2006/math">
                    <m:r>
                      <a:rPr lang="en-US" altLang="zh-CN" sz="1800" i="1" dirty="0" smtClean="0">
                        <a:latin typeface="Cambria Math" panose="02040503050406030204" pitchFamily="18" charset="0"/>
                      </a:rPr>
                      <m:t>𝑚</m:t>
                    </m:r>
                  </m:oMath>
                </a14:m>
                <a:r>
                  <a:rPr lang="zh-CN" altLang="en-US" sz="1800" dirty="0">
                    <a:latin typeface="KaiTi" panose="02010609060101010101" pitchFamily="49" charset="-122"/>
                    <a:ea typeface="KaiTi" panose="02010609060101010101" pitchFamily="49" charset="-122"/>
                  </a:rPr>
                  <a:t>个离散值。分类标准是：每一次将其中一个特征分为一类，其他非该特征分为另一类。依照这个标准遍历所有分类情况，计算每个分类下的基尼指数，最后选择最小的作为最终的特征划分。</a:t>
                </a:r>
                <a:endParaRPr lang="zh-CN" altLang="zh-CN" sz="1800" dirty="0">
                  <a:latin typeface="KaiTi" panose="02010609060101010101" pitchFamily="49" charset="-122"/>
                  <a:ea typeface="KaiTi" panose="02010609060101010101" pitchFamily="49" charset="-122"/>
                </a:endParaRPr>
              </a:p>
            </p:txBody>
          </p:sp>
        </mc:Choice>
        <mc:Fallback xmlns="">
          <p:sp>
            <p:nvSpPr>
              <p:cNvPr id="58" name="文本框 57">
                <a:extLst>
                  <a:ext uri="{FF2B5EF4-FFF2-40B4-BE49-F238E27FC236}">
                    <a16:creationId xmlns:a16="http://schemas.microsoft.com/office/drawing/2014/main" id="{08CD7DA2-5D66-436D-A665-3F3B09CDBEB6}"/>
                  </a:ext>
                </a:extLst>
              </p:cNvPr>
              <p:cNvSpPr txBox="1">
                <a:spLocks noRot="1" noChangeAspect="1" noMove="1" noResize="1" noEditPoints="1" noAdjustHandles="1" noChangeArrowheads="1" noChangeShapeType="1" noTextEdit="1"/>
              </p:cNvSpPr>
              <p:nvPr/>
            </p:nvSpPr>
            <p:spPr>
              <a:xfrm>
                <a:off x="501096" y="2012595"/>
                <a:ext cx="3977178" cy="2535951"/>
              </a:xfrm>
              <a:prstGeom prst="rect">
                <a:avLst/>
              </a:prstGeom>
              <a:blipFill>
                <a:blip r:embed="rId7"/>
                <a:stretch>
                  <a:fillRect l="-1274" r="-3503" b="-199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BB376A7-1A68-4431-86AB-943DD5079BA9}"/>
                  </a:ext>
                </a:extLst>
              </p:cNvPr>
              <p:cNvSpPr txBox="1"/>
              <p:nvPr/>
            </p:nvSpPr>
            <p:spPr>
              <a:xfrm>
                <a:off x="3498109" y="5228683"/>
                <a:ext cx="8107402" cy="782587"/>
              </a:xfrm>
              <a:prstGeom prst="rect">
                <a:avLst/>
              </a:prstGeom>
              <a:noFill/>
            </p:spPr>
            <p:txBody>
              <a:bodyPr wrap="square">
                <a:spAutoFit/>
              </a:bodyPr>
              <a:lstStyle/>
              <a:p>
                <a:pPr>
                  <a:lnSpc>
                    <a:spcPct val="150000"/>
                  </a:lnSpc>
                </a:pPr>
                <a:r>
                  <a:rPr lang="zh-CN" altLang="zh-CN" sz="1600" dirty="0">
                    <a:latin typeface="KaiTi" panose="02010609060101010101" pitchFamily="49" charset="-122"/>
                    <a:ea typeface="KaiTi" panose="02010609060101010101" pitchFamily="49" charset="-122"/>
                  </a:rPr>
                  <a:t>比如</a:t>
                </a:r>
                <a:r>
                  <a:rPr lang="zh-CN" altLang="en-US" sz="1600" dirty="0">
                    <a:latin typeface="KaiTi" panose="02010609060101010101" pitchFamily="49" charset="-122"/>
                    <a:ea typeface="KaiTi" panose="02010609060101010101" pitchFamily="49" charset="-122"/>
                  </a:rPr>
                  <a:t>第</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次取</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a:latin typeface="Cambria Math" panose="02040503050406030204" pitchFamily="18" charset="0"/>
                          </a:rPr>
                          <m:t>1</m:t>
                        </m:r>
                      </m:sub>
                    </m:sSub>
                  </m:oMath>
                </a14:m>
                <a:r>
                  <a:rPr lang="en-US" altLang="zh-CN" sz="1600" dirty="0">
                    <a:latin typeface="KaiTi" panose="02010609060101010101" pitchFamily="49" charset="-122"/>
                    <a:ea typeface="KaiTi" panose="02010609060101010101" pitchFamily="49" charset="-122"/>
                  </a:rPr>
                  <a:t>}</a:t>
                </a:r>
                <a:r>
                  <a:rPr lang="zh-CN" altLang="zh-CN" sz="1600" dirty="0">
                    <a:latin typeface="KaiTi" panose="02010609060101010101" pitchFamily="49" charset="-122"/>
                    <a:ea typeface="KaiTi" panose="02010609060101010101" pitchFamily="49" charset="-122"/>
                  </a:rPr>
                  <a:t>为类别</a:t>
                </a:r>
                <a:r>
                  <a:rPr lang="en-US" altLang="zh-CN" sz="1600" dirty="0">
                    <a:latin typeface="KaiTi" panose="02010609060101010101" pitchFamily="49" charset="-122"/>
                    <a:ea typeface="KaiTi" panose="02010609060101010101" pitchFamily="49" charset="-122"/>
                  </a:rPr>
                  <a:t>1</a:t>
                </a:r>
                <a:r>
                  <a:rPr lang="zh-CN"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那么剩下的特征</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a:latin typeface="Cambria Math" panose="02040503050406030204" pitchFamily="18" charset="0"/>
                          </a:rPr>
                          <m:t>2</m:t>
                        </m:r>
                      </m:sub>
                    </m:sSub>
                  </m:oMath>
                </a14:m>
                <a:r>
                  <a:rPr lang="en-US" altLang="zh-CN" sz="1600" dirty="0">
                    <a:latin typeface="KaiTi" panose="02010609060101010101" pitchFamily="49" charset="-122"/>
                    <a:ea typeface="KaiTi" panose="02010609060101010101" pitchFamily="49" charset="-122"/>
                  </a:rPr>
                  <a:t> ,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a:latin typeface="Cambria Math" panose="02040503050406030204" pitchFamily="18" charset="0"/>
                          </a:rPr>
                          <m:t>3</m:t>
                        </m:r>
                      </m:sub>
                    </m:sSub>
                  </m:oMath>
                </a14:m>
                <a:r>
                  <a:rPr lang="en-US" altLang="zh-CN" sz="16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a:latin typeface="Cambria Math" panose="02040503050406030204" pitchFamily="18" charset="0"/>
                          </a:rPr>
                          <m:t>1</m:t>
                        </m:r>
                      </m:sub>
                    </m:sSub>
                  </m:oMath>
                </a14:m>
                <a:r>
                  <a:rPr lang="en-US" altLang="zh-CN" sz="16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sub>
                    </m:sSub>
                    <m:r>
                      <a:rPr lang="en-US" altLang="zh-CN" sz="1600" i="1">
                        <a:latin typeface="Cambria Math" panose="02040503050406030204" pitchFamily="18" charset="0"/>
                      </a:rPr>
                      <m:t>}</m:t>
                    </m:r>
                  </m:oMath>
                </a14:m>
                <a:r>
                  <a:rPr lang="zh-CN" altLang="zh-CN" sz="1600" dirty="0">
                    <a:latin typeface="KaiTi" panose="02010609060101010101" pitchFamily="49" charset="-122"/>
                    <a:ea typeface="KaiTi" panose="02010609060101010101" pitchFamily="49" charset="-122"/>
                  </a:rPr>
                  <a:t>为类别</a:t>
                </a:r>
                <a:r>
                  <a:rPr lang="en-US" altLang="zh-CN" sz="1600" dirty="0">
                    <a:latin typeface="KaiTi" panose="02010609060101010101" pitchFamily="49" charset="-122"/>
                    <a:ea typeface="KaiTi" panose="02010609060101010101" pitchFamily="49" charset="-122"/>
                  </a:rPr>
                  <a:t>2</a:t>
                </a:r>
                <a:r>
                  <a:rPr lang="zh-CN"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由此遍历，第</a:t>
                </a:r>
                <a14:m>
                  <m:oMath xmlns:m="http://schemas.openxmlformats.org/officeDocument/2006/math">
                    <m:r>
                      <a:rPr lang="en-US" altLang="zh-CN" sz="1600" i="1" dirty="0" smtClean="0">
                        <a:latin typeface="Cambria Math" panose="02040503050406030204" pitchFamily="18" charset="0"/>
                      </a:rPr>
                      <m:t>𝑚</m:t>
                    </m:r>
                  </m:oMath>
                </a14:m>
                <a:r>
                  <a:rPr lang="zh-CN" altLang="en-US" sz="1600" dirty="0">
                    <a:latin typeface="KaiTi" panose="02010609060101010101" pitchFamily="49" charset="-122"/>
                    <a:ea typeface="KaiTi" panose="02010609060101010101" pitchFamily="49" charset="-122"/>
                  </a:rPr>
                  <a:t>次取</a:t>
                </a:r>
                <a14:m>
                  <m:oMath xmlns:m="http://schemas.openxmlformats.org/officeDocument/2006/math">
                    <m:r>
                      <a:rPr lang="en-US" altLang="zh-CN" sz="1600" i="1">
                        <a:latin typeface="Cambria Math" panose="02040503050406030204" pitchFamily="18" charset="0"/>
                      </a:rPr>
                      <m:t>{ </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sub>
                    </m:sSub>
                    <m:r>
                      <a:rPr lang="en-US" altLang="zh-CN" sz="1600" i="1">
                        <a:latin typeface="Cambria Math" panose="02040503050406030204" pitchFamily="18" charset="0"/>
                      </a:rPr>
                      <m:t>}</m:t>
                    </m:r>
                  </m:oMath>
                </a14:m>
                <a:r>
                  <a:rPr lang="zh-CN" altLang="zh-CN" sz="1600" dirty="0">
                    <a:latin typeface="KaiTi" panose="02010609060101010101" pitchFamily="49" charset="-122"/>
                    <a:ea typeface="KaiTi" panose="02010609060101010101" pitchFamily="49" charset="-122"/>
                  </a:rPr>
                  <a:t>为类别</a:t>
                </a:r>
                <a:r>
                  <a:rPr lang="en-US" altLang="zh-CN" sz="1600" dirty="0">
                    <a:latin typeface="KaiTi" panose="02010609060101010101" pitchFamily="49" charset="-122"/>
                    <a:ea typeface="KaiTi" panose="02010609060101010101" pitchFamily="49" charset="-122"/>
                  </a:rPr>
                  <a:t>1</a:t>
                </a:r>
                <a:r>
                  <a:rPr lang="zh-CN"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那么剩下的特征</a:t>
                </a:r>
                <a14:m>
                  <m:oMath xmlns:m="http://schemas.openxmlformats.org/officeDocument/2006/math">
                    <m:sSub>
                      <m:sSubPr>
                        <m:ctrlPr>
                          <a:rPr lang="zh-CN" altLang="zh-CN" sz="1600" i="1">
                            <a:latin typeface="Cambria Math" panose="02040503050406030204" pitchFamily="18" charset="0"/>
                          </a:rPr>
                        </m:ctrlPr>
                      </m:sSub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a:latin typeface="Cambria Math" panose="02040503050406030204" pitchFamily="18" charset="0"/>
                              </a:rPr>
                              <m:t>1</m:t>
                            </m:r>
                          </m:sub>
                        </m:sSub>
                        <m:r>
                          <m:rPr>
                            <m:nor/>
                          </m:rPr>
                          <a:rPr lang="en-US" altLang="zh-CN" sz="1600" dirty="0">
                            <a:latin typeface="KaiTi" panose="02010609060101010101" pitchFamily="49" charset="-122"/>
                            <a:ea typeface="KaiTi" panose="02010609060101010101" pitchFamily="49" charset="-122"/>
                          </a:rPr>
                          <m:t>,</m:t>
                        </m:r>
                        <m:r>
                          <a:rPr lang="en-US" altLang="zh-CN" sz="1600" i="1">
                            <a:latin typeface="Cambria Math" panose="02040503050406030204" pitchFamily="18" charset="0"/>
                          </a:rPr>
                          <m:t>𝑎</m:t>
                        </m:r>
                      </m:e>
                      <m:sub>
                        <m:r>
                          <a:rPr lang="en-US" altLang="zh-CN" sz="1600">
                            <a:latin typeface="Cambria Math" panose="02040503050406030204" pitchFamily="18" charset="0"/>
                          </a:rPr>
                          <m:t>2</m:t>
                        </m:r>
                      </m:sub>
                    </m:sSub>
                  </m:oMath>
                </a14:m>
                <a:r>
                  <a:rPr lang="en-US" altLang="zh-CN" sz="1600" dirty="0">
                    <a:latin typeface="KaiTi" panose="02010609060101010101" pitchFamily="49" charset="-122"/>
                    <a:ea typeface="KaiTi" panose="02010609060101010101" pitchFamily="49" charset="-122"/>
                  </a:rPr>
                  <a:t> ,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a:latin typeface="Cambria Math" panose="02040503050406030204" pitchFamily="18" charset="0"/>
                          </a:rPr>
                          <m:t>3</m:t>
                        </m:r>
                      </m:sub>
                    </m:sSub>
                  </m:oMath>
                </a14:m>
                <a:r>
                  <a:rPr lang="en-US" altLang="zh-CN" sz="1600" dirty="0">
                    <a:latin typeface="KaiTi" panose="02010609060101010101" pitchFamily="49" charset="-122"/>
                    <a:ea typeface="KaiTi" panose="02010609060101010101" pitchFamily="49" charset="-122"/>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a:latin typeface="Cambria Math" panose="02040503050406030204" pitchFamily="18" charset="0"/>
                          </a:rPr>
                          <m:t>1</m:t>
                        </m:r>
                      </m:sub>
                    </m:sSub>
                    <m:r>
                      <a:rPr lang="en-US" altLang="zh-CN" sz="1600" i="1">
                        <a:latin typeface="Cambria Math" panose="02040503050406030204" pitchFamily="18" charset="0"/>
                      </a:rPr>
                      <m:t>}</m:t>
                    </m:r>
                  </m:oMath>
                </a14:m>
                <a:r>
                  <a:rPr lang="zh-CN" altLang="zh-CN" sz="1600" dirty="0">
                    <a:latin typeface="KaiTi" panose="02010609060101010101" pitchFamily="49" charset="-122"/>
                    <a:ea typeface="KaiTi" panose="02010609060101010101" pitchFamily="49" charset="-122"/>
                  </a:rPr>
                  <a:t>为类别</a:t>
                </a:r>
                <a:r>
                  <a:rPr lang="en-US" altLang="zh-CN" sz="1600" dirty="0">
                    <a:latin typeface="KaiTi" panose="02010609060101010101" pitchFamily="49" charset="-122"/>
                    <a:ea typeface="KaiTi" panose="02010609060101010101" pitchFamily="49" charset="-122"/>
                  </a:rPr>
                  <a:t>2</a:t>
                </a:r>
                <a:r>
                  <a:rPr lang="zh-CN" altLang="en-US" sz="1600" dirty="0">
                    <a:latin typeface="KaiTi" panose="02010609060101010101" pitchFamily="49" charset="-122"/>
                    <a:ea typeface="KaiTi" panose="02010609060101010101" pitchFamily="49" charset="-122"/>
                  </a:rPr>
                  <a:t>。</a:t>
                </a:r>
                <a:endParaRPr lang="zh-CN" altLang="zh-CN" sz="1600" dirty="0">
                  <a:latin typeface="KaiTi" panose="02010609060101010101" pitchFamily="49" charset="-122"/>
                  <a:ea typeface="KaiTi" panose="02010609060101010101" pitchFamily="49" charset="-122"/>
                </a:endParaRPr>
              </a:p>
            </p:txBody>
          </p:sp>
        </mc:Choice>
        <mc:Fallback xmlns="">
          <p:sp>
            <p:nvSpPr>
              <p:cNvPr id="21" name="文本框 20">
                <a:extLst>
                  <a:ext uri="{FF2B5EF4-FFF2-40B4-BE49-F238E27FC236}">
                    <a16:creationId xmlns:a16="http://schemas.microsoft.com/office/drawing/2014/main" id="{7BB376A7-1A68-4431-86AB-943DD5079BA9}"/>
                  </a:ext>
                </a:extLst>
              </p:cNvPr>
              <p:cNvSpPr txBox="1">
                <a:spLocks noRot="1" noChangeAspect="1" noMove="1" noResize="1" noEditPoints="1" noAdjustHandles="1" noChangeArrowheads="1" noChangeShapeType="1" noTextEdit="1"/>
              </p:cNvSpPr>
              <p:nvPr/>
            </p:nvSpPr>
            <p:spPr>
              <a:xfrm>
                <a:off x="3498109" y="5228683"/>
                <a:ext cx="8107402" cy="782587"/>
              </a:xfrm>
              <a:prstGeom prst="rect">
                <a:avLst/>
              </a:prstGeom>
              <a:blipFill>
                <a:blip r:embed="rId8"/>
                <a:stretch>
                  <a:fillRect l="-313" b="-7937"/>
                </a:stretch>
              </a:blipFill>
            </p:spPr>
            <p:txBody>
              <a:bodyPr/>
              <a:lstStyle/>
              <a:p>
                <a:r>
                  <a:rPr lang="ko-Kore-KR" altLang="en-US">
                    <a:noFill/>
                  </a:rPr>
                  <a:t> </a:t>
                </a:r>
              </a:p>
            </p:txBody>
          </p:sp>
        </mc:Fallback>
      </mc:AlternateContent>
      <p:sp>
        <p:nvSpPr>
          <p:cNvPr id="24" name="文本框 23">
            <a:extLst>
              <a:ext uri="{FF2B5EF4-FFF2-40B4-BE49-F238E27FC236}">
                <a16:creationId xmlns:a16="http://schemas.microsoft.com/office/drawing/2014/main" id="{46FABA2B-69E4-4B0F-B124-CC2A8BBC8F3D}"/>
              </a:ext>
            </a:extLst>
          </p:cNvPr>
          <p:cNvSpPr txBox="1"/>
          <p:nvPr/>
        </p:nvSpPr>
        <p:spPr>
          <a:xfrm>
            <a:off x="979004" y="6297770"/>
            <a:ext cx="10626507" cy="338554"/>
          </a:xfrm>
          <a:prstGeom prst="rect">
            <a:avLst/>
          </a:prstGeom>
          <a:noFill/>
        </p:spPr>
        <p:txBody>
          <a:bodyPr wrap="square">
            <a:spAutoFit/>
          </a:bodyPr>
          <a:lstStyle/>
          <a:p>
            <a:pPr indent="254000"/>
            <a:r>
              <a:rPr lang="en-US" altLang="zh-CN" sz="1600" dirty="0">
                <a:solidFill>
                  <a:srgbClr val="FF0000"/>
                </a:solidFill>
                <a:latin typeface="KaiTi" panose="02010609060101010101" pitchFamily="49" charset="-122"/>
                <a:ea typeface="KaiTi" panose="02010609060101010101" pitchFamily="49" charset="-122"/>
              </a:rPr>
              <a:t>CART</a:t>
            </a:r>
            <a:r>
              <a:rPr lang="zh-CN" altLang="zh-CN" sz="1600" dirty="0">
                <a:solidFill>
                  <a:srgbClr val="FF0000"/>
                </a:solidFill>
                <a:latin typeface="KaiTi" panose="02010609060101010101" pitchFamily="49" charset="-122"/>
                <a:ea typeface="KaiTi" panose="02010609060101010101" pitchFamily="49" charset="-122"/>
              </a:rPr>
              <a:t>的特征会多次参与节点的建立，而在</a:t>
            </a:r>
            <a:r>
              <a:rPr lang="en-US" altLang="zh-CN" sz="1600" dirty="0">
                <a:solidFill>
                  <a:srgbClr val="FF0000"/>
                </a:solidFill>
                <a:latin typeface="KaiTi" panose="02010609060101010101" pitchFamily="49" charset="-122"/>
                <a:ea typeface="KaiTi" panose="02010609060101010101" pitchFamily="49" charset="-122"/>
              </a:rPr>
              <a:t>ID3</a:t>
            </a:r>
            <a:r>
              <a:rPr lang="zh-CN" altLang="zh-CN" sz="1600" dirty="0">
                <a:solidFill>
                  <a:srgbClr val="FF0000"/>
                </a:solidFill>
                <a:latin typeface="KaiTi" panose="02010609060101010101" pitchFamily="49" charset="-122"/>
                <a:ea typeface="KaiTi" panose="02010609060101010101" pitchFamily="49" charset="-122"/>
              </a:rPr>
              <a:t>或</a:t>
            </a:r>
            <a:r>
              <a:rPr lang="en-US" altLang="zh-CN" sz="1600" dirty="0">
                <a:solidFill>
                  <a:srgbClr val="FF0000"/>
                </a:solidFill>
                <a:latin typeface="KaiTi" panose="02010609060101010101" pitchFamily="49" charset="-122"/>
                <a:ea typeface="KaiTi" panose="02010609060101010101" pitchFamily="49" charset="-122"/>
              </a:rPr>
              <a:t>C4.5</a:t>
            </a:r>
            <a:r>
              <a:rPr lang="zh-CN" altLang="zh-CN" sz="1600" dirty="0">
                <a:solidFill>
                  <a:srgbClr val="FF0000"/>
                </a:solidFill>
                <a:latin typeface="KaiTi" panose="02010609060101010101" pitchFamily="49" charset="-122"/>
                <a:ea typeface="KaiTi" panose="02010609060101010101" pitchFamily="49" charset="-122"/>
              </a:rPr>
              <a:t>的一颗子树中，离散特征只会参与一次节点的建立。</a:t>
            </a:r>
          </a:p>
        </p:txBody>
      </p:sp>
      <p:sp>
        <p:nvSpPr>
          <p:cNvPr id="2" name="제목 2">
            <a:extLst>
              <a:ext uri="{FF2B5EF4-FFF2-40B4-BE49-F238E27FC236}">
                <a16:creationId xmlns:a16="http://schemas.microsoft.com/office/drawing/2014/main" id="{5059FABF-45DF-882C-AC86-A21F14D93457}"/>
              </a:ext>
            </a:extLst>
          </p:cNvPr>
          <p:cNvSpPr>
            <a:spLocks noGrp="1"/>
          </p:cNvSpPr>
          <p:nvPr>
            <p:ph type="title"/>
          </p:nvPr>
        </p:nvSpPr>
        <p:spPr>
          <a:xfrm>
            <a:off x="350985" y="221676"/>
            <a:ext cx="11369963" cy="738909"/>
          </a:xfrm>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分类</a:t>
            </a:r>
            <a:endParaRPr lang="ko-Kore-KR" altLang="en-US">
              <a:latin typeface="KaiTi" panose="02010609060101010101" pitchFamily="49" charset="-122"/>
            </a:endParaRPr>
          </a:p>
        </p:txBody>
      </p:sp>
    </p:spTree>
    <p:extLst>
      <p:ext uri="{BB962C8B-B14F-4D97-AF65-F5344CB8AC3E}">
        <p14:creationId xmlns:p14="http://schemas.microsoft.com/office/powerpoint/2010/main" val="1142163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186CB390-3F0B-4249-9644-ED99CCFE7C62}"/>
              </a:ext>
            </a:extLst>
          </p:cNvPr>
          <p:cNvSpPr txBox="1"/>
          <p:nvPr/>
        </p:nvSpPr>
        <p:spPr>
          <a:xfrm>
            <a:off x="634438" y="1437361"/>
            <a:ext cx="1634758" cy="461665"/>
          </a:xfrm>
          <a:prstGeom prst="rect">
            <a:avLst/>
          </a:prstGeom>
          <a:noFill/>
        </p:spPr>
        <p:txBody>
          <a:bodyPr wrap="square" rtlCol="0">
            <a:spAutoFit/>
          </a:bodyPr>
          <a:lstStyle/>
          <a:p>
            <a:r>
              <a:rPr lang="zh-CN" altLang="en-US" sz="2400" b="1" dirty="0">
                <a:latin typeface="KaiTi" panose="02010609060101010101" pitchFamily="49" charset="-122"/>
                <a:ea typeface="KaiTi" panose="02010609060101010101" pitchFamily="49" charset="-122"/>
              </a:rPr>
              <a:t>基尼指数</a:t>
            </a:r>
          </a:p>
        </p:txBody>
      </p:sp>
      <p:sp>
        <p:nvSpPr>
          <p:cNvPr id="2" name="제목 2">
            <a:extLst>
              <a:ext uri="{FF2B5EF4-FFF2-40B4-BE49-F238E27FC236}">
                <a16:creationId xmlns:a16="http://schemas.microsoft.com/office/drawing/2014/main" id="{9CFCA0DD-938D-0405-F1C5-3C93C80BF7E1}"/>
              </a:ext>
            </a:extLst>
          </p:cNvPr>
          <p:cNvSpPr>
            <a:spLocks noGrp="1"/>
          </p:cNvSpPr>
          <p:nvPr>
            <p:ph type="title"/>
          </p:nvPr>
        </p:nvSpPr>
        <p:spPr>
          <a:xfrm>
            <a:off x="350985" y="221676"/>
            <a:ext cx="11369963" cy="738909"/>
          </a:xfrm>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分类</a:t>
            </a:r>
            <a:endParaRPr lang="ko-Kore-KR" altLang="en-US">
              <a:latin typeface="KaiTi" panose="02010609060101010101" pitchFamily="49" charset="-122"/>
            </a:endParaRPr>
          </a:p>
        </p:txBody>
      </p:sp>
      <p:sp>
        <p:nvSpPr>
          <p:cNvPr id="15" name="TextBox 14">
            <a:extLst>
              <a:ext uri="{FF2B5EF4-FFF2-40B4-BE49-F238E27FC236}">
                <a16:creationId xmlns:a16="http://schemas.microsoft.com/office/drawing/2014/main" id="{02DFFA9D-362A-1679-A3CF-E41ABA2D456B}"/>
              </a:ext>
            </a:extLst>
          </p:cNvPr>
          <p:cNvSpPr txBox="1"/>
          <p:nvPr/>
        </p:nvSpPr>
        <p:spPr>
          <a:xfrm>
            <a:off x="578570" y="2800656"/>
            <a:ext cx="8511362" cy="851515"/>
          </a:xfrm>
          <a:prstGeom prst="rect">
            <a:avLst/>
          </a:prstGeom>
          <a:noFill/>
        </p:spPr>
        <p:txBody>
          <a:bodyPr wrap="square">
            <a:spAutoFit/>
          </a:bodyPr>
          <a:lstStyle/>
          <a:p>
            <a:pPr marL="342900" lvl="0" indent="-342900">
              <a:spcBef>
                <a:spcPts val="600"/>
              </a:spcBef>
              <a:spcAft>
                <a:spcPts val="1000"/>
              </a:spcAft>
              <a:buSzPts val="1000"/>
              <a:buFont typeface="Symbol" pitchFamily="2" charset="2"/>
              <a:buChar char=""/>
              <a:tabLst>
                <a:tab pos="457200" algn="l"/>
              </a:tabLst>
            </a:pPr>
            <a:r>
              <a:rPr lang="ko-Kore-KR" altLang="ko-Kore-KR" sz="1800" dirty="0">
                <a:solidFill>
                  <a:srgbClr val="000000"/>
                </a:solidFill>
                <a:effectLst/>
                <a:latin typeface="Cambria" panose="02040503050406030204" pitchFamily="18" charset="0"/>
                <a:ea typeface="KaiTi" panose="02010609060101010101" pitchFamily="49" charset="-122"/>
                <a:cs typeface="맑은 고딕" panose="020B0503020000020004" pitchFamily="34" charset="-127"/>
              </a:rPr>
              <a:t>基尼系</a:t>
            </a:r>
            <a:r>
              <a:rPr lang="ko-Kore-KR" altLang="ko-Kore-KR" sz="1800" dirty="0">
                <a:solidFill>
                  <a:srgbClr val="000000"/>
                </a:solidFill>
                <a:effectLst/>
                <a:latin typeface="Cambria" panose="02040503050406030204" pitchFamily="18" charset="0"/>
                <a:ea typeface="KaiTi" panose="02010609060101010101" pitchFamily="49" charset="-122"/>
                <a:cs typeface="Microsoft YaHei" panose="020B0503020204020204" pitchFamily="34" charset="-122"/>
              </a:rPr>
              <a:t>数</a:t>
            </a:r>
            <a:r>
              <a:rPr lang="ko-Kore-KR" altLang="ko-Kore-KR" sz="1800" dirty="0">
                <a:solidFill>
                  <a:srgbClr val="000000"/>
                </a:solidFill>
                <a:effectLst/>
                <a:latin typeface="Cambria" panose="02040503050406030204" pitchFamily="18" charset="0"/>
                <a:ea typeface="KaiTi" panose="02010609060101010101" pitchFamily="49" charset="-122"/>
                <a:cs typeface="맑은 고딕" panose="020B0503020000020004" pitchFamily="34" charset="-127"/>
              </a:rPr>
              <a:t>越大，不确定性越大</a:t>
            </a:r>
            <a:endParaRPr lang="en-US" altLang="ko-Kore-KR" sz="1800" dirty="0">
              <a:solidFill>
                <a:srgbClr val="000000"/>
              </a:solidFill>
              <a:effectLst/>
              <a:latin typeface="Cambria" panose="02040503050406030204" pitchFamily="18" charset="0"/>
              <a:ea typeface="KaiTi" panose="02010609060101010101" pitchFamily="49" charset="-122"/>
              <a:cs typeface="맑은 고딕" panose="020B0503020000020004" pitchFamily="34" charset="-127"/>
            </a:endParaRPr>
          </a:p>
          <a:p>
            <a:pPr marL="342900" lvl="0" indent="-342900">
              <a:spcBef>
                <a:spcPts val="600"/>
              </a:spcBef>
              <a:spcAft>
                <a:spcPts val="1000"/>
              </a:spcAft>
              <a:buSzPts val="1000"/>
              <a:buFont typeface="Symbol" pitchFamily="2" charset="2"/>
              <a:buChar char=""/>
              <a:tabLst>
                <a:tab pos="457200" algn="l"/>
              </a:tabLst>
            </a:pPr>
            <a:r>
              <a:rPr lang="ko-Kore-KR" altLang="ko-Kore-KR" sz="1800" dirty="0">
                <a:solidFill>
                  <a:srgbClr val="000000"/>
                </a:solidFill>
                <a:effectLst/>
                <a:latin typeface="Cambria" panose="02040503050406030204" pitchFamily="18" charset="0"/>
                <a:ea typeface="KaiTi" panose="02010609060101010101" pitchFamily="49" charset="-122"/>
                <a:cs typeface="맑은 고딕" panose="020B0503020000020004" pitchFamily="34" charset="-127"/>
              </a:rPr>
              <a:t>基尼系</a:t>
            </a:r>
            <a:r>
              <a:rPr lang="ko-Kore-KR" altLang="ko-Kore-KR" sz="1800" dirty="0">
                <a:solidFill>
                  <a:srgbClr val="000000"/>
                </a:solidFill>
                <a:effectLst/>
                <a:latin typeface="Cambria" panose="02040503050406030204" pitchFamily="18" charset="0"/>
                <a:ea typeface="KaiTi" panose="02010609060101010101" pitchFamily="49" charset="-122"/>
                <a:cs typeface="Microsoft YaHei" panose="020B0503020204020204" pitchFamily="34" charset="-122"/>
              </a:rPr>
              <a:t>数</a:t>
            </a:r>
            <a:r>
              <a:rPr lang="ko-Kore-KR" altLang="ko-Kore-KR" sz="1800" dirty="0">
                <a:solidFill>
                  <a:srgbClr val="000000"/>
                </a:solidFill>
                <a:effectLst/>
                <a:latin typeface="Cambria" panose="02040503050406030204" pitchFamily="18" charset="0"/>
                <a:ea typeface="KaiTi" panose="02010609060101010101" pitchFamily="49" charset="-122"/>
                <a:cs typeface="맑은 고딕" panose="020B0503020000020004" pitchFamily="34" charset="-127"/>
              </a:rPr>
              <a:t>越小，不确定性越小</a:t>
            </a:r>
            <a:endParaRPr lang="ko-Kore-KR" altLang="ko-Kore-KR" sz="1800" dirty="0">
              <a:effectLst/>
              <a:latin typeface="Cambria" panose="02040503050406030204" pitchFamily="18" charset="0"/>
              <a:ea typeface="맑은 고딕" panose="020B0503020000020004" pitchFamily="34" charset="-127"/>
              <a:cs typeface="Times New Roman" panose="02020603050405020304" pitchFamily="18" charset="0"/>
            </a:endParaRPr>
          </a:p>
        </p:txBody>
      </p:sp>
      <p:graphicFrame>
        <p:nvGraphicFramePr>
          <p:cNvPr id="53" name="표 52">
            <a:extLst>
              <a:ext uri="{FF2B5EF4-FFF2-40B4-BE49-F238E27FC236}">
                <a16:creationId xmlns:a16="http://schemas.microsoft.com/office/drawing/2014/main" id="{EA3171D3-DBD9-9660-FDBA-B720E2DB1D90}"/>
              </a:ext>
            </a:extLst>
          </p:cNvPr>
          <p:cNvGraphicFramePr>
            <a:graphicFrameLocks noGrp="1"/>
          </p:cNvGraphicFramePr>
          <p:nvPr>
            <p:extLst>
              <p:ext uri="{D42A27DB-BD31-4B8C-83A1-F6EECF244321}">
                <p14:modId xmlns:p14="http://schemas.microsoft.com/office/powerpoint/2010/main" val="4284725611"/>
              </p:ext>
            </p:extLst>
          </p:nvPr>
        </p:nvGraphicFramePr>
        <p:xfrm>
          <a:off x="8644270" y="1432831"/>
          <a:ext cx="2969160" cy="4190360"/>
        </p:xfrm>
        <a:graphic>
          <a:graphicData uri="http://schemas.openxmlformats.org/drawingml/2006/table">
            <a:tbl>
              <a:tblPr firstRow="1" firstCol="1" bandRow="1">
                <a:tableStyleId>{7DF18680-E054-41AD-8BC1-D1AEF772440D}</a:tableStyleId>
              </a:tblPr>
              <a:tblGrid>
                <a:gridCol w="742290">
                  <a:extLst>
                    <a:ext uri="{9D8B030D-6E8A-4147-A177-3AD203B41FA5}">
                      <a16:colId xmlns:a16="http://schemas.microsoft.com/office/drawing/2014/main" val="3088449269"/>
                    </a:ext>
                  </a:extLst>
                </a:gridCol>
                <a:gridCol w="742290">
                  <a:extLst>
                    <a:ext uri="{9D8B030D-6E8A-4147-A177-3AD203B41FA5}">
                      <a16:colId xmlns:a16="http://schemas.microsoft.com/office/drawing/2014/main" val="2029594057"/>
                    </a:ext>
                  </a:extLst>
                </a:gridCol>
                <a:gridCol w="742290">
                  <a:extLst>
                    <a:ext uri="{9D8B030D-6E8A-4147-A177-3AD203B41FA5}">
                      <a16:colId xmlns:a16="http://schemas.microsoft.com/office/drawing/2014/main" val="3549674534"/>
                    </a:ext>
                  </a:extLst>
                </a:gridCol>
                <a:gridCol w="742290">
                  <a:extLst>
                    <a:ext uri="{9D8B030D-6E8A-4147-A177-3AD203B41FA5}">
                      <a16:colId xmlns:a16="http://schemas.microsoft.com/office/drawing/2014/main" val="1842318195"/>
                    </a:ext>
                  </a:extLst>
                </a:gridCol>
              </a:tblGrid>
              <a:tr h="475070">
                <a:tc>
                  <a:txBody>
                    <a:bodyPr/>
                    <a:lstStyle/>
                    <a:p>
                      <a:pPr algn="ctr">
                        <a:spcAft>
                          <a:spcPts val="1000"/>
                        </a:spcAft>
                      </a:pPr>
                      <a:r>
                        <a:rPr lang="ko-Kore-KR" sz="1400">
                          <a:effectLst/>
                          <a:latin typeface="KaiTi" panose="02010609060101010101" pitchFamily="49" charset="-122"/>
                        </a:rPr>
                        <a:t>有工作</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有房子</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信誉</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贷款结果</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520085924"/>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一般</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568202141"/>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452817838"/>
                  </a:ext>
                </a:extLst>
              </a:tr>
              <a:tr h="247686">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763382030"/>
                  </a:ext>
                </a:extLst>
              </a:tr>
              <a:tr h="247686">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一般</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36281728"/>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一般</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12534910"/>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一般</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3862398985"/>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402537899"/>
                  </a:ext>
                </a:extLst>
              </a:tr>
              <a:tr h="247686">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055098302"/>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非常好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232055847"/>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非常好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046026931"/>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非常好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245634677"/>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694111265"/>
                  </a:ext>
                </a:extLst>
              </a:tr>
              <a:tr h="247686">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4125226816"/>
                  </a:ext>
                </a:extLst>
              </a:tr>
              <a:tr h="247686">
                <a:tc>
                  <a:txBody>
                    <a:bodyPr/>
                    <a:lstStyle/>
                    <a:p>
                      <a:pPr algn="ctr">
                        <a:spcAft>
                          <a:spcPts val="1000"/>
                        </a:spcAft>
                      </a:pPr>
                      <a:r>
                        <a:rPr lang="ko-Kore-KR" sz="1400">
                          <a:effectLst/>
                          <a:latin typeface="KaiTi" panose="02010609060101010101" pitchFamily="49" charset="-122"/>
                        </a:rPr>
                        <a:t>是</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非常好</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批准</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3718612099"/>
                  </a:ext>
                </a:extLst>
              </a:tr>
              <a:tr h="247686">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否</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一般</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tc>
                  <a:txBody>
                    <a:bodyPr/>
                    <a:lstStyle/>
                    <a:p>
                      <a:pPr algn="ctr">
                        <a:spcAft>
                          <a:spcPts val="1000"/>
                        </a:spcAft>
                      </a:pPr>
                      <a:r>
                        <a:rPr lang="ko-Kore-KR" sz="1400">
                          <a:effectLst/>
                          <a:latin typeface="KaiTi" panose="02010609060101010101" pitchFamily="49" charset="-122"/>
                        </a:rPr>
                        <a:t>拒绝</a:t>
                      </a:r>
                      <a:endParaRPr lang="ko-Kore-KR" sz="1400">
                        <a:effectLst/>
                        <a:latin typeface="KaiTi" panose="02010609060101010101" pitchFamily="49" charset="-122"/>
                        <a:ea typeface="맑은 고딕" panose="020B0503020000020004" pitchFamily="34"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224763731"/>
                  </a:ext>
                </a:extLst>
              </a:tr>
            </a:tbl>
          </a:graphicData>
        </a:graphic>
      </p:graphicFrame>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26D8FFF-BEEA-EBAC-545D-81FD9890C4B8}"/>
                  </a:ext>
                </a:extLst>
              </p:cNvPr>
              <p:cNvSpPr txBox="1"/>
              <p:nvPr/>
            </p:nvSpPr>
            <p:spPr>
              <a:xfrm>
                <a:off x="3963896" y="4386044"/>
                <a:ext cx="230492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ko-Kore-KR" sz="1600" i="1">
                          <a:latin typeface="Cambria Math" panose="02040503050406030204" pitchFamily="18" charset="0"/>
                        </a:rPr>
                        <m:t>Gini</m:t>
                      </m:r>
                      <m:r>
                        <a:rPr kumimoji="1" lang="en-US" altLang="ko-Kore-KR" sz="1600" b="0" i="1">
                          <a:latin typeface="Cambria Math" panose="02040503050406030204" pitchFamily="18" charset="0"/>
                        </a:rPr>
                        <m:t>=1−</m:t>
                      </m:r>
                      <m:sSup>
                        <m:sSupPr>
                          <m:ctrlPr>
                            <a:rPr kumimoji="1" lang="en-US" altLang="ko-Kore-KR" sz="1600" b="0" i="1">
                              <a:latin typeface="Cambria Math" panose="02040503050406030204" pitchFamily="18" charset="0"/>
                            </a:rPr>
                          </m:ctrlPr>
                        </m:sSupPr>
                        <m:e>
                          <m:r>
                            <a:rPr kumimoji="1" lang="en-US" altLang="ko-Kore-KR" sz="1600" i="1">
                              <a:latin typeface="Cambria Math" panose="02040503050406030204" pitchFamily="18" charset="0"/>
                            </a:rPr>
                            <m:t>𝑝</m:t>
                          </m:r>
                          <m:d>
                            <m:dPr>
                              <m:ctrlPr>
                                <a:rPr kumimoji="1" lang="en-US" altLang="ko-Kore-KR" sz="1600" i="1">
                                  <a:latin typeface="Cambria Math" panose="02040503050406030204" pitchFamily="18" charset="0"/>
                                </a:rPr>
                              </m:ctrlPr>
                            </m:dPr>
                            <m:e>
                              <m:r>
                                <a:rPr kumimoji="1" lang="en-US" altLang="ko-Kore-KR" sz="1600" i="1">
                                  <a:latin typeface="Cambria Math" panose="02040503050406030204" pitchFamily="18" charset="0"/>
                                </a:rPr>
                                <m:t>𝐴</m:t>
                              </m:r>
                            </m:e>
                          </m:d>
                        </m:e>
                        <m:sup>
                          <m:r>
                            <a:rPr kumimoji="1" lang="en-US" altLang="ko-Kore-KR" sz="1600" b="0" i="1">
                              <a:latin typeface="Cambria Math" panose="02040503050406030204" pitchFamily="18" charset="0"/>
                            </a:rPr>
                            <m:t>2</m:t>
                          </m:r>
                        </m:sup>
                      </m:sSup>
                      <m:r>
                        <a:rPr kumimoji="1" lang="en-US" altLang="ko-Kore-KR" sz="1600" b="0" i="1">
                          <a:latin typeface="Cambria Math" panose="02040503050406030204" pitchFamily="18" charset="0"/>
                        </a:rPr>
                        <m:t>−</m:t>
                      </m:r>
                      <m:sSup>
                        <m:sSupPr>
                          <m:ctrlPr>
                            <a:rPr kumimoji="1" lang="en-US" altLang="ko-Kore-KR" sz="1600" b="0" i="1">
                              <a:latin typeface="Cambria Math" panose="02040503050406030204" pitchFamily="18" charset="0"/>
                            </a:rPr>
                          </m:ctrlPr>
                        </m:sSupPr>
                        <m:e>
                          <m:r>
                            <a:rPr kumimoji="1" lang="en-US" altLang="ko-Kore-KR" sz="1600" i="1">
                              <a:latin typeface="Cambria Math" panose="02040503050406030204" pitchFamily="18" charset="0"/>
                            </a:rPr>
                            <m:t>𝑝</m:t>
                          </m:r>
                          <m:r>
                            <a:rPr kumimoji="1" lang="en-US" altLang="ko-Kore-KR" sz="1600" i="1">
                              <a:latin typeface="Cambria Math" panose="02040503050406030204" pitchFamily="18" charset="0"/>
                            </a:rPr>
                            <m:t>(</m:t>
                          </m:r>
                          <m:r>
                            <a:rPr kumimoji="1" lang="en-US" altLang="ko-Kore-KR" sz="1600" i="1">
                              <a:latin typeface="Cambria Math" panose="02040503050406030204" pitchFamily="18" charset="0"/>
                            </a:rPr>
                            <m:t>𝑅</m:t>
                          </m:r>
                          <m:r>
                            <a:rPr kumimoji="1" lang="en-US" altLang="ko-Kore-KR" sz="1600" i="1">
                              <a:latin typeface="Cambria Math" panose="02040503050406030204" pitchFamily="18" charset="0"/>
                            </a:rPr>
                            <m:t>)</m:t>
                          </m:r>
                        </m:e>
                        <m:sup>
                          <m:r>
                            <a:rPr kumimoji="1" lang="en-US" altLang="ko-Kore-KR" sz="1600" b="0" i="1">
                              <a:latin typeface="Cambria Math" panose="02040503050406030204" pitchFamily="18" charset="0"/>
                            </a:rPr>
                            <m:t>2</m:t>
                          </m:r>
                        </m:sup>
                      </m:sSup>
                    </m:oMath>
                  </m:oMathPara>
                </a14:m>
                <a:endParaRPr kumimoji="1" lang="ko-Kore-KR" altLang="en-US" sz="1600"/>
              </a:p>
            </p:txBody>
          </p:sp>
        </mc:Choice>
        <mc:Fallback xmlns="">
          <p:sp>
            <p:nvSpPr>
              <p:cNvPr id="54" name="TextBox 53">
                <a:extLst>
                  <a:ext uri="{FF2B5EF4-FFF2-40B4-BE49-F238E27FC236}">
                    <a16:creationId xmlns:a16="http://schemas.microsoft.com/office/drawing/2014/main" id="{C26D8FFF-BEEA-EBAC-545D-81FD9890C4B8}"/>
                  </a:ext>
                </a:extLst>
              </p:cNvPr>
              <p:cNvSpPr txBox="1">
                <a:spLocks noRot="1" noChangeAspect="1" noMove="1" noResize="1" noEditPoints="1" noAdjustHandles="1" noChangeArrowheads="1" noChangeShapeType="1" noTextEdit="1"/>
              </p:cNvSpPr>
              <p:nvPr/>
            </p:nvSpPr>
            <p:spPr>
              <a:xfrm>
                <a:off x="3963896" y="4386044"/>
                <a:ext cx="2304926" cy="246221"/>
              </a:xfrm>
              <a:prstGeom prst="rect">
                <a:avLst/>
              </a:prstGeom>
              <a:blipFill>
                <a:blip r:embed="rId3"/>
                <a:stretch>
                  <a:fillRect l="-1648" t="-5000" r="-549" b="-35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3914C12-9DF4-4DE3-F1E5-F70216BF065E}"/>
                  </a:ext>
                </a:extLst>
              </p:cNvPr>
              <p:cNvSpPr txBox="1"/>
              <p:nvPr/>
            </p:nvSpPr>
            <p:spPr>
              <a:xfrm>
                <a:off x="1575372" y="5091578"/>
                <a:ext cx="6666614" cy="12302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ko-Kore-KR" sz="1600" i="1">
                          <a:latin typeface="Cambria Math" panose="02040503050406030204" pitchFamily="18" charset="0"/>
                        </a:rPr>
                        <m:t>Gini</m:t>
                      </m:r>
                      <m:r>
                        <a:rPr kumimoji="1" lang="en-US" altLang="ko-Kore-KR" sz="1600" b="0" i="1">
                          <a:latin typeface="Cambria Math" panose="02040503050406030204" pitchFamily="18" charset="0"/>
                        </a:rPr>
                        <m:t>=1−</m:t>
                      </m:r>
                      <m:sSup>
                        <m:sSupPr>
                          <m:ctrlPr>
                            <a:rPr kumimoji="1" lang="en-US" altLang="ko-Kore-KR" sz="1600" b="0" i="1">
                              <a:latin typeface="Cambria Math" panose="02040503050406030204" pitchFamily="18" charset="0"/>
                            </a:rPr>
                          </m:ctrlPr>
                        </m:sSupPr>
                        <m:e>
                          <m:d>
                            <m:dPr>
                              <m:ctrlPr>
                                <a:rPr kumimoji="1" lang="en-US" altLang="ko-Kore-KR" sz="1600" i="1">
                                  <a:latin typeface="Cambria Math" panose="02040503050406030204" pitchFamily="18" charset="0"/>
                                </a:rPr>
                              </m:ctrlPr>
                            </m:dPr>
                            <m:e>
                              <m:f>
                                <m:fPr>
                                  <m:ctrlPr>
                                    <a:rPr kumimoji="1" lang="en-US" altLang="ko-Kore-KR" sz="1600" i="1">
                                      <a:latin typeface="Cambria Math" panose="02040503050406030204" pitchFamily="18" charset="0"/>
                                    </a:rPr>
                                  </m:ctrlPr>
                                </m:fPr>
                                <m:num>
                                  <m:r>
                                    <a:rPr kumimoji="1" lang="en-US" altLang="ko-Kore-KR" sz="1600" b="0" i="1">
                                      <a:latin typeface="Cambria Math" panose="02040503050406030204" pitchFamily="18" charset="0"/>
                                    </a:rPr>
                                    <m:t>9</m:t>
                                  </m:r>
                                </m:num>
                                <m:den>
                                  <m:r>
                                    <a:rPr kumimoji="1" lang="en-US" altLang="ko-Kore-KR" sz="1600" b="0" i="1">
                                      <a:latin typeface="Cambria Math" panose="02040503050406030204" pitchFamily="18" charset="0"/>
                                    </a:rPr>
                                    <m:t>15</m:t>
                                  </m:r>
                                </m:den>
                              </m:f>
                            </m:e>
                          </m:d>
                        </m:e>
                        <m:sup>
                          <m:r>
                            <a:rPr kumimoji="1" lang="en-US" altLang="ko-Kore-KR" sz="1600" b="0" i="1">
                              <a:latin typeface="Cambria Math" panose="02040503050406030204" pitchFamily="18" charset="0"/>
                            </a:rPr>
                            <m:t>2</m:t>
                          </m:r>
                        </m:sup>
                      </m:sSup>
                      <m:r>
                        <a:rPr kumimoji="1" lang="en-US" altLang="ko-Kore-KR" sz="1600" b="0" i="1">
                          <a:latin typeface="Cambria Math" panose="02040503050406030204" pitchFamily="18" charset="0"/>
                        </a:rPr>
                        <m:t>−</m:t>
                      </m:r>
                      <m:sSup>
                        <m:sSupPr>
                          <m:ctrlPr>
                            <a:rPr kumimoji="1" lang="en-US" altLang="ko-Kore-KR" sz="1600" i="1">
                              <a:latin typeface="Cambria Math" panose="02040503050406030204" pitchFamily="18" charset="0"/>
                            </a:rPr>
                          </m:ctrlPr>
                        </m:sSupPr>
                        <m:e>
                          <m:sSup>
                            <m:sSupPr>
                              <m:ctrlPr>
                                <a:rPr kumimoji="1" lang="en-US" altLang="ko-Kore-KR" sz="1600" i="1">
                                  <a:latin typeface="Cambria Math" panose="02040503050406030204" pitchFamily="18" charset="0"/>
                                </a:rPr>
                              </m:ctrlPr>
                            </m:sSupPr>
                            <m:e>
                              <m:d>
                                <m:dPr>
                                  <m:ctrlPr>
                                    <a:rPr kumimoji="1" lang="en-US" altLang="ko-Kore-KR" sz="1600" i="1">
                                      <a:latin typeface="Cambria Math" panose="02040503050406030204" pitchFamily="18" charset="0"/>
                                    </a:rPr>
                                  </m:ctrlPr>
                                </m:dPr>
                                <m:e>
                                  <m:f>
                                    <m:fPr>
                                      <m:ctrlPr>
                                        <a:rPr kumimoji="1" lang="en-US" altLang="ko-Kore-KR" sz="1600" i="1">
                                          <a:latin typeface="Cambria Math" panose="02040503050406030204" pitchFamily="18" charset="0"/>
                                        </a:rPr>
                                      </m:ctrlPr>
                                    </m:fPr>
                                    <m:num>
                                      <m:r>
                                        <a:rPr kumimoji="1" lang="en-US" altLang="zh-CN" sz="1600" b="0" i="1">
                                          <a:latin typeface="Cambria Math" panose="02040503050406030204" pitchFamily="18" charset="0"/>
                                        </a:rPr>
                                        <m:t>6</m:t>
                                      </m:r>
                                    </m:num>
                                    <m:den>
                                      <m:r>
                                        <a:rPr kumimoji="1" lang="en-US" altLang="ko-Kore-KR" sz="1600" i="1">
                                          <a:latin typeface="Cambria Math" panose="02040503050406030204" pitchFamily="18" charset="0"/>
                                        </a:rPr>
                                        <m:t>15</m:t>
                                      </m:r>
                                    </m:den>
                                  </m:f>
                                </m:e>
                              </m:d>
                            </m:e>
                            <m:sup>
                              <m:r>
                                <a:rPr kumimoji="1" lang="en-US" altLang="ko-Kore-KR" sz="1600" i="1">
                                  <a:latin typeface="Cambria Math" panose="02040503050406030204" pitchFamily="18" charset="0"/>
                                </a:rPr>
                                <m:t>2</m:t>
                              </m:r>
                            </m:sup>
                          </m:sSup>
                          <m:r>
                            <a:rPr kumimoji="1" lang="en-US" altLang="ko-Kore-KR" sz="1600" b="0" i="1">
                              <a:latin typeface="Cambria Math" panose="02040503050406030204" pitchFamily="18" charset="0"/>
                            </a:rPr>
                            <m:t>=0.48</m:t>
                          </m:r>
                        </m:e>
                        <m:sup>
                          <m:r>
                            <a:rPr kumimoji="1" lang="en-US" altLang="ko-Kore-KR" sz="1600" i="1">
                              <a:latin typeface="Cambria Math" panose="02040503050406030204" pitchFamily="18" charset="0"/>
                            </a:rPr>
                            <m:t>2</m:t>
                          </m:r>
                        </m:sup>
                      </m:sSup>
                    </m:oMath>
                  </m:oMathPara>
                </a14:m>
                <a:endParaRPr kumimoji="1" lang="en-US" altLang="ko-Kore-KR" sz="1600">
                  <a:latin typeface="KaiTi" panose="02010609060101010101" pitchFamily="49" charset="-122"/>
                </a:endParaRPr>
              </a:p>
              <a:p>
                <a:endParaRPr kumimoji="1" lang="en-US" altLang="ko-Kore-KR" sz="1600">
                  <a:latin typeface="KaiTi" panose="02010609060101010101" pitchFamily="49" charset="-122"/>
                  <a:ea typeface="KaiTi" panose="02010609060101010101" pitchFamily="49" charset="-122"/>
                </a:endParaRPr>
              </a:p>
              <a:p>
                <a:pPr/>
                <a14:m>
                  <m:oMathPara xmlns:m="http://schemas.openxmlformats.org/officeDocument/2006/math">
                    <m:oMathParaPr>
                      <m:jc m:val="centerGroup"/>
                    </m:oMathParaPr>
                    <m:oMath xmlns:m="http://schemas.openxmlformats.org/officeDocument/2006/math">
                      <m:r>
                        <m:rPr>
                          <m:sty m:val="p"/>
                        </m:rPr>
                        <a:rPr kumimoji="1" lang="en-US" altLang="ko-Kore-KR" sz="1600" i="1">
                          <a:latin typeface="Cambria Math" panose="02040503050406030204" pitchFamily="18" charset="0"/>
                        </a:rPr>
                        <m:t>Gini</m:t>
                      </m:r>
                      <m:r>
                        <a:rPr kumimoji="1" lang="en-US" altLang="ko-Kore-KR" sz="1600" b="0" i="1">
                          <a:latin typeface="Cambria Math" panose="02040503050406030204" pitchFamily="18" charset="0"/>
                        </a:rPr>
                        <m:t>=</m:t>
                      </m:r>
                      <m:f>
                        <m:fPr>
                          <m:ctrlPr>
                            <a:rPr kumimoji="1" lang="en-US" altLang="ko-Kore-KR" sz="1600" b="0" i="1">
                              <a:latin typeface="Cambria Math" panose="02040503050406030204" pitchFamily="18" charset="0"/>
                            </a:rPr>
                          </m:ctrlPr>
                        </m:fPr>
                        <m:num>
                          <m:r>
                            <a:rPr kumimoji="1" lang="en-US" altLang="zh-CN" sz="1600" b="0" i="1">
                              <a:latin typeface="Cambria Math" panose="02040503050406030204" pitchFamily="18" charset="0"/>
                            </a:rPr>
                            <m:t>5</m:t>
                          </m:r>
                        </m:num>
                        <m:den>
                          <m:r>
                            <a:rPr kumimoji="1" lang="en-US" altLang="zh-CN" sz="1600" b="0" i="1">
                              <a:latin typeface="Cambria Math" panose="02040503050406030204" pitchFamily="18" charset="0"/>
                            </a:rPr>
                            <m:t>15</m:t>
                          </m:r>
                        </m:den>
                      </m:f>
                      <m:r>
                        <m:rPr>
                          <m:sty m:val="p"/>
                        </m:rPr>
                        <a:rPr kumimoji="1" lang="en-US" altLang="ko-Kore-KR" sz="1600" b="0" i="0">
                          <a:latin typeface="Cambria Math" panose="02040503050406030204" pitchFamily="18" charset="0"/>
                        </a:rPr>
                        <m:t>gini</m:t>
                      </m:r>
                      <m:d>
                        <m:dPr>
                          <m:ctrlPr>
                            <a:rPr kumimoji="1" lang="en-US" altLang="ko-Kore-KR" sz="1600" b="0" i="1">
                              <a:latin typeface="Cambria Math" panose="02040503050406030204" pitchFamily="18" charset="0"/>
                            </a:rPr>
                          </m:ctrlPr>
                        </m:dPr>
                        <m:e>
                          <m:r>
                            <m:rPr>
                              <m:sty m:val="p"/>
                            </m:rPr>
                            <a:rPr kumimoji="1" lang="en-US" altLang="ko-KR" sz="1600" i="1">
                              <a:latin typeface="Cambria Math" panose="02040503050406030204" pitchFamily="18" charset="0"/>
                            </a:rPr>
                            <m:t>work</m:t>
                          </m:r>
                          <m:r>
                            <a:rPr kumimoji="1" lang="en-US" altLang="ko-KR" sz="1600" b="0" i="1">
                              <a:latin typeface="Cambria Math" panose="02040503050406030204" pitchFamily="18" charset="0"/>
                            </a:rPr>
                            <m:t>,</m:t>
                          </m:r>
                          <m:r>
                            <a:rPr kumimoji="1" lang="en-US" altLang="ko-KR" sz="1600" b="0" i="1">
                              <a:latin typeface="Cambria Math" panose="02040503050406030204" pitchFamily="18" charset="0"/>
                            </a:rPr>
                            <m:t>𝑦𝑒𝑠</m:t>
                          </m:r>
                        </m:e>
                      </m:d>
                      <m:r>
                        <a:rPr kumimoji="1" lang="en-US" altLang="ko-KR" sz="1600" b="0" i="1">
                          <a:latin typeface="Cambria Math" panose="02040503050406030204" pitchFamily="18" charset="0"/>
                        </a:rPr>
                        <m:t>+</m:t>
                      </m:r>
                      <m:f>
                        <m:fPr>
                          <m:ctrlPr>
                            <a:rPr kumimoji="1" lang="en-US" altLang="ko-KR" sz="1600" b="0" i="1">
                              <a:latin typeface="Cambria Math" panose="02040503050406030204" pitchFamily="18" charset="0"/>
                            </a:rPr>
                          </m:ctrlPr>
                        </m:fPr>
                        <m:num>
                          <m:r>
                            <a:rPr kumimoji="1" lang="en-US" altLang="ko-KR" sz="1600" b="0" i="1">
                              <a:latin typeface="Cambria Math" panose="02040503050406030204" pitchFamily="18" charset="0"/>
                            </a:rPr>
                            <m:t>10</m:t>
                          </m:r>
                        </m:num>
                        <m:den>
                          <m:r>
                            <a:rPr kumimoji="1" lang="en-US" altLang="ko-KR" sz="1600" b="0" i="1">
                              <a:latin typeface="Cambria Math" panose="02040503050406030204" pitchFamily="18" charset="0"/>
                            </a:rPr>
                            <m:t>15</m:t>
                          </m:r>
                        </m:den>
                      </m:f>
                      <m:r>
                        <m:rPr>
                          <m:sty m:val="p"/>
                        </m:rPr>
                        <a:rPr kumimoji="1" lang="en-US" altLang="ko-KR" sz="1600" b="0" i="0">
                          <a:latin typeface="Cambria Math" panose="02040503050406030204" pitchFamily="18" charset="0"/>
                        </a:rPr>
                        <m:t>geni</m:t>
                      </m:r>
                      <m:d>
                        <m:dPr>
                          <m:ctrlPr>
                            <a:rPr kumimoji="1" lang="en-US" altLang="ko-KR" sz="1600" b="0" i="1">
                              <a:latin typeface="Cambria Math" panose="02040503050406030204" pitchFamily="18" charset="0"/>
                            </a:rPr>
                          </m:ctrlPr>
                        </m:dPr>
                        <m:e>
                          <m:r>
                            <m:rPr>
                              <m:sty m:val="p"/>
                            </m:rPr>
                            <a:rPr kumimoji="1" lang="en-US" altLang="ko-KR" sz="1600" b="0" i="0">
                              <a:latin typeface="Cambria Math" panose="02040503050406030204" pitchFamily="18" charset="0"/>
                            </a:rPr>
                            <m:t>work</m:t>
                          </m:r>
                          <m:r>
                            <a:rPr kumimoji="1" lang="en-US" altLang="ko-KR" sz="1600" b="0" i="0">
                              <a:latin typeface="Cambria Math" panose="02040503050406030204" pitchFamily="18" charset="0"/>
                            </a:rPr>
                            <m:t>,</m:t>
                          </m:r>
                          <m:r>
                            <m:rPr>
                              <m:sty m:val="p"/>
                            </m:rPr>
                            <a:rPr kumimoji="1" lang="en-US" altLang="ko-KR" sz="1600" b="0" i="0">
                              <a:latin typeface="Cambria Math" panose="02040503050406030204" pitchFamily="18" charset="0"/>
                            </a:rPr>
                            <m:t>no</m:t>
                          </m:r>
                        </m:e>
                      </m:d>
                      <m:r>
                        <a:rPr kumimoji="1" lang="en-US" altLang="ko-KR" sz="1600" b="0" i="0">
                          <a:latin typeface="Cambria Math" panose="02040503050406030204" pitchFamily="18" charset="0"/>
                        </a:rPr>
                        <m:t>=</m:t>
                      </m:r>
                      <m:f>
                        <m:fPr>
                          <m:ctrlPr>
                            <a:rPr kumimoji="1" lang="en-US" altLang="ko-Kore-KR" sz="1600" i="1">
                              <a:latin typeface="Cambria Math" panose="02040503050406030204" pitchFamily="18" charset="0"/>
                            </a:rPr>
                          </m:ctrlPr>
                        </m:fPr>
                        <m:num>
                          <m:r>
                            <a:rPr kumimoji="1" lang="en-US" altLang="zh-CN" sz="1600" i="1">
                              <a:latin typeface="Cambria Math" panose="02040503050406030204" pitchFamily="18" charset="0"/>
                            </a:rPr>
                            <m:t>5</m:t>
                          </m:r>
                        </m:num>
                        <m:den>
                          <m:r>
                            <a:rPr kumimoji="1" lang="en-US" altLang="zh-CN" sz="1600" i="1">
                              <a:latin typeface="Cambria Math" panose="02040503050406030204" pitchFamily="18" charset="0"/>
                            </a:rPr>
                            <m:t>15</m:t>
                          </m:r>
                        </m:den>
                      </m:f>
                      <m:r>
                        <a:rPr kumimoji="1" lang="en-US" altLang="zh-CN" sz="1600" b="0" i="0">
                          <a:latin typeface="Cambria Math" panose="02040503050406030204" pitchFamily="18" charset="0"/>
                        </a:rPr>
                        <m:t> </m:t>
                      </m:r>
                      <m:r>
                        <m:rPr>
                          <m:sty m:val="p"/>
                        </m:rPr>
                        <a:rPr kumimoji="1" lang="en-US" altLang="zh-CN" sz="1600" b="0" i="0">
                          <a:latin typeface="Cambria Math" panose="02040503050406030204" pitchFamily="18" charset="0"/>
                        </a:rPr>
                        <m:t>x</m:t>
                      </m:r>
                      <m:r>
                        <a:rPr kumimoji="1" lang="en-US" altLang="zh-CN" sz="1600" b="0" i="0">
                          <a:latin typeface="Cambria Math" panose="02040503050406030204" pitchFamily="18" charset="0"/>
                        </a:rPr>
                        <m:t> 0+</m:t>
                      </m:r>
                      <m:f>
                        <m:fPr>
                          <m:ctrlPr>
                            <a:rPr kumimoji="1" lang="en-US" altLang="ko-KR" sz="1600" i="1">
                              <a:latin typeface="Cambria Math" panose="02040503050406030204" pitchFamily="18" charset="0"/>
                            </a:rPr>
                          </m:ctrlPr>
                        </m:fPr>
                        <m:num>
                          <m:r>
                            <a:rPr kumimoji="1" lang="en-US" altLang="ko-KR" sz="1600" i="1">
                              <a:latin typeface="Cambria Math" panose="02040503050406030204" pitchFamily="18" charset="0"/>
                            </a:rPr>
                            <m:t>10</m:t>
                          </m:r>
                        </m:num>
                        <m:den>
                          <m:r>
                            <a:rPr kumimoji="1" lang="en-US" altLang="ko-KR" sz="1600" i="1">
                              <a:latin typeface="Cambria Math" panose="02040503050406030204" pitchFamily="18" charset="0"/>
                            </a:rPr>
                            <m:t>15</m:t>
                          </m:r>
                        </m:den>
                      </m:f>
                      <m:r>
                        <a:rPr kumimoji="1" lang="zh-CN" altLang="en-US" sz="1600" b="0" i="1">
                          <a:latin typeface="Cambria Math" panose="02040503050406030204" pitchFamily="18" charset="0"/>
                        </a:rPr>
                        <m:t> </m:t>
                      </m:r>
                      <m:r>
                        <m:rPr>
                          <m:sty m:val="p"/>
                        </m:rPr>
                        <a:rPr kumimoji="1" lang="en-US" altLang="zh-CN" sz="1600" i="1">
                          <a:latin typeface="Cambria Math" panose="02040503050406030204" pitchFamily="18" charset="0"/>
                        </a:rPr>
                        <m:t>x</m:t>
                      </m:r>
                      <m:r>
                        <a:rPr kumimoji="1" lang="en-US" altLang="zh-CN" sz="1600" b="0" i="1">
                          <a:latin typeface="Cambria Math" panose="02040503050406030204" pitchFamily="18" charset="0"/>
                        </a:rPr>
                        <m:t> 0.48=0.32</m:t>
                      </m:r>
                    </m:oMath>
                  </m:oMathPara>
                </a14:m>
                <a:endParaRPr kumimoji="1" lang="en-US" altLang="ko-Kore-KR" sz="1600">
                  <a:latin typeface="KaiTi" panose="02010609060101010101" pitchFamily="49" charset="-122"/>
                  <a:ea typeface="KaiTi" panose="02010609060101010101" pitchFamily="49" charset="-122"/>
                </a:endParaRPr>
              </a:p>
            </p:txBody>
          </p:sp>
        </mc:Choice>
        <mc:Fallback xmlns="">
          <p:sp>
            <p:nvSpPr>
              <p:cNvPr id="55" name="TextBox 54">
                <a:extLst>
                  <a:ext uri="{FF2B5EF4-FFF2-40B4-BE49-F238E27FC236}">
                    <a16:creationId xmlns:a16="http://schemas.microsoft.com/office/drawing/2014/main" id="{53914C12-9DF4-4DE3-F1E5-F70216BF065E}"/>
                  </a:ext>
                </a:extLst>
              </p:cNvPr>
              <p:cNvSpPr txBox="1">
                <a:spLocks noRot="1" noChangeAspect="1" noMove="1" noResize="1" noEditPoints="1" noAdjustHandles="1" noChangeArrowheads="1" noChangeShapeType="1" noTextEdit="1"/>
              </p:cNvSpPr>
              <p:nvPr/>
            </p:nvSpPr>
            <p:spPr>
              <a:xfrm>
                <a:off x="1575372" y="5091578"/>
                <a:ext cx="6666614" cy="1230273"/>
              </a:xfrm>
              <a:prstGeom prst="rect">
                <a:avLst/>
              </a:prstGeom>
              <a:blipFill>
                <a:blip r:embed="rId4"/>
                <a:stretch>
                  <a:fillRect r="-190" b="-510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57" name="文本框 25">
                <a:extLst>
                  <a:ext uri="{FF2B5EF4-FFF2-40B4-BE49-F238E27FC236}">
                    <a16:creationId xmlns:a16="http://schemas.microsoft.com/office/drawing/2014/main" id="{4146CD67-396D-1687-6215-94D4E02DF1D8}"/>
                  </a:ext>
                </a:extLst>
              </p:cNvPr>
              <p:cNvSpPr txBox="1"/>
              <p:nvPr/>
            </p:nvSpPr>
            <p:spPr>
              <a:xfrm>
                <a:off x="2453408" y="1680480"/>
                <a:ext cx="4476418" cy="865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𝐺𝑖𝑛𝑖</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𝑝</m:t>
                          </m:r>
                        </m:e>
                      </m:d>
                      <m:r>
                        <a:rPr lang="en-US" altLang="zh-CN" sz="2000" b="0" i="1" smtClean="0">
                          <a:latin typeface="Cambria Math" panose="02040503050406030204" pitchFamily="18" charset="0"/>
                          <a:ea typeface="Microsoft YaHei" charset="0"/>
                        </a:rPr>
                        <m:t>=1−</m:t>
                      </m:r>
                      <m:nary>
                        <m:naryPr>
                          <m:chr m:val="∑"/>
                          <m:ctrlPr>
                            <a:rPr lang="en-US" altLang="zh-CN" sz="2000" i="1">
                              <a:latin typeface="Cambria Math" panose="02040503050406030204" pitchFamily="18" charset="0"/>
                              <a:ea typeface="Microsoft YaHei" charset="0"/>
                            </a:rPr>
                          </m:ctrlPr>
                        </m:naryPr>
                        <m:sub>
                          <m:r>
                            <m:rPr>
                              <m:brk m:alnAt="23"/>
                            </m:rPr>
                            <a:rPr lang="en-US" altLang="zh-CN" sz="2000" i="1">
                              <a:latin typeface="Cambria Math" panose="02040503050406030204" pitchFamily="18" charset="0"/>
                              <a:ea typeface="Microsoft YaHei" charset="0"/>
                            </a:rPr>
                            <m:t>𝑘</m:t>
                          </m:r>
                          <m:r>
                            <a:rPr lang="en-US" altLang="zh-CN" sz="2000" i="1">
                              <a:latin typeface="Cambria Math" panose="02040503050406030204" pitchFamily="18" charset="0"/>
                              <a:ea typeface="Microsoft YaHei" charset="0"/>
                            </a:rPr>
                            <m:t>=1</m:t>
                          </m:r>
                        </m:sub>
                        <m:sup>
                          <m:r>
                            <a:rPr lang="en-US" altLang="zh-CN" sz="2000" i="1">
                              <a:latin typeface="Cambria Math" panose="02040503050406030204" pitchFamily="18" charset="0"/>
                              <a:ea typeface="Microsoft YaHei" charset="0"/>
                            </a:rPr>
                            <m:t>𝐾</m:t>
                          </m:r>
                        </m:sup>
                        <m:e>
                          <m:sSup>
                            <m:sSupPr>
                              <m:ctrlPr>
                                <a:rPr lang="en-US" altLang="zh-CN" sz="2000" i="1">
                                  <a:latin typeface="Cambria Math" panose="02040503050406030204" pitchFamily="18" charset="0"/>
                                  <a:ea typeface="Microsoft YaHei" charset="0"/>
                                </a:rPr>
                              </m:ctrlPr>
                            </m:sSupPr>
                            <m:e>
                              <m:sSub>
                                <m:sSubPr>
                                  <m:ctrlPr>
                                    <a:rPr lang="en-US" altLang="zh-CN" sz="2000" i="1">
                                      <a:latin typeface="Cambria Math" panose="02040503050406030204" pitchFamily="18" charset="0"/>
                                      <a:ea typeface="Microsoft YaHei" charset="0"/>
                                    </a:rPr>
                                  </m:ctrlPr>
                                </m:sSubPr>
                                <m:e>
                                  <m:r>
                                    <a:rPr lang="en-US" altLang="zh-CN" sz="2000" b="0" i="1">
                                      <a:latin typeface="Cambria Math" panose="02040503050406030204" pitchFamily="18" charset="0"/>
                                      <a:ea typeface="Microsoft YaHei" charset="0"/>
                                    </a:rPr>
                                    <m:t>𝑝</m:t>
                                  </m:r>
                                </m:e>
                                <m:sub>
                                  <m:r>
                                    <a:rPr lang="en-US" altLang="zh-CN" sz="2000" b="0" i="1">
                                      <a:latin typeface="Cambria Math" panose="02040503050406030204" pitchFamily="18" charset="0"/>
                                      <a:ea typeface="Microsoft YaHei" charset="0"/>
                                    </a:rPr>
                                    <m:t>𝑘</m:t>
                                  </m:r>
                                </m:sub>
                              </m:sSub>
                            </m:e>
                            <m:sup>
                              <m:r>
                                <a:rPr lang="en-US" altLang="zh-CN" sz="2000" b="0" i="1">
                                  <a:latin typeface="Cambria Math" panose="02040503050406030204" pitchFamily="18" charset="0"/>
                                  <a:ea typeface="Microsoft YaHei" charset="0"/>
                                </a:rPr>
                                <m:t>2</m:t>
                              </m:r>
                            </m:sup>
                          </m:sSup>
                        </m:e>
                      </m:nary>
                      <m:r>
                        <a:rPr lang="en-US" altLang="zh-CN" sz="2000" b="0" i="1">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𝑘</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𝐾</m:t>
                          </m:r>
                        </m:sup>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𝑝</m:t>
                              </m:r>
                            </m:e>
                            <m:sub>
                              <m:r>
                                <a:rPr lang="en-US" altLang="zh-CN" sz="2000" b="0" i="1" smtClean="0">
                                  <a:latin typeface="Cambria Math" panose="02040503050406030204" pitchFamily="18" charset="0"/>
                                  <a:ea typeface="Microsoft YaHei" charset="0"/>
                                </a:rPr>
                                <m:t>𝑘</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𝑝</m:t>
                                  </m:r>
                                </m:e>
                                <m:sub>
                                  <m:r>
                                    <a:rPr lang="en-US" altLang="zh-CN" sz="2000" i="1">
                                      <a:latin typeface="Cambria Math" panose="02040503050406030204" pitchFamily="18" charset="0"/>
                                      <a:ea typeface="Microsoft YaHei" charset="0"/>
                                    </a:rPr>
                                    <m:t>𝑘</m:t>
                                  </m:r>
                                </m:sub>
                              </m:sSub>
                            </m:e>
                          </m:d>
                        </m:e>
                      </m:nary>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57" name="文本框 25">
                <a:extLst>
                  <a:ext uri="{FF2B5EF4-FFF2-40B4-BE49-F238E27FC236}">
                    <a16:creationId xmlns:a16="http://schemas.microsoft.com/office/drawing/2014/main" id="{4146CD67-396D-1687-6215-94D4E02DF1D8}"/>
                  </a:ext>
                </a:extLst>
              </p:cNvPr>
              <p:cNvSpPr txBox="1">
                <a:spLocks noRot="1" noChangeAspect="1" noMove="1" noResize="1" noEditPoints="1" noAdjustHandles="1" noChangeArrowheads="1" noChangeShapeType="1" noTextEdit="1"/>
              </p:cNvSpPr>
              <p:nvPr/>
            </p:nvSpPr>
            <p:spPr>
              <a:xfrm>
                <a:off x="2453408" y="1680480"/>
                <a:ext cx="4476418" cy="865493"/>
              </a:xfrm>
              <a:prstGeom prst="rect">
                <a:avLst/>
              </a:prstGeom>
              <a:blipFill>
                <a:blip r:embed="rId5"/>
                <a:stretch>
                  <a:fillRect t="-113043" b="-173913"/>
                </a:stretch>
              </a:blipFill>
            </p:spPr>
            <p:txBody>
              <a:bodyPr/>
              <a:lstStyle/>
              <a:p>
                <a:r>
                  <a:rPr lang="ko-Kore-KR" altLang="en-US">
                    <a:noFill/>
                  </a:rPr>
                  <a:t> </a:t>
                </a:r>
              </a:p>
            </p:txBody>
          </p:sp>
        </mc:Fallback>
      </mc:AlternateContent>
      <p:graphicFrame>
        <p:nvGraphicFramePr>
          <p:cNvPr id="58" name="Table 43">
            <a:extLst>
              <a:ext uri="{FF2B5EF4-FFF2-40B4-BE49-F238E27FC236}">
                <a16:creationId xmlns:a16="http://schemas.microsoft.com/office/drawing/2014/main" id="{A710B662-766D-3151-6F82-5899E4C8C8CF}"/>
              </a:ext>
            </a:extLst>
          </p:cNvPr>
          <p:cNvGraphicFramePr>
            <a:graphicFrameLocks noGrp="1"/>
          </p:cNvGraphicFramePr>
          <p:nvPr>
            <p:extLst>
              <p:ext uri="{D42A27DB-BD31-4B8C-83A1-F6EECF244321}">
                <p14:modId xmlns:p14="http://schemas.microsoft.com/office/powerpoint/2010/main" val="1693841785"/>
              </p:ext>
            </p:extLst>
          </p:nvPr>
        </p:nvGraphicFramePr>
        <p:xfrm>
          <a:off x="4908679" y="2886215"/>
          <a:ext cx="3429272" cy="854760"/>
        </p:xfrm>
        <a:graphic>
          <a:graphicData uri="http://schemas.openxmlformats.org/drawingml/2006/table">
            <a:tbl>
              <a:tblPr firstRow="1" bandRow="1">
                <a:tableStyleId>{2D5ABB26-0587-4C30-8999-92F81FD0307C}</a:tableStyleId>
              </a:tblPr>
              <a:tblGrid>
                <a:gridCol w="782357">
                  <a:extLst>
                    <a:ext uri="{9D8B030D-6E8A-4147-A177-3AD203B41FA5}">
                      <a16:colId xmlns:a16="http://schemas.microsoft.com/office/drawing/2014/main" val="3189156840"/>
                    </a:ext>
                  </a:extLst>
                </a:gridCol>
                <a:gridCol w="843446">
                  <a:extLst>
                    <a:ext uri="{9D8B030D-6E8A-4147-A177-3AD203B41FA5}">
                      <a16:colId xmlns:a16="http://schemas.microsoft.com/office/drawing/2014/main" val="713696415"/>
                    </a:ext>
                  </a:extLst>
                </a:gridCol>
                <a:gridCol w="754128">
                  <a:extLst>
                    <a:ext uri="{9D8B030D-6E8A-4147-A177-3AD203B41FA5}">
                      <a16:colId xmlns:a16="http://schemas.microsoft.com/office/drawing/2014/main" val="265858083"/>
                    </a:ext>
                  </a:extLst>
                </a:gridCol>
                <a:gridCol w="1049341">
                  <a:extLst>
                    <a:ext uri="{9D8B030D-6E8A-4147-A177-3AD203B41FA5}">
                      <a16:colId xmlns:a16="http://schemas.microsoft.com/office/drawing/2014/main" val="1676482580"/>
                    </a:ext>
                  </a:extLst>
                </a:gridCol>
              </a:tblGrid>
              <a:tr h="318622">
                <a:tc>
                  <a:txBody>
                    <a:bodyPr/>
                    <a:lstStyle/>
                    <a:p>
                      <a:pPr algn="ctr"/>
                      <a:r>
                        <a:rPr lang="en-US" sz="1600" b="1" dirty="0">
                          <a:solidFill>
                            <a:schemeClr val="bg1"/>
                          </a:solidFill>
                          <a:latin typeface="KaiTi" panose="02010609060101010101" pitchFamily="49" charset="-122"/>
                          <a:ea typeface="KaiTi" panose="02010609060101010101" pitchFamily="49" charset="-122"/>
                          <a:cs typeface="Times New Roman" panose="02020603050405020304" pitchFamily="18" charset="0"/>
                        </a:rPr>
                        <a:t>工作</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KaiTi" panose="02010609060101010101" pitchFamily="49" charset="-122"/>
                          <a:ea typeface="KaiTi" panose="02010609060101010101" pitchFamily="49" charset="-122"/>
                          <a:cs typeface="Times New Roman" panose="02020603050405020304" pitchFamily="18" charset="0"/>
                        </a:rPr>
                        <a:t>批准</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KaiTi" panose="02010609060101010101" pitchFamily="49" charset="-122"/>
                          <a:ea typeface="KaiTi" panose="02010609060101010101" pitchFamily="49" charset="-122"/>
                          <a:cs typeface="Times New Roman" panose="02020603050405020304" pitchFamily="18" charset="0"/>
                        </a:rPr>
                        <a:t>拒绝</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600" b="1" dirty="0">
                          <a:solidFill>
                            <a:schemeClr val="bg1"/>
                          </a:solidFill>
                          <a:latin typeface="KaiTi" panose="02010609060101010101" pitchFamily="49" charset="-122"/>
                          <a:ea typeface="KaiTi" panose="02010609060101010101" pitchFamily="49" charset="-122"/>
                          <a:cs typeface="Times New Roman" panose="02020603050405020304" pitchFamily="18" charset="0"/>
                        </a:rPr>
                        <a:t>I(A,</a:t>
                      </a:r>
                      <a:r>
                        <a:rPr lang="en-US" sz="1600" b="1" baseline="0" dirty="0">
                          <a:solidFill>
                            <a:schemeClr val="bg1"/>
                          </a:solidFill>
                          <a:latin typeface="KaiTi" panose="02010609060101010101" pitchFamily="49" charset="-122"/>
                          <a:ea typeface="KaiTi" panose="02010609060101010101" pitchFamily="49" charset="-122"/>
                          <a:cs typeface="Times New Roman" panose="02020603050405020304" pitchFamily="18" charset="0"/>
                        </a:rPr>
                        <a:t>R)</a:t>
                      </a:r>
                      <a:endParaRPr lang="en-US" sz="1600" b="1" dirty="0">
                        <a:solidFill>
                          <a:schemeClr val="bg1"/>
                        </a:solidFill>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905">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有</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altLang="zh-CN" sz="1600" dirty="0">
                          <a:latin typeface="KaiTi" panose="02010609060101010101" pitchFamily="49" charset="-122"/>
                          <a:ea typeface="KaiTi" panose="02010609060101010101" pitchFamily="49" charset="-122"/>
                          <a:cs typeface="Times New Roman" panose="02020603050405020304" pitchFamily="18" charset="0"/>
                        </a:rPr>
                        <a:t>5</a:t>
                      </a:r>
                      <a:endParaRPr lang="en-US" sz="1600" dirty="0">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altLang="zh-CN" sz="1600" dirty="0">
                          <a:latin typeface="KaiTi" panose="02010609060101010101" pitchFamily="49" charset="-122"/>
                          <a:ea typeface="KaiTi" panose="02010609060101010101" pitchFamily="49" charset="-122"/>
                          <a:cs typeface="Times New Roman" panose="02020603050405020304" pitchFamily="18" charset="0"/>
                        </a:rPr>
                        <a:t>0</a:t>
                      </a:r>
                      <a:endParaRPr lang="en-US" sz="1600" dirty="0">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0</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80233">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无</a:t>
                      </a:r>
                    </a:p>
                  </a:txBody>
                  <a:tcPr marL="0" marR="0" marT="0" marB="0" anchor="ctr">
                    <a:solidFill>
                      <a:schemeClr val="tx2">
                        <a:lumMod val="20000"/>
                        <a:lumOff val="80000"/>
                      </a:schemeClr>
                    </a:solidFill>
                  </a:tcPr>
                </a:tc>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4</a:t>
                      </a:r>
                    </a:p>
                  </a:txBody>
                  <a:tcPr marL="0" marR="0" marT="0" marB="0" anchor="ctr">
                    <a:solidFill>
                      <a:schemeClr val="tx2">
                        <a:lumMod val="20000"/>
                        <a:lumOff val="80000"/>
                      </a:schemeClr>
                    </a:solidFill>
                  </a:tcPr>
                </a:tc>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6</a:t>
                      </a:r>
                    </a:p>
                  </a:txBody>
                  <a:tcPr marL="0" marR="0" marT="0" marB="0" anchor="ctr">
                    <a:solidFill>
                      <a:schemeClr val="tx2">
                        <a:lumMod val="20000"/>
                        <a:lumOff val="80000"/>
                      </a:schemeClr>
                    </a:solidFill>
                  </a:tcPr>
                </a:tc>
                <a:tc>
                  <a:txBody>
                    <a:bodyPr/>
                    <a:lstStyle/>
                    <a:p>
                      <a:pPr algn="ctr"/>
                      <a:r>
                        <a:rPr lang="en-US" sz="1600" dirty="0">
                          <a:latin typeface="KaiTi" panose="02010609060101010101" pitchFamily="49" charset="-122"/>
                          <a:ea typeface="KaiTi" panose="02010609060101010101" pitchFamily="49" charset="-122"/>
                          <a:cs typeface="Times New Roman" panose="02020603050405020304" pitchFamily="18" charset="0"/>
                        </a:rPr>
                        <a:t>0.48</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bl>
          </a:graphicData>
        </a:graphic>
      </p:graphicFrame>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E221B90-B66F-4533-182F-EF317C3AEB1E}"/>
                  </a:ext>
                </a:extLst>
              </p:cNvPr>
              <p:cNvSpPr txBox="1"/>
              <p:nvPr/>
            </p:nvSpPr>
            <p:spPr>
              <a:xfrm>
                <a:off x="8895551" y="5848107"/>
                <a:ext cx="2054601" cy="7605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ore-KR" sz="1600" i="1">
                              <a:latin typeface="Cambria Math" panose="02040503050406030204" pitchFamily="18" charset="0"/>
                            </a:rPr>
                          </m:ctrlPr>
                        </m:sSubPr>
                        <m:e>
                          <m:r>
                            <a:rPr kumimoji="1" lang="en-US" altLang="ko-Kore-KR" sz="1600" b="0" i="1">
                              <a:latin typeface="Cambria Math" panose="02040503050406030204" pitchFamily="18" charset="0"/>
                            </a:rPr>
                            <m:t>𝐺𝑖𝑛𝑖</m:t>
                          </m:r>
                        </m:e>
                        <m:sub>
                          <m:r>
                            <m:rPr>
                              <m:sty m:val="p"/>
                            </m:rPr>
                            <a:rPr kumimoji="1" lang="en-US" altLang="ko-Kore-KR" sz="1600" i="1">
                              <a:latin typeface="Cambria Math" panose="02040503050406030204" pitchFamily="18" charset="0"/>
                            </a:rPr>
                            <m:t>apartment</m:t>
                          </m:r>
                        </m:sub>
                      </m:sSub>
                      <m:r>
                        <a:rPr kumimoji="1" lang="en-US" altLang="ko-Kore-KR" sz="1600" b="0" i="1">
                          <a:latin typeface="Cambria Math" panose="02040503050406030204" pitchFamily="18" charset="0"/>
                        </a:rPr>
                        <m:t>=0.27</m:t>
                      </m:r>
                    </m:oMath>
                  </m:oMathPara>
                </a14:m>
                <a:endParaRPr kumimoji="1" lang="en-US" altLang="ko-Kore-KR" sz="1600" b="0"/>
              </a:p>
              <a:p>
                <a:endParaRPr kumimoji="1" lang="en-US" altLang="ko-Kore-KR" sz="1600" b="0"/>
              </a:p>
              <a:p>
                <a:pPr/>
                <a14:m>
                  <m:oMathPara xmlns:m="http://schemas.openxmlformats.org/officeDocument/2006/math">
                    <m:oMathParaPr>
                      <m:jc m:val="centerGroup"/>
                    </m:oMathParaPr>
                    <m:oMath xmlns:m="http://schemas.openxmlformats.org/officeDocument/2006/math">
                      <m:sSub>
                        <m:sSubPr>
                          <m:ctrlPr>
                            <a:rPr kumimoji="1" lang="en-US" altLang="ko-Kore-KR" sz="1600" i="1">
                              <a:latin typeface="Cambria Math" panose="02040503050406030204" pitchFamily="18" charset="0"/>
                            </a:rPr>
                          </m:ctrlPr>
                        </m:sSubPr>
                        <m:e>
                          <m:r>
                            <a:rPr kumimoji="1" lang="en-US" altLang="ko-Kore-KR" sz="1600" b="0" i="1">
                              <a:latin typeface="Cambria Math" panose="02040503050406030204" pitchFamily="18" charset="0"/>
                            </a:rPr>
                            <m:t>𝐺𝑖𝑛𝑖</m:t>
                          </m:r>
                        </m:e>
                        <m:sub>
                          <m:r>
                            <a:rPr kumimoji="1" lang="en-US" altLang="ko-Kore-KR" sz="1600" b="0" i="1">
                              <a:latin typeface="Cambria Math" panose="02040503050406030204" pitchFamily="18" charset="0"/>
                            </a:rPr>
                            <m:t>𝑐𝑟𝑒𝑑𝑖𝑐𝑐𝑡</m:t>
                          </m:r>
                        </m:sub>
                      </m:sSub>
                      <m:r>
                        <a:rPr kumimoji="1" lang="en-US" altLang="ko-Kore-KR" sz="1600" b="0" i="1">
                          <a:latin typeface="Cambria Math" panose="02040503050406030204" pitchFamily="18" charset="0"/>
                        </a:rPr>
                        <m:t>=0.28</m:t>
                      </m:r>
                    </m:oMath>
                  </m:oMathPara>
                </a14:m>
                <a:endParaRPr kumimoji="1" lang="en-US" altLang="ko-Kore-KR" sz="1600" b="0"/>
              </a:p>
            </p:txBody>
          </p:sp>
        </mc:Choice>
        <mc:Fallback xmlns="">
          <p:sp>
            <p:nvSpPr>
              <p:cNvPr id="59" name="TextBox 58">
                <a:extLst>
                  <a:ext uri="{FF2B5EF4-FFF2-40B4-BE49-F238E27FC236}">
                    <a16:creationId xmlns:a16="http://schemas.microsoft.com/office/drawing/2014/main" id="{6E221B90-B66F-4533-182F-EF317C3AEB1E}"/>
                  </a:ext>
                </a:extLst>
              </p:cNvPr>
              <p:cNvSpPr txBox="1">
                <a:spLocks noRot="1" noChangeAspect="1" noMove="1" noResize="1" noEditPoints="1" noAdjustHandles="1" noChangeArrowheads="1" noChangeShapeType="1" noTextEdit="1"/>
              </p:cNvSpPr>
              <p:nvPr/>
            </p:nvSpPr>
            <p:spPr>
              <a:xfrm>
                <a:off x="8895551" y="5848107"/>
                <a:ext cx="2054601" cy="760593"/>
              </a:xfrm>
              <a:prstGeom prst="rect">
                <a:avLst/>
              </a:prstGeom>
              <a:blipFill>
                <a:blip r:embed="rId6"/>
                <a:stretch>
                  <a:fillRect b="-4918"/>
                </a:stretch>
              </a:blipFill>
            </p:spPr>
            <p:txBody>
              <a:bodyPr/>
              <a:lstStyle/>
              <a:p>
                <a:r>
                  <a:rPr lang="ko-Kore-KR" altLang="en-US">
                    <a:noFill/>
                  </a:rPr>
                  <a:t> </a:t>
                </a:r>
              </a:p>
            </p:txBody>
          </p:sp>
        </mc:Fallback>
      </mc:AlternateContent>
      <p:pic>
        <p:nvPicPr>
          <p:cNvPr id="63" name="그림 62" descr="텍스트, 도표, 라인, 폰트이(가) 표시된 사진&#10;&#10;자동 생성된 설명">
            <a:extLst>
              <a:ext uri="{FF2B5EF4-FFF2-40B4-BE49-F238E27FC236}">
                <a16:creationId xmlns:a16="http://schemas.microsoft.com/office/drawing/2014/main" id="{F1BBF678-33D9-9741-C21E-2751C8EE5971}"/>
              </a:ext>
            </a:extLst>
          </p:cNvPr>
          <p:cNvPicPr>
            <a:picLocks noChangeAspect="1"/>
          </p:cNvPicPr>
          <p:nvPr/>
        </p:nvPicPr>
        <p:blipFill>
          <a:blip r:embed="rId7"/>
          <a:stretch>
            <a:fillRect/>
          </a:stretch>
        </p:blipFill>
        <p:spPr>
          <a:xfrm>
            <a:off x="493046" y="3739097"/>
            <a:ext cx="2109010" cy="2109010"/>
          </a:xfrm>
          <a:prstGeom prst="rect">
            <a:avLst/>
          </a:prstGeom>
        </p:spPr>
      </p:pic>
    </p:spTree>
    <p:extLst>
      <p:ext uri="{BB962C8B-B14F-4D97-AF65-F5344CB8AC3E}">
        <p14:creationId xmlns:p14="http://schemas.microsoft.com/office/powerpoint/2010/main" val="246880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Effect transition="in" filter="fade">
                                      <p:cBhvr>
                                        <p:cTn id="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4" descr="[公式]">
            <a:extLst>
              <a:ext uri="{FF2B5EF4-FFF2-40B4-BE49-F238E27FC236}">
                <a16:creationId xmlns:a16="http://schemas.microsoft.com/office/drawing/2014/main" id="{8113FEE6-1D2A-4A41-B6CA-C72DB6385BAF}"/>
              </a:ext>
            </a:extLst>
          </p:cNvPr>
          <p:cNvSpPr>
            <a:spLocks noChangeAspect="1" noChangeArrowheads="1"/>
          </p:cNvSpPr>
          <p:nvPr/>
        </p:nvSpPr>
        <p:spPr bwMode="auto">
          <a:xfrm>
            <a:off x="119681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5" descr="[公式]">
            <a:extLst>
              <a:ext uri="{FF2B5EF4-FFF2-40B4-BE49-F238E27FC236}">
                <a16:creationId xmlns:a16="http://schemas.microsoft.com/office/drawing/2014/main" id="{D2F63B6E-1125-4DB5-9BFD-893DD9A2B32B}"/>
              </a:ext>
            </a:extLst>
          </p:cNvPr>
          <p:cNvSpPr>
            <a:spLocks noChangeAspect="1" noChangeArrowheads="1"/>
          </p:cNvSpPr>
          <p:nvPr/>
        </p:nvSpPr>
        <p:spPr bwMode="auto">
          <a:xfrm>
            <a:off x="201278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216611"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10089986"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447511" y="331509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965D4395-301C-4C29-B920-04A0EF0F27BC}"/>
                  </a:ext>
                </a:extLst>
              </p:cNvPr>
              <p:cNvSpPr txBox="1"/>
              <p:nvPr/>
            </p:nvSpPr>
            <p:spPr>
              <a:xfrm>
                <a:off x="364993" y="1365505"/>
                <a:ext cx="11331019" cy="4451283"/>
              </a:xfrm>
              <a:prstGeom prst="rect">
                <a:avLst/>
              </a:prstGeom>
              <a:noFill/>
            </p:spPr>
            <p:txBody>
              <a:bodyPr wrap="square">
                <a:spAutoFit/>
              </a:bodyPr>
              <a:lstStyle/>
              <a:p>
                <a:pPr algn="just">
                  <a:lnSpc>
                    <a:spcPct val="150000"/>
                  </a:lnSpc>
                </a:pPr>
                <a:r>
                  <a:rPr lang="zh-CN" altLang="en-US" sz="2400" b="1" dirty="0">
                    <a:latin typeface="KaiTi" panose="02010609060101010101" pitchFamily="49" charset="-122"/>
                    <a:ea typeface="KaiTi" panose="02010609060101010101" pitchFamily="49" charset="-122"/>
                    <a:cs typeface="Times New Roman" panose="02020603050405020304" pitchFamily="18" charset="0"/>
                  </a:rPr>
                  <a:t>用</a:t>
                </a:r>
                <a:r>
                  <a:rPr lang="zh-CN" altLang="en-US" sz="2400" b="1" dirty="0">
                    <a:solidFill>
                      <a:srgbClr val="FF0000"/>
                    </a:solidFill>
                    <a:latin typeface="KaiTi" panose="02010609060101010101" pitchFamily="49" charset="-122"/>
                    <a:ea typeface="KaiTi" panose="02010609060101010101" pitchFamily="49" charset="-122"/>
                    <a:cs typeface="Times New Roman" panose="02020603050405020304" pitchFamily="18" charset="0"/>
                  </a:rPr>
                  <a:t>均方差</a:t>
                </a:r>
                <a:r>
                  <a:rPr lang="zh-CN" altLang="en-US" sz="2400" b="1" dirty="0">
                    <a:latin typeface="KaiTi" panose="02010609060101010101" pitchFamily="49" charset="-122"/>
                    <a:ea typeface="KaiTi" panose="02010609060101010101" pitchFamily="49" charset="-122"/>
                    <a:cs typeface="Times New Roman" panose="02020603050405020304" pitchFamily="18" charset="0"/>
                  </a:rPr>
                  <a:t>来选择属性</a:t>
                </a:r>
                <a:endParaRPr lang="en-US" altLang="zh-CN" sz="2400" b="1" dirty="0">
                  <a:latin typeface="KaiTi" panose="02010609060101010101" pitchFamily="49" charset="-122"/>
                  <a:ea typeface="KaiTi" panose="02010609060101010101" pitchFamily="49" charset="-122"/>
                  <a:cs typeface="Times New Roman" panose="02020603050405020304" pitchFamily="18" charset="0"/>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对于连续值的处理，</a:t>
                </a:r>
                <a:r>
                  <a:rPr lang="en-US" altLang="zh-CN" sz="2400" kern="100" dirty="0">
                    <a:effectLst/>
                    <a:latin typeface="KaiTi" panose="02010609060101010101" pitchFamily="49" charset="-122"/>
                    <a:ea typeface="KaiTi" panose="02010609060101010101" pitchFamily="49" charset="-122"/>
                  </a:rPr>
                  <a:t>CART </a:t>
                </a:r>
                <a:r>
                  <a:rPr lang="zh-CN" altLang="zh-CN" sz="2400" kern="100" dirty="0">
                    <a:effectLst/>
                    <a:latin typeface="KaiTi" panose="02010609060101010101" pitchFamily="49" charset="-122"/>
                    <a:ea typeface="KaiTi" panose="02010609060101010101" pitchFamily="49" charset="-122"/>
                  </a:rPr>
                  <a:t>分类树采用基尼系数的大小来度量特征的各个划分点。对于任意划分特征 </a:t>
                </a:r>
                <a14:m>
                  <m:oMath xmlns:m="http://schemas.openxmlformats.org/officeDocument/2006/math">
                    <m:r>
                      <a:rPr lang="en-US" altLang="zh-CN" sz="2400" i="1" kern="100">
                        <a:effectLst/>
                        <a:latin typeface="Cambria Math" panose="02040503050406030204" pitchFamily="18" charset="0"/>
                        <a:ea typeface="+mj-ea"/>
                      </a:rPr>
                      <m:t>𝐴</m:t>
                    </m:r>
                  </m:oMath>
                </a14:m>
                <a:r>
                  <a:rPr lang="zh-CN" altLang="zh-CN" sz="2400" kern="100" dirty="0">
                    <a:effectLst/>
                    <a:latin typeface="KaiTi" panose="02010609060101010101" pitchFamily="49" charset="-122"/>
                    <a:ea typeface="KaiTi" panose="02010609060101010101" pitchFamily="49" charset="-122"/>
                  </a:rPr>
                  <a:t>，对应的任意划分点</a:t>
                </a:r>
                <a14:m>
                  <m:oMath xmlns:m="http://schemas.openxmlformats.org/officeDocument/2006/math">
                    <m:r>
                      <a:rPr lang="en-US" altLang="zh-CN" sz="2400" i="1" kern="100">
                        <a:effectLst/>
                        <a:latin typeface="Cambria Math" panose="02040503050406030204" pitchFamily="18" charset="0"/>
                        <a:ea typeface="+mj-ea"/>
                      </a:rPr>
                      <m:t>𝑠</m:t>
                    </m:r>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两边划分成的数据集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，求出使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各自集合的均方差最小，同时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的均方差之和最小所对应的特征和特征值划分点。表达式为：</a:t>
                </a:r>
              </a:p>
              <a:p>
                <a:pPr indent="266700" algn="just">
                  <a:lnSpc>
                    <a:spcPct val="150000"/>
                  </a:lnSpc>
                </a:pPr>
                <a:endParaRPr lang="en-US" altLang="zh-CN" sz="2400" kern="100" dirty="0">
                  <a:effectLst/>
                  <a:latin typeface="KaiTi" panose="02010609060101010101" pitchFamily="49" charset="-122"/>
                  <a:ea typeface="KaiTi" panose="02010609060101010101" pitchFamily="49" charset="-122"/>
                </a:endParaRPr>
              </a:p>
              <a:p>
                <a:pPr indent="266700" algn="just">
                  <a:lnSpc>
                    <a:spcPct val="150000"/>
                  </a:lnSpc>
                </a:pPr>
                <a:endParaRPr lang="en-US" altLang="zh-CN" sz="2400" kern="100" dirty="0">
                  <a:latin typeface="KaiTi" panose="02010609060101010101" pitchFamily="49" charset="-122"/>
                  <a:ea typeface="KaiTi" panose="02010609060101010101" pitchFamily="49" charset="-122"/>
                </a:endParaRPr>
              </a:p>
              <a:p>
                <a:pPr indent="266700" algn="just">
                  <a:lnSpc>
                    <a:spcPct val="150000"/>
                  </a:lnSpc>
                </a:pPr>
                <a:r>
                  <a:rPr lang="zh-CN" altLang="zh-CN" sz="2400" kern="100" dirty="0">
                    <a:effectLst/>
                    <a:latin typeface="KaiTi" panose="02010609060101010101" pitchFamily="49" charset="-122"/>
                    <a:ea typeface="KaiTi" panose="02010609060101010101" pitchFamily="49" charset="-122"/>
                  </a:rPr>
                  <a:t>其中，</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𝑐</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为</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数据集的样本输出均值，</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𝑐</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为</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数据集的样本输出均值。</a:t>
                </a:r>
              </a:p>
            </p:txBody>
          </p:sp>
        </mc:Choice>
        <mc:Fallback xmlns="">
          <p:sp>
            <p:nvSpPr>
              <p:cNvPr id="49" name="文本框 48">
                <a:extLst>
                  <a:ext uri="{FF2B5EF4-FFF2-40B4-BE49-F238E27FC236}">
                    <a16:creationId xmlns:a16="http://schemas.microsoft.com/office/drawing/2014/main" id="{965D4395-301C-4C29-B920-04A0EF0F27BC}"/>
                  </a:ext>
                </a:extLst>
              </p:cNvPr>
              <p:cNvSpPr txBox="1">
                <a:spLocks noRot="1" noChangeAspect="1" noMove="1" noResize="1" noEditPoints="1" noAdjustHandles="1" noChangeArrowheads="1" noChangeShapeType="1" noTextEdit="1"/>
              </p:cNvSpPr>
              <p:nvPr/>
            </p:nvSpPr>
            <p:spPr>
              <a:xfrm>
                <a:off x="364993" y="1365505"/>
                <a:ext cx="11331019" cy="4451283"/>
              </a:xfrm>
              <a:prstGeom prst="rect">
                <a:avLst/>
              </a:prstGeom>
              <a:blipFill>
                <a:blip r:embed="rId3"/>
                <a:stretch>
                  <a:fillRect l="-783" r="-783" b="-1994"/>
                </a:stretch>
              </a:blipFill>
            </p:spPr>
            <p:txBody>
              <a:bodyPr/>
              <a:lstStyle/>
              <a:p>
                <a:r>
                  <a:rPr lang="ko-Kore-KR" altLang="en-US">
                    <a:noFill/>
                  </a:rPr>
                  <a:t> </a:t>
                </a:r>
              </a:p>
            </p:txBody>
          </p:sp>
        </mc:Fallback>
      </mc:AlternateContent>
      <p:sp>
        <p:nvSpPr>
          <p:cNvPr id="2" name="제목 2">
            <a:extLst>
              <a:ext uri="{FF2B5EF4-FFF2-40B4-BE49-F238E27FC236}">
                <a16:creationId xmlns:a16="http://schemas.microsoft.com/office/drawing/2014/main" id="{6FB42F33-AC14-42C4-B3DE-79EAE5918DC9}"/>
              </a:ext>
            </a:extLst>
          </p:cNvPr>
          <p:cNvSpPr>
            <a:spLocks noGrp="1"/>
          </p:cNvSpPr>
          <p:nvPr>
            <p:ph type="title"/>
          </p:nvPr>
        </p:nvSpPr>
        <p:spPr>
          <a:xfrm>
            <a:off x="350985" y="221676"/>
            <a:ext cx="11369963" cy="738909"/>
          </a:xfrm>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回归</a:t>
            </a:r>
            <a:endParaRPr lang="ko-Kore-KR" altLang="en-US">
              <a:latin typeface="KaiTi" panose="02010609060101010101" pitchFamily="49" charset="-122"/>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A6060A-0226-6F13-03C5-48706A3C8DD1}"/>
                  </a:ext>
                </a:extLst>
              </p:cNvPr>
              <p:cNvSpPr txBox="1"/>
              <p:nvPr/>
            </p:nvSpPr>
            <p:spPr>
              <a:xfrm>
                <a:off x="2890284" y="3912110"/>
                <a:ext cx="6411432" cy="1272656"/>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r>
                            <a:rPr lang="en-US" altLang="zh-CN" sz="2000" i="1" kern="100">
                              <a:effectLst/>
                              <a:latin typeface="Cambria Math" panose="02040503050406030204" pitchFamily="18" charset="0"/>
                              <a:ea typeface="+mj-ea"/>
                            </a:rPr>
                            <m:t>𝑎</m:t>
                          </m:r>
                          <m:r>
                            <a:rPr lang="en-US" altLang="zh-CN" sz="2000" i="1" kern="100">
                              <a:effectLst/>
                              <a:latin typeface="Cambria Math" panose="02040503050406030204" pitchFamily="18" charset="0"/>
                              <a:ea typeface="+mj-ea"/>
                            </a:rPr>
                            <m:t>,</m:t>
                          </m:r>
                          <m:r>
                            <a:rPr lang="en-US" altLang="zh-CN" sz="2000" i="1" kern="100">
                              <a:effectLst/>
                              <a:latin typeface="Cambria Math" panose="02040503050406030204" pitchFamily="18" charset="0"/>
                              <a:ea typeface="+mj-ea"/>
                            </a:rPr>
                            <m:t>𝑠</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1</m:t>
                              </m:r>
                            </m:sub>
                          </m:sSub>
                        </m:sub>
                      </m:sSub>
                      <m:nary>
                        <m:naryPr>
                          <m:chr m:val="∑"/>
                          <m:limLoc m:val="undOvr"/>
                          <m:ctrlPr>
                            <a:rPr lang="zh-CN" altLang="zh-CN" sz="2000" i="1" kern="100">
                              <a:effectLst/>
                              <a:latin typeface="Cambria Math" panose="02040503050406030204" pitchFamily="18" charset="0"/>
                              <a:ea typeface="+mj-ea"/>
                            </a:rPr>
                          </m:ctrlPr>
                        </m:naryPr>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𝑥</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𝐷</m:t>
                              </m:r>
                            </m:e>
                            <m:sub>
                              <m:r>
                                <a:rPr lang="en-US" altLang="zh-CN" sz="2000" i="1" kern="100">
                                  <a:effectLst/>
                                  <a:latin typeface="Cambria Math" panose="02040503050406030204" pitchFamily="18" charset="0"/>
                                  <a:ea typeface="+mj-ea"/>
                                </a:rPr>
                                <m:t>1</m:t>
                              </m:r>
                            </m:sub>
                          </m:sSub>
                        </m:sub>
                        <m:sup>
                          <m:r>
                            <a:rPr lang="en-US" altLang="zh-CN" sz="2000" i="1" kern="100">
                              <a:effectLst/>
                              <a:latin typeface="Cambria Math" panose="02040503050406030204" pitchFamily="18" charset="0"/>
                              <a:ea typeface="+mj-ea"/>
                            </a:rPr>
                            <m:t>​</m:t>
                          </m:r>
                        </m:sup>
                        <m:e>
                          <m:r>
                            <a:rPr lang="en-US" altLang="zh-CN" sz="2000" i="1" kern="100">
                              <a:effectLst/>
                              <a:latin typeface="Cambria Math" panose="02040503050406030204" pitchFamily="18" charset="0"/>
                              <a:ea typeface="+mj-ea"/>
                            </a:rPr>
                            <m:t>(</m:t>
                          </m:r>
                        </m:e>
                      </m:nary>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𝑦</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1</m:t>
                          </m:r>
                        </m:sub>
                      </m:sSub>
                      <m:sSup>
                        <m:sSupPr>
                          <m:ctrlPr>
                            <a:rPr lang="zh-CN" altLang="zh-CN" sz="2000" i="1" kern="100">
                              <a:effectLst/>
                              <a:latin typeface="Cambria Math" panose="02040503050406030204" pitchFamily="18" charset="0"/>
                              <a:ea typeface="+mj-ea"/>
                            </a:rPr>
                          </m:ctrlPr>
                        </m:sSupPr>
                        <m:e>
                          <m:r>
                            <a:rPr lang="en-US" altLang="zh-CN" sz="2000" i="1" kern="100">
                              <a:effectLst/>
                              <a:latin typeface="Cambria Math" panose="02040503050406030204" pitchFamily="18" charset="0"/>
                              <a:ea typeface="+mj-ea"/>
                            </a:rPr>
                            <m:t>)</m:t>
                          </m:r>
                        </m:e>
                        <m:sup>
                          <m:r>
                            <a:rPr lang="en-US" altLang="zh-CN" sz="2000" i="1" kern="100">
                              <a:effectLst/>
                              <a:latin typeface="Cambria Math" panose="02040503050406030204" pitchFamily="18" charset="0"/>
                              <a:ea typeface="+mj-ea"/>
                            </a:rPr>
                            <m:t>2</m:t>
                          </m:r>
                        </m:sup>
                      </m:sSup>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2</m:t>
                              </m:r>
                            </m:sub>
                          </m:sSub>
                        </m:sub>
                      </m:sSub>
                      <m:nary>
                        <m:naryPr>
                          <m:chr m:val="∑"/>
                          <m:limLoc m:val="undOvr"/>
                          <m:ctrlPr>
                            <a:rPr lang="zh-CN" altLang="zh-CN" sz="2000" i="1" kern="100">
                              <a:effectLst/>
                              <a:latin typeface="Cambria Math" panose="02040503050406030204" pitchFamily="18" charset="0"/>
                              <a:ea typeface="+mj-ea"/>
                            </a:rPr>
                          </m:ctrlPr>
                        </m:naryPr>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𝑥</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𝐷</m:t>
                              </m:r>
                            </m:e>
                            <m:sub>
                              <m:r>
                                <a:rPr lang="en-US" altLang="zh-CN" sz="2000" i="1" kern="100">
                                  <a:effectLst/>
                                  <a:latin typeface="Cambria Math" panose="02040503050406030204" pitchFamily="18" charset="0"/>
                                  <a:ea typeface="+mj-ea"/>
                                </a:rPr>
                                <m:t>2</m:t>
                              </m:r>
                            </m:sub>
                          </m:sSub>
                        </m:sub>
                        <m:sup>
                          <m:r>
                            <a:rPr lang="en-US" altLang="zh-CN" sz="2000" i="1" kern="100">
                              <a:effectLst/>
                              <a:latin typeface="Cambria Math" panose="02040503050406030204" pitchFamily="18" charset="0"/>
                              <a:ea typeface="+mj-ea"/>
                            </a:rPr>
                            <m:t>​</m:t>
                          </m:r>
                        </m:sup>
                        <m:e>
                          <m:r>
                            <a:rPr lang="en-US" altLang="zh-CN" sz="2000" i="1" kern="100">
                              <a:effectLst/>
                              <a:latin typeface="Cambria Math" panose="02040503050406030204" pitchFamily="18" charset="0"/>
                              <a:ea typeface="+mj-ea"/>
                            </a:rPr>
                            <m:t>(</m:t>
                          </m:r>
                        </m:e>
                      </m:nary>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𝑦</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2</m:t>
                          </m:r>
                        </m:sub>
                      </m:sSub>
                      <m:sSup>
                        <m:sSupPr>
                          <m:ctrlPr>
                            <a:rPr lang="zh-CN" altLang="zh-CN" sz="2000" i="1" kern="100">
                              <a:effectLst/>
                              <a:latin typeface="Cambria Math" panose="02040503050406030204" pitchFamily="18" charset="0"/>
                              <a:ea typeface="+mj-ea"/>
                            </a:rPr>
                          </m:ctrlPr>
                        </m:sSupPr>
                        <m:e>
                          <m:r>
                            <a:rPr lang="en-US" altLang="zh-CN" sz="2000" i="1" kern="100">
                              <a:effectLst/>
                              <a:latin typeface="Cambria Math" panose="02040503050406030204" pitchFamily="18" charset="0"/>
                              <a:ea typeface="+mj-ea"/>
                            </a:rPr>
                            <m:t>)</m:t>
                          </m:r>
                        </m:e>
                        <m:sup>
                          <m:r>
                            <a:rPr lang="en-US" altLang="zh-CN" sz="2000" i="1" kern="100">
                              <a:effectLst/>
                              <a:latin typeface="Cambria Math" panose="02040503050406030204" pitchFamily="18" charset="0"/>
                              <a:ea typeface="+mj-ea"/>
                            </a:rPr>
                            <m:t>2</m:t>
                          </m:r>
                        </m:sup>
                      </m:sSup>
                      <m:r>
                        <a:rPr lang="en-US" altLang="zh-CN" sz="2000" i="1" kern="100">
                          <a:effectLst/>
                          <a:latin typeface="Cambria Math" panose="02040503050406030204" pitchFamily="18" charset="0"/>
                          <a:ea typeface="+mj-ea"/>
                        </a:rPr>
                        <m:t>]</m:t>
                      </m:r>
                    </m:oMath>
                  </m:oMathPara>
                </a14:m>
                <a:endParaRPr lang="zh-CN" altLang="zh-CN" sz="2000" kern="100" dirty="0">
                  <a:effectLst/>
                  <a:latin typeface="KaiTi" panose="02010609060101010101" pitchFamily="49" charset="-122"/>
                  <a:ea typeface="KaiTi" panose="02010609060101010101" pitchFamily="49" charset="-122"/>
                </a:endParaRPr>
              </a:p>
            </p:txBody>
          </p:sp>
        </mc:Choice>
        <mc:Fallback xmlns="">
          <p:sp>
            <p:nvSpPr>
              <p:cNvPr id="4" name="TextBox 3">
                <a:extLst>
                  <a:ext uri="{FF2B5EF4-FFF2-40B4-BE49-F238E27FC236}">
                    <a16:creationId xmlns:a16="http://schemas.microsoft.com/office/drawing/2014/main" id="{B2A6060A-0226-6F13-03C5-48706A3C8DD1}"/>
                  </a:ext>
                </a:extLst>
              </p:cNvPr>
              <p:cNvSpPr txBox="1">
                <a:spLocks noRot="1" noChangeAspect="1" noMove="1" noResize="1" noEditPoints="1" noAdjustHandles="1" noChangeArrowheads="1" noChangeShapeType="1" noTextEdit="1"/>
              </p:cNvSpPr>
              <p:nvPr/>
            </p:nvSpPr>
            <p:spPr>
              <a:xfrm>
                <a:off x="2890284" y="3912110"/>
                <a:ext cx="6411432" cy="1272656"/>
              </a:xfrm>
              <a:prstGeom prst="rect">
                <a:avLst/>
              </a:prstGeom>
              <a:blipFill>
                <a:blip r:embed="rId4"/>
                <a:stretch>
                  <a:fillRect t="-53465" b="-11089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C2CEB3-1505-A96A-B804-6DA3EC933BA4}"/>
                  </a:ext>
                </a:extLst>
              </p:cNvPr>
              <p:cNvSpPr txBox="1"/>
              <p:nvPr/>
            </p:nvSpPr>
            <p:spPr>
              <a:xfrm>
                <a:off x="3300950" y="5939893"/>
                <a:ext cx="2248786" cy="684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𝑐</m:t>
                          </m:r>
                        </m:e>
                        <m:sub>
                          <m:r>
                            <a:rPr lang="ko-Kore-KR" altLang="en-US" sz="1800" i="0">
                              <a:latin typeface="Cambria Math" panose="02040503050406030204" pitchFamily="18" charset="0"/>
                            </a:rPr>
                            <m:t>1</m:t>
                          </m:r>
                        </m:sub>
                      </m:sSub>
                      <m:r>
                        <a:rPr lang="ko-Kore-KR" altLang="en-US" sz="1800" i="0">
                          <a:latin typeface="Cambria Math" panose="02040503050406030204" pitchFamily="18" charset="0"/>
                        </a:rPr>
                        <m:t>=</m:t>
                      </m:r>
                      <m:f>
                        <m:fPr>
                          <m:ctrlPr>
                            <a:rPr lang="ko-Kore-KR" altLang="en-US" sz="1800" i="1">
                              <a:solidFill>
                                <a:srgbClr val="836967"/>
                              </a:solidFill>
                              <a:latin typeface="Cambria Math" panose="02040503050406030204" pitchFamily="18" charset="0"/>
                            </a:rPr>
                          </m:ctrlPr>
                        </m:fPr>
                        <m:num>
                          <m:r>
                            <a:rPr lang="ko-Kore-KR" altLang="en-US" sz="1800" i="0">
                              <a:latin typeface="Cambria Math" panose="02040503050406030204" pitchFamily="18" charset="0"/>
                            </a:rPr>
                            <m:t>1</m:t>
                          </m:r>
                        </m:num>
                        <m:den>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𝑁</m:t>
                              </m:r>
                            </m:e>
                            <m:sub>
                              <m:r>
                                <a:rPr lang="ko-Kore-KR" altLang="en-US" sz="1800" i="0">
                                  <a:latin typeface="Cambria Math" panose="02040503050406030204" pitchFamily="18" charset="0"/>
                                </a:rPr>
                                <m:t>1</m:t>
                              </m:r>
                            </m:sub>
                          </m:sSub>
                        </m:den>
                      </m:f>
                      <m:nary>
                        <m:naryPr>
                          <m:chr m:val="∑"/>
                          <m:limLoc m:val="subSup"/>
                          <m:grow m:val="on"/>
                          <m:supHide m:val="on"/>
                          <m:ctrlPr>
                            <a:rPr lang="ko-Kore-KR" altLang="en-US" sz="1800" i="1">
                              <a:latin typeface="Cambria Math" panose="02040503050406030204" pitchFamily="18" charset="0"/>
                            </a:rPr>
                          </m:ctrlPr>
                        </m:naryPr>
                        <m:sub>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𝑥</m:t>
                              </m:r>
                            </m:e>
                            <m:sub>
                              <m:r>
                                <a:rPr lang="ko-Kore-KR" altLang="en-US" sz="1800" i="1">
                                  <a:latin typeface="Cambria Math" panose="02040503050406030204" pitchFamily="18" charset="0"/>
                                </a:rPr>
                                <m:t>𝑖</m:t>
                              </m:r>
                            </m:sub>
                          </m:sSub>
                          <m:r>
                            <a:rPr lang="ko-Kore-KR" altLang="en-US" sz="1800" i="0">
                              <a:latin typeface="Cambria Math" panose="02040503050406030204" pitchFamily="18" charset="0"/>
                            </a:rPr>
                            <m:t>∈</m:t>
                          </m:r>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𝑅</m:t>
                              </m:r>
                            </m:e>
                            <m:sub>
                              <m:r>
                                <a:rPr lang="ko-Kore-KR" altLang="en-US" sz="1800" i="0">
                                  <a:latin typeface="Cambria Math" panose="02040503050406030204" pitchFamily="18" charset="0"/>
                                </a:rPr>
                                <m:t>1</m:t>
                              </m:r>
                            </m:sub>
                          </m:sSub>
                        </m:sub>
                        <m:sup/>
                        <m:e>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𝑦</m:t>
                              </m:r>
                            </m:e>
                            <m:sub>
                              <m:r>
                                <a:rPr lang="ko-Kore-KR" altLang="en-US" sz="1800" i="1">
                                  <a:latin typeface="Cambria Math" panose="02040503050406030204" pitchFamily="18" charset="0"/>
                                </a:rPr>
                                <m:t>𝑖</m:t>
                              </m:r>
                            </m:sub>
                          </m:sSub>
                        </m:e>
                      </m:nary>
                    </m:oMath>
                  </m:oMathPara>
                </a14:m>
                <a:endParaRPr lang="ko-Kore-KR" altLang="en-US" dirty="0"/>
              </a:p>
            </p:txBody>
          </p:sp>
        </mc:Choice>
        <mc:Fallback xmlns="">
          <p:sp>
            <p:nvSpPr>
              <p:cNvPr id="6" name="TextBox 5">
                <a:extLst>
                  <a:ext uri="{FF2B5EF4-FFF2-40B4-BE49-F238E27FC236}">
                    <a16:creationId xmlns:a16="http://schemas.microsoft.com/office/drawing/2014/main" id="{9FC2CEB3-1505-A96A-B804-6DA3EC933BA4}"/>
                  </a:ext>
                </a:extLst>
              </p:cNvPr>
              <p:cNvSpPr txBox="1">
                <a:spLocks noRot="1" noChangeAspect="1" noMove="1" noResize="1" noEditPoints="1" noAdjustHandles="1" noChangeArrowheads="1" noChangeShapeType="1" noTextEdit="1"/>
              </p:cNvSpPr>
              <p:nvPr/>
            </p:nvSpPr>
            <p:spPr>
              <a:xfrm>
                <a:off x="3300950" y="5939893"/>
                <a:ext cx="2248786" cy="684803"/>
              </a:xfrm>
              <a:prstGeom prst="rect">
                <a:avLst/>
              </a:prstGeom>
              <a:blipFill>
                <a:blip r:embed="rId5"/>
                <a:stretch>
                  <a:fillRect t="-136364" b="-19818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DDD499-31A8-CF63-D238-D6032B4FB9EF}"/>
                  </a:ext>
                </a:extLst>
              </p:cNvPr>
              <p:cNvSpPr txBox="1"/>
              <p:nvPr/>
            </p:nvSpPr>
            <p:spPr>
              <a:xfrm>
                <a:off x="5549736" y="5951521"/>
                <a:ext cx="2248787" cy="684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𝑐</m:t>
                          </m:r>
                        </m:e>
                        <m:sub>
                          <m:r>
                            <a:rPr lang="en-US" altLang="zh-CN" sz="1800" b="0" i="0">
                              <a:latin typeface="Cambria Math" panose="02040503050406030204" pitchFamily="18" charset="0"/>
                            </a:rPr>
                            <m:t>2</m:t>
                          </m:r>
                        </m:sub>
                      </m:sSub>
                      <m:r>
                        <a:rPr lang="ko-Kore-KR" altLang="en-US" sz="1800" i="0">
                          <a:latin typeface="Cambria Math" panose="02040503050406030204" pitchFamily="18" charset="0"/>
                        </a:rPr>
                        <m:t>=</m:t>
                      </m:r>
                      <m:f>
                        <m:fPr>
                          <m:ctrlPr>
                            <a:rPr lang="ko-Kore-KR" altLang="en-US" sz="1800" i="1">
                              <a:solidFill>
                                <a:srgbClr val="836967"/>
                              </a:solidFill>
                              <a:latin typeface="Cambria Math" panose="02040503050406030204" pitchFamily="18" charset="0"/>
                            </a:rPr>
                          </m:ctrlPr>
                        </m:fPr>
                        <m:num>
                          <m:r>
                            <a:rPr lang="ko-Kore-KR" altLang="en-US" sz="1800" i="0">
                              <a:latin typeface="Cambria Math" panose="02040503050406030204" pitchFamily="18" charset="0"/>
                            </a:rPr>
                            <m:t>1</m:t>
                          </m:r>
                        </m:num>
                        <m:den>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𝑁</m:t>
                              </m:r>
                            </m:e>
                            <m:sub>
                              <m:r>
                                <a:rPr lang="en-US" altLang="zh-CN" sz="1800" b="0" i="0">
                                  <a:latin typeface="Cambria Math" panose="02040503050406030204" pitchFamily="18" charset="0"/>
                                </a:rPr>
                                <m:t>2</m:t>
                              </m:r>
                            </m:sub>
                          </m:sSub>
                        </m:den>
                      </m:f>
                      <m:nary>
                        <m:naryPr>
                          <m:chr m:val="∑"/>
                          <m:limLoc m:val="subSup"/>
                          <m:grow m:val="on"/>
                          <m:supHide m:val="on"/>
                          <m:ctrlPr>
                            <a:rPr lang="ko-Kore-KR" altLang="en-US" sz="1800" i="1">
                              <a:latin typeface="Cambria Math" panose="02040503050406030204" pitchFamily="18" charset="0"/>
                            </a:rPr>
                          </m:ctrlPr>
                        </m:naryPr>
                        <m:sub>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𝑥</m:t>
                              </m:r>
                            </m:e>
                            <m:sub>
                              <m:r>
                                <a:rPr lang="ko-Kore-KR" altLang="en-US" sz="1800" i="1">
                                  <a:latin typeface="Cambria Math" panose="02040503050406030204" pitchFamily="18" charset="0"/>
                                </a:rPr>
                                <m:t>𝑖</m:t>
                              </m:r>
                            </m:sub>
                          </m:sSub>
                          <m:r>
                            <a:rPr lang="ko-Kore-KR" altLang="en-US" sz="1800" i="0">
                              <a:latin typeface="Cambria Math" panose="02040503050406030204" pitchFamily="18" charset="0"/>
                            </a:rPr>
                            <m:t>∈</m:t>
                          </m:r>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𝑅</m:t>
                              </m:r>
                            </m:e>
                            <m:sub>
                              <m:r>
                                <a:rPr lang="en-US" altLang="zh-CN" sz="1800" b="0" i="0">
                                  <a:latin typeface="Cambria Math" panose="02040503050406030204" pitchFamily="18" charset="0"/>
                                </a:rPr>
                                <m:t>2</m:t>
                              </m:r>
                            </m:sub>
                          </m:sSub>
                        </m:sub>
                        <m:sup/>
                        <m:e>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𝑦</m:t>
                              </m:r>
                            </m:e>
                            <m:sub>
                              <m:r>
                                <a:rPr lang="ko-Kore-KR" altLang="en-US" sz="1800" i="1">
                                  <a:latin typeface="Cambria Math" panose="02040503050406030204" pitchFamily="18" charset="0"/>
                                </a:rPr>
                                <m:t>𝑖</m:t>
                              </m:r>
                            </m:sub>
                          </m:sSub>
                        </m:e>
                      </m:nary>
                    </m:oMath>
                  </m:oMathPara>
                </a14:m>
                <a:endParaRPr lang="ko-Kore-KR" altLang="en-US"/>
              </a:p>
            </p:txBody>
          </p:sp>
        </mc:Choice>
        <mc:Fallback xmlns="">
          <p:sp>
            <p:nvSpPr>
              <p:cNvPr id="9" name="TextBox 8">
                <a:extLst>
                  <a:ext uri="{FF2B5EF4-FFF2-40B4-BE49-F238E27FC236}">
                    <a16:creationId xmlns:a16="http://schemas.microsoft.com/office/drawing/2014/main" id="{B9DDD499-31A8-CF63-D238-D6032B4FB9EF}"/>
                  </a:ext>
                </a:extLst>
              </p:cNvPr>
              <p:cNvSpPr txBox="1">
                <a:spLocks noRot="1" noChangeAspect="1" noMove="1" noResize="1" noEditPoints="1" noAdjustHandles="1" noChangeArrowheads="1" noChangeShapeType="1" noTextEdit="1"/>
              </p:cNvSpPr>
              <p:nvPr/>
            </p:nvSpPr>
            <p:spPr>
              <a:xfrm>
                <a:off x="5549736" y="5951521"/>
                <a:ext cx="2248787" cy="684803"/>
              </a:xfrm>
              <a:prstGeom prst="rect">
                <a:avLst/>
              </a:prstGeom>
              <a:blipFill>
                <a:blip r:embed="rId6"/>
                <a:stretch>
                  <a:fillRect t="-136364" b="-198182"/>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3888407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4" descr="[公式]">
            <a:extLst>
              <a:ext uri="{FF2B5EF4-FFF2-40B4-BE49-F238E27FC236}">
                <a16:creationId xmlns:a16="http://schemas.microsoft.com/office/drawing/2014/main" id="{8113FEE6-1D2A-4A41-B6CA-C72DB6385BAF}"/>
              </a:ext>
            </a:extLst>
          </p:cNvPr>
          <p:cNvSpPr>
            <a:spLocks noChangeAspect="1" noChangeArrowheads="1"/>
          </p:cNvSpPr>
          <p:nvPr/>
        </p:nvSpPr>
        <p:spPr bwMode="auto">
          <a:xfrm>
            <a:off x="119681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5" descr="[公式]">
            <a:extLst>
              <a:ext uri="{FF2B5EF4-FFF2-40B4-BE49-F238E27FC236}">
                <a16:creationId xmlns:a16="http://schemas.microsoft.com/office/drawing/2014/main" id="{D2F63B6E-1125-4DB5-9BFD-893DD9A2B32B}"/>
              </a:ext>
            </a:extLst>
          </p:cNvPr>
          <p:cNvSpPr>
            <a:spLocks noChangeAspect="1" noChangeArrowheads="1"/>
          </p:cNvSpPr>
          <p:nvPr/>
        </p:nvSpPr>
        <p:spPr bwMode="auto">
          <a:xfrm>
            <a:off x="201278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216611"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10089986"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447511" y="331509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文本框 48">
            <a:extLst>
              <a:ext uri="{FF2B5EF4-FFF2-40B4-BE49-F238E27FC236}">
                <a16:creationId xmlns:a16="http://schemas.microsoft.com/office/drawing/2014/main" id="{965D4395-301C-4C29-B920-04A0EF0F27BC}"/>
              </a:ext>
            </a:extLst>
          </p:cNvPr>
          <p:cNvSpPr txBox="1"/>
          <p:nvPr/>
        </p:nvSpPr>
        <p:spPr>
          <a:xfrm>
            <a:off x="512320" y="1782448"/>
            <a:ext cx="11208628" cy="2221762"/>
          </a:xfrm>
          <a:prstGeom prst="rect">
            <a:avLst/>
          </a:prstGeom>
          <a:noFill/>
        </p:spPr>
        <p:txBody>
          <a:bodyPr wrap="square">
            <a:spAutoFit/>
          </a:bodyPr>
          <a:lstStyle/>
          <a:p>
            <a:pPr algn="just">
              <a:lnSpc>
                <a:spcPct val="150000"/>
              </a:lnSpc>
            </a:pPr>
            <a:r>
              <a:rPr lang="zh-CN" altLang="zh-CN" sz="2400" b="1" kern="100" dirty="0">
                <a:effectLst/>
                <a:latin typeface="KaiTi" panose="02010609060101010101" pitchFamily="49" charset="-122"/>
                <a:ea typeface="KaiTi" panose="02010609060101010101" pitchFamily="49" charset="-122"/>
              </a:rPr>
              <a:t>预测方式</a:t>
            </a:r>
            <a:endParaRPr lang="zh-CN" altLang="zh-CN" sz="2400" kern="100" dirty="0">
              <a:effectLst/>
              <a:latin typeface="KaiTi" panose="02010609060101010101" pitchFamily="49" charset="-122"/>
              <a:ea typeface="KaiTi" panose="02010609060101010101" pitchFamily="49" charset="-122"/>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对于决策树建立后做预测的方式，上面讲到了</a:t>
            </a:r>
            <a:r>
              <a:rPr lang="en-US" altLang="zh-CN" sz="2400" kern="100" dirty="0">
                <a:effectLst/>
                <a:latin typeface="KaiTi" panose="02010609060101010101" pitchFamily="49" charset="-122"/>
                <a:ea typeface="KaiTi" panose="02010609060101010101" pitchFamily="49" charset="-122"/>
              </a:rPr>
              <a:t> CART </a:t>
            </a:r>
            <a:r>
              <a:rPr lang="zh-CN" altLang="zh-CN" sz="2400" kern="100" dirty="0">
                <a:effectLst/>
                <a:latin typeface="KaiTi" panose="02010609060101010101" pitchFamily="49" charset="-122"/>
                <a:ea typeface="KaiTi" panose="02010609060101010101" pitchFamily="49" charset="-122"/>
              </a:rPr>
              <a:t>分类树采用叶子节点里概率最大的类别作为当前节点的预测类别。</a:t>
            </a:r>
            <a:endParaRPr lang="en-US" altLang="zh-CN" sz="2400" kern="100" dirty="0">
              <a:effectLst/>
              <a:latin typeface="KaiTi" panose="02010609060101010101" pitchFamily="49" charset="-122"/>
              <a:ea typeface="KaiTi" panose="02010609060101010101" pitchFamily="49" charset="-122"/>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而回归树输出不是类别，它采用的是用最终叶子的均值或者中位数来预测输出结果。</a:t>
            </a:r>
          </a:p>
        </p:txBody>
      </p:sp>
      <p:sp>
        <p:nvSpPr>
          <p:cNvPr id="2" name="제목 2">
            <a:extLst>
              <a:ext uri="{FF2B5EF4-FFF2-40B4-BE49-F238E27FC236}">
                <a16:creationId xmlns:a16="http://schemas.microsoft.com/office/drawing/2014/main" id="{AA63C57C-1C90-AA05-05E9-F2D1A67C402B}"/>
              </a:ext>
            </a:extLst>
          </p:cNvPr>
          <p:cNvSpPr>
            <a:spLocks noGrp="1"/>
          </p:cNvSpPr>
          <p:nvPr>
            <p:ph type="title"/>
          </p:nvPr>
        </p:nvSpPr>
        <p:spPr>
          <a:xfrm>
            <a:off x="350985" y="221676"/>
            <a:ext cx="11369963" cy="738909"/>
          </a:xfrm>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回归</a:t>
            </a:r>
            <a:endParaRPr lang="ko-Kore-KR" altLang="en-US">
              <a:latin typeface="KaiTi"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C456DE1-C0FE-2FC4-C58E-2EBE222BD123}"/>
                  </a:ext>
                </a:extLst>
              </p:cNvPr>
              <p:cNvSpPr txBox="1"/>
              <p:nvPr/>
            </p:nvSpPr>
            <p:spPr>
              <a:xfrm>
                <a:off x="3762579" y="4266650"/>
                <a:ext cx="4105513" cy="6907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i="1">
                          <a:latin typeface="Cambria Math" panose="02040503050406030204" pitchFamily="18" charset="0"/>
                        </a:rPr>
                        <m:t>𝑓</m:t>
                      </m:r>
                      <m:d>
                        <m:dPr>
                          <m:ctrlPr>
                            <a:rPr lang="ko-Kore-KR" altLang="en-US" i="1">
                              <a:latin typeface="Cambria Math" panose="02040503050406030204" pitchFamily="18" charset="0"/>
                            </a:rPr>
                          </m:ctrlPr>
                        </m:dPr>
                        <m:e>
                          <m:r>
                            <a:rPr lang="ko-Kore-KR" altLang="en-US" i="1">
                              <a:latin typeface="Cambria Math" panose="02040503050406030204" pitchFamily="18" charset="0"/>
                            </a:rPr>
                            <m:t>𝑥</m:t>
                          </m:r>
                        </m:e>
                      </m:d>
                      <m:r>
                        <a:rPr lang="ko-Kore-KR" altLang="en-US" i="0">
                          <a:latin typeface="Cambria Math" panose="02040503050406030204" pitchFamily="18" charset="0"/>
                        </a:rPr>
                        <m:t>=</m:t>
                      </m:r>
                      <m:nary>
                        <m:naryPr>
                          <m:chr m:val="∑"/>
                          <m:limLoc m:val="subSup"/>
                          <m:grow m:val="on"/>
                          <m:ctrlPr>
                            <a:rPr lang="ko-Kore-KR" altLang="en-US" i="1">
                              <a:latin typeface="Cambria Math" panose="02040503050406030204" pitchFamily="18" charset="0"/>
                            </a:rPr>
                          </m:ctrlPr>
                        </m:naryPr>
                        <m:sub>
                          <m:r>
                            <a:rPr lang="ko-Kore-KR" altLang="en-US" i="1">
                              <a:latin typeface="Cambria Math" panose="02040503050406030204" pitchFamily="18" charset="0"/>
                            </a:rPr>
                            <m:t>𝑚</m:t>
                          </m:r>
                          <m:r>
                            <a:rPr lang="ko-Kore-KR" altLang="en-US" i="0">
                              <a:latin typeface="Cambria Math" panose="02040503050406030204" pitchFamily="18" charset="0"/>
                            </a:rPr>
                            <m:t>=1</m:t>
                          </m:r>
                        </m:sub>
                        <m:sup>
                          <m:r>
                            <a:rPr lang="ko-Kore-KR" altLang="en-US" i="1">
                              <a:latin typeface="Cambria Math" panose="02040503050406030204" pitchFamily="18" charset="0"/>
                            </a:rPr>
                            <m:t>𝑀</m:t>
                          </m:r>
                        </m:sup>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𝑐</m:t>
                              </m:r>
                            </m:e>
                            <m:sub>
                              <m:r>
                                <a:rPr lang="ko-Kore-KR" altLang="en-US" i="1">
                                  <a:latin typeface="Cambria Math" panose="02040503050406030204" pitchFamily="18" charset="0"/>
                                </a:rPr>
                                <m:t>𝑚</m:t>
                              </m:r>
                            </m:sub>
                          </m:sSub>
                        </m:e>
                      </m:nary>
                      <m:r>
                        <a:rPr lang="ko-Kore-KR" altLang="en-US" i="1">
                          <a:latin typeface="Cambria Math" panose="02040503050406030204" pitchFamily="18" charset="0"/>
                        </a:rPr>
                        <m:t>𝐼</m:t>
                      </m:r>
                      <m:d>
                        <m:dPr>
                          <m:ctrlPr>
                            <a:rPr lang="ko-Kore-KR" altLang="en-US" i="1">
                              <a:latin typeface="Cambria Math" panose="02040503050406030204" pitchFamily="18" charset="0"/>
                            </a:rPr>
                          </m:ctrlPr>
                        </m:dPr>
                        <m:e>
                          <m:r>
                            <a:rPr lang="ko-Kore-KR" altLang="en-US" i="1">
                              <a:latin typeface="Cambria Math" panose="02040503050406030204" pitchFamily="18" charset="0"/>
                            </a:rPr>
                            <m:t>𝑥</m:t>
                          </m:r>
                          <m:r>
                            <a:rPr lang="ko-Kore-KR" altLang="en-US" i="0">
                              <a:latin typeface="Cambria Math" panose="02040503050406030204" pitchFamily="18" charset="0"/>
                            </a:rPr>
                            <m:t>∈</m:t>
                          </m:r>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𝑅</m:t>
                              </m:r>
                            </m:e>
                            <m:sub>
                              <m:r>
                                <a:rPr lang="ko-Kore-KR" altLang="en-US" i="1">
                                  <a:latin typeface="Cambria Math" panose="02040503050406030204" pitchFamily="18" charset="0"/>
                                </a:rPr>
                                <m:t>𝑚</m:t>
                              </m:r>
                            </m:sub>
                          </m:sSub>
                        </m:e>
                      </m:d>
                    </m:oMath>
                  </m:oMathPara>
                </a14:m>
                <a:endParaRPr lang="ko-Kore-KR" altLang="en-US"/>
              </a:p>
            </p:txBody>
          </p:sp>
        </mc:Choice>
        <mc:Fallback xmlns="">
          <p:sp>
            <p:nvSpPr>
              <p:cNvPr id="3" name="TextBox 2">
                <a:extLst>
                  <a:ext uri="{FF2B5EF4-FFF2-40B4-BE49-F238E27FC236}">
                    <a16:creationId xmlns:a16="http://schemas.microsoft.com/office/drawing/2014/main" id="{AC456DE1-C0FE-2FC4-C58E-2EBE222BD123}"/>
                  </a:ext>
                </a:extLst>
              </p:cNvPr>
              <p:cNvSpPr txBox="1">
                <a:spLocks noRot="1" noChangeAspect="1" noMove="1" noResize="1" noEditPoints="1" noAdjustHandles="1" noChangeArrowheads="1" noChangeShapeType="1" noTextEdit="1"/>
              </p:cNvSpPr>
              <p:nvPr/>
            </p:nvSpPr>
            <p:spPr>
              <a:xfrm>
                <a:off x="3762579" y="4266650"/>
                <a:ext cx="4105513" cy="690767"/>
              </a:xfrm>
              <a:prstGeom prst="rect">
                <a:avLst/>
              </a:prstGeom>
              <a:blipFill>
                <a:blip r:embed="rId3"/>
                <a:stretch>
                  <a:fillRect t="-145455" b="-214545"/>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1485520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BF73EE-99BD-7396-9D2F-C9D7618FC805}"/>
              </a:ext>
            </a:extLst>
          </p:cNvPr>
          <p:cNvSpPr>
            <a:spLocks noGrp="1"/>
          </p:cNvSpPr>
          <p:nvPr>
            <p:ph type="title"/>
          </p:nvPr>
        </p:nvSpPr>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回归</a:t>
            </a:r>
            <a:endParaRPr kumimoji="1" lang="ko-Kore-KR" altLang="en-US"/>
          </a:p>
        </p:txBody>
      </p:sp>
      <p:pic>
        <p:nvPicPr>
          <p:cNvPr id="4" name="그림 3">
            <a:extLst>
              <a:ext uri="{FF2B5EF4-FFF2-40B4-BE49-F238E27FC236}">
                <a16:creationId xmlns:a16="http://schemas.microsoft.com/office/drawing/2014/main" id="{9DB9FF94-A94D-7F53-DA82-35E286630826}"/>
              </a:ext>
            </a:extLst>
          </p:cNvPr>
          <p:cNvPicPr>
            <a:picLocks noChangeAspect="1"/>
          </p:cNvPicPr>
          <p:nvPr/>
        </p:nvPicPr>
        <p:blipFill>
          <a:blip r:embed="rId3"/>
          <a:stretch>
            <a:fillRect/>
          </a:stretch>
        </p:blipFill>
        <p:spPr>
          <a:xfrm>
            <a:off x="572386" y="1379337"/>
            <a:ext cx="7772400" cy="1058414"/>
          </a:xfrm>
          <a:prstGeom prst="rect">
            <a:avLst/>
          </a:prstGeom>
        </p:spPr>
      </p:pic>
      <p:pic>
        <p:nvPicPr>
          <p:cNvPr id="5" name="그림 4">
            <a:extLst>
              <a:ext uri="{FF2B5EF4-FFF2-40B4-BE49-F238E27FC236}">
                <a16:creationId xmlns:a16="http://schemas.microsoft.com/office/drawing/2014/main" id="{10622EC7-D696-75AD-F737-378947207375}"/>
              </a:ext>
            </a:extLst>
          </p:cNvPr>
          <p:cNvPicPr>
            <a:picLocks noChangeAspect="1"/>
          </p:cNvPicPr>
          <p:nvPr/>
        </p:nvPicPr>
        <p:blipFill>
          <a:blip r:embed="rId4"/>
          <a:stretch>
            <a:fillRect/>
          </a:stretch>
        </p:blipFill>
        <p:spPr>
          <a:xfrm>
            <a:off x="572386" y="2587818"/>
            <a:ext cx="7772400" cy="2001340"/>
          </a:xfrm>
          <a:prstGeom prst="rect">
            <a:avLst/>
          </a:prstGeom>
        </p:spPr>
      </p:pic>
      <p:pic>
        <p:nvPicPr>
          <p:cNvPr id="19458" name="Picture 2" descr="在这里插入图片描述">
            <a:extLst>
              <a:ext uri="{FF2B5EF4-FFF2-40B4-BE49-F238E27FC236}">
                <a16:creationId xmlns:a16="http://schemas.microsoft.com/office/drawing/2014/main" id="{B4C13747-8C80-30B7-FC7A-CF177CE55E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8178" y="2174739"/>
            <a:ext cx="3232770" cy="1653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1988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BF73EE-99BD-7396-9D2F-C9D7618FC805}"/>
              </a:ext>
            </a:extLst>
          </p:cNvPr>
          <p:cNvSpPr>
            <a:spLocks noGrp="1"/>
          </p:cNvSpPr>
          <p:nvPr>
            <p:ph type="title"/>
          </p:nvPr>
        </p:nvSpPr>
        <p:spPr/>
        <p:txBody>
          <a:bodyPr/>
          <a:lstStyle/>
          <a:p>
            <a:r>
              <a:rPr lang="en-US" altLang="ko-Kore-KR">
                <a:latin typeface="KaiTi" panose="02010609060101010101" pitchFamily="49" charset="-122"/>
                <a:ea typeface="KaiTi" panose="02010609060101010101" pitchFamily="49" charset="-122"/>
              </a:rPr>
              <a:t>CART</a:t>
            </a:r>
            <a:r>
              <a:rPr lang="ko-Kore-KR" altLang="en-US">
                <a:latin typeface="KaiTi" panose="02010609060101010101" pitchFamily="49" charset="-122"/>
              </a:rPr>
              <a:t>算法</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回归</a:t>
            </a:r>
            <a:endParaRPr kumimoji="1" lang="ko-Kore-KR" altLang="en-US"/>
          </a:p>
        </p:txBody>
      </p:sp>
      <p:pic>
        <p:nvPicPr>
          <p:cNvPr id="3" name="그림 2">
            <a:extLst>
              <a:ext uri="{FF2B5EF4-FFF2-40B4-BE49-F238E27FC236}">
                <a16:creationId xmlns:a16="http://schemas.microsoft.com/office/drawing/2014/main" id="{660C39BB-8543-8A53-7614-DA456E2C7ED7}"/>
              </a:ext>
            </a:extLst>
          </p:cNvPr>
          <p:cNvPicPr>
            <a:picLocks noChangeAspect="1"/>
          </p:cNvPicPr>
          <p:nvPr/>
        </p:nvPicPr>
        <p:blipFill>
          <a:blip r:embed="rId3"/>
          <a:stretch>
            <a:fillRect/>
          </a:stretch>
        </p:blipFill>
        <p:spPr>
          <a:xfrm>
            <a:off x="802316" y="1435397"/>
            <a:ext cx="6115240" cy="4678326"/>
          </a:xfrm>
          <a:prstGeom prst="rect">
            <a:avLst/>
          </a:prstGeom>
        </p:spPr>
      </p:pic>
    </p:spTree>
    <p:extLst>
      <p:ext uri="{BB962C8B-B14F-4D97-AF65-F5344CB8AC3E}">
        <p14:creationId xmlns:p14="http://schemas.microsoft.com/office/powerpoint/2010/main" val="4144466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文本框 9">
            <a:extLst>
              <a:ext uri="{FF2B5EF4-FFF2-40B4-BE49-F238E27FC236}">
                <a16:creationId xmlns:a16="http://schemas.microsoft.com/office/drawing/2014/main" id="{194F7CD9-DD49-4C40-847C-DA983BA6F1F3}"/>
              </a:ext>
            </a:extLst>
          </p:cNvPr>
          <p:cNvSpPr txBox="1"/>
          <p:nvPr/>
        </p:nvSpPr>
        <p:spPr>
          <a:xfrm>
            <a:off x="645028" y="1476478"/>
            <a:ext cx="10781875" cy="3905043"/>
          </a:xfrm>
          <a:prstGeom prst="rect">
            <a:avLst/>
          </a:prstGeom>
          <a:noFill/>
        </p:spPr>
        <p:txBody>
          <a:bodyPr wrap="square">
            <a:spAutoFit/>
          </a:bodyPr>
          <a:lstStyle/>
          <a:p>
            <a:pPr algn="just">
              <a:lnSpc>
                <a:spcPct val="150000"/>
              </a:lnSpc>
            </a:pP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CART</a:t>
            </a:r>
            <a:r>
              <a:rPr lang="zh-CN" altLang="en-US" sz="2400" kern="100" dirty="0">
                <a:effectLst/>
                <a:latin typeface="KaiTi" panose="02010609060101010101" pitchFamily="49" charset="-122"/>
                <a:ea typeface="KaiTi" panose="02010609060101010101" pitchFamily="49" charset="-122"/>
                <a:cs typeface="Times New Roman" panose="02020603050405020304" pitchFamily="18" charset="0"/>
              </a:rPr>
              <a:t>算法</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采用一种</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基于代价复杂度的剪枝</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方法进行</a:t>
            </a:r>
            <a:r>
              <a:rPr lang="zh-CN" altLang="zh-CN" sz="2400" b="1" kern="100" dirty="0">
                <a:effectLst/>
                <a:latin typeface="KaiTi" panose="02010609060101010101" pitchFamily="49" charset="-122"/>
                <a:ea typeface="KaiTi" panose="02010609060101010101" pitchFamily="49" charset="-122"/>
                <a:cs typeface="Times New Roman" panose="02020603050405020304" pitchFamily="18" charset="0"/>
              </a:rPr>
              <a:t>后剪枝</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这种方法会生成一系列树，每个树都是通过将前面的树的某个或某些子树替换成一个叶节点而得到的，这一系列树中的最后一棵树仅含一个用来预测类别的叶节点。然后用一种成本复杂度的度量准则来判断哪棵子树应该被一个预测类别值的叶节点所代替。</a:t>
            </a:r>
            <a:endPar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endParaRPr>
          </a:p>
          <a:p>
            <a:pPr algn="just">
              <a:lnSpc>
                <a:spcPct val="150000"/>
              </a:lnSpc>
            </a:pP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这种方法需要使用一个单独的测试数据集来评估所有的树，根据它们在测试数据集熵的分类性能选出最佳的树。</a:t>
            </a:r>
          </a:p>
        </p:txBody>
      </p:sp>
      <p:sp>
        <p:nvSpPr>
          <p:cNvPr id="3" name="제목 2">
            <a:extLst>
              <a:ext uri="{FF2B5EF4-FFF2-40B4-BE49-F238E27FC236}">
                <a16:creationId xmlns:a16="http://schemas.microsoft.com/office/drawing/2014/main" id="{AB424399-38BC-8FCF-51B6-984B559AF568}"/>
              </a:ext>
            </a:extLst>
          </p:cNvPr>
          <p:cNvSpPr>
            <a:spLocks noGrp="1"/>
          </p:cNvSpPr>
          <p:nvPr>
            <p:ph type="title"/>
          </p:nvPr>
        </p:nvSpPr>
        <p:spPr/>
        <p:txBody>
          <a:bodyPr/>
          <a:lstStyle/>
          <a:p>
            <a:r>
              <a:rPr lang="en-US" altLang="zh-CN" dirty="0">
                <a:solidFill>
                  <a:schemeClr val="tx1"/>
                </a:solidFill>
              </a:rPr>
              <a:t>CART</a:t>
            </a:r>
            <a:r>
              <a:rPr lang="zh-CN" altLang="en-US" dirty="0">
                <a:solidFill>
                  <a:schemeClr val="tx1"/>
                </a:solidFill>
              </a:rPr>
              <a:t>剪枝</a:t>
            </a:r>
            <a:endParaRPr lang="ko-Kore-KR" altLang="en-US"/>
          </a:p>
        </p:txBody>
      </p:sp>
    </p:spTree>
    <p:extLst>
      <p:ext uri="{BB962C8B-B14F-4D97-AF65-F5344CB8AC3E}">
        <p14:creationId xmlns:p14="http://schemas.microsoft.com/office/powerpoint/2010/main" val="13488725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1E72613-7128-AF23-F74E-7345D828AB8B}"/>
              </a:ext>
            </a:extLst>
          </p:cNvPr>
          <p:cNvSpPr>
            <a:spLocks noGrp="1"/>
          </p:cNvSpPr>
          <p:nvPr>
            <p:ph type="title"/>
          </p:nvPr>
        </p:nvSpPr>
        <p:spPr/>
        <p:txBody>
          <a:bodyPr/>
          <a:lstStyle/>
          <a:p>
            <a:r>
              <a:rPr kumimoji="1" lang="ko-Kore-KR" altLang="en-US"/>
              <a:t>决策树作业</a:t>
            </a:r>
          </a:p>
        </p:txBody>
      </p:sp>
    </p:spTree>
    <p:extLst>
      <p:ext uri="{BB962C8B-B14F-4D97-AF65-F5344CB8AC3E}">
        <p14:creationId xmlns:p14="http://schemas.microsoft.com/office/powerpoint/2010/main" val="3821275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460" y="1299412"/>
            <a:ext cx="4610100" cy="3990975"/>
          </a:xfrm>
          <a:prstGeom prst="rect">
            <a:avLst/>
          </a:prstGeom>
        </p:spPr>
      </p:pic>
      <p:pic>
        <p:nvPicPr>
          <p:cNvPr id="3" name="图片 2"/>
          <p:cNvPicPr>
            <a:picLocks noChangeAspect="1"/>
          </p:cNvPicPr>
          <p:nvPr/>
        </p:nvPicPr>
        <p:blipFill rotWithShape="1">
          <a:blip r:embed="rId3" cstate="hqprint">
            <a:extLst>
              <a:ext uri="{28A0092B-C50C-407E-A947-70E740481C1C}">
                <a14:useLocalDpi xmlns:a14="http://schemas.microsoft.com/office/drawing/2010/main" val="0"/>
              </a:ext>
            </a:extLst>
          </a:blip>
          <a:srcRect t="6605"/>
          <a:stretch/>
        </p:blipFill>
        <p:spPr>
          <a:xfrm>
            <a:off x="4805640" y="1299412"/>
            <a:ext cx="7215244" cy="3321860"/>
          </a:xfrm>
          <a:prstGeom prst="rect">
            <a:avLst/>
          </a:prstGeom>
        </p:spPr>
      </p:pic>
      <p:sp>
        <p:nvSpPr>
          <p:cNvPr id="4" name="矩形 3"/>
          <p:cNvSpPr/>
          <p:nvPr/>
        </p:nvSpPr>
        <p:spPr>
          <a:xfrm>
            <a:off x="5313680" y="4680363"/>
            <a:ext cx="6425089" cy="1815882"/>
          </a:xfrm>
          <a:prstGeom prst="rect">
            <a:avLst/>
          </a:prstGeom>
        </p:spPr>
        <p:txBody>
          <a:bodyPr wrap="square">
            <a:spAutoFit/>
          </a:bodyPr>
          <a:lstStyle/>
          <a:p>
            <a:r>
              <a:rPr lang="zh-CN" altLang="en-US" sz="1600" b="1" dirty="0">
                <a:solidFill>
                  <a:srgbClr val="000000"/>
                </a:solidFill>
                <a:latin typeface="KaiTi" panose="02010609060101010101" pitchFamily="49" charset="-122"/>
                <a:ea typeface="KaiTi" panose="02010609060101010101" pitchFamily="49" charset="-122"/>
              </a:rPr>
              <a:t>粗垂直线</a:t>
            </a:r>
            <a:r>
              <a:rPr lang="zh-CN" altLang="en-US" sz="1600" dirty="0">
                <a:solidFill>
                  <a:srgbClr val="000000"/>
                </a:solidFill>
                <a:latin typeface="KaiTi" panose="02010609060101010101" pitchFamily="49" charset="-122"/>
                <a:ea typeface="KaiTi" panose="02010609060101010101" pitchFamily="49" charset="-122"/>
              </a:rPr>
              <a:t>表示根节点的决策边界（深度</a:t>
            </a:r>
            <a:r>
              <a:rPr lang="en-US" altLang="zh-CN" sz="1600" dirty="0">
                <a:solidFill>
                  <a:srgbClr val="000000"/>
                </a:solidFill>
                <a:latin typeface="KaiTi" panose="02010609060101010101" pitchFamily="49" charset="-122"/>
                <a:ea typeface="KaiTi" panose="02010609060101010101" pitchFamily="49" charset="-122"/>
              </a:rPr>
              <a:t>0</a:t>
            </a:r>
            <a:r>
              <a:rPr lang="zh-CN" altLang="en-US" sz="1600" dirty="0">
                <a:solidFill>
                  <a:srgbClr val="000000"/>
                </a:solidFill>
                <a:latin typeface="KaiTi" panose="02010609060101010101" pitchFamily="49" charset="-122"/>
                <a:ea typeface="KaiTi" panose="02010609060101010101" pitchFamily="49" charset="-122"/>
              </a:rPr>
              <a:t>）：花瓣长度</a:t>
            </a:r>
            <a:r>
              <a:rPr lang="en-US" altLang="zh-CN" sz="1600" dirty="0">
                <a:solidFill>
                  <a:srgbClr val="000000"/>
                </a:solidFill>
                <a:latin typeface="KaiTi" panose="02010609060101010101" pitchFamily="49" charset="-122"/>
                <a:ea typeface="KaiTi" panose="02010609060101010101" pitchFamily="49" charset="-122"/>
              </a:rPr>
              <a:t>= 2.45</a:t>
            </a:r>
            <a:r>
              <a:rPr lang="zh-CN" altLang="en-US" sz="1600" dirty="0">
                <a:solidFill>
                  <a:srgbClr val="000000"/>
                </a:solidFill>
                <a:latin typeface="KaiTi" panose="02010609060101010101" pitchFamily="49" charset="-122"/>
                <a:ea typeface="KaiTi" panose="02010609060101010101" pitchFamily="49" charset="-122"/>
              </a:rPr>
              <a:t>厘米。由于左侧区域是纯净的（仅</a:t>
            </a:r>
            <a:r>
              <a:rPr lang="en-US" altLang="zh-CN" sz="1600" dirty="0">
                <a:solidFill>
                  <a:srgbClr val="000000"/>
                </a:solidFill>
                <a:latin typeface="KaiTi" panose="02010609060101010101" pitchFamily="49" charset="-122"/>
                <a:ea typeface="KaiTi" panose="02010609060101010101" pitchFamily="49" charset="-122"/>
              </a:rPr>
              <a:t>Iris-</a:t>
            </a:r>
            <a:r>
              <a:rPr lang="en-US" altLang="zh-CN" sz="1600" dirty="0" err="1">
                <a:solidFill>
                  <a:srgbClr val="000000"/>
                </a:solidFill>
                <a:latin typeface="KaiTi" panose="02010609060101010101" pitchFamily="49" charset="-122"/>
                <a:ea typeface="KaiTi" panose="02010609060101010101" pitchFamily="49" charset="-122"/>
              </a:rPr>
              <a:t>Setosa</a:t>
            </a:r>
            <a:r>
              <a:rPr lang="zh-CN" altLang="en-US" sz="1600" dirty="0">
                <a:solidFill>
                  <a:srgbClr val="000000"/>
                </a:solidFill>
                <a:latin typeface="KaiTi" panose="02010609060101010101" pitchFamily="49" charset="-122"/>
                <a:ea typeface="KaiTi" panose="02010609060101010101" pitchFamily="49" charset="-122"/>
              </a:rPr>
              <a:t>），因此无法进一步拆分。</a:t>
            </a:r>
          </a:p>
          <a:p>
            <a:pPr>
              <a:buFont typeface="Arial" panose="020B0604020202020204" pitchFamily="34" charset="0"/>
              <a:buChar char="•"/>
            </a:pPr>
            <a:r>
              <a:rPr lang="zh-CN" altLang="en-US" sz="1600" dirty="0">
                <a:solidFill>
                  <a:srgbClr val="000000"/>
                </a:solidFill>
                <a:latin typeface="KaiTi" panose="02010609060101010101" pitchFamily="49" charset="-122"/>
                <a:ea typeface="KaiTi" panose="02010609060101010101" pitchFamily="49" charset="-122"/>
              </a:rPr>
              <a:t>然而，右侧区域是不纯的，因此深度为</a:t>
            </a:r>
            <a:r>
              <a:rPr lang="en-US" altLang="zh-CN" sz="1600" dirty="0">
                <a:solidFill>
                  <a:srgbClr val="000000"/>
                </a:solidFill>
                <a:latin typeface="KaiTi" panose="02010609060101010101" pitchFamily="49" charset="-122"/>
                <a:ea typeface="KaiTi" panose="02010609060101010101" pitchFamily="49" charset="-122"/>
              </a:rPr>
              <a:t>1</a:t>
            </a:r>
            <a:r>
              <a:rPr lang="zh-CN" altLang="en-US" sz="1600" dirty="0">
                <a:solidFill>
                  <a:srgbClr val="000000"/>
                </a:solidFill>
                <a:latin typeface="KaiTi" panose="02010609060101010101" pitchFamily="49" charset="-122"/>
                <a:ea typeface="KaiTi" panose="02010609060101010101" pitchFamily="49" charset="-122"/>
              </a:rPr>
              <a:t>的右侧节点将其分割成花瓣宽度</a:t>
            </a:r>
            <a:r>
              <a:rPr lang="en-US" altLang="zh-CN" sz="1600" dirty="0">
                <a:solidFill>
                  <a:srgbClr val="000000"/>
                </a:solidFill>
                <a:latin typeface="KaiTi" panose="02010609060101010101" pitchFamily="49" charset="-122"/>
                <a:ea typeface="KaiTi" panose="02010609060101010101" pitchFamily="49" charset="-122"/>
              </a:rPr>
              <a:t>= 1.75</a:t>
            </a:r>
            <a:r>
              <a:rPr lang="zh-CN" altLang="en-US" sz="1600" dirty="0">
                <a:solidFill>
                  <a:srgbClr val="000000"/>
                </a:solidFill>
                <a:latin typeface="KaiTi" panose="02010609060101010101" pitchFamily="49" charset="-122"/>
                <a:ea typeface="KaiTi" panose="02010609060101010101" pitchFamily="49" charset="-122"/>
              </a:rPr>
              <a:t>厘米（由</a:t>
            </a:r>
            <a:r>
              <a:rPr lang="zh-CN" altLang="en-US" sz="1600" b="1" dirty="0">
                <a:solidFill>
                  <a:srgbClr val="000000"/>
                </a:solidFill>
                <a:latin typeface="KaiTi" panose="02010609060101010101" pitchFamily="49" charset="-122"/>
                <a:ea typeface="KaiTi" panose="02010609060101010101" pitchFamily="49" charset="-122"/>
              </a:rPr>
              <a:t>虚线</a:t>
            </a:r>
            <a:r>
              <a:rPr lang="zh-CN" altLang="en-US" sz="1600" dirty="0">
                <a:solidFill>
                  <a:srgbClr val="000000"/>
                </a:solidFill>
                <a:latin typeface="KaiTi" panose="02010609060101010101" pitchFamily="49" charset="-122"/>
                <a:ea typeface="KaiTi" panose="02010609060101010101" pitchFamily="49" charset="-122"/>
              </a:rPr>
              <a:t>表示）。由于</a:t>
            </a:r>
            <a:r>
              <a:rPr lang="en-US" altLang="zh-CN" sz="1600" dirty="0" err="1">
                <a:solidFill>
                  <a:srgbClr val="000000"/>
                </a:solidFill>
                <a:latin typeface="KaiTi" panose="02010609060101010101" pitchFamily="49" charset="-122"/>
                <a:ea typeface="KaiTi" panose="02010609060101010101" pitchFamily="49" charset="-122"/>
              </a:rPr>
              <a:t>max_depth</a:t>
            </a:r>
            <a:r>
              <a:rPr lang="zh-CN" altLang="en-US" sz="1600" dirty="0">
                <a:solidFill>
                  <a:srgbClr val="000000"/>
                </a:solidFill>
                <a:latin typeface="KaiTi" panose="02010609060101010101" pitchFamily="49" charset="-122"/>
                <a:ea typeface="KaiTi" panose="02010609060101010101" pitchFamily="49" charset="-122"/>
              </a:rPr>
              <a:t>设置为</a:t>
            </a:r>
            <a:r>
              <a:rPr lang="en-US" altLang="zh-CN" sz="1600" dirty="0">
                <a:solidFill>
                  <a:srgbClr val="000000"/>
                </a:solidFill>
                <a:latin typeface="KaiTi" panose="02010609060101010101" pitchFamily="49" charset="-122"/>
                <a:ea typeface="KaiTi" panose="02010609060101010101" pitchFamily="49" charset="-122"/>
              </a:rPr>
              <a:t>2</a:t>
            </a:r>
            <a:r>
              <a:rPr lang="zh-CN" altLang="en-US" sz="1600" dirty="0">
                <a:solidFill>
                  <a:srgbClr val="000000"/>
                </a:solidFill>
                <a:latin typeface="KaiTi" panose="02010609060101010101" pitchFamily="49" charset="-122"/>
                <a:ea typeface="KaiTi" panose="02010609060101010101" pitchFamily="49" charset="-122"/>
              </a:rPr>
              <a:t>，因此决策树会在那里停止。</a:t>
            </a:r>
          </a:p>
          <a:p>
            <a:pPr>
              <a:buFont typeface="Arial" panose="020B0604020202020204" pitchFamily="34" charset="0"/>
              <a:buChar char="•"/>
            </a:pPr>
            <a:r>
              <a:rPr lang="zh-CN" altLang="en-US" sz="1600" dirty="0">
                <a:solidFill>
                  <a:srgbClr val="000000"/>
                </a:solidFill>
                <a:latin typeface="KaiTi" panose="02010609060101010101" pitchFamily="49" charset="-122"/>
                <a:ea typeface="KaiTi" panose="02010609060101010101" pitchFamily="49" charset="-122"/>
              </a:rPr>
              <a:t>但是，如果将</a:t>
            </a:r>
            <a:r>
              <a:rPr lang="en-US" altLang="zh-CN" sz="1600" dirty="0" err="1">
                <a:solidFill>
                  <a:srgbClr val="000000"/>
                </a:solidFill>
                <a:latin typeface="KaiTi" panose="02010609060101010101" pitchFamily="49" charset="-122"/>
                <a:ea typeface="KaiTi" panose="02010609060101010101" pitchFamily="49" charset="-122"/>
              </a:rPr>
              <a:t>max_depth</a:t>
            </a:r>
            <a:r>
              <a:rPr lang="zh-CN" altLang="en-US" sz="1600" dirty="0">
                <a:solidFill>
                  <a:srgbClr val="000000"/>
                </a:solidFill>
                <a:latin typeface="KaiTi" panose="02010609060101010101" pitchFamily="49" charset="-122"/>
                <a:ea typeface="KaiTi" panose="02010609060101010101" pitchFamily="49" charset="-122"/>
              </a:rPr>
              <a:t>设置为</a:t>
            </a:r>
            <a:r>
              <a:rPr lang="en-US" altLang="zh-CN" sz="1600" dirty="0">
                <a:solidFill>
                  <a:srgbClr val="000000"/>
                </a:solidFill>
                <a:latin typeface="KaiTi" panose="02010609060101010101" pitchFamily="49" charset="-122"/>
                <a:ea typeface="KaiTi" panose="02010609060101010101" pitchFamily="49" charset="-122"/>
              </a:rPr>
              <a:t>3</a:t>
            </a:r>
            <a:r>
              <a:rPr lang="zh-CN" altLang="en-US" sz="1600" dirty="0">
                <a:solidFill>
                  <a:srgbClr val="000000"/>
                </a:solidFill>
                <a:latin typeface="KaiTi" panose="02010609060101010101" pitchFamily="49" charset="-122"/>
                <a:ea typeface="KaiTi" panose="02010609060101010101" pitchFamily="49" charset="-122"/>
              </a:rPr>
              <a:t>，那么两个深度为</a:t>
            </a:r>
            <a:r>
              <a:rPr lang="en-US" altLang="zh-CN" sz="1600" dirty="0">
                <a:solidFill>
                  <a:srgbClr val="000000"/>
                </a:solidFill>
                <a:latin typeface="KaiTi" panose="02010609060101010101" pitchFamily="49" charset="-122"/>
                <a:ea typeface="KaiTi" panose="02010609060101010101" pitchFamily="49" charset="-122"/>
              </a:rPr>
              <a:t>2</a:t>
            </a:r>
            <a:r>
              <a:rPr lang="zh-CN" altLang="en-US" sz="1600" dirty="0">
                <a:solidFill>
                  <a:srgbClr val="000000"/>
                </a:solidFill>
                <a:latin typeface="KaiTi" panose="02010609060101010101" pitchFamily="49" charset="-122"/>
                <a:ea typeface="KaiTi" panose="02010609060101010101" pitchFamily="49" charset="-122"/>
              </a:rPr>
              <a:t>的节点将各自添加另一个决策边界（由</a:t>
            </a:r>
            <a:r>
              <a:rPr lang="zh-CN" altLang="en-US" sz="1600" b="1" dirty="0">
                <a:solidFill>
                  <a:srgbClr val="000000"/>
                </a:solidFill>
                <a:latin typeface="KaiTi" panose="02010609060101010101" pitchFamily="49" charset="-122"/>
                <a:ea typeface="KaiTi" panose="02010609060101010101" pitchFamily="49" charset="-122"/>
              </a:rPr>
              <a:t>点虚线</a:t>
            </a:r>
            <a:r>
              <a:rPr lang="zh-CN" altLang="en-US" sz="1600" dirty="0">
                <a:solidFill>
                  <a:srgbClr val="000000"/>
                </a:solidFill>
                <a:latin typeface="KaiTi" panose="02010609060101010101" pitchFamily="49" charset="-122"/>
                <a:ea typeface="KaiTi" panose="02010609060101010101" pitchFamily="49" charset="-122"/>
              </a:rPr>
              <a:t>表示）。</a:t>
            </a:r>
            <a:endParaRPr lang="zh-CN" altLang="en-US" sz="1600" b="0" i="0" dirty="0">
              <a:solidFill>
                <a:srgbClr val="000000"/>
              </a:solidFill>
              <a:effectLst/>
              <a:latin typeface="KaiTi" panose="02010609060101010101" pitchFamily="49" charset="-122"/>
              <a:ea typeface="KaiTi" panose="02010609060101010101" pitchFamily="49" charset="-122"/>
            </a:endParaRPr>
          </a:p>
        </p:txBody>
      </p:sp>
      <p:sp>
        <p:nvSpPr>
          <p:cNvPr id="5" name="矩形 4"/>
          <p:cNvSpPr/>
          <p:nvPr/>
        </p:nvSpPr>
        <p:spPr>
          <a:xfrm>
            <a:off x="373625" y="5451451"/>
            <a:ext cx="4609465" cy="677108"/>
          </a:xfrm>
          <a:prstGeom prst="rect">
            <a:avLst/>
          </a:prstGeom>
        </p:spPr>
        <p:txBody>
          <a:bodyPr wrap="square">
            <a:spAutoFit/>
          </a:bodyPr>
          <a:lstStyle/>
          <a:p>
            <a:r>
              <a:rPr lang="en-US" altLang="zh-CN" dirty="0">
                <a:solidFill>
                  <a:srgbClr val="000000"/>
                </a:solidFill>
                <a:latin typeface="KaiTi" panose="02010609060101010101" pitchFamily="49" charset="-122"/>
                <a:ea typeface="KaiTi" panose="02010609060101010101" pitchFamily="49" charset="-122"/>
              </a:rPr>
              <a:t>150</a:t>
            </a:r>
            <a:r>
              <a:rPr lang="zh-CN" altLang="en-US" dirty="0">
                <a:solidFill>
                  <a:srgbClr val="000000"/>
                </a:solidFill>
                <a:latin typeface="KaiTi" panose="02010609060101010101" pitchFamily="49" charset="-122"/>
                <a:ea typeface="KaiTi" panose="02010609060101010101" pitchFamily="49" charset="-122"/>
              </a:rPr>
              <a:t>个鸢尾花样本进行分类，特征为花萼的长度和宽度</a:t>
            </a:r>
            <a:endParaRPr lang="zh-CN" altLang="en-US" b="0" i="0" dirty="0">
              <a:solidFill>
                <a:srgbClr val="000000"/>
              </a:solidFill>
              <a:effectLst/>
              <a:latin typeface="KaiTi" panose="02010609060101010101" pitchFamily="49" charset="-122"/>
              <a:ea typeface="KaiTi" panose="02010609060101010101" pitchFamily="49" charset="-122"/>
            </a:endParaRPr>
          </a:p>
        </p:txBody>
      </p:sp>
      <p:sp>
        <p:nvSpPr>
          <p:cNvPr id="9" name="제목 8">
            <a:extLst>
              <a:ext uri="{FF2B5EF4-FFF2-40B4-BE49-F238E27FC236}">
                <a16:creationId xmlns:a16="http://schemas.microsoft.com/office/drawing/2014/main" id="{2CC3439B-080A-1122-75D6-C6B32CFEFA9B}"/>
              </a:ext>
            </a:extLst>
          </p:cNvPr>
          <p:cNvSpPr>
            <a:spLocks noGrp="1"/>
          </p:cNvSpPr>
          <p:nvPr>
            <p:ph type="title"/>
          </p:nvPr>
        </p:nvSpPr>
        <p:spPr/>
        <p:txBody>
          <a:bodyPr/>
          <a:lstStyle/>
          <a:p>
            <a:r>
              <a:rPr lang="ko-Kore-KR" altLang="en-US"/>
              <a:t>决策树原理</a:t>
            </a:r>
          </a:p>
        </p:txBody>
      </p:sp>
    </p:spTree>
    <p:extLst>
      <p:ext uri="{BB962C8B-B14F-4D97-AF65-F5344CB8AC3E}">
        <p14:creationId xmlns:p14="http://schemas.microsoft.com/office/powerpoint/2010/main" val="1011381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A1B7685-1F10-FC86-FA46-FABE97DB1917}"/>
              </a:ext>
            </a:extLst>
          </p:cNvPr>
          <p:cNvSpPr>
            <a:spLocks noGrp="1"/>
          </p:cNvSpPr>
          <p:nvPr>
            <p:ph type="title"/>
          </p:nvPr>
        </p:nvSpPr>
        <p:spPr/>
        <p:txBody>
          <a:bodyPr/>
          <a:lstStyle/>
          <a:p>
            <a:r>
              <a:rPr kumimoji="1" lang="ko-Kore-KR" altLang="en-US"/>
              <a:t>决策树</a:t>
            </a:r>
            <a:r>
              <a:rPr kumimoji="1" lang="en-US" altLang="zh-CN"/>
              <a:t>-iris</a:t>
            </a:r>
            <a:r>
              <a:rPr kumimoji="1" lang="ko-Kore-KR" altLang="en-US"/>
              <a:t>数据集</a:t>
            </a:r>
          </a:p>
        </p:txBody>
      </p:sp>
      <p:pic>
        <p:nvPicPr>
          <p:cNvPr id="4" name="그림 3">
            <a:extLst>
              <a:ext uri="{FF2B5EF4-FFF2-40B4-BE49-F238E27FC236}">
                <a16:creationId xmlns:a16="http://schemas.microsoft.com/office/drawing/2014/main" id="{1AA9EF88-FC3B-7C4C-B94D-4B7DD60C1314}"/>
              </a:ext>
            </a:extLst>
          </p:cNvPr>
          <p:cNvPicPr>
            <a:picLocks noChangeAspect="1"/>
          </p:cNvPicPr>
          <p:nvPr/>
        </p:nvPicPr>
        <p:blipFill>
          <a:blip r:embed="rId2"/>
          <a:stretch>
            <a:fillRect/>
          </a:stretch>
        </p:blipFill>
        <p:spPr>
          <a:xfrm>
            <a:off x="350985" y="1095154"/>
            <a:ext cx="5816975" cy="3763925"/>
          </a:xfrm>
          <a:prstGeom prst="rect">
            <a:avLst/>
          </a:prstGeom>
        </p:spPr>
      </p:pic>
      <p:pic>
        <p:nvPicPr>
          <p:cNvPr id="5" name="그림 4">
            <a:extLst>
              <a:ext uri="{FF2B5EF4-FFF2-40B4-BE49-F238E27FC236}">
                <a16:creationId xmlns:a16="http://schemas.microsoft.com/office/drawing/2014/main" id="{23E8A501-3A34-65EC-AA2C-A74F15260EC4}"/>
              </a:ext>
            </a:extLst>
          </p:cNvPr>
          <p:cNvPicPr>
            <a:picLocks noChangeAspect="1"/>
          </p:cNvPicPr>
          <p:nvPr/>
        </p:nvPicPr>
        <p:blipFill>
          <a:blip r:embed="rId3"/>
          <a:stretch>
            <a:fillRect/>
          </a:stretch>
        </p:blipFill>
        <p:spPr>
          <a:xfrm>
            <a:off x="5761072" y="1095154"/>
            <a:ext cx="5222359" cy="2440514"/>
          </a:xfrm>
          <a:prstGeom prst="rect">
            <a:avLst/>
          </a:prstGeom>
        </p:spPr>
      </p:pic>
      <p:pic>
        <p:nvPicPr>
          <p:cNvPr id="6" name="그림 5">
            <a:extLst>
              <a:ext uri="{FF2B5EF4-FFF2-40B4-BE49-F238E27FC236}">
                <a16:creationId xmlns:a16="http://schemas.microsoft.com/office/drawing/2014/main" id="{9A49A1DB-5984-3591-F770-EBB3234974A6}"/>
              </a:ext>
            </a:extLst>
          </p:cNvPr>
          <p:cNvPicPr>
            <a:picLocks noChangeAspect="1"/>
          </p:cNvPicPr>
          <p:nvPr/>
        </p:nvPicPr>
        <p:blipFill>
          <a:blip r:embed="rId4"/>
          <a:stretch>
            <a:fillRect/>
          </a:stretch>
        </p:blipFill>
        <p:spPr>
          <a:xfrm>
            <a:off x="6622310" y="3510715"/>
            <a:ext cx="4878486" cy="3125609"/>
          </a:xfrm>
          <a:prstGeom prst="rect">
            <a:avLst/>
          </a:prstGeom>
        </p:spPr>
      </p:pic>
    </p:spTree>
    <p:extLst>
      <p:ext uri="{BB962C8B-B14F-4D97-AF65-F5344CB8AC3E}">
        <p14:creationId xmlns:p14="http://schemas.microsoft.com/office/powerpoint/2010/main" val="815148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A1B7685-1F10-FC86-FA46-FABE97DB1917}"/>
              </a:ext>
            </a:extLst>
          </p:cNvPr>
          <p:cNvSpPr>
            <a:spLocks noGrp="1"/>
          </p:cNvSpPr>
          <p:nvPr>
            <p:ph type="title"/>
          </p:nvPr>
        </p:nvSpPr>
        <p:spPr/>
        <p:txBody>
          <a:bodyPr/>
          <a:lstStyle/>
          <a:p>
            <a:r>
              <a:rPr kumimoji="1" lang="ko-Kore-KR" altLang="en-US"/>
              <a:t>决策树</a:t>
            </a:r>
            <a:r>
              <a:rPr kumimoji="1" lang="en-US" altLang="zh-CN"/>
              <a:t>-iris</a:t>
            </a:r>
            <a:r>
              <a:rPr kumimoji="1" lang="ko-Kore-KR" altLang="en-US"/>
              <a:t>数据集</a:t>
            </a:r>
          </a:p>
        </p:txBody>
      </p:sp>
      <p:pic>
        <p:nvPicPr>
          <p:cNvPr id="18434" name="Picture 2">
            <a:extLst>
              <a:ext uri="{FF2B5EF4-FFF2-40B4-BE49-F238E27FC236}">
                <a16:creationId xmlns:a16="http://schemas.microsoft.com/office/drawing/2014/main" id="{E204DABF-4F7E-F0E3-41CA-CA13C4DD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62" y="1241250"/>
            <a:ext cx="4976008" cy="2639903"/>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75E1EE42-9036-C73C-C6D8-CCFCC6B33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62" y="4003734"/>
            <a:ext cx="4976008" cy="2639903"/>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a:extLst>
              <a:ext uri="{FF2B5EF4-FFF2-40B4-BE49-F238E27FC236}">
                <a16:creationId xmlns:a16="http://schemas.microsoft.com/office/drawing/2014/main" id="{B131CC8B-DEB1-E819-695F-02C7CE1D02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533"/>
          <a:stretch/>
        </p:blipFill>
        <p:spPr bwMode="auto">
          <a:xfrm>
            <a:off x="5125563" y="1129608"/>
            <a:ext cx="3586385" cy="3300576"/>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a:extLst>
              <a:ext uri="{FF2B5EF4-FFF2-40B4-BE49-F238E27FC236}">
                <a16:creationId xmlns:a16="http://schemas.microsoft.com/office/drawing/2014/main" id="{D52F9DB0-4D4A-5D9E-2721-89925C6BD3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756"/>
          <a:stretch/>
        </p:blipFill>
        <p:spPr bwMode="auto">
          <a:xfrm>
            <a:off x="8789889" y="3575009"/>
            <a:ext cx="3253549" cy="3068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4251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229321E-1196-E6C1-6A8E-6AD3BFD28F1D}"/>
              </a:ext>
            </a:extLst>
          </p:cNvPr>
          <p:cNvSpPr>
            <a:spLocks noGrp="1"/>
          </p:cNvSpPr>
          <p:nvPr>
            <p:ph type="title"/>
          </p:nvPr>
        </p:nvSpPr>
        <p:spPr/>
        <p:txBody>
          <a:bodyPr/>
          <a:lstStyle/>
          <a:p>
            <a:r>
              <a:rPr kumimoji="1" lang="ko-Kore-KR" altLang="en-US"/>
              <a:t>决策树</a:t>
            </a:r>
            <a:r>
              <a:rPr kumimoji="1" lang="en-US" altLang="zh-CN"/>
              <a:t>-Titanic</a:t>
            </a:r>
            <a:r>
              <a:rPr kumimoji="1" lang="ko-Kore-KR" altLang="en-US"/>
              <a:t>数据集</a:t>
            </a:r>
          </a:p>
        </p:txBody>
      </p:sp>
      <p:pic>
        <p:nvPicPr>
          <p:cNvPr id="4" name="그림 3">
            <a:extLst>
              <a:ext uri="{FF2B5EF4-FFF2-40B4-BE49-F238E27FC236}">
                <a16:creationId xmlns:a16="http://schemas.microsoft.com/office/drawing/2014/main" id="{A6A599BF-D43F-3984-6895-7811C55DCACD}"/>
              </a:ext>
            </a:extLst>
          </p:cNvPr>
          <p:cNvPicPr>
            <a:picLocks noChangeAspect="1"/>
          </p:cNvPicPr>
          <p:nvPr/>
        </p:nvPicPr>
        <p:blipFill>
          <a:blip r:embed="rId2"/>
          <a:stretch>
            <a:fillRect/>
          </a:stretch>
        </p:blipFill>
        <p:spPr>
          <a:xfrm>
            <a:off x="1880191" y="1289956"/>
            <a:ext cx="7370135" cy="5346368"/>
          </a:xfrm>
          <a:prstGeom prst="rect">
            <a:avLst/>
          </a:prstGeom>
        </p:spPr>
      </p:pic>
    </p:spTree>
    <p:extLst>
      <p:ext uri="{BB962C8B-B14F-4D97-AF65-F5344CB8AC3E}">
        <p14:creationId xmlns:p14="http://schemas.microsoft.com/office/powerpoint/2010/main" val="3699804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229321E-1196-E6C1-6A8E-6AD3BFD28F1D}"/>
              </a:ext>
            </a:extLst>
          </p:cNvPr>
          <p:cNvSpPr>
            <a:spLocks noGrp="1"/>
          </p:cNvSpPr>
          <p:nvPr>
            <p:ph type="title"/>
          </p:nvPr>
        </p:nvSpPr>
        <p:spPr/>
        <p:txBody>
          <a:bodyPr/>
          <a:lstStyle/>
          <a:p>
            <a:r>
              <a:rPr kumimoji="1" lang="ko-Kore-KR" altLang="en-US"/>
              <a:t>决策树</a:t>
            </a:r>
            <a:r>
              <a:rPr kumimoji="1" lang="en-US" altLang="zh-CN"/>
              <a:t>-Titanic</a:t>
            </a:r>
            <a:r>
              <a:rPr kumimoji="1" lang="ko-Kore-KR" altLang="en-US"/>
              <a:t>数据集</a:t>
            </a:r>
          </a:p>
        </p:txBody>
      </p:sp>
      <p:pic>
        <p:nvPicPr>
          <p:cNvPr id="3" name="그림 2">
            <a:extLst>
              <a:ext uri="{FF2B5EF4-FFF2-40B4-BE49-F238E27FC236}">
                <a16:creationId xmlns:a16="http://schemas.microsoft.com/office/drawing/2014/main" id="{C1D353D7-39D8-2506-2751-FA226255B851}"/>
              </a:ext>
            </a:extLst>
          </p:cNvPr>
          <p:cNvPicPr>
            <a:picLocks noChangeAspect="1"/>
          </p:cNvPicPr>
          <p:nvPr/>
        </p:nvPicPr>
        <p:blipFill>
          <a:blip r:embed="rId2"/>
          <a:stretch>
            <a:fillRect/>
          </a:stretch>
        </p:blipFill>
        <p:spPr>
          <a:xfrm>
            <a:off x="646814" y="1445819"/>
            <a:ext cx="8573524" cy="1818376"/>
          </a:xfrm>
          <a:prstGeom prst="rect">
            <a:avLst/>
          </a:prstGeom>
        </p:spPr>
      </p:pic>
      <p:pic>
        <p:nvPicPr>
          <p:cNvPr id="5" name="그림 4">
            <a:extLst>
              <a:ext uri="{FF2B5EF4-FFF2-40B4-BE49-F238E27FC236}">
                <a16:creationId xmlns:a16="http://schemas.microsoft.com/office/drawing/2014/main" id="{348FD6C7-B76D-F20D-D68D-828F38CF6CC0}"/>
              </a:ext>
            </a:extLst>
          </p:cNvPr>
          <p:cNvPicPr>
            <a:picLocks noChangeAspect="1"/>
          </p:cNvPicPr>
          <p:nvPr/>
        </p:nvPicPr>
        <p:blipFill>
          <a:blip r:embed="rId3"/>
          <a:stretch>
            <a:fillRect/>
          </a:stretch>
        </p:blipFill>
        <p:spPr>
          <a:xfrm>
            <a:off x="2149766" y="3593806"/>
            <a:ext cx="8216978" cy="3016980"/>
          </a:xfrm>
          <a:prstGeom prst="rect">
            <a:avLst/>
          </a:prstGeom>
        </p:spPr>
      </p:pic>
    </p:spTree>
    <p:extLst>
      <p:ext uri="{BB962C8B-B14F-4D97-AF65-F5344CB8AC3E}">
        <p14:creationId xmlns:p14="http://schemas.microsoft.com/office/powerpoint/2010/main" val="22484250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9C9DF9-E82A-0B9C-A508-CBD2A78DD772}"/>
              </a:ext>
            </a:extLst>
          </p:cNvPr>
          <p:cNvSpPr>
            <a:spLocks noGrp="1"/>
          </p:cNvSpPr>
          <p:nvPr>
            <p:ph type="title"/>
          </p:nvPr>
        </p:nvSpPr>
        <p:spPr/>
        <p:txBody>
          <a:bodyPr/>
          <a:lstStyle/>
          <a:p>
            <a:r>
              <a:rPr kumimoji="1" lang="ko-Kore-KR" altLang="en-US"/>
              <a:t>决策树</a:t>
            </a:r>
            <a:r>
              <a:rPr kumimoji="1" lang="en-US" altLang="zh-CN"/>
              <a:t>-Titanic</a:t>
            </a:r>
            <a:r>
              <a:rPr kumimoji="1" lang="ko-Kore-KR" altLang="en-US"/>
              <a:t>数据集</a:t>
            </a:r>
          </a:p>
        </p:txBody>
      </p:sp>
      <p:pic>
        <p:nvPicPr>
          <p:cNvPr id="4" name="그림 3">
            <a:extLst>
              <a:ext uri="{FF2B5EF4-FFF2-40B4-BE49-F238E27FC236}">
                <a16:creationId xmlns:a16="http://schemas.microsoft.com/office/drawing/2014/main" id="{3C72B201-6125-0B4A-602A-6B649C5E70ED}"/>
              </a:ext>
            </a:extLst>
          </p:cNvPr>
          <p:cNvPicPr>
            <a:picLocks noChangeAspect="1"/>
          </p:cNvPicPr>
          <p:nvPr/>
        </p:nvPicPr>
        <p:blipFill>
          <a:blip r:embed="rId2"/>
          <a:stretch>
            <a:fillRect/>
          </a:stretch>
        </p:blipFill>
        <p:spPr>
          <a:xfrm>
            <a:off x="478466" y="1310968"/>
            <a:ext cx="7953153" cy="3152227"/>
          </a:xfrm>
          <a:prstGeom prst="rect">
            <a:avLst/>
          </a:prstGeom>
        </p:spPr>
      </p:pic>
      <p:pic>
        <p:nvPicPr>
          <p:cNvPr id="5" name="그림 4">
            <a:extLst>
              <a:ext uri="{FF2B5EF4-FFF2-40B4-BE49-F238E27FC236}">
                <a16:creationId xmlns:a16="http://schemas.microsoft.com/office/drawing/2014/main" id="{239482B4-9002-7CD8-39AC-1FDB00180B25}"/>
              </a:ext>
            </a:extLst>
          </p:cNvPr>
          <p:cNvPicPr>
            <a:picLocks noChangeAspect="1"/>
          </p:cNvPicPr>
          <p:nvPr/>
        </p:nvPicPr>
        <p:blipFill>
          <a:blip r:embed="rId3"/>
          <a:stretch>
            <a:fillRect/>
          </a:stretch>
        </p:blipFill>
        <p:spPr>
          <a:xfrm>
            <a:off x="6292645" y="2277798"/>
            <a:ext cx="5036732" cy="2185397"/>
          </a:xfrm>
          <a:prstGeom prst="rect">
            <a:avLst/>
          </a:prstGeom>
        </p:spPr>
      </p:pic>
      <p:pic>
        <p:nvPicPr>
          <p:cNvPr id="6" name="그림 5">
            <a:extLst>
              <a:ext uri="{FF2B5EF4-FFF2-40B4-BE49-F238E27FC236}">
                <a16:creationId xmlns:a16="http://schemas.microsoft.com/office/drawing/2014/main" id="{53869AAA-5E20-0E9A-9850-773597F6BA9E}"/>
              </a:ext>
            </a:extLst>
          </p:cNvPr>
          <p:cNvPicPr>
            <a:picLocks noChangeAspect="1"/>
          </p:cNvPicPr>
          <p:nvPr/>
        </p:nvPicPr>
        <p:blipFill>
          <a:blip r:embed="rId4"/>
          <a:stretch>
            <a:fillRect/>
          </a:stretch>
        </p:blipFill>
        <p:spPr>
          <a:xfrm>
            <a:off x="6292645" y="4664360"/>
            <a:ext cx="5428303" cy="1710287"/>
          </a:xfrm>
          <a:prstGeom prst="rect">
            <a:avLst/>
          </a:prstGeom>
        </p:spPr>
      </p:pic>
    </p:spTree>
    <p:extLst>
      <p:ext uri="{BB962C8B-B14F-4D97-AF65-F5344CB8AC3E}">
        <p14:creationId xmlns:p14="http://schemas.microsoft.com/office/powerpoint/2010/main" val="18185101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00B954-60B3-3C85-30B4-79354DF7FAF5}"/>
              </a:ext>
            </a:extLst>
          </p:cNvPr>
          <p:cNvSpPr>
            <a:spLocks noGrp="1"/>
          </p:cNvSpPr>
          <p:nvPr>
            <p:ph type="title"/>
          </p:nvPr>
        </p:nvSpPr>
        <p:spPr/>
        <p:txBody>
          <a:bodyPr/>
          <a:lstStyle/>
          <a:p>
            <a:r>
              <a:rPr kumimoji="1" lang="ko-Kore-KR" altLang="en-US" dirty="0"/>
              <a:t>决策树</a:t>
            </a:r>
            <a:r>
              <a:rPr kumimoji="1" lang="en-US" altLang="zh-CN" dirty="0"/>
              <a:t>-Titanic</a:t>
            </a:r>
            <a:r>
              <a:rPr kumimoji="1" lang="ko-Kore-KR" altLang="en-US" dirty="0"/>
              <a:t>数据集</a:t>
            </a:r>
          </a:p>
        </p:txBody>
      </p:sp>
      <p:pic>
        <p:nvPicPr>
          <p:cNvPr id="15362" name="Picture 2">
            <a:extLst>
              <a:ext uri="{FF2B5EF4-FFF2-40B4-BE49-F238E27FC236}">
                <a16:creationId xmlns:a16="http://schemas.microsoft.com/office/drawing/2014/main" id="{1D1DE2F9-ED95-4F0A-7A9C-E83F2C4BB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653" y="1350411"/>
            <a:ext cx="9133367" cy="2499783"/>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13599735-4921-14AD-BBC8-21F871A01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8168" y="4353390"/>
            <a:ext cx="10249786" cy="2148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3750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00B954-60B3-3C85-30B4-79354DF7FAF5}"/>
              </a:ext>
            </a:extLst>
          </p:cNvPr>
          <p:cNvSpPr>
            <a:spLocks noGrp="1"/>
          </p:cNvSpPr>
          <p:nvPr>
            <p:ph type="title"/>
          </p:nvPr>
        </p:nvSpPr>
        <p:spPr/>
        <p:txBody>
          <a:bodyPr/>
          <a:lstStyle/>
          <a:p>
            <a:r>
              <a:rPr kumimoji="1" lang="ko-Kore-KR" altLang="en-US" dirty="0"/>
              <a:t>决策树</a:t>
            </a:r>
            <a:r>
              <a:rPr kumimoji="1" lang="en-US" altLang="zh-CN" dirty="0"/>
              <a:t>-Titanic</a:t>
            </a:r>
            <a:r>
              <a:rPr kumimoji="1" lang="ko-Kore-KR" altLang="en-US" dirty="0"/>
              <a:t>数据集</a:t>
            </a:r>
          </a:p>
        </p:txBody>
      </p:sp>
      <p:pic>
        <p:nvPicPr>
          <p:cNvPr id="15362" name="Picture 2">
            <a:extLst>
              <a:ext uri="{FF2B5EF4-FFF2-40B4-BE49-F238E27FC236}">
                <a16:creationId xmlns:a16="http://schemas.microsoft.com/office/drawing/2014/main" id="{1D1DE2F9-ED95-4F0A-7A9C-E83F2C4BB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653" y="1350411"/>
            <a:ext cx="9133367" cy="2499783"/>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13599735-4921-14AD-BBC8-21F871A01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8168" y="4353390"/>
            <a:ext cx="10249786" cy="2148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7919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C72299-5B7F-E620-9A47-BC60A4FBFE1E}"/>
              </a:ext>
            </a:extLst>
          </p:cNvPr>
          <p:cNvSpPr>
            <a:spLocks noGrp="1"/>
          </p:cNvSpPr>
          <p:nvPr>
            <p:ph type="title"/>
          </p:nvPr>
        </p:nvSpPr>
        <p:spPr/>
        <p:txBody>
          <a:bodyPr/>
          <a:lstStyle/>
          <a:p>
            <a:r>
              <a:rPr kumimoji="1" lang="ko-Kore-KR" altLang="en-US" dirty="0"/>
              <a:t>决策树</a:t>
            </a:r>
          </a:p>
        </p:txBody>
      </p:sp>
      <p:sp>
        <p:nvSpPr>
          <p:cNvPr id="3" name="내용 개체 틀 2">
            <a:extLst>
              <a:ext uri="{FF2B5EF4-FFF2-40B4-BE49-F238E27FC236}">
                <a16:creationId xmlns:a16="http://schemas.microsoft.com/office/drawing/2014/main" id="{47D2DF1C-A441-CD62-453F-D56C1C6DC00E}"/>
              </a:ext>
            </a:extLst>
          </p:cNvPr>
          <p:cNvSpPr>
            <a:spLocks noGrp="1"/>
          </p:cNvSpPr>
          <p:nvPr>
            <p:ph idx="1"/>
          </p:nvPr>
        </p:nvSpPr>
        <p:spPr/>
        <p:txBody>
          <a:bodyPr/>
          <a:lstStyle/>
          <a:p>
            <a:r>
              <a:rPr kumimoji="1" lang="en" altLang="ko-Kore-KR" dirty="0">
                <a:hlinkClick r:id="rId2"/>
              </a:rPr>
              <a:t>https://www.kaggle.com/code/caesarmario/listen-to-your-heart-a-disease-prediction#7.5-%7C-Decision-Tree</a:t>
            </a:r>
            <a:endParaRPr kumimoji="1" lang="en" altLang="ko-Kore-KR" dirty="0"/>
          </a:p>
          <a:p>
            <a:endParaRPr kumimoji="1" lang="en" altLang="ko-Kore-KR" dirty="0"/>
          </a:p>
          <a:p>
            <a:r>
              <a:rPr kumimoji="1" lang="en" altLang="ko-Kore-KR" dirty="0"/>
              <a:t>https://www.kaggle.com/code/waltermaffy/fruit-classification-pca-svm-knn-decision-tree/notebook</a:t>
            </a:r>
            <a:endParaRPr kumimoji="1" lang="ko-Kore-KR" altLang="en-US" dirty="0"/>
          </a:p>
        </p:txBody>
      </p:sp>
    </p:spTree>
    <p:extLst>
      <p:ext uri="{BB962C8B-B14F-4D97-AF65-F5344CB8AC3E}">
        <p14:creationId xmlns:p14="http://schemas.microsoft.com/office/powerpoint/2010/main" val="14120924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0" name="文本框 9">
            <a:extLst>
              <a:ext uri="{FF2B5EF4-FFF2-40B4-BE49-F238E27FC236}">
                <a16:creationId xmlns:a16="http://schemas.microsoft.com/office/drawing/2014/main" id="{B2F66F9A-47D5-49C1-862B-F9BC4511C197}"/>
              </a:ext>
            </a:extLst>
          </p:cNvPr>
          <p:cNvSpPr txBox="1"/>
          <p:nvPr/>
        </p:nvSpPr>
        <p:spPr>
          <a:xfrm>
            <a:off x="691934" y="1268701"/>
            <a:ext cx="10688064" cy="5367623"/>
          </a:xfrm>
          <a:prstGeom prst="rect">
            <a:avLst/>
          </a:prstGeom>
          <a:noFill/>
        </p:spPr>
        <p:txBody>
          <a:bodyPr wrap="square">
            <a:spAutoFit/>
          </a:bodyPr>
          <a:lstStyle/>
          <a:p>
            <a:pPr marL="342900" lvl="0" indent="-342900" algn="just">
              <a:lnSpc>
                <a:spcPct val="130000"/>
              </a:lnSpc>
              <a:spcAft>
                <a:spcPts val="1000"/>
              </a:spcAft>
              <a:buFont typeface="Arial" panose="020B0604020202020204" pitchFamily="34" charset="0"/>
              <a:buChar char="•"/>
            </a:pPr>
            <a:r>
              <a:rPr lang="zh-CN" altLang="zh-CN" sz="2000" b="1" kern="100" dirty="0">
                <a:effectLst/>
                <a:latin typeface="KaiTi" panose="02010609060101010101" pitchFamily="49" charset="-122"/>
                <a:ea typeface="KaiTi" panose="02010609060101010101" pitchFamily="49" charset="-122"/>
                <a:cs typeface="Times New Roman" panose="02020603050405020304" pitchFamily="18" charset="0"/>
              </a:rPr>
              <a:t>划分标准的差异</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使用信息增益偏向特征值多的特征，</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使用信息增益率克服信息增益的缺点，偏向于特征值小的特征，</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使用基尼指数克服</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需要求</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log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的巨大计算量，偏向于特征值较多的特征。</a:t>
            </a:r>
          </a:p>
          <a:p>
            <a:pPr marL="342900" lvl="0" indent="-342900" algn="just">
              <a:lnSpc>
                <a:spcPct val="130000"/>
              </a:lnSpc>
              <a:spcAft>
                <a:spcPts val="1000"/>
              </a:spcAft>
              <a:buFont typeface="Arial" panose="020B0604020202020204" pitchFamily="34" charset="0"/>
              <a:buChar char="•"/>
            </a:pPr>
            <a:r>
              <a:rPr lang="zh-CN" altLang="zh-CN" sz="2000" b="1" kern="100" dirty="0">
                <a:effectLst/>
                <a:latin typeface="KaiTi" panose="02010609060101010101" pitchFamily="49" charset="-122"/>
                <a:ea typeface="KaiTi" panose="02010609060101010101" pitchFamily="49" charset="-122"/>
                <a:cs typeface="Times New Roman" panose="02020603050405020304" pitchFamily="18" charset="0"/>
              </a:rPr>
              <a:t>使用场景的差异</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都只能用于分类问题，</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可以用于分类和回归问题；</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是多叉树，速度较慢，</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是二叉树，计算速度很快；</a:t>
            </a:r>
          </a:p>
          <a:p>
            <a:pPr marL="342900" lvl="0" indent="-342900" algn="just">
              <a:lnSpc>
                <a:spcPct val="130000"/>
              </a:lnSpc>
              <a:spcAft>
                <a:spcPts val="1000"/>
              </a:spcAft>
              <a:buFont typeface="Arial" panose="020B0604020202020204" pitchFamily="34" charset="0"/>
              <a:buChar char="•"/>
            </a:pPr>
            <a:r>
              <a:rPr lang="zh-CN" altLang="zh-CN" sz="2000" b="1" kern="100" dirty="0">
                <a:effectLst/>
                <a:latin typeface="KaiTi" panose="02010609060101010101" pitchFamily="49" charset="-122"/>
                <a:ea typeface="KaiTi" panose="02010609060101010101" pitchFamily="49" charset="-122"/>
                <a:cs typeface="Times New Roman" panose="02020603050405020304" pitchFamily="18" charset="0"/>
              </a:rPr>
              <a:t>样本数据的差异</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只能处理离散数据且缺失值敏感，</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可以处理连续性数据且有多种方式处理缺失值；从样本量考虑的话，小样本建议</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C4.5</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、大样本建议</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CART</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处理过程中需对数据集进行多次扫描排序，处理成本耗时较高，而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本身是一种大样本的统计方法，小样本处理下泛化误差较大 ；</a:t>
            </a:r>
          </a:p>
          <a:p>
            <a:pPr marL="342900" lvl="0" indent="-342900" algn="just">
              <a:lnSpc>
                <a:spcPct val="130000"/>
              </a:lnSpc>
              <a:spcAft>
                <a:spcPts val="1000"/>
              </a:spcAft>
              <a:buFont typeface="Arial" panose="020B0604020202020204" pitchFamily="34" charset="0"/>
              <a:buChar char="•"/>
            </a:pPr>
            <a:r>
              <a:rPr lang="zh-CN" altLang="zh-CN" sz="2000" b="1" kern="100" dirty="0">
                <a:effectLst/>
                <a:latin typeface="KaiTi" panose="02010609060101010101" pitchFamily="49" charset="-122"/>
                <a:ea typeface="KaiTi" panose="02010609060101010101" pitchFamily="49" charset="-122"/>
                <a:cs typeface="Times New Roman" panose="02020603050405020304" pitchFamily="18" charset="0"/>
              </a:rPr>
              <a:t>样本特征的差异</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层级之间只使用一次特征，</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可多次重复使用特征；</a:t>
            </a:r>
          </a:p>
          <a:p>
            <a:pPr marL="342900" lvl="0" indent="-342900" algn="just">
              <a:lnSpc>
                <a:spcPct val="130000"/>
              </a:lnSpc>
              <a:spcAft>
                <a:spcPts val="1000"/>
              </a:spcAft>
              <a:buFont typeface="Arial" panose="020B0604020202020204" pitchFamily="34" charset="0"/>
              <a:buChar char="•"/>
            </a:pPr>
            <a:r>
              <a:rPr lang="zh-CN" altLang="zh-CN" sz="2000" b="1" kern="100" dirty="0">
                <a:effectLst/>
                <a:latin typeface="KaiTi" panose="02010609060101010101" pitchFamily="49" charset="-122"/>
                <a:ea typeface="KaiTi" panose="02010609060101010101" pitchFamily="49" charset="-122"/>
                <a:cs typeface="Times New Roman" panose="02020603050405020304" pitchFamily="18" charset="0"/>
              </a:rPr>
              <a:t>剪枝策略的差异</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ID3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没有剪枝策略，</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C4.5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是通过悲观剪枝策略来修正树的准确性，而</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 CART </a:t>
            </a:r>
            <a:r>
              <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rPr>
              <a:t>是通过代价复杂度剪枝。</a:t>
            </a:r>
          </a:p>
        </p:txBody>
      </p:sp>
      <p:sp>
        <p:nvSpPr>
          <p:cNvPr id="3" name="제목 2">
            <a:extLst>
              <a:ext uri="{FF2B5EF4-FFF2-40B4-BE49-F238E27FC236}">
                <a16:creationId xmlns:a16="http://schemas.microsoft.com/office/drawing/2014/main" id="{23D2E918-9E54-F752-C286-5702272BC6B6}"/>
              </a:ext>
            </a:extLst>
          </p:cNvPr>
          <p:cNvSpPr>
            <a:spLocks noGrp="1"/>
          </p:cNvSpPr>
          <p:nvPr>
            <p:ph type="title"/>
          </p:nvPr>
        </p:nvSpPr>
        <p:spPr/>
        <p:txBody>
          <a:bodyPr/>
          <a:lstStyle/>
          <a:p>
            <a:r>
              <a:rPr lang="zh-CN" altLang="en-US" dirty="0">
                <a:solidFill>
                  <a:schemeClr val="tx1"/>
                </a:solidFill>
                <a:latin typeface="KaiTi" panose="02010609060101010101" pitchFamily="49" charset="-122"/>
                <a:ea typeface="KaiTi" panose="02010609060101010101" pitchFamily="49" charset="-122"/>
              </a:rPr>
              <a:t>决策树差异总结</a:t>
            </a:r>
            <a:endParaRPr lang="ko-Kore-KR" altLang="en-US">
              <a:latin typeface="KaiTi" panose="02010609060101010101" pitchFamily="49" charset="-122"/>
            </a:endParaRPr>
          </a:p>
        </p:txBody>
      </p:sp>
    </p:spTree>
    <p:extLst>
      <p:ext uri="{BB962C8B-B14F-4D97-AF65-F5344CB8AC3E}">
        <p14:creationId xmlns:p14="http://schemas.microsoft.com/office/powerpoint/2010/main" val="21434939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9002D0-969B-560D-B9C9-922246455814}"/>
              </a:ext>
            </a:extLst>
          </p:cNvPr>
          <p:cNvSpPr>
            <a:spLocks noGrp="1"/>
          </p:cNvSpPr>
          <p:nvPr>
            <p:ph type="title"/>
          </p:nvPr>
        </p:nvSpPr>
        <p:spPr/>
        <p:txBody>
          <a:bodyPr/>
          <a:lstStyle/>
          <a:p>
            <a:r>
              <a:rPr kumimoji="1" lang="ko-Kore-KR" altLang="en-US"/>
              <a:t>随机森林</a:t>
            </a:r>
          </a:p>
        </p:txBody>
      </p:sp>
      <p:sp>
        <p:nvSpPr>
          <p:cNvPr id="3" name="내용 개체 틀 2">
            <a:extLst>
              <a:ext uri="{FF2B5EF4-FFF2-40B4-BE49-F238E27FC236}">
                <a16:creationId xmlns:a16="http://schemas.microsoft.com/office/drawing/2014/main" id="{5A0E4B20-B61A-BF90-180D-02EB88A31025}"/>
              </a:ext>
            </a:extLst>
          </p:cNvPr>
          <p:cNvSpPr>
            <a:spLocks noGrp="1"/>
          </p:cNvSpPr>
          <p:nvPr>
            <p:ph idx="1"/>
          </p:nvPr>
        </p:nvSpPr>
        <p:spPr/>
        <p:txBody>
          <a:bodyPr/>
          <a:lstStyle/>
          <a:p>
            <a:pPr algn="just" latinLnBrk="1"/>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随机森林</a:t>
            </a:r>
            <a:r>
              <a:rPr lang="en-US" altLang="ko-Kore-KR" sz="1800" kern="100">
                <a:effectLst/>
                <a:latin typeface="Calibri" panose="020F0502020204030204" pitchFamily="34" charset="0"/>
                <a:ea typeface="KaiTi" panose="02010609060101010101" pitchFamily="49" charset="-122"/>
                <a:cs typeface="Times New Roman" panose="02020603050405020304" pitchFamily="18" charset="0"/>
              </a:rPr>
              <a:t>(Random Forest)</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是基于决策树的集成学习算法，所谓集成学习就是通过组合多个模型的预测结果来提高整体模型的性能，其核心思想就是多个模型的组合往往比单个模型更有效，通过不同的模型捕捉到数据的不同特征，从而降低模型的过拟合风险（提升模型的泛化能力）。随机森林通过构建多个决策树并将它们的预测结果进行投票（分类）或平均（回归），来提高模型的准确性和鲁棒性</a:t>
            </a:r>
            <a:r>
              <a:rPr lang="zh-CN" altLang="en-US" sz="1800" kern="100">
                <a:effectLst/>
                <a:latin typeface="Calibri" panose="020F0502020204030204" pitchFamily="34" charset="0"/>
                <a:ea typeface="KaiTi" panose="02010609060101010101" pitchFamily="49" charset="-122"/>
                <a:cs typeface="Times New Roman" panose="02020603050405020304" pitchFamily="18" charset="0"/>
              </a:rPr>
              <a:t>。</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p:txBody>
      </p:sp>
      <p:pic>
        <p:nvPicPr>
          <p:cNvPr id="23554" name="Picture 2">
            <a:extLst>
              <a:ext uri="{FF2B5EF4-FFF2-40B4-BE49-F238E27FC236}">
                <a16:creationId xmlns:a16="http://schemas.microsoft.com/office/drawing/2014/main" id="{D95AA37D-4DC5-B05C-D3FD-BABB08A6D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107" y="2627607"/>
            <a:ext cx="8314660" cy="3677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3698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9002D0-969B-560D-B9C9-922246455814}"/>
              </a:ext>
            </a:extLst>
          </p:cNvPr>
          <p:cNvSpPr>
            <a:spLocks noGrp="1"/>
          </p:cNvSpPr>
          <p:nvPr>
            <p:ph type="title"/>
          </p:nvPr>
        </p:nvSpPr>
        <p:spPr/>
        <p:txBody>
          <a:bodyPr/>
          <a:lstStyle/>
          <a:p>
            <a:r>
              <a:rPr kumimoji="1" lang="ko-Kore-KR" altLang="en-US"/>
              <a:t>随机森林</a:t>
            </a:r>
          </a:p>
        </p:txBody>
      </p:sp>
      <p:sp>
        <p:nvSpPr>
          <p:cNvPr id="3" name="내용 개체 틀 2">
            <a:extLst>
              <a:ext uri="{FF2B5EF4-FFF2-40B4-BE49-F238E27FC236}">
                <a16:creationId xmlns:a16="http://schemas.microsoft.com/office/drawing/2014/main" id="{5A0E4B20-B61A-BF90-180D-02EB88A31025}"/>
              </a:ext>
            </a:extLst>
          </p:cNvPr>
          <p:cNvSpPr>
            <a:spLocks noGrp="1"/>
          </p:cNvSpPr>
          <p:nvPr>
            <p:ph idx="1"/>
          </p:nvPr>
        </p:nvSpPr>
        <p:spPr/>
        <p:txBody>
          <a:bodyPr/>
          <a:lstStyle/>
          <a:p>
            <a:pPr algn="l" latinLnBrk="0"/>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随机森林的基本工作流程如下：</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en-US" altLang="ko-Kore-KR" sz="1800" kern="0">
                <a:effectLst/>
                <a:latin typeface="KaiTi" panose="02010609060101010101" pitchFamily="49" charset="-122"/>
                <a:ea typeface="맑은 고딕" panose="020B0503020000020004" pitchFamily="34" charset="-127"/>
                <a:cs typeface="바탕" panose="02030600000101010101" pitchFamily="18" charset="-127"/>
              </a:rPr>
              <a:t>Bootstrap </a:t>
            </a:r>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抽样：从原始训练数据集中随机抽取若干个样本（有放回抽样），形成多个不同的子集，每个子集用于训练一棵决策树。</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构建决策树：对于每棵树在进行结点分裂时，不必考虑所有特征，而是随机选择一部分特征实现数据分裂。通过这种方式，随机森林增加了模型的多样性，减少了树之间的相关性。</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集成学习：对于分类任务，随机森林通过投票的方式（即多数表决）来决定最终分类的结果；对于回归任务，通常可以对每棵树的预测结果求均值作为最终的预测结果。</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algn="l" latinLnBrk="0"/>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随机森林的主要优</a:t>
            </a:r>
            <a:r>
              <a:rPr lang="en-US" altLang="zh-CN" sz="1800" kern="0">
                <a:effectLst/>
                <a:latin typeface="Calibri" panose="020F0502020204030204" pitchFamily="34" charset="0"/>
                <a:ea typeface="KaiTi" panose="02010609060101010101" pitchFamily="49" charset="-122"/>
                <a:cs typeface="바탕" panose="02030600000101010101" pitchFamily="18" charset="-127"/>
              </a:rPr>
              <a:t>/</a:t>
            </a:r>
            <a:r>
              <a:rPr lang="zh-CN" altLang="en-US" sz="1800" kern="0">
                <a:effectLst/>
                <a:latin typeface="Calibri" panose="020F0502020204030204" pitchFamily="34" charset="0"/>
                <a:ea typeface="KaiTi" panose="02010609060101010101" pitchFamily="49" charset="-122"/>
                <a:cs typeface="바탕" panose="02030600000101010101" pitchFamily="18" charset="-127"/>
              </a:rPr>
              <a:t>缺</a:t>
            </a:r>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点体现在：</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通过集成多个决策树，能够有效提高模型的准确性。</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由于引入了随机性，随机森林通常比单棵决策树更不容易过拟合。</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随机森林可以提供特征的重要性评分，帮助理解模型。</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能够处理大规模数据集和高维数据。</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1"/>
            <a:r>
              <a:rPr lang="ko-Kore-KR" altLang="ko-Kore-KR" sz="1800" kern="0">
                <a:effectLst/>
                <a:latin typeface="Calibri" panose="020F0502020204030204" pitchFamily="34" charset="0"/>
                <a:ea typeface="KaiTi" panose="02010609060101010101" pitchFamily="49" charset="-122"/>
                <a:cs typeface="바탕" panose="02030600000101010101" pitchFamily="18" charset="-127"/>
              </a:rPr>
              <a:t>当然，因为要构建多个决策树，随机森林模型通常比较复杂，在训练模型时对计算资源、内存资源和时间成本的消耗都是更大的。</a:t>
            </a:r>
            <a:endParaRPr lang="en-US" altLang="ko-Kore-KR" sz="1800" kern="0">
              <a:effectLst/>
              <a:latin typeface="Calibri" panose="020F0502020204030204" pitchFamily="34" charset="0"/>
              <a:ea typeface="KaiTi" panose="02010609060101010101" pitchFamily="49" charset="-122"/>
              <a:cs typeface="바탕" panose="02030600000101010101" pitchFamily="18" charset="-127"/>
            </a:endParaRPr>
          </a:p>
          <a:p>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通</a:t>
            </a:r>
            <a:r>
              <a:rPr lang="ko-Kore-KR" altLang="ko-Kore-KR" sz="1800" kern="100">
                <a:effectLst/>
                <a:latin typeface="Calibri" panose="020F0502020204030204" pitchFamily="34" charset="0"/>
                <a:ea typeface="KaiTi" panose="02010609060101010101" pitchFamily="49" charset="-122"/>
                <a:cs typeface="Microsoft YaHei" panose="020B0503020204020204" pitchFamily="34" charset="-122"/>
              </a:rPr>
              <a:t>过</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 </a:t>
            </a:r>
            <a:r>
              <a:rPr lang="en-US" altLang="ko-Kore-KR" sz="1800" kern="100">
                <a:effectLst/>
                <a:latin typeface="Calibri" panose="020F0502020204030204" pitchFamily="34" charset="0"/>
                <a:ea typeface="KaiTi" panose="02010609060101010101" pitchFamily="49" charset="-122"/>
                <a:cs typeface="Times New Roman" panose="02020603050405020304" pitchFamily="18" charset="0"/>
              </a:rPr>
              <a:t>scikit-learn </a:t>
            </a:r>
            <a:r>
              <a:rPr lang="ko-Kore-KR" altLang="ko-Kore-KR" sz="1800" kern="100">
                <a:effectLst/>
                <a:latin typeface="Calibri" panose="020F0502020204030204" pitchFamily="34" charset="0"/>
                <a:ea typeface="KaiTi" panose="02010609060101010101" pitchFamily="49" charset="-122"/>
                <a:cs typeface="Microsoft YaHei" panose="020B0503020204020204" pitchFamily="34" charset="-122"/>
              </a:rPr>
              <a:t>库</a:t>
            </a:r>
            <a:r>
              <a:rPr lang="en-US" altLang="ko-Kore-KR" sz="1800" kern="100">
                <a:effectLst/>
                <a:latin typeface="KaiTi" panose="02010609060101010101" pitchFamily="49" charset="-122"/>
                <a:ea typeface="맑은 고딕" panose="020B0503020000020004" pitchFamily="34" charset="-127"/>
                <a:cs typeface="Times New Roman" panose="02020603050405020304" pitchFamily="18" charset="0"/>
              </a:rPr>
              <a:t>ensemble</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模</a:t>
            </a:r>
            <a:r>
              <a:rPr lang="ko-Kore-KR" altLang="ko-Kore-KR" sz="1800" kern="100">
                <a:effectLst/>
                <a:latin typeface="Calibri" panose="020F0502020204030204" pitchFamily="34" charset="0"/>
                <a:ea typeface="KaiTi" panose="02010609060101010101" pitchFamily="49" charset="-122"/>
                <a:cs typeface="Microsoft YaHei" panose="020B0503020204020204" pitchFamily="34" charset="-122"/>
              </a:rPr>
              <a:t>块</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的</a:t>
            </a:r>
            <a:r>
              <a:rPr lang="en-US" altLang="ko-Kore-KR" sz="1800" kern="100">
                <a:effectLst/>
                <a:latin typeface="Calibri" panose="020F0502020204030204" pitchFamily="34" charset="0"/>
                <a:ea typeface="KaiTi" panose="02010609060101010101" pitchFamily="49" charset="-122"/>
                <a:cs typeface="Times New Roman" panose="02020603050405020304" pitchFamily="18" charset="0"/>
              </a:rPr>
              <a:t>RandomForestClassifier</a:t>
            </a:r>
            <a:r>
              <a:rPr lang="ko-Kore-KR" altLang="ko-Kore-KR" sz="1800" kern="100">
                <a:effectLst/>
                <a:latin typeface="Calibri" panose="020F0502020204030204" pitchFamily="34" charset="0"/>
                <a:ea typeface="KaiTi" panose="02010609060101010101" pitchFamily="49" charset="-122"/>
                <a:cs typeface="Microsoft YaHei" panose="020B0503020204020204" pitchFamily="34" charset="-122"/>
              </a:rPr>
              <a:t>类来构</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造</a:t>
            </a:r>
            <a:r>
              <a:rPr lang="ko-Kore-KR" altLang="ko-Kore-KR" sz="1800" kern="100">
                <a:effectLst/>
                <a:latin typeface="Calibri" panose="020F0502020204030204" pitchFamily="34" charset="0"/>
                <a:ea typeface="KaiTi" panose="02010609060101010101" pitchFamily="49" charset="-122"/>
                <a:cs typeface="Microsoft YaHei" panose="020B0503020204020204" pitchFamily="34" charset="-122"/>
              </a:rPr>
              <a:t>随</a:t>
            </a:r>
            <a:r>
              <a:rPr lang="ko-Kore-KR" altLang="ko-Kore-KR" sz="1800" kern="100">
                <a:effectLst/>
                <a:latin typeface="Calibri" panose="020F0502020204030204" pitchFamily="34" charset="0"/>
                <a:ea typeface="KaiTi" panose="02010609060101010101" pitchFamily="49" charset="-122"/>
                <a:cs typeface="Times New Roman" panose="02020603050405020304" pitchFamily="18" charset="0"/>
              </a:rPr>
              <a:t>机森林模型</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marL="200021" lvl="1" indent="0">
              <a:buNone/>
            </a:pPr>
            <a:endParaRPr lang="en-US" altLang="ko-Kore-KR" sz="1800" kern="100">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13413166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文本框 9">
            <a:extLst>
              <a:ext uri="{FF2B5EF4-FFF2-40B4-BE49-F238E27FC236}">
                <a16:creationId xmlns:a16="http://schemas.microsoft.com/office/drawing/2014/main" id="{194F7CD9-DD49-4C40-847C-DA983BA6F1F3}"/>
              </a:ext>
            </a:extLst>
          </p:cNvPr>
          <p:cNvSpPr txBox="1"/>
          <p:nvPr/>
        </p:nvSpPr>
        <p:spPr>
          <a:xfrm>
            <a:off x="645028" y="1600961"/>
            <a:ext cx="10781875" cy="3905043"/>
          </a:xfrm>
          <a:prstGeom prst="rect">
            <a:avLst/>
          </a:prstGeom>
          <a:noFill/>
        </p:spPr>
        <p:txBody>
          <a:bodyPr wrap="square">
            <a:spAutoFit/>
          </a:bodyPr>
          <a:lstStyle/>
          <a:p>
            <a:pPr algn="just">
              <a:lnSpc>
                <a:spcPct val="150000"/>
              </a:lnSpc>
            </a:pPr>
            <a:r>
              <a:rPr lang="en-US" altLang="zh-CN" sz="2400" kern="100" dirty="0">
                <a:effectLst/>
                <a:latin typeface="KaiTi" panose="02010609060101010101" pitchFamily="49" charset="-122"/>
                <a:ea typeface="KaiTi" panose="02010609060101010101" pitchFamily="49" charset="-122"/>
              </a:rPr>
              <a:t>CART</a:t>
            </a:r>
            <a:r>
              <a:rPr lang="zh-CN" altLang="en-US" sz="2400" kern="100" dirty="0">
                <a:effectLst/>
                <a:latin typeface="KaiTi" panose="02010609060101010101" pitchFamily="49" charset="-122"/>
                <a:ea typeface="KaiTi" panose="02010609060101010101" pitchFamily="49" charset="-122"/>
              </a:rPr>
              <a:t>算法</a:t>
            </a:r>
            <a:r>
              <a:rPr lang="zh-CN" altLang="zh-CN" sz="2400" kern="100" dirty="0">
                <a:effectLst/>
                <a:latin typeface="KaiTi" panose="02010609060101010101" pitchFamily="49" charset="-122"/>
                <a:ea typeface="KaiTi" panose="02010609060101010101" pitchFamily="49" charset="-122"/>
              </a:rPr>
              <a:t>采用一种</a:t>
            </a:r>
            <a:r>
              <a:rPr lang="en-US" altLang="zh-CN" sz="2400" kern="100" dirty="0">
                <a:effectLst/>
                <a:latin typeface="KaiTi" panose="02010609060101010101" pitchFamily="49" charset="-122"/>
                <a:ea typeface="KaiTi" panose="02010609060101010101" pitchFamily="49" charset="-122"/>
              </a:rPr>
              <a:t>“</a:t>
            </a:r>
            <a:r>
              <a:rPr lang="zh-CN" altLang="zh-CN" sz="2400" kern="100" dirty="0">
                <a:effectLst/>
                <a:latin typeface="KaiTi" panose="02010609060101010101" pitchFamily="49" charset="-122"/>
                <a:ea typeface="KaiTi" panose="02010609060101010101" pitchFamily="49" charset="-122"/>
              </a:rPr>
              <a:t>基于代价复杂度的剪枝</a:t>
            </a:r>
            <a:r>
              <a:rPr lang="en-US" altLang="zh-CN" sz="2400" kern="100" dirty="0">
                <a:effectLst/>
                <a:latin typeface="KaiTi" panose="02010609060101010101" pitchFamily="49" charset="-122"/>
                <a:ea typeface="KaiTi" panose="02010609060101010101" pitchFamily="49" charset="-122"/>
              </a:rPr>
              <a:t>”</a:t>
            </a:r>
            <a:r>
              <a:rPr lang="zh-CN" altLang="zh-CN" sz="2400" kern="100" dirty="0">
                <a:effectLst/>
                <a:latin typeface="KaiTi" panose="02010609060101010101" pitchFamily="49" charset="-122"/>
                <a:ea typeface="KaiTi" panose="02010609060101010101" pitchFamily="49" charset="-122"/>
              </a:rPr>
              <a:t>方法进行</a:t>
            </a:r>
            <a:r>
              <a:rPr lang="zh-CN" altLang="zh-CN" sz="2400" b="1" kern="100" dirty="0">
                <a:effectLst/>
                <a:latin typeface="KaiTi" panose="02010609060101010101" pitchFamily="49" charset="-122"/>
                <a:ea typeface="KaiTi" panose="02010609060101010101" pitchFamily="49" charset="-122"/>
              </a:rPr>
              <a:t>后剪枝</a:t>
            </a:r>
            <a:r>
              <a:rPr lang="zh-CN" altLang="zh-CN" sz="2400" kern="100" dirty="0">
                <a:effectLst/>
                <a:latin typeface="KaiTi" panose="02010609060101010101" pitchFamily="49" charset="-122"/>
                <a:ea typeface="KaiTi" panose="02010609060101010101" pitchFamily="49" charset="-122"/>
              </a:rPr>
              <a:t>，这种方法会生成一系列树，每个树都是通过将前面的树的某个或某些子树替换成一个叶节点而得到的，这一系列树中的最后一棵树仅含一个用来预测类别的叶节点。然后用一种成本复杂度的度量准则来判断哪棵子树应该被一个预测类别值的叶节点所代替。</a:t>
            </a:r>
            <a:endParaRPr lang="en-US" altLang="zh-CN" sz="2400" kern="100" dirty="0">
              <a:effectLst/>
              <a:latin typeface="KaiTi" panose="02010609060101010101" pitchFamily="49" charset="-122"/>
              <a:ea typeface="KaiTi" panose="02010609060101010101" pitchFamily="49" charset="-122"/>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这种方法需要使用一个单独的测试数据集来评估所有的树，根据它们在测试数据集熵的分类性能选出最佳的树。</a:t>
            </a:r>
          </a:p>
        </p:txBody>
      </p:sp>
      <p:sp>
        <p:nvSpPr>
          <p:cNvPr id="3" name="제목 2">
            <a:extLst>
              <a:ext uri="{FF2B5EF4-FFF2-40B4-BE49-F238E27FC236}">
                <a16:creationId xmlns:a16="http://schemas.microsoft.com/office/drawing/2014/main" id="{FDD7CCC9-3B3B-88BE-A6CD-E7039C59B28F}"/>
              </a:ext>
            </a:extLst>
          </p:cNvPr>
          <p:cNvSpPr>
            <a:spLocks noGrp="1"/>
          </p:cNvSpPr>
          <p:nvPr>
            <p:ph type="title"/>
          </p:nvPr>
        </p:nvSpPr>
        <p:spPr/>
        <p:txBody>
          <a:bodyPr/>
          <a:lstStyle/>
          <a:p>
            <a:r>
              <a:rPr lang="en-US" altLang="ko-Kore-KR"/>
              <a:t>CART</a:t>
            </a:r>
            <a:r>
              <a:rPr lang="ko-Kore-KR" altLang="en-US"/>
              <a:t>算法</a:t>
            </a:r>
          </a:p>
        </p:txBody>
      </p:sp>
    </p:spTree>
    <p:extLst>
      <p:ext uri="{BB962C8B-B14F-4D97-AF65-F5344CB8AC3E}">
        <p14:creationId xmlns:p14="http://schemas.microsoft.com/office/powerpoint/2010/main" val="41679871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30755</TotalTime>
  <Words>4673</Words>
  <Application>Microsoft Office PowerPoint</Application>
  <PresentationFormat>宽屏</PresentationFormat>
  <Paragraphs>1289</Paragraphs>
  <Slides>62</Slides>
  <Notes>30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7" baseType="lpstr">
      <vt:lpstr>-apple-system</vt:lpstr>
      <vt:lpstr>STKaiti</vt:lpstr>
      <vt:lpstr>KaiTi</vt:lpstr>
      <vt:lpstr>Arial</vt:lpstr>
      <vt:lpstr>Berlin Sans FB Demi</vt:lpstr>
      <vt:lpstr>Calibri</vt:lpstr>
      <vt:lpstr>Cambria</vt:lpstr>
      <vt:lpstr>Cambria Math</vt:lpstr>
      <vt:lpstr>Symbol</vt:lpstr>
      <vt:lpstr>Tahoma</vt:lpstr>
      <vt:lpstr>Times New Roman</vt:lpstr>
      <vt:lpstr>Wingdings</vt:lpstr>
      <vt:lpstr>Wingdings 2</vt:lpstr>
      <vt:lpstr>Retrospect</vt:lpstr>
      <vt:lpstr>Equation</vt:lpstr>
      <vt:lpstr>第6章 分类：基本概念</vt:lpstr>
      <vt:lpstr>决策树</vt:lpstr>
      <vt:lpstr>决策树原理</vt:lpstr>
      <vt:lpstr>决策树原理</vt:lpstr>
      <vt:lpstr>决策树原理</vt:lpstr>
      <vt:lpstr>决策树原理</vt:lpstr>
      <vt:lpstr>ID3 算法</vt:lpstr>
      <vt:lpstr>ID3 算法</vt:lpstr>
      <vt:lpstr>PowerPoint 演示文稿</vt:lpstr>
      <vt:lpstr>PowerPoint 演示文稿</vt:lpstr>
      <vt:lpstr>PowerPoint 演示文稿</vt:lpstr>
      <vt:lpstr>PowerPoint 演示文稿</vt:lpstr>
      <vt:lpstr>PowerPoint 演示文稿</vt:lpstr>
      <vt:lpstr>PowerPoint 演示文稿</vt:lpstr>
      <vt:lpstr>分割策略：信息增益</vt:lpstr>
      <vt:lpstr>PowerPoint 演示文稿</vt:lpstr>
      <vt:lpstr>PowerPoint 演示文稿</vt:lpstr>
      <vt:lpstr>ID3 算法的优点与缺点</vt:lpstr>
      <vt:lpstr>C4.5 算法</vt:lpstr>
      <vt:lpstr>分割策略：信息增益率</vt:lpstr>
      <vt:lpstr>PowerPoint 演示文稿</vt:lpstr>
      <vt:lpstr>C4.5的剪枝</vt:lpstr>
      <vt:lpstr>C4.5的剪枝</vt:lpstr>
      <vt:lpstr>C4.5的剪枝</vt:lpstr>
      <vt:lpstr>C4.5的剪枝</vt:lpstr>
      <vt:lpstr>C4.5的剪枝</vt:lpstr>
      <vt:lpstr>C4.5的剪枝</vt:lpstr>
      <vt:lpstr>C4.5的剪枝</vt:lpstr>
      <vt:lpstr>C4.5的剪枝</vt:lpstr>
      <vt:lpstr>C4.5的剪枝</vt:lpstr>
      <vt:lpstr>C4.5的剪枝</vt:lpstr>
      <vt:lpstr>C4.5的剪枝</vt:lpstr>
      <vt:lpstr>CART算法</vt:lpstr>
      <vt:lpstr>C4.5的剪枝</vt:lpstr>
      <vt:lpstr>C4.5的剪枝</vt:lpstr>
      <vt:lpstr>C4.5的剪枝</vt:lpstr>
      <vt:lpstr>C4.5的剪枝</vt:lpstr>
      <vt:lpstr>C4.5的剪枝</vt:lpstr>
      <vt:lpstr>C4.5的缺点</vt:lpstr>
      <vt:lpstr>CART算法</vt:lpstr>
      <vt:lpstr>CART算法-分类</vt:lpstr>
      <vt:lpstr>CART算法-分类</vt:lpstr>
      <vt:lpstr>CART算法-分类</vt:lpstr>
      <vt:lpstr>CART算法-回归</vt:lpstr>
      <vt:lpstr>CART算法-回归</vt:lpstr>
      <vt:lpstr>CART算法-回归</vt:lpstr>
      <vt:lpstr>CART算法-回归</vt:lpstr>
      <vt:lpstr>CART剪枝</vt:lpstr>
      <vt:lpstr>决策树作业</vt:lpstr>
      <vt:lpstr>决策树原理</vt:lpstr>
      <vt:lpstr>决策树-iris数据集</vt:lpstr>
      <vt:lpstr>决策树-iris数据集</vt:lpstr>
      <vt:lpstr>决策树-Titanic数据集</vt:lpstr>
      <vt:lpstr>决策树-Titanic数据集</vt:lpstr>
      <vt:lpstr>决策树-Titanic数据集</vt:lpstr>
      <vt:lpstr>决策树-Titanic数据集</vt:lpstr>
      <vt:lpstr>决策树-Titanic数据集</vt:lpstr>
      <vt:lpstr>决策树</vt:lpstr>
      <vt:lpstr>决策树差异总结</vt:lpstr>
      <vt:lpstr>随机森林</vt:lpstr>
      <vt:lpstr>随机森林</vt:lpstr>
      <vt:lpstr>CART算法</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keywords>, docId:8230D242E8177FAD4AFD6247D9548838</cp:keywords>
  <cp:lastModifiedBy>明源 周</cp:lastModifiedBy>
  <cp:revision>1352</cp:revision>
  <cp:lastPrinted>2016-10-20T15:02:17Z</cp:lastPrinted>
  <dcterms:created xsi:type="dcterms:W3CDTF">2014-06-02T15:06:14Z</dcterms:created>
  <dcterms:modified xsi:type="dcterms:W3CDTF">2025-11-04T15:25:40Z</dcterms:modified>
</cp:coreProperties>
</file>