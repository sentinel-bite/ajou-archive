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notesSlides/notesSlide4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7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73.xml" ContentType="application/vnd.openxmlformats-officedocument.presentationml.tags+xml"/>
  <Override PartName="/ppt/notesSlides/notesSlide10.xml" ContentType="application/vnd.openxmlformats-officedocument.presentationml.notesSlide+xml"/>
  <Override PartName="/ppt/tags/tag74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6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17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18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19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23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2" r:id="rId2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83" r:id="rId7"/>
    <p:sldId id="260" r:id="rId8"/>
    <p:sldId id="296" r:id="rId9"/>
    <p:sldId id="282" r:id="rId10"/>
    <p:sldId id="263" r:id="rId11"/>
    <p:sldId id="299" r:id="rId12"/>
    <p:sldId id="297" r:id="rId13"/>
    <p:sldId id="293" r:id="rId14"/>
    <p:sldId id="294" r:id="rId15"/>
    <p:sldId id="301" r:id="rId16"/>
    <p:sldId id="306" r:id="rId17"/>
    <p:sldId id="302" r:id="rId18"/>
    <p:sldId id="266" r:id="rId19"/>
    <p:sldId id="278" r:id="rId20"/>
    <p:sldId id="267" r:id="rId21"/>
    <p:sldId id="268" r:id="rId22"/>
    <p:sldId id="277" r:id="rId23"/>
    <p:sldId id="279" r:id="rId24"/>
    <p:sldId id="269" r:id="rId25"/>
    <p:sldId id="270" r:id="rId26"/>
    <p:sldId id="271" r:id="rId27"/>
    <p:sldId id="305" r:id="rId28"/>
    <p:sldId id="275" r:id="rId29"/>
  </p:sldIdLst>
  <p:sldSz cx="12192000" cy="6858000"/>
  <p:notesSz cx="6858000" cy="12192000"/>
  <p:embeddedFontLst>
    <p:embeddedFont>
      <p:font typeface="华文细黑" panose="02010600040101010101" pitchFamily="2" charset="-122"/>
      <p:regular r:id="rId31"/>
    </p:embeddedFont>
    <p:embeddedFont>
      <p:font typeface="微软雅黑" panose="020B0503020204020204" pitchFamily="34" charset="-122"/>
      <p:regular r:id="rId32"/>
      <p:bold r:id="rId33"/>
    </p:embeddedFont>
  </p:embeddedFontLst>
  <p:custDataLst>
    <p:tags r:id="rId3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FA26"/>
    <a:srgbClr val="E9E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9410782-2CBF-42C3-AA82-B200C8C72BEC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奠基阶段以人工特征工程为主，强调可解释性。</a:t>
            </a:r>
            <a:r>
              <a:rPr lang="en-US" altLang="zh-CN"/>
              <a:t> </a:t>
            </a:r>
            <a:r>
              <a:rPr lang="zh-CN" altLang="en-US"/>
              <a:t>优点简单高效，但对语义理解能力极弱。</a:t>
            </a: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tv-embedding </a:t>
            </a:r>
            <a:r>
              <a:rPr lang="zh-CN" altLang="en-US" dirty="0"/>
              <a:t>并非本论文首次提出，但在本论文的对比中是提升词级</a:t>
            </a:r>
            <a:r>
              <a:rPr lang="en-US" altLang="zh-CN" dirty="0"/>
              <a:t> CNN </a:t>
            </a:r>
            <a:r>
              <a:rPr lang="zh-CN" altLang="en-US" dirty="0"/>
              <a:t>性能的关键技术。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浅层词卷积神经</a:t>
            </a:r>
            <a:r>
              <a:rPr lang="en-US" altLang="en-US" dirty="0"/>
              <a:t>⽹</a:t>
            </a:r>
            <a:r>
              <a:rPr lang="zh-CN" altLang="en-US" dirty="0"/>
              <a:t>络（</a:t>
            </a:r>
            <a:r>
              <a:rPr lang="en-US" altLang="zh-CN" dirty="0"/>
              <a:t>word-CNN</a:t>
            </a:r>
            <a:r>
              <a:rPr lang="zh-CN" altLang="en-US" dirty="0"/>
              <a:t>）的计算速度远快于深层字符卷积神经</a:t>
            </a:r>
            <a:r>
              <a:rPr lang="en-US" altLang="en-US" dirty="0"/>
              <a:t>⽹</a:t>
            </a:r>
            <a:r>
              <a:rPr lang="zh-CN" altLang="en-US" dirty="0"/>
              <a:t>络（</a:t>
            </a:r>
            <a:r>
              <a:rPr lang="en-US" altLang="zh-CN" dirty="0"/>
              <a:t>char-CNN</a:t>
            </a:r>
            <a:r>
              <a:rPr lang="zh-CN" altLang="en-US" dirty="0"/>
              <a:t>）。这是因为深层字符卷</a:t>
            </a:r>
          </a:p>
          <a:p>
            <a:r>
              <a:rPr lang="zh-CN" altLang="en-US" dirty="0"/>
              <a:t>积神经</a:t>
            </a:r>
            <a:r>
              <a:rPr lang="en-US" altLang="en-US" dirty="0"/>
              <a:t>⽹</a:t>
            </a:r>
            <a:r>
              <a:rPr lang="zh-CN" altLang="en-US" dirty="0"/>
              <a:t>络需要处理更多的</a:t>
            </a:r>
            <a:r>
              <a:rPr lang="en-US" altLang="en-US" dirty="0"/>
              <a:t>⽂</a:t>
            </a:r>
            <a:r>
              <a:rPr lang="zh-CN" altLang="en-US" dirty="0"/>
              <a:t>本单元，因为每个</a:t>
            </a:r>
            <a:r>
              <a:rPr lang="en-US" altLang="en-US" dirty="0"/>
              <a:t>⽂</a:t>
            </a:r>
            <a:r>
              <a:rPr lang="zh-CN" altLang="en-US" dirty="0"/>
              <a:t>档中的字符数远多于单词数，</a:t>
            </a:r>
            <a:r>
              <a:rPr lang="en-US" altLang="en-US" dirty="0"/>
              <a:t>⽽</a:t>
            </a:r>
            <a:r>
              <a:rPr lang="zh-CN" altLang="en-US" dirty="0"/>
              <a:t>且许多层需要按顺序处理。这正</a:t>
            </a:r>
          </a:p>
          <a:p>
            <a:r>
              <a:rPr lang="zh-CN" altLang="en-US" dirty="0"/>
              <a:t>是浅层词卷积神经</a:t>
            </a:r>
            <a:r>
              <a:rPr lang="en-US" altLang="en-US" dirty="0"/>
              <a:t>⽹</a:t>
            </a:r>
            <a:r>
              <a:rPr lang="zh-CN" altLang="en-US" dirty="0"/>
              <a:t>络的</a:t>
            </a:r>
            <a:r>
              <a:rPr lang="en-US" altLang="en-US" dirty="0"/>
              <a:t>⼀</a:t>
            </a:r>
            <a:r>
              <a:rPr lang="zh-CN" altLang="en-US" dirty="0"/>
              <a:t>个实际优势。</a:t>
            </a:r>
          </a:p>
          <a:p>
            <a:r>
              <a:rPr lang="zh-CN" altLang="en-US" dirty="0"/>
              <a:t>浅层词卷积神经</a:t>
            </a:r>
            <a:r>
              <a:rPr lang="en-US" altLang="en-US" dirty="0"/>
              <a:t>⽹</a:t>
            </a:r>
            <a:r>
              <a:rPr lang="zh-CN" altLang="en-US" dirty="0"/>
              <a:t>络（</a:t>
            </a:r>
            <a:r>
              <a:rPr lang="en-US" altLang="zh-CN" dirty="0"/>
              <a:t>word-CNN</a:t>
            </a:r>
            <a:r>
              <a:rPr lang="zh-CN" altLang="en-US" dirty="0"/>
              <a:t>）使</a:t>
            </a:r>
            <a:r>
              <a:rPr lang="en-US" altLang="en-US" dirty="0"/>
              <a:t>⽤</a:t>
            </a:r>
            <a:r>
              <a:rPr lang="zh-CN" altLang="en-US" dirty="0"/>
              <a:t>更多参数，因此需要占用更多存储空间。减少双视图嵌</a:t>
            </a:r>
            <a:r>
              <a:rPr lang="en-US" altLang="en-US" dirty="0"/>
              <a:t>⼊</a:t>
            </a:r>
            <a:r>
              <a:rPr lang="zh-CN" altLang="en-US" dirty="0"/>
              <a:t>的数量和维度可以减少参数数量，但代价是精度略有下降。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753983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9600" y="608400"/>
            <a:ext cx="10972800" cy="763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tags" Target="../tags/tag18.xml"/><Relationship Id="rId18" Type="http://schemas.openxmlformats.org/officeDocument/2006/relationships/image" Target="../media/image4.jpeg"/><Relationship Id="rId3" Type="http://schemas.openxmlformats.org/officeDocument/2006/relationships/tags" Target="../tags/tag8.xml"/><Relationship Id="rId21" Type="http://schemas.openxmlformats.org/officeDocument/2006/relationships/image" Target="../media/image6.png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notesSlide" Target="../notesSlides/notesSlide2.xml"/><Relationship Id="rId2" Type="http://schemas.openxmlformats.org/officeDocument/2006/relationships/tags" Target="../tags/tag7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3.png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10" Type="http://schemas.openxmlformats.org/officeDocument/2006/relationships/tags" Target="../tags/tag15.xml"/><Relationship Id="rId19" Type="http://schemas.openxmlformats.org/officeDocument/2006/relationships/image" Target="../media/image5.png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tags" Target="../tags/tag34.xml"/><Relationship Id="rId18" Type="http://schemas.openxmlformats.org/officeDocument/2006/relationships/tags" Target="../tags/tag39.xml"/><Relationship Id="rId26" Type="http://schemas.openxmlformats.org/officeDocument/2006/relationships/tags" Target="../tags/tag47.xml"/><Relationship Id="rId3" Type="http://schemas.openxmlformats.org/officeDocument/2006/relationships/tags" Target="../tags/tag24.xml"/><Relationship Id="rId21" Type="http://schemas.openxmlformats.org/officeDocument/2006/relationships/tags" Target="../tags/tag42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tags" Target="../tags/tag38.xml"/><Relationship Id="rId25" Type="http://schemas.openxmlformats.org/officeDocument/2006/relationships/tags" Target="../tags/tag46.xml"/><Relationship Id="rId2" Type="http://schemas.openxmlformats.org/officeDocument/2006/relationships/tags" Target="../tags/tag23.xml"/><Relationship Id="rId16" Type="http://schemas.openxmlformats.org/officeDocument/2006/relationships/tags" Target="../tags/tag37.xml"/><Relationship Id="rId20" Type="http://schemas.openxmlformats.org/officeDocument/2006/relationships/tags" Target="../tags/tag41.xml"/><Relationship Id="rId29" Type="http://schemas.openxmlformats.org/officeDocument/2006/relationships/notesSlide" Target="../notesSlides/notesSlide5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24" Type="http://schemas.openxmlformats.org/officeDocument/2006/relationships/tags" Target="../tags/tag45.xml"/><Relationship Id="rId5" Type="http://schemas.openxmlformats.org/officeDocument/2006/relationships/tags" Target="../tags/tag26.xml"/><Relationship Id="rId15" Type="http://schemas.openxmlformats.org/officeDocument/2006/relationships/tags" Target="../tags/tag36.xml"/><Relationship Id="rId23" Type="http://schemas.openxmlformats.org/officeDocument/2006/relationships/tags" Target="../tags/tag44.xml"/><Relationship Id="rId28" Type="http://schemas.openxmlformats.org/officeDocument/2006/relationships/slideLayout" Target="../slideLayouts/slideLayout3.xml"/><Relationship Id="rId10" Type="http://schemas.openxmlformats.org/officeDocument/2006/relationships/tags" Target="../tags/tag31.xml"/><Relationship Id="rId19" Type="http://schemas.openxmlformats.org/officeDocument/2006/relationships/tags" Target="../tags/tag40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Relationship Id="rId22" Type="http://schemas.openxmlformats.org/officeDocument/2006/relationships/tags" Target="../tags/tag43.xml"/><Relationship Id="rId27" Type="http://schemas.openxmlformats.org/officeDocument/2006/relationships/tags" Target="../tags/tag48.xml"/><Relationship Id="rId30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2" Type="http://schemas.openxmlformats.org/officeDocument/2006/relationships/tags" Target="../tags/tag50.xml"/><Relationship Id="rId16" Type="http://schemas.openxmlformats.org/officeDocument/2006/relationships/image" Target="../media/image14.png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5" Type="http://schemas.openxmlformats.org/officeDocument/2006/relationships/tags" Target="../tags/tag53.xml"/><Relationship Id="rId15" Type="http://schemas.openxmlformats.org/officeDocument/2006/relationships/image" Target="../media/image13.png"/><Relationship Id="rId10" Type="http://schemas.openxmlformats.org/officeDocument/2006/relationships/tags" Target="../tags/tag58.xml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slideLayout" Target="../slideLayouts/slideLayout1.xml"/><Relationship Id="rId18" Type="http://schemas.openxmlformats.org/officeDocument/2006/relationships/image" Target="../media/image19.png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17" Type="http://schemas.openxmlformats.org/officeDocument/2006/relationships/image" Target="../media/image18.png"/><Relationship Id="rId2" Type="http://schemas.openxmlformats.org/officeDocument/2006/relationships/tags" Target="../tags/tag62.xml"/><Relationship Id="rId16" Type="http://schemas.openxmlformats.org/officeDocument/2006/relationships/image" Target="../media/image2.png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5" Type="http://schemas.openxmlformats.org/officeDocument/2006/relationships/image" Target="../media/image4.jpeg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3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image" Target="../media/image33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79.xml"/><Relationship Id="rId7" Type="http://schemas.openxmlformats.org/officeDocument/2006/relationships/image" Target="../media/image35.pn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34.jpe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tags" Target="../tags/tag92.xml"/><Relationship Id="rId18" Type="http://schemas.openxmlformats.org/officeDocument/2006/relationships/tags" Target="../tags/tag97.xml"/><Relationship Id="rId26" Type="http://schemas.openxmlformats.org/officeDocument/2006/relationships/tags" Target="../tags/tag105.xml"/><Relationship Id="rId21" Type="http://schemas.openxmlformats.org/officeDocument/2006/relationships/tags" Target="../tags/tag100.xml"/><Relationship Id="rId34" Type="http://schemas.openxmlformats.org/officeDocument/2006/relationships/image" Target="../media/image39.png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17" Type="http://schemas.openxmlformats.org/officeDocument/2006/relationships/tags" Target="../tags/tag96.xml"/><Relationship Id="rId25" Type="http://schemas.openxmlformats.org/officeDocument/2006/relationships/tags" Target="../tags/tag104.xml"/><Relationship Id="rId33" Type="http://schemas.openxmlformats.org/officeDocument/2006/relationships/image" Target="../media/image38.svg"/><Relationship Id="rId2" Type="http://schemas.openxmlformats.org/officeDocument/2006/relationships/tags" Target="../tags/tag81.xml"/><Relationship Id="rId16" Type="http://schemas.openxmlformats.org/officeDocument/2006/relationships/tags" Target="../tags/tag95.xml"/><Relationship Id="rId20" Type="http://schemas.openxmlformats.org/officeDocument/2006/relationships/tags" Target="../tags/tag99.xml"/><Relationship Id="rId29" Type="http://schemas.openxmlformats.org/officeDocument/2006/relationships/image" Target="../media/image34.jpeg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24" Type="http://schemas.openxmlformats.org/officeDocument/2006/relationships/tags" Target="../tags/tag103.xml"/><Relationship Id="rId32" Type="http://schemas.openxmlformats.org/officeDocument/2006/relationships/image" Target="../media/image37.png"/><Relationship Id="rId37" Type="http://schemas.openxmlformats.org/officeDocument/2006/relationships/image" Target="../media/image42.svg"/><Relationship Id="rId5" Type="http://schemas.openxmlformats.org/officeDocument/2006/relationships/tags" Target="../tags/tag84.xml"/><Relationship Id="rId15" Type="http://schemas.openxmlformats.org/officeDocument/2006/relationships/tags" Target="../tags/tag94.xml"/><Relationship Id="rId23" Type="http://schemas.openxmlformats.org/officeDocument/2006/relationships/tags" Target="../tags/tag102.xml"/><Relationship Id="rId28" Type="http://schemas.openxmlformats.org/officeDocument/2006/relationships/notesSlide" Target="../notesSlides/notesSlide17.xml"/><Relationship Id="rId36" Type="http://schemas.openxmlformats.org/officeDocument/2006/relationships/image" Target="../media/image41.png"/><Relationship Id="rId10" Type="http://schemas.openxmlformats.org/officeDocument/2006/relationships/tags" Target="../tags/tag89.xml"/><Relationship Id="rId19" Type="http://schemas.openxmlformats.org/officeDocument/2006/relationships/tags" Target="../tags/tag98.xml"/><Relationship Id="rId31" Type="http://schemas.openxmlformats.org/officeDocument/2006/relationships/image" Target="../media/image5.png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tags" Target="../tags/tag93.xml"/><Relationship Id="rId22" Type="http://schemas.openxmlformats.org/officeDocument/2006/relationships/tags" Target="../tags/tag101.xml"/><Relationship Id="rId27" Type="http://schemas.openxmlformats.org/officeDocument/2006/relationships/slideLayout" Target="../slideLayouts/slideLayout1.xml"/><Relationship Id="rId30" Type="http://schemas.openxmlformats.org/officeDocument/2006/relationships/image" Target="../media/image35.png"/><Relationship Id="rId35" Type="http://schemas.openxmlformats.org/officeDocument/2006/relationships/image" Target="../media/image40.svg"/><Relationship Id="rId8" Type="http://schemas.openxmlformats.org/officeDocument/2006/relationships/tags" Target="../tags/tag87.xml"/><Relationship Id="rId3" Type="http://schemas.openxmlformats.org/officeDocument/2006/relationships/tags" Target="../tags/tag8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3.png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18.xml"/><Relationship Id="rId9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43.png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19.xml"/><Relationship Id="rId9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12.xml"/><Relationship Id="rId7" Type="http://schemas.openxmlformats.org/officeDocument/2006/relationships/image" Target="../media/image4.jpeg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4.xml"/><Relationship Id="rId10" Type="http://schemas.openxmlformats.org/officeDocument/2006/relationships/image" Target="../media/image33.png"/><Relationship Id="rId4" Type="http://schemas.openxmlformats.org/officeDocument/2006/relationships/tags" Target="../tags/tag113.xml"/><Relationship Id="rId9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9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13" Type="http://schemas.openxmlformats.org/officeDocument/2006/relationships/image" Target="../media/image49.png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image" Target="../media/image4.jpe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notesSlide" Target="../notesSlides/notesSlide23.xml"/><Relationship Id="rId5" Type="http://schemas.openxmlformats.org/officeDocument/2006/relationships/tags" Target="../tags/tag118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17.xml"/><Relationship Id="rId9" Type="http://schemas.openxmlformats.org/officeDocument/2006/relationships/tags" Target="../tags/tag122.xml"/><Relationship Id="rId1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130.xml"/><Relationship Id="rId13" Type="http://schemas.openxmlformats.org/officeDocument/2006/relationships/image" Target="../media/image48.png"/><Relationship Id="rId3" Type="http://schemas.openxmlformats.org/officeDocument/2006/relationships/tags" Target="../tags/tag125.xml"/><Relationship Id="rId7" Type="http://schemas.openxmlformats.org/officeDocument/2006/relationships/tags" Target="../tags/tag129.xml"/><Relationship Id="rId12" Type="http://schemas.openxmlformats.org/officeDocument/2006/relationships/image" Target="../media/image4.jpeg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11" Type="http://schemas.openxmlformats.org/officeDocument/2006/relationships/notesSlide" Target="../notesSlides/notesSlide24.xml"/><Relationship Id="rId5" Type="http://schemas.openxmlformats.org/officeDocument/2006/relationships/tags" Target="../tags/tag127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126.xml"/><Relationship Id="rId9" Type="http://schemas.openxmlformats.org/officeDocument/2006/relationships/tags" Target="../tags/tag13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3-d2tarltnfo2stf9djk2g.png"/>
          <p:cNvPicPr>
            <a:picLocks noChangeAspect="1"/>
          </p:cNvPicPr>
          <p:nvPr/>
        </p:nvPicPr>
        <p:blipFill>
          <a:blip r:embed="rId3"/>
          <a:srcRect l="11651" t="6196" r="5498" b="958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745" y="5877560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626745" y="6060440"/>
            <a:ext cx="4345305" cy="33147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</a:t>
            </a:r>
            <a:r>
              <a:rPr lang="zh-CN" altLang="en-US" sz="1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1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程浩楠</a:t>
            </a:r>
          </a:p>
        </p:txBody>
      </p:sp>
      <p:sp>
        <p:nvSpPr>
          <p:cNvPr id="5" name="Text 2"/>
          <p:cNvSpPr/>
          <p:nvPr/>
        </p:nvSpPr>
        <p:spPr>
          <a:xfrm>
            <a:off x="7211695" y="611695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 2025/11/18</a:t>
            </a:r>
            <a:endParaRPr lang="en-US" altLang="en-US" sz="16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04972" y="6293196"/>
            <a:ext cx="704469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3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6200000">
            <a:off x="1188085" y="102870"/>
            <a:ext cx="262890" cy="11703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860" y="1561465"/>
            <a:ext cx="9601200" cy="1445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4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用于</a:t>
            </a:r>
            <a:r>
              <a:rPr lang="en-US" sz="4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文本分类</a:t>
            </a:r>
            <a:r>
              <a:rPr lang="zh-CN" altLang="en-US" sz="4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</a:t>
            </a:r>
            <a:r>
              <a:rPr lang="en-US" sz="4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CNN：</a:t>
            </a:r>
          </a:p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浅层词级分类与深层字符级分类</a:t>
            </a:r>
          </a:p>
        </p:txBody>
      </p:sp>
      <p:pic>
        <p:nvPicPr>
          <p:cNvPr id="15" name="Image 2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909594" y="4470400"/>
            <a:ext cx="780106" cy="82078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34695" y="5018515"/>
            <a:ext cx="1131570" cy="815230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2700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  <p:sp>
        <p:nvSpPr>
          <p:cNvPr id="17" name="Text 12"/>
          <p:cNvSpPr/>
          <p:nvPr/>
        </p:nvSpPr>
        <p:spPr>
          <a:xfrm>
            <a:off x="734695" y="5018515"/>
            <a:ext cx="1131570" cy="8152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文本框 18"/>
          <p:cNvSpPr txBox="1"/>
          <p:nvPr/>
        </p:nvSpPr>
        <p:spPr>
          <a:xfrm>
            <a:off x="543560" y="3013075"/>
            <a:ext cx="7845425" cy="891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</a:rPr>
              <a:t>Convolutional Neural Networks for Text Categorization:</a:t>
            </a:r>
          </a:p>
          <a:p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</a:rPr>
              <a:t>Shallow Word-level vs. Deep Character-level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9525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4550" y="1925955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844550" y="1925955"/>
            <a:ext cx="1408430" cy="8001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4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44550" y="2692400"/>
            <a:ext cx="2663190" cy="438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24560" y="267081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7" name="Image 1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19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19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9" name="Shape 4"/>
          <p:cNvSpPr/>
          <p:nvPr>
            <p:custDataLst>
              <p:tags r:id="rId1"/>
            </p:custDataLst>
          </p:nvPr>
        </p:nvSpPr>
        <p:spPr>
          <a:xfrm flipH="1">
            <a:off x="4570730" y="150050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>
            <p:custDataLst>
              <p:tags r:id="rId2"/>
            </p:custDataLst>
          </p:nvPr>
        </p:nvSpPr>
        <p:spPr>
          <a:xfrm flipH="1">
            <a:off x="4570730" y="231521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11" name="Shape 6"/>
          <p:cNvSpPr/>
          <p:nvPr>
            <p:custDataLst>
              <p:tags r:id="rId3"/>
            </p:custDataLst>
          </p:nvPr>
        </p:nvSpPr>
        <p:spPr>
          <a:xfrm flipH="1">
            <a:off x="4570730" y="306768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12" name="Shape 7"/>
          <p:cNvSpPr/>
          <p:nvPr>
            <p:custDataLst>
              <p:tags r:id="rId4"/>
            </p:custDataLst>
          </p:nvPr>
        </p:nvSpPr>
        <p:spPr>
          <a:xfrm flipH="1">
            <a:off x="4570730" y="384302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13" name="Shape 8"/>
          <p:cNvSpPr/>
          <p:nvPr>
            <p:custDataLst>
              <p:tags r:id="rId5"/>
            </p:custDataLst>
          </p:nvPr>
        </p:nvSpPr>
        <p:spPr>
          <a:xfrm flipH="1">
            <a:off x="4570730" y="458660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15" name="Shape 10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3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20">
            <a:alphaModFix amt="80000"/>
          </a:blip>
          <a:stretch>
            <a:fillRect/>
          </a:stretch>
        </p:blipFill>
        <p:spPr>
          <a:xfrm>
            <a:off x="2252980" y="4632325"/>
            <a:ext cx="892175" cy="93853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2052955" y="5259070"/>
            <a:ext cx="1294130" cy="932180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2700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  <p:sp>
        <p:nvSpPr>
          <p:cNvPr id="30" name="Text 24"/>
          <p:cNvSpPr/>
          <p:nvPr/>
        </p:nvSpPr>
        <p:spPr>
          <a:xfrm>
            <a:off x="2052955" y="5259070"/>
            <a:ext cx="1294130" cy="932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1" name="Image 4" descr="https://kimi-img.moonshot.cn/pub/slides/slides_tmpl/image/25-09-05-17:31:01-d2tarldnfo2stf9djk0g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flipH="1">
            <a:off x="9841865" y="1183640"/>
            <a:ext cx="1897380" cy="1684020"/>
          </a:xfrm>
          <a:prstGeom prst="rect">
            <a:avLst/>
          </a:prstGeom>
        </p:spPr>
      </p:pic>
      <p:sp>
        <p:nvSpPr>
          <p:cNvPr id="32" name="Text 25"/>
          <p:cNvSpPr/>
          <p:nvPr>
            <p:custDataLst>
              <p:tags r:id="rId6"/>
            </p:custDataLst>
          </p:nvPr>
        </p:nvSpPr>
        <p:spPr>
          <a:xfrm>
            <a:off x="4816475" y="1375410"/>
            <a:ext cx="80645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33" name="Text 26"/>
          <p:cNvSpPr/>
          <p:nvPr>
            <p:custDataLst>
              <p:tags r:id="rId7"/>
            </p:custDataLst>
          </p:nvPr>
        </p:nvSpPr>
        <p:spPr>
          <a:xfrm>
            <a:off x="5623560" y="1558925"/>
            <a:ext cx="626808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研究背景与问题动机</a:t>
            </a:r>
            <a:endParaRPr lang="en-US" sz="1600" dirty="0"/>
          </a:p>
        </p:txBody>
      </p:sp>
      <p:sp>
        <p:nvSpPr>
          <p:cNvPr id="34" name="Text 27"/>
          <p:cNvSpPr/>
          <p:nvPr>
            <p:custDataLst>
              <p:tags r:id="rId8"/>
            </p:custDataLst>
          </p:nvPr>
        </p:nvSpPr>
        <p:spPr>
          <a:xfrm>
            <a:off x="4816475" y="2184400"/>
            <a:ext cx="80645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35" name="Text 28"/>
          <p:cNvSpPr/>
          <p:nvPr>
            <p:custDataLst>
              <p:tags r:id="rId9"/>
            </p:custDataLst>
          </p:nvPr>
        </p:nvSpPr>
        <p:spPr>
          <a:xfrm>
            <a:off x="5623560" y="2343150"/>
            <a:ext cx="626808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方法与模型架构</a:t>
            </a:r>
            <a:endParaRPr lang="en-US" sz="1600" dirty="0"/>
          </a:p>
        </p:txBody>
      </p:sp>
      <p:sp>
        <p:nvSpPr>
          <p:cNvPr id="36" name="Text 29"/>
          <p:cNvSpPr/>
          <p:nvPr>
            <p:custDataLst>
              <p:tags r:id="rId10"/>
            </p:custDataLst>
          </p:nvPr>
        </p:nvSpPr>
        <p:spPr>
          <a:xfrm>
            <a:off x="4816475" y="2937510"/>
            <a:ext cx="80645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37" name="Text 30"/>
          <p:cNvSpPr/>
          <p:nvPr>
            <p:custDataLst>
              <p:tags r:id="rId11"/>
            </p:custDataLst>
          </p:nvPr>
        </p:nvSpPr>
        <p:spPr>
          <a:xfrm>
            <a:off x="5623560" y="3112770"/>
            <a:ext cx="6268085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主</a:t>
            </a: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要贡献与创新点</a:t>
            </a:r>
            <a:endParaRPr lang="en-US" sz="2000" dirty="0"/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Text 31"/>
          <p:cNvSpPr/>
          <p:nvPr>
            <p:custDataLst>
              <p:tags r:id="rId12"/>
            </p:custDataLst>
          </p:nvPr>
        </p:nvSpPr>
        <p:spPr>
          <a:xfrm>
            <a:off x="4816475" y="3718560"/>
            <a:ext cx="80645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39" name="Text 32"/>
          <p:cNvSpPr/>
          <p:nvPr>
            <p:custDataLst>
              <p:tags r:id="rId13"/>
            </p:custDataLst>
          </p:nvPr>
        </p:nvSpPr>
        <p:spPr>
          <a:xfrm>
            <a:off x="5623560" y="3893820"/>
            <a:ext cx="626808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实验设计与结果分析</a:t>
            </a:r>
            <a:endParaRPr lang="en-US" sz="1600" dirty="0"/>
          </a:p>
        </p:txBody>
      </p:sp>
      <p:sp>
        <p:nvSpPr>
          <p:cNvPr id="40" name="Text 33"/>
          <p:cNvSpPr/>
          <p:nvPr>
            <p:custDataLst>
              <p:tags r:id="rId14"/>
            </p:custDataLst>
          </p:nvPr>
        </p:nvSpPr>
        <p:spPr>
          <a:xfrm>
            <a:off x="4816475" y="4499610"/>
            <a:ext cx="832485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41" name="Text 34"/>
          <p:cNvSpPr/>
          <p:nvPr>
            <p:custDataLst>
              <p:tags r:id="rId15"/>
            </p:custDataLst>
          </p:nvPr>
        </p:nvSpPr>
        <p:spPr>
          <a:xfrm>
            <a:off x="5623560" y="4648200"/>
            <a:ext cx="626808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局限性与未来展望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1"/>
      <p:bldP spid="37" grpId="1"/>
      <p:bldP spid="38" grpId="0"/>
      <p:bldP spid="39" grpId="0"/>
      <p:bldP spid="40" grpId="0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128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研究背景与问题动机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5-d2tarmdnfo2stf9djk4g.jp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22-d2tarqlnfo2stf9djklg.png"/>
          <p:cNvPicPr>
            <a:picLocks noChangeAspect="1"/>
          </p:cNvPicPr>
          <p:nvPr/>
        </p:nvPicPr>
        <p:blipFill>
          <a:blip r:embed="rId5"/>
          <a:srcRect b="5404"/>
          <a:stretch>
            <a:fillRect/>
          </a:stretch>
        </p:blipFill>
        <p:spPr>
          <a:xfrm>
            <a:off x="-80645" y="1921510"/>
            <a:ext cx="10852150" cy="46132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26465" y="114300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文本分类任务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11406074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1406074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1406074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406074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1406074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406074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1"/>
            </p:custDataLst>
          </p:nvPr>
        </p:nvSpPr>
        <p:spPr>
          <a:xfrm>
            <a:off x="1443990" y="1068070"/>
            <a:ext cx="9613265" cy="2726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文本分类</a:t>
            </a:r>
            <a:r>
              <a:rPr lang="en-US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是自然语言处理</a:t>
            </a:r>
            <a:r>
              <a:rPr lang="zh-CN" altLang="en-US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（</a:t>
            </a:r>
            <a:r>
              <a:rPr lang="en-US" altLang="zh-CN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NLP</a:t>
            </a:r>
            <a:r>
              <a:rPr lang="zh-CN" altLang="en-US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）</a:t>
            </a:r>
            <a:r>
              <a:rPr lang="en-US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的核心任务，指计算机将载有信息的文本映射到预先给定的某一类别主题的过程。广泛应用于</a:t>
            </a:r>
            <a:r>
              <a:rPr lang="zh-CN" altLang="en-US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内容分类</a:t>
            </a:r>
            <a:r>
              <a:rPr lang="en-US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、主题标注</a:t>
            </a:r>
            <a:r>
              <a:rPr lang="zh-CN" altLang="en-US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、邮件过滤、</a:t>
            </a:r>
            <a:r>
              <a:rPr lang="en-US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情感分析等场景，对信息管理和</a:t>
            </a:r>
            <a:r>
              <a:rPr lang="zh-CN" altLang="en-US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语义</a:t>
            </a:r>
            <a:r>
              <a:rPr lang="en-US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理解至关重要。</a:t>
            </a:r>
          </a:p>
        </p:txBody>
      </p:sp>
      <p:sp>
        <p:nvSpPr>
          <p:cNvPr id="19" name="Shape 0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2F5BEE"/>
          </a:solidFill>
          <a:ln w="19050">
            <a:solidFill>
              <a:srgbClr val="4874CB"/>
            </a:solidFill>
            <a:prstDash val="solid"/>
          </a:ln>
        </p:spPr>
      </p:sp>
      <p:sp>
        <p:nvSpPr>
          <p:cNvPr id="20" name="Text 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2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2F5BEE"/>
          </a:solidFill>
          <a:ln w="19050">
            <a:solidFill>
              <a:srgbClr val="4874CB"/>
            </a:solidFill>
            <a:prstDash val="solid"/>
          </a:ln>
        </p:spPr>
      </p:sp>
      <p:sp>
        <p:nvSpPr>
          <p:cNvPr id="22" name="Text 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4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2F5BEE"/>
          </a:solidFill>
          <a:ln w="19050">
            <a:solidFill>
              <a:srgbClr val="4874CB"/>
            </a:solidFill>
            <a:prstDash val="solid"/>
          </a:ln>
        </p:spPr>
      </p:sp>
      <p:sp>
        <p:nvSpPr>
          <p:cNvPr id="24" name="Text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635" y="2755265"/>
            <a:ext cx="6856730" cy="36912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https://kimi-img.moonshot.cn/pub/slides/slides_tmpl/image/25-09-05-17:31:05-d2tarmdnfo2stf9djk4g.jpg"/>
          <p:cNvPicPr>
            <a:picLocks noChangeAspect="1"/>
          </p:cNvPicPr>
          <p:nvPr/>
        </p:nvPicPr>
        <p:blipFill>
          <a:blip r:embed="rId30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图形 4"/>
          <p:cNvSpPr/>
          <p:nvPr>
            <p:custDataLst>
              <p:tags r:id="rId2"/>
            </p:custDataLst>
          </p:nvPr>
        </p:nvSpPr>
        <p:spPr>
          <a:xfrm>
            <a:off x="0" y="746760"/>
            <a:ext cx="11582400" cy="1665605"/>
          </a:xfrm>
          <a:custGeom>
            <a:avLst/>
            <a:gdLst>
              <a:gd name="connsiteX0" fmla="*/ 0 w 4875366"/>
              <a:gd name="connsiteY0" fmla="*/ 358036 h 745513"/>
              <a:gd name="connsiteX1" fmla="*/ 4094512 w 4875366"/>
              <a:gd name="connsiteY1" fmla="*/ 358036 h 745513"/>
              <a:gd name="connsiteX2" fmla="*/ 4114038 w 4875366"/>
              <a:gd name="connsiteY2" fmla="*/ 338510 h 745513"/>
              <a:gd name="connsiteX3" fmla="*/ 4114038 w 4875366"/>
              <a:gd name="connsiteY3" fmla="*/ 13327 h 745513"/>
              <a:gd name="connsiteX4" fmla="*/ 4136612 w 4875366"/>
              <a:gd name="connsiteY4" fmla="*/ 3802 h 745513"/>
              <a:gd name="connsiteX5" fmla="*/ 4871371 w 4875366"/>
              <a:gd name="connsiteY5" fmla="*/ 722749 h 745513"/>
              <a:gd name="connsiteX6" fmla="*/ 4862037 w 4875366"/>
              <a:gd name="connsiteY6" fmla="*/ 745513 h 745513"/>
              <a:gd name="connsiteX7" fmla="*/ 0 w 4875366"/>
              <a:gd name="connsiteY7" fmla="*/ 745513 h 745513"/>
              <a:gd name="connsiteX8" fmla="*/ 0 w 4875366"/>
              <a:gd name="connsiteY8" fmla="*/ 358036 h 745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75366" h="745513">
                <a:moveTo>
                  <a:pt x="0" y="358036"/>
                </a:moveTo>
                <a:lnTo>
                  <a:pt x="4094512" y="358036"/>
                </a:lnTo>
                <a:cubicBezTo>
                  <a:pt x="4105275" y="358036"/>
                  <a:pt x="4114038" y="349273"/>
                  <a:pt x="4114038" y="338510"/>
                </a:cubicBezTo>
                <a:lnTo>
                  <a:pt x="4114038" y="13327"/>
                </a:lnTo>
                <a:cubicBezTo>
                  <a:pt x="4114038" y="1516"/>
                  <a:pt x="4128230" y="-4390"/>
                  <a:pt x="4136612" y="3802"/>
                </a:cubicBezTo>
                <a:lnTo>
                  <a:pt x="4871371" y="722749"/>
                </a:lnTo>
                <a:cubicBezTo>
                  <a:pt x="4879848" y="731035"/>
                  <a:pt x="4873943" y="745513"/>
                  <a:pt x="4862037" y="745513"/>
                </a:cubicBezTo>
                <a:lnTo>
                  <a:pt x="0" y="745513"/>
                </a:lnTo>
                <a:lnTo>
                  <a:pt x="0" y="358036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50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Text 0"/>
          <p:cNvSpPr/>
          <p:nvPr/>
        </p:nvSpPr>
        <p:spPr>
          <a:xfrm>
            <a:off x="937895" y="93980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文本分类模型演进</a:t>
            </a:r>
            <a:endParaRPr lang="en-US" sz="1600" dirty="0"/>
          </a:p>
        </p:txBody>
      </p:sp>
      <p:sp>
        <p:nvSpPr>
          <p:cNvPr id="18" name="Shape 0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2F5BEE"/>
          </a:solidFill>
          <a:ln w="19050">
            <a:solidFill>
              <a:srgbClr val="4874CB"/>
            </a:solidFill>
            <a:prstDash val="solid"/>
          </a:ln>
        </p:spPr>
      </p:sp>
      <p:sp>
        <p:nvSpPr>
          <p:cNvPr id="20" name="Text 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2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2F5BEE"/>
          </a:solidFill>
          <a:ln w="19050">
            <a:solidFill>
              <a:srgbClr val="4874CB"/>
            </a:solidFill>
            <a:prstDash val="solid"/>
          </a:ln>
        </p:spPr>
      </p:sp>
      <p:sp>
        <p:nvSpPr>
          <p:cNvPr id="22" name="Text 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4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2F5BEE"/>
          </a:solidFill>
          <a:ln w="19050">
            <a:solidFill>
              <a:srgbClr val="4874CB"/>
            </a:solidFill>
            <a:prstDash val="solid"/>
          </a:ln>
        </p:spPr>
      </p:sp>
      <p:sp>
        <p:nvSpPr>
          <p:cNvPr id="25" name="Text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文本框 30"/>
          <p:cNvSpPr txBox="1"/>
          <p:nvPr/>
        </p:nvSpPr>
        <p:spPr>
          <a:xfrm>
            <a:off x="786765" y="1602105"/>
            <a:ext cx="1013460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1950 ~ 1980             1990 ~ 2009                 2010 ~ 2016               2017 ~ 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至今</a:t>
            </a:r>
          </a:p>
        </p:txBody>
      </p:sp>
      <p:grpSp>
        <p:nvGrpSpPr>
          <p:cNvPr id="27" name="组合 26"/>
          <p:cNvGrpSpPr/>
          <p:nvPr>
            <p:custDataLst>
              <p:tags r:id="rId3"/>
            </p:custDataLst>
          </p:nvPr>
        </p:nvGrpSpPr>
        <p:grpSpPr>
          <a:xfrm>
            <a:off x="731520" y="2136140"/>
            <a:ext cx="10664825" cy="3604260"/>
            <a:chOff x="1152" y="3364"/>
            <a:chExt cx="16795" cy="5676"/>
          </a:xfrm>
        </p:grpSpPr>
        <p:sp useBgFill="1">
          <p:nvSpPr>
            <p:cNvPr id="5" name="圆角矩形 4"/>
            <p:cNvSpPr/>
            <p:nvPr>
              <p:custDataLst>
                <p:tags r:id="rId4"/>
              </p:custDataLst>
            </p:nvPr>
          </p:nvSpPr>
          <p:spPr>
            <a:xfrm rot="240000">
              <a:off x="1152" y="3366"/>
              <a:ext cx="3781" cy="5675"/>
            </a:xfrm>
            <a:prstGeom prst="roundRect">
              <a:avLst>
                <a:gd name="adj" fmla="val 7248"/>
              </a:avLst>
            </a:prstGeom>
            <a:ln w="6350">
              <a:solidFill>
                <a:schemeClr val="tx1">
                  <a:lumMod val="65000"/>
                  <a:lumOff val="35000"/>
                  <a:alpha val="15000"/>
                </a:schemeClr>
              </a:solidFill>
            </a:ln>
            <a:effectLst>
              <a:outerShdw blurRad="88900" dist="508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7" name="圆角矩形 6"/>
            <p:cNvSpPr/>
            <p:nvPr>
              <p:custDataLst>
                <p:tags r:id="rId5"/>
              </p:custDataLst>
            </p:nvPr>
          </p:nvSpPr>
          <p:spPr>
            <a:xfrm rot="240000">
              <a:off x="1156" y="3364"/>
              <a:ext cx="3781" cy="5675"/>
            </a:xfrm>
            <a:prstGeom prst="roundRect">
              <a:avLst>
                <a:gd name="adj" fmla="val 7248"/>
              </a:avLst>
            </a:prstGeom>
            <a:solidFill>
              <a:schemeClr val="lt1">
                <a:lumMod val="100000"/>
                <a:alpha val="20000"/>
              </a:schemeClr>
            </a:solidFill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+mn-ea"/>
                <a:sym typeface="+mn-ea"/>
              </a:endParaRPr>
            </a:p>
          </p:txBody>
        </p:sp>
        <p:sp>
          <p:nvSpPr>
            <p:cNvPr id="8" name="椭圆 7"/>
            <p:cNvSpPr/>
            <p:nvPr>
              <p:custDataLst>
                <p:tags r:id="rId6"/>
              </p:custDataLst>
            </p:nvPr>
          </p:nvSpPr>
          <p:spPr>
            <a:xfrm>
              <a:off x="1506" y="3438"/>
              <a:ext cx="223" cy="22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rgbClr val="FFFFFF"/>
              </a:solidFill>
            </a:ln>
            <a:effectLst>
              <a:outerShdw blurRad="508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>
              <p:custDataLst>
                <p:tags r:id="rId7"/>
              </p:custDataLst>
            </p:nvPr>
          </p:nvSpPr>
          <p:spPr>
            <a:xfrm rot="300000">
              <a:off x="3705" y="8223"/>
              <a:ext cx="934" cy="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 anchorCtr="0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chemeClr val="accent1">
                      <a:alpha val="35000"/>
                    </a:schemeClr>
                  </a:solidFill>
                  <a:latin typeface="+mn-ea"/>
                  <a:cs typeface="+mn-ea"/>
                </a:rPr>
                <a:t>01</a:t>
              </a:r>
            </a:p>
          </p:txBody>
        </p:sp>
        <p:sp>
          <p:nvSpPr>
            <p:cNvPr id="10" name="文本框 9"/>
            <p:cNvSpPr txBox="1"/>
            <p:nvPr>
              <p:custDataLst>
                <p:tags r:id="rId8"/>
              </p:custDataLst>
            </p:nvPr>
          </p:nvSpPr>
          <p:spPr>
            <a:xfrm rot="240000">
              <a:off x="1658" y="4088"/>
              <a:ext cx="3011" cy="577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algn="just"/>
              <a:r>
                <a:rPr lang="zh-CN" altLang="en-US" b="1">
                  <a:solidFill>
                    <a:schemeClr val="accent1"/>
                  </a:solidFill>
                </a:rPr>
                <a:t>线性模型奠基阶段</a:t>
              </a:r>
            </a:p>
          </p:txBody>
        </p:sp>
        <p:sp>
          <p:nvSpPr>
            <p:cNvPr id="11" name="文本框 10"/>
            <p:cNvSpPr txBox="1"/>
            <p:nvPr>
              <p:custDataLst>
                <p:tags r:id="rId9"/>
              </p:custDataLst>
            </p:nvPr>
          </p:nvSpPr>
          <p:spPr>
            <a:xfrm rot="240000">
              <a:off x="1484" y="4912"/>
              <a:ext cx="3271" cy="20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indent="0" algn="just" fontAlgn="auto">
                <a:lnSpc>
                  <a:spcPct val="140000"/>
                </a:lnSpc>
              </a:pPr>
              <a:r>
                <a:rPr lang="zh-CN" altLang="en-US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强调人工特征与可解释性，</a:t>
              </a:r>
              <a:endPara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endParaRPr>
            </a:p>
            <a:p>
              <a:pPr indent="0" algn="just" fontAlgn="auto">
                <a:lnSpc>
                  <a:spcPct val="140000"/>
                </a:lnSpc>
              </a:pPr>
              <a:r>
                <a:rPr lang="zh-CN" altLang="en-US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代表方法：感知机、朴素贝叶斯、线性回归等。</a:t>
              </a:r>
            </a:p>
            <a:p>
              <a:pPr indent="0" algn="just" fontAlgn="auto">
                <a:lnSpc>
                  <a:spcPct val="140000"/>
                </a:lnSpc>
              </a:pPr>
              <a:endPara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endParaRPr>
            </a:p>
          </p:txBody>
        </p:sp>
        <p:sp useBgFill="1">
          <p:nvSpPr>
            <p:cNvPr id="12" name="圆角矩形 11"/>
            <p:cNvSpPr/>
            <p:nvPr>
              <p:custDataLst>
                <p:tags r:id="rId10"/>
              </p:custDataLst>
            </p:nvPr>
          </p:nvSpPr>
          <p:spPr>
            <a:xfrm rot="240000">
              <a:off x="5489" y="3366"/>
              <a:ext cx="3781" cy="5675"/>
            </a:xfrm>
            <a:prstGeom prst="roundRect">
              <a:avLst>
                <a:gd name="adj" fmla="val 7248"/>
              </a:avLst>
            </a:prstGeom>
            <a:ln w="6350">
              <a:solidFill>
                <a:schemeClr val="tx1">
                  <a:lumMod val="65000"/>
                  <a:lumOff val="35000"/>
                  <a:alpha val="15000"/>
                </a:schemeClr>
              </a:solidFill>
            </a:ln>
            <a:effectLst>
              <a:outerShdw blurRad="88900" dist="508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13" name="圆角矩形 12"/>
            <p:cNvSpPr/>
            <p:nvPr>
              <p:custDataLst>
                <p:tags r:id="rId11"/>
              </p:custDataLst>
            </p:nvPr>
          </p:nvSpPr>
          <p:spPr>
            <a:xfrm rot="240000">
              <a:off x="5493" y="3364"/>
              <a:ext cx="3781" cy="5675"/>
            </a:xfrm>
            <a:prstGeom prst="roundRect">
              <a:avLst>
                <a:gd name="adj" fmla="val 7248"/>
              </a:avLst>
            </a:prstGeom>
            <a:solidFill>
              <a:schemeClr val="lt1">
                <a:lumMod val="100000"/>
                <a:alpha val="20000"/>
              </a:schemeClr>
            </a:solidFill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+mn-ea"/>
                <a:sym typeface="+mn-ea"/>
              </a:endParaRPr>
            </a:p>
          </p:txBody>
        </p:sp>
        <p:sp>
          <p:nvSpPr>
            <p:cNvPr id="14" name="椭圆 13"/>
            <p:cNvSpPr/>
            <p:nvPr>
              <p:custDataLst>
                <p:tags r:id="rId12"/>
              </p:custDataLst>
            </p:nvPr>
          </p:nvSpPr>
          <p:spPr>
            <a:xfrm>
              <a:off x="5843" y="3438"/>
              <a:ext cx="223" cy="22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rgbClr val="FFFFFF"/>
              </a:solidFill>
            </a:ln>
            <a:effectLst>
              <a:outerShdw blurRad="508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 rot="300000">
              <a:off x="8042" y="8223"/>
              <a:ext cx="934" cy="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 anchorCtr="0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chemeClr val="accent1">
                      <a:alpha val="35000"/>
                    </a:schemeClr>
                  </a:solidFill>
                  <a:latin typeface="+mn-ea"/>
                  <a:cs typeface="+mn-ea"/>
                </a:rPr>
                <a:t>02</a:t>
              </a:r>
            </a:p>
          </p:txBody>
        </p:sp>
        <p:sp>
          <p:nvSpPr>
            <p:cNvPr id="16" name="文本框 15"/>
            <p:cNvSpPr txBox="1"/>
            <p:nvPr>
              <p:custDataLst>
                <p:tags r:id="rId14"/>
              </p:custDataLst>
            </p:nvPr>
          </p:nvSpPr>
          <p:spPr>
            <a:xfrm rot="240000">
              <a:off x="6066" y="4168"/>
              <a:ext cx="3011" cy="577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algn="just"/>
              <a:r>
                <a:rPr lang="zh-CN" altLang="en-US" b="1">
                  <a:solidFill>
                    <a:schemeClr val="accent1"/>
                  </a:solidFill>
                </a:rPr>
                <a:t>统计机器学习阶段</a:t>
              </a:r>
            </a:p>
          </p:txBody>
        </p:sp>
        <p:sp>
          <p:nvSpPr>
            <p:cNvPr id="17" name="文本框 16"/>
            <p:cNvSpPr txBox="1"/>
            <p:nvPr>
              <p:custDataLst>
                <p:tags r:id="rId15"/>
              </p:custDataLst>
            </p:nvPr>
          </p:nvSpPr>
          <p:spPr>
            <a:xfrm rot="240000">
              <a:off x="5886" y="5008"/>
              <a:ext cx="3201" cy="20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indent="0" algn="just" fontAlgn="auto">
                <a:lnSpc>
                  <a:spcPct val="140000"/>
                </a:lnSpc>
              </a:pPr>
              <a:r>
                <a:rPr lang="zh-CN" altLang="en-US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使用手工特征</a:t>
              </a:r>
              <a:r>
                <a:rPr lang="en-US" altLang="zh-CN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 + </a:t>
              </a:r>
              <a:r>
                <a:rPr lang="zh-CN" altLang="en-US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统计模型解决分类问题，</a:t>
              </a:r>
              <a:r>
                <a:rPr lang="en-US" altLang="zh-CN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SVM</a:t>
              </a:r>
              <a:r>
                <a:rPr lang="zh-CN" altLang="en-US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、</a:t>
              </a:r>
              <a:r>
                <a:rPr lang="en-US" altLang="zh-CN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CRF </a:t>
              </a:r>
              <a:r>
                <a:rPr lang="zh-CN" altLang="en-US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等算法成为主流。</a:t>
              </a:r>
            </a:p>
          </p:txBody>
        </p:sp>
        <p:sp useBgFill="1">
          <p:nvSpPr>
            <p:cNvPr id="19" name="圆角矩形 18"/>
            <p:cNvSpPr/>
            <p:nvPr>
              <p:custDataLst>
                <p:tags r:id="rId16"/>
              </p:custDataLst>
            </p:nvPr>
          </p:nvSpPr>
          <p:spPr>
            <a:xfrm rot="240000">
              <a:off x="14163" y="3366"/>
              <a:ext cx="3781" cy="5675"/>
            </a:xfrm>
            <a:prstGeom prst="roundRect">
              <a:avLst>
                <a:gd name="adj" fmla="val 7248"/>
              </a:avLst>
            </a:prstGeom>
            <a:ln w="6350">
              <a:solidFill>
                <a:schemeClr val="tx1">
                  <a:lumMod val="65000"/>
                  <a:lumOff val="35000"/>
                  <a:alpha val="15000"/>
                </a:schemeClr>
              </a:solidFill>
            </a:ln>
            <a:effectLst>
              <a:outerShdw blurRad="88900" dist="508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24" name="圆角矩形 23"/>
            <p:cNvSpPr/>
            <p:nvPr>
              <p:custDataLst>
                <p:tags r:id="rId17"/>
              </p:custDataLst>
            </p:nvPr>
          </p:nvSpPr>
          <p:spPr>
            <a:xfrm rot="240000">
              <a:off x="14167" y="3364"/>
              <a:ext cx="3781" cy="5675"/>
            </a:xfrm>
            <a:prstGeom prst="roundRect">
              <a:avLst>
                <a:gd name="adj" fmla="val 7248"/>
              </a:avLst>
            </a:prstGeom>
            <a:solidFill>
              <a:schemeClr val="lt1">
                <a:lumMod val="100000"/>
                <a:alpha val="20000"/>
              </a:schemeClr>
            </a:solidFill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+mn-ea"/>
                <a:sym typeface="+mn-ea"/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18"/>
              </p:custDataLst>
            </p:nvPr>
          </p:nvSpPr>
          <p:spPr>
            <a:xfrm>
              <a:off x="14517" y="3438"/>
              <a:ext cx="223" cy="22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rgbClr val="FFFFFF"/>
              </a:solidFill>
            </a:ln>
            <a:effectLst>
              <a:outerShdw blurRad="508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>
              <p:custDataLst>
                <p:tags r:id="rId19"/>
              </p:custDataLst>
            </p:nvPr>
          </p:nvSpPr>
          <p:spPr>
            <a:xfrm rot="300000">
              <a:off x="16716" y="8223"/>
              <a:ext cx="934" cy="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 anchorCtr="0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chemeClr val="accent1">
                      <a:alpha val="35000"/>
                    </a:schemeClr>
                  </a:solidFill>
                  <a:latin typeface="+mn-ea"/>
                  <a:cs typeface="+mn-ea"/>
                </a:rPr>
                <a:t>04</a:t>
              </a:r>
            </a:p>
          </p:txBody>
        </p:sp>
        <p:sp>
          <p:nvSpPr>
            <p:cNvPr id="33" name="文本框 32"/>
            <p:cNvSpPr txBox="1"/>
            <p:nvPr>
              <p:custDataLst>
                <p:tags r:id="rId20"/>
              </p:custDataLst>
            </p:nvPr>
          </p:nvSpPr>
          <p:spPr>
            <a:xfrm rot="240000">
              <a:off x="14547" y="4368"/>
              <a:ext cx="3380" cy="577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algn="just"/>
              <a:r>
                <a:rPr lang="zh-CN" altLang="en-US" b="1">
                  <a:solidFill>
                    <a:schemeClr val="accent1"/>
                  </a:solidFill>
                </a:rPr>
                <a:t>预训练与大模型阶段</a:t>
              </a:r>
            </a:p>
          </p:txBody>
        </p:sp>
        <p:sp useBgFill="1">
          <p:nvSpPr>
            <p:cNvPr id="35" name="圆角矩形 34"/>
            <p:cNvSpPr/>
            <p:nvPr>
              <p:custDataLst>
                <p:tags r:id="rId21"/>
              </p:custDataLst>
            </p:nvPr>
          </p:nvSpPr>
          <p:spPr>
            <a:xfrm rot="240000">
              <a:off x="9826" y="3366"/>
              <a:ext cx="3781" cy="5675"/>
            </a:xfrm>
            <a:prstGeom prst="roundRect">
              <a:avLst>
                <a:gd name="adj" fmla="val 7248"/>
              </a:avLst>
            </a:prstGeom>
            <a:ln w="6350">
              <a:solidFill>
                <a:schemeClr val="tx1">
                  <a:lumMod val="65000"/>
                  <a:lumOff val="35000"/>
                  <a:alpha val="15000"/>
                </a:schemeClr>
              </a:solidFill>
            </a:ln>
            <a:effectLst>
              <a:outerShdw blurRad="88900" dist="508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36" name="圆角矩形 35"/>
            <p:cNvSpPr/>
            <p:nvPr>
              <p:custDataLst>
                <p:tags r:id="rId22"/>
              </p:custDataLst>
            </p:nvPr>
          </p:nvSpPr>
          <p:spPr>
            <a:xfrm rot="240000">
              <a:off x="9830" y="3364"/>
              <a:ext cx="3781" cy="5675"/>
            </a:xfrm>
            <a:prstGeom prst="roundRect">
              <a:avLst>
                <a:gd name="adj" fmla="val 7248"/>
              </a:avLst>
            </a:prstGeom>
            <a:solidFill>
              <a:schemeClr val="lt1">
                <a:lumMod val="100000"/>
                <a:alpha val="20000"/>
              </a:schemeClr>
            </a:solidFill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+mn-ea"/>
                <a:sym typeface="+mn-ea"/>
              </a:endParaRPr>
            </a:p>
          </p:txBody>
        </p:sp>
        <p:sp>
          <p:nvSpPr>
            <p:cNvPr id="40" name="椭圆 39"/>
            <p:cNvSpPr/>
            <p:nvPr>
              <p:custDataLst>
                <p:tags r:id="rId23"/>
              </p:custDataLst>
            </p:nvPr>
          </p:nvSpPr>
          <p:spPr>
            <a:xfrm>
              <a:off x="10180" y="3438"/>
              <a:ext cx="223" cy="22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rgbClr val="FFFFFF"/>
              </a:solidFill>
            </a:ln>
            <a:effectLst>
              <a:outerShdw blurRad="508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>
              <p:custDataLst>
                <p:tags r:id="rId24"/>
              </p:custDataLst>
            </p:nvPr>
          </p:nvSpPr>
          <p:spPr>
            <a:xfrm rot="300000">
              <a:off x="12379" y="8223"/>
              <a:ext cx="934" cy="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 anchorCtr="0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chemeClr val="accent1">
                      <a:alpha val="35000"/>
                    </a:schemeClr>
                  </a:solidFill>
                  <a:latin typeface="+mn-ea"/>
                  <a:cs typeface="+mn-ea"/>
                </a:rPr>
                <a:t>03</a:t>
              </a:r>
            </a:p>
          </p:txBody>
        </p:sp>
        <p:sp>
          <p:nvSpPr>
            <p:cNvPr id="45" name="文本框 44"/>
            <p:cNvSpPr txBox="1"/>
            <p:nvPr>
              <p:custDataLst>
                <p:tags r:id="rId25"/>
              </p:custDataLst>
            </p:nvPr>
          </p:nvSpPr>
          <p:spPr>
            <a:xfrm rot="240000">
              <a:off x="10414" y="4262"/>
              <a:ext cx="3011" cy="577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algn="just"/>
              <a:r>
                <a:rPr lang="zh-CN" altLang="en-US" b="1">
                  <a:solidFill>
                    <a:schemeClr val="accent1"/>
                  </a:solidFill>
                </a:rPr>
                <a:t>深度学习兴起阶段</a:t>
              </a:r>
            </a:p>
          </p:txBody>
        </p:sp>
        <p:sp>
          <p:nvSpPr>
            <p:cNvPr id="34" name="文本框 33"/>
            <p:cNvSpPr txBox="1"/>
            <p:nvPr>
              <p:custDataLst>
                <p:tags r:id="rId26"/>
              </p:custDataLst>
            </p:nvPr>
          </p:nvSpPr>
          <p:spPr>
            <a:xfrm rot="240000">
              <a:off x="10277" y="5080"/>
              <a:ext cx="3011" cy="20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indent="0" algn="just" fontAlgn="auto">
                <a:lnSpc>
                  <a:spcPct val="140000"/>
                </a:lnSpc>
              </a:pPr>
              <a:r>
                <a:rPr lang="zh-CN" altLang="en-US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引入向量、卷积与循环，能建模局部或序列。</a:t>
              </a:r>
            </a:p>
            <a:p>
              <a:pPr indent="0" algn="just" fontAlgn="auto">
                <a:lnSpc>
                  <a:spcPct val="140000"/>
                </a:lnSpc>
              </a:pPr>
              <a:r>
                <a:rPr lang="en-US" altLang="zh-CN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CNN</a:t>
              </a:r>
              <a:r>
                <a:rPr lang="zh-CN" altLang="en-US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擅长处理局部特征，</a:t>
              </a:r>
              <a:r>
                <a:rPr lang="en-US" altLang="zh-CN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RNN/LSTM</a:t>
              </a:r>
              <a:r>
                <a:rPr lang="zh-CN" altLang="en-US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处理序列依赖。</a:t>
              </a:r>
            </a:p>
            <a:p>
              <a:pPr indent="0" algn="just" fontAlgn="auto">
                <a:lnSpc>
                  <a:spcPct val="140000"/>
                </a:lnSpc>
              </a:pPr>
              <a:endPara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27"/>
              </p:custDataLst>
            </p:nvPr>
          </p:nvSpPr>
          <p:spPr>
            <a:xfrm rot="240000">
              <a:off x="14535" y="5182"/>
              <a:ext cx="3011" cy="20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indent="0" algn="just" fontAlgn="auto">
                <a:lnSpc>
                  <a:spcPct val="140000"/>
                </a:lnSpc>
              </a:pPr>
              <a:r>
                <a:rPr lang="en-US" altLang="zh-CN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Transformer </a:t>
              </a:r>
              <a:r>
                <a:rPr lang="zh-CN" altLang="en-US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架构与</a:t>
              </a:r>
              <a:r>
                <a:rPr lang="en-US" altLang="zh-CN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 “</a:t>
              </a:r>
              <a:r>
                <a:rPr lang="zh-CN" altLang="en-US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预训练</a:t>
              </a:r>
              <a:r>
                <a:rPr lang="en-US" altLang="zh-CN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 + </a:t>
              </a:r>
              <a:r>
                <a:rPr lang="zh-CN" altLang="en-US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微调</a:t>
              </a:r>
              <a:r>
                <a:rPr lang="en-US" altLang="zh-CN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” </a:t>
              </a:r>
              <a:r>
                <a:rPr lang="zh-CN" altLang="en-US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模式成为核心，</a:t>
              </a:r>
              <a:r>
                <a:rPr lang="en-US" altLang="zh-CN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BERT</a:t>
              </a:r>
              <a:r>
                <a:rPr lang="zh-CN" altLang="en-US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、</a:t>
              </a:r>
              <a:r>
                <a:rPr lang="en-US" altLang="zh-CN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GPT </a:t>
              </a:r>
              <a:r>
                <a:rPr lang="zh-CN" altLang="en-US" sz="14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等模型实现深层语义理解，精度与泛化性达新高度。</a:t>
              </a: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5-d2tarmdnfo2stf9djk40.png"/>
          <p:cNvPicPr>
            <a:picLocks noChangeAspect="1"/>
          </p:cNvPicPr>
          <p:nvPr/>
        </p:nvPicPr>
        <p:blipFill>
          <a:blip r:embed="rId3"/>
          <a:srcRect t="83" b="8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2-d2tarllnfo2stf9djk10.png"/>
          <p:cNvPicPr>
            <a:picLocks noChangeAspect="1"/>
          </p:cNvPicPr>
          <p:nvPr/>
        </p:nvPicPr>
        <p:blipFill>
          <a:blip r:embed="rId4"/>
          <a:srcRect t="1875" b="1875"/>
          <a:stretch>
            <a:fillRect/>
          </a:stretch>
        </p:blipFill>
        <p:spPr>
          <a:xfrm>
            <a:off x="0" y="983615"/>
            <a:ext cx="12140565" cy="47224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2F5BEE"/>
          </a:solidFill>
          <a:ln w="19050">
            <a:solidFill>
              <a:srgbClr val="4874CB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2F5BEE"/>
          </a:solidFill>
          <a:ln w="19050">
            <a:solidFill>
              <a:srgbClr val="4874C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2F5BEE"/>
          </a:solidFill>
          <a:ln w="19050">
            <a:solidFill>
              <a:srgbClr val="4874C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 7"/>
          <p:cNvSpPr/>
          <p:nvPr/>
        </p:nvSpPr>
        <p:spPr>
          <a:xfrm>
            <a:off x="931545" y="107950"/>
            <a:ext cx="7322820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研究空白与选题价值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20345" y="1167130"/>
            <a:ext cx="11635105" cy="572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/>
              <a:t>《自然语言处理的深度卷积网络》</a:t>
            </a:r>
            <a:r>
              <a:rPr lang="en-US" altLang="zh-CN" sz="1600" dirty="0"/>
              <a:t>          </a:t>
            </a:r>
            <a:r>
              <a:rPr lang="zh-CN" altLang="en-US" sz="1600" dirty="0"/>
              <a:t>《</a:t>
            </a:r>
            <a:r>
              <a:rPr lang="zh-CN" sz="1600" dirty="0"/>
              <a:t>有效利用词序进行</a:t>
            </a:r>
            <a:r>
              <a:rPr lang="zh-CN" altLang="en-US" sz="1600" dirty="0"/>
              <a:t>文本</a:t>
            </a:r>
            <a:r>
              <a:rPr lang="zh-CN" altLang="en-US" sz="1600" dirty="0">
                <a:sym typeface="+mn-ea"/>
              </a:rPr>
              <a:t>分类的</a:t>
            </a:r>
            <a:r>
              <a:rPr lang="zh-CN" altLang="en-US" sz="1600" dirty="0"/>
              <a:t>卷积神经网络》《基于区域嵌入的文本分类卷积神经网络》</a:t>
            </a:r>
            <a:endParaRPr lang="en-US" altLang="zh-CN" sz="16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356870" y="1875155"/>
            <a:ext cx="2804160" cy="3562350"/>
            <a:chOff x="5956" y="1640"/>
            <a:chExt cx="4416" cy="5610"/>
          </a:xfrm>
        </p:grpSpPr>
        <p:pic>
          <p:nvPicPr>
            <p:cNvPr id="14" name="Image 1" descr="https://kimi-img.moonshot.cn/pub/slides/slides_tmpl/image/25-09-05-17:31:02-d2tarllnfo2stf9djk10.png"/>
            <p:cNvPicPr>
              <a:picLocks noChangeAspect="1"/>
            </p:cNvPicPr>
            <p:nvPr/>
          </p:nvPicPr>
          <p:blipFill>
            <a:blip r:embed="rId4"/>
            <a:srcRect t="1875" b="1875"/>
            <a:stretch>
              <a:fillRect/>
            </a:stretch>
          </p:blipFill>
          <p:spPr>
            <a:xfrm>
              <a:off x="5956" y="1640"/>
              <a:ext cx="4416" cy="561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62" y="1850"/>
              <a:ext cx="3992" cy="5147"/>
            </a:xfrm>
            <a:prstGeom prst="rect">
              <a:avLst/>
            </a:prstGeom>
          </p:spPr>
        </p:pic>
      </p:grpSp>
      <p:grpSp>
        <p:nvGrpSpPr>
          <p:cNvPr id="26" name="组合 25"/>
          <p:cNvGrpSpPr/>
          <p:nvPr/>
        </p:nvGrpSpPr>
        <p:grpSpPr>
          <a:xfrm>
            <a:off x="4530725" y="1873885"/>
            <a:ext cx="2804160" cy="3562350"/>
            <a:chOff x="6746" y="2325"/>
            <a:chExt cx="4416" cy="5610"/>
          </a:xfrm>
        </p:grpSpPr>
        <p:pic>
          <p:nvPicPr>
            <p:cNvPr id="18" name="Image 1" descr="https://kimi-img.moonshot.cn/pub/slides/slides_tmpl/image/25-09-05-17:31:02-d2tarllnfo2stf9djk10.png"/>
            <p:cNvPicPr>
              <a:picLocks noChangeAspect="1"/>
            </p:cNvPicPr>
            <p:nvPr/>
          </p:nvPicPr>
          <p:blipFill>
            <a:blip r:embed="rId4"/>
            <a:srcRect t="1875" b="1875"/>
            <a:stretch>
              <a:fillRect/>
            </a:stretch>
          </p:blipFill>
          <p:spPr>
            <a:xfrm>
              <a:off x="6746" y="2325"/>
              <a:ext cx="4416" cy="5610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34" y="2519"/>
              <a:ext cx="4033" cy="5148"/>
            </a:xfrm>
            <a:prstGeom prst="rect">
              <a:avLst/>
            </a:prstGeom>
          </p:spPr>
        </p:pic>
      </p:grpSp>
      <p:grpSp>
        <p:nvGrpSpPr>
          <p:cNvPr id="25" name="组合 24"/>
          <p:cNvGrpSpPr/>
          <p:nvPr/>
        </p:nvGrpSpPr>
        <p:grpSpPr>
          <a:xfrm>
            <a:off x="8481060" y="1875155"/>
            <a:ext cx="2804160" cy="3562350"/>
            <a:chOff x="12593" y="2324"/>
            <a:chExt cx="4416" cy="5610"/>
          </a:xfrm>
        </p:grpSpPr>
        <p:pic>
          <p:nvPicPr>
            <p:cNvPr id="21" name="Image 1" descr="https://kimi-img.moonshot.cn/pub/slides/slides_tmpl/image/25-09-05-17:31:02-d2tarllnfo2stf9djk10.png"/>
            <p:cNvPicPr>
              <a:picLocks noChangeAspect="1"/>
            </p:cNvPicPr>
            <p:nvPr/>
          </p:nvPicPr>
          <p:blipFill>
            <a:blip r:embed="rId4"/>
            <a:srcRect t="1875" b="1875"/>
            <a:stretch>
              <a:fillRect/>
            </a:stretch>
          </p:blipFill>
          <p:spPr>
            <a:xfrm>
              <a:off x="12593" y="2324"/>
              <a:ext cx="4416" cy="5610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731" y="2519"/>
              <a:ext cx="4063" cy="5145"/>
            </a:xfrm>
            <a:prstGeom prst="rect">
              <a:avLst/>
            </a:prstGeom>
          </p:spPr>
        </p:pic>
      </p:grpSp>
      <p:sp>
        <p:nvSpPr>
          <p:cNvPr id="17" name="文本框 16"/>
          <p:cNvSpPr txBox="1"/>
          <p:nvPr/>
        </p:nvSpPr>
        <p:spPr>
          <a:xfrm>
            <a:off x="3524885" y="3166745"/>
            <a:ext cx="7994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细黑" panose="02010600040101010101" charset="-122"/>
                <a:ea typeface="华文细黑" panose="02010600040101010101" charset="-122"/>
              </a:rPr>
              <a:t>VS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56870" y="5828665"/>
            <a:ext cx="13547725" cy="1002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1400"/>
              <a:t>[1] Alexis Conneau. Very deep convolutional networks for natural language processing. arXiv:1606.01781v1 (6 June 2016 version), 2016.</a:t>
            </a:r>
          </a:p>
          <a:p>
            <a:pPr>
              <a:lnSpc>
                <a:spcPct val="110000"/>
              </a:lnSpc>
            </a:pPr>
            <a:r>
              <a:rPr lang="en-US" altLang="zh-CN" sz="1400"/>
              <a:t>[3] Rie Johnson and Tong Zhang. Effective use of word order for text categorization with convolutional neural networks. In NAACL HLT, 2015.</a:t>
            </a:r>
          </a:p>
          <a:p>
            <a:pPr>
              <a:lnSpc>
                <a:spcPct val="110000"/>
              </a:lnSpc>
            </a:pPr>
            <a:r>
              <a:rPr lang="en-US" altLang="zh-CN" sz="1400"/>
              <a:t>[4] Rie Johnson and Tong Zhang. Semi-supervised convolutional neural networks for text categorization via regionembedding. In NIPS, 2015.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4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1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5-d2tarmdnfo2stf9djk40.png"/>
          <p:cNvPicPr>
            <a:picLocks noChangeAspect="1"/>
          </p:cNvPicPr>
          <p:nvPr/>
        </p:nvPicPr>
        <p:blipFill>
          <a:blip r:embed="rId15"/>
          <a:srcRect t="83" b="8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2-d2tarllnfo2stf9djk10.png"/>
          <p:cNvPicPr>
            <a:picLocks noChangeAspect="1"/>
          </p:cNvPicPr>
          <p:nvPr/>
        </p:nvPicPr>
        <p:blipFill>
          <a:blip r:embed="rId16"/>
          <a:srcRect t="1875" b="1875"/>
          <a:stretch>
            <a:fillRect/>
          </a:stretch>
        </p:blipFill>
        <p:spPr>
          <a:xfrm>
            <a:off x="0" y="1029970"/>
            <a:ext cx="12016740" cy="4813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2F5BEE"/>
          </a:solidFill>
          <a:ln w="19050">
            <a:solidFill>
              <a:srgbClr val="4874CB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2F5BEE"/>
          </a:solidFill>
          <a:ln w="19050">
            <a:solidFill>
              <a:srgbClr val="4874C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2F5BEE"/>
          </a:solidFill>
          <a:ln w="19050">
            <a:solidFill>
              <a:srgbClr val="4874C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 7"/>
          <p:cNvSpPr/>
          <p:nvPr/>
        </p:nvSpPr>
        <p:spPr>
          <a:xfrm>
            <a:off x="931545" y="107950"/>
            <a:ext cx="7322820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研究空白与选题价值</a:t>
            </a:r>
            <a:endParaRPr lang="en-US" sz="1600" dirty="0"/>
          </a:p>
        </p:txBody>
      </p:sp>
      <p:sp>
        <p:nvSpPr>
          <p:cNvPr id="13" name="圆角矩形 12"/>
          <p:cNvSpPr/>
          <p:nvPr>
            <p:custDataLst>
              <p:tags r:id="rId1"/>
            </p:custDataLst>
          </p:nvPr>
        </p:nvSpPr>
        <p:spPr>
          <a:xfrm>
            <a:off x="785495" y="2843530"/>
            <a:ext cx="2221865" cy="1072515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深层字符级</a:t>
            </a:r>
          </a:p>
          <a:p>
            <a:pPr algn="ctr"/>
            <a:r>
              <a:rPr 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CNN</a:t>
            </a:r>
            <a:endParaRPr lang="en-US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圆角矩形 18"/>
          <p:cNvSpPr/>
          <p:nvPr>
            <p:custDataLst>
              <p:tags r:id="rId2"/>
            </p:custDataLst>
          </p:nvPr>
        </p:nvSpPr>
        <p:spPr>
          <a:xfrm>
            <a:off x="9150350" y="2843530"/>
            <a:ext cx="2221865" cy="1072515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浅层词级</a:t>
            </a:r>
          </a:p>
          <a:p>
            <a:pPr algn="ctr"/>
            <a:r>
              <a:rPr 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CNN</a:t>
            </a:r>
            <a:endParaRPr lang="en-US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椭圆 19"/>
          <p:cNvSpPr/>
          <p:nvPr>
            <p:custDataLst>
              <p:tags r:id="rId3"/>
            </p:custDataLst>
          </p:nvPr>
        </p:nvSpPr>
        <p:spPr>
          <a:xfrm>
            <a:off x="4843780" y="1875790"/>
            <a:ext cx="2548890" cy="1050925"/>
          </a:xfrm>
          <a:prstGeom prst="ellipse">
            <a:avLst/>
          </a:prstGeom>
          <a:ln w="3810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大样本训练集</a:t>
            </a:r>
          </a:p>
          <a:p>
            <a:pPr algn="ctr"/>
            <a:r>
              <a:rPr lang="en-US" altLang="zh-CN" sz="2000"/>
              <a:t>120K-3.6M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4798695" y="3916045"/>
            <a:ext cx="2593975" cy="1064260"/>
          </a:xfrm>
          <a:prstGeom prst="ellipse">
            <a:avLst/>
          </a:prstGeom>
          <a:ln w="3810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小样本训练集</a:t>
            </a:r>
          </a:p>
          <a:p>
            <a:pPr algn="ctr"/>
            <a:r>
              <a:rPr lang="en-US" altLang="zh-CN" sz="2000"/>
              <a:t>&lt;25K</a:t>
            </a:r>
          </a:p>
        </p:txBody>
      </p:sp>
      <p:cxnSp>
        <p:nvCxnSpPr>
          <p:cNvPr id="27" name="直接箭头连接符 26"/>
          <p:cNvCxnSpPr>
            <a:stCxn id="13" idx="3"/>
            <a:endCxn id="20" idx="2"/>
          </p:cNvCxnSpPr>
          <p:nvPr>
            <p:custDataLst>
              <p:tags r:id="rId5"/>
            </p:custDataLst>
          </p:nvPr>
        </p:nvCxnSpPr>
        <p:spPr>
          <a:xfrm flipV="1">
            <a:off x="3007360" y="2401570"/>
            <a:ext cx="1836420" cy="978535"/>
          </a:xfrm>
          <a:prstGeom prst="straightConnector1">
            <a:avLst/>
          </a:prstGeom>
          <a:ln w="4445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3" idx="3"/>
            <a:endCxn id="22" idx="2"/>
          </p:cNvCxnSpPr>
          <p:nvPr>
            <p:custDataLst>
              <p:tags r:id="rId6"/>
            </p:custDataLst>
          </p:nvPr>
        </p:nvCxnSpPr>
        <p:spPr>
          <a:xfrm>
            <a:off x="3007360" y="3380105"/>
            <a:ext cx="1791335" cy="1068070"/>
          </a:xfrm>
          <a:prstGeom prst="straightConnector1">
            <a:avLst/>
          </a:prstGeom>
          <a:ln w="444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9" idx="1"/>
            <a:endCxn id="20" idx="6"/>
          </p:cNvCxnSpPr>
          <p:nvPr>
            <p:custDataLst>
              <p:tags r:id="rId7"/>
            </p:custDataLst>
          </p:nvPr>
        </p:nvCxnSpPr>
        <p:spPr>
          <a:xfrm flipH="1" flipV="1">
            <a:off x="7392670" y="2401570"/>
            <a:ext cx="1757680" cy="978535"/>
          </a:xfrm>
          <a:prstGeom prst="straightConnector1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19" idx="1"/>
            <a:endCxn id="22" idx="6"/>
          </p:cNvCxnSpPr>
          <p:nvPr>
            <p:custDataLst>
              <p:tags r:id="rId8"/>
            </p:custDataLst>
          </p:nvPr>
        </p:nvCxnSpPr>
        <p:spPr>
          <a:xfrm flipH="1">
            <a:off x="7392670" y="3380105"/>
            <a:ext cx="1757680" cy="1068070"/>
          </a:xfrm>
          <a:prstGeom prst="straightConnector1">
            <a:avLst/>
          </a:prstGeom>
          <a:ln w="444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>
            <p:custDataLst>
              <p:tags r:id="rId9"/>
            </p:custDataLst>
          </p:nvPr>
        </p:nvSpPr>
        <p:spPr>
          <a:xfrm rot="1860000">
            <a:off x="7787640" y="2449830"/>
            <a:ext cx="12769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未测试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75945" y="5969635"/>
            <a:ext cx="11067415" cy="644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/>
              <a:t>* </a:t>
            </a:r>
            <a:r>
              <a:rPr lang="zh-CN" altLang="en-US" sz="1400"/>
              <a:t>我们强调这项</a:t>
            </a:r>
            <a:r>
              <a:rPr lang="en-US" altLang="en-US" sz="1400"/>
              <a:t>⼯</a:t>
            </a:r>
            <a:r>
              <a:rPr lang="zh-CN" altLang="en-US" sz="1400"/>
              <a:t>作并</a:t>
            </a:r>
            <a:r>
              <a:rPr lang="en-US" altLang="en-US" sz="1400"/>
              <a:t>⾮</a:t>
            </a:r>
            <a:r>
              <a:rPr lang="zh-CN" altLang="en-US" sz="1400"/>
              <a:t>旨在对词卷积神经</a:t>
            </a:r>
            <a:r>
              <a:rPr lang="en-US" altLang="en-US" sz="1400"/>
              <a:t>⽹</a:t>
            </a:r>
            <a:r>
              <a:rPr lang="zh-CN" altLang="en-US" sz="1400"/>
              <a:t>络和字符卷积神经</a:t>
            </a:r>
            <a:r>
              <a:rPr lang="en-US" altLang="en-US" sz="1400"/>
              <a:t>⽹</a:t>
            </a:r>
            <a:r>
              <a:rPr lang="zh-CN" altLang="en-US" sz="1400"/>
              <a:t>络进</a:t>
            </a:r>
            <a:r>
              <a:rPr lang="en-US" altLang="en-US" sz="1400"/>
              <a:t>⾏</a:t>
            </a:r>
            <a:r>
              <a:rPr lang="zh-CN" altLang="en-US" sz="1400"/>
              <a:t>严格的</a:t>
            </a:r>
            <a:r>
              <a:rPr lang="en-US" altLang="en-US" sz="1400"/>
              <a:t>⽐</a:t>
            </a:r>
            <a:r>
              <a:rPr lang="zh-CN" altLang="en-US" sz="1400"/>
              <a:t>较；相反，它应该被视为</a:t>
            </a:r>
            <a:r>
              <a:rPr lang="en-US" altLang="en-US" sz="1400"/>
              <a:t>⼀</a:t>
            </a:r>
            <a:r>
              <a:rPr lang="zh-CN" altLang="en-US" sz="1400"/>
              <a:t>份关于浅层词卷积神经</a:t>
            </a:r>
            <a:r>
              <a:rPr lang="en-US" altLang="en-US" sz="1400"/>
              <a:t>⽹</a:t>
            </a:r>
            <a:r>
              <a:rPr lang="zh-CN" altLang="en-US" sz="1400"/>
              <a:t>络在</a:t>
            </a:r>
            <a:r>
              <a:rPr lang="en-US" altLang="zh-CN" sz="1400"/>
              <a:t>[1]</a:t>
            </a:r>
            <a:r>
              <a:rPr lang="zh-CN" altLang="en-US" sz="1400"/>
              <a:t>中使</a:t>
            </a:r>
            <a:r>
              <a:rPr lang="en-US" altLang="en-US" sz="1400"/>
              <a:t>⽤</a:t>
            </a:r>
            <a:r>
              <a:rPr lang="zh-CN" altLang="en-US" sz="1400"/>
              <a:t>的</a:t>
            </a:r>
            <a:r>
              <a:rPr lang="en-US" altLang="en-US" sz="1400"/>
              <a:t>⼋</a:t>
            </a:r>
            <a:r>
              <a:rPr lang="zh-CN" altLang="en-US" sz="1400"/>
              <a:t>个数据集上的性能报告，并将</a:t>
            </a:r>
            <a:r>
              <a:rPr lang="en-US" altLang="zh-CN" sz="1400"/>
              <a:t>[1]</a:t>
            </a:r>
            <a:r>
              <a:rPr lang="zh-CN" altLang="en-US" sz="1400"/>
              <a:t>中的结果视为</a:t>
            </a:r>
            <a:r>
              <a:rPr lang="en-US" altLang="en-US" sz="1400"/>
              <a:t>⽬</a:t>
            </a:r>
            <a:r>
              <a:rPr lang="zh-CN" altLang="en-US" sz="1400"/>
              <a:t>前最先进的性能</a:t>
            </a:r>
            <a:r>
              <a:rPr lang="zh-CN" altLang="en-US" sz="1600"/>
              <a:t>。</a:t>
            </a: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 rot="19860000">
            <a:off x="3354705" y="2402840"/>
            <a:ext cx="1141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表现好</a:t>
            </a: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 rot="1860000">
            <a:off x="3355340" y="4018915"/>
            <a:ext cx="1068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表现差</a:t>
            </a: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 rot="19740000">
            <a:off x="7880350" y="3945255"/>
            <a:ext cx="1141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表现好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12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16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875665" y="1542415"/>
            <a:ext cx="4997450" cy="4304030"/>
            <a:chOff x="1426" y="3176"/>
            <a:chExt cx="7870" cy="6778"/>
          </a:xfrm>
        </p:grpSpPr>
        <p:pic>
          <p:nvPicPr>
            <p:cNvPr id="4" name="Image 2" descr="https://kimi-img.moonshot.cn/pub/slides/slides_tmpl/image/25-09-05-17:31:06-d2tarmlnfo2stf9djk5g.png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1472" y="3176"/>
              <a:ext cx="7805" cy="6778"/>
            </a:xfrm>
            <a:prstGeom prst="rect">
              <a:avLst/>
            </a:prstGeom>
          </p:spPr>
        </p:pic>
        <p:pic>
          <p:nvPicPr>
            <p:cNvPr id="21" name="Image 5" descr="https://kimi-img.moonshot.cn/pub/slides/slides_tmpl/image/25-09-05-17:31:06-d2tarmlnfo2stf9djk6g.png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4323" y="3471"/>
              <a:ext cx="1901" cy="3984"/>
            </a:xfrm>
            <a:prstGeom prst="rect">
              <a:avLst/>
            </a:prstGeom>
          </p:spPr>
        </p:pic>
        <p:sp>
          <p:nvSpPr>
            <p:cNvPr id="22" name="Text 14"/>
            <p:cNvSpPr/>
            <p:nvPr>
              <p:custDataLst>
                <p:tags r:id="rId10"/>
              </p:custDataLst>
            </p:nvPr>
          </p:nvSpPr>
          <p:spPr>
            <a:xfrm>
              <a:off x="4539" y="4010"/>
              <a:ext cx="1383" cy="109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4000" dirty="0">
                  <a:solidFill>
                    <a:srgbClr val="577FD2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01</a:t>
              </a:r>
              <a:endParaRPr lang="en-US" sz="1600" dirty="0"/>
            </a:p>
          </p:txBody>
        </p:sp>
        <p:sp>
          <p:nvSpPr>
            <p:cNvPr id="23" name="Text 15"/>
            <p:cNvSpPr/>
            <p:nvPr>
              <p:custDataLst>
                <p:tags r:id="rId11"/>
              </p:custDataLst>
            </p:nvPr>
          </p:nvSpPr>
          <p:spPr>
            <a:xfrm>
              <a:off x="1426" y="5793"/>
              <a:ext cx="7871" cy="60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rgbClr val="4B62E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测试词</a:t>
              </a:r>
              <a:r>
                <a:rPr lang="en-US" sz="2000" dirty="0">
                  <a:solidFill>
                    <a:srgbClr val="4B62E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级模型在大规模数据上的表现</a:t>
              </a:r>
            </a:p>
          </p:txBody>
        </p:sp>
        <p:sp>
          <p:nvSpPr>
            <p:cNvPr id="24" name="Text 16"/>
            <p:cNvSpPr/>
            <p:nvPr>
              <p:custDataLst>
                <p:tags r:id="rId12"/>
              </p:custDataLst>
            </p:nvPr>
          </p:nvSpPr>
          <p:spPr>
            <a:xfrm>
              <a:off x="2147" y="6458"/>
              <a:ext cx="6430" cy="334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/>
                <a:t>在深层</a:t>
              </a:r>
              <a:r>
                <a:rPr lang="en-US" altLang="zh-CN" sz="1600" dirty="0"/>
                <a:t> char-CNN </a:t>
              </a:r>
              <a:r>
                <a:rPr lang="zh-CN" altLang="en-US" sz="1600" dirty="0"/>
                <a:t>的</a:t>
              </a:r>
              <a:r>
                <a:rPr lang="en-US" altLang="zh-CN" sz="1600" dirty="0"/>
                <a:t> 8 </a:t>
              </a:r>
              <a:r>
                <a:rPr lang="zh-CN" altLang="en-US" sz="1600" dirty="0"/>
                <a:t>个大规模数据集上，测试浅层</a:t>
              </a:r>
              <a:r>
                <a:rPr lang="en-US" altLang="zh-CN" sz="1600" dirty="0"/>
                <a:t> word-CNN </a:t>
              </a:r>
              <a:r>
                <a:rPr lang="zh-CN" altLang="en-US" sz="1600" dirty="0"/>
                <a:t>的性能，实现两者直接对比。</a:t>
              </a:r>
            </a:p>
          </p:txBody>
        </p:sp>
      </p:grpSp>
      <p:grpSp>
        <p:nvGrpSpPr>
          <p:cNvPr id="28" name="组合 27"/>
          <p:cNvGrpSpPr/>
          <p:nvPr>
            <p:custDataLst>
              <p:tags r:id="rId2"/>
            </p:custDataLst>
          </p:nvPr>
        </p:nvGrpSpPr>
        <p:grpSpPr>
          <a:xfrm>
            <a:off x="6323965" y="1504315"/>
            <a:ext cx="5085715" cy="4304030"/>
            <a:chOff x="10006" y="3116"/>
            <a:chExt cx="8009" cy="6778"/>
          </a:xfrm>
        </p:grpSpPr>
        <p:pic>
          <p:nvPicPr>
            <p:cNvPr id="3" name="Image 1" descr="https://kimi-img.moonshot.cn/pub/slides/slides_tmpl/image/25-09-05-17:31:06-d2tarmlnfo2stf9djk5g.png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10211" y="3116"/>
              <a:ext cx="7805" cy="6778"/>
            </a:xfrm>
            <a:prstGeom prst="rect">
              <a:avLst/>
            </a:prstGeom>
          </p:spPr>
        </p:pic>
        <p:pic>
          <p:nvPicPr>
            <p:cNvPr id="20" name="Image 4" descr="https://kimi-img.moonshot.cn/pub/slides/slides_tmpl/image/25-09-05-17:31:06-d2tarmlnfo2stf9djk6g.png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13021" y="3471"/>
              <a:ext cx="1901" cy="3984"/>
            </a:xfrm>
            <a:prstGeom prst="rect">
              <a:avLst/>
            </a:prstGeom>
          </p:spPr>
        </p:pic>
        <p:sp>
          <p:nvSpPr>
            <p:cNvPr id="25" name="Text 17"/>
            <p:cNvSpPr/>
            <p:nvPr>
              <p:custDataLst>
                <p:tags r:id="rId5"/>
              </p:custDataLst>
            </p:nvPr>
          </p:nvSpPr>
          <p:spPr>
            <a:xfrm>
              <a:off x="13255" y="4010"/>
              <a:ext cx="1383" cy="109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4000" dirty="0">
                  <a:solidFill>
                    <a:srgbClr val="577FD2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02</a:t>
              </a:r>
              <a:endParaRPr lang="en-US" sz="1600" dirty="0"/>
            </a:p>
          </p:txBody>
        </p:sp>
        <p:sp>
          <p:nvSpPr>
            <p:cNvPr id="26" name="Text 18"/>
            <p:cNvSpPr/>
            <p:nvPr>
              <p:custDataLst>
                <p:tags r:id="rId6"/>
              </p:custDataLst>
            </p:nvPr>
          </p:nvSpPr>
          <p:spPr>
            <a:xfrm>
              <a:off x="10006" y="5793"/>
              <a:ext cx="7871" cy="60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4B62E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为模型选型提供实证依据</a:t>
              </a:r>
            </a:p>
          </p:txBody>
        </p:sp>
        <p:sp>
          <p:nvSpPr>
            <p:cNvPr id="27" name="Text 19"/>
            <p:cNvSpPr/>
            <p:nvPr>
              <p:custDataLst>
                <p:tags r:id="rId7"/>
              </p:custDataLst>
            </p:nvPr>
          </p:nvSpPr>
          <p:spPr>
            <a:xfrm>
              <a:off x="10727" y="6458"/>
              <a:ext cx="6887" cy="334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/>
                <a:t>验证浅层</a:t>
              </a:r>
              <a:r>
                <a:rPr lang="en-US" altLang="zh-CN" sz="1600" dirty="0"/>
                <a:t> word-CNN </a:t>
              </a:r>
              <a:r>
                <a:rPr lang="zh-CN" altLang="en-US" sz="1600" dirty="0"/>
                <a:t>在大规模数据上的适配能力，同时分析其参数规模、计算效率等实用特性。</a:t>
              </a:r>
            </a:p>
          </p:txBody>
        </p:sp>
      </p:grpSp>
      <p:sp>
        <p:nvSpPr>
          <p:cNvPr id="34" name="Text 7"/>
          <p:cNvSpPr/>
          <p:nvPr/>
        </p:nvSpPr>
        <p:spPr>
          <a:xfrm>
            <a:off x="963295" y="81280"/>
            <a:ext cx="7322820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核心目标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方法与模型架构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721043" y="428625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模型架构</a:t>
            </a:r>
            <a:endParaRPr lang="zh-CN" sz="1600" dirty="0"/>
          </a:p>
        </p:txBody>
      </p:sp>
      <p:sp>
        <p:nvSpPr>
          <p:cNvPr id="28" name="Text 3"/>
          <p:cNvSpPr/>
          <p:nvPr>
            <p:custDataLst>
              <p:tags r:id="rId1"/>
            </p:custDataLst>
          </p:nvPr>
        </p:nvSpPr>
        <p:spPr>
          <a:xfrm>
            <a:off x="732155" y="1428115"/>
            <a:ext cx="1947603" cy="3879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zh-CN" sz="20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深层字符</a:t>
            </a:r>
            <a:r>
              <a:rPr lang="zh-CN" altLang="en-US" sz="20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级</a:t>
            </a:r>
            <a:r>
              <a:rPr lang="en-US" altLang="zh-CN" sz="20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CNN</a:t>
            </a:r>
          </a:p>
        </p:txBody>
      </p:sp>
      <p:sp>
        <p:nvSpPr>
          <p:cNvPr id="30" name="TextBox 7"/>
          <p:cNvSpPr txBox="1"/>
          <p:nvPr/>
        </p:nvSpPr>
        <p:spPr>
          <a:xfrm>
            <a:off x="732155" y="1816100"/>
            <a:ext cx="6529070" cy="4274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定义：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从字符组合逐层抽象语义，通过多层卷积 - 池化结构提取特征，实现文本分类。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固定输入长度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1014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字符，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维向量嵌入，覆盖大小写、数字、标点共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72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类字符，为卷积层提供丰富的基础特征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卷积：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网络堆叠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层卷积（卷积核宽度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=3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），从字符</a:t>
            </a:r>
            <a:r>
              <a:rPr lang="en-US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子词</a:t>
            </a:r>
            <a:r>
              <a:rPr lang="en-US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单词</a:t>
            </a:r>
            <a:r>
              <a:rPr lang="en-US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短语</a:t>
            </a:r>
            <a:r>
              <a:rPr lang="en-US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全句逐级建立特征，特征图从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64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扩展到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512</a:t>
            </a:r>
            <a:b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池化：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在浅层通过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层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max-pooling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构建高级语义结构同时控制计算量，在末端通过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k-max pooling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k=8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）挑选全局范围内最显著的激活值</a:t>
            </a:r>
          </a:p>
          <a:p>
            <a:pPr indent="0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Softmax</a:t>
            </a:r>
            <a:endParaRPr lang="zh-CN" altLang="en-US" sz="1600" spc="300" dirty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endParaRPr lang="zh-CN" altLang="en-US" sz="1600" spc="300" dirty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/>
          <p:nvPr/>
        </p:nvPicPr>
        <p:blipFill>
          <a:blip r:embed="rId6"/>
          <a:stretch>
            <a:fillRect/>
          </a:stretch>
        </p:blipFill>
        <p:spPr>
          <a:xfrm>
            <a:off x="7907020" y="16510"/>
            <a:ext cx="2242820" cy="684149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721043" y="428625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模型架构</a:t>
            </a:r>
            <a:endParaRPr lang="zh-CN" sz="1600" dirty="0"/>
          </a:p>
        </p:txBody>
      </p:sp>
      <p:sp>
        <p:nvSpPr>
          <p:cNvPr id="28" name="Text 3"/>
          <p:cNvSpPr/>
          <p:nvPr>
            <p:custDataLst>
              <p:tags r:id="rId1"/>
            </p:custDataLst>
          </p:nvPr>
        </p:nvSpPr>
        <p:spPr>
          <a:xfrm>
            <a:off x="741045" y="1355090"/>
            <a:ext cx="1853565" cy="3879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zh-CN" sz="20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浅层词级</a:t>
            </a:r>
            <a:r>
              <a:rPr lang="en-US" altLang="zh-CN" sz="20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CNN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7355" y="3320415"/>
            <a:ext cx="3717290" cy="3336925"/>
          </a:xfrm>
          <a:prstGeom prst="rect">
            <a:avLst/>
          </a:prstGeom>
        </p:spPr>
      </p:pic>
      <p:sp>
        <p:nvSpPr>
          <p:cNvPr id="30" name="TextBox 7"/>
          <p:cNvSpPr txBox="1"/>
          <p:nvPr/>
        </p:nvSpPr>
        <p:spPr>
          <a:xfrm>
            <a:off x="741045" y="1743075"/>
            <a:ext cx="1097216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定义：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卷积提取局部特征，池化聚合特征，进行文本分类。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输入为one-hot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词索引序列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，不固定文档长度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，限制30K个高频词汇表，超出词汇表的部分映射为零向量。</a:t>
            </a:r>
            <a:b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卷积：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1层卷积对词窗口进行特征提取，卷积核数量一般为500–1000。</a:t>
            </a:r>
            <a:b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池化：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最大池化</a:t>
            </a:r>
            <a:b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</a:t>
            </a:r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Softmax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主要贡献与创新点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41020" y="273685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词级</a:t>
            </a:r>
            <a:r>
              <a:rPr lang="en-US" altLang="zh-CN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CNN</a:t>
            </a: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特征增强创新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8665" y="4004310"/>
            <a:ext cx="5816600" cy="260477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346075" y="1305560"/>
            <a:ext cx="11282045" cy="2545715"/>
            <a:chOff x="545" y="2056"/>
            <a:chExt cx="17767" cy="4009"/>
          </a:xfrm>
        </p:grpSpPr>
        <p:pic>
          <p:nvPicPr>
            <p:cNvPr id="3" name="Image 1" descr="https://kimi-img.moonshot.cn/pub/slides/slides_tmpl/image/25-09-05-17:31:13-d2tarodnfo2stf9djke0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545" y="2437"/>
              <a:ext cx="17319" cy="3628"/>
            </a:xfrm>
            <a:prstGeom prst="rect">
              <a:avLst/>
            </a:prstGeom>
          </p:spPr>
        </p:pic>
        <p:pic>
          <p:nvPicPr>
            <p:cNvPr id="10" name="Image 7" descr="https://kimi-img.moonshot.cn/pub/slides/slides_tmpl/image/25-09-05-17:31:13-d2tarodnfo2stf9djkf0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932" y="2056"/>
              <a:ext cx="1380" cy="1400"/>
            </a:xfrm>
            <a:prstGeom prst="rect">
              <a:avLst/>
            </a:prstGeom>
          </p:spPr>
        </p:pic>
        <p:sp>
          <p:nvSpPr>
            <p:cNvPr id="27" name="TextBox 7"/>
            <p:cNvSpPr txBox="1"/>
            <p:nvPr/>
          </p:nvSpPr>
          <p:spPr>
            <a:xfrm>
              <a:off x="930" y="2635"/>
              <a:ext cx="16426" cy="3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第一阶段（无监督训练）：</a:t>
              </a:r>
              <a:endPara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     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使用无标注数据训练一个双视角嵌入模型，让模型能够基于一个文本区域预测相邻文本区域。</a:t>
              </a:r>
              <a:endPara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     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收集上下文</a:t>
              </a:r>
              <a:r>
                <a:rPr lang="zh-CN" altLang="en-US" sz="16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词袋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（</a:t>
              </a:r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Bag-of-{1,2,3}-grams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）</a:t>
              </a:r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, 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训练得到一个能够捕捉词序列的语义关系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的</a:t>
              </a:r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tv-embedding 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第二阶段（监督训练）：</a:t>
              </a:r>
              <a:endPara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     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将输出的</a:t>
              </a: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embedding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作为额外输入，提升</a:t>
              </a: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CNN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分类性能</a:t>
              </a:r>
              <a:r>
                <a:rPr lang="zh-CN" sz="1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。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pic>
          <p:nvPicPr>
            <p:cNvPr id="9" name="Image 6" descr="https://kimi-img.moonshot.cn/pub/slides/slides_tmpl/image/25-09-05-17:31:14-d2tarolnfo2stf9djkgg.png"/>
            <p:cNvPicPr>
              <a:picLocks noChangeAspect="1"/>
            </p:cNvPicPr>
            <p:nvPr/>
          </p:nvPicPr>
          <p:blipFill>
            <a:blip r:embed="rId8">
              <a:alphaModFix amt="80000"/>
            </a:blip>
            <a:stretch>
              <a:fillRect/>
            </a:stretch>
          </p:blipFill>
          <p:spPr>
            <a:xfrm>
              <a:off x="15968" y="2098"/>
              <a:ext cx="2052" cy="2170"/>
            </a:xfrm>
            <a:prstGeom prst="rect">
              <a:avLst/>
            </a:prstGeom>
          </p:spPr>
        </p:pic>
      </p:grpSp>
      <p:sp>
        <p:nvSpPr>
          <p:cNvPr id="30" name="文本框 29"/>
          <p:cNvSpPr txBox="1"/>
          <p:nvPr/>
        </p:nvSpPr>
        <p:spPr>
          <a:xfrm>
            <a:off x="523240" y="123253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tv-embedding</a:t>
            </a:r>
            <a:r>
              <a:rPr lang="zh-CN" altLang="en-US" sz="20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（双视窗嵌入）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803140" y="398145"/>
            <a:ext cx="6433820" cy="1666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基础型词级</a:t>
            </a:r>
            <a:r>
              <a:rPr lang="en-US" altLang="zh-CN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CNN   </a:t>
            </a:r>
            <a:r>
              <a:rPr lang="en-US" altLang="zh-CN" sz="2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</a:t>
            </a:r>
            <a:r>
              <a:rPr lang="en-US" altLang="zh-CN"/>
              <a:t>                  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/>
              <a:t>看短语局部</a:t>
            </a:r>
            <a:endParaRPr lang="en-US" altLang="zh-CN"/>
          </a:p>
          <a:p>
            <a:pPr>
              <a:lnSpc>
                <a:spcPct val="140000"/>
              </a:lnSpc>
            </a:pPr>
            <a:r>
              <a:rPr lang="zh-CN" altLang="en-US"/>
              <a:t>强激活的</a:t>
            </a:r>
            <a:r>
              <a:rPr lang="en-US" altLang="zh-CN"/>
              <a:t> region </a:t>
            </a:r>
            <a:r>
              <a:rPr lang="zh-CN" altLang="en-US"/>
              <a:t>做</a:t>
            </a:r>
            <a:r>
              <a:rPr lang="en-US" altLang="zh-CN"/>
              <a:t> max-pooling</a:t>
            </a:r>
          </a:p>
          <a:p>
            <a:pPr>
              <a:lnSpc>
                <a:spcPct val="140000"/>
              </a:lnSpc>
            </a:pPr>
            <a:r>
              <a:rPr lang="zh-CN" altLang="en-US"/>
              <a:t>很容易被多个强正向表达误导</a:t>
            </a:r>
          </a:p>
          <a:p>
            <a:pPr>
              <a:lnSpc>
                <a:spcPct val="140000"/>
              </a:lnSpc>
            </a:pPr>
            <a:r>
              <a:rPr lang="zh-CN" altLang="en-US"/>
              <a:t>正向词分布密集，会形成强烈的积极激活</a:t>
            </a:r>
          </a:p>
          <a:p>
            <a:pPr>
              <a:lnSpc>
                <a:spcPct val="140000"/>
              </a:lnSpc>
            </a:pPr>
            <a:r>
              <a:rPr lang="zh-CN" altLang="en-US">
                <a:solidFill>
                  <a:srgbClr val="FF0000"/>
                </a:solidFill>
              </a:rPr>
              <a:t>高概率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/>
              <a:t>误判为</a:t>
            </a:r>
            <a:r>
              <a:rPr lang="en-US" altLang="zh-CN"/>
              <a:t> </a:t>
            </a:r>
            <a:r>
              <a:rPr lang="zh-CN" altLang="en-US" b="1">
                <a:solidFill>
                  <a:srgbClr val="FF0000"/>
                </a:solidFill>
              </a:rPr>
              <a:t>正面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860290" y="4231005"/>
            <a:ext cx="6433820" cy="2160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增强型词级</a:t>
            </a:r>
            <a:r>
              <a:rPr lang="en-US" altLang="zh-CN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CNN</a:t>
            </a:r>
            <a:r>
              <a:rPr lang="en-US" altLang="zh-CN" sz="2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</a:t>
            </a:r>
            <a:r>
              <a:rPr lang="en-US" altLang="zh-CN"/>
              <a:t>                  </a:t>
            </a:r>
            <a:endParaRPr lang="zh-CN" altLang="en-US"/>
          </a:p>
          <a:p>
            <a:pPr>
              <a:lnSpc>
                <a:spcPct val="140000"/>
              </a:lnSpc>
            </a:pPr>
            <a:r>
              <a:rPr lang="zh-CN" altLang="en-US"/>
              <a:t>看短语语义</a:t>
            </a:r>
            <a:r>
              <a:rPr lang="en-US" altLang="zh-CN"/>
              <a:t> + </a:t>
            </a:r>
            <a:r>
              <a:rPr lang="zh-CN" altLang="en-US"/>
              <a:t>上下文语义</a:t>
            </a:r>
            <a:endParaRPr lang="en-US" altLang="zh-CN"/>
          </a:p>
          <a:p>
            <a:pPr>
              <a:lnSpc>
                <a:spcPct val="140000"/>
              </a:lnSpc>
            </a:pPr>
            <a:r>
              <a:rPr lang="zh-CN" altLang="en-US"/>
              <a:t>预测并捕获真实语义</a:t>
            </a:r>
          </a:p>
          <a:p>
            <a:pPr>
              <a:lnSpc>
                <a:spcPct val="130000"/>
              </a:lnSpc>
            </a:pPr>
            <a:r>
              <a:rPr lang="zh-CN" altLang="en-US"/>
              <a:t>精准识别</a:t>
            </a:r>
            <a:r>
              <a:rPr lang="en-US" altLang="zh-CN"/>
              <a:t> “</a:t>
            </a:r>
            <a:r>
              <a:rPr lang="zh-CN" altLang="en-US"/>
              <a:t>转折后的评价才是核心</a:t>
            </a:r>
            <a:r>
              <a:rPr lang="en-US" altLang="zh-CN"/>
              <a:t>”</a:t>
            </a:r>
          </a:p>
          <a:p>
            <a:pPr>
              <a:lnSpc>
                <a:spcPct val="130000"/>
              </a:lnSpc>
            </a:pPr>
            <a:r>
              <a:rPr lang="zh-CN" altLang="en-US"/>
              <a:t>判定评论本质是</a:t>
            </a:r>
            <a:r>
              <a:rPr lang="en-US" altLang="zh-CN"/>
              <a:t> </a:t>
            </a:r>
            <a:r>
              <a:rPr lang="zh-CN" altLang="en-US" b="1">
                <a:solidFill>
                  <a:srgbClr val="FF0000"/>
                </a:solidFill>
              </a:rPr>
              <a:t>负面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20" y="2900045"/>
            <a:ext cx="7394575" cy="10001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" y="464820"/>
            <a:ext cx="3627755" cy="592645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68325" y="5637530"/>
            <a:ext cx="3342640" cy="46926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6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848995" y="765175"/>
            <a:ext cx="3608070" cy="5327650"/>
            <a:chOff x="1211" y="1205"/>
            <a:chExt cx="5682" cy="8390"/>
          </a:xfrm>
        </p:grpSpPr>
        <p:pic>
          <p:nvPicPr>
            <p:cNvPr id="2" name="图片 1" descr="b7ec17df145a00b218496b73fc8f2b8c"/>
            <p:cNvPicPr>
              <a:picLocks noChangeAspect="1"/>
            </p:cNvPicPr>
            <p:nvPr/>
          </p:nvPicPr>
          <p:blipFill>
            <a:blip r:embed="rId3"/>
            <a:srcRect l="9852" t="9287"/>
            <a:stretch>
              <a:fillRect/>
            </a:stretch>
          </p:blipFill>
          <p:spPr>
            <a:xfrm>
              <a:off x="1211" y="1205"/>
              <a:ext cx="5682" cy="8390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1649" y="7795"/>
              <a:ext cx="5058" cy="716"/>
            </a:xfrm>
            <a:prstGeom prst="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755" y="690880"/>
            <a:ext cx="4466590" cy="24612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060" y="3543300"/>
            <a:ext cx="5643245" cy="8470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0140" y="4745990"/>
            <a:ext cx="4432300" cy="65849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0070" y="5760085"/>
            <a:ext cx="4373880" cy="57404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7" name="图形 95"/>
          <p:cNvSpPr/>
          <p:nvPr>
            <p:custDataLst>
              <p:tags r:id="rId2"/>
            </p:custDataLst>
          </p:nvPr>
        </p:nvSpPr>
        <p:spPr>
          <a:xfrm>
            <a:off x="1087120" y="759778"/>
            <a:ext cx="2559685" cy="5338445"/>
          </a:xfrm>
          <a:custGeom>
            <a:avLst/>
            <a:gdLst>
              <a:gd name="connsiteX0" fmla="*/ 1182053 w 1182052"/>
              <a:gd name="connsiteY0" fmla="*/ 278797 h 2029491"/>
              <a:gd name="connsiteX1" fmla="*/ 1182053 w 1182052"/>
              <a:gd name="connsiteY1" fmla="*/ 0 h 2029491"/>
              <a:gd name="connsiteX2" fmla="*/ 0 w 1182052"/>
              <a:gd name="connsiteY2" fmla="*/ 0 h 2029491"/>
              <a:gd name="connsiteX3" fmla="*/ 0 w 1182052"/>
              <a:gd name="connsiteY3" fmla="*/ 2029492 h 2029491"/>
              <a:gd name="connsiteX4" fmla="*/ 1182053 w 1182052"/>
              <a:gd name="connsiteY4" fmla="*/ 2029492 h 2029491"/>
              <a:gd name="connsiteX5" fmla="*/ 1182053 w 1182052"/>
              <a:gd name="connsiteY5" fmla="*/ 1778603 h 2029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2052" h="2029491">
                <a:moveTo>
                  <a:pt x="1182053" y="278797"/>
                </a:moveTo>
                <a:lnTo>
                  <a:pt x="1182053" y="0"/>
                </a:lnTo>
                <a:lnTo>
                  <a:pt x="0" y="0"/>
                </a:lnTo>
                <a:lnTo>
                  <a:pt x="0" y="2029492"/>
                </a:lnTo>
                <a:lnTo>
                  <a:pt x="1182053" y="2029492"/>
                </a:lnTo>
                <a:lnTo>
                  <a:pt x="1182053" y="1778603"/>
                </a:lnTo>
              </a:path>
            </a:pathLst>
          </a:custGeom>
          <a:noFill/>
          <a:ln w="53975" cap="flat">
            <a:solidFill>
              <a:schemeClr val="accent1">
                <a:alpha val="69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382520" y="2577465"/>
            <a:ext cx="8996045" cy="32658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/>
              <a:buNone/>
            </a:pPr>
            <a:r>
              <a:rPr lang="zh-CN" altLang="en-US" sz="2000">
                <a:sym typeface="+mn-ea"/>
              </a:rPr>
              <a:t>学习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region</a:t>
            </a:r>
            <a:r>
              <a:rPr lang="zh-CN" altLang="en-US" sz="2000">
                <a:sym typeface="+mn-ea"/>
              </a:rPr>
              <a:t> 常出现的上下文语义</a:t>
            </a:r>
            <a:endParaRPr lang="zh-CN" altLang="en-US" sz="2000"/>
          </a:p>
          <a:p>
            <a:pPr indent="0">
              <a:buFont typeface="Arial" panose="020B0604020202020204"/>
              <a:buNone/>
            </a:pPr>
            <a:endParaRPr lang="zh-CN" altLang="en-US" sz="2000">
              <a:sym typeface="+mn-ea"/>
            </a:endParaRPr>
          </a:p>
          <a:p>
            <a:pPr indent="0">
              <a:buFont typeface="Arial" panose="020B0604020202020204"/>
              <a:buNone/>
            </a:pPr>
            <a:r>
              <a:rPr lang="zh-CN" altLang="en-US" sz="2000">
                <a:sym typeface="+mn-ea"/>
              </a:rPr>
              <a:t>能知道这类短语通常对应什么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语境</a:t>
            </a:r>
            <a:endParaRPr lang="en-US" altLang="zh-CN" sz="2000"/>
          </a:p>
          <a:p>
            <a:pPr>
              <a:buFont typeface="Arial" panose="020B0604020202020204"/>
              <a:buChar char="•"/>
            </a:pPr>
            <a:endParaRPr lang="zh-CN" altLang="en-US" sz="2000"/>
          </a:p>
          <a:p>
            <a:pPr indent="0">
              <a:buFont typeface="Arial" panose="020B0604020202020204"/>
              <a:buNone/>
            </a:pPr>
            <a:r>
              <a:rPr lang="zh-CN" altLang="en-US" sz="2000">
                <a:sym typeface="+mn-ea"/>
              </a:rPr>
              <a:t>学习某领域常见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表达方式</a:t>
            </a:r>
            <a:r>
              <a:rPr lang="zh-CN" altLang="en-US" sz="2000">
                <a:sym typeface="+mn-ea"/>
              </a:rPr>
              <a:t>，不同对象的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描述方式</a:t>
            </a:r>
            <a:r>
              <a:rPr lang="zh-CN" altLang="en-US" sz="2000">
                <a:sym typeface="+mn-ea"/>
              </a:rPr>
              <a:t>，以及</a:t>
            </a:r>
            <a:r>
              <a:rPr lang="zh-CN" altLang="en-US" sz="2000" b="1">
                <a:sym typeface="+mn-ea"/>
              </a:rPr>
              <a:t>讽刺结构</a:t>
            </a:r>
            <a:r>
              <a:rPr lang="zh-CN" altLang="en-US" sz="2000">
                <a:sym typeface="+mn-ea"/>
              </a:rPr>
              <a:t>、</a:t>
            </a:r>
            <a:r>
              <a:rPr lang="zh-CN" altLang="en-US" sz="2000" b="1">
                <a:sym typeface="+mn-ea"/>
              </a:rPr>
              <a:t>转折结构</a:t>
            </a:r>
            <a:endParaRPr lang="zh-CN" altLang="en-US" sz="2000" b="1"/>
          </a:p>
          <a:p>
            <a:pPr>
              <a:buFont typeface="Arial" panose="020B0604020202020204"/>
              <a:buChar char="•"/>
            </a:pPr>
            <a:endParaRPr lang="en-US" altLang="zh-CN" sz="2000"/>
          </a:p>
          <a:p>
            <a:pPr>
              <a:lnSpc>
                <a:spcPct val="120000"/>
              </a:lnSpc>
            </a:pPr>
            <a:r>
              <a:rPr lang="zh-CN" altLang="en-US" sz="2000"/>
              <a:t>能理解更多自然语言的实际</a:t>
            </a:r>
            <a:r>
              <a:rPr lang="en-US" altLang="zh-CN" sz="2000"/>
              <a:t> </a:t>
            </a:r>
            <a:r>
              <a:rPr lang="zh-CN" altLang="en-US" sz="2000" b="1"/>
              <a:t>表达习惯</a:t>
            </a:r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2382520" y="1661795"/>
            <a:ext cx="6188075" cy="810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tv-embedding 的优势</a:t>
            </a:r>
            <a:endParaRPr lang="zh-CN" altLang="en-US" sz="3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zh-CN" altLang="en-US" sz="3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9" name="Image 4" descr="https://kimi-img.moonshot.cn/pub/slides/slides_tmpl/image/25-09-05-17:31:15-d2tarotnfo2stf9djkh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0965" y="347980"/>
            <a:ext cx="1242695" cy="13868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实验设计与结果分析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11-d2tarntnfo2stf9djka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18-d2tarplnfo2stf9djkk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32130"/>
            <a:ext cx="12192000" cy="5886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532130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数据集</a:t>
            </a: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选择</a:t>
            </a:r>
          </a:p>
        </p:txBody>
      </p:sp>
      <p:pic>
        <p:nvPicPr>
          <p:cNvPr id="5" name="Image 2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 flipV="1">
            <a:off x="10751820" y="999490"/>
            <a:ext cx="762000" cy="7620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 flipV="1">
            <a:off x="10751820" y="1130300"/>
            <a:ext cx="762000" cy="76200"/>
          </a:xfrm>
          <a:prstGeom prst="rect">
            <a:avLst/>
          </a:prstGeom>
        </p:spPr>
      </p:pic>
      <p:sp>
        <p:nvSpPr>
          <p:cNvPr id="7" name="Text 1"/>
          <p:cNvSpPr/>
          <p:nvPr>
            <p:custDataLst>
              <p:tags r:id="rId1"/>
            </p:custDataLst>
          </p:nvPr>
        </p:nvSpPr>
        <p:spPr>
          <a:xfrm>
            <a:off x="581660" y="2120900"/>
            <a:ext cx="5175250" cy="401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2"/>
          <p:cNvSpPr/>
          <p:nvPr>
            <p:custDataLst>
              <p:tags r:id="rId2"/>
            </p:custDataLst>
          </p:nvPr>
        </p:nvSpPr>
        <p:spPr>
          <a:xfrm>
            <a:off x="1085215" y="1469390"/>
            <a:ext cx="9666605" cy="1483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选用8个公开大规模数据集，样本量从数十万到百万级，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覆盖新闻、百科、评论多种领域，确保结论具有广泛适用性。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8215" y="2493010"/>
            <a:ext cx="9986645" cy="3368040"/>
          </a:xfrm>
          <a:prstGeom prst="rect">
            <a:avLst/>
          </a:prstGeom>
        </p:spPr>
      </p:pic>
      <p:graphicFrame>
        <p:nvGraphicFramePr>
          <p:cNvPr id="17" name="表格 16"/>
          <p:cNvGraphicFramePr/>
          <p:nvPr>
            <p:custDataLst>
              <p:tags r:id="rId3"/>
            </p:custDataLst>
          </p:nvPr>
        </p:nvGraphicFramePr>
        <p:xfrm>
          <a:off x="7360920" y="3141980"/>
          <a:ext cx="366649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AG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新闻</a:t>
                      </a:r>
                    </a:p>
                  </a:txBody>
                  <a:tcPr>
                    <a:solidFill>
                      <a:srgbClr val="E9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搜狗新闻（中文罗马化处理）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语义网知识库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Yelp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购物网站的评论数据集（情感极性）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Yelp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购物网站的评论数据集（评论分数）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来自</a:t>
                      </a: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“Yahoo Answers”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网站的问题和答案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Ama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购物网站的评论数据集（评论分数）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Ama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购物网站的评论数据集（情感极性）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11-d2tarntnfo2stf9djkag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18-d2tarplnfo2stf9djkkg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532130"/>
            <a:ext cx="12192000" cy="5886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753110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实验设置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31">
            <a:alphaModFix amt="40000"/>
          </a:blip>
          <a:stretch>
            <a:fillRect/>
          </a:stretch>
        </p:blipFill>
        <p:spPr>
          <a:xfrm flipV="1">
            <a:off x="10751820" y="999490"/>
            <a:ext cx="762000" cy="7620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31">
            <a:alphaModFix amt="40000"/>
          </a:blip>
          <a:stretch>
            <a:fillRect/>
          </a:stretch>
        </p:blipFill>
        <p:spPr>
          <a:xfrm flipV="1">
            <a:off x="10751820" y="1130300"/>
            <a:ext cx="762000" cy="76200"/>
          </a:xfrm>
          <a:prstGeom prst="rect">
            <a:avLst/>
          </a:prstGeom>
        </p:spPr>
      </p:pic>
      <p:sp>
        <p:nvSpPr>
          <p:cNvPr id="9" name="Text 3"/>
          <p:cNvSpPr/>
          <p:nvPr>
            <p:custDataLst>
              <p:tags r:id="rId1"/>
            </p:custDataLst>
          </p:nvPr>
        </p:nvSpPr>
        <p:spPr>
          <a:xfrm>
            <a:off x="582295" y="2120900"/>
            <a:ext cx="5175250" cy="401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>
            <p:custDataLst>
              <p:tags r:id="rId2"/>
            </p:custDataLst>
          </p:nvPr>
        </p:nvSpPr>
        <p:spPr>
          <a:xfrm>
            <a:off x="582295" y="2522855"/>
            <a:ext cx="1823720" cy="3592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12" name="Text 6"/>
          <p:cNvSpPr/>
          <p:nvPr>
            <p:custDataLst>
              <p:tags r:id="rId3"/>
            </p:custDataLst>
          </p:nvPr>
        </p:nvSpPr>
        <p:spPr>
          <a:xfrm>
            <a:off x="6744335" y="2522220"/>
            <a:ext cx="1938655" cy="2042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14" name="Text 8"/>
          <p:cNvSpPr/>
          <p:nvPr>
            <p:custDataLst>
              <p:tags r:id="rId4"/>
            </p:custDataLst>
          </p:nvPr>
        </p:nvSpPr>
        <p:spPr>
          <a:xfrm>
            <a:off x="3503930" y="2523490"/>
            <a:ext cx="2253615" cy="3160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24" name="椭圆 23"/>
          <p:cNvSpPr/>
          <p:nvPr>
            <p:custDataLst>
              <p:tags r:id="rId5"/>
            </p:custDataLst>
          </p:nvPr>
        </p:nvSpPr>
        <p:spPr>
          <a:xfrm>
            <a:off x="2345838" y="1627434"/>
            <a:ext cx="790889" cy="790889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>
            <p:custDataLst>
              <p:tags r:id="rId6"/>
            </p:custDataLst>
          </p:nvPr>
        </p:nvSpPr>
        <p:spPr>
          <a:xfrm>
            <a:off x="5570884" y="1627434"/>
            <a:ext cx="790889" cy="790889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7"/>
            </p:custDataLst>
          </p:nvPr>
        </p:nvSpPr>
        <p:spPr>
          <a:xfrm>
            <a:off x="8888445" y="1627434"/>
            <a:ext cx="790889" cy="790889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1270635" y="1626870"/>
            <a:ext cx="9450070" cy="4108450"/>
            <a:chOff x="2001" y="2562"/>
            <a:chExt cx="14882" cy="6470"/>
          </a:xfrm>
        </p:grpSpPr>
        <p:sp>
          <p:nvSpPr>
            <p:cNvPr id="7" name="圆角矩形 6"/>
            <p:cNvSpPr/>
            <p:nvPr>
              <p:custDataLst>
                <p:tags r:id="rId9"/>
              </p:custDataLst>
            </p:nvPr>
          </p:nvSpPr>
          <p:spPr>
            <a:xfrm>
              <a:off x="2001" y="3160"/>
              <a:ext cx="4527" cy="5872"/>
            </a:xfrm>
            <a:prstGeom prst="roundRect">
              <a:avLst>
                <a:gd name="adj" fmla="val 2258"/>
              </a:avLst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>
              <p:custDataLst>
                <p:tags r:id="rId10"/>
              </p:custDataLst>
            </p:nvPr>
          </p:nvSpPr>
          <p:spPr>
            <a:xfrm>
              <a:off x="7132" y="3160"/>
              <a:ext cx="4527" cy="5872"/>
            </a:xfrm>
            <a:prstGeom prst="roundRect">
              <a:avLst>
                <a:gd name="adj" fmla="val 2258"/>
              </a:avLst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11"/>
              </p:custDataLst>
            </p:nvPr>
          </p:nvSpPr>
          <p:spPr>
            <a:xfrm>
              <a:off x="2427" y="4985"/>
              <a:ext cx="3648" cy="326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  <a:sym typeface="+mn-ea"/>
                </a:rPr>
                <a:t>预处理统一转小写、截断补齐至固定长度，消除格式差异对实验结果的干扰，保障实验的</a:t>
              </a:r>
              <a:r>
                <a:rPr lang="en-US" sz="1600" b="1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  <a:sym typeface="+mn-ea"/>
                </a:rPr>
                <a:t>公平性</a:t>
              </a:r>
              <a:r>
                <a:rPr lang="en-US" sz="1600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  <a:sym typeface="+mn-ea"/>
                </a:rPr>
                <a:t>。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2"/>
              </p:custDataLst>
            </p:nvPr>
          </p:nvSpPr>
          <p:spPr>
            <a:xfrm>
              <a:off x="2320" y="4097"/>
              <a:ext cx="3889" cy="619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400" b="1" dirty="0">
                  <a:solidFill>
                    <a:srgbClr val="4B62E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预处理流程</a:t>
              </a:r>
              <a:endParaRPr lang="en-US" altLang="en-US" sz="2400" b="1" kern="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13"/>
              </p:custDataLst>
            </p:nvPr>
          </p:nvSpPr>
          <p:spPr>
            <a:xfrm>
              <a:off x="7426" y="4943"/>
              <a:ext cx="4033" cy="326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所有模型在同一GPU服务器训练，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保证</a:t>
              </a:r>
              <a:r>
                <a:rPr lang="en-US" sz="1600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硬件条件一致。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采用相同的训练框架、优化器及训练超参数，</a:t>
              </a:r>
              <a:r>
                <a:rPr lang="zh-CN" altLang="en-US" sz="1600" b="1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消除</a:t>
              </a:r>
              <a:r>
                <a:rPr lang="zh-CN" altLang="en-US" sz="160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环境差异对实验结果的</a:t>
              </a:r>
              <a:r>
                <a:rPr lang="zh-CN" altLang="en-US" sz="1600" b="1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干扰</a:t>
              </a:r>
            </a:p>
          </p:txBody>
        </p:sp>
        <p:sp>
          <p:nvSpPr>
            <p:cNvPr id="18" name="矩形 17"/>
            <p:cNvSpPr/>
            <p:nvPr>
              <p:custDataLst>
                <p:tags r:id="rId14"/>
              </p:custDataLst>
            </p:nvPr>
          </p:nvSpPr>
          <p:spPr>
            <a:xfrm>
              <a:off x="7451" y="4097"/>
              <a:ext cx="3889" cy="619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>
                  <a:solidFill>
                    <a:srgbClr val="4B62E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对比基线</a:t>
              </a:r>
              <a:endParaRPr lang="en-US" altLang="en-US" sz="2400" b="1" kern="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endParaRPr>
            </a:p>
          </p:txBody>
        </p:sp>
        <p:sp>
          <p:nvSpPr>
            <p:cNvPr id="19" name="圆角矩形 18"/>
            <p:cNvSpPr/>
            <p:nvPr>
              <p:custDataLst>
                <p:tags r:id="rId15"/>
              </p:custDataLst>
            </p:nvPr>
          </p:nvSpPr>
          <p:spPr>
            <a:xfrm>
              <a:off x="12357" y="3160"/>
              <a:ext cx="4527" cy="5872"/>
            </a:xfrm>
            <a:prstGeom prst="roundRect">
              <a:avLst>
                <a:gd name="adj" fmla="val 2258"/>
              </a:avLst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>
              <p:custDataLst>
                <p:tags r:id="rId16"/>
              </p:custDataLst>
            </p:nvPr>
          </p:nvSpPr>
          <p:spPr>
            <a:xfrm>
              <a:off x="12811" y="4985"/>
              <a:ext cx="3648" cy="326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  <a:sym typeface="+mn-ea"/>
                </a:rPr>
                <a:t>采用错误率作为评估指标，训练集、验证集、测试集按官方划分，确保结果的</a:t>
              </a:r>
              <a:r>
                <a:rPr lang="en-US" sz="1600" b="1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  <a:sym typeface="+mn-ea"/>
                </a:rPr>
                <a:t>可靠性</a:t>
              </a:r>
              <a:r>
                <a:rPr lang="en-US" sz="1600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  <a:sym typeface="+mn-ea"/>
                </a:rPr>
                <a:t>。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21" name="矩形 20"/>
            <p:cNvSpPr/>
            <p:nvPr>
              <p:custDataLst>
                <p:tags r:id="rId17"/>
              </p:custDataLst>
            </p:nvPr>
          </p:nvSpPr>
          <p:spPr>
            <a:xfrm>
              <a:off x="12676" y="4097"/>
              <a:ext cx="3889" cy="619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>
                  <a:solidFill>
                    <a:srgbClr val="4B62E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评估指标</a:t>
              </a:r>
              <a:endParaRPr lang="en-US" altLang="en-US" sz="2400" b="1" kern="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endParaRPr>
            </a:p>
          </p:txBody>
        </p:sp>
        <p:cxnSp>
          <p:nvCxnSpPr>
            <p:cNvPr id="30" name="直接连接符 29"/>
            <p:cNvCxnSpPr/>
            <p:nvPr>
              <p:custDataLst>
                <p:tags r:id="rId18"/>
              </p:custDataLst>
            </p:nvPr>
          </p:nvCxnSpPr>
          <p:spPr>
            <a:xfrm>
              <a:off x="4028" y="8587"/>
              <a:ext cx="473" cy="0"/>
            </a:xfrm>
            <a:prstGeom prst="line">
              <a:avLst/>
            </a:prstGeom>
            <a:ln w="47625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>
              <p:custDataLst>
                <p:tags r:id="rId19"/>
              </p:custDataLst>
            </p:nvPr>
          </p:nvCxnSpPr>
          <p:spPr>
            <a:xfrm>
              <a:off x="9159" y="8587"/>
              <a:ext cx="473" cy="0"/>
            </a:xfrm>
            <a:prstGeom prst="line">
              <a:avLst/>
            </a:prstGeom>
            <a:ln w="47625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>
              <p:custDataLst>
                <p:tags r:id="rId20"/>
              </p:custDataLst>
            </p:nvPr>
          </p:nvCxnSpPr>
          <p:spPr>
            <a:xfrm>
              <a:off x="14384" y="8587"/>
              <a:ext cx="473" cy="0"/>
            </a:xfrm>
            <a:prstGeom prst="line">
              <a:avLst/>
            </a:prstGeom>
            <a:ln w="47625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>
              <p:custDataLst>
                <p:tags r:id="rId21"/>
              </p:custDataLst>
            </p:nvPr>
          </p:nvSpPr>
          <p:spPr>
            <a:xfrm>
              <a:off x="3736" y="2562"/>
              <a:ext cx="1161" cy="1161"/>
            </a:xfrm>
            <a:prstGeom prst="ellipse">
              <a:avLst/>
            </a:prstGeom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>
              <p:custDataLst>
                <p:tags r:id="rId22"/>
              </p:custDataLst>
            </p:nvPr>
          </p:nvSpPr>
          <p:spPr>
            <a:xfrm>
              <a:off x="8815" y="2562"/>
              <a:ext cx="1161" cy="1161"/>
            </a:xfrm>
            <a:prstGeom prst="ellipse">
              <a:avLst/>
            </a:prstGeom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>
              <p:custDataLst>
                <p:tags r:id="rId23"/>
              </p:custDataLst>
            </p:nvPr>
          </p:nvSpPr>
          <p:spPr>
            <a:xfrm>
              <a:off x="14039" y="2563"/>
              <a:ext cx="1161" cy="1161"/>
            </a:xfrm>
            <a:prstGeom prst="ellipse">
              <a:avLst/>
            </a:prstGeom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1" name="图形 23" descr="333438303937363b333438313038303bd7e9d6afbcdcb9b9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4090" y="2916"/>
              <a:ext cx="454" cy="454"/>
            </a:xfrm>
            <a:prstGeom prst="rect">
              <a:avLst/>
            </a:prstGeom>
          </p:spPr>
        </p:pic>
        <p:pic>
          <p:nvPicPr>
            <p:cNvPr id="32" name="图形 25" descr="333438303937363b333438313039323bcfeec4bfbcc6bbae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9168" y="2916"/>
              <a:ext cx="453" cy="453"/>
            </a:xfrm>
            <a:prstGeom prst="rect">
              <a:avLst/>
            </a:prstGeom>
          </p:spPr>
        </p:pic>
        <p:pic>
          <p:nvPicPr>
            <p:cNvPr id="33" name="图形 26" descr="333438303937363b333438313037333bcad0b3a1bebad5f9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4417" y="2941"/>
              <a:ext cx="405" cy="40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043" y="428625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结果</a:t>
            </a: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05-17:31:13-d2tarodnfo2stf9djkdg.png"/>
          <p:cNvPicPr>
            <a:picLocks noChangeAspect="1"/>
          </p:cNvPicPr>
          <p:nvPr/>
        </p:nvPicPr>
        <p:blipFill>
          <a:blip r:embed="rId7">
            <a:alphaModFix amt="60000"/>
          </a:blip>
          <a:srcRect l="193" r="193"/>
          <a:stretch>
            <a:fillRect/>
          </a:stretch>
        </p:blipFill>
        <p:spPr>
          <a:xfrm>
            <a:off x="59055" y="5581650"/>
            <a:ext cx="12192000" cy="1314450"/>
          </a:xfrm>
          <a:prstGeom prst="rect">
            <a:avLst/>
          </a:prstGeom>
        </p:spPr>
      </p:pic>
      <p:pic>
        <p:nvPicPr>
          <p:cNvPr id="9" name="Image 4" descr="https://kimi-img.moonshot.cn/pub/slides/slides_tmpl/image/25-09-05-17:31:15-d2tarotnfo2stf9djkh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2900" y="657860"/>
            <a:ext cx="1518920" cy="1694180"/>
          </a:xfrm>
          <a:prstGeom prst="rect">
            <a:avLst/>
          </a:prstGeom>
        </p:spPr>
      </p:pic>
      <p:sp>
        <p:nvSpPr>
          <p:cNvPr id="10" name="Text 3"/>
          <p:cNvSpPr/>
          <p:nvPr>
            <p:custDataLst>
              <p:tags r:id="rId1"/>
            </p:custDataLst>
          </p:nvPr>
        </p:nvSpPr>
        <p:spPr>
          <a:xfrm>
            <a:off x="339725" y="1428115"/>
            <a:ext cx="1853565" cy="3879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zh-CN" sz="20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实验数据</a:t>
            </a:r>
            <a:endParaRPr lang="zh-CN" sz="1600" b="1" dirty="0"/>
          </a:p>
        </p:txBody>
      </p:sp>
      <p:sp>
        <p:nvSpPr>
          <p:cNvPr id="11" name="Text 4"/>
          <p:cNvSpPr/>
          <p:nvPr>
            <p:custDataLst>
              <p:tags r:id="rId2"/>
            </p:custDataLst>
          </p:nvPr>
        </p:nvSpPr>
        <p:spPr>
          <a:xfrm>
            <a:off x="721360" y="1824355"/>
            <a:ext cx="8769985" cy="1365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endParaRPr lang="en-US" sz="16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9"/>
          <a:srcRect l="1949" t="3710" r="1949" b="1813"/>
          <a:stretch>
            <a:fillRect/>
          </a:stretch>
        </p:blipFill>
        <p:spPr>
          <a:xfrm>
            <a:off x="721360" y="1985010"/>
            <a:ext cx="10704830" cy="438975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86765" y="5880100"/>
            <a:ext cx="10539095" cy="335280"/>
          </a:xfrm>
          <a:prstGeom prst="rect">
            <a:avLst/>
          </a:prstGeom>
          <a:noFill/>
          <a:ln w="47625">
            <a:solidFill>
              <a:srgbClr val="44FA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350385" y="4508500"/>
            <a:ext cx="1617345" cy="1164590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 animBg="1"/>
      <p:bldP spid="12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043" y="428625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结果</a:t>
            </a: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05-17:31:13-d2tarodnfo2stf9djkdg.png"/>
          <p:cNvPicPr>
            <a:picLocks noChangeAspect="1"/>
          </p:cNvPicPr>
          <p:nvPr/>
        </p:nvPicPr>
        <p:blipFill>
          <a:blip r:embed="rId7">
            <a:alphaModFix amt="60000"/>
          </a:blip>
          <a:srcRect l="193" r="193"/>
          <a:stretch>
            <a:fillRect/>
          </a:stretch>
        </p:blipFill>
        <p:spPr>
          <a:xfrm>
            <a:off x="59055" y="5581650"/>
            <a:ext cx="12192000" cy="1314450"/>
          </a:xfrm>
          <a:prstGeom prst="rect">
            <a:avLst/>
          </a:prstGeom>
        </p:spPr>
      </p:pic>
      <p:pic>
        <p:nvPicPr>
          <p:cNvPr id="9" name="Image 4" descr="https://kimi-img.moonshot.cn/pub/slides/slides_tmpl/image/25-09-05-17:31:15-d2tarotnfo2stf9djkh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2900" y="635635"/>
            <a:ext cx="1518920" cy="1694180"/>
          </a:xfrm>
          <a:prstGeom prst="rect">
            <a:avLst/>
          </a:prstGeom>
        </p:spPr>
      </p:pic>
      <p:sp>
        <p:nvSpPr>
          <p:cNvPr id="13" name="Text 6"/>
          <p:cNvSpPr/>
          <p:nvPr>
            <p:custDataLst>
              <p:tags r:id="rId1"/>
            </p:custDataLst>
          </p:nvPr>
        </p:nvSpPr>
        <p:spPr>
          <a:xfrm>
            <a:off x="721360" y="5582285"/>
            <a:ext cx="10508615" cy="1365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* 词级模型单批推理时间仅为字符级的三分之一，参数总量虽略高，但可通过剪枝与量化压缩，更适合实时部署场景。</a:t>
            </a:r>
            <a:endParaRPr lang="en-US" sz="16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815" y="1960880"/>
            <a:ext cx="10900410" cy="3476625"/>
          </a:xfrm>
          <a:prstGeom prst="rect">
            <a:avLst/>
          </a:prstGeom>
        </p:spPr>
      </p:pic>
      <p:sp>
        <p:nvSpPr>
          <p:cNvPr id="18" name="Text 3"/>
          <p:cNvSpPr/>
          <p:nvPr>
            <p:custDataLst>
              <p:tags r:id="rId2"/>
            </p:custDataLst>
          </p:nvPr>
        </p:nvSpPr>
        <p:spPr>
          <a:xfrm>
            <a:off x="530860" y="1428115"/>
            <a:ext cx="2437130" cy="3879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算法性能</a:t>
            </a:r>
            <a:r>
              <a:rPr lang="en-US" sz="20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对比结果</a:t>
            </a:r>
            <a:endParaRPr lang="en-US" sz="16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05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043" y="342900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结果</a:t>
            </a: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</a:t>
            </a:r>
            <a:endParaRPr lang="en-US" sz="1600" dirty="0"/>
          </a:p>
        </p:txBody>
      </p:sp>
      <p:sp>
        <p:nvSpPr>
          <p:cNvPr id="4" name="Shape 1"/>
          <p:cNvSpPr/>
          <p:nvPr>
            <p:custDataLst>
              <p:tags r:id="rId1"/>
            </p:custDataLst>
          </p:nvPr>
        </p:nvSpPr>
        <p:spPr>
          <a:xfrm>
            <a:off x="11696220" y="1320241"/>
            <a:ext cx="0" cy="504147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13681299" y="1320241"/>
            <a:ext cx="0" cy="504147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pic>
        <p:nvPicPr>
          <p:cNvPr id="6" name="Image 1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05-17:31:13-d2tarodnfo2stf9djkdg.png"/>
          <p:cNvPicPr>
            <a:picLocks noChangeAspect="1"/>
          </p:cNvPicPr>
          <p:nvPr/>
        </p:nvPicPr>
        <p:blipFill>
          <a:blip r:embed="rId9">
            <a:alphaModFix amt="60000"/>
          </a:blip>
          <a:srcRect l="193" r="193"/>
          <a:stretch>
            <a:fillRect/>
          </a:stretch>
        </p:blipFill>
        <p:spPr>
          <a:xfrm>
            <a:off x="59055" y="5581650"/>
            <a:ext cx="12192000" cy="1314450"/>
          </a:xfrm>
          <a:prstGeom prst="rect">
            <a:avLst/>
          </a:prstGeom>
        </p:spPr>
      </p:pic>
      <p:pic>
        <p:nvPicPr>
          <p:cNvPr id="9" name="Image 4" descr="https://kimi-img.moonshot.cn/pub/slides/slides_tmpl/image/25-09-05-17:31:15-d2tarotnfo2stf9djkh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2900" y="737870"/>
            <a:ext cx="1518920" cy="1694180"/>
          </a:xfrm>
          <a:prstGeom prst="rect">
            <a:avLst/>
          </a:prstGeom>
        </p:spPr>
      </p:pic>
      <p:sp>
        <p:nvSpPr>
          <p:cNvPr id="10" name="Text 3"/>
          <p:cNvSpPr/>
          <p:nvPr>
            <p:custDataLst>
              <p:tags r:id="rId3"/>
            </p:custDataLst>
          </p:nvPr>
        </p:nvSpPr>
        <p:spPr>
          <a:xfrm>
            <a:off x="342265" y="1333500"/>
            <a:ext cx="1789430" cy="3879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对比</a:t>
            </a:r>
            <a:r>
              <a:rPr lang="zh-CN" altLang="en-US" sz="20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</a:t>
            </a:r>
          </a:p>
        </p:txBody>
      </p:sp>
      <p:graphicFrame>
        <p:nvGraphicFramePr>
          <p:cNvPr id="16" name="表格 15"/>
          <p:cNvGraphicFramePr/>
          <p:nvPr>
            <p:custDataLst>
              <p:tags r:id="rId4"/>
            </p:custDataLst>
          </p:nvPr>
        </p:nvGraphicFramePr>
        <p:xfrm>
          <a:off x="737870" y="1685925"/>
          <a:ext cx="10013315" cy="4470400"/>
        </p:xfrm>
        <a:graphic>
          <a:graphicData uri="http://schemas.openxmlformats.org/drawingml/2006/table">
            <a:tbl>
              <a:tblPr firstRow="1">
                <a:tableStyleId>{A9410782-2CBF-42C3-AA82-B200C8C72BEC}</a:tableStyleId>
              </a:tblPr>
              <a:tblGrid>
                <a:gridCol w="2305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zh-CN" altLang="en-US" sz="1600" b="1" spc="120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维度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zh-CN" altLang="en-US" sz="1600" b="1" spc="120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字符级</a:t>
                      </a:r>
                      <a:r>
                        <a:rPr lang="en-US" altLang="zh-CN" sz="1600" b="1" spc="120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 CNN</a:t>
                      </a:r>
                      <a:r>
                        <a:rPr lang="zh-CN" altLang="en-US" sz="1600" b="1" spc="120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（论文</a:t>
                      </a:r>
                      <a:r>
                        <a:rPr lang="en-US" altLang="zh-CN" sz="1600" b="1" spc="120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 1</a:t>
                      </a:r>
                      <a:r>
                        <a:rPr lang="zh-CN" altLang="en-US" sz="1600" b="1" spc="120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）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zh-CN" altLang="en-US" sz="1600" b="1" spc="120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词级</a:t>
                      </a:r>
                      <a:r>
                        <a:rPr lang="en-US" altLang="zh-CN" sz="1600" b="1" spc="120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 CNN</a:t>
                      </a:r>
                      <a:r>
                        <a:rPr lang="zh-CN" altLang="en-US" sz="1600" b="1" spc="120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（论文</a:t>
                      </a:r>
                      <a:r>
                        <a:rPr lang="en-US" altLang="zh-CN" sz="1600" b="1" spc="120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 3</a:t>
                      </a:r>
                      <a:r>
                        <a:rPr lang="zh-CN" altLang="en-US" sz="1600" b="1" spc="120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、</a:t>
                      </a:r>
                      <a:r>
                        <a:rPr lang="en-US" altLang="zh-CN" sz="1600" b="1" spc="120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4</a:t>
                      </a:r>
                      <a:r>
                        <a:rPr lang="zh-CN" altLang="en-US" sz="1600" b="1" spc="120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）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输入单位</a:t>
                      </a:r>
                    </a:p>
                  </a:txBody>
                  <a:tcPr marL="254000" marR="254000" marT="177800" marB="1778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字符（</a:t>
                      </a:r>
                      <a:r>
                        <a:rPr lang="en-US" altLang="zh-CN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72 </a:t>
                      </a: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类基础字符）</a:t>
                      </a:r>
                    </a:p>
                  </a:txBody>
                  <a:tcPr marL="254000" marR="254000" marT="177800" marB="1778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单词（</a:t>
                      </a:r>
                      <a:r>
                        <a:rPr lang="en-US" altLang="zh-CN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30K </a:t>
                      </a: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高频词）</a:t>
                      </a:r>
                      <a:r>
                        <a:rPr lang="en-US" altLang="zh-CN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/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文本区域（连续单词序列）</a:t>
                      </a:r>
                    </a:p>
                  </a:txBody>
                  <a:tcPr marL="254000" marR="254000" marT="177800" marB="1778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模型深度</a:t>
                      </a:r>
                    </a:p>
                  </a:txBody>
                  <a:tcPr marL="254000" marR="254000" marT="177800" marB="1778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极深（</a:t>
                      </a:r>
                      <a:r>
                        <a:rPr lang="en-US" altLang="zh-CN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9-29 </a:t>
                      </a: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层卷积）</a:t>
                      </a:r>
                    </a:p>
                  </a:txBody>
                  <a:tcPr marL="254000" marR="254000" marT="177800" marB="1778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浅层（</a:t>
                      </a:r>
                      <a:r>
                        <a:rPr lang="en-US" altLang="zh-CN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1-3 </a:t>
                      </a: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层卷积）</a:t>
                      </a:r>
                    </a:p>
                  </a:txBody>
                  <a:tcPr marL="254000" marR="254000" marT="177800" marB="1778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精度表现</a:t>
                      </a:r>
                    </a:p>
                  </a:txBody>
                  <a:tcPr marL="254000" marR="254000" marT="177800" marB="1778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仅超大规模数据接近词级 </a:t>
                      </a:r>
                      <a:r>
                        <a:rPr lang="en-US" altLang="zh-CN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CNN</a:t>
                      </a:r>
                      <a:endParaRPr lang="zh-CN" altLang="en-US" sz="1600" b="1">
                        <a:ln w="12700" cmpd="sng">
                          <a:noFill/>
                          <a:prstDash val="solid"/>
                        </a:ln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小数据不如线性模型</a:t>
                      </a:r>
                    </a:p>
                  </a:txBody>
                  <a:tcPr marL="254000" marR="254000" marT="177800" marB="1778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所有数据集均最优，错误率最低</a:t>
                      </a:r>
                      <a:endParaRPr lang="en-US" altLang="zh-CN" sz="1600" b="1">
                        <a:ln w="12700" cmpd="sng">
                          <a:noFill/>
                          <a:prstDash val="solid"/>
                        </a:ln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177800" marB="1778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速度与效率</a:t>
                      </a:r>
                    </a:p>
                  </a:txBody>
                  <a:tcPr marL="254000" marR="254000" marT="177800" marB="1778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推理速度慢，深层需串行处理</a:t>
                      </a:r>
                    </a:p>
                  </a:txBody>
                  <a:tcPr marL="254000" marR="254000" marT="177800" marB="1778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推理速度快，支持并行处理</a:t>
                      </a:r>
                    </a:p>
                  </a:txBody>
                  <a:tcPr marL="254000" marR="254000" marT="177800" marB="1778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适用场景</a:t>
                      </a:r>
                    </a:p>
                  </a:txBody>
                  <a:tcPr marL="254000" marR="254000" marT="177800" marB="1778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低资源语言、拼写纠错敏感场景</a:t>
                      </a:r>
                    </a:p>
                  </a:txBody>
                  <a:tcPr marL="254000" marR="254000" marT="177800" marB="1778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zh-CN" altLang="en-US" sz="1600" b="1">
                          <a:ln w="12700" cmpd="sng">
                            <a:noFill/>
                            <a:prstDash val="solid"/>
                          </a:ln>
                          <a:latin typeface="Calibri" panose="020F0502020204030204" charset="0"/>
                          <a:ea typeface="Arial" panose="020B0604020202020204" pitchFamily="34" charset="0"/>
                        </a:rPr>
                        <a:t>情感分析、主题分类等通用场景</a:t>
                      </a:r>
                    </a:p>
                  </a:txBody>
                  <a:tcPr marL="254000" marR="254000" marT="177800" marB="1778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局限性与未来展望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5-d2tarmdnfo2stf9djk4g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13-d2tarodnfo2stf9djkeg.png"/>
          <p:cNvPicPr>
            <a:picLocks noChangeAspect="1"/>
          </p:cNvPicPr>
          <p:nvPr/>
        </p:nvPicPr>
        <p:blipFill>
          <a:blip r:embed="rId4">
            <a:alphaModFix amt="40000"/>
          </a:blip>
          <a:srcRect t="12164" b="6895"/>
          <a:stretch>
            <a:fillRect/>
          </a:stretch>
        </p:blipFill>
        <p:spPr>
          <a:xfrm>
            <a:off x="1151255" y="0"/>
            <a:ext cx="361505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当前局限与改进空间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7:30:59-d2tarktnfo2stf9djju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960000">
            <a:off x="9518650" y="417830"/>
            <a:ext cx="1530985" cy="1400810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7:31:11-d2tarntnfo2stf9djkb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660000">
            <a:off x="513715" y="5352415"/>
            <a:ext cx="740410" cy="674370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2"/>
          <p:cNvSpPr/>
          <p:nvPr/>
        </p:nvSpPr>
        <p:spPr>
          <a:xfrm>
            <a:off x="3521075" y="1721485"/>
            <a:ext cx="6654165" cy="3721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预处理一致性</a:t>
            </a:r>
          </a:p>
        </p:txBody>
      </p:sp>
      <p:sp>
        <p:nvSpPr>
          <p:cNvPr id="12" name="Text 3"/>
          <p:cNvSpPr/>
          <p:nvPr/>
        </p:nvSpPr>
        <p:spPr>
          <a:xfrm>
            <a:off x="3521075" y="2136140"/>
            <a:ext cx="7795260" cy="1476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未对深层字符级</a:t>
            </a:r>
            <a:r>
              <a:rPr lang="en-US" altLang="zh-CN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CNN</a:t>
            </a: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进行重新训练优化，仅引用了现有有结果进行对比，且字符级</a:t>
            </a:r>
            <a:r>
              <a:rPr lang="en-US" altLang="zh-CN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CNN </a:t>
            </a: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的固定长度预处理可能会影响其性能，导致对比不够严谨，</a:t>
            </a: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需统一预处理进行更严谨的对比。</a:t>
            </a:r>
            <a:endParaRPr lang="en-US" sz="1600" dirty="0"/>
          </a:p>
        </p:txBody>
      </p:sp>
      <p:sp>
        <p:nvSpPr>
          <p:cNvPr id="13" name="Text 4"/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5"/>
          <p:cNvSpPr/>
          <p:nvPr/>
        </p:nvSpPr>
        <p:spPr>
          <a:xfrm>
            <a:off x="2105025" y="3331845"/>
            <a:ext cx="7706360" cy="3765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tv-embedding数据来源</a:t>
            </a:r>
          </a:p>
        </p:txBody>
      </p:sp>
      <p:sp>
        <p:nvSpPr>
          <p:cNvPr id="15" name="Text 6"/>
          <p:cNvSpPr/>
          <p:nvPr/>
        </p:nvSpPr>
        <p:spPr>
          <a:xfrm>
            <a:off x="2105025" y="3746500"/>
            <a:ext cx="7795260" cy="1476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v-embedding </a:t>
            </a: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使用训练集的文本（忽略标签）作为无监督语料，</a:t>
            </a: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未充分挖掘大规模无标签文本，半监督优势尚未最大化，需拓展数据来源。</a:t>
            </a:r>
            <a:endParaRPr lang="en-US" sz="1600" dirty="0"/>
          </a:p>
        </p:txBody>
      </p:sp>
      <p:sp>
        <p:nvSpPr>
          <p:cNvPr id="16" name="Text 7"/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8"/>
          <p:cNvSpPr/>
          <p:nvPr/>
        </p:nvSpPr>
        <p:spPr>
          <a:xfrm>
            <a:off x="3408045" y="4942205"/>
            <a:ext cx="6570345" cy="3340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模型结构多样性</a:t>
            </a:r>
          </a:p>
        </p:txBody>
      </p:sp>
      <p:sp>
        <p:nvSpPr>
          <p:cNvPr id="18" name="Text 9"/>
          <p:cNvSpPr/>
          <p:nvPr/>
        </p:nvSpPr>
        <p:spPr>
          <a:xfrm>
            <a:off x="3408045" y="5356860"/>
            <a:ext cx="7794625" cy="1476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实验仅考察单卷积层与二十九层极端对比，缺少中间深度消融，未来需进一步探索。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5" grpId="0"/>
      <p:bldP spid="17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1660" y="53213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未来研究方向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7:31:08-d2tarn5nfo2stf9djk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143500" y="3061970"/>
            <a:ext cx="1905000" cy="148018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5-17:31:11-d2tarntnfo2stf9djkb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3660000">
            <a:off x="10260965" y="351790"/>
            <a:ext cx="1117600" cy="1017905"/>
          </a:xfrm>
          <a:prstGeom prst="rect">
            <a:avLst/>
          </a:prstGeom>
        </p:spPr>
      </p:pic>
      <p:sp>
        <p:nvSpPr>
          <p:cNvPr id="6" name="Text 1"/>
          <p:cNvSpPr/>
          <p:nvPr>
            <p:custDataLst>
              <p:tags r:id="rId2"/>
            </p:custDataLst>
          </p:nvPr>
        </p:nvSpPr>
        <p:spPr>
          <a:xfrm>
            <a:off x="619760" y="1911985"/>
            <a:ext cx="4364990" cy="401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统一预处理与消融实验</a:t>
            </a:r>
            <a:endParaRPr lang="en-US" sz="1600" dirty="0"/>
          </a:p>
        </p:txBody>
      </p:sp>
      <p:sp>
        <p:nvSpPr>
          <p:cNvPr id="7" name="Text 2"/>
          <p:cNvSpPr/>
          <p:nvPr>
            <p:custDataLst>
              <p:tags r:id="rId3"/>
            </p:custDataLst>
          </p:nvPr>
        </p:nvSpPr>
        <p:spPr>
          <a:xfrm>
            <a:off x="619760" y="2313305"/>
            <a:ext cx="4364355" cy="1763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统一预处理与数据划分，进行更严谨的多深度消融，验证中间层数对性能与效率的折中，完善实验体系。</a:t>
            </a:r>
            <a:endParaRPr lang="en-US" sz="1600" dirty="0"/>
          </a:p>
        </p:txBody>
      </p:sp>
      <p:sp>
        <p:nvSpPr>
          <p:cNvPr id="8" name="Text 3"/>
          <p:cNvSpPr/>
          <p:nvPr>
            <p:custDataLst>
              <p:tags r:id="rId4"/>
            </p:custDataLst>
          </p:nvPr>
        </p:nvSpPr>
        <p:spPr>
          <a:xfrm>
            <a:off x="619760" y="4252595"/>
            <a:ext cx="4364355" cy="401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tv-embedding优化</a:t>
            </a:r>
            <a:endParaRPr lang="en-US" sz="1600" dirty="0"/>
          </a:p>
        </p:txBody>
      </p:sp>
      <p:sp>
        <p:nvSpPr>
          <p:cNvPr id="9" name="Text 4"/>
          <p:cNvSpPr/>
          <p:nvPr>
            <p:custDataLst>
              <p:tags r:id="rId5"/>
            </p:custDataLst>
          </p:nvPr>
        </p:nvSpPr>
        <p:spPr>
          <a:xfrm>
            <a:off x="619760" y="4653915"/>
            <a:ext cx="4364355" cy="1763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将tv-embedding扩展至纯粹无标签数据，结合自监督预训练，进一步释放特征增强潜力，提升模型性能。</a:t>
            </a:r>
            <a:endParaRPr lang="en-US" sz="1600" dirty="0"/>
          </a:p>
        </p:txBody>
      </p:sp>
      <p:sp>
        <p:nvSpPr>
          <p:cNvPr id="10" name="Text 5"/>
          <p:cNvSpPr/>
          <p:nvPr>
            <p:custDataLst>
              <p:tags r:id="rId6"/>
            </p:custDataLst>
          </p:nvPr>
        </p:nvSpPr>
        <p:spPr>
          <a:xfrm>
            <a:off x="7247890" y="1911985"/>
            <a:ext cx="4364990" cy="4025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模型结构拓展</a:t>
            </a:r>
            <a:endParaRPr lang="en-US" sz="1600" dirty="0"/>
          </a:p>
        </p:txBody>
      </p:sp>
      <p:sp>
        <p:nvSpPr>
          <p:cNvPr id="11" name="Text 6"/>
          <p:cNvSpPr/>
          <p:nvPr>
            <p:custDataLst>
              <p:tags r:id="rId7"/>
            </p:custDataLst>
          </p:nvPr>
        </p:nvSpPr>
        <p:spPr>
          <a:xfrm>
            <a:off x="7247890" y="2313305"/>
            <a:ext cx="4364355" cy="1763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引入多区域卷积、注意力池化与动态路由，探索结构多样性带来的边际收益，丰富模型架构。</a:t>
            </a:r>
            <a:endParaRPr lang="en-US" sz="1600" dirty="0"/>
          </a:p>
        </p:txBody>
      </p:sp>
      <p:sp>
        <p:nvSpPr>
          <p:cNvPr id="12" name="Text 7"/>
          <p:cNvSpPr/>
          <p:nvPr>
            <p:custDataLst>
              <p:tags r:id="rId8"/>
            </p:custDataLst>
          </p:nvPr>
        </p:nvSpPr>
        <p:spPr>
          <a:xfrm>
            <a:off x="7247890" y="4252595"/>
            <a:ext cx="4364355" cy="401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参数压缩与多语言应用</a:t>
            </a:r>
            <a:endParaRPr lang="en-US" sz="1600" dirty="0"/>
          </a:p>
        </p:txBody>
      </p:sp>
      <p:sp>
        <p:nvSpPr>
          <p:cNvPr id="13" name="Text 8"/>
          <p:cNvSpPr/>
          <p:nvPr>
            <p:custDataLst>
              <p:tags r:id="rId9"/>
            </p:custDataLst>
          </p:nvPr>
        </p:nvSpPr>
        <p:spPr>
          <a:xfrm>
            <a:off x="7247890" y="4653915"/>
            <a:ext cx="4364355" cy="1763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开展参数压缩、量化与多语言迁移实验，检验模型在边缘设备与跨语种场景下的鲁棒性，拓展应用范围。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对象6"/>
          <p:cNvSpPr/>
          <p:nvPr>
            <p:custDataLst>
              <p:tags r:id="rId2"/>
            </p:custDataLst>
          </p:nvPr>
        </p:nvSpPr>
        <p:spPr>
          <a:xfrm>
            <a:off x="699969" y="1857983"/>
            <a:ext cx="4086040" cy="4048800"/>
          </a:xfrm>
          <a:custGeom>
            <a:avLst/>
            <a:gdLst/>
            <a:ahLst/>
            <a:cxnLst/>
            <a:rect l="l" t="t" r="r" b="b"/>
            <a:pathLst>
              <a:path w="4059936" h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chemeClr val="accent1">
              <a:lumMod val="30000"/>
              <a:lumOff val="70000"/>
              <a:alpha val="15000"/>
            </a:schemeClr>
          </a:solidFill>
        </p:spPr>
        <p:txBody>
          <a:bodyPr lIns="0" tIns="0" rIns="0" bIns="0">
            <a:noAutofit/>
          </a:bodyPr>
          <a:lstStyle/>
          <a:p>
            <a:endParaRPr lang="zh-CN" altLang="en-US" dirty="0">
              <a:latin typeface="+mn-ea"/>
            </a:endParaRPr>
          </a:p>
        </p:txBody>
      </p:sp>
      <p:sp>
        <p:nvSpPr>
          <p:cNvPr id="14" name="对象1"/>
          <p:cNvSpPr/>
          <p:nvPr>
            <p:custDataLst>
              <p:tags r:id="rId3"/>
            </p:custDataLst>
          </p:nvPr>
        </p:nvSpPr>
        <p:spPr>
          <a:xfrm>
            <a:off x="5188762" y="3302882"/>
            <a:ext cx="6325344" cy="1143000"/>
          </a:xfrm>
          <a:custGeom>
            <a:avLst/>
            <a:gdLst/>
            <a:ahLst/>
            <a:cxnLst/>
            <a:rect l="l" t="t" r="r" b="b"/>
            <a:pathLst>
              <a:path w="6409944" h="1143000">
                <a:moveTo>
                  <a:pt x="9144" y="1143000"/>
                </a:moveTo>
                <a:lnTo>
                  <a:pt x="6391656" y="1143000"/>
                </a:lnTo>
                <a:cubicBezTo>
                  <a:pt x="6400800" y="1143000"/>
                  <a:pt x="6409944" y="1133856"/>
                  <a:pt x="6409944" y="1133856"/>
                </a:cubicBezTo>
                <a:lnTo>
                  <a:pt x="6409944" y="9144"/>
                </a:lnTo>
                <a:cubicBezTo>
                  <a:pt x="6409944" y="9144"/>
                  <a:pt x="6400800" y="0"/>
                  <a:pt x="6391656" y="0"/>
                </a:cubicBezTo>
                <a:lnTo>
                  <a:pt x="9144" y="0"/>
                </a:lnTo>
                <a:cubicBezTo>
                  <a:pt x="0" y="0"/>
                  <a:pt x="0" y="9144"/>
                  <a:pt x="0" y="18288"/>
                </a:cubicBezTo>
                <a:lnTo>
                  <a:pt x="548640" y="566928"/>
                </a:lnTo>
                <a:cubicBezTo>
                  <a:pt x="548640" y="566928"/>
                  <a:pt x="548640" y="576072"/>
                  <a:pt x="548640" y="576072"/>
                </a:cubicBezTo>
                <a:lnTo>
                  <a:pt x="0" y="1124712"/>
                </a:lnTo>
                <a:cubicBezTo>
                  <a:pt x="0" y="1133856"/>
                  <a:pt x="0" y="1143000"/>
                  <a:pt x="9144" y="1143000"/>
                </a:cubicBezTo>
              </a:path>
            </a:pathLst>
          </a:custGeom>
          <a:noFill/>
          <a:ln w="12700">
            <a:gradFill>
              <a:gsLst>
                <a:gs pos="100000">
                  <a:schemeClr val="accent2">
                    <a:lumMod val="20000"/>
                    <a:lumOff val="80000"/>
                    <a:alpha val="0"/>
                  </a:schemeClr>
                </a:gs>
                <a:gs pos="2000">
                  <a:schemeClr val="accent1"/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36000" tIns="0" rIns="0" bIns="0" numCol="1" spcCol="0" rtlCol="0" fromWordArt="0" anchor="ctr" anchorCtr="0" forceAA="0" compatLnSpc="1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主要负责：深层字符级 CNN 模型设计与机制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《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Very deep convolutional networks for natural language processing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》</a:t>
            </a:r>
          </a:p>
        </p:txBody>
      </p:sp>
      <p:sp>
        <p:nvSpPr>
          <p:cNvPr id="16" name="对象2"/>
          <p:cNvSpPr/>
          <p:nvPr>
            <p:custDataLst>
              <p:tags r:id="rId4"/>
            </p:custDataLst>
          </p:nvPr>
        </p:nvSpPr>
        <p:spPr>
          <a:xfrm>
            <a:off x="4008209" y="2020792"/>
            <a:ext cx="7487791" cy="1132205"/>
          </a:xfrm>
          <a:custGeom>
            <a:avLst/>
            <a:gdLst>
              <a:gd name="connsiteX0" fmla="*/ 1722 w 11918"/>
              <a:gd name="connsiteY0" fmla="*/ 1783 h 1783"/>
              <a:gd name="connsiteX1" fmla="*/ 1665 w 11918"/>
              <a:gd name="connsiteY1" fmla="*/ 1754 h 1783"/>
              <a:gd name="connsiteX2" fmla="*/ 1636 w 11918"/>
              <a:gd name="connsiteY2" fmla="*/ 1740 h 1783"/>
              <a:gd name="connsiteX3" fmla="*/ 9 w 11918"/>
              <a:gd name="connsiteY3" fmla="*/ 127 h 1783"/>
              <a:gd name="connsiteX4" fmla="*/ 253 w 11918"/>
              <a:gd name="connsiteY4" fmla="*/ 8 h 1783"/>
              <a:gd name="connsiteX5" fmla="*/ 11810 w 11918"/>
              <a:gd name="connsiteY5" fmla="*/ 0 h 1783"/>
              <a:gd name="connsiteX6" fmla="*/ 11918 w 11918"/>
              <a:gd name="connsiteY6" fmla="*/ 69 h 1783"/>
              <a:gd name="connsiteX7" fmla="*/ 11918 w 11918"/>
              <a:gd name="connsiteY7" fmla="*/ 1697 h 1783"/>
              <a:gd name="connsiteX8" fmla="*/ 11831 w 11918"/>
              <a:gd name="connsiteY8" fmla="*/ 1783 h 1783"/>
              <a:gd name="connsiteX9" fmla="*/ 1722 w 11918"/>
              <a:gd name="connsiteY9" fmla="*/ 1783 h 1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918" h="1783">
                <a:moveTo>
                  <a:pt x="1722" y="1783"/>
                </a:moveTo>
                <a:cubicBezTo>
                  <a:pt x="1694" y="1783"/>
                  <a:pt x="1679" y="1769"/>
                  <a:pt x="1665" y="1754"/>
                </a:cubicBezTo>
                <a:cubicBezTo>
                  <a:pt x="1650" y="1754"/>
                  <a:pt x="1650" y="1740"/>
                  <a:pt x="1636" y="1740"/>
                </a:cubicBezTo>
                <a:lnTo>
                  <a:pt x="9" y="127"/>
                </a:lnTo>
                <a:cubicBezTo>
                  <a:pt x="-49" y="69"/>
                  <a:pt x="181" y="8"/>
                  <a:pt x="253" y="8"/>
                </a:cubicBezTo>
                <a:lnTo>
                  <a:pt x="11810" y="0"/>
                </a:lnTo>
                <a:cubicBezTo>
                  <a:pt x="11897" y="28"/>
                  <a:pt x="11918" y="12"/>
                  <a:pt x="11918" y="69"/>
                </a:cubicBezTo>
                <a:lnTo>
                  <a:pt x="11918" y="1697"/>
                </a:lnTo>
                <a:cubicBezTo>
                  <a:pt x="11918" y="1754"/>
                  <a:pt x="11874" y="1783"/>
                  <a:pt x="11831" y="1783"/>
                </a:cubicBezTo>
                <a:lnTo>
                  <a:pt x="1722" y="1783"/>
                </a:lnTo>
              </a:path>
            </a:pathLst>
          </a:custGeom>
          <a:noFill/>
          <a:ln w="12700">
            <a:gradFill>
              <a:gsLst>
                <a:gs pos="100000">
                  <a:schemeClr val="accent2">
                    <a:lumMod val="20000"/>
                    <a:lumOff val="80000"/>
                    <a:alpha val="0"/>
                  </a:schemeClr>
                </a:gs>
                <a:gs pos="2000">
                  <a:schemeClr val="accent1"/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224000" tIns="0" rIns="0" bIns="0" numCol="1" spcCol="0" rtlCol="0" fromWordArt="0" anchor="ctr" anchorCtr="0" forceAA="0" compatLnSpc="1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主要负责：浅层词级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CNN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模型与创新方法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《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Effective use of word order for text categorization with convolutional neural networks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》、《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Semi-supervised convolutional neural networks for text categorization via regionembedding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》</a:t>
            </a:r>
          </a:p>
        </p:txBody>
      </p:sp>
      <p:sp>
        <p:nvSpPr>
          <p:cNvPr id="18" name="对象3"/>
          <p:cNvSpPr/>
          <p:nvPr>
            <p:custDataLst>
              <p:tags r:id="rId5"/>
            </p:custDataLst>
          </p:nvPr>
        </p:nvSpPr>
        <p:spPr>
          <a:xfrm>
            <a:off x="3995293" y="4595361"/>
            <a:ext cx="7487791" cy="1143000"/>
          </a:xfrm>
          <a:custGeom>
            <a:avLst/>
            <a:gdLst/>
            <a:ahLst/>
            <a:cxnLst/>
            <a:rect l="l" t="t" r="r" b="b"/>
            <a:pathLst>
              <a:path w="7580376" h="1143000">
                <a:moveTo>
                  <a:pt x="1106424" y="0"/>
                </a:moveTo>
                <a:cubicBezTo>
                  <a:pt x="1088136" y="0"/>
                  <a:pt x="1078992" y="9144"/>
                  <a:pt x="1069848" y="18288"/>
                </a:cubicBezTo>
                <a:cubicBezTo>
                  <a:pt x="1060704" y="18288"/>
                  <a:pt x="1060704" y="27432"/>
                  <a:pt x="1051560" y="27432"/>
                </a:cubicBezTo>
                <a:lnTo>
                  <a:pt x="18288" y="1051560"/>
                </a:lnTo>
                <a:cubicBezTo>
                  <a:pt x="-18288" y="1088136"/>
                  <a:pt x="9144" y="1143000"/>
                  <a:pt x="54864" y="1143000"/>
                </a:cubicBezTo>
                <a:lnTo>
                  <a:pt x="7525512" y="1143000"/>
                </a:lnTo>
                <a:cubicBezTo>
                  <a:pt x="7552944" y="1143000"/>
                  <a:pt x="7580376" y="1124712"/>
                  <a:pt x="7580376" y="1088136"/>
                </a:cubicBezTo>
                <a:lnTo>
                  <a:pt x="7580376" y="54864"/>
                </a:lnTo>
                <a:cubicBezTo>
                  <a:pt x="7580376" y="18288"/>
                  <a:pt x="7552944" y="0"/>
                  <a:pt x="7525512" y="0"/>
                </a:cubicBezTo>
                <a:lnTo>
                  <a:pt x="1106424" y="0"/>
                </a:lnTo>
              </a:path>
            </a:pathLst>
          </a:custGeom>
          <a:noFill/>
          <a:ln w="12700">
            <a:gradFill>
              <a:gsLst>
                <a:gs pos="100000">
                  <a:schemeClr val="accent2">
                    <a:lumMod val="20000"/>
                    <a:lumOff val="80000"/>
                    <a:alpha val="0"/>
                  </a:schemeClr>
                </a:gs>
                <a:gs pos="2000">
                  <a:schemeClr val="accent1"/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224000" tIns="0" rIns="0" bIns="0" numCol="1" spcCol="0" rtlCol="0" fromWordArt="0" anchor="ctr" anchorCtr="0" forceAA="0" compatLnSpc="1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主要负责：两类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CNN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模型的对比与总结，制作汇报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PPT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《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CNN for Text Categorization:Shallow Word-level vs. Deep Character-level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》</a:t>
            </a:r>
          </a:p>
        </p:txBody>
      </p:sp>
      <p:sp>
        <p:nvSpPr>
          <p:cNvPr id="2" name="对象5"/>
          <p:cNvSpPr/>
          <p:nvPr>
            <p:custDataLst>
              <p:tags r:id="rId6"/>
            </p:custDataLst>
          </p:nvPr>
        </p:nvSpPr>
        <p:spPr>
          <a:xfrm>
            <a:off x="3585210" y="1680845"/>
            <a:ext cx="1503045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周明源</a:t>
            </a:r>
          </a:p>
        </p:txBody>
      </p:sp>
      <p:sp>
        <p:nvSpPr>
          <p:cNvPr id="4" name="对象6"/>
          <p:cNvSpPr/>
          <p:nvPr>
            <p:custDataLst>
              <p:tags r:id="rId7"/>
            </p:custDataLst>
          </p:nvPr>
        </p:nvSpPr>
        <p:spPr>
          <a:xfrm>
            <a:off x="4505960" y="3519170"/>
            <a:ext cx="148844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孙琳</a:t>
            </a:r>
          </a:p>
        </p:txBody>
      </p:sp>
      <p:sp>
        <p:nvSpPr>
          <p:cNvPr id="9" name="对象7"/>
          <p:cNvSpPr/>
          <p:nvPr>
            <p:custDataLst>
              <p:tags r:id="rId8"/>
            </p:custDataLst>
          </p:nvPr>
        </p:nvSpPr>
        <p:spPr>
          <a:xfrm>
            <a:off x="3642360" y="5352415"/>
            <a:ext cx="148844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程浩楠</a:t>
            </a:r>
          </a:p>
        </p:txBody>
      </p:sp>
      <p:sp>
        <p:nvSpPr>
          <p:cNvPr id="17" name="对象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48785" y="2316073"/>
            <a:ext cx="3188409" cy="3132620"/>
          </a:xfrm>
          <a:custGeom>
            <a:avLst/>
            <a:gdLst/>
            <a:ahLst/>
            <a:cxnLst/>
            <a:rect l="l" t="t" r="r" b="b"/>
            <a:pathLst>
              <a:path w="2340864" h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w="53975">
            <a:solidFill>
              <a:schemeClr val="accent1"/>
            </a:solidFill>
          </a:ln>
        </p:spPr>
        <p:txBody>
          <a:bodyPr wrap="square" lIns="360000" tIns="0" rIns="360000" bIns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7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团队成员</a:t>
            </a:r>
          </a:p>
        </p:txBody>
      </p:sp>
      <p:sp>
        <p:nvSpPr>
          <p:cNvPr id="6" name="Text 0"/>
          <p:cNvSpPr/>
          <p:nvPr/>
        </p:nvSpPr>
        <p:spPr>
          <a:xfrm>
            <a:off x="581660" y="532130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小组分工说明</a:t>
            </a:r>
          </a:p>
        </p:txBody>
      </p:sp>
      <p:pic>
        <p:nvPicPr>
          <p:cNvPr id="8" name="Image 6" descr="https://kimi-img.moonshot.cn/pub/slides/slides_tmpl/image/25-09-05-17:31:11-d2tarntnfo2stf9djkb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200000">
            <a:off x="10651490" y="533400"/>
            <a:ext cx="1006475" cy="9169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23-d2tarqtnfo2stf9djkm0.jpg"/>
          <p:cNvPicPr>
            <a:picLocks noChangeAspect="1"/>
          </p:cNvPicPr>
          <p:nvPr/>
        </p:nvPicPr>
        <p:blipFill>
          <a:blip r:embed="rId3"/>
          <a:srcRect t="104" b="104"/>
          <a:stretch>
            <a:fillRect/>
          </a:stretch>
        </p:blipFill>
        <p:spPr>
          <a:xfrm flipH="1"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7380" y="2440940"/>
            <a:ext cx="752729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627380" y="2440940"/>
            <a:ext cx="7527290" cy="1804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41909" y="845595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41909" y="84559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41909" y="942569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909" y="94256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1909" y="1039543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909" y="1039543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6200000">
            <a:off x="10527665" y="365125"/>
            <a:ext cx="262890" cy="11703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56615" y="5796915"/>
            <a:ext cx="363283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856615" y="5796915"/>
            <a:ext cx="3632835" cy="33147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程浩楠</a:t>
            </a:r>
          </a:p>
        </p:txBody>
      </p:sp>
      <p:sp>
        <p:nvSpPr>
          <p:cNvPr id="14" name="Text 10"/>
          <p:cNvSpPr/>
          <p:nvPr/>
        </p:nvSpPr>
        <p:spPr>
          <a:xfrm>
            <a:off x="6933565" y="581977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汇报日期：2025/11/18</a:t>
            </a:r>
            <a:endParaRPr lang="zh-CN" altLang="en-US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2513887" y="5982681"/>
            <a:ext cx="6486525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2"/>
          <p:cNvSpPr/>
          <p:nvPr/>
        </p:nvSpPr>
        <p:spPr>
          <a:xfrm>
            <a:off x="732155" y="3269615"/>
            <a:ext cx="589280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7" name="Text 13"/>
          <p:cNvSpPr/>
          <p:nvPr/>
        </p:nvSpPr>
        <p:spPr>
          <a:xfrm>
            <a:off x="732155" y="3269615"/>
            <a:ext cx="589280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32155" y="2532380"/>
            <a:ext cx="6677660" cy="70929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Text 15"/>
          <p:cNvSpPr/>
          <p:nvPr/>
        </p:nvSpPr>
        <p:spPr>
          <a:xfrm>
            <a:off x="732155" y="2532380"/>
            <a:ext cx="6677660" cy="70929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READING！</a:t>
            </a:r>
            <a:endParaRPr lang="en-US" sz="1600" dirty="0"/>
          </a:p>
        </p:txBody>
      </p:sp>
      <p:pic>
        <p:nvPicPr>
          <p:cNvPr id="20" name="Image 2" descr="https://kimi-img.moonshot.cn/pub/slides/slides_tmpl/image/25-09-05-17:31:23-d2tarqtnfo2stf9djk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805" y="1319530"/>
            <a:ext cx="3823335" cy="42278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53352,50053024,50053044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8,&quot;left&quot;:359.9,&quot;top&quot;:108.3,&quot;width&quot;:576.4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8,&quot;left&quot;:359.9,&quot;top&quot;:108.3,&quot;width&quot;:576.4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8,&quot;left&quot;:359.9,&quot;top&quot;:108.3,&quot;width&quot;:576.4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8,&quot;left&quot;:359.9,&quot;top&quot;:108.3,&quot;width&quot;:576.4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8,&quot;left&quot;:359.9,&quot;top&quot;:108.3,&quot;width&quot;:576.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8,&quot;left&quot;:359.9,&quot;top&quot;:108.3,&quot;width&quot;:576.4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8,&quot;left&quot;:359.9,&quot;top&quot;:108.3,&quot;width&quot;:576.4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8,&quot;left&quot;:359.9,&quot;top&quot;:108.3,&quot;width&quot;:576.4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8,&quot;left&quot;:359.9,&quot;top&quot;:108.3,&quot;width&quot;:576.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8,&quot;left&quot;:359.9,&quot;top&quot;:108.3,&quot;width&quot;:576.4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8,&quot;left&quot;:359.9,&quot;top&quot;:108.3,&quot;width&quot;:576.4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8,&quot;left&quot;:359.9,&quot;top&quot;:108.3,&quot;width&quot;:576.4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8,&quot;left&quot;:359.9,&quot;top&quot;:108.3,&quot;width&quot;:576.4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8,&quot;left&quot;:359.9,&quot;top&quot;:108.3,&quot;width&quot;:576.4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8,&quot;left&quot;:359.9,&quot;top&quot;:108.3,&quot;width&quot;:576.4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55,&quot;left&quot;:30.1,&quot;top&quot;:143,&quot;width&quot;:894.8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40492910_1"/>
  <p:tag name="KSO_WM_TEMPLATE_SUBCATEGORY" val="0"/>
  <p:tag name="KSO_WM_TEMPLATE_MASTER_TYPE" val="0"/>
  <p:tag name="KSO_WM_TEMPLATE_COLOR_TYPE" val="0"/>
  <p:tag name="KSO_WM_SLIDE_ITEM_CNT" val="4"/>
  <p:tag name="KSO_WM_SLIDE_INDEX" val="1"/>
  <p:tag name="KSO_WM_TAG_VERSION" val="3.0"/>
  <p:tag name="KSO_WM_BEAUTIFY_FLAG" val="#wm#"/>
  <p:tag name="KSO_WM_TEMPLATE_CATEGORY" val="custom"/>
  <p:tag name="KSO_WM_TEMPLATE_INDEX" val="40492910"/>
  <p:tag name="KSO_WM_SLIDE_TYPE" val="text"/>
  <p:tag name="KSO_WM_SLIDE_SUBTYPE" val="picTxt"/>
  <p:tag name="KSO_WM_SLIDE_SIZE" val="912*375.4"/>
  <p:tag name="KSO_WM_SLIDE_POSITION" val="0*110.6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40492885_1*m_i*1_1"/>
  <p:tag name="KSO_WM_TEMPLATE_CATEGORY" val="diagram"/>
  <p:tag name="KSO_WM_TEMPLATE_INDEX" val="40492885"/>
  <p:tag name="KSO_WM_UNIT_LAYERLEVEL" val="1_1"/>
  <p:tag name="KSO_WM_TAG_VERSION" val="3.0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0.6763389106751,&quot;left&quot;:0,&quot;top&quot;:21.621792407072327,&quot;width&quot;:1080.830616248168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40492885_1*m_h_i*1_1_2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LINE_FORE_SCHEMECOLOR_INDEX" val="13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8500000238418579},&quot;type&quot;:1},&quot;shadow&quot;:{&quot;brightness&quot;:0,&quot;colorType&quot;:2,&quot;rgb&quot;:&quot;#000000&quot;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40492885_1*m_h_i*1_1_3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4"/>
  <p:tag name="KSO_WM_UNIT_ID" val="diagram40492885_1*m_h_i*1_1_4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2,&quot;rgb&quot;:&quot;#000000&quot;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40492885_1*m_h_i*1_1_1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.64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85_1*m_h_a*1_1_1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单击添加标题"/>
  <p:tag name="KSO_WM_UNIT_TEXT_FILL_FORE_SCHEMECOLOR_INDEX" val="1"/>
  <p:tag name="KSO_WM_UNIT_TEXT_FILL_TYPE" val="1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40492885_1*m_h_f*1_1_1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具体内容，简明扼要地阐述您的观点。根据需要可酌情增减文字内容"/>
  <p:tag name="KSO_WM_UNIT_TEXT_FILL_FORE_SCHEMECOLOR_INDEX" val="1"/>
  <p:tag name="KSO_WM_UNIT_TEXT_FILL_TYPE" val="1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40492885_1*m_h_i*1_2_2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LINE_FORE_SCHEMECOLOR_INDEX" val="13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8500000238418579},&quot;type&quot;:1},&quot;shadow&quot;:{&quot;brightness&quot;:0,&quot;colorType&quot;:2,&quot;rgb&quot;:&quot;#000000&quot;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40492885_1*m_h_i*1_2_3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40492885_1*m_h_i*1_2_4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2,&quot;rgb&quot;:&quot;#000000&quot;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40492885_1*m_h_i*1_2_1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.64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40492885_1*m_h_a*1_2_1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单击添加标题"/>
  <p:tag name="KSO_WM_UNIT_TEXT_FILL_FORE_SCHEMECOLOR_INDEX" val="1"/>
  <p:tag name="KSO_WM_UNIT_TEXT_FILL_TYPE" val="1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40492885_1*m_h_f*1_2_1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内容，简明扼要地阐述您的观点。根据需要可酌情增减文字内容"/>
  <p:tag name="KSO_WM_UNIT_TEXT_FILL_FORE_SCHEMECOLOR_INDEX" val="1"/>
  <p:tag name="KSO_WM_UNIT_TEXT_FILL_TYPE" val="1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diagram40492885_1*m_h_i*1_4_2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LINE_FORE_SCHEMECOLOR_INDEX" val="13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8500000238418579},&quot;type&quot;:1},&quot;shadow&quot;:{&quot;brightness&quot;:0,&quot;colorType&quot;:2,&quot;rgb&quot;:&quot;#000000&quot;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3"/>
  <p:tag name="KSO_WM_UNIT_ID" val="diagram40492885_1*m_h_i*1_4_3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4"/>
  <p:tag name="KSO_WM_UNIT_ID" val="diagram40492885_1*m_h_i*1_4_4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2,&quot;rgb&quot;:&quot;#000000&quot;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4_1"/>
  <p:tag name="KSO_WM_UNIT_ID" val="diagram40492885_1*m_h_i*1_4_1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.64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4_1"/>
  <p:tag name="KSO_WM_UNIT_ID" val="diagram40492885_1*m_h_a*1_4_1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单击添加标题"/>
  <p:tag name="KSO_WM_UNIT_TEXT_FILL_FORE_SCHEMECOLOR_INDEX" val="1"/>
  <p:tag name="KSO_WM_UNIT_TEXT_FILL_TYPE" val="1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40492885_1*m_h_i*1_3_2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LINE_FORE_SCHEMECOLOR_INDEX" val="13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8500000238418579},&quot;type&quot;:1},&quot;shadow&quot;:{&quot;brightness&quot;:0,&quot;colorType&quot;:2,&quot;rgb&quot;:&quot;#000000&quot;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40492885_1*m_h_i*1_3_3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4"/>
  <p:tag name="KSO_WM_UNIT_ID" val="diagram40492885_1*m_h_i*1_3_4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2,&quot;rgb&quot;:&quot;#000000&quot;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3_1"/>
  <p:tag name="KSO_WM_UNIT_ID" val="diagram40492885_1*m_h_i*1_3_1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.64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40492885_1*m_h_a*1_3_1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单击添加标题"/>
  <p:tag name="KSO_WM_UNIT_TEXT_FILL_FORE_SCHEMECOLOR_INDEX" val="1"/>
  <p:tag name="KSO_WM_UNIT_TEXT_FILL_TYPE" val="1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40492885_1*m_h_f*1_4_1"/>
  <p:tag name="KSO_WM_TEMPLATE_CATEGORY" val="diagram"/>
  <p:tag name="KSO_WM_TEMPLATE_INDEX" val="4049288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内容，简明扼要地阐述您的观点。根据需要可酌情增减文字内容"/>
  <p:tag name="KSO_WM_UNIT_TEXT_FILL_FORE_SCHEMECOLOR_INDEX" val="1"/>
  <p:tag name="KSO_WM_UNIT_TEXT_FILL_TYPE" val="1"/>
  <p:tag name="KSO_WM_DIAGRAM_MAX_ITEMCNT" val="4"/>
  <p:tag name="KSO_WM_DIAGRAM_MIN_ITEMCNT" val="4"/>
  <p:tag name="KSO_WM_DIAGRAM_VIRTUALLY_FRAME" val="{&quot;height&quot;:470.6763389106751,&quot;left&quot;:0,&quot;top&quot;:21.621792407072327,&quot;width&quot;:1080.830616248168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40492885_1*m_h_f*1_4_1"/>
  <p:tag name="KSO_WM_TEMPLATE_CATEGORY" val="diagram"/>
  <p:tag name="KSO_WM_TEMPLATE_INDEX" val="4049288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内容，简明扼要地阐述您的观点。根据需要可酌情增减文字内容"/>
  <p:tag name="KSO_WM_UNIT_TEXT_FILL_FORE_SCHEMECOLOR_INDEX" val="1"/>
  <p:tag name="KSO_WM_UNIT_TEXT_FILL_TYPE" val="1"/>
  <p:tag name="KSO_WM_DIAGRAM_MAX_ITEMCNT" val="4"/>
  <p:tag name="KSO_WM_DIAGRAM_MIN_ITEMCNT" val="4"/>
  <p:tag name="KSO_WM_DIAGRAM_VIRTUALLY_FRAME" val="{&quot;height&quot;:470.6763389106751,&quot;left&quot;:0,&quot;top&quot;:21.621792407072327,&quot;width&quot;:9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61.85,&quot;top&quot;:147.7,&quot;width&quot;:833.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61.85,&quot;top&quot;:147.7,&quot;width&quot;:833.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61.85,&quot;top&quot;:147.7,&quot;width&quot;:833.6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61.85,&quot;top&quot;:147.7,&quot;width&quot;:833.6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61.85,&quot;top&quot;:147.7,&quot;width&quot;:833.6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61.85,&quot;top&quot;:147.7,&quot;width&quot;:833.6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61.85,&quot;top&quot;:147.7,&quot;width&quot;:833.6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61.85,&quot;top&quot;:147.7,&quot;width&quot;:833.6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61.85,&quot;top&quot;:147.7,&quot;width&quot;:833.6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61.85,&quot;top&quot;:147.7,&quot;width&quot;:833.6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61.85,&quot;top&quot;:147.7,&quot;width&quot;:833.6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45,&quot;left&quot;:61.85,&quot;top&quot;:147.7,&quot;width&quot;:833.6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9,&quot;left&quot;:68.95,&quot;top&quot;:118.45,&quot;width&quot;:831.05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9,&quot;left&quot;:68.95,&quot;top&quot;:118.45,&quot;width&quot;:831.05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9,&quot;left&quot;:68.95,&quot;top&quot;:118.45,&quot;width&quot;:831.05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9,&quot;left&quot;:68.95,&quot;top&quot;:118.45,&quot;width&quot;:831.05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9,&quot;left&quot;:68.95,&quot;top&quot;:118.45,&quot;width&quot;:831.05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9,&quot;left&quot;:68.95,&quot;top&quot;:118.45,&quot;width&quot;:831.05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9,&quot;left&quot;:68.95,&quot;top&quot;:118.45,&quot;width&quot;:831.05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9,&quot;left&quot;:68.95,&quot;top&quot;:118.45,&quot;width&quot;:831.05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9,&quot;left&quot;:68.95,&quot;top&quot;:118.45,&quot;width&quot;:831.05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9,&quot;left&quot;:68.95,&quot;top&quot;:118.45,&quot;width&quot;:831.05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9,&quot;left&quot;:68.95,&quot;top&quot;:118.45,&quot;width&quot;:831.05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9,&quot;left&quot;:68.95,&quot;top&quot;:118.45,&quot;width&quot;:831.05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75,&quot;left&quot;:57.2,&quot;top&quot;:-26.75,&quot;width&quot;:1159.25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75,&quot;left&quot;:57.2,&quot;top&quot;:-26.75,&quot;width&quot;:1159.25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40492964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2964"/>
  <p:tag name="KSO_WM_SLIDE_TYPE" val="text"/>
  <p:tag name="KSO_WM_SLIDE_SUBTYPE" val="picTxt"/>
  <p:tag name="KSO_WM_SLIDE_SIZE" val="784*420"/>
  <p:tag name="KSO_WM_SLIDE_POSITION" val="85*59"/>
  <p:tag name="KSO_WM_SLIDE_LAYOUT" val="a_f"/>
  <p:tag name="KSO_WM_SLIDE_LAYOUT_CNT" val="1_1"/>
  <p:tag name="KSO_WM_SPECIAL_SOURCE" val="bdnul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964_1*i*1"/>
  <p:tag name="KSO_WM_TEMPLATE_CATEGORY" val="custom"/>
  <p:tag name="KSO_WM_TEMPLATE_INDEX" val="40492964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25,&quot;left&quot;:45.8,&quot;top&quot;:130.65,&quot;width&quot;:876.25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25,&quot;left&quot;:45.8,&quot;top&quot;:130.65,&quot;width&quot;:876.25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88*175"/>
  <p:tag name="TABLE_ENDDRAG_RECT" val="590*263*288*175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,&quot;left&quot;:45.8,&quot;top&quot;:159.9,&quot;width&quot;:894.15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,&quot;left&quot;:45.8,&quot;top&quot;:159.9,&quot;width&quot;:894.15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,&quot;left&quot;:45.8,&quot;top&quot;:159.9,&quot;width&quot;:894.15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,&quot;left&quot;:45.8,&quot;top&quot;:159.9,&quot;width&quot;:894.15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2*l_h_f*1_1_1"/>
  <p:tag name="KSO_WM_TEMPLATE_CATEGORY" val="diagram"/>
  <p:tag name="KSO_WM_TEMPLATE_INDEX" val="202332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1_1"/>
  <p:tag name="KSO_WM_UNIT_VALUE" val="14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UNIT_USESOURCEFORMAT_APPLY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205_2*l_h_a*1_1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IRTUALLY_FRAME" val="{&quot;height&quot;:323.5,&quot;left&quot;:100.05,&quot;top&quot;:128.1,&quot;width&quot;:765.6999938964843}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UNIT_USESOURCEFORMAT_APPLY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2*l_h_f*1_2_1"/>
  <p:tag name="KSO_WM_TEMPLATE_CATEGORY" val="diagram"/>
  <p:tag name="KSO_WM_TEMPLATE_INDEX" val="202332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VALUE" val="136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UNIT_USESOURCEFORMAT_APPLY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205_2*l_h_a*1_2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IRTUALLY_FRAME" val="{&quot;height&quot;:323.5,&quot;left&quot;:100.05,&quot;top&quot;:128.1,&quot;width&quot;:765.6999938964843}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UNIT_USESOURCEFORMAT_APPLY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2*l_h_f*1_3_1"/>
  <p:tag name="KSO_WM_TEMPLATE_CATEGORY" val="diagram"/>
  <p:tag name="KSO_WM_TEMPLATE_INDEX" val="202332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VALUE" val="136"/>
  <p:tag name="KSO_WM_BEAUTIFY_FLAG" val="#wm#"/>
  <p:tag name="KSO_WM_UNIT_PRESET_TEXT" val="单击此处添加文本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UNIT_USESOURCEFORMAT_APPLY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205_2*l_h_a*1_3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IRTUALLY_FRAME" val="{&quot;height&quot;:323.5,&quot;left&quot;:100.05,&quot;top&quot;:128.1,&quot;width&quot;:765.6999938964843}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UNIT_USESOURCEFORMAT_APPLY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2*l_h_x*1_1_1"/>
  <p:tag name="KSO_WM_TEMPLATE_CATEGORY" val="diagram"/>
  <p:tag name="KSO_WM_TEMPLATE_INDEX" val="20233205"/>
  <p:tag name="KSO_WM_UNIT_LAYERLEVEL" val="1_1_1"/>
  <p:tag name="KSO_WM_TAG_VERSION" val="3.0"/>
  <p:tag name="KSO_WM_UNIT_VALUE" val="59*71"/>
  <p:tag name="KSO_WM_DIAGRAM_GROUP_CODE" val="l1-1"/>
  <p:tag name="KSO_WM_UNIT_TYPE" val="l_h_x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UNIT_USESOURCEFORMAT_APPLY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  <p:tag name="KSO_WM_UNIT_VALUE" val="90*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3205_2*l_h_x*1_2_1"/>
  <p:tag name="KSO_WM_TEMPLATE_CATEGORY" val="diagram"/>
  <p:tag name="KSO_WM_TEMPLATE_INDEX" val="2023320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UNIT_USESOURCEFORMAT_APPLY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5,&quot;left&quot;:100.05,&quot;top&quot;:128.1,&quot;width&quot;:765.699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2*l_h_x*1_3_1"/>
  <p:tag name="KSO_WM_TEMPLATE_CATEGORY" val="diagram"/>
  <p:tag name="KSO_WM_TEMPLATE_INDEX" val="20233205"/>
  <p:tag name="KSO_WM_UNIT_LAYERLEVEL" val="1_1_1"/>
  <p:tag name="KSO_WM_TAG_VERSION" val="3.0"/>
  <p:tag name="KSO_WM_UNIT_VALUE" val="22*22"/>
  <p:tag name="KSO_WM_DIAGRAM_GROUP_CODE" val="l1-1"/>
  <p:tag name="KSO_WM_UNIT_TYPE" val="l_h_x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UNIT_USESOURCEFORMAT_APPLY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75,&quot;left&quot;:57.2,&quot;top&quot;:-26.75,&quot;width&quot;:1159.25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75,&quot;left&quot;:57.2,&quot;top&quot;:-26.75,&quot;width&quot;:1159.25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75,&quot;left&quot;:57.2,&quot;top&quot;:-26.75,&quot;width&quot;:1159.25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75,&quot;left&quot;:57.2,&quot;top&quot;:-26.75,&quot;width&quot;:1159.25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75,&quot;left&quot;:57.2,&quot;top&quot;:-26.75,&quot;width&quot;:1159.25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75,&quot;left&quot;:57.2,&quot;top&quot;:-26.75,&quot;width&quot;:1159.25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75,&quot;left&quot;:57.2,&quot;top&quot;:-26.75,&quot;width&quot;:1159.25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88*308"/>
  <p:tag name="TABLE_ENDDRAG_RECT" val="58*132*788*308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8.8,&quot;top&quot;:150.55,&quot;width&quot;:865.6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8.8,&quot;top&quot;:150.55,&quot;width&quot;:865.6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8.8,&quot;top&quot;:150.55,&quot;width&quot;:865.6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8.8,&quot;top&quot;:150.55,&quot;width&quot;:865.6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8.8,&quot;top&quot;:150.55,&quot;width&quot;:865.6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8.8,&quot;top&quot;:150.55,&quot;width&quot;:865.6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8.8,&quot;top&quot;:150.55,&quot;width&quot;:865.6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8.8,&quot;top&quot;:150.55,&quot;width&quot;:865.6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8.8,&quot;top&quot;:150.55,&quot;width&quot;:865.6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636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1636"/>
  <p:tag name="KSO_WM_SLIDE_TYPE" val="text"/>
  <p:tag name="KSO_WM_SLIDE_SUBTYPE" val="diag"/>
  <p:tag name="KSO_WM_SLIDE_SIZE" val="851.507*346.68"/>
  <p:tag name="KSO_WM_SLIDE_POSITION" val="55.1157*132.359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1636_2*n_h_i*1_1_2"/>
  <p:tag name="KSO_WM_TEMPLATE_CATEGORY" val="diagram"/>
  <p:tag name="KSO_WM_TEMPLATE_INDEX" val="20231636"/>
  <p:tag name="KSO_WM_UNIT_LAYERLEVEL" val="1_1_1"/>
  <p:tag name="KSO_WM_TAG_VERSION" val="3.0"/>
  <p:tag name="KSO_WM_DIAGRAM_VERSION" val="3"/>
  <p:tag name="KSO_WM_DIAGRAM_MAX_ITEMCNT" val="6"/>
  <p:tag name="KSO_WM_DIAGRAM_MIN_ITEMCNT" val="2"/>
  <p:tag name="KSO_WM_DIAGRAM_VIRTUALLY_FRAME" val="{&quot;height&quot;:351.67489624023443,&quot;left&quot;:53.99125635342334,&quot;top&quot;:129.86200069878046,&quot;width&quot;:853.7556762695312}"/>
  <p:tag name="KSO_WM_DIAGRAM_COLOR_MATCH_VALUE" val="{&quot;shape&quot;:{&quot;fill&quot;:{&quot;solid&quot;:{&quot;brightness&quot;:0.699999988079071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7"/>
  <p:tag name="KSO_WM_UNIT_TEXT_FILL_FORE_SCHEMECOLOR_INDEX" val="13"/>
  <p:tag name="KSO_WM_UNIT_TEXT_FILL_TYPE" val="1"/>
  <p:tag name="KSO_WM_UNIT_USESOURCEFORMAT_APPLY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6_2*n_h_h_f*1_2_2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SUBTYPE" val="a"/>
  <p:tag name="KSO_WM_UNIT_NOCLEAR" val="0"/>
  <p:tag name="KSO_WM_DIAGRAM_GROUP_CODE" val="n1-1"/>
  <p:tag name="KSO_WM_UNIT_TYPE" val="n_h_h_f"/>
  <p:tag name="KSO_WM_UNIT_INDEX" val="1_2_2_1"/>
  <p:tag name="KSO_WM_UNIT_VALUE" val="10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3,&quot;left&quot;:53.99125635342334,&quot;top&quot;:129.86200069878046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，单击此处输入你的项正文"/>
  <p:tag name="KSO_WM_UNIT_TEXT_FILL_FORE_SCHEMECOLOR_INDEX" val="1"/>
  <p:tag name="KSO_WM_UNIT_TEXT_FILL_TYPE" val="1"/>
  <p:tag name="KSO_WM_UNIT_LINE_FORE_SCHEMECOLOR_INDEX" val="5"/>
  <p:tag name="KSO_WM_UNIT_USESOURCEFORMAT_APPLY" val="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6_2*n_h_h_f*1_2_1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SUBTYPE" val="a"/>
  <p:tag name="KSO_WM_UNIT_NOCLEAR" val="0"/>
  <p:tag name="KSO_WM_DIAGRAM_GROUP_CODE" val="n1-1"/>
  <p:tag name="KSO_WM_UNIT_TYPE" val="n_h_h_f"/>
  <p:tag name="KSO_WM_UNIT_INDEX" val="1_2_1_1"/>
  <p:tag name="KSO_WM_UNIT_VALUE" val="116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3,&quot;left&quot;:53.99125635342334,&quot;top&quot;:129.86200069878046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，单击此处输入你的项正文"/>
  <p:tag name="KSO_WM_UNIT_TEXT_FILL_FORE_SCHEMECOLOR_INDEX" val="1"/>
  <p:tag name="KSO_WM_UNIT_TEXT_FILL_TYPE" val="1"/>
  <p:tag name="KSO_WM_UNIT_LINE_FORE_SCHEMECOLOR_INDEX" val="5"/>
  <p:tag name="KSO_WM_UNIT_USESOURCEFORMAT_APPLY" val="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6_2*n_h_h_f*1_2_3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SUBTYPE" val="a"/>
  <p:tag name="KSO_WM_UNIT_NOCLEAR" val="0"/>
  <p:tag name="KSO_WM_DIAGRAM_GROUP_CODE" val="n1-1"/>
  <p:tag name="KSO_WM_UNIT_TYPE" val="n_h_h_f"/>
  <p:tag name="KSO_WM_UNIT_INDEX" val="1_2_3_1"/>
  <p:tag name="KSO_WM_UNIT_VALUE" val="116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3,&quot;left&quot;:53.99125635342334,&quot;top&quot;:129.86200069878046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，单击此处输入你的项正文"/>
  <p:tag name="KSO_WM_UNIT_TEXT_FILL_FORE_SCHEMECOLOR_INDEX" val="1"/>
  <p:tag name="KSO_WM_UNIT_TEXT_FILL_TYPE" val="1"/>
  <p:tag name="KSO_WM_UNIT_LINE_FORE_SCHEMECOLOR_INDEX" val="5"/>
  <p:tag name="KSO_WM_UNIT_USESOURCEFORMAT_APPLY" val="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1_1"/>
  <p:tag name="KSO_WM_UNIT_ID" val="diagram20231636_2*n_h_h_i*1_2_1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3,&quot;left&quot;:53.99125635342334,&quot;top&quot;:129.86200069878046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2_1"/>
  <p:tag name="KSO_WM_UNIT_ID" val="diagram20231636_2*n_h_h_i*1_2_2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3,&quot;left&quot;:53.99125635342334,&quot;top&quot;:129.86200069878046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3_1"/>
  <p:tag name="KSO_WM_UNIT_ID" val="diagram20231636_2*n_h_h_i*1_2_3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3,&quot;left&quot;:53.99125635342334,&quot;top&quot;:129.86200069878046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36_2*n_h_a*1_1_1"/>
  <p:tag name="KSO_WM_TEMPLATE_CATEGORY" val="diagram"/>
  <p:tag name="KSO_WM_TEMPLATE_INDEX" val="20231636"/>
  <p:tag name="KSO_WM_UNIT_LAYERLEVEL" val="1_1_1"/>
  <p:tag name="KSO_WM_TAG_VERSION" val="3.0"/>
  <p:tag name="KSO_WM_DIAGRAM_GROUP_CODE" val="n1-1"/>
  <p:tag name="KSO_WM_UNIT_TYPE" val="n_h_a"/>
  <p:tag name="KSO_WM_UNIT_INDEX" val="1_1_1"/>
  <p:tag name="KSO_WM_UNIT_ISCONTENTSTITLE" val="0"/>
  <p:tag name="KSO_WM_UNIT_ISNUMDGMTITLE" val="0"/>
  <p:tag name="KSO_WM_UNIT_NOCLEAR" val="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3,&quot;left&quot;:53.99125635342334,&quot;top&quot;:129.86200069878046,&quot;width&quot;:853.7556762695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70"/>
  <p:tag name="KSO_WM_UNIT_TEXT_TYPE" val="1"/>
  <p:tag name="KSO_WM_UNIT_PRESET_TEXT" val="添加项标题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1509</Words>
  <Application>Microsoft Office PowerPoint</Application>
  <PresentationFormat>宽屏</PresentationFormat>
  <Paragraphs>224</Paragraphs>
  <Slides>27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华文细黑</vt:lpstr>
      <vt:lpstr>微软雅黑</vt:lpstr>
      <vt:lpstr>Calibri</vt:lpstr>
      <vt:lpstr>MiSans</vt:lpstr>
      <vt:lpstr>Arial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文本分类CNN：浅词深符谁更强</dc:title>
  <dc:subject>文本分类CNN：浅词深符谁更强</dc:subject>
  <dc:creator>Kimi</dc:creator>
  <cp:lastModifiedBy>明源 周</cp:lastModifiedBy>
  <cp:revision>17</cp:revision>
  <dcterms:created xsi:type="dcterms:W3CDTF">2025-11-12T07:00:00Z</dcterms:created>
  <dcterms:modified xsi:type="dcterms:W3CDTF">2025-12-08T15:26:54Z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{"Label":"文本分类CNN：浅词深符谁更强","ContentProducer":"001191110108MACG2KBH8F10000","ProduceID":"d4a2um07dlc42ag9610g","ReservedCode1":"","ContentPropagator":"001191110108MACG2KBH8F20000","PropagateID":"d4a2um07dlc42ag9610g","ReservedCode2":""}</vt:lpwstr>
  </property>
  <property fmtid="{D5CDD505-2E9C-101B-9397-08002B2CF9AE}" pid="3" name="ICV">
    <vt:lpwstr>D354B42EA16A4039802F3CE3BFE80EBE_13</vt:lpwstr>
  </property>
  <property fmtid="{D5CDD505-2E9C-101B-9397-08002B2CF9AE}" pid="4" name="KSOProductBuildVer">
    <vt:lpwstr>2052-12.1.0.23542</vt:lpwstr>
  </property>
</Properties>
</file>